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4"/>
  </p:notesMasterIdLst>
  <p:sldIdLst>
    <p:sldId id="257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3" r:id="rId18"/>
    <p:sldId id="362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290" r:id="rId3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libri Light" panose="020F0302020204030204" pitchFamily="34" charset="0"/>
      <p:regular r:id="rId39"/>
      <p:italic r:id="rId40"/>
    </p:embeddedFont>
    <p:embeddedFont>
      <p:font typeface="Cambria Math" panose="02040503050406030204" pitchFamily="18" charset="0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5" autoAdjust="0"/>
    <p:restoredTop sz="80881" autoAdjust="0"/>
  </p:normalViewPr>
  <p:slideViewPr>
    <p:cSldViewPr snapToGrid="0">
      <p:cViewPr varScale="1">
        <p:scale>
          <a:sx n="93" d="100"/>
          <a:sy n="93" d="100"/>
        </p:scale>
        <p:origin x="13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AC1C-74B6-40D8-BA42-648A80D79C44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0B6E8-DEBD-4AB6-8B71-16A00FD60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6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Direct-address table: </a:t>
            </a:r>
            <a:r>
              <a:rPr lang="zh-CN" altLang="en-US" dirty="0"/>
              <a:t>直接寻址表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0B6E8-DEBD-4AB6-8B71-16A00FD607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2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Universal hashing: </a:t>
            </a:r>
            <a:r>
              <a:rPr lang="zh-CN" altLang="en-US" dirty="0"/>
              <a:t>全域散列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0B6E8-DEBD-4AB6-8B71-16A00FD607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9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4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8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7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4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6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2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4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6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5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2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57FA0-99E8-49E4-9996-7E5372692B31}" type="datetimeFigureOut">
              <a:rPr lang="en-US" smtClean="0"/>
              <a:t>19/10/19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14CFE-35D0-4DBB-83DF-CE0081D7E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8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Hashing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78850850"/>
                  </p:ext>
                </p:extLst>
              </p:nvPr>
            </p:nvGraphicFramePr>
            <p:xfrm>
              <a:off x="720000" y="1624080"/>
              <a:ext cx="7704000" cy="36098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78850850"/>
                  </p:ext>
                </p:extLst>
              </p:nvPr>
            </p:nvGraphicFramePr>
            <p:xfrm>
              <a:off x="720000" y="1624080"/>
              <a:ext cx="7704000" cy="36098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2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2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29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4074" r="-200000" b="-19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4074" r="-100707" b="-19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4074" r="-352" b="-19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252206" r="-200000" b="-97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252206" r="-100707" b="-97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252206" r="-352" b="-97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416522" r="-200000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416522" r="-100707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416522" r="-352" b="-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F8AC0C8-B92E-4FC8-BDBD-E3F0747401B9}"/>
              </a:ext>
            </a:extLst>
          </p:cNvPr>
          <p:cNvSpPr txBox="1"/>
          <p:nvPr/>
        </p:nvSpPr>
        <p:spPr>
          <a:xfrm>
            <a:off x="1611638" y="5477211"/>
            <a:ext cx="5920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Can we be faster?</a:t>
            </a:r>
          </a:p>
          <a:p>
            <a:pPr algn="ctr"/>
            <a:r>
              <a:rPr lang="en-US" sz="2400" dirty="0">
                <a:solidFill>
                  <a:srgbClr val="C00000"/>
                </a:solidFill>
              </a:rPr>
              <a:t>(if we only care about </a:t>
            </a:r>
            <a:r>
              <a:rPr lang="en-US" sz="2400" b="1" dirty="0">
                <a:solidFill>
                  <a:srgbClr val="C00000"/>
                </a:solidFill>
              </a:rPr>
              <a:t>Search</a:t>
            </a:r>
            <a:r>
              <a:rPr lang="en-US" sz="2400" dirty="0">
                <a:solidFill>
                  <a:srgbClr val="C00000"/>
                </a:solidFill>
              </a:rPr>
              <a:t>/</a:t>
            </a:r>
            <a:r>
              <a:rPr lang="en-US" sz="2400" b="1" dirty="0">
                <a:solidFill>
                  <a:srgbClr val="C00000"/>
                </a:solidFill>
              </a:rPr>
              <a:t>Insert</a:t>
            </a:r>
            <a:r>
              <a:rPr lang="en-US" sz="2400" dirty="0">
                <a:solidFill>
                  <a:srgbClr val="C00000"/>
                </a:solidFill>
              </a:rPr>
              <a:t>/</a:t>
            </a:r>
            <a:r>
              <a:rPr lang="en-US" sz="2400" b="1" dirty="0">
                <a:solidFill>
                  <a:srgbClr val="C00000"/>
                </a:solidFill>
              </a:rPr>
              <a:t>Remove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766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47031A2-3CA6-4364-A548-BC2843A59F3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000" b="1" dirty="0"/>
                  <a:t>Search</a:t>
                </a:r>
                <a:r>
                  <a:rPr lang="en-US" sz="4000" dirty="0"/>
                  <a:t>/</a:t>
                </a:r>
                <a:r>
                  <a:rPr lang="en-US" sz="4000" b="1" dirty="0"/>
                  <a:t>Insert</a:t>
                </a:r>
                <a:r>
                  <a:rPr lang="en-US" sz="4000" dirty="0"/>
                  <a:t>/</a:t>
                </a:r>
                <a:r>
                  <a:rPr lang="en-US" sz="4000" b="1" dirty="0"/>
                  <a:t>Remove</a:t>
                </a:r>
                <a:r>
                  <a:rPr lang="en-US" sz="4000" dirty="0"/>
                  <a:t> in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4000" dirty="0"/>
                  <a:t> time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47031A2-3CA6-4364-A548-BC2843A59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17F677-70C9-4738-B58B-F3AC80E27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4736"/>
                <a:ext cx="7886700" cy="19420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keys are </a:t>
                </a:r>
                <a:r>
                  <a:rPr lang="en-US" sz="2400" i="1" dirty="0"/>
                  <a:t>distinct</a:t>
                </a:r>
                <a:r>
                  <a:rPr lang="en-US" sz="2400" dirty="0"/>
                  <a:t> integers from universe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={0,1,⋯,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Easy, just allocate an array of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Search</a:t>
                </a:r>
                <a:r>
                  <a:rPr lang="en-US" sz="2400" dirty="0"/>
                  <a:t>/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/</a:t>
                </a:r>
                <a:r>
                  <a:rPr lang="en-US" sz="2400" b="1" dirty="0"/>
                  <a:t>Remove</a:t>
                </a:r>
                <a:r>
                  <a:rPr lang="en-US" sz="2400" dirty="0"/>
                  <a:t> can be done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17F677-70C9-4738-B58B-F3AC80E27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4736"/>
                <a:ext cx="7886700" cy="1942085"/>
              </a:xfrm>
              <a:blipFill>
                <a:blip r:embed="rId4"/>
                <a:stretch>
                  <a:fillRect l="-1005" t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BDC98FBF-DAFB-4255-B8BD-D7C9A30C1134}"/>
              </a:ext>
            </a:extLst>
          </p:cNvPr>
          <p:cNvSpPr/>
          <p:nvPr/>
        </p:nvSpPr>
        <p:spPr>
          <a:xfrm>
            <a:off x="6619751" y="3848834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10CC65-B859-42D7-BCE1-081A9D5CB431}"/>
              </a:ext>
            </a:extLst>
          </p:cNvPr>
          <p:cNvSpPr/>
          <p:nvPr/>
        </p:nvSpPr>
        <p:spPr>
          <a:xfrm>
            <a:off x="6619751" y="4289508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2FA7BB-916E-4A8D-AE59-199F6DF13D5A}"/>
              </a:ext>
            </a:extLst>
          </p:cNvPr>
          <p:cNvSpPr/>
          <p:nvPr/>
        </p:nvSpPr>
        <p:spPr>
          <a:xfrm>
            <a:off x="6619750" y="4730182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22F214-8C92-4F86-9042-2CEBA07768C2}"/>
              </a:ext>
            </a:extLst>
          </p:cNvPr>
          <p:cNvSpPr/>
          <p:nvPr/>
        </p:nvSpPr>
        <p:spPr>
          <a:xfrm>
            <a:off x="6616983" y="5611526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51E2B8-2831-4CFB-ABAA-87017E9E12E2}"/>
              </a:ext>
            </a:extLst>
          </p:cNvPr>
          <p:cNvSpPr/>
          <p:nvPr/>
        </p:nvSpPr>
        <p:spPr>
          <a:xfrm>
            <a:off x="6616983" y="6052200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3AEA75-A95E-49A4-8362-52E753318B24}"/>
              </a:ext>
            </a:extLst>
          </p:cNvPr>
          <p:cNvSpPr/>
          <p:nvPr/>
        </p:nvSpPr>
        <p:spPr>
          <a:xfrm>
            <a:off x="8023048" y="3848834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32457-B35D-4A6E-A6DC-6DF0E7141072}"/>
              </a:ext>
            </a:extLst>
          </p:cNvPr>
          <p:cNvSpPr/>
          <p:nvPr/>
        </p:nvSpPr>
        <p:spPr>
          <a:xfrm>
            <a:off x="8023048" y="4289508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6F5FA-8CE9-4B46-934A-3971B54DCDB2}"/>
              </a:ext>
            </a:extLst>
          </p:cNvPr>
          <p:cNvSpPr/>
          <p:nvPr/>
        </p:nvSpPr>
        <p:spPr>
          <a:xfrm>
            <a:off x="8023047" y="4730182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953A63-109D-4597-B74F-14546985022A}"/>
              </a:ext>
            </a:extLst>
          </p:cNvPr>
          <p:cNvSpPr/>
          <p:nvPr/>
        </p:nvSpPr>
        <p:spPr>
          <a:xfrm>
            <a:off x="8021664" y="5170856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A6E7C6-378D-4B7C-8376-23D7C8CCC8DA}"/>
              </a:ext>
            </a:extLst>
          </p:cNvPr>
          <p:cNvSpPr/>
          <p:nvPr/>
        </p:nvSpPr>
        <p:spPr>
          <a:xfrm>
            <a:off x="8020280" y="5611526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5C574B-9ECC-4816-8450-CF48F29D112B}"/>
              </a:ext>
            </a:extLst>
          </p:cNvPr>
          <p:cNvSpPr/>
          <p:nvPr/>
        </p:nvSpPr>
        <p:spPr>
          <a:xfrm>
            <a:off x="8020280" y="6052200"/>
            <a:ext cx="492303" cy="4406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C64F8A-058B-45F6-99DE-5A7D85B2AD2E}"/>
              </a:ext>
            </a:extLst>
          </p:cNvPr>
          <p:cNvSpPr txBox="1"/>
          <p:nvPr/>
        </p:nvSpPr>
        <p:spPr>
          <a:xfrm>
            <a:off x="5003425" y="384883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Insert(2)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ACD350-3CDE-4CBC-890F-C2BD146D012D}"/>
              </a:ext>
            </a:extLst>
          </p:cNvPr>
          <p:cNvSpPr txBox="1"/>
          <p:nvPr/>
        </p:nvSpPr>
        <p:spPr>
          <a:xfrm>
            <a:off x="5003425" y="42489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Insert(3)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CFB725-17FE-49E3-9798-C95AC8274450}"/>
              </a:ext>
            </a:extLst>
          </p:cNvPr>
          <p:cNvSpPr txBox="1"/>
          <p:nvPr/>
        </p:nvSpPr>
        <p:spPr>
          <a:xfrm>
            <a:off x="5003425" y="4649054"/>
            <a:ext cx="1171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Search(2)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4EA014-A53E-4964-A10B-02A4F45E06CF}"/>
              </a:ext>
            </a:extLst>
          </p:cNvPr>
          <p:cNvSpPr txBox="1"/>
          <p:nvPr/>
        </p:nvSpPr>
        <p:spPr>
          <a:xfrm>
            <a:off x="5003425" y="5049164"/>
            <a:ext cx="131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Remove(3)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FC7553-93DE-4992-BCC9-2E98828EF212}"/>
              </a:ext>
            </a:extLst>
          </p:cNvPr>
          <p:cNvSpPr txBox="1"/>
          <p:nvPr/>
        </p:nvSpPr>
        <p:spPr>
          <a:xfrm>
            <a:off x="5003425" y="5449274"/>
            <a:ext cx="1171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Search(3)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03C9D1-318B-404C-9B2C-3E62900ED7D5}"/>
              </a:ext>
            </a:extLst>
          </p:cNvPr>
          <p:cNvSpPr/>
          <p:nvPr/>
        </p:nvSpPr>
        <p:spPr>
          <a:xfrm>
            <a:off x="6616983" y="5170852"/>
            <a:ext cx="1398453" cy="44067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B0A9CF9-951F-4BF5-B449-957FE6A2F6CA}"/>
              </a:ext>
            </a:extLst>
          </p:cNvPr>
          <p:cNvSpPr/>
          <p:nvPr/>
        </p:nvSpPr>
        <p:spPr>
          <a:xfrm>
            <a:off x="6318080" y="3602516"/>
            <a:ext cx="2194503" cy="3095739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6D3D83-8E1D-4D2B-89E8-4A668D11C4FA}"/>
              </a:ext>
            </a:extLst>
          </p:cNvPr>
          <p:cNvSpPr txBox="1"/>
          <p:nvPr/>
        </p:nvSpPr>
        <p:spPr>
          <a:xfrm>
            <a:off x="628649" y="3787279"/>
            <a:ext cx="3734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Direct-address Tables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EE981F-7C03-4BFB-AF61-F229FA0AC1B6}"/>
              </a:ext>
            </a:extLst>
          </p:cNvPr>
          <p:cNvSpPr txBox="1"/>
          <p:nvPr/>
        </p:nvSpPr>
        <p:spPr>
          <a:xfrm>
            <a:off x="631417" y="4372054"/>
            <a:ext cx="2692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Any potential issue?</a:t>
            </a:r>
          </a:p>
        </p:txBody>
      </p:sp>
    </p:spTree>
    <p:extLst>
      <p:ext uri="{BB962C8B-B14F-4D97-AF65-F5344CB8AC3E}">
        <p14:creationId xmlns:p14="http://schemas.microsoft.com/office/powerpoint/2010/main" val="268391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BFBFB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BFBFBF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6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 animBg="1"/>
      <p:bldP spid="22" grpId="1" animBg="1"/>
      <p:bldP spid="23" grpId="0" animBg="1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9204A-1EAF-4287-9443-50081B5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Direct-address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538857-F8B2-4725-A4EE-3638B7B9CB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keys are </a:t>
                </a:r>
                <a:r>
                  <a:rPr lang="en-US" sz="2400" i="1" dirty="0"/>
                  <a:t>distinct</a:t>
                </a:r>
                <a:r>
                  <a:rPr lang="en-US" sz="2400" dirty="0"/>
                  <a:t> integers from universe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={0,1,⋯,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Direct-address table:</a:t>
                </a:r>
                <a:r>
                  <a:rPr lang="en-US" sz="2400" dirty="0"/>
                  <a:t> allocate an array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Search</a:t>
                </a:r>
                <a:r>
                  <a:rPr lang="en-US" sz="2400" dirty="0"/>
                  <a:t>/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/</a:t>
                </a:r>
                <a:r>
                  <a:rPr lang="en-US" sz="2400" b="1" dirty="0"/>
                  <a:t>Remove</a:t>
                </a:r>
                <a:r>
                  <a:rPr lang="en-US" sz="2400" dirty="0"/>
                  <a:t> can be done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/>
                  <a:t>Potential issues: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Q:</a:t>
                </a:r>
                <a:r>
                  <a:rPr lang="en-US" sz="2000" dirty="0"/>
                  <a:t> What if keys are distinct, but not integers (e.g., strings).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A:</a:t>
                </a:r>
                <a:r>
                  <a:rPr lang="en-US" sz="2000" dirty="0"/>
                  <a:t> “Everything is a number.”</a:t>
                </a:r>
                <a:br>
                  <a:rPr lang="en-US" sz="2000" dirty="0"/>
                </a:br>
                <a:r>
                  <a:rPr lang="en-US" sz="2000" dirty="0"/>
                  <a:t>This is especially true for modern computers…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538857-F8B2-4725-A4EE-3638B7B9CB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B3C654F-D83C-441E-91EA-60FC97CF2974}"/>
              </a:ext>
            </a:extLst>
          </p:cNvPr>
          <p:cNvSpPr txBox="1"/>
          <p:nvPr/>
        </p:nvSpPr>
        <p:spPr>
          <a:xfrm>
            <a:off x="3800819" y="4206709"/>
            <a:ext cx="1953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Said </a:t>
            </a:r>
            <a:r>
              <a:rPr lang="el-GR" sz="2000" dirty="0"/>
              <a:t>Πυθαγόρας</a:t>
            </a:r>
            <a:r>
              <a:rPr lang="en-US" sz="2000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83D969-D648-4D93-9E7F-AABDE41475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30" b="13899"/>
          <a:stretch/>
        </p:blipFill>
        <p:spPr bwMode="auto">
          <a:xfrm>
            <a:off x="7039089" y="4696252"/>
            <a:ext cx="1476261" cy="18847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61B40E-CB34-41C4-A433-FB09DCDEFE10}"/>
              </a:ext>
            </a:extLst>
          </p:cNvPr>
          <p:cNvSpPr txBox="1"/>
          <p:nvPr/>
        </p:nvSpPr>
        <p:spPr>
          <a:xfrm>
            <a:off x="5592507" y="4206709"/>
            <a:ext cx="221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That is, Pythagoras.</a:t>
            </a:r>
          </a:p>
        </p:txBody>
      </p:sp>
    </p:spTree>
    <p:extLst>
      <p:ext uri="{BB962C8B-B14F-4D97-AF65-F5344CB8AC3E}">
        <p14:creationId xmlns:p14="http://schemas.microsoft.com/office/powerpoint/2010/main" val="242189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9204A-1EAF-4287-9443-50081B5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Direct-address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538857-F8B2-4725-A4EE-3638B7B9CB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keys are </a:t>
                </a:r>
                <a:r>
                  <a:rPr lang="en-US" sz="2400" i="1" dirty="0"/>
                  <a:t>distinct</a:t>
                </a:r>
                <a:r>
                  <a:rPr lang="en-US" sz="2400" dirty="0"/>
                  <a:t> integers from universe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={0,1,⋯,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Direct-address table:</a:t>
                </a:r>
                <a:r>
                  <a:rPr lang="en-US" sz="2400" dirty="0"/>
                  <a:t> allocate an array of size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Search</a:t>
                </a:r>
                <a:r>
                  <a:rPr lang="en-US" sz="2400" dirty="0"/>
                  <a:t>/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/</a:t>
                </a:r>
                <a:r>
                  <a:rPr lang="en-US" sz="2400" b="1" dirty="0"/>
                  <a:t>Remove</a:t>
                </a:r>
                <a:r>
                  <a:rPr lang="en-US" sz="2400" dirty="0"/>
                  <a:t> can be done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real problem: the universe can be large, very large!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000" dirty="0"/>
                  <a:t>(E.g.,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is the set of 64-bit integers.)</a:t>
                </a:r>
              </a:p>
              <a:p>
                <a:r>
                  <a:rPr lang="en-US" sz="2400" dirty="0"/>
                  <a:t>The space complexity is unacceptable!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538857-F8B2-4725-A4EE-3638B7B9CB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51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49E1B-9721-465C-8701-546DFBE8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05219"/>
                <a:ext cx="7886700" cy="17383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Huge universe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of possible keys.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Much smaller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of actual keys.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Only want to spend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≪|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) space.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(Meanwhile support very fast 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Search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Insert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Remove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05219"/>
                <a:ext cx="7886700" cy="1738312"/>
              </a:xfrm>
              <a:blipFill>
                <a:blip r:embed="rId2"/>
                <a:stretch>
                  <a:fillRect l="-1005" t="-2807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2A6E0EBA-C25D-4A4D-8FC1-A197F73BD127}"/>
              </a:ext>
            </a:extLst>
          </p:cNvPr>
          <p:cNvGrpSpPr/>
          <p:nvPr/>
        </p:nvGrpSpPr>
        <p:grpSpPr>
          <a:xfrm>
            <a:off x="6616980" y="4275153"/>
            <a:ext cx="1890756" cy="2217721"/>
            <a:chOff x="6616980" y="4275153"/>
            <a:chExt cx="1890756" cy="221772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6123DA1-B1FC-4CE8-9EEF-27ED49647AB9}"/>
                </a:ext>
              </a:extLst>
            </p:cNvPr>
            <p:cNvSpPr/>
            <p:nvPr/>
          </p:nvSpPr>
          <p:spPr>
            <a:xfrm>
              <a:off x="6616983" y="600023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077A78-1ACB-4457-ACDB-D259E29DABBA}"/>
                </a:ext>
              </a:extLst>
            </p:cNvPr>
            <p:cNvSpPr/>
            <p:nvPr/>
          </p:nvSpPr>
          <p:spPr>
            <a:xfrm>
              <a:off x="6616983" y="6246556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134E76-0352-43BA-9AF4-62F612764F8C}"/>
                </a:ext>
              </a:extLst>
            </p:cNvPr>
            <p:cNvSpPr/>
            <p:nvPr/>
          </p:nvSpPr>
          <p:spPr>
            <a:xfrm>
              <a:off x="6616982" y="575391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5199314-53C5-4596-BA42-92242A9C1698}"/>
                </a:ext>
              </a:extLst>
            </p:cNvPr>
            <p:cNvSpPr/>
            <p:nvPr/>
          </p:nvSpPr>
          <p:spPr>
            <a:xfrm>
              <a:off x="6616982" y="526126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A3D9917-9E73-4B61-87CE-BD7A46E9A527}"/>
                </a:ext>
              </a:extLst>
            </p:cNvPr>
            <p:cNvSpPr/>
            <p:nvPr/>
          </p:nvSpPr>
          <p:spPr>
            <a:xfrm>
              <a:off x="6616982" y="550759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FB15DA1-0BB5-49FF-A80A-08A30EE6F79E}"/>
                </a:ext>
              </a:extLst>
            </p:cNvPr>
            <p:cNvSpPr/>
            <p:nvPr/>
          </p:nvSpPr>
          <p:spPr>
            <a:xfrm>
              <a:off x="6616981" y="501494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B7E13A-E619-4272-B9EC-8D71CDA3E8AB}"/>
                </a:ext>
              </a:extLst>
            </p:cNvPr>
            <p:cNvSpPr/>
            <p:nvPr/>
          </p:nvSpPr>
          <p:spPr>
            <a:xfrm>
              <a:off x="6616981" y="452230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097F484-9CF6-4ED0-B9F3-50A3EC2AC0CC}"/>
                </a:ext>
              </a:extLst>
            </p:cNvPr>
            <p:cNvSpPr/>
            <p:nvPr/>
          </p:nvSpPr>
          <p:spPr>
            <a:xfrm>
              <a:off x="6616981" y="4768622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BF4F42B-FA4C-48E1-AAB2-5E438C6EC385}"/>
                </a:ext>
              </a:extLst>
            </p:cNvPr>
            <p:cNvSpPr/>
            <p:nvPr/>
          </p:nvSpPr>
          <p:spPr>
            <a:xfrm>
              <a:off x="6616980" y="427598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3151E-FDFE-4D3A-B69B-E1BFDCEA2820}"/>
                </a:ext>
              </a:extLst>
            </p:cNvPr>
            <p:cNvSpPr/>
            <p:nvPr/>
          </p:nvSpPr>
          <p:spPr>
            <a:xfrm>
              <a:off x="8015430" y="4275153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ECE6A3-D58E-4441-9A9B-0B73CFEBAD9D}"/>
                </a:ext>
              </a:extLst>
            </p:cNvPr>
            <p:cNvSpPr/>
            <p:nvPr/>
          </p:nvSpPr>
          <p:spPr>
            <a:xfrm>
              <a:off x="8015432" y="452197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BF4770F-E092-478D-B9D3-FF0333B6B08A}"/>
                </a:ext>
              </a:extLst>
            </p:cNvPr>
            <p:cNvSpPr/>
            <p:nvPr/>
          </p:nvSpPr>
          <p:spPr>
            <a:xfrm>
              <a:off x="8015433" y="4769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DB8BFB-58D5-4EC6-BE9D-A731151937B7}"/>
                </a:ext>
              </a:extLst>
            </p:cNvPr>
            <p:cNvSpPr/>
            <p:nvPr/>
          </p:nvSpPr>
          <p:spPr>
            <a:xfrm>
              <a:off x="8015431" y="5014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DFA0CB-7823-4242-B326-3F045F72331B}"/>
                </a:ext>
              </a:extLst>
            </p:cNvPr>
            <p:cNvSpPr/>
            <p:nvPr/>
          </p:nvSpPr>
          <p:spPr>
            <a:xfrm>
              <a:off x="8015427" y="5261101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F6D4E29-EB05-43AC-A07E-BBA5823DC07C}"/>
                </a:ext>
              </a:extLst>
            </p:cNvPr>
            <p:cNvSpPr/>
            <p:nvPr/>
          </p:nvSpPr>
          <p:spPr>
            <a:xfrm>
              <a:off x="8015429" y="550791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35527F3-AC2C-4A4D-B6FD-FDEA80E7DFF6}"/>
                </a:ext>
              </a:extLst>
            </p:cNvPr>
            <p:cNvSpPr/>
            <p:nvPr/>
          </p:nvSpPr>
          <p:spPr>
            <a:xfrm>
              <a:off x="8015430" y="5755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6824646-4C00-4833-85B2-253F3A0DEEA2}"/>
                </a:ext>
              </a:extLst>
            </p:cNvPr>
            <p:cNvSpPr/>
            <p:nvPr/>
          </p:nvSpPr>
          <p:spPr>
            <a:xfrm>
              <a:off x="8015428" y="6000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8A9A661-E4F9-4791-BFE4-9DCF9281C4F4}"/>
                </a:ext>
              </a:extLst>
            </p:cNvPr>
            <p:cNvSpPr/>
            <p:nvPr/>
          </p:nvSpPr>
          <p:spPr>
            <a:xfrm>
              <a:off x="8015426" y="624655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51524B6-EC49-47BE-872B-29124205A7BB}"/>
              </a:ext>
            </a:extLst>
          </p:cNvPr>
          <p:cNvGrpSpPr/>
          <p:nvPr/>
        </p:nvGrpSpPr>
        <p:grpSpPr>
          <a:xfrm>
            <a:off x="628650" y="3646583"/>
            <a:ext cx="4736564" cy="2846291"/>
            <a:chOff x="628650" y="3646583"/>
            <a:chExt cx="4736564" cy="284629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6A7105F-4D9F-4E51-9929-CA4DF20057F5}"/>
                </a:ext>
              </a:extLst>
            </p:cNvPr>
            <p:cNvSpPr/>
            <p:nvPr/>
          </p:nvSpPr>
          <p:spPr>
            <a:xfrm>
              <a:off x="628650" y="3646583"/>
              <a:ext cx="4736564" cy="284629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F506BEC-2353-43B5-9DC9-A3454721BD2A}"/>
                </a:ext>
              </a:extLst>
            </p:cNvPr>
            <p:cNvSpPr/>
            <p:nvPr/>
          </p:nvSpPr>
          <p:spPr>
            <a:xfrm>
              <a:off x="2616861" y="4862544"/>
              <a:ext cx="2259605" cy="138400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/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5152" r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/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9412" r="-29412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/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7647" r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/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4286" r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/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3404" r="-23404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C28213D-1282-48AD-B8FD-DD0C83C0408B}"/>
                  </a:ext>
                </a:extLst>
              </p:cNvPr>
              <p:cNvSpPr txBox="1"/>
              <p:nvPr/>
            </p:nvSpPr>
            <p:spPr>
              <a:xfrm>
                <a:off x="3369015" y="3267536"/>
                <a:ext cx="5138714" cy="769441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Hash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decides index of slot for storing key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C28213D-1282-48AD-B8FD-DD0C83C04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015" y="3267536"/>
                <a:ext cx="5138714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FDFE44D9-E9EE-47CF-9CD7-A97C1BA794D4}"/>
              </a:ext>
            </a:extLst>
          </p:cNvPr>
          <p:cNvGrpSpPr/>
          <p:nvPr/>
        </p:nvGrpSpPr>
        <p:grpSpPr>
          <a:xfrm>
            <a:off x="3097793" y="4399139"/>
            <a:ext cx="3519190" cy="1970576"/>
            <a:chOff x="3097793" y="4399139"/>
            <a:chExt cx="3519190" cy="1970576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3D8DD0B-D2D3-496C-B13D-0E1F1D19E84D}"/>
                </a:ext>
              </a:extLst>
            </p:cNvPr>
            <p:cNvCxnSpPr>
              <a:stCxn id="33" idx="3"/>
              <a:endCxn id="22" idx="1"/>
            </p:cNvCxnSpPr>
            <p:nvPr/>
          </p:nvCxnSpPr>
          <p:spPr>
            <a:xfrm flipV="1">
              <a:off x="3097793" y="4399139"/>
              <a:ext cx="3519187" cy="738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/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969" r="-5590" b="-6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E3D8D6D-0832-4C78-9D45-BEB207DABA04}"/>
                </a:ext>
              </a:extLst>
            </p:cNvPr>
            <p:cNvCxnSpPr>
              <a:cxnSpLocks/>
              <a:stCxn id="36" idx="3"/>
              <a:endCxn id="21" idx="1"/>
            </p:cNvCxnSpPr>
            <p:nvPr/>
          </p:nvCxnSpPr>
          <p:spPr>
            <a:xfrm flipV="1">
              <a:off x="4092992" y="4891781"/>
              <a:ext cx="2523989" cy="2469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/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000" r="-500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3F2B3F6-49A9-45C6-A636-FB06FD747570}"/>
                </a:ext>
              </a:extLst>
            </p:cNvPr>
            <p:cNvCxnSpPr>
              <a:cxnSpLocks/>
              <a:stCxn id="35" idx="3"/>
              <a:endCxn id="18" idx="1"/>
            </p:cNvCxnSpPr>
            <p:nvPr/>
          </p:nvCxnSpPr>
          <p:spPr>
            <a:xfrm>
              <a:off x="3698249" y="5538149"/>
              <a:ext cx="2918733" cy="92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/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5031" r="-503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C016E38-ADD0-49A5-9D0A-4E25CC2DCA94}"/>
                </a:ext>
              </a:extLst>
            </p:cNvPr>
            <p:cNvCxnSpPr>
              <a:cxnSpLocks/>
              <a:stCxn id="37" idx="3"/>
              <a:endCxn id="9" idx="1"/>
            </p:cNvCxnSpPr>
            <p:nvPr/>
          </p:nvCxnSpPr>
          <p:spPr>
            <a:xfrm>
              <a:off x="4514692" y="5877073"/>
              <a:ext cx="2102291" cy="4926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/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5357" t="-1282" r="-4167" b="-6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546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49E1B-9721-465C-8701-546DFBE8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510"/>
                <a:ext cx="7886700" cy="173831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Keys from huge universe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, but much smaller number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of actual keys.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Spend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(i.e.,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≪|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) space for very fast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Search</a:t>
                </a:r>
                <a:r>
                  <a:rPr lang="en-US" sz="2000" dirty="0">
                    <a:solidFill>
                      <a:schemeClr val="tx1"/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Insert</a:t>
                </a:r>
                <a:r>
                  <a:rPr lang="en-US" sz="2000" dirty="0">
                    <a:solidFill>
                      <a:schemeClr val="tx1"/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Remove</a:t>
                </a:r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Design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hash function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as the index of slot for storing element with key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510"/>
                <a:ext cx="7886700" cy="1738312"/>
              </a:xfrm>
              <a:blipFill>
                <a:blip r:embed="rId2"/>
                <a:stretch>
                  <a:fillRect l="-1005" t="-3509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2A6E0EBA-C25D-4A4D-8FC1-A197F73BD127}"/>
              </a:ext>
            </a:extLst>
          </p:cNvPr>
          <p:cNvGrpSpPr/>
          <p:nvPr/>
        </p:nvGrpSpPr>
        <p:grpSpPr>
          <a:xfrm>
            <a:off x="6616980" y="4275153"/>
            <a:ext cx="1890756" cy="2217721"/>
            <a:chOff x="6616980" y="4275153"/>
            <a:chExt cx="1890756" cy="221772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6123DA1-B1FC-4CE8-9EEF-27ED49647AB9}"/>
                </a:ext>
              </a:extLst>
            </p:cNvPr>
            <p:cNvSpPr/>
            <p:nvPr/>
          </p:nvSpPr>
          <p:spPr>
            <a:xfrm>
              <a:off x="6616983" y="600023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077A78-1ACB-4457-ACDB-D259E29DABBA}"/>
                </a:ext>
              </a:extLst>
            </p:cNvPr>
            <p:cNvSpPr/>
            <p:nvPr/>
          </p:nvSpPr>
          <p:spPr>
            <a:xfrm>
              <a:off x="6616983" y="6246556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134E76-0352-43BA-9AF4-62F612764F8C}"/>
                </a:ext>
              </a:extLst>
            </p:cNvPr>
            <p:cNvSpPr/>
            <p:nvPr/>
          </p:nvSpPr>
          <p:spPr>
            <a:xfrm>
              <a:off x="6616982" y="575391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5199314-53C5-4596-BA42-92242A9C1698}"/>
                </a:ext>
              </a:extLst>
            </p:cNvPr>
            <p:cNvSpPr/>
            <p:nvPr/>
          </p:nvSpPr>
          <p:spPr>
            <a:xfrm>
              <a:off x="6616982" y="526126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A3D9917-9E73-4B61-87CE-BD7A46E9A527}"/>
                </a:ext>
              </a:extLst>
            </p:cNvPr>
            <p:cNvSpPr/>
            <p:nvPr/>
          </p:nvSpPr>
          <p:spPr>
            <a:xfrm>
              <a:off x="6616982" y="550759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FB15DA1-0BB5-49FF-A80A-08A30EE6F79E}"/>
                </a:ext>
              </a:extLst>
            </p:cNvPr>
            <p:cNvSpPr/>
            <p:nvPr/>
          </p:nvSpPr>
          <p:spPr>
            <a:xfrm>
              <a:off x="6616981" y="501494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B7E13A-E619-4272-B9EC-8D71CDA3E8AB}"/>
                </a:ext>
              </a:extLst>
            </p:cNvPr>
            <p:cNvSpPr/>
            <p:nvPr/>
          </p:nvSpPr>
          <p:spPr>
            <a:xfrm>
              <a:off x="6616981" y="452230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097F484-9CF6-4ED0-B9F3-50A3EC2AC0CC}"/>
                </a:ext>
              </a:extLst>
            </p:cNvPr>
            <p:cNvSpPr/>
            <p:nvPr/>
          </p:nvSpPr>
          <p:spPr>
            <a:xfrm>
              <a:off x="6616981" y="4768622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BF4F42B-FA4C-48E1-AAB2-5E438C6EC385}"/>
                </a:ext>
              </a:extLst>
            </p:cNvPr>
            <p:cNvSpPr/>
            <p:nvPr/>
          </p:nvSpPr>
          <p:spPr>
            <a:xfrm>
              <a:off x="6616980" y="427598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3151E-FDFE-4D3A-B69B-E1BFDCEA2820}"/>
                </a:ext>
              </a:extLst>
            </p:cNvPr>
            <p:cNvSpPr/>
            <p:nvPr/>
          </p:nvSpPr>
          <p:spPr>
            <a:xfrm>
              <a:off x="8015430" y="4275153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ECE6A3-D58E-4441-9A9B-0B73CFEBAD9D}"/>
                </a:ext>
              </a:extLst>
            </p:cNvPr>
            <p:cNvSpPr/>
            <p:nvPr/>
          </p:nvSpPr>
          <p:spPr>
            <a:xfrm>
              <a:off x="8015432" y="452197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BF4770F-E092-478D-B9D3-FF0333B6B08A}"/>
                </a:ext>
              </a:extLst>
            </p:cNvPr>
            <p:cNvSpPr/>
            <p:nvPr/>
          </p:nvSpPr>
          <p:spPr>
            <a:xfrm>
              <a:off x="8015433" y="4769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DB8BFB-58D5-4EC6-BE9D-A731151937B7}"/>
                </a:ext>
              </a:extLst>
            </p:cNvPr>
            <p:cNvSpPr/>
            <p:nvPr/>
          </p:nvSpPr>
          <p:spPr>
            <a:xfrm>
              <a:off x="8015431" y="5014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DFA0CB-7823-4242-B326-3F045F72331B}"/>
                </a:ext>
              </a:extLst>
            </p:cNvPr>
            <p:cNvSpPr/>
            <p:nvPr/>
          </p:nvSpPr>
          <p:spPr>
            <a:xfrm>
              <a:off x="8015427" y="5261101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F6D4E29-EB05-43AC-A07E-BBA5823DC07C}"/>
                </a:ext>
              </a:extLst>
            </p:cNvPr>
            <p:cNvSpPr/>
            <p:nvPr/>
          </p:nvSpPr>
          <p:spPr>
            <a:xfrm>
              <a:off x="8015429" y="550791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35527F3-AC2C-4A4D-B6FD-FDEA80E7DFF6}"/>
                </a:ext>
              </a:extLst>
            </p:cNvPr>
            <p:cNvSpPr/>
            <p:nvPr/>
          </p:nvSpPr>
          <p:spPr>
            <a:xfrm>
              <a:off x="8015430" y="5755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6824646-4C00-4833-85B2-253F3A0DEEA2}"/>
                </a:ext>
              </a:extLst>
            </p:cNvPr>
            <p:cNvSpPr/>
            <p:nvPr/>
          </p:nvSpPr>
          <p:spPr>
            <a:xfrm>
              <a:off x="8015428" y="6000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8A9A661-E4F9-4791-BFE4-9DCF9281C4F4}"/>
                </a:ext>
              </a:extLst>
            </p:cNvPr>
            <p:cNvSpPr/>
            <p:nvPr/>
          </p:nvSpPr>
          <p:spPr>
            <a:xfrm>
              <a:off x="8015426" y="624655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51524B6-EC49-47BE-872B-29124205A7BB}"/>
              </a:ext>
            </a:extLst>
          </p:cNvPr>
          <p:cNvGrpSpPr/>
          <p:nvPr/>
        </p:nvGrpSpPr>
        <p:grpSpPr>
          <a:xfrm>
            <a:off x="628650" y="3646583"/>
            <a:ext cx="4736564" cy="2846291"/>
            <a:chOff x="628650" y="3646583"/>
            <a:chExt cx="4736564" cy="284629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6A7105F-4D9F-4E51-9929-CA4DF20057F5}"/>
                </a:ext>
              </a:extLst>
            </p:cNvPr>
            <p:cNvSpPr/>
            <p:nvPr/>
          </p:nvSpPr>
          <p:spPr>
            <a:xfrm>
              <a:off x="628650" y="3646583"/>
              <a:ext cx="4736564" cy="284629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F506BEC-2353-43B5-9DC9-A3454721BD2A}"/>
                </a:ext>
              </a:extLst>
            </p:cNvPr>
            <p:cNvSpPr/>
            <p:nvPr/>
          </p:nvSpPr>
          <p:spPr>
            <a:xfrm>
              <a:off x="2616861" y="4862544"/>
              <a:ext cx="2259605" cy="138400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/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5152" r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/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9412" r="-29412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/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7647" r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/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4286" r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/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3404" r="-23404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DFE44D9-E9EE-47CF-9CD7-A97C1BA794D4}"/>
              </a:ext>
            </a:extLst>
          </p:cNvPr>
          <p:cNvGrpSpPr/>
          <p:nvPr/>
        </p:nvGrpSpPr>
        <p:grpSpPr>
          <a:xfrm>
            <a:off x="3097793" y="4399139"/>
            <a:ext cx="3519190" cy="1970576"/>
            <a:chOff x="3097793" y="4399139"/>
            <a:chExt cx="3519190" cy="1970576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3D8DD0B-D2D3-496C-B13D-0E1F1D19E84D}"/>
                </a:ext>
              </a:extLst>
            </p:cNvPr>
            <p:cNvCxnSpPr>
              <a:stCxn id="33" idx="3"/>
              <a:endCxn id="22" idx="1"/>
            </p:cNvCxnSpPr>
            <p:nvPr/>
          </p:nvCxnSpPr>
          <p:spPr>
            <a:xfrm flipV="1">
              <a:off x="3097793" y="4399139"/>
              <a:ext cx="3519187" cy="738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/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969" r="-5590" b="-6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E3D8D6D-0832-4C78-9D45-BEB207DABA04}"/>
                </a:ext>
              </a:extLst>
            </p:cNvPr>
            <p:cNvCxnSpPr>
              <a:cxnSpLocks/>
              <a:stCxn id="36" idx="3"/>
              <a:endCxn id="21" idx="1"/>
            </p:cNvCxnSpPr>
            <p:nvPr/>
          </p:nvCxnSpPr>
          <p:spPr>
            <a:xfrm flipV="1">
              <a:off x="4092992" y="4891781"/>
              <a:ext cx="2523989" cy="2469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/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000" r="-500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3F2B3F6-49A9-45C6-A636-FB06FD747570}"/>
                </a:ext>
              </a:extLst>
            </p:cNvPr>
            <p:cNvCxnSpPr>
              <a:cxnSpLocks/>
              <a:stCxn id="35" idx="3"/>
              <a:endCxn id="18" idx="1"/>
            </p:cNvCxnSpPr>
            <p:nvPr/>
          </p:nvCxnSpPr>
          <p:spPr>
            <a:xfrm>
              <a:off x="3698249" y="5538149"/>
              <a:ext cx="2918733" cy="92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/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031" r="-503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C016E38-ADD0-49A5-9D0A-4E25CC2DCA94}"/>
                </a:ext>
              </a:extLst>
            </p:cNvPr>
            <p:cNvCxnSpPr>
              <a:cxnSpLocks/>
              <a:stCxn id="37" idx="3"/>
              <a:endCxn id="9" idx="1"/>
            </p:cNvCxnSpPr>
            <p:nvPr/>
          </p:nvCxnSpPr>
          <p:spPr>
            <a:xfrm>
              <a:off x="4514692" y="5877073"/>
              <a:ext cx="2102291" cy="4926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/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5357" t="-1282" r="-4167" b="-6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26FDA73-2EF5-4CA0-B3DE-51F1FABDA3EF}"/>
              </a:ext>
            </a:extLst>
          </p:cNvPr>
          <p:cNvSpPr txBox="1"/>
          <p:nvPr/>
        </p:nvSpPr>
        <p:spPr>
          <a:xfrm>
            <a:off x="2217151" y="3375812"/>
            <a:ext cx="6298199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Hashing “randomly” maps keys to buckets</a:t>
            </a:r>
          </a:p>
        </p:txBody>
      </p:sp>
    </p:spTree>
    <p:extLst>
      <p:ext uri="{BB962C8B-B14F-4D97-AF65-F5344CB8AC3E}">
        <p14:creationId xmlns:p14="http://schemas.microsoft.com/office/powerpoint/2010/main" val="401211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49E1B-9721-465C-8701-546DFBE8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510"/>
                <a:ext cx="7886700" cy="173831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Design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hash function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as the index of slot for storing element with key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computing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always fast. (E.g.,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maps distinct keys to </a:t>
                </a:r>
                <a:r>
                  <a:rPr lang="en-US" sz="2000" dirty="0"/>
                  <a:t>distinct indices.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Search</a:t>
                </a:r>
                <a:r>
                  <a:rPr lang="en-US" sz="2000" dirty="0">
                    <a:solidFill>
                      <a:schemeClr val="tx1"/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Insert</a:t>
                </a:r>
                <a:r>
                  <a:rPr lang="en-US" sz="2000" dirty="0">
                    <a:solidFill>
                      <a:schemeClr val="tx1"/>
                    </a:solidFill>
                  </a:rPr>
                  <a:t>/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Remove</a:t>
                </a:r>
                <a:r>
                  <a:rPr lang="en-US" sz="2000" dirty="0">
                    <a:solidFill>
                      <a:schemeClr val="tx1"/>
                    </a:solidFill>
                  </a:rPr>
                  <a:t> can be done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896185-6A1C-43BA-B15C-2425EA854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510"/>
                <a:ext cx="7886700" cy="1738312"/>
              </a:xfrm>
              <a:blipFill>
                <a:blip r:embed="rId2"/>
                <a:stretch>
                  <a:fillRect l="-696" t="-3509" b="-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2A6E0EBA-C25D-4A4D-8FC1-A197F73BD127}"/>
              </a:ext>
            </a:extLst>
          </p:cNvPr>
          <p:cNvGrpSpPr/>
          <p:nvPr/>
        </p:nvGrpSpPr>
        <p:grpSpPr>
          <a:xfrm>
            <a:off x="6616980" y="4275153"/>
            <a:ext cx="1890756" cy="2217721"/>
            <a:chOff x="6616980" y="4275153"/>
            <a:chExt cx="1890756" cy="221772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6123DA1-B1FC-4CE8-9EEF-27ED49647AB9}"/>
                </a:ext>
              </a:extLst>
            </p:cNvPr>
            <p:cNvSpPr/>
            <p:nvPr/>
          </p:nvSpPr>
          <p:spPr>
            <a:xfrm>
              <a:off x="6616983" y="600023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F077A78-1ACB-4457-ACDB-D259E29DABBA}"/>
                </a:ext>
              </a:extLst>
            </p:cNvPr>
            <p:cNvSpPr/>
            <p:nvPr/>
          </p:nvSpPr>
          <p:spPr>
            <a:xfrm>
              <a:off x="6616983" y="6246556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134E76-0352-43BA-9AF4-62F612764F8C}"/>
                </a:ext>
              </a:extLst>
            </p:cNvPr>
            <p:cNvSpPr/>
            <p:nvPr/>
          </p:nvSpPr>
          <p:spPr>
            <a:xfrm>
              <a:off x="6616982" y="575391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5199314-53C5-4596-BA42-92242A9C1698}"/>
                </a:ext>
              </a:extLst>
            </p:cNvPr>
            <p:cNvSpPr/>
            <p:nvPr/>
          </p:nvSpPr>
          <p:spPr>
            <a:xfrm>
              <a:off x="6616982" y="526126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A3D9917-9E73-4B61-87CE-BD7A46E9A527}"/>
                </a:ext>
              </a:extLst>
            </p:cNvPr>
            <p:cNvSpPr/>
            <p:nvPr/>
          </p:nvSpPr>
          <p:spPr>
            <a:xfrm>
              <a:off x="6616982" y="550759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FB15DA1-0BB5-49FF-A80A-08A30EE6F79E}"/>
                </a:ext>
              </a:extLst>
            </p:cNvPr>
            <p:cNvSpPr/>
            <p:nvPr/>
          </p:nvSpPr>
          <p:spPr>
            <a:xfrm>
              <a:off x="6616981" y="501494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B7E13A-E619-4272-B9EC-8D71CDA3E8AB}"/>
                </a:ext>
              </a:extLst>
            </p:cNvPr>
            <p:cNvSpPr/>
            <p:nvPr/>
          </p:nvSpPr>
          <p:spPr>
            <a:xfrm>
              <a:off x="6616981" y="452230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097F484-9CF6-4ED0-B9F3-50A3EC2AC0CC}"/>
                </a:ext>
              </a:extLst>
            </p:cNvPr>
            <p:cNvSpPr/>
            <p:nvPr/>
          </p:nvSpPr>
          <p:spPr>
            <a:xfrm>
              <a:off x="6616981" y="4768622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BF4F42B-FA4C-48E1-AAB2-5E438C6EC385}"/>
                </a:ext>
              </a:extLst>
            </p:cNvPr>
            <p:cNvSpPr/>
            <p:nvPr/>
          </p:nvSpPr>
          <p:spPr>
            <a:xfrm>
              <a:off x="6616980" y="427598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3151E-FDFE-4D3A-B69B-E1BFDCEA2820}"/>
                </a:ext>
              </a:extLst>
            </p:cNvPr>
            <p:cNvSpPr/>
            <p:nvPr/>
          </p:nvSpPr>
          <p:spPr>
            <a:xfrm>
              <a:off x="8015430" y="4275153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ECE6A3-D58E-4441-9A9B-0B73CFEBAD9D}"/>
                </a:ext>
              </a:extLst>
            </p:cNvPr>
            <p:cNvSpPr/>
            <p:nvPr/>
          </p:nvSpPr>
          <p:spPr>
            <a:xfrm>
              <a:off x="8015432" y="452197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BF4770F-E092-478D-B9D3-FF0333B6B08A}"/>
                </a:ext>
              </a:extLst>
            </p:cNvPr>
            <p:cNvSpPr/>
            <p:nvPr/>
          </p:nvSpPr>
          <p:spPr>
            <a:xfrm>
              <a:off x="8015433" y="4769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DB8BFB-58D5-4EC6-BE9D-A731151937B7}"/>
                </a:ext>
              </a:extLst>
            </p:cNvPr>
            <p:cNvSpPr/>
            <p:nvPr/>
          </p:nvSpPr>
          <p:spPr>
            <a:xfrm>
              <a:off x="8015431" y="5014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BDFA0CB-7823-4242-B326-3F045F72331B}"/>
                </a:ext>
              </a:extLst>
            </p:cNvPr>
            <p:cNvSpPr/>
            <p:nvPr/>
          </p:nvSpPr>
          <p:spPr>
            <a:xfrm>
              <a:off x="8015427" y="5261101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F6D4E29-EB05-43AC-A07E-BBA5823DC07C}"/>
                </a:ext>
              </a:extLst>
            </p:cNvPr>
            <p:cNvSpPr/>
            <p:nvPr/>
          </p:nvSpPr>
          <p:spPr>
            <a:xfrm>
              <a:off x="8015429" y="550791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35527F3-AC2C-4A4D-B6FD-FDEA80E7DFF6}"/>
                </a:ext>
              </a:extLst>
            </p:cNvPr>
            <p:cNvSpPr/>
            <p:nvPr/>
          </p:nvSpPr>
          <p:spPr>
            <a:xfrm>
              <a:off x="8015430" y="5755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6824646-4C00-4833-85B2-253F3A0DEEA2}"/>
                </a:ext>
              </a:extLst>
            </p:cNvPr>
            <p:cNvSpPr/>
            <p:nvPr/>
          </p:nvSpPr>
          <p:spPr>
            <a:xfrm>
              <a:off x="8015428" y="6000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8A9A661-E4F9-4791-BFE4-9DCF9281C4F4}"/>
                </a:ext>
              </a:extLst>
            </p:cNvPr>
            <p:cNvSpPr/>
            <p:nvPr/>
          </p:nvSpPr>
          <p:spPr>
            <a:xfrm>
              <a:off x="8015426" y="624655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51524B6-EC49-47BE-872B-29124205A7BB}"/>
              </a:ext>
            </a:extLst>
          </p:cNvPr>
          <p:cNvGrpSpPr/>
          <p:nvPr/>
        </p:nvGrpSpPr>
        <p:grpSpPr>
          <a:xfrm>
            <a:off x="628650" y="3646583"/>
            <a:ext cx="4736564" cy="2846291"/>
            <a:chOff x="628650" y="3646583"/>
            <a:chExt cx="4736564" cy="284629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6A7105F-4D9F-4E51-9929-CA4DF20057F5}"/>
                </a:ext>
              </a:extLst>
            </p:cNvPr>
            <p:cNvSpPr/>
            <p:nvPr/>
          </p:nvSpPr>
          <p:spPr>
            <a:xfrm>
              <a:off x="628650" y="3646583"/>
              <a:ext cx="4736564" cy="284629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/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B0396D1-3BB7-451C-BFEB-5B2C330FA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071" y="4983556"/>
                  <a:ext cx="201722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5152" r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/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DAD66A9-71BC-4F2D-AF1B-9847BACA3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1910" y="5384260"/>
                  <a:ext cx="20633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9412" r="-29412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/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68FDB2-C9D7-4B6B-A8B9-6452D3A0F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1267" y="4984863"/>
                  <a:ext cx="211725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7647" r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/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CB26750-CC6D-485A-8F1C-77BEAEC3D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327" y="5723184"/>
                  <a:ext cx="254365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4286" r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/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CF0378F-2650-4300-A457-DFAFD21DF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48" y="3852311"/>
                  <a:ext cx="28655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3404" r="-23404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DFE44D9-E9EE-47CF-9CD7-A97C1BA794D4}"/>
              </a:ext>
            </a:extLst>
          </p:cNvPr>
          <p:cNvGrpSpPr/>
          <p:nvPr/>
        </p:nvGrpSpPr>
        <p:grpSpPr>
          <a:xfrm>
            <a:off x="3097793" y="4399139"/>
            <a:ext cx="3519190" cy="1970576"/>
            <a:chOff x="3097793" y="4399139"/>
            <a:chExt cx="3519190" cy="1970576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3D8DD0B-D2D3-496C-B13D-0E1F1D19E84D}"/>
                </a:ext>
              </a:extLst>
            </p:cNvPr>
            <p:cNvCxnSpPr>
              <a:stCxn id="33" idx="3"/>
              <a:endCxn id="22" idx="1"/>
            </p:cNvCxnSpPr>
            <p:nvPr/>
          </p:nvCxnSpPr>
          <p:spPr>
            <a:xfrm flipV="1">
              <a:off x="3097793" y="4399139"/>
              <a:ext cx="3519187" cy="7383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/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945B295-3732-4EB8-82DE-C0E09B702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93753">
                  <a:off x="4399850" y="4475932"/>
                  <a:ext cx="93673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969" r="-5590" b="-6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BE3D8D6D-0832-4C78-9D45-BEB207DABA04}"/>
                </a:ext>
              </a:extLst>
            </p:cNvPr>
            <p:cNvCxnSpPr>
              <a:cxnSpLocks/>
              <a:stCxn id="36" idx="3"/>
              <a:endCxn id="21" idx="1"/>
            </p:cNvCxnSpPr>
            <p:nvPr/>
          </p:nvCxnSpPr>
          <p:spPr>
            <a:xfrm flipV="1">
              <a:off x="4092992" y="4891781"/>
              <a:ext cx="2523989" cy="2469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/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90DD6574-4470-40F9-82F0-8241DBB20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59371">
                  <a:off x="5482267" y="4660904"/>
                  <a:ext cx="94519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000" r="-500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3F2B3F6-49A9-45C6-A636-FB06FD747570}"/>
                </a:ext>
              </a:extLst>
            </p:cNvPr>
            <p:cNvCxnSpPr>
              <a:cxnSpLocks/>
              <a:stCxn id="35" idx="3"/>
              <a:endCxn id="18" idx="1"/>
            </p:cNvCxnSpPr>
            <p:nvPr/>
          </p:nvCxnSpPr>
          <p:spPr>
            <a:xfrm>
              <a:off x="3698249" y="5538149"/>
              <a:ext cx="2918733" cy="92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/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3D6BB0-773E-4C25-9D87-F98635366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707">
                  <a:off x="5419520" y="5298891"/>
                  <a:ext cx="94519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031" r="-503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C016E38-ADD0-49A5-9D0A-4E25CC2DCA94}"/>
                </a:ext>
              </a:extLst>
            </p:cNvPr>
            <p:cNvCxnSpPr>
              <a:cxnSpLocks/>
              <a:stCxn id="37" idx="3"/>
              <a:endCxn id="9" idx="1"/>
            </p:cNvCxnSpPr>
            <p:nvPr/>
          </p:nvCxnSpPr>
          <p:spPr>
            <a:xfrm>
              <a:off x="4514692" y="5877073"/>
              <a:ext cx="2102291" cy="4926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/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E49B1C7-0FF7-4721-A28B-0D167A2D7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707382">
                  <a:off x="5507394" y="5891647"/>
                  <a:ext cx="98296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5357" t="-1282" r="-4167" b="-6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210CF63-3838-48F2-92FF-3A96A728FC82}"/>
              </a:ext>
            </a:extLst>
          </p:cNvPr>
          <p:cNvSpPr txBox="1"/>
          <p:nvPr/>
        </p:nvSpPr>
        <p:spPr>
          <a:xfrm>
            <a:off x="6372312" y="3031876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But is this possible?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EB455EE-A2FC-4E94-AA0A-CBD9BA36E988}"/>
              </a:ext>
            </a:extLst>
          </p:cNvPr>
          <p:cNvSpPr txBox="1"/>
          <p:nvPr/>
        </p:nvSpPr>
        <p:spPr>
          <a:xfrm>
            <a:off x="7122517" y="3493541"/>
            <a:ext cx="113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NO!!!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9022903-BCBA-458F-BFFE-1A83220E46D8}"/>
              </a:ext>
            </a:extLst>
          </p:cNvPr>
          <p:cNvCxnSpPr>
            <a:cxnSpLocks/>
          </p:cNvCxnSpPr>
          <p:nvPr/>
        </p:nvCxnSpPr>
        <p:spPr>
          <a:xfrm>
            <a:off x="621029" y="2934240"/>
            <a:ext cx="5377845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324D3A2-F4FE-4A34-811C-C204C8AD4770}"/>
              </a:ext>
            </a:extLst>
          </p:cNvPr>
          <p:cNvSpPr/>
          <p:nvPr/>
        </p:nvSpPr>
        <p:spPr>
          <a:xfrm>
            <a:off x="3172689" y="1626501"/>
            <a:ext cx="1230790" cy="47988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4B2FA95-9AFD-47AA-A269-101E67D421A3}"/>
                  </a:ext>
                </a:extLst>
              </p:cNvPr>
              <p:cNvSpPr txBox="1"/>
              <p:nvPr/>
            </p:nvSpPr>
            <p:spPr>
              <a:xfrm>
                <a:off x="4403479" y="1396683"/>
                <a:ext cx="13751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≪|</m:t>
                      </m:r>
                      <m:r>
                        <a:rPr 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4B2FA95-9AFD-47AA-A269-101E67D42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479" y="1396683"/>
                <a:ext cx="1375185" cy="461665"/>
              </a:xfrm>
              <a:prstGeom prst="rect">
                <a:avLst/>
              </a:prstGeom>
              <a:blipFill>
                <a:blip r:embed="rId12"/>
                <a:stretch>
                  <a:fillRect r="-88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4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1" grpId="0"/>
      <p:bldP spid="50" grpId="0" animBg="1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7A52A-BF5F-4825-A176-20AD0DE3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 in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733A4D-3BEF-4131-984F-22388CECD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Hash function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Two </a:t>
                </a:r>
                <a:r>
                  <a:rPr lang="en-US" sz="2400" i="1" u="sng" dirty="0">
                    <a:solidFill>
                      <a:schemeClr val="tx1"/>
                    </a:solidFill>
                  </a:rPr>
                  <a:t>distinct</a:t>
                </a:r>
                <a:r>
                  <a:rPr lang="en-US" sz="2400" dirty="0">
                    <a:solidFill>
                      <a:schemeClr val="tx1"/>
                    </a:solidFill>
                  </a:rPr>
                  <a:t>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collide</a:t>
                </a:r>
                <a:r>
                  <a:rPr lang="en-US" sz="2400" dirty="0">
                    <a:solidFill>
                      <a:schemeClr val="tx1"/>
                    </a:solidFill>
                  </a:rPr>
                  <a:t> if: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Collisions are unavoidable!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Proof: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≪|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pigeonhole principle.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733A4D-3BEF-4131-984F-22388CECD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F7686B51-F3E5-4B68-96F6-E4E1D63DBF8E}"/>
              </a:ext>
            </a:extLst>
          </p:cNvPr>
          <p:cNvGrpSpPr/>
          <p:nvPr/>
        </p:nvGrpSpPr>
        <p:grpSpPr>
          <a:xfrm>
            <a:off x="628650" y="3646583"/>
            <a:ext cx="7879086" cy="2846291"/>
            <a:chOff x="628650" y="3646583"/>
            <a:chExt cx="7879086" cy="2846291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C164602-B41A-48FC-8D3F-6C939CD0816C}"/>
                </a:ext>
              </a:extLst>
            </p:cNvPr>
            <p:cNvGrpSpPr/>
            <p:nvPr/>
          </p:nvGrpSpPr>
          <p:grpSpPr>
            <a:xfrm>
              <a:off x="6616980" y="4275153"/>
              <a:ext cx="1890756" cy="2217721"/>
              <a:chOff x="6616980" y="4275153"/>
              <a:chExt cx="1890756" cy="22177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DBDA215-F272-4011-9E0C-78CFDB53984D}"/>
                  </a:ext>
                </a:extLst>
              </p:cNvPr>
              <p:cNvSpPr/>
              <p:nvPr/>
            </p:nvSpPr>
            <p:spPr>
              <a:xfrm>
                <a:off x="6616983" y="6000234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2861D74-94E5-4BCD-AC5C-217137FE6C15}"/>
                  </a:ext>
                </a:extLst>
              </p:cNvPr>
              <p:cNvSpPr/>
              <p:nvPr/>
            </p:nvSpPr>
            <p:spPr>
              <a:xfrm>
                <a:off x="6616983" y="6246556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3399C56-4A59-492E-A0C4-1B8FD745CFD2}"/>
                  </a:ext>
                </a:extLst>
              </p:cNvPr>
              <p:cNvSpPr/>
              <p:nvPr/>
            </p:nvSpPr>
            <p:spPr>
              <a:xfrm>
                <a:off x="6616982" y="5753914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DE1456F5-89DE-4D18-9288-CFD507FFCC3D}"/>
                  </a:ext>
                </a:extLst>
              </p:cNvPr>
              <p:cNvSpPr/>
              <p:nvPr/>
            </p:nvSpPr>
            <p:spPr>
              <a:xfrm>
                <a:off x="6616982" y="5261268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2A393CD-416C-4648-BAFA-7D321737D7B6}"/>
                  </a:ext>
                </a:extLst>
              </p:cNvPr>
              <p:cNvSpPr/>
              <p:nvPr/>
            </p:nvSpPr>
            <p:spPr>
              <a:xfrm>
                <a:off x="6616982" y="550759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43C81F1-47CD-441A-A22C-19E51B08F200}"/>
                  </a:ext>
                </a:extLst>
              </p:cNvPr>
              <p:cNvSpPr/>
              <p:nvPr/>
            </p:nvSpPr>
            <p:spPr>
              <a:xfrm>
                <a:off x="6616981" y="5014948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B323CE19-1719-45CE-BD69-325B66EE4D0B}"/>
                  </a:ext>
                </a:extLst>
              </p:cNvPr>
              <p:cNvSpPr/>
              <p:nvPr/>
            </p:nvSpPr>
            <p:spPr>
              <a:xfrm>
                <a:off x="6616981" y="452230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A45ADFC-A460-4E07-871E-12B5678CBB17}"/>
                  </a:ext>
                </a:extLst>
              </p:cNvPr>
              <p:cNvSpPr/>
              <p:nvPr/>
            </p:nvSpPr>
            <p:spPr>
              <a:xfrm>
                <a:off x="6616981" y="4768622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24B88F2-6BDF-4538-B1A4-81B7EBBD5138}"/>
                  </a:ext>
                </a:extLst>
              </p:cNvPr>
              <p:cNvSpPr/>
              <p:nvPr/>
            </p:nvSpPr>
            <p:spPr>
              <a:xfrm>
                <a:off x="6616980" y="427598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801BF99C-5EF8-4B22-9FE8-05A90A30D55A}"/>
                  </a:ext>
                </a:extLst>
              </p:cNvPr>
              <p:cNvSpPr/>
              <p:nvPr/>
            </p:nvSpPr>
            <p:spPr>
              <a:xfrm>
                <a:off x="8015430" y="4275153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4D37334-66DD-4707-B2EC-D906D00F2755}"/>
                  </a:ext>
                </a:extLst>
              </p:cNvPr>
              <p:cNvSpPr/>
              <p:nvPr/>
            </p:nvSpPr>
            <p:spPr>
              <a:xfrm>
                <a:off x="8015432" y="4521970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C971B938-51EE-46EE-BDAC-DC8AC1145547}"/>
                  </a:ext>
                </a:extLst>
              </p:cNvPr>
              <p:cNvSpPr/>
              <p:nvPr/>
            </p:nvSpPr>
            <p:spPr>
              <a:xfrm>
                <a:off x="8015433" y="476928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80B9E0B-4706-4ED5-8957-681B6E14EC78}"/>
                  </a:ext>
                </a:extLst>
              </p:cNvPr>
              <p:cNvSpPr/>
              <p:nvPr/>
            </p:nvSpPr>
            <p:spPr>
              <a:xfrm>
                <a:off x="8015431" y="501428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1D7DDD8-D3C1-4757-AAC9-8C2D3481ED9F}"/>
                  </a:ext>
                </a:extLst>
              </p:cNvPr>
              <p:cNvSpPr/>
              <p:nvPr/>
            </p:nvSpPr>
            <p:spPr>
              <a:xfrm>
                <a:off x="8015427" y="5261101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CCD8461-3F46-4C54-BD9F-CF847DB73EA4}"/>
                  </a:ext>
                </a:extLst>
              </p:cNvPr>
              <p:cNvSpPr/>
              <p:nvPr/>
            </p:nvSpPr>
            <p:spPr>
              <a:xfrm>
                <a:off x="8015429" y="5507918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9CBD46E0-628D-497C-A315-559DFCA425FE}"/>
                  </a:ext>
                </a:extLst>
              </p:cNvPr>
              <p:cNvSpPr/>
              <p:nvPr/>
            </p:nvSpPr>
            <p:spPr>
              <a:xfrm>
                <a:off x="8015430" y="5755234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ACDE56CB-205B-4739-B686-F7A75B838AE6}"/>
                  </a:ext>
                </a:extLst>
              </p:cNvPr>
              <p:cNvSpPr/>
              <p:nvPr/>
            </p:nvSpPr>
            <p:spPr>
              <a:xfrm>
                <a:off x="8015428" y="6000234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2A32C2BC-06F7-4C91-B632-D276C2E662E8}"/>
                  </a:ext>
                </a:extLst>
              </p:cNvPr>
              <p:cNvSpPr/>
              <p:nvPr/>
            </p:nvSpPr>
            <p:spPr>
              <a:xfrm>
                <a:off x="8015426" y="624655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8</a:t>
                </a: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2BE1DC3-6FB8-4044-ADCE-280F2BC0AC87}"/>
                </a:ext>
              </a:extLst>
            </p:cNvPr>
            <p:cNvGrpSpPr/>
            <p:nvPr/>
          </p:nvGrpSpPr>
          <p:grpSpPr>
            <a:xfrm>
              <a:off x="628650" y="3646583"/>
              <a:ext cx="4736564" cy="2846291"/>
              <a:chOff x="628650" y="3646583"/>
              <a:chExt cx="4736564" cy="2846291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2F7BEEFE-C73B-48CD-9F31-17737BDBA5B7}"/>
                  </a:ext>
                </a:extLst>
              </p:cNvPr>
              <p:cNvSpPr/>
              <p:nvPr/>
            </p:nvSpPr>
            <p:spPr>
              <a:xfrm>
                <a:off x="628650" y="3646583"/>
                <a:ext cx="4736564" cy="284629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AE2FB41E-7BD0-42F6-9D50-C9187DEFC990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071" y="4983556"/>
                    <a:ext cx="20172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AE2FB41E-7BD0-42F6-9D50-C9187DEFC9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071" y="4983556"/>
                    <a:ext cx="201722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152" r="-151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9EC8817F-6B1B-424B-8F0F-31176959CEA3}"/>
                      </a:ext>
                    </a:extLst>
                  </p:cNvPr>
                  <p:cNvSpPr txBox="1"/>
                  <p:nvPr/>
                </p:nvSpPr>
                <p:spPr>
                  <a:xfrm>
                    <a:off x="3491910" y="5384260"/>
                    <a:ext cx="20633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9EC8817F-6B1B-424B-8F0F-31176959C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1910" y="5384260"/>
                    <a:ext cx="206339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412" r="-29412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937E1CA1-2025-4438-842D-7154F1806D6A}"/>
                      </a:ext>
                    </a:extLst>
                  </p:cNvPr>
                  <p:cNvSpPr txBox="1"/>
                  <p:nvPr/>
                </p:nvSpPr>
                <p:spPr>
                  <a:xfrm>
                    <a:off x="3881267" y="4984863"/>
                    <a:ext cx="21172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937E1CA1-2025-4438-842D-7154F1806D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1267" y="4984863"/>
                    <a:ext cx="21172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7647" r="-147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1C8BDC5D-7FAA-4E53-B5F6-0F1ABD7794EE}"/>
                      </a:ext>
                    </a:extLst>
                  </p:cNvPr>
                  <p:cNvSpPr txBox="1"/>
                  <p:nvPr/>
                </p:nvSpPr>
                <p:spPr>
                  <a:xfrm>
                    <a:off x="4260327" y="5723184"/>
                    <a:ext cx="25436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1C8BDC5D-7FAA-4E53-B5F6-0F1ABD779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0327" y="5723184"/>
                    <a:ext cx="254365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4286" r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A555B9D7-9A1A-4F14-B664-D097B875349E}"/>
                      </a:ext>
                    </a:extLst>
                  </p:cNvPr>
                  <p:cNvSpPr txBox="1"/>
                  <p:nvPr/>
                </p:nvSpPr>
                <p:spPr>
                  <a:xfrm>
                    <a:off x="878148" y="3852311"/>
                    <a:ext cx="28655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A555B9D7-9A1A-4F14-B664-D097B8753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148" y="3852311"/>
                    <a:ext cx="28655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404" r="-23404" b="-49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72D94630-41A3-44E4-A26B-C01AECC9670A}"/>
                </a:ext>
              </a:extLst>
            </p:cNvPr>
            <p:cNvGrpSpPr/>
            <p:nvPr/>
          </p:nvGrpSpPr>
          <p:grpSpPr>
            <a:xfrm>
              <a:off x="3097793" y="4399139"/>
              <a:ext cx="3519190" cy="1970576"/>
              <a:chOff x="3097793" y="4399139"/>
              <a:chExt cx="3519190" cy="1970576"/>
            </a:xfrm>
          </p:grpSpPr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29694F31-C77F-4479-8548-3BD0AE63A3F6}"/>
                  </a:ext>
                </a:extLst>
              </p:cNvPr>
              <p:cNvCxnSpPr>
                <a:stCxn id="60" idx="3"/>
                <a:endCxn id="48" idx="1"/>
              </p:cNvCxnSpPr>
              <p:nvPr/>
            </p:nvCxnSpPr>
            <p:spPr>
              <a:xfrm flipV="1">
                <a:off x="3097793" y="4399139"/>
                <a:ext cx="3519187" cy="73830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0604E979-B36A-46D6-AED7-3E899805CA87}"/>
                      </a:ext>
                    </a:extLst>
                  </p:cNvPr>
                  <p:cNvSpPr txBox="1"/>
                  <p:nvPr/>
                </p:nvSpPr>
                <p:spPr>
                  <a:xfrm rot="20893753">
                    <a:off x="4399850" y="4475932"/>
                    <a:ext cx="93673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0604E979-B36A-46D6-AED7-3E899805CA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893753">
                    <a:off x="4399850" y="4475932"/>
                    <a:ext cx="9367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969" r="-5590" b="-65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512B9B8C-D503-42FF-83D2-4A13C72CE4B9}"/>
                  </a:ext>
                </a:extLst>
              </p:cNvPr>
              <p:cNvCxnSpPr>
                <a:cxnSpLocks/>
                <a:stCxn id="62" idx="3"/>
                <a:endCxn id="47" idx="1"/>
              </p:cNvCxnSpPr>
              <p:nvPr/>
            </p:nvCxnSpPr>
            <p:spPr>
              <a:xfrm flipV="1">
                <a:off x="4092992" y="4891781"/>
                <a:ext cx="2523989" cy="24697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F187EDBE-FFC4-45A0-83A5-DE9524E03DC0}"/>
                      </a:ext>
                    </a:extLst>
                  </p:cNvPr>
                  <p:cNvSpPr txBox="1"/>
                  <p:nvPr/>
                </p:nvSpPr>
                <p:spPr>
                  <a:xfrm rot="21259371">
                    <a:off x="5482267" y="4660904"/>
                    <a:ext cx="94519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F187EDBE-FFC4-45A0-83A5-DE9524E03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259371">
                    <a:off x="5482267" y="4660904"/>
                    <a:ext cx="9451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000" r="-5000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CBBB8848-D44C-4D8F-96CE-7A6836235F31}"/>
                  </a:ext>
                </a:extLst>
              </p:cNvPr>
              <p:cNvCxnSpPr>
                <a:cxnSpLocks/>
                <a:stCxn id="61" idx="3"/>
                <a:endCxn id="44" idx="1"/>
              </p:cNvCxnSpPr>
              <p:nvPr/>
            </p:nvCxnSpPr>
            <p:spPr>
              <a:xfrm>
                <a:off x="3698249" y="5538149"/>
                <a:ext cx="2918733" cy="926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7C09FF85-CA37-41E6-8283-61CAD24CD10D}"/>
                      </a:ext>
                    </a:extLst>
                  </p:cNvPr>
                  <p:cNvSpPr txBox="1"/>
                  <p:nvPr/>
                </p:nvSpPr>
                <p:spPr>
                  <a:xfrm rot="210707">
                    <a:off x="5419520" y="5298891"/>
                    <a:ext cx="94519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7C09FF85-CA37-41E6-8283-61CAD24CD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0707">
                    <a:off x="5419520" y="5298891"/>
                    <a:ext cx="94519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031" r="-5031" b="-10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A29D887B-E7BE-4C7F-8495-D363214C823B}"/>
                  </a:ext>
                </a:extLst>
              </p:cNvPr>
              <p:cNvCxnSpPr>
                <a:cxnSpLocks/>
                <a:stCxn id="63" idx="3"/>
                <a:endCxn id="41" idx="1"/>
              </p:cNvCxnSpPr>
              <p:nvPr/>
            </p:nvCxnSpPr>
            <p:spPr>
              <a:xfrm>
                <a:off x="4514692" y="5877073"/>
                <a:ext cx="2102291" cy="49264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964BB1EF-E359-48D1-B50A-E175F4ECA304}"/>
                      </a:ext>
                    </a:extLst>
                  </p:cNvPr>
                  <p:cNvSpPr txBox="1"/>
                  <p:nvPr/>
                </p:nvSpPr>
                <p:spPr>
                  <a:xfrm rot="707382">
                    <a:off x="5507394" y="5891647"/>
                    <a:ext cx="9829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964BB1EF-E359-48D1-B50A-E175F4ECA3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707382">
                    <a:off x="5507394" y="5891647"/>
                    <a:ext cx="9829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357" t="-1282" r="-4167" b="-6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AF380D7-31E5-4050-A262-489832A6CCB1}"/>
                    </a:ext>
                  </a:extLst>
                </p:cNvPr>
                <p:cNvSpPr txBox="1"/>
                <p:nvPr/>
              </p:nvSpPr>
              <p:spPr>
                <a:xfrm>
                  <a:off x="2409986" y="5846343"/>
                  <a:ext cx="1855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AF380D7-31E5-4050-A262-489832A6C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986" y="5846343"/>
                  <a:ext cx="185500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16129"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8AA63347-EC67-4329-883E-4CF1138F55EE}"/>
                </a:ext>
              </a:extLst>
            </p:cNvPr>
            <p:cNvCxnSpPr>
              <a:cxnSpLocks/>
              <a:stCxn id="74" idx="3"/>
              <a:endCxn id="41" idx="1"/>
            </p:cNvCxnSpPr>
            <p:nvPr/>
          </p:nvCxnSpPr>
          <p:spPr>
            <a:xfrm>
              <a:off x="2595486" y="6000232"/>
              <a:ext cx="4021497" cy="36948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6B7CF4B-F034-4A90-A4A9-68BA4873912E}"/>
                    </a:ext>
                  </a:extLst>
                </p:cNvPr>
                <p:cNvSpPr txBox="1"/>
                <p:nvPr/>
              </p:nvSpPr>
              <p:spPr>
                <a:xfrm rot="381926">
                  <a:off x="2894255" y="5760076"/>
                  <a:ext cx="92249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6B7CF4B-F034-4A90-A4A9-68BA48739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81926">
                  <a:off x="2894255" y="5760076"/>
                  <a:ext cx="922497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5732" r="-4459"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3F446305-574C-4CEA-8A7C-6D18893C47A4}"/>
              </a:ext>
            </a:extLst>
          </p:cNvPr>
          <p:cNvSpPr txBox="1"/>
          <p:nvPr/>
        </p:nvSpPr>
        <p:spPr>
          <a:xfrm>
            <a:off x="4175709" y="3408623"/>
            <a:ext cx="433202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How to cope with collisions?</a:t>
            </a:r>
          </a:p>
        </p:txBody>
      </p:sp>
    </p:spTree>
    <p:extLst>
      <p:ext uri="{BB962C8B-B14F-4D97-AF65-F5344CB8AC3E}">
        <p14:creationId xmlns:p14="http://schemas.microsoft.com/office/powerpoint/2010/main" val="412944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0A7BB-5535-499F-9B07-3CE29EEA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Coping with collisions in hashing</a:t>
            </a:r>
            <a:br>
              <a:rPr lang="en-US" dirty="0"/>
            </a:br>
            <a:r>
              <a:rPr lang="en-US" dirty="0"/>
              <a:t>Chaining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EF863-254C-476F-8083-7AFB770AC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dirty="0"/>
                  <a:t>Each 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stores a pointer to a linked list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dirty="0"/>
                  <a:t>All keys that are hashed to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go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EF863-254C-476F-8083-7AFB770AC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614C197A-5F88-4A43-954A-E20C16C22250}"/>
              </a:ext>
            </a:extLst>
          </p:cNvPr>
          <p:cNvGrpSpPr/>
          <p:nvPr/>
        </p:nvGrpSpPr>
        <p:grpSpPr>
          <a:xfrm>
            <a:off x="628650" y="3933629"/>
            <a:ext cx="4301788" cy="2269949"/>
            <a:chOff x="628650" y="4275152"/>
            <a:chExt cx="4301788" cy="226994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633A543-E68F-4D64-8464-DAA24079D822}"/>
                </a:ext>
              </a:extLst>
            </p:cNvPr>
            <p:cNvSpPr/>
            <p:nvPr/>
          </p:nvSpPr>
          <p:spPr>
            <a:xfrm>
              <a:off x="922174" y="6000233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ACE1536-3ABC-4BBE-B905-2426C774360D}"/>
                </a:ext>
              </a:extLst>
            </p:cNvPr>
            <p:cNvSpPr/>
            <p:nvPr/>
          </p:nvSpPr>
          <p:spPr>
            <a:xfrm>
              <a:off x="922174" y="6246555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3000BE7-7DFF-439B-84ED-918F992A2660}"/>
                </a:ext>
              </a:extLst>
            </p:cNvPr>
            <p:cNvSpPr/>
            <p:nvPr/>
          </p:nvSpPr>
          <p:spPr>
            <a:xfrm>
              <a:off x="922173" y="5753913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2F61F4-E866-48DA-8412-16500F802B79}"/>
                </a:ext>
              </a:extLst>
            </p:cNvPr>
            <p:cNvSpPr/>
            <p:nvPr/>
          </p:nvSpPr>
          <p:spPr>
            <a:xfrm>
              <a:off x="922173" y="5261267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2546CEF-B43E-4B77-A989-AFAC173EF0A3}"/>
                </a:ext>
              </a:extLst>
            </p:cNvPr>
            <p:cNvSpPr/>
            <p:nvPr/>
          </p:nvSpPr>
          <p:spPr>
            <a:xfrm>
              <a:off x="922173" y="5507589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B5A1C41-EA97-4CA7-9D6D-338F1614CF00}"/>
                </a:ext>
              </a:extLst>
            </p:cNvPr>
            <p:cNvSpPr/>
            <p:nvPr/>
          </p:nvSpPr>
          <p:spPr>
            <a:xfrm>
              <a:off x="922172" y="5014947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C2E6207-B503-4BE5-B8AC-0CF37B7CF8EB}"/>
                </a:ext>
              </a:extLst>
            </p:cNvPr>
            <p:cNvSpPr/>
            <p:nvPr/>
          </p:nvSpPr>
          <p:spPr>
            <a:xfrm>
              <a:off x="922172" y="4522299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12BE0CF-CC7D-42DE-8101-566BEF63CCC3}"/>
                </a:ext>
              </a:extLst>
            </p:cNvPr>
            <p:cNvSpPr/>
            <p:nvPr/>
          </p:nvSpPr>
          <p:spPr>
            <a:xfrm>
              <a:off x="922172" y="4768621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811929C-2844-44D5-A2C7-A03A20F417E5}"/>
                </a:ext>
              </a:extLst>
            </p:cNvPr>
            <p:cNvSpPr/>
            <p:nvPr/>
          </p:nvSpPr>
          <p:spPr>
            <a:xfrm>
              <a:off x="922171" y="4275979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085B657-7B38-4CF3-83FC-3E79C330EFEA}"/>
                </a:ext>
              </a:extLst>
            </p:cNvPr>
            <p:cNvSpPr/>
            <p:nvPr/>
          </p:nvSpPr>
          <p:spPr>
            <a:xfrm>
              <a:off x="628654" y="4275152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84E86C-3E5C-498F-B387-414D7968EDBC}"/>
                </a:ext>
              </a:extLst>
            </p:cNvPr>
            <p:cNvSpPr/>
            <p:nvPr/>
          </p:nvSpPr>
          <p:spPr>
            <a:xfrm>
              <a:off x="628656" y="4521969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C3FE220-ECF0-4E2A-8C69-071996B55A85}"/>
                </a:ext>
              </a:extLst>
            </p:cNvPr>
            <p:cNvSpPr/>
            <p:nvPr/>
          </p:nvSpPr>
          <p:spPr>
            <a:xfrm>
              <a:off x="628657" y="476928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CDEB2AE-CE8D-4D3F-920C-5E21747EC06B}"/>
                </a:ext>
              </a:extLst>
            </p:cNvPr>
            <p:cNvSpPr/>
            <p:nvPr/>
          </p:nvSpPr>
          <p:spPr>
            <a:xfrm>
              <a:off x="628655" y="501428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480C554-9DFA-412D-AAAB-31390074F882}"/>
                </a:ext>
              </a:extLst>
            </p:cNvPr>
            <p:cNvSpPr/>
            <p:nvPr/>
          </p:nvSpPr>
          <p:spPr>
            <a:xfrm>
              <a:off x="628651" y="5261100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B895DD8-B01C-436F-BCC4-1C39F7D290C3}"/>
                </a:ext>
              </a:extLst>
            </p:cNvPr>
            <p:cNvSpPr/>
            <p:nvPr/>
          </p:nvSpPr>
          <p:spPr>
            <a:xfrm>
              <a:off x="628653" y="5507917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0141FB5-36AE-4D63-80C6-9F1CB4BB73A2}"/>
                </a:ext>
              </a:extLst>
            </p:cNvPr>
            <p:cNvSpPr/>
            <p:nvPr/>
          </p:nvSpPr>
          <p:spPr>
            <a:xfrm>
              <a:off x="628654" y="5755233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18D0D28-927B-4CA2-8946-26CED4E508C8}"/>
                </a:ext>
              </a:extLst>
            </p:cNvPr>
            <p:cNvSpPr/>
            <p:nvPr/>
          </p:nvSpPr>
          <p:spPr>
            <a:xfrm>
              <a:off x="628652" y="6000233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1E93248-6A98-4D7C-B8E1-3EC49B3D1C02}"/>
                </a:ext>
              </a:extLst>
            </p:cNvPr>
            <p:cNvSpPr/>
            <p:nvPr/>
          </p:nvSpPr>
          <p:spPr>
            <a:xfrm>
              <a:off x="628650" y="624655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A516485-924D-4232-A109-0178D97B2F77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48" y="4894060"/>
              <a:ext cx="10286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BC0EEA8-B1D0-4CBA-ADEF-93DBE75D2191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48" y="5637010"/>
              <a:ext cx="10286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575C459-9051-4305-9BC3-0A4E88C0EC69}"/>
                </a:ext>
              </a:extLst>
            </p:cNvPr>
            <p:cNvCxnSpPr>
              <a:cxnSpLocks/>
            </p:cNvCxnSpPr>
            <p:nvPr/>
          </p:nvCxnSpPr>
          <p:spPr>
            <a:xfrm>
              <a:off x="1685948" y="6379960"/>
              <a:ext cx="10286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2095BB75-597F-4438-9B62-31B759657812}"/>
                    </a:ext>
                  </a:extLst>
                </p:cNvPr>
                <p:cNvSpPr/>
                <p:nvPr/>
              </p:nvSpPr>
              <p:spPr>
                <a:xfrm>
                  <a:off x="2714625" y="47243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2095BB75-597F-4438-9B62-31B7596578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625" y="4724356"/>
                  <a:ext cx="478003" cy="33484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FF8C55A5-03AB-4386-BA3D-EB8E38EE5090}"/>
                    </a:ext>
                  </a:extLst>
                </p:cNvPr>
                <p:cNvSpPr/>
                <p:nvPr/>
              </p:nvSpPr>
              <p:spPr>
                <a:xfrm>
                  <a:off x="2714625" y="5467305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FF8C55A5-03AB-4386-BA3D-EB8E38EE50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625" y="5467305"/>
                  <a:ext cx="478003" cy="33484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725EC3A0-4D9A-4AC9-9F68-0BA916087436}"/>
                    </a:ext>
                  </a:extLst>
                </p:cNvPr>
                <p:cNvSpPr/>
                <p:nvPr/>
              </p:nvSpPr>
              <p:spPr>
                <a:xfrm>
                  <a:off x="2714624" y="6210254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725EC3A0-4D9A-4AC9-9F68-0BA9160874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624" y="6210254"/>
                  <a:ext cx="478003" cy="33484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68B8E5F-ECB2-407B-ADCB-B45850497BEA}"/>
                </a:ext>
              </a:extLst>
            </p:cNvPr>
            <p:cNvCxnSpPr>
              <a:cxnSpLocks/>
              <a:stCxn id="33" idx="3"/>
              <a:endCxn id="36" idx="1"/>
            </p:cNvCxnSpPr>
            <p:nvPr/>
          </p:nvCxnSpPr>
          <p:spPr>
            <a:xfrm flipV="1">
              <a:off x="3192627" y="6377677"/>
              <a:ext cx="3939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893050F9-65BD-4B7B-B93A-2172410F64C7}"/>
                    </a:ext>
                  </a:extLst>
                </p:cNvPr>
                <p:cNvSpPr/>
                <p:nvPr/>
              </p:nvSpPr>
              <p:spPr>
                <a:xfrm>
                  <a:off x="3586624" y="6210253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893050F9-65BD-4B7B-B93A-2172410F64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624" y="6210253"/>
                  <a:ext cx="478003" cy="3348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9CF42A62-98C7-4436-9059-7D7C74B7630E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3189533" y="4891780"/>
              <a:ext cx="3939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6A214967-CAB9-4375-9AA4-E2E4C7EBC85F}"/>
                    </a:ext>
                  </a:extLst>
                </p:cNvPr>
                <p:cNvSpPr/>
                <p:nvPr/>
              </p:nvSpPr>
              <p:spPr>
                <a:xfrm>
                  <a:off x="3583530" y="47243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6A214967-CAB9-4375-9AA4-E2E4C7EBC8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3530" y="4724356"/>
                  <a:ext cx="478003" cy="334847"/>
                </a:xfrm>
                <a:prstGeom prst="rect">
                  <a:avLst/>
                </a:prstGeom>
                <a:blipFill>
                  <a:blip r:embed="rId7"/>
                  <a:stretch>
                    <a:fillRect b="-172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F2FEE9B-8CA8-4640-A21D-E4772C6FC132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4058438" y="4891780"/>
              <a:ext cx="3939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ED51DE6-12C5-4701-A69F-6614938C6958}"/>
                    </a:ext>
                  </a:extLst>
                </p:cNvPr>
                <p:cNvSpPr/>
                <p:nvPr/>
              </p:nvSpPr>
              <p:spPr>
                <a:xfrm>
                  <a:off x="4452435" y="47243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ED51DE6-12C5-4701-A69F-6614938C69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435" y="4724356"/>
                  <a:ext cx="478003" cy="33484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D19436-5013-419C-A708-CE67C880DB8C}"/>
                  </a:ext>
                </a:extLst>
              </p:cNvPr>
              <p:cNvSpPr txBox="1"/>
              <p:nvPr/>
            </p:nvSpPr>
            <p:spPr>
              <a:xfrm>
                <a:off x="5448607" y="3995828"/>
                <a:ext cx="30667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D19436-5013-419C-A708-CE67C880D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07" y="3995828"/>
                <a:ext cx="3066737" cy="307777"/>
              </a:xfrm>
              <a:prstGeom prst="rect">
                <a:avLst/>
              </a:prstGeom>
              <a:blipFill>
                <a:blip r:embed="rId9"/>
                <a:stretch>
                  <a:fillRect l="-1590" r="-139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组合 49">
            <a:extLst>
              <a:ext uri="{FF2B5EF4-FFF2-40B4-BE49-F238E27FC236}">
                <a16:creationId xmlns:a16="http://schemas.microsoft.com/office/drawing/2014/main" id="{77CC6C2F-D6C6-4DD9-A1FB-AA0D47AB6C8E}"/>
              </a:ext>
            </a:extLst>
          </p:cNvPr>
          <p:cNvGrpSpPr/>
          <p:nvPr/>
        </p:nvGrpSpPr>
        <p:grpSpPr>
          <a:xfrm>
            <a:off x="483918" y="3707691"/>
            <a:ext cx="4615647" cy="2785181"/>
            <a:chOff x="483918" y="3707691"/>
            <a:chExt cx="4615647" cy="278518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B5D789C-1C79-4499-8C8A-E6D5ECAB3D8C}"/>
                </a:ext>
              </a:extLst>
            </p:cNvPr>
            <p:cNvSpPr/>
            <p:nvPr/>
          </p:nvSpPr>
          <p:spPr>
            <a:xfrm>
              <a:off x="483918" y="3707691"/>
              <a:ext cx="4615647" cy="278518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rgbClr val="C00000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9DD2A30-D79B-445E-84DC-FB203B58870F}"/>
                </a:ext>
              </a:extLst>
            </p:cNvPr>
            <p:cNvSpPr txBox="1"/>
            <p:nvPr/>
          </p:nvSpPr>
          <p:spPr>
            <a:xfrm>
              <a:off x="3091642" y="3795178"/>
              <a:ext cx="17595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</a:rPr>
                <a:t>Hash Table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37816B3-F29B-4AA0-8579-1839991138E1}"/>
                  </a:ext>
                </a:extLst>
              </p:cNvPr>
              <p:cNvSpPr txBox="1"/>
              <p:nvPr/>
            </p:nvSpPr>
            <p:spPr>
              <a:xfrm>
                <a:off x="5393087" y="4795921"/>
                <a:ext cx="338233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accent1">
                        <a:lumMod val="75000"/>
                      </a:schemeClr>
                    </a:solidFill>
                  </a:rPr>
                  <a:t>Space cost: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for pointers;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for actual elements.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37816B3-F29B-4AA0-8579-18399911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087" y="4795921"/>
                <a:ext cx="3382336" cy="1200329"/>
              </a:xfrm>
              <a:prstGeom prst="rect">
                <a:avLst/>
              </a:prstGeom>
              <a:blipFill>
                <a:blip r:embed="rId10"/>
                <a:stretch>
                  <a:fillRect l="-2883" t="-4061" r="-1982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82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0A7BB-5535-499F-9B07-3CE29EEA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 with Chaining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EF863-254C-476F-8083-7AFB770AC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Search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)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is a key.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Go through the corresponding list to search item with key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Insert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)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is a pointer to an item.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𝑘𝑒𝑦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Insert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to the </a:t>
                </a:r>
                <a:r>
                  <a:rPr lang="en-US" sz="2000" i="1" u="sng" dirty="0"/>
                  <a:t>head</a:t>
                </a:r>
                <a:r>
                  <a:rPr lang="en-US" sz="2000" dirty="0"/>
                  <a:t> of the corresponding list.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Remove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) 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is a pointer to an item.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Simply remove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from the linked list.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Time complexities? </a:t>
                </a:r>
                <a:r>
                  <a:rPr lang="en-US" sz="2000" dirty="0">
                    <a:solidFill>
                      <a:srgbClr val="C00000"/>
                    </a:solidFill>
                  </a:rPr>
                  <a:t>(Assume computing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takes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time.)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Search</a:t>
                </a:r>
                <a:r>
                  <a:rPr lang="en-US" sz="2400" dirty="0">
                    <a:solidFill>
                      <a:srgbClr val="C00000"/>
                    </a:solidFill>
                  </a:rPr>
                  <a:t> can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in worst-case. </a:t>
                </a:r>
                <a:r>
                  <a:rPr lang="en-US" sz="2000" dirty="0">
                    <a:solidFill>
                      <a:srgbClr val="C00000"/>
                    </a:solidFill>
                  </a:rPr>
                  <a:t>(All keys hash to same value.)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DEF863-254C-476F-8083-7AFB770AC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1329BBB-092B-4215-B4A8-B23801D0C3A8}"/>
                  </a:ext>
                </a:extLst>
              </p:cNvPr>
              <p:cNvSpPr txBox="1"/>
              <p:nvPr/>
            </p:nvSpPr>
            <p:spPr>
              <a:xfrm>
                <a:off x="6414887" y="3907114"/>
                <a:ext cx="7112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1329BBB-092B-4215-B4A8-B23801D0C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887" y="3907114"/>
                <a:ext cx="711220" cy="369332"/>
              </a:xfrm>
              <a:prstGeom prst="rect">
                <a:avLst/>
              </a:prstGeom>
              <a:blipFill>
                <a:blip r:embed="rId3"/>
                <a:stretch>
                  <a:fillRect l="-9402" r="-1538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95F201F-F992-4E5B-BB73-B38B4472A746}"/>
                  </a:ext>
                </a:extLst>
              </p:cNvPr>
              <p:cNvSpPr txBox="1"/>
              <p:nvPr/>
            </p:nvSpPr>
            <p:spPr>
              <a:xfrm>
                <a:off x="6059277" y="2798703"/>
                <a:ext cx="7112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95F201F-F992-4E5B-BB73-B38B4472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277" y="2798703"/>
                <a:ext cx="711220" cy="369332"/>
              </a:xfrm>
              <a:prstGeom prst="rect">
                <a:avLst/>
              </a:prstGeom>
              <a:blipFill>
                <a:blip r:embed="rId4"/>
                <a:stretch>
                  <a:fillRect l="-10256" r="-14530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A5E4F74A-7E80-4C95-9BA8-D220E3021789}"/>
              </a:ext>
            </a:extLst>
          </p:cNvPr>
          <p:cNvSpPr/>
          <p:nvPr/>
        </p:nvSpPr>
        <p:spPr>
          <a:xfrm>
            <a:off x="4324637" y="1700208"/>
            <a:ext cx="45281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Time depends on length of the linked list!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132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51694-2FC6-4FE9-ADD3-70C1851F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Let’s be optimistic (for now):</a:t>
            </a:r>
            <a:br>
              <a:rPr lang="en-US" dirty="0"/>
            </a:br>
            <a:r>
              <a:rPr lang="en-US" sz="3600" dirty="0"/>
              <a:t>The “Simple Uniform Hashing” Assumption</a:t>
            </a:r>
            <a:endParaRPr lang="en-US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23321A-3689-4D4A-A5F5-752BFFE58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dirty="0"/>
                  <a:t>Every key is </a:t>
                </a:r>
                <a:r>
                  <a:rPr lang="en-US" i="1" u="sng" dirty="0"/>
                  <a:t>equally likely</a:t>
                </a:r>
                <a:r>
                  <a:rPr lang="en-US" dirty="0"/>
                  <a:t> to map to every bucket.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dirty="0"/>
                  <a:t>Keys are mapped </a:t>
                </a:r>
                <a:r>
                  <a:rPr lang="en-US" i="1" u="sng" dirty="0"/>
                  <a:t>independently</a:t>
                </a:r>
                <a:r>
                  <a:rPr lang="en-US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dirty="0"/>
                  <a:t>Recall hash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fixed and deterministic:  </a:t>
                </a:r>
                <a:br>
                  <a:rPr lang="en-US" dirty="0"/>
                </a:b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making assumptions regarding input keys’ distribution!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dirty="0">
                    <a:solidFill>
                      <a:srgbClr val="C00000"/>
                    </a:solidFill>
                  </a:rPr>
                  <a:t>Why this helps?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key goes to a randomly chosen bucket, if there are enough number of buckets (</a:t>
                </a:r>
                <a:r>
                  <a:rPr lang="en-US" sz="2400" dirty="0" err="1"/>
                  <a:t>w.r.t.</a:t>
                </a:r>
                <a:r>
                  <a:rPr lang="en-US" sz="2400" dirty="0"/>
                  <a:t> </a:t>
                </a:r>
                <a:r>
                  <a:rPr lang="en-US" sz="2400" i="1" dirty="0"/>
                  <a:t>actual</a:t>
                </a:r>
                <a:r>
                  <a:rPr lang="en-US" sz="2400" dirty="0"/>
                  <a:t> number of keys to be stored), each bucket will not have too many keys.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23321A-3689-4D4A-A5F5-752BFFE58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56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51C7-C919-4471-9150-BA75301A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Assuming “Simple Uniform Hashing”</a:t>
            </a:r>
            <a:br>
              <a:rPr lang="en-US" dirty="0"/>
            </a:br>
            <a:r>
              <a:rPr lang="en-US" sz="4000" dirty="0"/>
              <a:t>Performance of hashing with chaining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Consider a hash table containing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buckets</a:t>
                </a:r>
                <a:r>
                  <a:rPr lang="en-US" sz="2400" dirty="0"/>
                  <a:t>, storing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keys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Define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load factor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(This is the expected number of keys in each bucket.)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en-US" sz="2400" dirty="0"/>
                  <a:t>Intuitively, </a:t>
                </a:r>
                <a:r>
                  <a:rPr lang="en-US" sz="2400" b="1" dirty="0"/>
                  <a:t>Search</a:t>
                </a:r>
                <a:r>
                  <a:rPr lang="en-US" sz="2400" dirty="0"/>
                  <a:t> will on average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 dirty="0"/>
                  <a:t> for computing hash value;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000" dirty="0"/>
                  <a:t> for traversing linked list.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Expected cost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for both successful and unsuccessful search!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86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51C7-C919-4471-9150-BA75301A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Assuming “Simple Uniform Hashing”</a:t>
            </a:r>
            <a:br>
              <a:rPr lang="en-US" dirty="0"/>
            </a:br>
            <a:r>
              <a:rPr lang="en-US" sz="4000" dirty="0"/>
              <a:t>Performance of hashing with chaining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Expected cost of </a:t>
                </a:r>
                <a:r>
                  <a:rPr lang="en-US" sz="2400" u="sng" dirty="0"/>
                  <a:t>unsuccessful</a:t>
                </a:r>
                <a:r>
                  <a:rPr lang="en-US" sz="2400" dirty="0"/>
                  <a:t> search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/>
                  <a:t>Cost: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compute hash value</a:t>
                </a:r>
                <a:r>
                  <a:rPr lang="en-US" sz="2000" dirty="0"/>
                  <a:t> +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traverse </a:t>
                </a:r>
                <a:r>
                  <a:rPr lang="en-US" sz="2000" u="sng" dirty="0">
                    <a:solidFill>
                      <a:schemeClr val="accent2">
                        <a:lumMod val="75000"/>
                      </a:schemeClr>
                    </a:solidFill>
                  </a:rPr>
                  <a:t>entire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linked list in a bucket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The key being searched is equally likely to map to every bucket.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400" dirty="0"/>
                  <a:t>Expected cost of </a:t>
                </a:r>
                <a:r>
                  <a:rPr lang="en-US" sz="2400" u="sng" dirty="0"/>
                  <a:t>successful</a:t>
                </a:r>
                <a:r>
                  <a:rPr lang="en-US" sz="2400" dirty="0"/>
                  <a:t> search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/>
                  <a:t>, too!</a:t>
                </a:r>
              </a:p>
              <a:p>
                <a:pPr lvl="1"/>
                <a:r>
                  <a:rPr lang="en-US" sz="2000" dirty="0"/>
                  <a:t>Cost: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compute hash value</a:t>
                </a:r>
                <a:r>
                  <a:rPr lang="en-US" sz="2000" dirty="0"/>
                  <a:t> +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traverse linked list in a bucket till key found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be the cost for finding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inserted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We want to compute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be </a:t>
                </a:r>
                <a:r>
                  <a:rPr lang="en-US" sz="2000" dirty="0" err="1"/>
                  <a:t>i.r.v</a:t>
                </a:r>
                <a:r>
                  <a:rPr lang="en-US" sz="2000" dirty="0"/>
                  <a:t>. taking value 1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𝑘𝑒𝑦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𝑘𝑒𝑦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d>
                      </m:e>
                    </m:nary>
                  </m:oMath>
                </a14:m>
                <a:b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nary>
                              <m:naryPr>
                                <m:chr m:val="∑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</m:e>
                    </m:nary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nary>
                              <m:naryPr>
                                <m:chr m:val="∑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9AB0D87-996D-4148-B93D-3961DB69CC45}"/>
                  </a:ext>
                </a:extLst>
              </p:cNvPr>
              <p:cNvSpPr txBox="1"/>
              <p:nvPr/>
            </p:nvSpPr>
            <p:spPr>
              <a:xfrm>
                <a:off x="6406448" y="155806"/>
                <a:ext cx="2423227" cy="7078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buckets,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keys; </a:t>
                </a:r>
                <a:br>
                  <a:rPr lang="en-US" sz="2000" dirty="0"/>
                </a:br>
                <a:r>
                  <a:rPr lang="en-US" sz="2000" dirty="0"/>
                  <a:t>load factor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9AB0D87-996D-4148-B93D-3961DB69C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448" y="155806"/>
                <a:ext cx="2423227" cy="707886"/>
              </a:xfrm>
              <a:prstGeom prst="rect">
                <a:avLst/>
              </a:prstGeom>
              <a:blipFill>
                <a:blip r:embed="rId3"/>
                <a:stretch>
                  <a:fillRect l="-2500" t="-4202" r="-1250" b="-12605"/>
                </a:stretch>
              </a:blip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3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51C7-C919-4471-9150-BA75301A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Assuming “Simple Uniform Hashing”</a:t>
            </a:r>
            <a:br>
              <a:rPr lang="en-US" dirty="0"/>
            </a:br>
            <a:r>
              <a:rPr lang="en-US" sz="4000" dirty="0"/>
              <a:t>Performance of hashing with chaining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Consider a hash table containing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buckets, storing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keys.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Define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load factor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Expected cost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for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Search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operation.</a:t>
                </a: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hash table costs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space,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but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Search</a:t>
                </a:r>
                <a:r>
                  <a:rPr lang="en-US" sz="2400" dirty="0">
                    <a:solidFill>
                      <a:srgbClr val="C00000"/>
                    </a:solidFill>
                  </a:rPr>
                  <a:t>/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2400" dirty="0">
                    <a:solidFill>
                      <a:srgbClr val="C00000"/>
                    </a:solidFill>
                  </a:rPr>
                  <a:t>/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Remove</a:t>
                </a:r>
                <a:r>
                  <a:rPr lang="en-US" sz="2400" dirty="0">
                    <a:solidFill>
                      <a:srgbClr val="C00000"/>
                    </a:solidFill>
                  </a:rPr>
                  <a:t> all take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time, on average.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/>
                  <a:t>But what is the expected </a:t>
                </a:r>
                <a:r>
                  <a:rPr lang="en-US" sz="2400" i="1" dirty="0"/>
                  <a:t>maximum</a:t>
                </a:r>
                <a:r>
                  <a:rPr lang="en-US" sz="2400" dirty="0"/>
                  <a:t> cost for </a:t>
                </a:r>
                <a:r>
                  <a:rPr lang="en-US" sz="2400" b="1" dirty="0"/>
                  <a:t>Search</a:t>
                </a:r>
                <a:r>
                  <a:rPr lang="en-US" sz="2400" dirty="0"/>
                  <a:t>?</a:t>
                </a:r>
                <a:br>
                  <a:rPr lang="en-US" sz="2400" dirty="0"/>
                </a:br>
                <a:r>
                  <a:rPr lang="en-US" sz="2000" dirty="0"/>
                  <a:t>(Search for a key that maps to the heaviest bucket.)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u="sng" dirty="0"/>
                  <a:t>That is:</a:t>
                </a:r>
                <a:r>
                  <a:rPr lang="en-US" sz="2000" dirty="0"/>
                  <a:t> expected length of the longest linked list?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u="sng" dirty="0"/>
                  <a:t>Alternatively:</a:t>
                </a:r>
                <a:r>
                  <a:rPr lang="en-US" sz="2000" dirty="0"/>
                  <a:t> throw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balls into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bins uniformly at random, </a:t>
                </a:r>
                <a:br>
                  <a:rPr lang="en-US" sz="2000" dirty="0"/>
                </a:br>
                <a:r>
                  <a:rPr lang="en-US" sz="2000" dirty="0"/>
                  <a:t>max number of balls in a bin, in expectation?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, the answer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13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6A5C5-FA4B-410F-A100-07C56C41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fights 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A2565F-D0A4-4A2E-A80B-D4D6244F6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“Simple Uniform Hashing” does not hold!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Keys are not that random (they usually have patterns).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Patterns in keys can induce patterns in hash functions,</a:t>
                </a:r>
                <a:br>
                  <a:rPr lang="en-US" dirty="0"/>
                </a:br>
                <a:r>
                  <a:rPr lang="en-US" dirty="0"/>
                  <a:t>unless you are very, very careful.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Bottom line: once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fixed and known, </a:t>
                </a:r>
                <a:br>
                  <a:rPr lang="en-US" dirty="0"/>
                </a:br>
                <a:r>
                  <a:rPr lang="en-US" dirty="0"/>
                  <a:t>you can find a set of “bad” keys that hash to same value.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A2565F-D0A4-4A2E-A80B-D4D6244F6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26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38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0AD05E8-E812-4A1C-8D29-BD0020C010BF}"/>
              </a:ext>
            </a:extLst>
          </p:cNvPr>
          <p:cNvSpPr txBox="1"/>
          <p:nvPr/>
        </p:nvSpPr>
        <p:spPr>
          <a:xfrm>
            <a:off x="1294786" y="1679110"/>
            <a:ext cx="65544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How to design hash functions?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56AAC2-1147-4A9E-A26A-3BA6C506E544}"/>
              </a:ext>
            </a:extLst>
          </p:cNvPr>
          <p:cNvSpPr txBox="1"/>
          <p:nvPr/>
        </p:nvSpPr>
        <p:spPr>
          <a:xfrm>
            <a:off x="2848707" y="2791021"/>
            <a:ext cx="3446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Stop! Please don’t try!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7FFBC5-5D40-4BC8-807B-5CEA1BE3413B}"/>
              </a:ext>
            </a:extLst>
          </p:cNvPr>
          <p:cNvSpPr txBox="1"/>
          <p:nvPr/>
        </p:nvSpPr>
        <p:spPr>
          <a:xfrm>
            <a:off x="2525445" y="3314241"/>
            <a:ext cx="4093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Unless you really need to…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0B228A-6035-4CAC-91F2-6BB239815201}"/>
              </a:ext>
            </a:extLst>
          </p:cNvPr>
          <p:cNvSpPr txBox="1"/>
          <p:nvPr/>
        </p:nvSpPr>
        <p:spPr>
          <a:xfrm>
            <a:off x="1174560" y="4241486"/>
            <a:ext cx="6794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We will now show you this is really not easy...</a:t>
            </a:r>
          </a:p>
        </p:txBody>
      </p:sp>
    </p:spTree>
    <p:extLst>
      <p:ext uri="{BB962C8B-B14F-4D97-AF65-F5344CB8AC3E}">
        <p14:creationId xmlns:p14="http://schemas.microsoft.com/office/powerpoint/2010/main" val="358255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Designing hash functions</a:t>
            </a:r>
            <a:br>
              <a:rPr lang="en-US" dirty="0"/>
            </a:br>
            <a:r>
              <a:rPr lang="en-US" dirty="0"/>
              <a:t>Some bad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727771-B528-411D-ABD8-81B39923B0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keys are English words.</a:t>
                </a:r>
              </a:p>
              <a:p>
                <a:r>
                  <a:rPr lang="en-US" dirty="0"/>
                  <a:t>One bucket for each letter (i.e., 26 buckets).</a:t>
                </a:r>
              </a:p>
              <a:p>
                <a:r>
                  <a:rPr lang="en-US" dirty="0"/>
                  <a:t>Hash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dirty="0"/>
                  <a:t> = first letter in 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𝑡𝑒𝑠𝑡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Problem?</a:t>
                </a:r>
              </a:p>
              <a:p>
                <a:r>
                  <a:rPr lang="en-US" dirty="0"/>
                  <a:t>Many words start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few words start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727771-B528-411D-ABD8-81B39923B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89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Designing hash functions</a:t>
            </a:r>
            <a:br>
              <a:rPr lang="en-US" dirty="0"/>
            </a:br>
            <a:r>
              <a:rPr lang="en-US" dirty="0"/>
              <a:t>Some bad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727771-B528-411D-ABD8-81B39923B0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</p:spPr>
            <p:txBody>
              <a:bodyPr/>
              <a:lstStyle/>
              <a:p>
                <a:r>
                  <a:rPr lang="en-US" dirty="0"/>
                  <a:t>Assume keys are English words.</a:t>
                </a:r>
              </a:p>
              <a:p>
                <a:r>
                  <a:rPr lang="en-US" dirty="0"/>
                  <a:t>One bucket for each number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26⋅50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Hash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dirty="0"/>
                  <a:t> = sum of indices of letters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E.g.,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h𝑎𝑡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</m:e>
                    </m:d>
                    <m:r>
                      <a:rPr lang="en-US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8+1+20=29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Problem?</a:t>
                </a:r>
              </a:p>
              <a:p>
                <a:r>
                  <a:rPr lang="en-US" dirty="0"/>
                  <a:t>Most of the words are short words.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1727771-B528-411D-ABD8-81B39923B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  <a:blipFill>
                <a:blip r:embed="rId2"/>
                <a:stretch>
                  <a:fillRect l="-12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55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Common technique when designing hash functions</a:t>
            </a:r>
            <a:br>
              <a:rPr lang="en-US" dirty="0"/>
            </a:br>
            <a:r>
              <a:rPr lang="en-US" dirty="0"/>
              <a:t>The Division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0" dirty="0">
                    <a:solidFill>
                      <a:schemeClr val="accent1">
                        <a:lumMod val="75000"/>
                      </a:schemeClr>
                    </a:solidFill>
                  </a:rPr>
                  <a:t>Hash function: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E.g.,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en-US" sz="2400" dirty="0"/>
                  <a:t>Two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would collide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How to pick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? (Say we want to store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keys.)</a:t>
                </a:r>
              </a:p>
              <a:p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C00000"/>
                    </a:solidFill>
                  </a:rPr>
                  <a:t>Bad</a:t>
                </a:r>
                <a:r>
                  <a:rPr lang="en-US" sz="2400" dirty="0"/>
                  <a:t>) Idea: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=⌈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sz="2400" dirty="0"/>
                  <a:t>,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Computing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very fast: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≫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But we are only using rightmost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bits of the input key.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(So if all input keys are even, we use at most half space.)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28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Common technique when designing hash functions</a:t>
            </a:r>
            <a:br>
              <a:rPr lang="en-US" dirty="0"/>
            </a:br>
            <a:r>
              <a:rPr lang="en-US" dirty="0"/>
              <a:t>The Division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0" dirty="0">
                    <a:solidFill>
                      <a:schemeClr val="accent1">
                        <a:lumMod val="75000"/>
                      </a:schemeClr>
                    </a:solidFill>
                  </a:rPr>
                  <a:t>Hash function: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E.g.,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en-US" sz="2400" dirty="0"/>
                  <a:t>Two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would collide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How to pick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? (Say we want to store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keys.)</a:t>
                </a:r>
              </a:p>
              <a:p>
                <a:r>
                  <a:rPr lang="en-US" sz="2400" dirty="0"/>
                  <a:t>In general, we don’t want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to be a composite number.</a:t>
                </a:r>
              </a:p>
              <a:p>
                <a:pPr lvl="1"/>
                <a:r>
                  <a:rPr lang="en-US" sz="2000" dirty="0"/>
                  <a:t>Assume key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have common divisor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dirty="0"/>
                  <a:t> is also divisible by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,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+⌊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⌋⋅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If all input keys are divisible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, we use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space.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Rule of thumb: prime not too close to exact power of two.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1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Common technique when designing hash functions</a:t>
            </a:r>
            <a:br>
              <a:rPr lang="en-US" dirty="0"/>
            </a:br>
            <a:r>
              <a:rPr lang="en-US" dirty="0"/>
              <a:t>The Multiplication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195112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key length is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bits.</a:t>
                </a:r>
              </a:p>
              <a:p>
                <a:r>
                  <a:rPr lang="en-US" sz="2400" dirty="0"/>
                  <a:t>Fix table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2400" dirty="0"/>
                  <a:t> for some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Fix constant integer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Hash function: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≫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1951122"/>
              </a:xfrm>
              <a:blipFill>
                <a:blip r:embed="rId2"/>
                <a:stretch>
                  <a:fillRect l="-1005" t="-4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7C5A5121-283A-4A03-A4B5-45679B5626B1}"/>
              </a:ext>
            </a:extLst>
          </p:cNvPr>
          <p:cNvGrpSpPr/>
          <p:nvPr/>
        </p:nvGrpSpPr>
        <p:grpSpPr>
          <a:xfrm>
            <a:off x="628650" y="3776747"/>
            <a:ext cx="2644048" cy="784236"/>
            <a:chOff x="628650" y="3776747"/>
            <a:chExt cx="2644048" cy="78423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4896A56-3414-49FF-8395-4F5458BD6159}"/>
                </a:ext>
              </a:extLst>
            </p:cNvPr>
            <p:cNvGrpSpPr/>
            <p:nvPr/>
          </p:nvGrpSpPr>
          <p:grpSpPr>
            <a:xfrm>
              <a:off x="628650" y="4219460"/>
              <a:ext cx="2644048" cy="341523"/>
              <a:chOff x="1079653" y="4384713"/>
              <a:chExt cx="2644048" cy="341523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E603545-1D5A-4E0E-A920-8BEF04A1ED9C}"/>
                  </a:ext>
                </a:extLst>
              </p:cNvPr>
              <p:cNvSpPr/>
              <p:nvPr/>
            </p:nvSpPr>
            <p:spPr>
              <a:xfrm>
                <a:off x="1079653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7A879AC-5195-46B9-98BD-E0568A1C1111}"/>
                  </a:ext>
                </a:extLst>
              </p:cNvPr>
              <p:cNvSpPr/>
              <p:nvPr/>
            </p:nvSpPr>
            <p:spPr>
              <a:xfrm>
                <a:off x="1410159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89B5EA8-28A5-45EC-A18F-E8A87078F4B5}"/>
                  </a:ext>
                </a:extLst>
              </p:cNvPr>
              <p:cNvSpPr/>
              <p:nvPr/>
            </p:nvSpPr>
            <p:spPr>
              <a:xfrm>
                <a:off x="1740665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A6EA44D-F2D6-43D1-A869-CB219A7FE2AA}"/>
                  </a:ext>
                </a:extLst>
              </p:cNvPr>
              <p:cNvSpPr/>
              <p:nvPr/>
            </p:nvSpPr>
            <p:spPr>
              <a:xfrm>
                <a:off x="2071171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061A44B-0774-45A9-976F-3E29593D0EC9}"/>
                  </a:ext>
                </a:extLst>
              </p:cNvPr>
              <p:cNvSpPr/>
              <p:nvPr/>
            </p:nvSpPr>
            <p:spPr>
              <a:xfrm>
                <a:off x="2401677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C92509B-2CD5-4D81-80BC-5C888B7BA146}"/>
                  </a:ext>
                </a:extLst>
              </p:cNvPr>
              <p:cNvSpPr/>
              <p:nvPr/>
            </p:nvSpPr>
            <p:spPr>
              <a:xfrm>
                <a:off x="2732183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B347568-2A1E-4FAA-B59F-B87279908FAB}"/>
                  </a:ext>
                </a:extLst>
              </p:cNvPr>
              <p:cNvSpPr/>
              <p:nvPr/>
            </p:nvSpPr>
            <p:spPr>
              <a:xfrm>
                <a:off x="3062689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6D34FDA-1767-4D77-8ED4-8BD28C6006E7}"/>
                  </a:ext>
                </a:extLst>
              </p:cNvPr>
              <p:cNvSpPr/>
              <p:nvPr/>
            </p:nvSpPr>
            <p:spPr>
              <a:xfrm>
                <a:off x="3393195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6725-D8BB-434F-9575-B6BA5650BB77}"/>
                    </a:ext>
                  </a:extLst>
                </p:cNvPr>
                <p:cNvSpPr txBox="1"/>
                <p:nvPr/>
              </p:nvSpPr>
              <p:spPr>
                <a:xfrm>
                  <a:off x="1443131" y="3776747"/>
                  <a:ext cx="101508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000" dirty="0">
                      <a:solidFill>
                        <a:srgbClr val="7030A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US" sz="2000" dirty="0">
                      <a:solidFill>
                        <a:srgbClr val="7030A0"/>
                      </a:solidFill>
                    </a:rPr>
                    <a:t> bits)</a:t>
                  </a:r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6725-D8BB-434F-9575-B6BA5650B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3131" y="3776747"/>
                  <a:ext cx="1015086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9036" t="-26000" r="-15060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910643-E4C3-4C32-8317-42495034CFE9}"/>
              </a:ext>
            </a:extLst>
          </p:cNvPr>
          <p:cNvGrpSpPr/>
          <p:nvPr/>
        </p:nvGrpSpPr>
        <p:grpSpPr>
          <a:xfrm>
            <a:off x="3910988" y="3776747"/>
            <a:ext cx="2644048" cy="784236"/>
            <a:chOff x="3910988" y="3776747"/>
            <a:chExt cx="2644048" cy="78423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314E3C6-6D5C-4F0C-9CAD-A3D7EF9E84EB}"/>
                </a:ext>
              </a:extLst>
            </p:cNvPr>
            <p:cNvGrpSpPr/>
            <p:nvPr/>
          </p:nvGrpSpPr>
          <p:grpSpPr>
            <a:xfrm>
              <a:off x="3910988" y="4219460"/>
              <a:ext cx="2644048" cy="341523"/>
              <a:chOff x="1079653" y="4384713"/>
              <a:chExt cx="2644048" cy="341523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FD0E678-8B0C-4690-9CE0-122E4DD9607F}"/>
                  </a:ext>
                </a:extLst>
              </p:cNvPr>
              <p:cNvSpPr/>
              <p:nvPr/>
            </p:nvSpPr>
            <p:spPr>
              <a:xfrm>
                <a:off x="1079653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F541579-10DE-4A0D-925D-94BADBEAE8D5}"/>
                  </a:ext>
                </a:extLst>
              </p:cNvPr>
              <p:cNvSpPr/>
              <p:nvPr/>
            </p:nvSpPr>
            <p:spPr>
              <a:xfrm>
                <a:off x="1410159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3BA165C-1CE6-48CB-8650-41E87788361C}"/>
                  </a:ext>
                </a:extLst>
              </p:cNvPr>
              <p:cNvSpPr/>
              <p:nvPr/>
            </p:nvSpPr>
            <p:spPr>
              <a:xfrm>
                <a:off x="1740665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74642A5-4ED9-4A81-89FA-BE580DA729A3}"/>
                  </a:ext>
                </a:extLst>
              </p:cNvPr>
              <p:cNvSpPr/>
              <p:nvPr/>
            </p:nvSpPr>
            <p:spPr>
              <a:xfrm>
                <a:off x="2071171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86410F1-5E08-420C-B611-BBCF31048BBC}"/>
                  </a:ext>
                </a:extLst>
              </p:cNvPr>
              <p:cNvSpPr/>
              <p:nvPr/>
            </p:nvSpPr>
            <p:spPr>
              <a:xfrm>
                <a:off x="2401677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E8C2D83-D36E-4628-9685-9F9A33E2F4DD}"/>
                  </a:ext>
                </a:extLst>
              </p:cNvPr>
              <p:cNvSpPr/>
              <p:nvPr/>
            </p:nvSpPr>
            <p:spPr>
              <a:xfrm>
                <a:off x="2732183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0B356A1-338A-4CCB-A45E-1D5E200AA01B}"/>
                  </a:ext>
                </a:extLst>
              </p:cNvPr>
              <p:cNvSpPr/>
              <p:nvPr/>
            </p:nvSpPr>
            <p:spPr>
              <a:xfrm>
                <a:off x="3062689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906BCF7-C67A-4D98-B523-8B9C38B1EAAD}"/>
                  </a:ext>
                </a:extLst>
              </p:cNvPr>
              <p:cNvSpPr/>
              <p:nvPr/>
            </p:nvSpPr>
            <p:spPr>
              <a:xfrm>
                <a:off x="3393195" y="4384713"/>
                <a:ext cx="330506" cy="341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BE90FDA-A6AB-4B2E-BA33-C0CFE83172DC}"/>
                    </a:ext>
                  </a:extLst>
                </p:cNvPr>
                <p:cNvSpPr txBox="1"/>
                <p:nvPr/>
              </p:nvSpPr>
              <p:spPr>
                <a:xfrm>
                  <a:off x="4725469" y="3776747"/>
                  <a:ext cx="101508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2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000" dirty="0">
                      <a:solidFill>
                        <a:srgbClr val="7030A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US" sz="2000" dirty="0">
                      <a:solidFill>
                        <a:srgbClr val="7030A0"/>
                      </a:solidFill>
                    </a:rPr>
                    <a:t> bits)</a:t>
                  </a:r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BE90FDA-A6AB-4B2E-BA33-C0CFE8317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5469" y="3776747"/>
                  <a:ext cx="1015086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8383" t="-26000" r="-13772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8EAE64-1B04-4DA9-A577-A477177D3AE1}"/>
                  </a:ext>
                </a:extLst>
              </p:cNvPr>
              <p:cNvSpPr txBox="1"/>
              <p:nvPr/>
            </p:nvSpPr>
            <p:spPr>
              <a:xfrm>
                <a:off x="3398681" y="4143999"/>
                <a:ext cx="3863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E8EAE64-1B04-4DA9-A577-A477177D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681" y="4143999"/>
                <a:ext cx="38632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53B54302-B4C1-4839-81D3-EA6B0C67ACB9}"/>
              </a:ext>
            </a:extLst>
          </p:cNvPr>
          <p:cNvGrpSpPr/>
          <p:nvPr/>
        </p:nvGrpSpPr>
        <p:grpSpPr>
          <a:xfrm>
            <a:off x="947794" y="5285937"/>
            <a:ext cx="5288096" cy="712163"/>
            <a:chOff x="617712" y="4820562"/>
            <a:chExt cx="5288096" cy="712163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A4E9D17-A7A3-440F-9753-EBA58BF8634A}"/>
                </a:ext>
              </a:extLst>
            </p:cNvPr>
            <p:cNvSpPr/>
            <p:nvPr/>
          </p:nvSpPr>
          <p:spPr>
            <a:xfrm>
              <a:off x="617712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E66C604-236E-499B-B510-CEF07358CA4E}"/>
                </a:ext>
              </a:extLst>
            </p:cNvPr>
            <p:cNvSpPr/>
            <p:nvPr/>
          </p:nvSpPr>
          <p:spPr>
            <a:xfrm>
              <a:off x="948218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1A339C1-86B0-41E1-8B89-07D85C876F23}"/>
                </a:ext>
              </a:extLst>
            </p:cNvPr>
            <p:cNvSpPr/>
            <p:nvPr/>
          </p:nvSpPr>
          <p:spPr>
            <a:xfrm>
              <a:off x="1278724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1AE2FDA-5415-4406-B53F-B1430691665C}"/>
                </a:ext>
              </a:extLst>
            </p:cNvPr>
            <p:cNvSpPr/>
            <p:nvPr/>
          </p:nvSpPr>
          <p:spPr>
            <a:xfrm>
              <a:off x="1609230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F91D6A3-A0DE-4963-9316-60DB394D6AEA}"/>
                </a:ext>
              </a:extLst>
            </p:cNvPr>
            <p:cNvSpPr/>
            <p:nvPr/>
          </p:nvSpPr>
          <p:spPr>
            <a:xfrm>
              <a:off x="1939736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744EB06-CECE-488B-BD60-A580CC018623}"/>
                </a:ext>
              </a:extLst>
            </p:cNvPr>
            <p:cNvSpPr/>
            <p:nvPr/>
          </p:nvSpPr>
          <p:spPr>
            <a:xfrm>
              <a:off x="2270242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5BFA427-4A69-4811-B6EF-94816020D369}"/>
                </a:ext>
              </a:extLst>
            </p:cNvPr>
            <p:cNvSpPr/>
            <p:nvPr/>
          </p:nvSpPr>
          <p:spPr>
            <a:xfrm>
              <a:off x="2600748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E57220B-FF3E-456F-B423-B47FAAA3ECAF}"/>
                </a:ext>
              </a:extLst>
            </p:cNvPr>
            <p:cNvSpPr/>
            <p:nvPr/>
          </p:nvSpPr>
          <p:spPr>
            <a:xfrm>
              <a:off x="2931254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01521E9-3E3B-4E78-B678-2D05226FBAF0}"/>
                    </a:ext>
                  </a:extLst>
                </p:cNvPr>
                <p:cNvSpPr txBox="1"/>
                <p:nvPr/>
              </p:nvSpPr>
              <p:spPr>
                <a:xfrm>
                  <a:off x="2600748" y="4820562"/>
                  <a:ext cx="130381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𝐴𝑘</m:t>
                      </m:r>
                    </m:oMath>
                  </a14:m>
                  <a:r>
                    <a:rPr lang="en-US" sz="2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000" dirty="0">
                      <a:solidFill>
                        <a:srgbClr val="7030A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0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US" sz="2000" dirty="0">
                      <a:solidFill>
                        <a:srgbClr val="7030A0"/>
                      </a:solidFill>
                    </a:rPr>
                    <a:t> bits)</a:t>
                  </a:r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01521E9-3E3B-4E78-B678-2D05226FB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748" y="4820562"/>
                  <a:ext cx="130381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6542" t="-25490" r="-11215" b="-490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2CB22FE-12F9-478D-A7C2-3C8E69C88025}"/>
                </a:ext>
              </a:extLst>
            </p:cNvPr>
            <p:cNvSpPr/>
            <p:nvPr/>
          </p:nvSpPr>
          <p:spPr>
            <a:xfrm>
              <a:off x="3261760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0BFA494-B53E-4ACD-A5C7-32DF31E0AC7B}"/>
                </a:ext>
              </a:extLst>
            </p:cNvPr>
            <p:cNvSpPr/>
            <p:nvPr/>
          </p:nvSpPr>
          <p:spPr>
            <a:xfrm>
              <a:off x="3592266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9BDC50F-CC5C-45F6-871E-2553A6575945}"/>
                </a:ext>
              </a:extLst>
            </p:cNvPr>
            <p:cNvSpPr/>
            <p:nvPr/>
          </p:nvSpPr>
          <p:spPr>
            <a:xfrm>
              <a:off x="3922772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35FD4FE-4308-4E5E-A617-C53A6F534E16}"/>
                </a:ext>
              </a:extLst>
            </p:cNvPr>
            <p:cNvSpPr/>
            <p:nvPr/>
          </p:nvSpPr>
          <p:spPr>
            <a:xfrm>
              <a:off x="4253278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DF3417B-2C4F-42BF-8ABD-E0FF660A7BE2}"/>
                </a:ext>
              </a:extLst>
            </p:cNvPr>
            <p:cNvSpPr/>
            <p:nvPr/>
          </p:nvSpPr>
          <p:spPr>
            <a:xfrm>
              <a:off x="4583784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353BAE2-23FC-4EF5-99AA-0C5A6DEB23A8}"/>
                </a:ext>
              </a:extLst>
            </p:cNvPr>
            <p:cNvSpPr/>
            <p:nvPr/>
          </p:nvSpPr>
          <p:spPr>
            <a:xfrm>
              <a:off x="4914290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287866A-A85B-4E40-A965-69AAF52A4DC3}"/>
                </a:ext>
              </a:extLst>
            </p:cNvPr>
            <p:cNvSpPr/>
            <p:nvPr/>
          </p:nvSpPr>
          <p:spPr>
            <a:xfrm>
              <a:off x="5244796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B33D514-EAE6-43F9-8871-A08D6DE99714}"/>
                </a:ext>
              </a:extLst>
            </p:cNvPr>
            <p:cNvSpPr/>
            <p:nvPr/>
          </p:nvSpPr>
          <p:spPr>
            <a:xfrm>
              <a:off x="5575302" y="5191202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箭头: 下 47">
            <a:extLst>
              <a:ext uri="{FF2B5EF4-FFF2-40B4-BE49-F238E27FC236}">
                <a16:creationId xmlns:a16="http://schemas.microsoft.com/office/drawing/2014/main" id="{A17DCABB-4FB5-42F0-AAE5-558F07800FD7}"/>
              </a:ext>
            </a:extLst>
          </p:cNvPr>
          <p:cNvSpPr/>
          <p:nvPr/>
        </p:nvSpPr>
        <p:spPr>
          <a:xfrm>
            <a:off x="3426589" y="4708951"/>
            <a:ext cx="330506" cy="492443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3A20D075-F2C2-4CED-A065-DBA4CC6C06FE}"/>
              </a:ext>
            </a:extLst>
          </p:cNvPr>
          <p:cNvGrpSpPr/>
          <p:nvPr/>
        </p:nvGrpSpPr>
        <p:grpSpPr>
          <a:xfrm>
            <a:off x="947794" y="5285937"/>
            <a:ext cx="5288096" cy="712323"/>
            <a:chOff x="3107445" y="5821987"/>
            <a:chExt cx="5288096" cy="71232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D5719DF-6931-4893-AB96-F62FB8484227}"/>
                </a:ext>
              </a:extLst>
            </p:cNvPr>
            <p:cNvSpPr/>
            <p:nvPr/>
          </p:nvSpPr>
          <p:spPr>
            <a:xfrm>
              <a:off x="3107445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74F7D37-339C-4D1F-BB1A-B4EA197A5DE5}"/>
                </a:ext>
              </a:extLst>
            </p:cNvPr>
            <p:cNvSpPr/>
            <p:nvPr/>
          </p:nvSpPr>
          <p:spPr>
            <a:xfrm>
              <a:off x="3437951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D91F45B-E219-4EA4-9F18-F8AACADBA245}"/>
                </a:ext>
              </a:extLst>
            </p:cNvPr>
            <p:cNvSpPr/>
            <p:nvPr/>
          </p:nvSpPr>
          <p:spPr>
            <a:xfrm>
              <a:off x="3768457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342041A-A8A0-44C1-803F-CABAAF476724}"/>
                </a:ext>
              </a:extLst>
            </p:cNvPr>
            <p:cNvSpPr/>
            <p:nvPr/>
          </p:nvSpPr>
          <p:spPr>
            <a:xfrm>
              <a:off x="4098963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3E1A2A42-6465-4CD9-9FB4-685A32E24235}"/>
                </a:ext>
              </a:extLst>
            </p:cNvPr>
            <p:cNvSpPr/>
            <p:nvPr/>
          </p:nvSpPr>
          <p:spPr>
            <a:xfrm>
              <a:off x="4429469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7E4F4BA-A794-4C49-982A-83BEDC6EBEA5}"/>
                </a:ext>
              </a:extLst>
            </p:cNvPr>
            <p:cNvSpPr/>
            <p:nvPr/>
          </p:nvSpPr>
          <p:spPr>
            <a:xfrm>
              <a:off x="4759975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7530230-945C-40B5-9F45-3339819E88CF}"/>
                </a:ext>
              </a:extLst>
            </p:cNvPr>
            <p:cNvSpPr/>
            <p:nvPr/>
          </p:nvSpPr>
          <p:spPr>
            <a:xfrm>
              <a:off x="5090481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0F7663E-FDA6-4AFE-A89B-03FAB8457A0C}"/>
                </a:ext>
              </a:extLst>
            </p:cNvPr>
            <p:cNvSpPr/>
            <p:nvPr/>
          </p:nvSpPr>
          <p:spPr>
            <a:xfrm>
              <a:off x="5420987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BF94925-79EC-4B0B-9E8D-167421ECA920}"/>
                    </a:ext>
                  </a:extLst>
                </p:cNvPr>
                <p:cNvSpPr txBox="1"/>
                <p:nvPr/>
              </p:nvSpPr>
              <p:spPr>
                <a:xfrm>
                  <a:off x="6033397" y="5821987"/>
                  <a:ext cx="207742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000" dirty="0">
                      <a:solidFill>
                        <a:srgbClr val="7030A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US" sz="2000" dirty="0">
                      <a:solidFill>
                        <a:srgbClr val="7030A0"/>
                      </a:solidFill>
                    </a:rPr>
                    <a:t> bits)</a:t>
                  </a:r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BF94925-79EC-4B0B-9E8D-167421ECA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397" y="5821987"/>
                  <a:ext cx="2077428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3812" t="-25490" r="-7038" b="-490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04E6485B-308F-4E73-B5A3-1B6544755C75}"/>
                </a:ext>
              </a:extLst>
            </p:cNvPr>
            <p:cNvSpPr/>
            <p:nvPr/>
          </p:nvSpPr>
          <p:spPr>
            <a:xfrm>
              <a:off x="5751493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BAB46DA-C528-41E2-8F1F-6AE76A2DFC2C}"/>
                </a:ext>
              </a:extLst>
            </p:cNvPr>
            <p:cNvSpPr/>
            <p:nvPr/>
          </p:nvSpPr>
          <p:spPr>
            <a:xfrm>
              <a:off x="6081999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DDC853E-B73A-4B5E-98EE-3D823FBAA710}"/>
                </a:ext>
              </a:extLst>
            </p:cNvPr>
            <p:cNvSpPr/>
            <p:nvPr/>
          </p:nvSpPr>
          <p:spPr>
            <a:xfrm>
              <a:off x="6412505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8D9E553F-55B0-4F9F-9305-7994E91AD2A6}"/>
                </a:ext>
              </a:extLst>
            </p:cNvPr>
            <p:cNvSpPr/>
            <p:nvPr/>
          </p:nvSpPr>
          <p:spPr>
            <a:xfrm>
              <a:off x="6743011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1243EE8A-F48B-4609-A164-6F52A9C2D8D2}"/>
                </a:ext>
              </a:extLst>
            </p:cNvPr>
            <p:cNvSpPr/>
            <p:nvPr/>
          </p:nvSpPr>
          <p:spPr>
            <a:xfrm>
              <a:off x="7073517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279C5C4-1D72-4824-B163-5B7EAB4811D9}"/>
                </a:ext>
              </a:extLst>
            </p:cNvPr>
            <p:cNvSpPr/>
            <p:nvPr/>
          </p:nvSpPr>
          <p:spPr>
            <a:xfrm>
              <a:off x="7404023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970646D-5798-4E17-8DEB-3A91E858974E}"/>
                </a:ext>
              </a:extLst>
            </p:cNvPr>
            <p:cNvSpPr/>
            <p:nvPr/>
          </p:nvSpPr>
          <p:spPr>
            <a:xfrm>
              <a:off x="7734529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3EAE06C8-2F74-4D01-9593-48BD97E85632}"/>
                </a:ext>
              </a:extLst>
            </p:cNvPr>
            <p:cNvSpPr/>
            <p:nvPr/>
          </p:nvSpPr>
          <p:spPr>
            <a:xfrm>
              <a:off x="8065035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0314A86-7B88-4E68-A1BB-0583B1A34178}"/>
              </a:ext>
            </a:extLst>
          </p:cNvPr>
          <p:cNvGrpSpPr/>
          <p:nvPr/>
        </p:nvGrpSpPr>
        <p:grpSpPr>
          <a:xfrm>
            <a:off x="947794" y="5304702"/>
            <a:ext cx="5288096" cy="697828"/>
            <a:chOff x="3107445" y="5836482"/>
            <a:chExt cx="5288096" cy="697828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B687857-5554-4ED7-B22F-6F18D30A2A27}"/>
                </a:ext>
              </a:extLst>
            </p:cNvPr>
            <p:cNvSpPr/>
            <p:nvPr/>
          </p:nvSpPr>
          <p:spPr>
            <a:xfrm>
              <a:off x="3107445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C8E5D4D-04FB-42EA-9BE4-B9A4EA75CE0A}"/>
                </a:ext>
              </a:extLst>
            </p:cNvPr>
            <p:cNvSpPr/>
            <p:nvPr/>
          </p:nvSpPr>
          <p:spPr>
            <a:xfrm>
              <a:off x="3437951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964BE52-A41C-4E19-8EA8-059EE7BEFA1D}"/>
                </a:ext>
              </a:extLst>
            </p:cNvPr>
            <p:cNvSpPr/>
            <p:nvPr/>
          </p:nvSpPr>
          <p:spPr>
            <a:xfrm>
              <a:off x="3768457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339F7F9-2940-4779-8520-3635EB89B61E}"/>
                </a:ext>
              </a:extLst>
            </p:cNvPr>
            <p:cNvSpPr/>
            <p:nvPr/>
          </p:nvSpPr>
          <p:spPr>
            <a:xfrm>
              <a:off x="4098963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8E5E215-83EE-4B77-AD10-BB8B992A2D90}"/>
                </a:ext>
              </a:extLst>
            </p:cNvPr>
            <p:cNvSpPr/>
            <p:nvPr/>
          </p:nvSpPr>
          <p:spPr>
            <a:xfrm>
              <a:off x="4429469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78B464C2-B9DC-47BD-8AA2-FBB5AAC9EF88}"/>
                </a:ext>
              </a:extLst>
            </p:cNvPr>
            <p:cNvSpPr/>
            <p:nvPr/>
          </p:nvSpPr>
          <p:spPr>
            <a:xfrm>
              <a:off x="4759975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FC20BAC-A79A-4067-8C3D-20124FEBC03F}"/>
                </a:ext>
              </a:extLst>
            </p:cNvPr>
            <p:cNvSpPr/>
            <p:nvPr/>
          </p:nvSpPr>
          <p:spPr>
            <a:xfrm>
              <a:off x="5090481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724FB1B1-FF56-4E59-8E78-ACFA25AA65BF}"/>
                </a:ext>
              </a:extLst>
            </p:cNvPr>
            <p:cNvSpPr/>
            <p:nvPr/>
          </p:nvSpPr>
          <p:spPr>
            <a:xfrm>
              <a:off x="5420987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1216F1F-12F5-47DC-BE16-6A7A5DBF5F3C}"/>
                    </a:ext>
                  </a:extLst>
                </p:cNvPr>
                <p:cNvSpPr txBox="1"/>
                <p:nvPr/>
              </p:nvSpPr>
              <p:spPr>
                <a:xfrm>
                  <a:off x="4522974" y="5836482"/>
                  <a:ext cx="350538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𝐴𝑘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a14:m>
                  <a:r>
                    <a:rPr lang="en-US" sz="2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000" dirty="0">
                      <a:solidFill>
                        <a:srgbClr val="7030A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sz="2000" dirty="0">
                      <a:solidFill>
                        <a:srgbClr val="7030A0"/>
                      </a:solidFill>
                    </a:rPr>
                    <a:t> bits)</a:t>
                  </a:r>
                  <a:endParaRPr 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1216F1F-12F5-47DC-BE16-6A7A5DBF5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2974" y="5836482"/>
                  <a:ext cx="3505383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25490" r="-2957" b="-490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127A8F6-7ABA-426F-8431-F2423914A7D6}"/>
                </a:ext>
              </a:extLst>
            </p:cNvPr>
            <p:cNvSpPr/>
            <p:nvPr/>
          </p:nvSpPr>
          <p:spPr>
            <a:xfrm>
              <a:off x="5751493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B46D0D9-0E43-4923-8987-7D55CACA0CEE}"/>
                </a:ext>
              </a:extLst>
            </p:cNvPr>
            <p:cNvSpPr/>
            <p:nvPr/>
          </p:nvSpPr>
          <p:spPr>
            <a:xfrm>
              <a:off x="6081999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412771D7-E8DE-4023-97DC-D9CD5CBE0F7A}"/>
                </a:ext>
              </a:extLst>
            </p:cNvPr>
            <p:cNvSpPr/>
            <p:nvPr/>
          </p:nvSpPr>
          <p:spPr>
            <a:xfrm>
              <a:off x="6412505" y="6192787"/>
              <a:ext cx="330506" cy="34152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01B7A2B6-2B40-4BDA-B5AB-D018F8CE6CB5}"/>
                </a:ext>
              </a:extLst>
            </p:cNvPr>
            <p:cNvSpPr/>
            <p:nvPr/>
          </p:nvSpPr>
          <p:spPr>
            <a:xfrm>
              <a:off x="6743011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CC55D7AC-416B-49EB-B659-FC2CB0E272CF}"/>
                </a:ext>
              </a:extLst>
            </p:cNvPr>
            <p:cNvSpPr/>
            <p:nvPr/>
          </p:nvSpPr>
          <p:spPr>
            <a:xfrm>
              <a:off x="7073517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9F89EE73-66B0-4BCA-A4A9-5D9362AE9BCE}"/>
                </a:ext>
              </a:extLst>
            </p:cNvPr>
            <p:cNvSpPr/>
            <p:nvPr/>
          </p:nvSpPr>
          <p:spPr>
            <a:xfrm>
              <a:off x="7404023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77FCE0CA-D621-46F0-8F7F-7FB5587BE364}"/>
                </a:ext>
              </a:extLst>
            </p:cNvPr>
            <p:cNvSpPr/>
            <p:nvPr/>
          </p:nvSpPr>
          <p:spPr>
            <a:xfrm>
              <a:off x="7734529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4889BE6F-83E2-4E42-B688-E625A4A9E6B7}"/>
                </a:ext>
              </a:extLst>
            </p:cNvPr>
            <p:cNvSpPr/>
            <p:nvPr/>
          </p:nvSpPr>
          <p:spPr>
            <a:xfrm>
              <a:off x="8065035" y="6192787"/>
              <a:ext cx="330506" cy="3415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154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8" grpId="0" animBg="1"/>
      <p:bldP spid="4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3BFC-D06C-443F-BC95-4170DD2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Common technique when designing hash functions</a:t>
            </a:r>
            <a:br>
              <a:rPr lang="en-US" dirty="0"/>
            </a:br>
            <a:r>
              <a:rPr lang="en-US" dirty="0"/>
              <a:t>The Multiplication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key length is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bits.</a:t>
                </a:r>
              </a:p>
              <a:p>
                <a:r>
                  <a:rPr lang="en-US" sz="2400" dirty="0"/>
                  <a:t>Fix table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2400" dirty="0"/>
                  <a:t> for some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Fix constant integer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Hash function: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≫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Faster than the Division Method.</a:t>
                </a:r>
              </a:p>
              <a:p>
                <a:pPr lvl="1"/>
                <a:r>
                  <a:rPr lang="en-US" sz="2000" dirty="0"/>
                  <a:t>Recall in division method,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Multiplication and bit-shifting faster than division.</a:t>
                </a:r>
              </a:p>
              <a:p>
                <a:r>
                  <a:rPr lang="en-US" sz="2400" dirty="0"/>
                  <a:t>Works reasonably well with proper choice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F975478-1DAB-4DF8-87F4-23C7B4F51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100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7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6A5C5-FA4B-410F-A100-07C56C41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A2565F-D0A4-4A2E-A80B-D4D6244F6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Once hash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fixed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known</a:t>
                </a:r>
                <a:r>
                  <a:rPr lang="en-US" sz="2400" dirty="0"/>
                  <a:t>, there must exist a set of “bad” keys that hash to same value.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Such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adversarial input</a:t>
                </a:r>
                <a:r>
                  <a:rPr lang="en-US" sz="2400" dirty="0"/>
                  <a:t> will result in poor performance!</a:t>
                </a:r>
              </a:p>
              <a:p>
                <a:pPr>
                  <a:lnSpc>
                    <a:spcPct val="100000"/>
                  </a:lnSpc>
                </a:pPr>
                <a:endParaRPr lang="en-US" sz="2400" dirty="0"/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Use randomization!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A2565F-D0A4-4A2E-A80B-D4D6244F6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120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84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10DF4-6DED-4802-A439-11A7F11B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43EB9-1F59-4F81-96A2-43B15B91F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Pick a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random</a:t>
                </a:r>
                <a:r>
                  <a:rPr lang="en-US" sz="2400" dirty="0"/>
                  <a:t> hash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when the hash table is first built</a:t>
                </a:r>
              </a:p>
              <a:p>
                <a:pPr lvl="1"/>
                <a:r>
                  <a:rPr lang="en-US" sz="2000" dirty="0"/>
                  <a:t>Once chosen,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is fixed throughout entire execution.</a:t>
                </a:r>
              </a:p>
              <a:p>
                <a:pPr lvl="1"/>
                <a:r>
                  <a:rPr lang="en-US" sz="2000" b="0" dirty="0"/>
                  <a:t>Since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is randomly chosen, no input is always bad.</a:t>
                </a:r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A collection of hash functions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is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universal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if:</a:t>
                </a:r>
                <a:b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at most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hash functions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lead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  <a:endParaRPr lang="en-US" sz="2000" dirty="0"/>
              </a:p>
              <a:p>
                <a:pPr>
                  <a:spcBef>
                    <a:spcPts val="2400"/>
                  </a:spcBef>
                </a:pPr>
                <a:r>
                  <a:rPr lang="en-US" sz="2400" dirty="0"/>
                  <a:t>“Simple Uniform Hashing” vs “Universal Hashing”</a:t>
                </a:r>
              </a:p>
              <a:p>
                <a:pPr lvl="1"/>
                <a:r>
                  <a:rPr 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Simple Uniform Hashing:</a:t>
                </a:r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Uncertainty due to randomness of input.</a:t>
                </a:r>
              </a:p>
              <a:p>
                <a:pPr lvl="1"/>
                <a:r>
                  <a:rPr 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Universal Hashing:</a:t>
                </a:r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Uncertainty due to choice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(and potentially randomness of input).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43EB9-1F59-4F81-96A2-43B15B91F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3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00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51C7-C919-4471-9150-BA75301A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Assuming “Universal Hashing”</a:t>
            </a:r>
            <a:br>
              <a:rPr lang="en-US" dirty="0"/>
            </a:br>
            <a:r>
              <a:rPr lang="en-US" sz="4000" dirty="0"/>
              <a:t>Performance of hashing with chaining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Universal hashing: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Load factor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num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inserted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keys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size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table</m:t>
                        </m:r>
                      </m:den>
                    </m:f>
                  </m:oMath>
                </a14:m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 be length of list at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what’s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Claim 1:</a:t>
                </a:r>
                <a:r>
                  <a:rPr lang="en-US" sz="2400" dirty="0"/>
                  <a:t> If key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not</a:t>
                </a:r>
                <a:r>
                  <a:rPr lang="en-US" sz="2400" dirty="0">
                    <a:solidFill>
                      <a:schemeClr val="tx1"/>
                    </a:solidFill>
                  </a:rPr>
                  <a:t> in table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For any key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define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i.r.v</a:t>
                </a:r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Claim 2:</a:t>
                </a:r>
                <a:r>
                  <a:rPr lang="en-US" sz="2400" dirty="0"/>
                  <a:t> If key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in table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+1&lt;1+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288C4A-5508-4721-A416-DEC4BF8EA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8F7578-48B0-4586-8DA0-CFCB66BBED6C}"/>
                  </a:ext>
                </a:extLst>
              </p:cNvPr>
              <p:cNvSpPr txBox="1"/>
              <p:nvPr/>
            </p:nvSpPr>
            <p:spPr>
              <a:xfrm>
                <a:off x="144000" y="3741852"/>
                <a:ext cx="8856000" cy="1296000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r>
                  <a:rPr lang="en-US" sz="2800" dirty="0"/>
                  <a:t>If the hash table is not overloaded (i.e.,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),</a:t>
                </a:r>
                <a:br>
                  <a:rPr lang="en-US" sz="2800" dirty="0"/>
                </a:br>
                <a:r>
                  <a:rPr lang="en-US" sz="2800" b="1" dirty="0"/>
                  <a:t>Search</a:t>
                </a:r>
                <a:r>
                  <a:rPr lang="en-US" sz="2800" dirty="0"/>
                  <a:t>/</a:t>
                </a:r>
                <a:r>
                  <a:rPr lang="en-US" sz="2800" b="1" dirty="0"/>
                  <a:t>Insert</a:t>
                </a:r>
                <a:r>
                  <a:rPr lang="en-US" sz="2800" dirty="0"/>
                  <a:t>/</a:t>
                </a:r>
                <a:r>
                  <a:rPr lang="en-US" sz="2800" b="1" dirty="0"/>
                  <a:t>Remove</a:t>
                </a:r>
                <a:r>
                  <a:rPr lang="en-US" sz="2800" dirty="0"/>
                  <a:t> can be done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 expected time.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8F7578-48B0-4586-8DA0-CFCB66BB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00" y="3741852"/>
                <a:ext cx="8856000" cy="1296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35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21CC0A-6060-46EF-A593-7D048754C904}"/>
                  </a:ext>
                </a:extLst>
              </p:cNvPr>
              <p:cNvSpPr txBox="1"/>
              <p:nvPr/>
            </p:nvSpPr>
            <p:spPr>
              <a:xfrm>
                <a:off x="765830" y="2236424"/>
                <a:ext cx="76123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C00000"/>
                    </a:solidFill>
                  </a:rPr>
                  <a:t>How to construct a universal hash family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21CC0A-6060-46EF-A593-7D048754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30" y="2236424"/>
                <a:ext cx="7612340" cy="584775"/>
              </a:xfrm>
              <a:prstGeom prst="rect">
                <a:avLst/>
              </a:prstGeom>
              <a:blipFill>
                <a:blip r:embed="rId2"/>
                <a:stretch>
                  <a:fillRect l="-1683" t="-12500" r="-152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55DDE06-FDEE-4162-999E-8395418D3060}"/>
                  </a:ext>
                </a:extLst>
              </p:cNvPr>
              <p:cNvSpPr/>
              <p:nvPr/>
            </p:nvSpPr>
            <p:spPr>
              <a:xfrm>
                <a:off x="2204076" y="3429000"/>
                <a:ext cx="4735848" cy="6474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55DDE06-FDEE-4162-999E-8395418D3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076" y="3429000"/>
                <a:ext cx="4735848" cy="647421"/>
              </a:xfrm>
              <a:prstGeom prst="rect">
                <a:avLst/>
              </a:prstGeom>
              <a:blipFill>
                <a:blip r:embed="rId3"/>
                <a:stretch>
                  <a:fillRect b="-27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2BB3BC8-DB19-4E41-BCDE-AAB733D9B60B}"/>
              </a:ext>
            </a:extLst>
          </p:cNvPr>
          <p:cNvSpPr txBox="1"/>
          <p:nvPr/>
        </p:nvSpPr>
        <p:spPr>
          <a:xfrm>
            <a:off x="148169" y="6389783"/>
            <a:ext cx="6223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Strictly speaking, the definition here is actually “2-universal hash family”.</a:t>
            </a:r>
          </a:p>
        </p:txBody>
      </p:sp>
    </p:spTree>
    <p:extLst>
      <p:ext uri="{BB962C8B-B14F-4D97-AF65-F5344CB8AC3E}">
        <p14:creationId xmlns:p14="http://schemas.microsoft.com/office/powerpoint/2010/main" val="748109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58EBC-091C-416B-B890-BD3C5E39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Universal Hash Family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Proposed by Carter and Wegman in 1977</a:t>
                </a:r>
              </a:p>
              <a:p>
                <a:pPr lvl="1"/>
                <a:r>
                  <a:rPr lang="en-US" sz="2000" dirty="0"/>
                  <a:t>They introduced the notion of universal classes of hash functions.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[“</a:t>
                </a:r>
                <a:r>
                  <a:rPr lang="en-US" sz="18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Universal Classes of Hash Functions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”, STOC 77 and JCSS 79]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Find a large prime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containing all possible key values, </a:t>
                </a:r>
                <a:br>
                  <a:rPr lang="en-US" sz="2400" dirty="0"/>
                </a:b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400" dirty="0"/>
                  <a:t> and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sz="2400" dirty="0"/>
              </a:p>
              <a:p>
                <a:endParaRPr lang="en-US" sz="2400" b="0" dirty="0"/>
              </a:p>
              <a:p>
                <a:r>
                  <a:rPr lang="en-US" sz="2400" b="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and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is a universal hash family.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53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A Typical Universal Hash Family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m:rPr>
                            <m:nor/>
                          </m:rPr>
                          <a:rPr lang="en-US" sz="3600" dirty="0"/>
                          <m:t>and</m:t>
                        </m:r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60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={0,1,2,…,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={1,2,…,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Goal: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𝑎𝑘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Proof: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but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That is: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does not generate collision at “mod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level”.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3"/>
                <a:stretch>
                  <a:fillRect l="-644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39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A Typical Universal Hash Family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m:rPr>
                            <m:nor/>
                          </m:rPr>
                          <a:rPr lang="en-US" sz="3600" dirty="0"/>
                          <m:t>and</m:t>
                        </m:r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60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={0,1,2,…,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={1,2,…,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Goal: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𝑎𝑘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 does not generate collision at “mod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 level”)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000" dirty="0">
                    <a:solidFill>
                      <a:schemeClr val="tx1"/>
                    </a:solidFill>
                  </a:rPr>
                  <a:t> Fix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there is 1-to-1 mapping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pairs.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Recall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Thus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/>
                  <a:t> pair gives a </a:t>
                </a:r>
                <a:r>
                  <a:rPr lang="en-US" sz="2000" i="1" dirty="0"/>
                  <a:t>different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/>
                  <a:t> pair.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pairs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pairs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3"/>
                <a:stretch>
                  <a:fillRect l="-644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B7DC2DC1-A7D3-422E-935D-01E64ED28CEE}"/>
              </a:ext>
            </a:extLst>
          </p:cNvPr>
          <p:cNvGrpSpPr/>
          <p:nvPr/>
        </p:nvGrpSpPr>
        <p:grpSpPr>
          <a:xfrm>
            <a:off x="5829299" y="4977077"/>
            <a:ext cx="2482487" cy="646331"/>
            <a:chOff x="5829299" y="4977077"/>
            <a:chExt cx="2482487" cy="646331"/>
          </a:xfrm>
        </p:grpSpPr>
        <p:sp>
          <p:nvSpPr>
            <p:cNvPr id="4" name="左大括号 3">
              <a:extLst>
                <a:ext uri="{FF2B5EF4-FFF2-40B4-BE49-F238E27FC236}">
                  <a16:creationId xmlns:a16="http://schemas.microsoft.com/office/drawing/2014/main" id="{CE5B8DB2-0543-4D3B-9A29-AB8651797225}"/>
                </a:ext>
              </a:extLst>
            </p:cNvPr>
            <p:cNvSpPr/>
            <p:nvPr/>
          </p:nvSpPr>
          <p:spPr>
            <a:xfrm flipH="1">
              <a:off x="5829299" y="5034710"/>
              <a:ext cx="229974" cy="531066"/>
            </a:xfrm>
            <a:prstGeom prst="leftBrac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ABABBF8-D005-43A1-B3C4-D40B75DF16C0}"/>
                    </a:ext>
                  </a:extLst>
                </p:cNvPr>
                <p:cNvSpPr txBox="1"/>
                <p:nvPr/>
              </p:nvSpPr>
              <p:spPr>
                <a:xfrm>
                  <a:off x="6193962" y="4977077"/>
                  <a:ext cx="211782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Given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,</a:t>
                  </a:r>
                  <a:br>
                    <a:rPr lang="en-US" dirty="0"/>
                  </a:br>
                  <a:r>
                    <a:rPr lang="en-US" dirty="0"/>
                    <a:t>we get </a:t>
                  </a:r>
                  <a:r>
                    <a:rPr lang="en-US" i="1" dirty="0"/>
                    <a:t>unique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CABABBF8-D005-43A1-B3C4-D40B75DF1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962" y="4977077"/>
                  <a:ext cx="2117824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305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B1174B0-08B4-494B-A68D-6B3BF0CAE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896518"/>
            <a:ext cx="9029700" cy="2356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0CE4EE-D8D7-4C54-9EA1-EAE8EF49D93E}"/>
              </a:ext>
            </a:extLst>
          </p:cNvPr>
          <p:cNvGrpSpPr/>
          <p:nvPr/>
        </p:nvGrpSpPr>
        <p:grpSpPr>
          <a:xfrm>
            <a:off x="2795319" y="4423615"/>
            <a:ext cx="5460732" cy="860330"/>
            <a:chOff x="2795319" y="4423615"/>
            <a:chExt cx="5460732" cy="86033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8D0AF0D-CDC6-447D-B150-C2CC8A043D9F}"/>
                </a:ext>
              </a:extLst>
            </p:cNvPr>
            <p:cNvSpPr/>
            <p:nvPr/>
          </p:nvSpPr>
          <p:spPr>
            <a:xfrm>
              <a:off x="2795319" y="4785473"/>
              <a:ext cx="1954482" cy="49847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rgbClr val="C00000"/>
                </a:solidFill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A1145100-D8BC-40E4-8280-FC2AAC30194C}"/>
                </a:ext>
              </a:extLst>
            </p:cNvPr>
            <p:cNvCxnSpPr/>
            <p:nvPr/>
          </p:nvCxnSpPr>
          <p:spPr>
            <a:xfrm flipH="1">
              <a:off x="4749801" y="4635500"/>
              <a:ext cx="622299" cy="149973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24993A5-DAF7-4D86-832C-ED3DAA6EF879}"/>
                    </a:ext>
                  </a:extLst>
                </p:cNvPr>
                <p:cNvSpPr txBox="1"/>
                <p:nvPr/>
              </p:nvSpPr>
              <p:spPr>
                <a:xfrm>
                  <a:off x="5400654" y="4423615"/>
                  <a:ext cx="2855397" cy="4237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Unique since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is a field.</a:t>
                  </a: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24993A5-DAF7-4D86-832C-ED3DAA6EF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654" y="4423615"/>
                  <a:ext cx="2855397" cy="423770"/>
                </a:xfrm>
                <a:prstGeom prst="rect">
                  <a:avLst/>
                </a:prstGeom>
                <a:blipFill>
                  <a:blip r:embed="rId6"/>
                  <a:stretch>
                    <a:fillRect l="-2350" t="-7246" r="-1496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131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A Typical Universal Hash Family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m:rPr>
                            <m:nor/>
                          </m:rPr>
                          <a:rPr lang="en-US" sz="3600" dirty="0"/>
                          <m:t>and</m:t>
                        </m:r>
                        <m:r>
                          <m:rPr>
                            <m:nor/>
                          </m:rPr>
                          <a:rPr lang="en-US" sz="3600" dirty="0"/>
                          <m:t>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60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3D58EBC-091C-416B-B890-BD3C5E393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={0,1,2,…,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</a:t>
                </a: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={1,2,…,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Goal: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𝑎𝑘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 does not generate collision at “mod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 level”)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000" dirty="0">
                    <a:solidFill>
                      <a:schemeClr val="tx1"/>
                    </a:solidFill>
                  </a:rPr>
                  <a:t> Fix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there is 1-to-1 mapping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pairs.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b="1" dirty="0"/>
                  <a:t>Lemma: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when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are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distinct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values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chosen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from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</m:func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12D55-BFDC-4791-9A22-6A01DE1D5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3"/>
                <a:stretch>
                  <a:fillRect l="-644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163DC32-AD9D-4113-8554-FB264E8A84A8}"/>
              </a:ext>
            </a:extLst>
          </p:cNvPr>
          <p:cNvSpPr/>
          <p:nvPr/>
        </p:nvSpPr>
        <p:spPr>
          <a:xfrm>
            <a:off x="628650" y="2501900"/>
            <a:ext cx="7473950" cy="622299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28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Ch.11 (11.1-11.3)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3814</TotalTime>
  <Words>2168</Words>
  <Application>Microsoft Office PowerPoint</Application>
  <PresentationFormat>全屏显示(4:3)</PresentationFormat>
  <Paragraphs>391</Paragraphs>
  <Slides>32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Calibri Light</vt:lpstr>
      <vt:lpstr>Arial</vt:lpstr>
      <vt:lpstr>Calibri</vt:lpstr>
      <vt:lpstr>Courier New</vt:lpstr>
      <vt:lpstr>Cambria Math</vt:lpstr>
      <vt:lpstr>Office 主题​​</vt:lpstr>
      <vt:lpstr>Hashing</vt:lpstr>
      <vt:lpstr>Efficient implementation of OSet</vt:lpstr>
      <vt:lpstr>Search/Insert/Remove in O(1) time</vt:lpstr>
      <vt:lpstr>Direct-address Tables</vt:lpstr>
      <vt:lpstr>Direct-address Tables</vt:lpstr>
      <vt:lpstr>Hashing</vt:lpstr>
      <vt:lpstr>Hashing</vt:lpstr>
      <vt:lpstr>Hashing</vt:lpstr>
      <vt:lpstr>Collisions in hashing</vt:lpstr>
      <vt:lpstr>Coping with collisions in hashing Chaining</vt:lpstr>
      <vt:lpstr>Hashing with Chaining</vt:lpstr>
      <vt:lpstr>Let’s be optimistic (for now): The “Simple Uniform Hashing” Assumption</vt:lpstr>
      <vt:lpstr>Assuming “Simple Uniform Hashing” Performance of hashing with chaining</vt:lpstr>
      <vt:lpstr>Assuming “Simple Uniform Hashing” Performance of hashing with chaining</vt:lpstr>
      <vt:lpstr>Assuming “Simple Uniform Hashing” Performance of hashing with chaining</vt:lpstr>
      <vt:lpstr>Reality fights back</vt:lpstr>
      <vt:lpstr>PowerPoint 演示文稿</vt:lpstr>
      <vt:lpstr>Designing hash functions Some bad hash functions</vt:lpstr>
      <vt:lpstr>Designing hash functions Some bad hash functions</vt:lpstr>
      <vt:lpstr>Common technique when designing hash functions The Division Method</vt:lpstr>
      <vt:lpstr>Common technique when designing hash functions The Division Method</vt:lpstr>
      <vt:lpstr>Common technique when designing hash functions The Multiplication Method</vt:lpstr>
      <vt:lpstr>Common technique when designing hash functions The Multiplication Method</vt:lpstr>
      <vt:lpstr>However…</vt:lpstr>
      <vt:lpstr>Universal Hashing</vt:lpstr>
      <vt:lpstr>Assuming “Universal Hashing” Performance of hashing with chaining</vt:lpstr>
      <vt:lpstr>PowerPoint 演示文稿</vt:lpstr>
      <vt:lpstr>A Typical Universal Hash Family </vt:lpstr>
      <vt:lpstr>A Typical Universal Hash Family H_pm={h_ab  | a∈Z_p^∗ " and " b∈Z_p } </vt:lpstr>
      <vt:lpstr>A Typical Universal Hash Family H_pm={h_ab  | a∈Z_p^∗ " and " b∈Z_p } </vt:lpstr>
      <vt:lpstr>A Typical Universal Hash Family H_pm={h_ab  | a∈Z_p^∗ " and " b∈Z_p } 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Chaodong</dc:creator>
  <cp:lastModifiedBy>Chaodong</cp:lastModifiedBy>
  <cp:revision>98</cp:revision>
  <dcterms:created xsi:type="dcterms:W3CDTF">2019-10-16T07:36:11Z</dcterms:created>
  <dcterms:modified xsi:type="dcterms:W3CDTF">2019-10-21T04:01:59Z</dcterms:modified>
</cp:coreProperties>
</file>