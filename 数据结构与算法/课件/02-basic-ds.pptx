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6"/>
  </p:notesMasterIdLst>
  <p:sldIdLst>
    <p:sldId id="257" r:id="rId2"/>
    <p:sldId id="266" r:id="rId3"/>
    <p:sldId id="267" r:id="rId4"/>
    <p:sldId id="269" r:id="rId5"/>
    <p:sldId id="270" r:id="rId6"/>
    <p:sldId id="273" r:id="rId7"/>
    <p:sldId id="271" r:id="rId8"/>
    <p:sldId id="274" r:id="rId9"/>
    <p:sldId id="272" r:id="rId10"/>
    <p:sldId id="268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3" r:id="rId28"/>
    <p:sldId id="291" r:id="rId29"/>
    <p:sldId id="295" r:id="rId30"/>
    <p:sldId id="294" r:id="rId31"/>
    <p:sldId id="297" r:id="rId32"/>
    <p:sldId id="298" r:id="rId33"/>
    <p:sldId id="296" r:id="rId34"/>
    <p:sldId id="292" r:id="rId3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libri Light" panose="020F0302020204030204" pitchFamily="34" charset="0"/>
      <p:regular r:id="rId41"/>
      <p:italic r:id="rId42"/>
    </p:embeddedFont>
    <p:embeddedFont>
      <p:font typeface="Cambria Math" panose="02040503050406030204" pitchFamily="18" charset="0"/>
      <p:regular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76246" autoAdjust="0"/>
  </p:normalViewPr>
  <p:slideViewPr>
    <p:cSldViewPr snapToGrid="0">
      <p:cViewPr varScale="1">
        <p:scale>
          <a:sx n="88" d="100"/>
          <a:sy n="88" d="100"/>
        </p:scale>
        <p:origin x="15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E8F7EA-1543-4953-AD36-BAF1B5F65161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667914-FE94-473C-8F8B-DC1B25F93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59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67914-FE94-473C-8F8B-DC1B25F937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58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9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8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62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5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8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2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45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17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85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6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D3435-0131-4218-AAB6-871A064F73D7}" type="datetimeFigureOut">
              <a:rPr lang="en-US" smtClean="0"/>
              <a:t>19/09/04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05A4F-6B1F-49D0-A038-785A6E6B5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61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Basic Data Structures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50742-8DA2-4703-A321-776C9AAE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“data structure”?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7D460A-6F7A-474D-A176-2D996EA25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r>
              <a:rPr lang="en-GB" sz="2400" dirty="0"/>
              <a:t>A </a:t>
            </a:r>
            <a:r>
              <a:rPr lang="en-GB" sz="2400" b="1" dirty="0">
                <a:solidFill>
                  <a:schemeClr val="accent1"/>
                </a:solidFill>
              </a:rPr>
              <a:t>data structure</a:t>
            </a:r>
            <a:r>
              <a:rPr lang="en-GB" sz="2400" dirty="0"/>
              <a:t> is a way </a:t>
            </a:r>
            <a:r>
              <a:rPr lang="en-US" sz="2400" dirty="0"/>
              <a:t>to </a:t>
            </a:r>
            <a:r>
              <a:rPr lang="en-US" sz="2400" b="1" dirty="0">
                <a:solidFill>
                  <a:srgbClr val="FF0000"/>
                </a:solidFill>
              </a:rPr>
              <a:t>store and organize data</a:t>
            </a:r>
            <a:r>
              <a:rPr lang="en-US" sz="2400" dirty="0"/>
              <a:t> in order to facilitate </a:t>
            </a:r>
            <a:r>
              <a:rPr lang="en-US" sz="2400" b="1" dirty="0">
                <a:solidFill>
                  <a:srgbClr val="FF0000"/>
                </a:solidFill>
              </a:rPr>
              <a:t>access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0000"/>
                </a:solidFill>
              </a:rPr>
              <a:t>modifications</a:t>
            </a:r>
            <a:r>
              <a:rPr lang="en-US" sz="2400" dirty="0"/>
              <a:t>.</a:t>
            </a:r>
          </a:p>
          <a:p>
            <a:r>
              <a:rPr lang="en-US" sz="2400" dirty="0"/>
              <a:t>E.g., </a:t>
            </a:r>
            <a:r>
              <a:rPr lang="en-US" sz="2400" i="1" dirty="0"/>
              <a:t>array</a:t>
            </a:r>
            <a:r>
              <a:rPr lang="en-US" sz="2400" dirty="0"/>
              <a:t> and </a:t>
            </a:r>
            <a:r>
              <a:rPr lang="en-US" sz="2400" i="1" dirty="0"/>
              <a:t>linked list</a:t>
            </a:r>
            <a:r>
              <a:rPr lang="en-US" sz="2400" dirty="0"/>
              <a:t>.</a:t>
            </a:r>
          </a:p>
          <a:p>
            <a:r>
              <a:rPr lang="en-US" sz="2400" dirty="0"/>
              <a:t>Different types of data demand different data structures.</a:t>
            </a:r>
          </a:p>
          <a:p>
            <a:r>
              <a:rPr lang="en-US" sz="2400" dirty="0"/>
              <a:t>One type of data could be represented by different data structures. Picking an appropriate one is important!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7794E330-21D4-430E-AD55-9AB6F5E2BF5D}"/>
              </a:ext>
            </a:extLst>
          </p:cNvPr>
          <p:cNvGrpSpPr/>
          <p:nvPr/>
        </p:nvGrpSpPr>
        <p:grpSpPr>
          <a:xfrm>
            <a:off x="804700" y="4227402"/>
            <a:ext cx="7175278" cy="936886"/>
            <a:chOff x="804700" y="4227402"/>
            <a:chExt cx="7175278" cy="93688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3E06237-7F45-42A3-8B20-3CD28764467E}"/>
                </a:ext>
              </a:extLst>
            </p:cNvPr>
            <p:cNvSpPr/>
            <p:nvPr/>
          </p:nvSpPr>
          <p:spPr>
            <a:xfrm>
              <a:off x="2278774" y="4227402"/>
              <a:ext cx="4227130" cy="936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dirty="0">
                  <a:solidFill>
                    <a:schemeClr val="tx1"/>
                  </a:solidFill>
                </a:rPr>
                <a:t>Computer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箭头: 右 4">
              <a:extLst>
                <a:ext uri="{FF2B5EF4-FFF2-40B4-BE49-F238E27FC236}">
                  <a16:creationId xmlns:a16="http://schemas.microsoft.com/office/drawing/2014/main" id="{85EA87B6-3F88-4922-8AFC-3992F4418818}"/>
                </a:ext>
              </a:extLst>
            </p:cNvPr>
            <p:cNvSpPr/>
            <p:nvPr/>
          </p:nvSpPr>
          <p:spPr>
            <a:xfrm>
              <a:off x="804700" y="4402290"/>
              <a:ext cx="1474074" cy="578069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accent2">
                      <a:lumMod val="50000"/>
                    </a:schemeClr>
                  </a:solidFill>
                </a:rPr>
                <a:t>&lt;1, 9, 1, 3&gt;</a:t>
              </a:r>
              <a:endParaRPr lang="en-US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0DC2A85-6516-4A43-B7CD-E51C9D8E2181}"/>
                </a:ext>
              </a:extLst>
            </p:cNvPr>
            <p:cNvSpPr/>
            <p:nvPr/>
          </p:nvSpPr>
          <p:spPr>
            <a:xfrm>
              <a:off x="3364949" y="4323566"/>
              <a:ext cx="3040775" cy="7355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2000" b="1" dirty="0">
                  <a:solidFill>
                    <a:schemeClr val="accent1">
                      <a:lumMod val="50000"/>
                    </a:schemeClr>
                  </a:solidFill>
                </a:rPr>
                <a:t>integer sorting algorithm A</a:t>
              </a:r>
              <a:endParaRPr lang="en-US" sz="20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2D8D67C-B0B8-4626-B695-D83FFCDA1754}"/>
                </a:ext>
              </a:extLst>
            </p:cNvPr>
            <p:cNvGrpSpPr/>
            <p:nvPr/>
          </p:nvGrpSpPr>
          <p:grpSpPr>
            <a:xfrm>
              <a:off x="3447392" y="4691325"/>
              <a:ext cx="1261245" cy="312953"/>
              <a:chOff x="3888498" y="4014733"/>
              <a:chExt cx="1261245" cy="347060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7BB8314-E4DA-4008-92A7-679A6A3C5DE9}"/>
                  </a:ext>
                </a:extLst>
              </p:cNvPr>
              <p:cNvSpPr/>
              <p:nvPr/>
            </p:nvSpPr>
            <p:spPr>
              <a:xfrm>
                <a:off x="3888498" y="4014734"/>
                <a:ext cx="315640" cy="34705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9621F93-2693-4505-B6E2-462EF1118C4B}"/>
                  </a:ext>
                </a:extLst>
              </p:cNvPr>
              <p:cNvSpPr/>
              <p:nvPr/>
            </p:nvSpPr>
            <p:spPr>
              <a:xfrm>
                <a:off x="4204138" y="4014733"/>
                <a:ext cx="315640" cy="34705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9</a:t>
                </a:r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8750B3F-416A-40D6-A610-F867D4E283CD}"/>
                  </a:ext>
                </a:extLst>
              </p:cNvPr>
              <p:cNvSpPr/>
              <p:nvPr/>
            </p:nvSpPr>
            <p:spPr>
              <a:xfrm>
                <a:off x="4519778" y="4014733"/>
                <a:ext cx="315640" cy="34705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7784E85-985A-401E-8B1D-4306F9661555}"/>
                  </a:ext>
                </a:extLst>
              </p:cNvPr>
              <p:cNvSpPr/>
              <p:nvPr/>
            </p:nvSpPr>
            <p:spPr>
              <a:xfrm>
                <a:off x="4834103" y="4014733"/>
                <a:ext cx="315640" cy="34705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3</a:t>
                </a:r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24" name="箭头: 右 23">
              <a:extLst>
                <a:ext uri="{FF2B5EF4-FFF2-40B4-BE49-F238E27FC236}">
                  <a16:creationId xmlns:a16="http://schemas.microsoft.com/office/drawing/2014/main" id="{96D69075-CAA3-4DD8-82E5-A77AEA278D71}"/>
                </a:ext>
              </a:extLst>
            </p:cNvPr>
            <p:cNvSpPr/>
            <p:nvPr/>
          </p:nvSpPr>
          <p:spPr>
            <a:xfrm>
              <a:off x="6505904" y="4402289"/>
              <a:ext cx="1474074" cy="578069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accent2">
                      <a:lumMod val="50000"/>
                    </a:schemeClr>
                  </a:solidFill>
                </a:rPr>
                <a:t>&lt;1, 1, 3, 9&gt;</a:t>
              </a:r>
              <a:endParaRPr lang="en-US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0A2E618-04B1-44F1-8FD6-E05247F36FAA}"/>
              </a:ext>
            </a:extLst>
          </p:cNvPr>
          <p:cNvGrpSpPr/>
          <p:nvPr/>
        </p:nvGrpSpPr>
        <p:grpSpPr>
          <a:xfrm>
            <a:off x="804700" y="5360137"/>
            <a:ext cx="7175278" cy="936886"/>
            <a:chOff x="805358" y="5302355"/>
            <a:chExt cx="7175278" cy="93688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149E7DE-AFDF-4906-A89F-E8A250AD93CC}"/>
                </a:ext>
              </a:extLst>
            </p:cNvPr>
            <p:cNvSpPr/>
            <p:nvPr/>
          </p:nvSpPr>
          <p:spPr>
            <a:xfrm>
              <a:off x="2279432" y="5302355"/>
              <a:ext cx="4227130" cy="936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dirty="0">
                  <a:solidFill>
                    <a:schemeClr val="tx1"/>
                  </a:solidFill>
                </a:rPr>
                <a:t>Computer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箭头: 右 25">
              <a:extLst>
                <a:ext uri="{FF2B5EF4-FFF2-40B4-BE49-F238E27FC236}">
                  <a16:creationId xmlns:a16="http://schemas.microsoft.com/office/drawing/2014/main" id="{6EE4BB07-944B-45AE-A137-4248C9FCD048}"/>
                </a:ext>
              </a:extLst>
            </p:cNvPr>
            <p:cNvSpPr/>
            <p:nvPr/>
          </p:nvSpPr>
          <p:spPr>
            <a:xfrm>
              <a:off x="805358" y="5477243"/>
              <a:ext cx="1474074" cy="578069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accent2">
                      <a:lumMod val="50000"/>
                    </a:schemeClr>
                  </a:solidFill>
                </a:rPr>
                <a:t>&lt;1, 9, 1, 3&gt;</a:t>
              </a:r>
              <a:endParaRPr lang="en-US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DDCFE49-DA92-431B-BBBB-5B4FDEC9DB55}"/>
                </a:ext>
              </a:extLst>
            </p:cNvPr>
            <p:cNvSpPr/>
            <p:nvPr/>
          </p:nvSpPr>
          <p:spPr>
            <a:xfrm>
              <a:off x="3365607" y="5398519"/>
              <a:ext cx="3040775" cy="7355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2000" b="1" dirty="0">
                  <a:solidFill>
                    <a:schemeClr val="accent1">
                      <a:lumMod val="50000"/>
                    </a:schemeClr>
                  </a:solidFill>
                </a:rPr>
                <a:t>integer sorting algorithm B</a:t>
              </a:r>
              <a:endParaRPr lang="en-US" sz="20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3" name="箭头: 右 32">
              <a:extLst>
                <a:ext uri="{FF2B5EF4-FFF2-40B4-BE49-F238E27FC236}">
                  <a16:creationId xmlns:a16="http://schemas.microsoft.com/office/drawing/2014/main" id="{103EAB7D-7987-4F73-8756-56BDEE1397E4}"/>
                </a:ext>
              </a:extLst>
            </p:cNvPr>
            <p:cNvSpPr/>
            <p:nvPr/>
          </p:nvSpPr>
          <p:spPr>
            <a:xfrm>
              <a:off x="6506562" y="5477242"/>
              <a:ext cx="1474074" cy="578069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accent2">
                      <a:lumMod val="50000"/>
                    </a:schemeClr>
                  </a:solidFill>
                </a:rPr>
                <a:t>&lt;1, 1, 3, 9&gt;</a:t>
              </a:r>
              <a:endParaRPr lang="en-US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29F2BCFF-7B2D-4C85-BBBE-26E1D897B297}"/>
                </a:ext>
              </a:extLst>
            </p:cNvPr>
            <p:cNvGrpSpPr/>
            <p:nvPr/>
          </p:nvGrpSpPr>
          <p:grpSpPr>
            <a:xfrm>
              <a:off x="3448050" y="5766279"/>
              <a:ext cx="630622" cy="312952"/>
              <a:chOff x="3448050" y="5766279"/>
              <a:chExt cx="630622" cy="312952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5707DE75-770E-424F-933E-27D443C4D527}"/>
                  </a:ext>
                </a:extLst>
              </p:cNvPr>
              <p:cNvSpPr/>
              <p:nvPr/>
            </p:nvSpPr>
            <p:spPr>
              <a:xfrm>
                <a:off x="3448050" y="5766279"/>
                <a:ext cx="315640" cy="3129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DEA896AD-44F2-4DC9-965A-444AA48E148E}"/>
                  </a:ext>
                </a:extLst>
              </p:cNvPr>
              <p:cNvSpPr/>
              <p:nvPr/>
            </p:nvSpPr>
            <p:spPr>
              <a:xfrm>
                <a:off x="3763032" y="5766279"/>
                <a:ext cx="100838" cy="3129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F1002FEF-56D3-4BFE-A346-867B387D3EFC}"/>
                  </a:ext>
                </a:extLst>
              </p:cNvPr>
              <p:cNvCxnSpPr>
                <a:cxnSpLocks/>
                <a:stCxn id="34" idx="3"/>
              </p:cNvCxnSpPr>
              <p:nvPr/>
            </p:nvCxnSpPr>
            <p:spPr>
              <a:xfrm>
                <a:off x="3863870" y="5922755"/>
                <a:ext cx="214802" cy="0"/>
              </a:xfrm>
              <a:prstGeom prst="straightConnector1">
                <a:avLst/>
              </a:prstGeom>
              <a:ln w="28575">
                <a:solidFill>
                  <a:schemeClr val="accent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999FA590-B6F5-48ED-9937-47C6B9EA2534}"/>
                </a:ext>
              </a:extLst>
            </p:cNvPr>
            <p:cNvGrpSpPr/>
            <p:nvPr/>
          </p:nvGrpSpPr>
          <p:grpSpPr>
            <a:xfrm>
              <a:off x="4089013" y="5766279"/>
              <a:ext cx="630622" cy="312952"/>
              <a:chOff x="3448050" y="5766279"/>
              <a:chExt cx="630622" cy="312952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CED6401-F659-4DB4-808E-3EA121FE68AF}"/>
                  </a:ext>
                </a:extLst>
              </p:cNvPr>
              <p:cNvSpPr/>
              <p:nvPr/>
            </p:nvSpPr>
            <p:spPr>
              <a:xfrm>
                <a:off x="3448050" y="5766279"/>
                <a:ext cx="315640" cy="3129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9</a:t>
                </a:r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F4BEF918-ADF3-4DDA-9A2F-F7EA69696A0C}"/>
                  </a:ext>
                </a:extLst>
              </p:cNvPr>
              <p:cNvSpPr/>
              <p:nvPr/>
            </p:nvSpPr>
            <p:spPr>
              <a:xfrm>
                <a:off x="3763032" y="5766279"/>
                <a:ext cx="100838" cy="3129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617087FA-1D0C-4730-BA69-7AF0A962CA03}"/>
                  </a:ext>
                </a:extLst>
              </p:cNvPr>
              <p:cNvCxnSpPr>
                <a:cxnSpLocks/>
                <a:stCxn id="41" idx="3"/>
              </p:cNvCxnSpPr>
              <p:nvPr/>
            </p:nvCxnSpPr>
            <p:spPr>
              <a:xfrm>
                <a:off x="3863870" y="5922755"/>
                <a:ext cx="214802" cy="0"/>
              </a:xfrm>
              <a:prstGeom prst="straightConnector1">
                <a:avLst/>
              </a:prstGeom>
              <a:ln w="28575">
                <a:solidFill>
                  <a:schemeClr val="accent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409485DC-D09D-4453-B233-2A0B8D4FFA13}"/>
                </a:ext>
              </a:extLst>
            </p:cNvPr>
            <p:cNvGrpSpPr/>
            <p:nvPr/>
          </p:nvGrpSpPr>
          <p:grpSpPr>
            <a:xfrm>
              <a:off x="4727354" y="5766276"/>
              <a:ext cx="630622" cy="312952"/>
              <a:chOff x="3448050" y="5766279"/>
              <a:chExt cx="630622" cy="312952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AC7E2835-B307-4BEE-962F-C741FC95B4A4}"/>
                  </a:ext>
                </a:extLst>
              </p:cNvPr>
              <p:cNvSpPr/>
              <p:nvPr/>
            </p:nvSpPr>
            <p:spPr>
              <a:xfrm>
                <a:off x="3448050" y="5766279"/>
                <a:ext cx="315640" cy="3129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B3BB09B9-5453-4DE0-9F95-F9FEABFA2113}"/>
                  </a:ext>
                </a:extLst>
              </p:cNvPr>
              <p:cNvSpPr/>
              <p:nvPr/>
            </p:nvSpPr>
            <p:spPr>
              <a:xfrm>
                <a:off x="3763032" y="5766279"/>
                <a:ext cx="100838" cy="3129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D4FD98C6-F130-4AAE-BA81-23862D0F6B3C}"/>
                  </a:ext>
                </a:extLst>
              </p:cNvPr>
              <p:cNvCxnSpPr>
                <a:cxnSpLocks/>
                <a:stCxn id="45" idx="3"/>
              </p:cNvCxnSpPr>
              <p:nvPr/>
            </p:nvCxnSpPr>
            <p:spPr>
              <a:xfrm>
                <a:off x="3863870" y="5922755"/>
                <a:ext cx="214802" cy="0"/>
              </a:xfrm>
              <a:prstGeom prst="straightConnector1">
                <a:avLst/>
              </a:prstGeom>
              <a:ln w="28575">
                <a:solidFill>
                  <a:schemeClr val="accent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D32C1E99-3754-49B7-BDA6-DF5C111F8F2E}"/>
                </a:ext>
              </a:extLst>
            </p:cNvPr>
            <p:cNvGrpSpPr/>
            <p:nvPr/>
          </p:nvGrpSpPr>
          <p:grpSpPr>
            <a:xfrm>
              <a:off x="5365691" y="5766276"/>
              <a:ext cx="415820" cy="312952"/>
              <a:chOff x="3448050" y="5766279"/>
              <a:chExt cx="415820" cy="312952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2F73F251-36E7-44C6-BA51-13852750D722}"/>
                  </a:ext>
                </a:extLst>
              </p:cNvPr>
              <p:cNvSpPr/>
              <p:nvPr/>
            </p:nvSpPr>
            <p:spPr>
              <a:xfrm>
                <a:off x="3448050" y="5766279"/>
                <a:ext cx="315640" cy="3129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3</a:t>
                </a:r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9BB0308-59EC-4B1D-8EAB-2DAC16C4B99E}"/>
                  </a:ext>
                </a:extLst>
              </p:cNvPr>
              <p:cNvSpPr/>
              <p:nvPr/>
            </p:nvSpPr>
            <p:spPr>
              <a:xfrm>
                <a:off x="3763032" y="5766279"/>
                <a:ext cx="100838" cy="3129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451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635ED-FA2C-4B29-8996-0054A44D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Abstract Data Type (ADT)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8CED1C-D998-4AB1-8BB6-4DC35610E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r>
              <a:rPr lang="en-GB" sz="2400" dirty="0"/>
              <a:t>A data structure usually provides an </a:t>
            </a:r>
            <a:r>
              <a:rPr lang="en-GB" sz="2400" b="1" dirty="0"/>
              <a:t>interface</a:t>
            </a:r>
            <a:r>
              <a:rPr lang="en-GB" sz="2400" dirty="0"/>
              <a:t>.</a:t>
            </a:r>
          </a:p>
          <a:p>
            <a:pPr lvl="1"/>
            <a:r>
              <a:rPr lang="en-GB" sz="2000" dirty="0"/>
              <a:t>Often, the interface is also called an </a:t>
            </a:r>
            <a:r>
              <a:rPr lang="en-GB" sz="2000" b="1" dirty="0">
                <a:solidFill>
                  <a:schemeClr val="accent1"/>
                </a:solidFill>
              </a:rPr>
              <a:t>abstract data type (ADT)</a:t>
            </a:r>
            <a:r>
              <a:rPr lang="en-GB" sz="2000" dirty="0"/>
              <a:t>.</a:t>
            </a:r>
          </a:p>
          <a:p>
            <a:pPr lvl="1"/>
            <a:r>
              <a:rPr lang="en-US" sz="2000" dirty="0"/>
              <a:t>An ADT specifies what a data structure “can do” and “should do”, but </a:t>
            </a:r>
            <a:r>
              <a:rPr lang="en-US" sz="2000" i="1" dirty="0"/>
              <a:t>not</a:t>
            </a:r>
            <a:r>
              <a:rPr lang="en-US" sz="2000" dirty="0"/>
              <a:t> “how to do” them.</a:t>
            </a:r>
          </a:p>
          <a:p>
            <a:r>
              <a:rPr lang="en-US" sz="2400" dirty="0"/>
              <a:t>ADT: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2000" dirty="0"/>
              <a:t>, which supports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sz="2000" dirty="0"/>
              <a:t>, …</a:t>
            </a:r>
            <a:br>
              <a:rPr lang="en-US" sz="2000" dirty="0"/>
            </a:br>
            <a:r>
              <a:rPr lang="en-US" sz="2400" dirty="0"/>
              <a:t>Data structure: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sz="2000" dirty="0"/>
              <a:t>, …</a:t>
            </a:r>
          </a:p>
          <a:p>
            <a:r>
              <a:rPr lang="en-US" sz="2400" dirty="0"/>
              <a:t>An ADT is a </a:t>
            </a:r>
            <a:r>
              <a:rPr lang="en-US" sz="2400" dirty="0">
                <a:solidFill>
                  <a:srgbClr val="FF0000"/>
                </a:solidFill>
              </a:rPr>
              <a:t>logical description</a:t>
            </a:r>
            <a:r>
              <a:rPr lang="en-US" sz="2400" dirty="0"/>
              <a:t>, and a data structure is a </a:t>
            </a:r>
            <a:r>
              <a:rPr lang="en-US" sz="2400" dirty="0">
                <a:solidFill>
                  <a:srgbClr val="FF0000"/>
                </a:solidFill>
              </a:rPr>
              <a:t>concrete implementation</a:t>
            </a:r>
            <a:r>
              <a:rPr lang="en-US" sz="2400" dirty="0"/>
              <a:t>.</a:t>
            </a:r>
          </a:p>
          <a:p>
            <a:pPr lvl="1"/>
            <a:r>
              <a:rPr lang="en-US" sz="2000" dirty="0"/>
              <a:t>Similar to .h file and .</a:t>
            </a:r>
            <a:r>
              <a:rPr lang="en-US" sz="2000" dirty="0" err="1"/>
              <a:t>cpp</a:t>
            </a:r>
            <a:r>
              <a:rPr lang="en-US" sz="2000" dirty="0"/>
              <a:t> file.</a:t>
            </a:r>
          </a:p>
          <a:p>
            <a:pPr lvl="1"/>
            <a:r>
              <a:rPr lang="en-US" sz="2000" dirty="0"/>
              <a:t>Different data structures can implement same ADT. (Why bother?)</a:t>
            </a:r>
          </a:p>
        </p:txBody>
      </p:sp>
    </p:spTree>
    <p:extLst>
      <p:ext uri="{BB962C8B-B14F-4D97-AF65-F5344CB8AC3E}">
        <p14:creationId xmlns:p14="http://schemas.microsoft.com/office/powerpoint/2010/main" val="72914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55BCA133-57E2-444A-8E1E-64598F5C6285}"/>
              </a:ext>
            </a:extLst>
          </p:cNvPr>
          <p:cNvSpPr/>
          <p:nvPr/>
        </p:nvSpPr>
        <p:spPr>
          <a:xfrm>
            <a:off x="628650" y="2862943"/>
            <a:ext cx="7655379" cy="47435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3DABD45-1903-467B-995E-7065C3F5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ourier New" panose="02070309020205020404" pitchFamily="49" charset="0"/>
              </a:rPr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dirty="0">
                <a:cs typeface="Courier New" panose="02070309020205020404" pitchFamily="49" charset="0"/>
              </a:rPr>
              <a:t> ADT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5F6D022-EE8C-4F99-8315-FB8A32ADE073}"/>
                  </a:ext>
                </a:extLst>
              </p:cNvPr>
              <p:cNvSpPr txBox="1"/>
              <p:nvPr/>
            </p:nvSpPr>
            <p:spPr>
              <a:xfrm>
                <a:off x="628650" y="1690689"/>
                <a:ext cx="7886700" cy="1646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400" dirty="0"/>
                  <a:t>The 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Queue</a:t>
                </a:r>
                <a:r>
                  <a:rPr lang="en-GB" sz="2400" dirty="0"/>
                  <a:t> ADT represents a collection of items to which we can </a:t>
                </a:r>
                <a:r>
                  <a:rPr lang="en-GB" sz="2400" dirty="0">
                    <a:solidFill>
                      <a:srgbClr val="FF0000"/>
                    </a:solidFill>
                  </a:rPr>
                  <a:t>add</a:t>
                </a:r>
                <a:r>
                  <a:rPr lang="en-GB" sz="2400" dirty="0"/>
                  <a:t> items and </a:t>
                </a:r>
                <a:r>
                  <a:rPr lang="en-GB" sz="2400" dirty="0">
                    <a:solidFill>
                      <a:srgbClr val="FF0000"/>
                    </a:solidFill>
                  </a:rPr>
                  <a:t>remove</a:t>
                </a:r>
                <a:r>
                  <a:rPr lang="en-GB" sz="2400" dirty="0"/>
                  <a:t> the next item.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Add(x)</a:t>
                </a:r>
                <a:r>
                  <a:rPr lang="en-GB" sz="2400" dirty="0"/>
                  <a:t>: add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to the queue.</a:t>
                </a:r>
              </a:p>
              <a:p>
                <a:pPr marL="180000" indent="-1800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Remove()</a:t>
                </a:r>
                <a:r>
                  <a:rPr lang="en-GB" sz="2400" dirty="0"/>
                  <a:t>: remove the next item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from queue, return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5F6D022-EE8C-4F99-8315-FB8A32ADE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7886700" cy="1646605"/>
              </a:xfrm>
              <a:prstGeom prst="rect">
                <a:avLst/>
              </a:prstGeom>
              <a:blipFill>
                <a:blip r:embed="rId2"/>
                <a:stretch>
                  <a:fillRect l="-1159" t="-3704" b="-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227A5A08-6CE8-477D-8E41-8267A48A792F}"/>
              </a:ext>
            </a:extLst>
          </p:cNvPr>
          <p:cNvSpPr txBox="1"/>
          <p:nvPr/>
        </p:nvSpPr>
        <p:spPr>
          <a:xfrm>
            <a:off x="628650" y="3520707"/>
            <a:ext cx="7425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The </a:t>
            </a:r>
            <a:r>
              <a:rPr lang="en-GB" sz="2400" i="1" dirty="0">
                <a:solidFill>
                  <a:schemeClr val="accent1"/>
                </a:solidFill>
              </a:rPr>
              <a:t>queuing discipline</a:t>
            </a:r>
            <a:r>
              <a:rPr lang="en-GB" sz="2400" dirty="0"/>
              <a:t> decides which item to be removed.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7215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3DABD45-1903-467B-995E-7065C3F5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ourier New" panose="02070309020205020404" pitchFamily="49" charset="0"/>
              </a:rPr>
              <a:t>FIFO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5F6D022-EE8C-4F99-8315-FB8A32ADE073}"/>
                  </a:ext>
                </a:extLst>
              </p:cNvPr>
              <p:cNvSpPr txBox="1"/>
              <p:nvPr/>
            </p:nvSpPr>
            <p:spPr>
              <a:xfrm>
                <a:off x="628650" y="1635790"/>
                <a:ext cx="7886700" cy="140038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000" dirty="0"/>
                  <a:t>The </a:t>
                </a: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Queue</a:t>
                </a:r>
                <a:r>
                  <a:rPr lang="en-GB" sz="2000" dirty="0"/>
                  <a:t> ADT represents a collection of items to which we can add items and remove the next item.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Add(x)</a:t>
                </a:r>
                <a:r>
                  <a:rPr lang="en-GB" sz="2000" dirty="0"/>
                  <a:t>: add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to the queue.</a:t>
                </a:r>
              </a:p>
              <a:p>
                <a:pPr marL="180000" indent="-1800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Remove()</a:t>
                </a:r>
                <a:r>
                  <a:rPr lang="en-GB" sz="2000" dirty="0"/>
                  <a:t>: remove the next item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from queue, return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5F6D022-EE8C-4F99-8315-FB8A32ADE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35790"/>
                <a:ext cx="7886700" cy="1400383"/>
              </a:xfrm>
              <a:prstGeom prst="rect">
                <a:avLst/>
              </a:prstGeom>
              <a:blipFill>
                <a:blip r:embed="rId2"/>
                <a:stretch>
                  <a:fillRect l="-694" t="-2586" b="-68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227A5A08-6CE8-477D-8E41-8267A48A792F}"/>
              </a:ext>
            </a:extLst>
          </p:cNvPr>
          <p:cNvSpPr txBox="1"/>
          <p:nvPr/>
        </p:nvSpPr>
        <p:spPr>
          <a:xfrm>
            <a:off x="628650" y="3194136"/>
            <a:ext cx="68448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first-in-first-out (FIFO)</a:t>
            </a:r>
            <a:r>
              <a:rPr lang="en-GB" sz="2400" dirty="0"/>
              <a:t> queuing discipline:</a:t>
            </a:r>
            <a:br>
              <a:rPr lang="en-US" sz="2400" dirty="0"/>
            </a:br>
            <a:r>
              <a:rPr lang="en-US" sz="2400" dirty="0"/>
              <a:t>items are removed in the same order they are added.</a:t>
            </a:r>
            <a:endParaRPr lang="en-GB" sz="2400" dirty="0"/>
          </a:p>
        </p:txBody>
      </p:sp>
      <p:pic>
        <p:nvPicPr>
          <p:cNvPr id="1026" name="Picture 2" descr="Image result for queue">
            <a:extLst>
              <a:ext uri="{FF2B5EF4-FFF2-40B4-BE49-F238E27FC236}">
                <a16:creationId xmlns:a16="http://schemas.microsoft.com/office/drawing/2014/main" id="{C30D4B4E-A4E6-4E5E-B4CD-FF1F9007F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950" y="4306837"/>
            <a:ext cx="2819400" cy="201939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3F034FC-1D57-406B-AA4C-C7B5EA812EBD}"/>
                  </a:ext>
                </a:extLst>
              </p:cNvPr>
              <p:cNvSpPr txBox="1"/>
              <p:nvPr/>
            </p:nvSpPr>
            <p:spPr>
              <a:xfrm>
                <a:off x="628650" y="4183096"/>
                <a:ext cx="5067300" cy="2015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400" dirty="0"/>
                  <a:t>FIFO 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Queue</a:t>
                </a:r>
                <a:r>
                  <a:rPr lang="en-GB" sz="2400" dirty="0"/>
                  <a:t>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Add(x)</a:t>
                </a:r>
                <a:r>
                  <a:rPr lang="en-GB" sz="2400" dirty="0">
                    <a:cs typeface="Courier New" panose="02070309020205020404" pitchFamily="49" charset="0"/>
                  </a:rPr>
                  <a:t> or </a:t>
                </a:r>
                <a:r>
                  <a:rPr lang="en-GB" sz="24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Enqueue(x)</a:t>
                </a:r>
                <a:r>
                  <a:rPr lang="en-GB" sz="2400" dirty="0"/>
                  <a:t>: </a:t>
                </a:r>
                <a:br>
                  <a:rPr lang="en-GB" sz="2400" dirty="0"/>
                </a:br>
                <a:r>
                  <a:rPr lang="en-GB" sz="2400" dirty="0"/>
                  <a:t>add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to the end of the queue.</a:t>
                </a:r>
              </a:p>
              <a:p>
                <a:pPr marL="180000" indent="-1800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Remove()</a:t>
                </a:r>
                <a:r>
                  <a:rPr lang="en-GB" sz="2400" dirty="0">
                    <a:cs typeface="Courier New" panose="02070309020205020404" pitchFamily="49" charset="0"/>
                  </a:rPr>
                  <a:t> or </a:t>
                </a:r>
                <a:r>
                  <a:rPr lang="en-GB" sz="24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Dequeue()</a:t>
                </a:r>
                <a:r>
                  <a:rPr lang="en-GB" sz="2400" dirty="0"/>
                  <a:t>: </a:t>
                </a:r>
                <a:br>
                  <a:rPr lang="en-GB" sz="2400" dirty="0"/>
                </a:br>
                <a:r>
                  <a:rPr lang="en-GB" sz="2400" dirty="0"/>
                  <a:t>remove the first item from the queue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3F034FC-1D57-406B-AA4C-C7B5EA812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183096"/>
                <a:ext cx="5067300" cy="2015936"/>
              </a:xfrm>
              <a:prstGeom prst="rect">
                <a:avLst/>
              </a:prstGeom>
              <a:blipFill>
                <a:blip r:embed="rId4"/>
                <a:stretch>
                  <a:fillRect l="-1805" t="-3021" r="-1564" b="-5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F55DA1C3-5590-4F6C-AB78-FC45A0262565}"/>
              </a:ext>
            </a:extLst>
          </p:cNvPr>
          <p:cNvGrpSpPr/>
          <p:nvPr/>
        </p:nvGrpSpPr>
        <p:grpSpPr>
          <a:xfrm>
            <a:off x="7485502" y="3943108"/>
            <a:ext cx="1418978" cy="603717"/>
            <a:chOff x="7717197" y="3955022"/>
            <a:chExt cx="1418978" cy="603717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AF66DB4-B94C-432C-A6AA-2780A252F131}"/>
                </a:ext>
              </a:extLst>
            </p:cNvPr>
            <p:cNvSpPr txBox="1"/>
            <p:nvPr/>
          </p:nvSpPr>
          <p:spPr>
            <a:xfrm>
              <a:off x="7717197" y="3955022"/>
              <a:ext cx="14189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Enqueue(x)</a:t>
              </a:r>
              <a:endPara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1BA9CE7-69C8-438A-850B-52A582FC8089}"/>
                </a:ext>
              </a:extLst>
            </p:cNvPr>
            <p:cNvCxnSpPr/>
            <p:nvPr/>
          </p:nvCxnSpPr>
          <p:spPr>
            <a:xfrm flipH="1">
              <a:off x="8426686" y="4293576"/>
              <a:ext cx="174172" cy="265163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9DB9613-86FF-44D7-8785-E881FE7DE594}"/>
              </a:ext>
            </a:extLst>
          </p:cNvPr>
          <p:cNvGrpSpPr/>
          <p:nvPr/>
        </p:nvGrpSpPr>
        <p:grpSpPr>
          <a:xfrm>
            <a:off x="5812751" y="6054118"/>
            <a:ext cx="1295547" cy="544228"/>
            <a:chOff x="5884627" y="6168037"/>
            <a:chExt cx="1295547" cy="54422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481D8D7-E5AA-426B-ABDC-EE1BA8353923}"/>
                </a:ext>
              </a:extLst>
            </p:cNvPr>
            <p:cNvSpPr txBox="1"/>
            <p:nvPr/>
          </p:nvSpPr>
          <p:spPr>
            <a:xfrm>
              <a:off x="5884627" y="6373711"/>
              <a:ext cx="12955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Dequeue()</a:t>
              </a:r>
              <a:endPara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F057A8D-4330-4C95-A11C-004F2331B5B0}"/>
                </a:ext>
              </a:extLst>
            </p:cNvPr>
            <p:cNvCxnSpPr/>
            <p:nvPr/>
          </p:nvCxnSpPr>
          <p:spPr>
            <a:xfrm flipH="1">
              <a:off x="6532400" y="6168037"/>
              <a:ext cx="174172" cy="265163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607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queue">
            <a:extLst>
              <a:ext uri="{FF2B5EF4-FFF2-40B4-BE49-F238E27FC236}">
                <a16:creationId xmlns:a16="http://schemas.microsoft.com/office/drawing/2014/main" id="{C30D4B4E-A4E6-4E5E-B4CD-FF1F9007F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951" y="4293182"/>
            <a:ext cx="2819400" cy="201939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6925539C-32CD-4DBB-9CC6-9E453281C88C}"/>
              </a:ext>
            </a:extLst>
          </p:cNvPr>
          <p:cNvGrpSpPr/>
          <p:nvPr/>
        </p:nvGrpSpPr>
        <p:grpSpPr>
          <a:xfrm>
            <a:off x="1057031" y="935730"/>
            <a:ext cx="2391020" cy="4986539"/>
            <a:chOff x="1274745" y="763196"/>
            <a:chExt cx="2391020" cy="4986539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5B7B02A9-DB22-4C59-A92B-E3F6BD09BECD}"/>
                </a:ext>
              </a:extLst>
            </p:cNvPr>
            <p:cNvGrpSpPr/>
            <p:nvPr/>
          </p:nvGrpSpPr>
          <p:grpSpPr>
            <a:xfrm>
              <a:off x="1960545" y="763196"/>
              <a:ext cx="283028" cy="478971"/>
              <a:chOff x="881743" y="1959429"/>
              <a:chExt cx="283028" cy="478971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A6A1A0C4-7B6D-4DC7-842A-6E5410C7017C}"/>
                  </a:ext>
                </a:extLst>
              </p:cNvPr>
              <p:cNvCxnSpPr/>
              <p:nvPr/>
            </p:nvCxnSpPr>
            <p:spPr>
              <a:xfrm>
                <a:off x="881743" y="1959429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6C5B4EC2-8DBB-402C-935C-4B24411347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195942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BAF68FF-B2AC-453C-AF08-77436BD923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2438400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500915C5-7B02-44B9-A9B5-ADA2C13FBEA2}"/>
                </a:ext>
              </a:extLst>
            </p:cNvPr>
            <p:cNvGrpSpPr/>
            <p:nvPr/>
          </p:nvGrpSpPr>
          <p:grpSpPr>
            <a:xfrm>
              <a:off x="2113713" y="1394740"/>
              <a:ext cx="1548838" cy="388310"/>
              <a:chOff x="781818" y="2322233"/>
              <a:chExt cx="1548838" cy="388310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92AA222-44A6-4BC7-B7DB-41FBBDB2ABE7}"/>
                  </a:ext>
                </a:extLst>
              </p:cNvPr>
              <p:cNvSpPr txBox="1"/>
              <p:nvPr/>
            </p:nvSpPr>
            <p:spPr>
              <a:xfrm>
                <a:off x="911678" y="2347111"/>
                <a:ext cx="141897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Enqueue(a)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D323CE90-8BF1-4C13-8751-A1155D3F2B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818" y="2322233"/>
                <a:ext cx="0" cy="38831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C3B6948B-F0FC-48B0-BF7A-0BC842E1C530}"/>
                </a:ext>
              </a:extLst>
            </p:cNvPr>
            <p:cNvGrpSpPr/>
            <p:nvPr/>
          </p:nvGrpSpPr>
          <p:grpSpPr>
            <a:xfrm>
              <a:off x="1972199" y="1915105"/>
              <a:ext cx="283028" cy="478971"/>
              <a:chOff x="881743" y="1959429"/>
              <a:chExt cx="283028" cy="478971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FBDA0FD7-92CE-4219-8615-4011AA54B53E}"/>
                  </a:ext>
                </a:extLst>
              </p:cNvPr>
              <p:cNvCxnSpPr/>
              <p:nvPr/>
            </p:nvCxnSpPr>
            <p:spPr>
              <a:xfrm>
                <a:off x="881743" y="1959429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5DA8523-352B-445B-852F-4634ED39F6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195942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9DBC115-237E-473E-BE8F-2CD385BDDF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2438400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EE999C3-BDAB-4B35-884D-E2FC6CD3B777}"/>
                </a:ext>
              </a:extLst>
            </p:cNvPr>
            <p:cNvSpPr txBox="1"/>
            <p:nvPr/>
          </p:nvSpPr>
          <p:spPr>
            <a:xfrm>
              <a:off x="2095936" y="1969924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6605AA62-65E1-4267-98D8-3F5519BF284A}"/>
                </a:ext>
              </a:extLst>
            </p:cNvPr>
            <p:cNvGrpSpPr/>
            <p:nvPr/>
          </p:nvGrpSpPr>
          <p:grpSpPr>
            <a:xfrm>
              <a:off x="2113713" y="2496943"/>
              <a:ext cx="1548838" cy="388310"/>
              <a:chOff x="781818" y="2322233"/>
              <a:chExt cx="1548838" cy="388310"/>
            </a:xfrm>
          </p:grpSpPr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C358FFF8-DC34-40D6-8586-E5D23E5636A2}"/>
                  </a:ext>
                </a:extLst>
              </p:cNvPr>
              <p:cNvSpPr txBox="1"/>
              <p:nvPr/>
            </p:nvSpPr>
            <p:spPr>
              <a:xfrm>
                <a:off x="911678" y="2347111"/>
                <a:ext cx="141897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Enqueue(b)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01E0F65E-097F-43A7-9D35-A211DF62AA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818" y="2322233"/>
                <a:ext cx="0" cy="38831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BD3895E-B163-4E72-AFB3-BDD6CD7DC303}"/>
                </a:ext>
              </a:extLst>
            </p:cNvPr>
            <p:cNvGrpSpPr/>
            <p:nvPr/>
          </p:nvGrpSpPr>
          <p:grpSpPr>
            <a:xfrm>
              <a:off x="1972199" y="3012997"/>
              <a:ext cx="283028" cy="478971"/>
              <a:chOff x="881743" y="1959429"/>
              <a:chExt cx="283028" cy="478971"/>
            </a:xfrm>
          </p:grpSpPr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BC5C949-A241-4E24-8106-5D78FBEB4556}"/>
                  </a:ext>
                </a:extLst>
              </p:cNvPr>
              <p:cNvCxnSpPr/>
              <p:nvPr/>
            </p:nvCxnSpPr>
            <p:spPr>
              <a:xfrm>
                <a:off x="881743" y="1959429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B0C4F79F-7EEE-4C77-AD4C-23B202A7F2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195942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BE618FF2-13E0-4862-A687-A591E03048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2438400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40375F7-A524-4A6C-9BB8-815F51796D7E}"/>
                </a:ext>
              </a:extLst>
            </p:cNvPr>
            <p:cNvSpPr txBox="1"/>
            <p:nvPr/>
          </p:nvSpPr>
          <p:spPr>
            <a:xfrm>
              <a:off x="2095936" y="3067816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CDA33A4D-05B6-41E8-B9F9-832E7D8DC4D0}"/>
                </a:ext>
              </a:extLst>
            </p:cNvPr>
            <p:cNvSpPr txBox="1"/>
            <p:nvPr/>
          </p:nvSpPr>
          <p:spPr>
            <a:xfrm>
              <a:off x="2514946" y="3067816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2C2B165E-82C2-49FF-8EBD-76F68B139B21}"/>
                </a:ext>
              </a:extLst>
            </p:cNvPr>
            <p:cNvGrpSpPr/>
            <p:nvPr/>
          </p:nvGrpSpPr>
          <p:grpSpPr>
            <a:xfrm>
              <a:off x="2113713" y="3624024"/>
              <a:ext cx="1425407" cy="388310"/>
              <a:chOff x="781818" y="2322233"/>
              <a:chExt cx="1425407" cy="388310"/>
            </a:xfrm>
          </p:grpSpPr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EF925D1D-2504-41F4-B0EB-79BDE1307CAE}"/>
                  </a:ext>
                </a:extLst>
              </p:cNvPr>
              <p:cNvSpPr txBox="1"/>
              <p:nvPr/>
            </p:nvSpPr>
            <p:spPr>
              <a:xfrm>
                <a:off x="911678" y="2347111"/>
                <a:ext cx="12955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Dequeue()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0BA871F7-0410-4061-9ACE-B8657F5A46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818" y="2322233"/>
                <a:ext cx="0" cy="38831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42D0D7A9-E856-41DA-BD11-A6DA7A037FCB}"/>
                </a:ext>
              </a:extLst>
            </p:cNvPr>
            <p:cNvGrpSpPr/>
            <p:nvPr/>
          </p:nvGrpSpPr>
          <p:grpSpPr>
            <a:xfrm>
              <a:off x="1972199" y="4144389"/>
              <a:ext cx="283028" cy="478971"/>
              <a:chOff x="881743" y="1959429"/>
              <a:chExt cx="283028" cy="478971"/>
            </a:xfrm>
          </p:grpSpPr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44D5AE0A-FF16-4E32-B8BB-AFF5EAF969CB}"/>
                  </a:ext>
                </a:extLst>
              </p:cNvPr>
              <p:cNvCxnSpPr/>
              <p:nvPr/>
            </p:nvCxnSpPr>
            <p:spPr>
              <a:xfrm>
                <a:off x="881743" y="1959429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C920B1D3-54D6-46E5-A66C-9CEFD97510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195942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18D7F55E-51B2-41A5-8D2D-2CB09DED66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2438400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9A61341-B121-4708-B9C2-07F06DBFFC38}"/>
                </a:ext>
              </a:extLst>
            </p:cNvPr>
            <p:cNvSpPr txBox="1"/>
            <p:nvPr/>
          </p:nvSpPr>
          <p:spPr>
            <a:xfrm>
              <a:off x="1274745" y="4199208"/>
              <a:ext cx="322524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D9C87810-D054-434A-A7ED-3AB589B08B41}"/>
                </a:ext>
              </a:extLst>
            </p:cNvPr>
            <p:cNvSpPr txBox="1"/>
            <p:nvPr/>
          </p:nvSpPr>
          <p:spPr>
            <a:xfrm>
              <a:off x="2090326" y="4199208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6AEB0A8E-42B0-4EC1-A6D5-217B0AAF0484}"/>
                </a:ext>
              </a:extLst>
            </p:cNvPr>
            <p:cNvGrpSpPr/>
            <p:nvPr/>
          </p:nvGrpSpPr>
          <p:grpSpPr>
            <a:xfrm>
              <a:off x="2116927" y="4766914"/>
              <a:ext cx="1548838" cy="388310"/>
              <a:chOff x="781818" y="2322233"/>
              <a:chExt cx="1548838" cy="388310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58E7EB11-3678-4592-BA94-865C78B74BD9}"/>
                  </a:ext>
                </a:extLst>
              </p:cNvPr>
              <p:cNvSpPr txBox="1"/>
              <p:nvPr/>
            </p:nvSpPr>
            <p:spPr>
              <a:xfrm>
                <a:off x="911678" y="2347111"/>
                <a:ext cx="141897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Enqueue(f)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15EA84FD-5880-4923-B90B-8B98C75EE3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818" y="2322233"/>
                <a:ext cx="0" cy="38831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546F4E-F317-4528-8D1F-04EEAB0AF135}"/>
                </a:ext>
              </a:extLst>
            </p:cNvPr>
            <p:cNvGrpSpPr/>
            <p:nvPr/>
          </p:nvGrpSpPr>
          <p:grpSpPr>
            <a:xfrm>
              <a:off x="1975600" y="5270764"/>
              <a:ext cx="283028" cy="478971"/>
              <a:chOff x="881743" y="1959429"/>
              <a:chExt cx="283028" cy="478971"/>
            </a:xfrm>
          </p:grpSpPr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2A0BF3A6-CDFB-449F-AE3F-2470A7DC75AA}"/>
                  </a:ext>
                </a:extLst>
              </p:cNvPr>
              <p:cNvCxnSpPr/>
              <p:nvPr/>
            </p:nvCxnSpPr>
            <p:spPr>
              <a:xfrm>
                <a:off x="881743" y="1959429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39C0F6C4-1F90-4EB1-BFD4-6025C27434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195942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747539B8-A41C-445C-993F-2D77907455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2438400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BECA1CBF-E26A-4822-BD4D-C69DBEB37AE1}"/>
                </a:ext>
              </a:extLst>
            </p:cNvPr>
            <p:cNvSpPr txBox="1"/>
            <p:nvPr/>
          </p:nvSpPr>
          <p:spPr>
            <a:xfrm>
              <a:off x="2099337" y="5325583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6EC9E9A-3DC4-46F6-BEEA-AF7EBCF7DE9F}"/>
                </a:ext>
              </a:extLst>
            </p:cNvPr>
            <p:cNvSpPr txBox="1"/>
            <p:nvPr/>
          </p:nvSpPr>
          <p:spPr>
            <a:xfrm>
              <a:off x="2518347" y="5325583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0015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3DABD45-1903-467B-995E-7065C3F5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ourier New" panose="02070309020205020404" pitchFamily="49" charset="0"/>
              </a:rPr>
              <a:t>LIFO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dirty="0">
                <a:cs typeface="Courier New" panose="02070309020205020404" pitchFamily="49" charset="0"/>
              </a:rPr>
              <a:t>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5F6D022-EE8C-4F99-8315-FB8A32ADE073}"/>
                  </a:ext>
                </a:extLst>
              </p:cNvPr>
              <p:cNvSpPr txBox="1"/>
              <p:nvPr/>
            </p:nvSpPr>
            <p:spPr>
              <a:xfrm>
                <a:off x="628650" y="1635790"/>
                <a:ext cx="7886700" cy="140038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000" dirty="0"/>
                  <a:t>The </a:t>
                </a: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Queue</a:t>
                </a:r>
                <a:r>
                  <a:rPr lang="en-GB" sz="2000" dirty="0"/>
                  <a:t> ADT represents a collection of items to which we can add items and remove the next item.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Add(x)</a:t>
                </a:r>
                <a:r>
                  <a:rPr lang="en-GB" sz="2000" dirty="0"/>
                  <a:t>: add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to the queue.</a:t>
                </a:r>
              </a:p>
              <a:p>
                <a:pPr marL="180000" indent="-1800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Remove()</a:t>
                </a:r>
                <a:r>
                  <a:rPr lang="en-GB" sz="2000" dirty="0"/>
                  <a:t>: remove the next item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from queue, return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5F6D022-EE8C-4F99-8315-FB8A32ADE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35790"/>
                <a:ext cx="7886700" cy="1400383"/>
              </a:xfrm>
              <a:prstGeom prst="rect">
                <a:avLst/>
              </a:prstGeom>
              <a:blipFill>
                <a:blip r:embed="rId2"/>
                <a:stretch>
                  <a:fillRect l="-694" t="-2586" b="-68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30D098A9-8DF6-432E-A133-B616AE7304C0}"/>
              </a:ext>
            </a:extLst>
          </p:cNvPr>
          <p:cNvSpPr txBox="1"/>
          <p:nvPr/>
        </p:nvSpPr>
        <p:spPr>
          <a:xfrm>
            <a:off x="628650" y="3194136"/>
            <a:ext cx="70452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last-in-first-out (LIFO)</a:t>
            </a:r>
            <a:r>
              <a:rPr lang="en-GB" sz="2400" dirty="0"/>
              <a:t> queuing discipline:</a:t>
            </a:r>
            <a:br>
              <a:rPr lang="en-US" sz="2400" dirty="0"/>
            </a:br>
            <a:r>
              <a:rPr lang="en-US" sz="2400" dirty="0"/>
              <a:t>the most recently added item is the next one removed.</a:t>
            </a:r>
            <a:endParaRPr lang="en-GB" sz="2400" dirty="0"/>
          </a:p>
        </p:txBody>
      </p:sp>
      <p:pic>
        <p:nvPicPr>
          <p:cNvPr id="1026" name="Picture 2" descr="Image result for stack of chairs">
            <a:extLst>
              <a:ext uri="{FF2B5EF4-FFF2-40B4-BE49-F238E27FC236}">
                <a16:creationId xmlns:a16="http://schemas.microsoft.com/office/drawing/2014/main" id="{C3BEF3A1-AACE-4B80-A11C-27D613BC25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1" r="10296"/>
          <a:stretch/>
        </p:blipFill>
        <p:spPr bwMode="auto">
          <a:xfrm>
            <a:off x="6948651" y="4451109"/>
            <a:ext cx="1450521" cy="20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72CBE03-3035-487A-A18A-55F2299DB163}"/>
                  </a:ext>
                </a:extLst>
              </p:cNvPr>
              <p:cNvSpPr txBox="1"/>
              <p:nvPr/>
            </p:nvSpPr>
            <p:spPr>
              <a:xfrm>
                <a:off x="628649" y="4183096"/>
                <a:ext cx="5717721" cy="2015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Stack</a:t>
                </a:r>
                <a:r>
                  <a:rPr lang="en-GB" sz="2400" dirty="0"/>
                  <a:t> (LIFO 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Queue</a:t>
                </a:r>
                <a:r>
                  <a:rPr lang="en-GB" sz="2400" dirty="0"/>
                  <a:t>):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Add(x)</a:t>
                </a:r>
                <a:r>
                  <a:rPr lang="en-GB" sz="2400" dirty="0">
                    <a:cs typeface="Courier New" panose="02070309020205020404" pitchFamily="49" charset="0"/>
                  </a:rPr>
                  <a:t> or </a:t>
                </a:r>
                <a:r>
                  <a:rPr lang="en-GB" sz="24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Push(x)</a:t>
                </a:r>
                <a:r>
                  <a:rPr lang="en-GB" sz="2400" dirty="0"/>
                  <a:t>: </a:t>
                </a:r>
                <a:br>
                  <a:rPr lang="en-GB" sz="2400" dirty="0"/>
                </a:br>
                <a:r>
                  <a:rPr lang="en-GB" sz="2400" dirty="0"/>
                  <a:t>add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to the top of the stack.</a:t>
                </a:r>
              </a:p>
              <a:p>
                <a:pPr marL="180000" indent="-1800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Remove()</a:t>
                </a:r>
                <a:r>
                  <a:rPr lang="en-GB" sz="2400" dirty="0">
                    <a:cs typeface="Courier New" panose="02070309020205020404" pitchFamily="49" charset="0"/>
                  </a:rPr>
                  <a:t> or </a:t>
                </a:r>
                <a:r>
                  <a:rPr lang="en-GB" sz="24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Pop()</a:t>
                </a:r>
                <a:r>
                  <a:rPr lang="en-GB" sz="2400" dirty="0"/>
                  <a:t>: </a:t>
                </a:r>
                <a:br>
                  <a:rPr lang="en-GB" sz="2400" dirty="0"/>
                </a:br>
                <a:r>
                  <a:rPr lang="en-GB" sz="2400" dirty="0"/>
                  <a:t>remove the item at the top of the stack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72CBE03-3035-487A-A18A-55F2299DB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4183096"/>
                <a:ext cx="5717721" cy="2015936"/>
              </a:xfrm>
              <a:prstGeom prst="rect">
                <a:avLst/>
              </a:prstGeom>
              <a:blipFill>
                <a:blip r:embed="rId4"/>
                <a:stretch>
                  <a:fillRect l="-1599" t="-3021" b="-5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B03241A2-A631-4D99-B8AD-5D8C2F00D69D}"/>
              </a:ext>
            </a:extLst>
          </p:cNvPr>
          <p:cNvGrpSpPr/>
          <p:nvPr/>
        </p:nvGrpSpPr>
        <p:grpSpPr>
          <a:xfrm>
            <a:off x="7673911" y="4004304"/>
            <a:ext cx="1048685" cy="603717"/>
            <a:chOff x="7717197" y="3955022"/>
            <a:chExt cx="1048685" cy="603717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E1EBF7F-8881-4E74-AFEF-8BACBD41A707}"/>
                </a:ext>
              </a:extLst>
            </p:cNvPr>
            <p:cNvSpPr txBox="1"/>
            <p:nvPr/>
          </p:nvSpPr>
          <p:spPr>
            <a:xfrm>
              <a:off x="7717197" y="3955022"/>
              <a:ext cx="10486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Push(x)</a:t>
              </a:r>
              <a:endPara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B9665A6B-491E-4C75-91CA-0078726F83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367" y="4293576"/>
              <a:ext cx="174172" cy="265163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89DE44-0E10-407C-949A-61F4AC037A3C}"/>
              </a:ext>
            </a:extLst>
          </p:cNvPr>
          <p:cNvGrpSpPr/>
          <p:nvPr/>
        </p:nvGrpSpPr>
        <p:grpSpPr>
          <a:xfrm>
            <a:off x="6489916" y="4004304"/>
            <a:ext cx="801823" cy="560445"/>
            <a:chOff x="7717197" y="3955022"/>
            <a:chExt cx="801823" cy="56044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FC9733C-961D-4F97-BF65-E0076E76E038}"/>
                </a:ext>
              </a:extLst>
            </p:cNvPr>
            <p:cNvSpPr txBox="1"/>
            <p:nvPr/>
          </p:nvSpPr>
          <p:spPr>
            <a:xfrm>
              <a:off x="7717197" y="3955022"/>
              <a:ext cx="8018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Pop()</a:t>
              </a:r>
              <a:endPara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026083EB-D562-4E8F-8B89-4B1EFA6477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8108" y="4288187"/>
              <a:ext cx="225365" cy="22728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378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Image result for stack of chairs">
            <a:extLst>
              <a:ext uri="{FF2B5EF4-FFF2-40B4-BE49-F238E27FC236}">
                <a16:creationId xmlns:a16="http://schemas.microsoft.com/office/drawing/2014/main" id="{18EC95D1-C4A6-4826-B6D1-9EC4A322A1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1" r="10296"/>
          <a:stretch/>
        </p:blipFill>
        <p:spPr bwMode="auto">
          <a:xfrm>
            <a:off x="6519526" y="3990713"/>
            <a:ext cx="1450521" cy="204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7C35D3EF-8032-4100-AD7B-70CD814306C3}"/>
              </a:ext>
            </a:extLst>
          </p:cNvPr>
          <p:cNvGrpSpPr/>
          <p:nvPr/>
        </p:nvGrpSpPr>
        <p:grpSpPr>
          <a:xfrm>
            <a:off x="1742831" y="935730"/>
            <a:ext cx="2573558" cy="4986539"/>
            <a:chOff x="1742831" y="935730"/>
            <a:chExt cx="2573558" cy="4986539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5B7B02A9-DB22-4C59-A92B-E3F6BD09BECD}"/>
                </a:ext>
              </a:extLst>
            </p:cNvPr>
            <p:cNvGrpSpPr/>
            <p:nvPr/>
          </p:nvGrpSpPr>
          <p:grpSpPr>
            <a:xfrm>
              <a:off x="1742831" y="935730"/>
              <a:ext cx="283028" cy="478971"/>
              <a:chOff x="881743" y="1959429"/>
              <a:chExt cx="283028" cy="478971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A6A1A0C4-7B6D-4DC7-842A-6E5410C7017C}"/>
                  </a:ext>
                </a:extLst>
              </p:cNvPr>
              <p:cNvCxnSpPr/>
              <p:nvPr/>
            </p:nvCxnSpPr>
            <p:spPr>
              <a:xfrm>
                <a:off x="881743" y="1959429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6C5B4EC2-8DBB-402C-935C-4B24411347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195942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BAF68FF-B2AC-453C-AF08-77436BD923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2438400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500915C5-7B02-44B9-A9B5-ADA2C13FBEA2}"/>
                </a:ext>
              </a:extLst>
            </p:cNvPr>
            <p:cNvGrpSpPr/>
            <p:nvPr/>
          </p:nvGrpSpPr>
          <p:grpSpPr>
            <a:xfrm>
              <a:off x="1895999" y="1567274"/>
              <a:ext cx="931683" cy="388310"/>
              <a:chOff x="781818" y="2322233"/>
              <a:chExt cx="931683" cy="388310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92AA222-44A6-4BC7-B7DB-41FBBDB2ABE7}"/>
                  </a:ext>
                </a:extLst>
              </p:cNvPr>
              <p:cNvSpPr txBox="1"/>
              <p:nvPr/>
            </p:nvSpPr>
            <p:spPr>
              <a:xfrm>
                <a:off x="911678" y="2347111"/>
                <a:ext cx="80182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Pop()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D323CE90-8BF1-4C13-8751-A1155D3F2B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818" y="2322233"/>
                <a:ext cx="0" cy="38831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C3B6948B-F0FC-48B0-BF7A-0BC842E1C530}"/>
                </a:ext>
              </a:extLst>
            </p:cNvPr>
            <p:cNvGrpSpPr/>
            <p:nvPr/>
          </p:nvGrpSpPr>
          <p:grpSpPr>
            <a:xfrm>
              <a:off x="1754485" y="2087639"/>
              <a:ext cx="283028" cy="478971"/>
              <a:chOff x="881743" y="1959429"/>
              <a:chExt cx="283028" cy="478971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FBDA0FD7-92CE-4219-8615-4011AA54B53E}"/>
                  </a:ext>
                </a:extLst>
              </p:cNvPr>
              <p:cNvCxnSpPr/>
              <p:nvPr/>
            </p:nvCxnSpPr>
            <p:spPr>
              <a:xfrm>
                <a:off x="881743" y="1959429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5DA8523-352B-445B-852F-4634ED39F6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195942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9DBC115-237E-473E-BE8F-2CD385BDDF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2438400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EE999C3-BDAB-4B35-884D-E2FC6CD3B777}"/>
                </a:ext>
              </a:extLst>
            </p:cNvPr>
            <p:cNvSpPr txBox="1"/>
            <p:nvPr/>
          </p:nvSpPr>
          <p:spPr>
            <a:xfrm>
              <a:off x="1878222" y="2142458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6605AA62-65E1-4267-98D8-3F5519BF284A}"/>
                </a:ext>
              </a:extLst>
            </p:cNvPr>
            <p:cNvGrpSpPr/>
            <p:nvPr/>
          </p:nvGrpSpPr>
          <p:grpSpPr>
            <a:xfrm>
              <a:off x="1895999" y="2669477"/>
              <a:ext cx="1178545" cy="388310"/>
              <a:chOff x="781818" y="2322233"/>
              <a:chExt cx="1178545" cy="388310"/>
            </a:xfrm>
          </p:grpSpPr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C358FFF8-DC34-40D6-8586-E5D23E5636A2}"/>
                  </a:ext>
                </a:extLst>
              </p:cNvPr>
              <p:cNvSpPr txBox="1"/>
              <p:nvPr/>
            </p:nvSpPr>
            <p:spPr>
              <a:xfrm>
                <a:off x="911678" y="2347111"/>
                <a:ext cx="10486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Push(b)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01E0F65E-097F-43A7-9D35-A211DF62AA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818" y="2322233"/>
                <a:ext cx="0" cy="38831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BD3895E-B163-4E72-AFB3-BDD6CD7DC303}"/>
                </a:ext>
              </a:extLst>
            </p:cNvPr>
            <p:cNvGrpSpPr/>
            <p:nvPr/>
          </p:nvGrpSpPr>
          <p:grpSpPr>
            <a:xfrm>
              <a:off x="1754485" y="3185531"/>
              <a:ext cx="283028" cy="478971"/>
              <a:chOff x="881743" y="1959429"/>
              <a:chExt cx="283028" cy="478971"/>
            </a:xfrm>
          </p:grpSpPr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BC5C949-A241-4E24-8106-5D78FBEB4556}"/>
                  </a:ext>
                </a:extLst>
              </p:cNvPr>
              <p:cNvCxnSpPr/>
              <p:nvPr/>
            </p:nvCxnSpPr>
            <p:spPr>
              <a:xfrm>
                <a:off x="881743" y="1959429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B0C4F79F-7EEE-4C77-AD4C-23B202A7F2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195942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BE618FF2-13E0-4862-A687-A591E03048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2438400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40375F7-A524-4A6C-9BB8-815F51796D7E}"/>
                </a:ext>
              </a:extLst>
            </p:cNvPr>
            <p:cNvSpPr txBox="1"/>
            <p:nvPr/>
          </p:nvSpPr>
          <p:spPr>
            <a:xfrm>
              <a:off x="1878222" y="3240350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CDA33A4D-05B6-41E8-B9F9-832E7D8DC4D0}"/>
                </a:ext>
              </a:extLst>
            </p:cNvPr>
            <p:cNvSpPr txBox="1"/>
            <p:nvPr/>
          </p:nvSpPr>
          <p:spPr>
            <a:xfrm>
              <a:off x="2297232" y="3250411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2C2B165E-82C2-49FF-8EBD-76F68B139B21}"/>
                </a:ext>
              </a:extLst>
            </p:cNvPr>
            <p:cNvGrpSpPr/>
            <p:nvPr/>
          </p:nvGrpSpPr>
          <p:grpSpPr>
            <a:xfrm>
              <a:off x="1895999" y="3796558"/>
              <a:ext cx="1178545" cy="388310"/>
              <a:chOff x="781818" y="2322233"/>
              <a:chExt cx="1178545" cy="388310"/>
            </a:xfrm>
          </p:grpSpPr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EF925D1D-2504-41F4-B0EB-79BDE1307CAE}"/>
                  </a:ext>
                </a:extLst>
              </p:cNvPr>
              <p:cNvSpPr txBox="1"/>
              <p:nvPr/>
            </p:nvSpPr>
            <p:spPr>
              <a:xfrm>
                <a:off x="911678" y="2347111"/>
                <a:ext cx="10486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Push(k)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0BA871F7-0410-4061-9ACE-B8657F5A46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818" y="2322233"/>
                <a:ext cx="0" cy="38831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42D0D7A9-E856-41DA-BD11-A6DA7A037FCB}"/>
                </a:ext>
              </a:extLst>
            </p:cNvPr>
            <p:cNvGrpSpPr/>
            <p:nvPr/>
          </p:nvGrpSpPr>
          <p:grpSpPr>
            <a:xfrm>
              <a:off x="1754485" y="4316923"/>
              <a:ext cx="283028" cy="478971"/>
              <a:chOff x="881743" y="1959429"/>
              <a:chExt cx="283028" cy="478971"/>
            </a:xfrm>
          </p:grpSpPr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44D5AE0A-FF16-4E32-B8BB-AFF5EAF969CB}"/>
                  </a:ext>
                </a:extLst>
              </p:cNvPr>
              <p:cNvCxnSpPr/>
              <p:nvPr/>
            </p:nvCxnSpPr>
            <p:spPr>
              <a:xfrm>
                <a:off x="881743" y="1959429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C920B1D3-54D6-46E5-A66C-9CEFD97510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195942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18D7F55E-51B2-41A5-8D2D-2CB09DED66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2438400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D9C87810-D054-434A-A7ED-3AB589B08B41}"/>
                </a:ext>
              </a:extLst>
            </p:cNvPr>
            <p:cNvSpPr txBox="1"/>
            <p:nvPr/>
          </p:nvSpPr>
          <p:spPr>
            <a:xfrm>
              <a:off x="1872612" y="4371742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6AEB0A8E-42B0-4EC1-A6D5-217B0AAF0484}"/>
                </a:ext>
              </a:extLst>
            </p:cNvPr>
            <p:cNvGrpSpPr/>
            <p:nvPr/>
          </p:nvGrpSpPr>
          <p:grpSpPr>
            <a:xfrm>
              <a:off x="1899213" y="4939448"/>
              <a:ext cx="931683" cy="388310"/>
              <a:chOff x="781818" y="2322233"/>
              <a:chExt cx="931683" cy="388310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58E7EB11-3678-4592-BA94-865C78B74BD9}"/>
                  </a:ext>
                </a:extLst>
              </p:cNvPr>
              <p:cNvSpPr txBox="1"/>
              <p:nvPr/>
            </p:nvSpPr>
            <p:spPr>
              <a:xfrm>
                <a:off x="911678" y="2347111"/>
                <a:ext cx="80182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Pop()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15EA84FD-5880-4923-B90B-8B98C75EE3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818" y="2322233"/>
                <a:ext cx="0" cy="38831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F546F4E-F317-4528-8D1F-04EEAB0AF135}"/>
                </a:ext>
              </a:extLst>
            </p:cNvPr>
            <p:cNvGrpSpPr/>
            <p:nvPr/>
          </p:nvGrpSpPr>
          <p:grpSpPr>
            <a:xfrm>
              <a:off x="1757886" y="5443298"/>
              <a:ext cx="283028" cy="478971"/>
              <a:chOff x="881743" y="1959429"/>
              <a:chExt cx="283028" cy="478971"/>
            </a:xfrm>
          </p:grpSpPr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2A0BF3A6-CDFB-449F-AE3F-2470A7DC75AA}"/>
                  </a:ext>
                </a:extLst>
              </p:cNvPr>
              <p:cNvCxnSpPr/>
              <p:nvPr/>
            </p:nvCxnSpPr>
            <p:spPr>
              <a:xfrm>
                <a:off x="881743" y="1959429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39C0F6C4-1F90-4EB1-BFD4-6025C27434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195942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747539B8-A41C-445C-993F-2D77907455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743" y="2438400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BECA1CBF-E26A-4822-BD4D-C69DBEB37AE1}"/>
                </a:ext>
              </a:extLst>
            </p:cNvPr>
            <p:cNvSpPr txBox="1"/>
            <p:nvPr/>
          </p:nvSpPr>
          <p:spPr>
            <a:xfrm>
              <a:off x="1881623" y="5498117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6EC9E9A-3DC4-46F6-BEEA-AF7EBCF7DE9F}"/>
                </a:ext>
              </a:extLst>
            </p:cNvPr>
            <p:cNvSpPr txBox="1"/>
            <p:nvPr/>
          </p:nvSpPr>
          <p:spPr>
            <a:xfrm>
              <a:off x="2300633" y="5498117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2295DF80-6A97-4189-8426-C7BF11CFD910}"/>
                </a:ext>
              </a:extLst>
            </p:cNvPr>
            <p:cNvSpPr txBox="1"/>
            <p:nvPr/>
          </p:nvSpPr>
          <p:spPr>
            <a:xfrm>
              <a:off x="1895999" y="988345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44F4D6CC-5820-4265-9AAE-EE34DECD5444}"/>
                </a:ext>
              </a:extLst>
            </p:cNvPr>
            <p:cNvSpPr txBox="1"/>
            <p:nvPr/>
          </p:nvSpPr>
          <p:spPr>
            <a:xfrm>
              <a:off x="2297232" y="988345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14F3C33-998E-41B1-8913-B74F88F6B8AD}"/>
                </a:ext>
              </a:extLst>
            </p:cNvPr>
            <p:cNvSpPr txBox="1"/>
            <p:nvPr/>
          </p:nvSpPr>
          <p:spPr>
            <a:xfrm>
              <a:off x="2698465" y="990453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1C148F36-3D01-4518-A733-61D28B8FF517}"/>
                </a:ext>
              </a:extLst>
            </p:cNvPr>
            <p:cNvSpPr txBox="1"/>
            <p:nvPr/>
          </p:nvSpPr>
          <p:spPr>
            <a:xfrm>
              <a:off x="2297232" y="2146204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B3B40F03-1B32-4908-87C1-914CAEB76DB3}"/>
                </a:ext>
              </a:extLst>
            </p:cNvPr>
            <p:cNvSpPr txBox="1"/>
            <p:nvPr/>
          </p:nvSpPr>
          <p:spPr>
            <a:xfrm>
              <a:off x="3993865" y="2143965"/>
              <a:ext cx="322524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E0D50ED6-4275-4D07-B6F1-FDE7999A711D}"/>
                </a:ext>
              </a:extLst>
            </p:cNvPr>
            <p:cNvSpPr txBox="1"/>
            <p:nvPr/>
          </p:nvSpPr>
          <p:spPr>
            <a:xfrm>
              <a:off x="2719691" y="3240350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2466648-8290-474A-A1F3-EE69BF297E60}"/>
                </a:ext>
              </a:extLst>
            </p:cNvPr>
            <p:cNvSpPr txBox="1"/>
            <p:nvPr/>
          </p:nvSpPr>
          <p:spPr>
            <a:xfrm>
              <a:off x="2297232" y="4371742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A930A252-8227-4AC1-9B5A-169AEDAEFDD8}"/>
                </a:ext>
              </a:extLst>
            </p:cNvPr>
            <p:cNvSpPr txBox="1"/>
            <p:nvPr/>
          </p:nvSpPr>
          <p:spPr>
            <a:xfrm>
              <a:off x="2719691" y="4367479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9E0D2515-A8C5-43B9-8D44-3C09D3D96A62}"/>
                </a:ext>
              </a:extLst>
            </p:cNvPr>
            <p:cNvSpPr txBox="1"/>
            <p:nvPr/>
          </p:nvSpPr>
          <p:spPr>
            <a:xfrm>
              <a:off x="3142150" y="4367479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k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81AF6F94-7C59-4B6A-AB6D-BE492EC40C55}"/>
                </a:ext>
              </a:extLst>
            </p:cNvPr>
            <p:cNvSpPr txBox="1"/>
            <p:nvPr/>
          </p:nvSpPr>
          <p:spPr>
            <a:xfrm>
              <a:off x="2719691" y="5498117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C5411F94-F3B0-46F8-823B-A0E3843EEF61}"/>
                </a:ext>
              </a:extLst>
            </p:cNvPr>
            <p:cNvSpPr txBox="1"/>
            <p:nvPr/>
          </p:nvSpPr>
          <p:spPr>
            <a:xfrm>
              <a:off x="3993865" y="5498117"/>
              <a:ext cx="322524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k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5547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3DABD45-1903-467B-995E-7065C3F5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ourier New" panose="02070309020205020404" pitchFamily="49" charset="0"/>
              </a:rPr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dirty="0">
                <a:cs typeface="Courier New" panose="02070309020205020404" pitchFamily="49" charset="0"/>
              </a:rPr>
              <a:t> ADT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A430DA-A53F-4FF7-A62D-5884902F941D}"/>
              </a:ext>
            </a:extLst>
          </p:cNvPr>
          <p:cNvSpPr txBox="1"/>
          <p:nvPr/>
        </p:nvSpPr>
        <p:spPr>
          <a:xfrm>
            <a:off x="628650" y="1690689"/>
            <a:ext cx="7886700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/>
              <a:t>The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sz="2400" dirty="0"/>
              <a:t> (double-ended queue) ADT represents a sequence of items with a front and a back.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AddFirst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AddLast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RemoveFirst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RemoveLast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/>
              <a:t>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AFCF63-F209-425D-A92B-6F1BD79BA590}"/>
              </a:ext>
            </a:extLst>
          </p:cNvPr>
          <p:cNvSpPr txBox="1"/>
          <p:nvPr/>
        </p:nvSpPr>
        <p:spPr>
          <a:xfrm>
            <a:off x="628650" y="4190122"/>
            <a:ext cx="788670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sz="2400" dirty="0"/>
              <a:t> can implement FIFO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sz="2400" dirty="0"/>
              <a:t>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Enqueue(x)=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AddLast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sz="2000" dirty="0">
                <a:cs typeface="Courier New" panose="02070309020205020404" pitchFamily="49" charset="0"/>
              </a:rPr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Dequeue()=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RemoveFirst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cs typeface="Courier New" panose="02070309020205020404" pitchFamily="49" charset="0"/>
              </a:rPr>
              <a:t>.</a:t>
            </a:r>
            <a:endParaRPr 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7FDBE4-D57B-4D92-999F-73ECD7CC9F4B}"/>
              </a:ext>
            </a:extLst>
          </p:cNvPr>
          <p:cNvSpPr txBox="1"/>
          <p:nvPr/>
        </p:nvSpPr>
        <p:spPr>
          <a:xfrm>
            <a:off x="628650" y="5167311"/>
            <a:ext cx="788670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sz="2400" dirty="0"/>
              <a:t> can implement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GB" sz="2400" dirty="0"/>
              <a:t> (LIFO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sz="2400" dirty="0"/>
              <a:t>):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Push(x)=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AddLast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sz="2000" dirty="0">
                <a:cs typeface="Courier New" panose="02070309020205020404" pitchFamily="49" charset="0"/>
              </a:rPr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Pop()=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RemoveLast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cs typeface="Courier New" panose="02070309020205020404" pitchFamily="49" charset="0"/>
              </a:rPr>
              <a:t>.</a:t>
            </a:r>
            <a:endParaRPr lang="en-US" sz="2000" dirty="0"/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42C59C4-5325-4BE8-B2D7-83D85A0EA9B9}"/>
              </a:ext>
            </a:extLst>
          </p:cNvPr>
          <p:cNvGrpSpPr/>
          <p:nvPr/>
        </p:nvGrpSpPr>
        <p:grpSpPr>
          <a:xfrm>
            <a:off x="317491" y="3120104"/>
            <a:ext cx="8509018" cy="831491"/>
            <a:chOff x="253195" y="3196490"/>
            <a:chExt cx="8509018" cy="831491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A9E7F706-A707-4CA2-95E8-1BB19A08ADE3}"/>
                </a:ext>
              </a:extLst>
            </p:cNvPr>
            <p:cNvGrpSpPr/>
            <p:nvPr/>
          </p:nvGrpSpPr>
          <p:grpSpPr>
            <a:xfrm>
              <a:off x="2560855" y="3429000"/>
              <a:ext cx="4022290" cy="380657"/>
              <a:chOff x="1945822" y="3417675"/>
              <a:chExt cx="4022290" cy="380657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2DE768F-9AA4-478D-BD28-6DD36BA1FF7C}"/>
                  </a:ext>
                </a:extLst>
              </p:cNvPr>
              <p:cNvSpPr txBox="1"/>
              <p:nvPr/>
            </p:nvSpPr>
            <p:spPr>
              <a:xfrm>
                <a:off x="1945822" y="3429000"/>
                <a:ext cx="29527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</a:t>
                </a:r>
                <a:endParaRPr lang="en-US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2CA6DB5-82E6-48E5-B1A0-D1C403BF6B5A}"/>
                  </a:ext>
                </a:extLst>
              </p:cNvPr>
              <p:cNvSpPr txBox="1"/>
              <p:nvPr/>
            </p:nvSpPr>
            <p:spPr>
              <a:xfrm>
                <a:off x="2574472" y="3429000"/>
                <a:ext cx="28245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c</a:t>
                </a:r>
                <a:endParaRPr lang="en-US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C5C6EEB-9049-4D54-89D5-36D7A25B09F3}"/>
                  </a:ext>
                </a:extLst>
              </p:cNvPr>
              <p:cNvSpPr txBox="1"/>
              <p:nvPr/>
            </p:nvSpPr>
            <p:spPr>
              <a:xfrm>
                <a:off x="3183886" y="3429000"/>
                <a:ext cx="30649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b</a:t>
                </a:r>
                <a:endParaRPr lang="en-US" dirty="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6FD074B-4E31-4A7F-9899-E3EA16697AA6}"/>
                  </a:ext>
                </a:extLst>
              </p:cNvPr>
              <p:cNvSpPr txBox="1"/>
              <p:nvPr/>
            </p:nvSpPr>
            <p:spPr>
              <a:xfrm>
                <a:off x="3817344" y="3429000"/>
                <a:ext cx="30649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d</a:t>
                </a:r>
                <a:endParaRPr lang="en-US" dirty="0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FD3E39D-6469-47EF-8CAD-B70B53704A80}"/>
                  </a:ext>
                </a:extLst>
              </p:cNvPr>
              <p:cNvSpPr txBox="1"/>
              <p:nvPr/>
            </p:nvSpPr>
            <p:spPr>
              <a:xfrm>
                <a:off x="4445994" y="3429000"/>
                <a:ext cx="288862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k</a:t>
                </a:r>
                <a:endParaRPr 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98871FC-AEF4-401A-932F-C07C39C15215}"/>
                  </a:ext>
                </a:extLst>
              </p:cNvPr>
              <p:cNvSpPr txBox="1"/>
              <p:nvPr/>
            </p:nvSpPr>
            <p:spPr>
              <a:xfrm>
                <a:off x="5029761" y="341767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…</a:t>
                </a:r>
                <a:endParaRPr 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1FB535E-3131-46D1-9D7C-4836243AE1B9}"/>
                  </a:ext>
                </a:extLst>
              </p:cNvPr>
              <p:cNvSpPr txBox="1"/>
              <p:nvPr/>
            </p:nvSpPr>
            <p:spPr>
              <a:xfrm>
                <a:off x="5668030" y="3429000"/>
                <a:ext cx="300082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e</a:t>
                </a:r>
                <a:endParaRPr lang="en-US" dirty="0"/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1AE1A133-29ED-4254-820A-BE95FCAF488F}"/>
                </a:ext>
              </a:extLst>
            </p:cNvPr>
            <p:cNvGrpSpPr/>
            <p:nvPr/>
          </p:nvGrpSpPr>
          <p:grpSpPr>
            <a:xfrm>
              <a:off x="6773670" y="3196490"/>
              <a:ext cx="1741680" cy="338554"/>
              <a:chOff x="7162800" y="3943108"/>
              <a:chExt cx="1741680" cy="338554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4430C39-0739-4185-A3FD-0A67F30BB844}"/>
                  </a:ext>
                </a:extLst>
              </p:cNvPr>
              <p:cNvSpPr txBox="1"/>
              <p:nvPr/>
            </p:nvSpPr>
            <p:spPr>
              <a:xfrm>
                <a:off x="7485502" y="3943108"/>
                <a:ext cx="141897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AddLast</a:t>
                </a:r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F27D1FA6-072F-417D-A7E4-69BA7AA5AB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62800" y="4112385"/>
                <a:ext cx="322702" cy="169277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4E6F0874-169C-4B30-A4B0-85AFE44AB79E}"/>
                </a:ext>
              </a:extLst>
            </p:cNvPr>
            <p:cNvGrpSpPr/>
            <p:nvPr/>
          </p:nvGrpSpPr>
          <p:grpSpPr>
            <a:xfrm>
              <a:off x="6773670" y="3689427"/>
              <a:ext cx="1988543" cy="338554"/>
              <a:chOff x="7162800" y="3943108"/>
              <a:chExt cx="1988543" cy="338554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75491BE-3BAA-42EA-A89B-358281CEB162}"/>
                  </a:ext>
                </a:extLst>
              </p:cNvPr>
              <p:cNvSpPr txBox="1"/>
              <p:nvPr/>
            </p:nvSpPr>
            <p:spPr>
              <a:xfrm>
                <a:off x="7485502" y="3943108"/>
                <a:ext cx="16658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RemoveLast</a:t>
                </a:r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5BD342D8-7646-45F5-857A-F5E44F4FBF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162800" y="3954433"/>
                <a:ext cx="322702" cy="157954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FAB4D916-0C9B-4043-8410-CF56EE86B096}"/>
                </a:ext>
              </a:extLst>
            </p:cNvPr>
            <p:cNvGrpSpPr/>
            <p:nvPr/>
          </p:nvGrpSpPr>
          <p:grpSpPr>
            <a:xfrm>
              <a:off x="492109" y="3196490"/>
              <a:ext cx="1874377" cy="338554"/>
              <a:chOff x="7418658" y="3943478"/>
              <a:chExt cx="1874377" cy="338554"/>
            </a:xfrm>
          </p:grpSpPr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B162B226-EB8C-4325-B8E6-82237649B37C}"/>
                  </a:ext>
                </a:extLst>
              </p:cNvPr>
              <p:cNvSpPr txBox="1"/>
              <p:nvPr/>
            </p:nvSpPr>
            <p:spPr>
              <a:xfrm>
                <a:off x="7418658" y="3943478"/>
                <a:ext cx="154241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6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AddFirst</a:t>
                </a:r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2149B0FA-CCEA-4935-AA06-12719B67FBB4}"/>
                  </a:ext>
                </a:extLst>
              </p:cNvPr>
              <p:cNvCxnSpPr>
                <a:cxnSpLocks/>
                <a:stCxn id="43" idx="3"/>
              </p:cNvCxnSpPr>
              <p:nvPr/>
            </p:nvCxnSpPr>
            <p:spPr>
              <a:xfrm>
                <a:off x="8961068" y="4112755"/>
                <a:ext cx="331967" cy="169277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CB9B9ACB-516D-47A2-AC83-196A5728DB66}"/>
                </a:ext>
              </a:extLst>
            </p:cNvPr>
            <p:cNvGrpSpPr/>
            <p:nvPr/>
          </p:nvGrpSpPr>
          <p:grpSpPr>
            <a:xfrm>
              <a:off x="253195" y="3685860"/>
              <a:ext cx="2121239" cy="338554"/>
              <a:chOff x="7171796" y="3943478"/>
              <a:chExt cx="2121239" cy="338554"/>
            </a:xfrm>
          </p:grpSpPr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2B73223C-1054-4821-81DE-1CE8B06D3C82}"/>
                  </a:ext>
                </a:extLst>
              </p:cNvPr>
              <p:cNvSpPr txBox="1"/>
              <p:nvPr/>
            </p:nvSpPr>
            <p:spPr>
              <a:xfrm>
                <a:off x="7171796" y="3943478"/>
                <a:ext cx="17892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6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RemoveFirst</a:t>
                </a:r>
                <a:r>
                  <a:rPr lang="en-GB" sz="16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endParaRPr lang="en-US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E85566A2-5E3F-4F21-B94E-FD3C6BCA681A}"/>
                  </a:ext>
                </a:extLst>
              </p:cNvPr>
              <p:cNvCxnSpPr>
                <a:cxnSpLocks/>
                <a:stCxn id="51" idx="3"/>
              </p:cNvCxnSpPr>
              <p:nvPr/>
            </p:nvCxnSpPr>
            <p:spPr>
              <a:xfrm flipV="1">
                <a:off x="8961068" y="3961939"/>
                <a:ext cx="331967" cy="150816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1067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CDE4E-5EB4-4E28-A700-F75F63BA7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dirty="0"/>
              <a:t> ADT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0F0C43E-F596-4CDD-B316-F86833D53B8C}"/>
                  </a:ext>
                </a:extLst>
              </p:cNvPr>
              <p:cNvSpPr txBox="1"/>
              <p:nvPr/>
            </p:nvSpPr>
            <p:spPr>
              <a:xfrm>
                <a:off x="628650" y="2886014"/>
                <a:ext cx="7180235" cy="30348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A 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List</a:t>
                </a:r>
                <a:r>
                  <a:rPr lang="en-GB" sz="2400" dirty="0"/>
                  <a:t> is a sequence of items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GB" sz="2400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List</a:t>
                </a:r>
                <a:r>
                  <a:rPr lang="en-US" sz="2400" dirty="0"/>
                  <a:t> interface supports the following operations:</a:t>
                </a:r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Size()</a:t>
                </a:r>
                <a:r>
                  <a:rPr lang="en-US" sz="2000" dirty="0"/>
                  <a:t>: return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the length of the list</a:t>
                </a:r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Get(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000" dirty="0"/>
                  <a:t>: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Set(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000" dirty="0"/>
                  <a:t>: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 dirty="0"/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000" dirty="0"/>
                  <a:t>: </a:t>
                </a:r>
                <a:br>
                  <a:rPr lang="en-US" sz="2000" dirty="0"/>
                </a:br>
                <a:r>
                  <a:rPr lang="en-US" sz="2000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,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, increase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by 1</a:t>
                </a:r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2000" dirty="0"/>
                  <a:t>: </a:t>
                </a:r>
                <a:br>
                  <a:rPr lang="en-US" sz="2000" dirty="0"/>
                </a:br>
                <a:r>
                  <a:rPr lang="en-US" sz="2000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, decrease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by 1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0F0C43E-F596-4CDD-B316-F86833D53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886014"/>
                <a:ext cx="7180235" cy="3034805"/>
              </a:xfrm>
              <a:prstGeom prst="rect">
                <a:avLst/>
              </a:prstGeom>
              <a:blipFill>
                <a:blip r:embed="rId2"/>
                <a:stretch>
                  <a:fillRect l="-1104" t="-2008" r="-255" b="-2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50692C5B-D513-4BD8-BDA5-BF207CCCA2E9}"/>
              </a:ext>
            </a:extLst>
          </p:cNvPr>
          <p:cNvGrpSpPr/>
          <p:nvPr/>
        </p:nvGrpSpPr>
        <p:grpSpPr>
          <a:xfrm>
            <a:off x="2523601" y="1690689"/>
            <a:ext cx="4096798" cy="738664"/>
            <a:chOff x="628650" y="1690689"/>
            <a:chExt cx="4096798" cy="738664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F7322D6-C4E3-4187-A8FD-AA9AD964D1F1}"/>
                </a:ext>
              </a:extLst>
            </p:cNvPr>
            <p:cNvGrpSpPr/>
            <p:nvPr/>
          </p:nvGrpSpPr>
          <p:grpSpPr>
            <a:xfrm>
              <a:off x="628650" y="1690689"/>
              <a:ext cx="301686" cy="738664"/>
              <a:chOff x="628650" y="1646618"/>
              <a:chExt cx="301686" cy="738664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3B043BC-E275-4A3B-9771-3EA7EE4D905C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29527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</a:t>
                </a:r>
                <a:endParaRPr lang="en-US" dirty="0"/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723580A-1598-4500-A774-83841173CDF1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1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6D25FFA-B311-4C5E-89B5-3A8F7348535A}"/>
                </a:ext>
              </a:extLst>
            </p:cNvPr>
            <p:cNvGrpSpPr/>
            <p:nvPr/>
          </p:nvGrpSpPr>
          <p:grpSpPr>
            <a:xfrm>
              <a:off x="1257300" y="1690689"/>
              <a:ext cx="301686" cy="738664"/>
              <a:chOff x="628650" y="1646618"/>
              <a:chExt cx="301686" cy="738664"/>
            </a:xfrm>
          </p:grpSpPr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F635E04-448B-4676-93F8-E20ABF1412BA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28245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c</a:t>
                </a:r>
                <a:endParaRPr lang="en-US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40B3E0-F68F-4AB0-85F1-5C34CD93142C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2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B7163FA-C6A4-40E1-90B5-FFA1AA86A67E}"/>
                </a:ext>
              </a:extLst>
            </p:cNvPr>
            <p:cNvGrpSpPr/>
            <p:nvPr/>
          </p:nvGrpSpPr>
          <p:grpSpPr>
            <a:xfrm>
              <a:off x="1866714" y="1690689"/>
              <a:ext cx="306494" cy="738664"/>
              <a:chOff x="628650" y="1646618"/>
              <a:chExt cx="306494" cy="738664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4BAE398-EA88-459E-A430-15FADA8D1617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30649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b</a:t>
                </a:r>
                <a:endParaRPr lang="en-US" dirty="0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BC41F1B-BA39-401C-AE9E-0B9D087B2B5E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3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5F6452F-A9FF-4CE2-96BC-8C2BF49B08CD}"/>
                </a:ext>
              </a:extLst>
            </p:cNvPr>
            <p:cNvGrpSpPr/>
            <p:nvPr/>
          </p:nvGrpSpPr>
          <p:grpSpPr>
            <a:xfrm>
              <a:off x="2500172" y="1690689"/>
              <a:ext cx="306494" cy="738664"/>
              <a:chOff x="628650" y="1646618"/>
              <a:chExt cx="306494" cy="73866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3A8D774-C1C6-495E-B4CE-9EEDBA4466E8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30649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d</a:t>
                </a:r>
                <a:endParaRPr 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203B844-A294-4745-B8E6-D0488FD63857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4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C5F8A384-AE89-4E97-996E-3AF81E877D94}"/>
                </a:ext>
              </a:extLst>
            </p:cNvPr>
            <p:cNvGrpSpPr/>
            <p:nvPr/>
          </p:nvGrpSpPr>
          <p:grpSpPr>
            <a:xfrm>
              <a:off x="3128822" y="1690689"/>
              <a:ext cx="301686" cy="738664"/>
              <a:chOff x="628650" y="1646618"/>
              <a:chExt cx="301686" cy="738664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C8843DA-4E9E-4854-9B6D-15A232975DF7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288862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k</a:t>
                </a:r>
                <a:endParaRPr lang="en-US" dirty="0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E69E61E-EEBF-4A49-9855-4CDA5B59D4F5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5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F58BAF4-DF58-4BAB-8156-E3126DB821F6}"/>
                </a:ext>
              </a:extLst>
            </p:cNvPr>
            <p:cNvGrpSpPr/>
            <p:nvPr/>
          </p:nvGrpSpPr>
          <p:grpSpPr>
            <a:xfrm>
              <a:off x="3739840" y="1690689"/>
              <a:ext cx="343364" cy="738664"/>
              <a:chOff x="628650" y="1646618"/>
              <a:chExt cx="343364" cy="738664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A363D3B-AB9C-4CB8-8A8A-D3A939A9759E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…</a:t>
                </a:r>
                <a:endParaRPr lang="en-US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503864F-7300-4759-9F47-69975B2FDA36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…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A9DD5FC6-12BD-4DEB-A96D-18390FD7A0FF}"/>
                </a:ext>
              </a:extLst>
            </p:cNvPr>
            <p:cNvGrpSpPr/>
            <p:nvPr/>
          </p:nvGrpSpPr>
          <p:grpSpPr>
            <a:xfrm>
              <a:off x="4350858" y="1690689"/>
              <a:ext cx="374590" cy="738664"/>
              <a:chOff x="628650" y="1646618"/>
              <a:chExt cx="374590" cy="738664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8DD28C4-B9C4-485F-94DC-C1945E9516CF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300082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e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79CF2E53-57AC-489F-882E-E62195A8CF20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50" y="1646618"/>
                    <a:ext cx="37459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79CF2E53-57AC-489F-882E-E62195A8C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1646618"/>
                    <a:ext cx="37459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51441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CDE4E-5EB4-4E28-A700-F75F63BA7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dirty="0"/>
              <a:t> ADT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0F0C43E-F596-4CDD-B316-F86833D53B8C}"/>
                  </a:ext>
                </a:extLst>
              </p:cNvPr>
              <p:cNvSpPr txBox="1"/>
              <p:nvPr/>
            </p:nvSpPr>
            <p:spPr>
              <a:xfrm>
                <a:off x="628650" y="2295009"/>
                <a:ext cx="8155118" cy="35225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List</a:t>
                </a:r>
                <a:r>
                  <a:rPr lang="en-US" sz="2400" dirty="0"/>
                  <a:t> interface supports the following operations:</a:t>
                </a:r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Size()</a:t>
                </a:r>
                <a:r>
                  <a:rPr lang="en-US" dirty="0"/>
                  <a:t>: return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 length of the list</a:t>
                </a:r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Get(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/>
                  <a:t>: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Set(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/>
                  <a:t>: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Add(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increase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/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decrease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  <a:p>
                <a:pPr marL="180000" indent="-18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List</a:t>
                </a:r>
                <a:r>
                  <a:rPr lang="en-US" sz="2400" dirty="0"/>
                  <a:t> can implement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Deque</a:t>
                </a:r>
                <a:r>
                  <a:rPr lang="en-US" sz="2400" dirty="0"/>
                  <a:t>:</a:t>
                </a:r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AddFirst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(x)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Add(1,x)</a:t>
                </a:r>
                <a:r>
                  <a:rPr lang="en-US" dirty="0"/>
                  <a:t>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AddLast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(x)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Add(Size()+1,x)</a:t>
                </a:r>
                <a:r>
                  <a:rPr lang="en-US" dirty="0"/>
                  <a:t> </a:t>
                </a:r>
              </a:p>
              <a:p>
                <a:pPr marL="637200" lvl="1" indent="-18000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RemoveFirst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Remove(1)</a:t>
                </a:r>
                <a:r>
                  <a:rPr lang="en-US" dirty="0"/>
                  <a:t>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RemoveLast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Remove(Size())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0F0C43E-F596-4CDD-B316-F86833D53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295009"/>
                <a:ext cx="8155118" cy="3522503"/>
              </a:xfrm>
              <a:prstGeom prst="rect">
                <a:avLst/>
              </a:prstGeom>
              <a:blipFill>
                <a:blip r:embed="rId2"/>
                <a:stretch>
                  <a:fillRect l="-972" t="-1730" b="-1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50692C5B-D513-4BD8-BDA5-BF207CCCA2E9}"/>
              </a:ext>
            </a:extLst>
          </p:cNvPr>
          <p:cNvGrpSpPr/>
          <p:nvPr/>
        </p:nvGrpSpPr>
        <p:grpSpPr>
          <a:xfrm>
            <a:off x="2523601" y="1357599"/>
            <a:ext cx="4096798" cy="738664"/>
            <a:chOff x="628650" y="1690689"/>
            <a:chExt cx="4096798" cy="738664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F7322D6-C4E3-4187-A8FD-AA9AD964D1F1}"/>
                </a:ext>
              </a:extLst>
            </p:cNvPr>
            <p:cNvGrpSpPr/>
            <p:nvPr/>
          </p:nvGrpSpPr>
          <p:grpSpPr>
            <a:xfrm>
              <a:off x="628650" y="1690689"/>
              <a:ext cx="301686" cy="738664"/>
              <a:chOff x="628650" y="1646618"/>
              <a:chExt cx="301686" cy="738664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3B043BC-E275-4A3B-9771-3EA7EE4D905C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29527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</a:t>
                </a:r>
                <a:endParaRPr lang="en-US" dirty="0"/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723580A-1598-4500-A774-83841173CDF1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1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6D25FFA-B311-4C5E-89B5-3A8F7348535A}"/>
                </a:ext>
              </a:extLst>
            </p:cNvPr>
            <p:cNvGrpSpPr/>
            <p:nvPr/>
          </p:nvGrpSpPr>
          <p:grpSpPr>
            <a:xfrm>
              <a:off x="1257300" y="1690689"/>
              <a:ext cx="301686" cy="738664"/>
              <a:chOff x="628650" y="1646618"/>
              <a:chExt cx="301686" cy="738664"/>
            </a:xfrm>
          </p:grpSpPr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F635E04-448B-4676-93F8-E20ABF1412BA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28245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c</a:t>
                </a:r>
                <a:endParaRPr lang="en-US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40B3E0-F68F-4AB0-85F1-5C34CD93142C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2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B7163FA-C6A4-40E1-90B5-FFA1AA86A67E}"/>
                </a:ext>
              </a:extLst>
            </p:cNvPr>
            <p:cNvGrpSpPr/>
            <p:nvPr/>
          </p:nvGrpSpPr>
          <p:grpSpPr>
            <a:xfrm>
              <a:off x="1866714" y="1690689"/>
              <a:ext cx="306494" cy="738664"/>
              <a:chOff x="628650" y="1646618"/>
              <a:chExt cx="306494" cy="738664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4BAE398-EA88-459E-A430-15FADA8D1617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30649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b</a:t>
                </a:r>
                <a:endParaRPr lang="en-US" dirty="0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BC41F1B-BA39-401C-AE9E-0B9D087B2B5E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3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5F6452F-A9FF-4CE2-96BC-8C2BF49B08CD}"/>
                </a:ext>
              </a:extLst>
            </p:cNvPr>
            <p:cNvGrpSpPr/>
            <p:nvPr/>
          </p:nvGrpSpPr>
          <p:grpSpPr>
            <a:xfrm>
              <a:off x="2500172" y="1690689"/>
              <a:ext cx="306494" cy="738664"/>
              <a:chOff x="628650" y="1646618"/>
              <a:chExt cx="306494" cy="73866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3A8D774-C1C6-495E-B4CE-9EEDBA4466E8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30649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d</a:t>
                </a:r>
                <a:endParaRPr 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203B844-A294-4745-B8E6-D0488FD63857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4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C5F8A384-AE89-4E97-996E-3AF81E877D94}"/>
                </a:ext>
              </a:extLst>
            </p:cNvPr>
            <p:cNvGrpSpPr/>
            <p:nvPr/>
          </p:nvGrpSpPr>
          <p:grpSpPr>
            <a:xfrm>
              <a:off x="3128822" y="1690689"/>
              <a:ext cx="301686" cy="738664"/>
              <a:chOff x="628650" y="1646618"/>
              <a:chExt cx="301686" cy="738664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C8843DA-4E9E-4854-9B6D-15A232975DF7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288862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k</a:t>
                </a:r>
                <a:endParaRPr lang="en-US" dirty="0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E69E61E-EEBF-4A49-9855-4CDA5B59D4F5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5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F58BAF4-DF58-4BAB-8156-E3126DB821F6}"/>
                </a:ext>
              </a:extLst>
            </p:cNvPr>
            <p:cNvGrpSpPr/>
            <p:nvPr/>
          </p:nvGrpSpPr>
          <p:grpSpPr>
            <a:xfrm>
              <a:off x="3739840" y="1690689"/>
              <a:ext cx="343364" cy="738664"/>
              <a:chOff x="628650" y="1646618"/>
              <a:chExt cx="343364" cy="738664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A363D3B-AB9C-4CB8-8A8A-D3A939A9759E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…</a:t>
                </a:r>
                <a:endParaRPr lang="en-US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503864F-7300-4759-9F47-69975B2FDA36}"/>
                  </a:ext>
                </a:extLst>
              </p:cNvPr>
              <p:cNvSpPr txBox="1"/>
              <p:nvPr/>
            </p:nvSpPr>
            <p:spPr>
              <a:xfrm>
                <a:off x="628650" y="1646618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…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A9DD5FC6-12BD-4DEB-A96D-18390FD7A0FF}"/>
                </a:ext>
              </a:extLst>
            </p:cNvPr>
            <p:cNvGrpSpPr/>
            <p:nvPr/>
          </p:nvGrpSpPr>
          <p:grpSpPr>
            <a:xfrm>
              <a:off x="4350858" y="1690689"/>
              <a:ext cx="374590" cy="738664"/>
              <a:chOff x="628650" y="1646618"/>
              <a:chExt cx="374590" cy="738664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8DD28C4-B9C4-485F-94DC-C1945E9516CF}"/>
                  </a:ext>
                </a:extLst>
              </p:cNvPr>
              <p:cNvSpPr txBox="1"/>
              <p:nvPr/>
            </p:nvSpPr>
            <p:spPr>
              <a:xfrm>
                <a:off x="628650" y="2015950"/>
                <a:ext cx="300082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e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79CF2E53-57AC-489F-882E-E62195A8CF20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50" y="1646618"/>
                    <a:ext cx="37459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79CF2E53-57AC-489F-882E-E62195A8C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1646618"/>
                    <a:ext cx="37459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64931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2F850-AFDA-4A1A-9D1F-66613BFB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Using array to implement 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GB" dirty="0"/>
              <a:t> data structure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/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List</a:t>
                </a:r>
                <a:r>
                  <a:rPr lang="en-US" sz="2000" dirty="0"/>
                  <a:t> interface supports the following operations: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Size()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 length of the list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Add(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increase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decrease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blipFill>
                <a:blip r:embed="rId2"/>
                <a:stretch>
                  <a:fillRect l="-1037" t="-1131" r="-207" b="-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组合 82">
            <a:extLst>
              <a:ext uri="{FF2B5EF4-FFF2-40B4-BE49-F238E27FC236}">
                <a16:creationId xmlns:a16="http://schemas.microsoft.com/office/drawing/2014/main" id="{D0154B10-AD55-4F20-8665-6CDF32BE0346}"/>
              </a:ext>
            </a:extLst>
          </p:cNvPr>
          <p:cNvGrpSpPr/>
          <p:nvPr/>
        </p:nvGrpSpPr>
        <p:grpSpPr>
          <a:xfrm>
            <a:off x="4636083" y="2170164"/>
            <a:ext cx="3879267" cy="3570208"/>
            <a:chOff x="4636083" y="2258537"/>
            <a:chExt cx="3879267" cy="357020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0448CFB-1208-426B-8AF9-93BEBFE0E3B0}"/>
                </a:ext>
              </a:extLst>
            </p:cNvPr>
            <p:cNvGrpSpPr/>
            <p:nvPr/>
          </p:nvGrpSpPr>
          <p:grpSpPr>
            <a:xfrm>
              <a:off x="4636083" y="2627869"/>
              <a:ext cx="2571194" cy="369332"/>
              <a:chOff x="4975041" y="2749770"/>
              <a:chExt cx="2571194" cy="369332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8C7F1C5-5027-44A1-A99B-943D7B59C3C3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B86A8D-DBB0-4F17-BEF5-41D87CDFA3AB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D807368-86F1-4973-985D-417C2D967609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9769A6A-9FBB-433D-A33E-0AAE104B077B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482ABEA-9E6B-4B8A-87C2-F808BA025D67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FB95A02-EF02-4C6B-A1DD-E5F7F8F36AF2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43CAC49-13A1-40AE-A88E-A3CEFFDA1335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8AC53B0-7722-444B-87E1-5E5583588298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B79FBBD-C598-4BA3-A077-92B39ED3493B}"/>
                </a:ext>
              </a:extLst>
            </p:cNvPr>
            <p:cNvGrpSpPr/>
            <p:nvPr/>
          </p:nvGrpSpPr>
          <p:grpSpPr>
            <a:xfrm>
              <a:off x="4636083" y="2258537"/>
              <a:ext cx="2571194" cy="369332"/>
              <a:chOff x="4572000" y="2277588"/>
              <a:chExt cx="2571194" cy="369332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D6B4F16-3136-4682-982A-942546210AD9}"/>
                  </a:ext>
                </a:extLst>
              </p:cNvPr>
              <p:cNvSpPr txBox="1"/>
              <p:nvPr/>
            </p:nvSpPr>
            <p:spPr>
              <a:xfrm>
                <a:off x="4572000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6352773-0B4E-4835-8E8E-6A8A776D53F3}"/>
                  </a:ext>
                </a:extLst>
              </p:cNvPr>
              <p:cNvSpPr txBox="1"/>
              <p:nvPr/>
            </p:nvSpPr>
            <p:spPr>
              <a:xfrm>
                <a:off x="489452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E546A43-0C47-4779-9B2C-29CA9DBB7306}"/>
                  </a:ext>
                </a:extLst>
              </p:cNvPr>
              <p:cNvSpPr txBox="1"/>
              <p:nvPr/>
            </p:nvSpPr>
            <p:spPr>
              <a:xfrm>
                <a:off x="5217048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73C9037-DCC8-452A-A760-ECB6B59DFA0A}"/>
                  </a:ext>
                </a:extLst>
              </p:cNvPr>
              <p:cNvSpPr txBox="1"/>
              <p:nvPr/>
            </p:nvSpPr>
            <p:spPr>
              <a:xfrm>
                <a:off x="5539572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62C4BB8-5633-4574-8920-E748681BA979}"/>
                  </a:ext>
                </a:extLst>
              </p:cNvPr>
              <p:cNvSpPr txBox="1"/>
              <p:nvPr/>
            </p:nvSpPr>
            <p:spPr>
              <a:xfrm>
                <a:off x="5862096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23DCC37-721B-418D-B36C-DC470B26C157}"/>
                  </a:ext>
                </a:extLst>
              </p:cNvPr>
              <p:cNvSpPr txBox="1"/>
              <p:nvPr/>
            </p:nvSpPr>
            <p:spPr>
              <a:xfrm>
                <a:off x="6179383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466D1CC-6098-4BEB-BEC3-FADC65D4743D}"/>
                  </a:ext>
                </a:extLst>
              </p:cNvPr>
              <p:cNvSpPr txBox="1"/>
              <p:nvPr/>
            </p:nvSpPr>
            <p:spPr>
              <a:xfrm>
                <a:off x="6501907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6AB6A86-FA69-4825-AF47-FF2D4CF68366}"/>
                  </a:ext>
                </a:extLst>
              </p:cNvPr>
              <p:cNvSpPr txBox="1"/>
              <p:nvPr/>
            </p:nvSpPr>
            <p:spPr>
              <a:xfrm>
                <a:off x="681919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8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74FCBA6-7C9A-4209-8923-637083E6C5C5}"/>
                </a:ext>
              </a:extLst>
            </p:cNvPr>
            <p:cNvGrpSpPr/>
            <p:nvPr/>
          </p:nvGrpSpPr>
          <p:grpSpPr>
            <a:xfrm>
              <a:off x="4640582" y="3335755"/>
              <a:ext cx="2571194" cy="369332"/>
              <a:chOff x="4975041" y="2749770"/>
              <a:chExt cx="2571194" cy="369332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BC36B90-6E1D-4EEE-A72C-E53C4B544E28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9B3DD42-1632-42D9-BD05-69253310EA92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84EC87B-C9EE-440A-A183-78FFB93A49B8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161B6EC-CFDF-460F-B232-B48387A4F3BE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BD31EAC-8CC1-438E-B750-D6847CFE36AA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8BFD750-328F-4C89-8890-EF700C816FEF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A5571D6-F6C2-40C7-B4ED-284E177A52BF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D33F3DC-F582-4646-8711-64EE37A7D6D4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382A3D9-9851-4FE8-9D00-1CBA4C9942DF}"/>
                </a:ext>
              </a:extLst>
            </p:cNvPr>
            <p:cNvSpPr txBox="1"/>
            <p:nvPr/>
          </p:nvSpPr>
          <p:spPr>
            <a:xfrm>
              <a:off x="7197637" y="2997201"/>
              <a:ext cx="1172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Add(4,d)</a:t>
              </a:r>
              <a:endParaRPr lang="en-US" sz="1600" dirty="0"/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D7ED3170-AD2C-45CF-96D8-63978D369E23}"/>
                </a:ext>
              </a:extLst>
            </p:cNvPr>
            <p:cNvGrpSpPr/>
            <p:nvPr/>
          </p:nvGrpSpPr>
          <p:grpSpPr>
            <a:xfrm>
              <a:off x="4640582" y="4043641"/>
              <a:ext cx="2571194" cy="369332"/>
              <a:chOff x="4975041" y="2749770"/>
              <a:chExt cx="2571194" cy="369332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634CC7A-1186-4A30-A75D-ABB46ABBD13C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8F5D10F-DAA2-49D7-A9AD-B92432C823B0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55F05EC-B72A-4FF1-90DF-FF4A8614A860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34E47B3-FEB2-48A5-B4E2-B2E29BBEF978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545CE724-A24A-4E21-9AF8-E5B9C753C61D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1CB6363-4B9A-46CF-83BD-A7B37B496AB1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4642AE7-FC85-44DC-BBC4-7AB1C45860EE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9A33C20-5ED5-484F-A749-506ABF72B7F0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88492EE1-EB41-4BEF-9771-7EF5506CF93E}"/>
                </a:ext>
              </a:extLst>
            </p:cNvPr>
            <p:cNvSpPr txBox="1"/>
            <p:nvPr/>
          </p:nvSpPr>
          <p:spPr>
            <a:xfrm>
              <a:off x="7219803" y="3705087"/>
              <a:ext cx="1172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Set(3,q)</a:t>
              </a:r>
              <a:endParaRPr lang="en-US" sz="1600" dirty="0"/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0CC7AD73-52E5-4604-86EE-D1A6D089C463}"/>
                </a:ext>
              </a:extLst>
            </p:cNvPr>
            <p:cNvGrpSpPr/>
            <p:nvPr/>
          </p:nvGrpSpPr>
          <p:grpSpPr>
            <a:xfrm>
              <a:off x="4640582" y="4751527"/>
              <a:ext cx="2571194" cy="369332"/>
              <a:chOff x="4975041" y="2749770"/>
              <a:chExt cx="2571194" cy="369332"/>
            </a:xfrm>
          </p:grpSpPr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1703C67-AA66-411B-8C4F-AA59B498E660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64BEDF0-5666-408E-87B1-8DA8FEE6670E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09C4865-7DCB-45AC-85DE-EEF0C881CEFE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80819CE3-5F65-4F4B-9374-8E84BAB7FB34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E80C81C9-2B5A-4DB1-A9DB-10EECB8D25C4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FDC8770-B610-4AA3-86BA-26A47D0B73BF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5E59028-6FEE-4A09-8C3F-C00878080752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52B4993C-607C-4AE3-AA2F-236EFEE5D40E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98C09A36-DFD1-41DE-9EB4-C72BBDF1C861}"/>
                </a:ext>
              </a:extLst>
            </p:cNvPr>
            <p:cNvSpPr txBox="1"/>
            <p:nvPr/>
          </p:nvSpPr>
          <p:spPr>
            <a:xfrm>
              <a:off x="7219803" y="4412973"/>
              <a:ext cx="1172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Add(1,a)</a:t>
              </a:r>
              <a:endParaRPr lang="en-US" sz="1600" dirty="0"/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DFC4B242-F9B8-4D3C-9E78-CF316AADE2A4}"/>
                </a:ext>
              </a:extLst>
            </p:cNvPr>
            <p:cNvCxnSpPr>
              <a:cxnSpLocks/>
              <a:stCxn id="35" idx="2"/>
              <a:endCxn id="46" idx="0"/>
            </p:cNvCxnSpPr>
            <p:nvPr/>
          </p:nvCxnSpPr>
          <p:spPr>
            <a:xfrm>
              <a:off x="4802582" y="4412973"/>
              <a:ext cx="322524" cy="3385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9627FC68-5993-4582-BBA3-937152029A57}"/>
                </a:ext>
              </a:extLst>
            </p:cNvPr>
            <p:cNvCxnSpPr>
              <a:cxnSpLocks/>
              <a:stCxn id="36" idx="2"/>
              <a:endCxn id="47" idx="0"/>
            </p:cNvCxnSpPr>
            <p:nvPr/>
          </p:nvCxnSpPr>
          <p:spPr>
            <a:xfrm>
              <a:off x="5125106" y="4412973"/>
              <a:ext cx="322524" cy="3385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073A08E5-F129-44CB-903E-05F079CD86C7}"/>
                </a:ext>
              </a:extLst>
            </p:cNvPr>
            <p:cNvCxnSpPr>
              <a:cxnSpLocks/>
              <a:stCxn id="37" idx="2"/>
              <a:endCxn id="48" idx="0"/>
            </p:cNvCxnSpPr>
            <p:nvPr/>
          </p:nvCxnSpPr>
          <p:spPr>
            <a:xfrm>
              <a:off x="5447630" y="4412973"/>
              <a:ext cx="322524" cy="3385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0E7F8D63-B09E-45ED-B56A-370597EEACA0}"/>
                </a:ext>
              </a:extLst>
            </p:cNvPr>
            <p:cNvCxnSpPr>
              <a:cxnSpLocks/>
              <a:stCxn id="38" idx="2"/>
              <a:endCxn id="49" idx="0"/>
            </p:cNvCxnSpPr>
            <p:nvPr/>
          </p:nvCxnSpPr>
          <p:spPr>
            <a:xfrm>
              <a:off x="5770154" y="4412973"/>
              <a:ext cx="322524" cy="3385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8CBD730E-FB42-462E-8999-DD0E5830928A}"/>
                </a:ext>
              </a:extLst>
            </p:cNvPr>
            <p:cNvGrpSpPr/>
            <p:nvPr/>
          </p:nvGrpSpPr>
          <p:grpSpPr>
            <a:xfrm>
              <a:off x="4640582" y="5459413"/>
              <a:ext cx="2571194" cy="369332"/>
              <a:chOff x="4975041" y="2749770"/>
              <a:chExt cx="2571194" cy="369332"/>
            </a:xfrm>
          </p:grpSpPr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562D2288-9570-478A-8E44-E1D6ADEDB157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3849B1C-1E5F-43FF-824A-12768F067012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D9763B2F-085D-4364-861D-B8851F06BEE2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ABD2BEA4-9A91-4F62-9569-B490A0D81914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FEC71366-9A3D-4D86-9FB4-A36B6F4F9E65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252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6B3E6A6-6D1E-4F08-8A56-B2A19053501F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4FE876EF-8A8E-49D2-9E6F-BBFEDD8238B5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FA8986E-BE6E-44A2-8E42-E8ABF5C2D64D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6F862640-36FB-4E4C-8711-415CD6A2B002}"/>
                </a:ext>
              </a:extLst>
            </p:cNvPr>
            <p:cNvSpPr txBox="1"/>
            <p:nvPr/>
          </p:nvSpPr>
          <p:spPr>
            <a:xfrm>
              <a:off x="7219803" y="5120859"/>
              <a:ext cx="12955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Remove(3)</a:t>
              </a:r>
              <a:endParaRPr lang="en-US" sz="1600" dirty="0"/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19B8DAA4-5BA0-4DD1-84AC-0D7E684CCF84}"/>
                </a:ext>
              </a:extLst>
            </p:cNvPr>
            <p:cNvCxnSpPr>
              <a:cxnSpLocks/>
              <a:stCxn id="48" idx="2"/>
              <a:endCxn id="70" idx="0"/>
            </p:cNvCxnSpPr>
            <p:nvPr/>
          </p:nvCxnSpPr>
          <p:spPr>
            <a:xfrm flipH="1">
              <a:off x="5447630" y="5120859"/>
              <a:ext cx="322524" cy="3385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8FF6CCBA-8A8D-449E-91C3-97693A97E9AA}"/>
                </a:ext>
              </a:extLst>
            </p:cNvPr>
            <p:cNvCxnSpPr>
              <a:cxnSpLocks/>
              <a:stCxn id="49" idx="2"/>
              <a:endCxn id="71" idx="0"/>
            </p:cNvCxnSpPr>
            <p:nvPr/>
          </p:nvCxnSpPr>
          <p:spPr>
            <a:xfrm flipH="1">
              <a:off x="5770154" y="5120859"/>
              <a:ext cx="322524" cy="3385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B884FCAA-D7CB-4933-B82A-0C968784DA96}"/>
                  </a:ext>
                </a:extLst>
              </p:cNvPr>
              <p:cNvSpPr txBox="1"/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C00000"/>
                    </a:solidFill>
                  </a:rPr>
                  <a:t>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B884FCAA-D7CB-4933-B82A-0C968784D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blipFill>
                <a:blip r:embed="rId3"/>
                <a:stretch>
                  <a:fillRect l="-3653" t="-10000" r="-9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73DE8E7-5E47-497F-B8E9-BA709DF998F0}"/>
                  </a:ext>
                </a:extLst>
              </p:cNvPr>
              <p:cNvSpPr txBox="1"/>
              <p:nvPr/>
            </p:nvSpPr>
            <p:spPr>
              <a:xfrm>
                <a:off x="1884764" y="2533614"/>
                <a:ext cx="1333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C00000"/>
                    </a:solidFill>
                  </a:rPr>
                  <a:t>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73DE8E7-5E47-497F-B8E9-BA709DF99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4" y="2533614"/>
                <a:ext cx="1333057" cy="369332"/>
              </a:xfrm>
              <a:prstGeom prst="rect">
                <a:avLst/>
              </a:prstGeom>
              <a:blipFill>
                <a:blip r:embed="rId4"/>
                <a:stretch>
                  <a:fillRect l="-3653" t="-10000" r="-9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420CA35-F200-4EFE-91D2-B1EA8B432CC5}"/>
                  </a:ext>
                </a:extLst>
              </p:cNvPr>
              <p:cNvSpPr txBox="1"/>
              <p:nvPr/>
            </p:nvSpPr>
            <p:spPr>
              <a:xfrm>
                <a:off x="2149548" y="3062096"/>
                <a:ext cx="1333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C00000"/>
                    </a:solidFill>
                  </a:rPr>
                  <a:t>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420CA35-F200-4EFE-91D2-B1EA8B432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062096"/>
                <a:ext cx="1333057" cy="369332"/>
              </a:xfrm>
              <a:prstGeom prst="rect">
                <a:avLst/>
              </a:prstGeom>
              <a:blipFill>
                <a:blip r:embed="rId5"/>
                <a:stretch>
                  <a:fillRect l="-4128" t="-8197" r="-137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CA589FDD-BAD6-478F-AC16-C0B92871FE55}"/>
                  </a:ext>
                </a:extLst>
              </p:cNvPr>
              <p:cNvSpPr txBox="1"/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CA589FDD-BAD6-478F-AC16-C0B92871F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blipFill>
                <a:blip r:embed="rId6"/>
                <a:stretch>
                  <a:fillRect t="-8197" r="-4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770A17A0-8C59-4500-A4C2-E97E0C94F700}"/>
                  </a:ext>
                </a:extLst>
              </p:cNvPr>
              <p:cNvSpPr txBox="1"/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770A17A0-8C59-4500-A4C2-E97E0C94F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blipFill>
                <a:blip r:embed="rId7"/>
                <a:stretch>
                  <a:fillRect t="-10000" r="-4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文本框 89">
            <a:extLst>
              <a:ext uri="{FF2B5EF4-FFF2-40B4-BE49-F238E27FC236}">
                <a16:creationId xmlns:a16="http://schemas.microsoft.com/office/drawing/2014/main" id="{293557AE-CA3C-4AB4-AC51-07B889C5CBF3}"/>
              </a:ext>
            </a:extLst>
          </p:cNvPr>
          <p:cNvSpPr txBox="1"/>
          <p:nvPr/>
        </p:nvSpPr>
        <p:spPr>
          <a:xfrm>
            <a:off x="628650" y="5638197"/>
            <a:ext cx="69233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C00000"/>
                </a:solidFill>
              </a:rPr>
              <a:t>Queries and updates are fast.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C00000"/>
                </a:solidFill>
              </a:rPr>
              <a:t>Modifications are fast at “end”, but slow at “front” or “middle”.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31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2F850-AFDA-4A1A-9D1F-66613BFB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Using array to implement 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GB" dirty="0"/>
              <a:t> data structure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/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List</a:t>
                </a:r>
                <a:r>
                  <a:rPr lang="en-US" sz="2000" dirty="0"/>
                  <a:t> interface supports the following operations: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Size()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 length of the list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Add(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increase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decrease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blipFill>
                <a:blip r:embed="rId2"/>
                <a:stretch>
                  <a:fillRect l="-1037" t="-1131" r="-207" b="-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B884FCAA-D7CB-4933-B82A-0C968784DA96}"/>
                  </a:ext>
                </a:extLst>
              </p:cNvPr>
              <p:cNvSpPr txBox="1"/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C00000"/>
                    </a:solidFill>
                  </a:rPr>
                  <a:t>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B884FCAA-D7CB-4933-B82A-0C968784D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blipFill>
                <a:blip r:embed="rId3"/>
                <a:stretch>
                  <a:fillRect l="-3653" t="-10000" r="-9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73DE8E7-5E47-497F-B8E9-BA709DF998F0}"/>
                  </a:ext>
                </a:extLst>
              </p:cNvPr>
              <p:cNvSpPr txBox="1"/>
              <p:nvPr/>
            </p:nvSpPr>
            <p:spPr>
              <a:xfrm>
                <a:off x="1884764" y="2533614"/>
                <a:ext cx="1333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C00000"/>
                    </a:solidFill>
                  </a:rPr>
                  <a:t>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73DE8E7-5E47-497F-B8E9-BA709DF99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4" y="2533614"/>
                <a:ext cx="1333057" cy="369332"/>
              </a:xfrm>
              <a:prstGeom prst="rect">
                <a:avLst/>
              </a:prstGeom>
              <a:blipFill>
                <a:blip r:embed="rId4"/>
                <a:stretch>
                  <a:fillRect l="-3653" t="-10000" r="-9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420CA35-F200-4EFE-91D2-B1EA8B432CC5}"/>
                  </a:ext>
                </a:extLst>
              </p:cNvPr>
              <p:cNvSpPr txBox="1"/>
              <p:nvPr/>
            </p:nvSpPr>
            <p:spPr>
              <a:xfrm>
                <a:off x="2149548" y="3062096"/>
                <a:ext cx="1333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C00000"/>
                    </a:solidFill>
                  </a:rPr>
                  <a:t>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420CA35-F200-4EFE-91D2-B1EA8B432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062096"/>
                <a:ext cx="1333057" cy="369332"/>
              </a:xfrm>
              <a:prstGeom prst="rect">
                <a:avLst/>
              </a:prstGeom>
              <a:blipFill>
                <a:blip r:embed="rId5"/>
                <a:stretch>
                  <a:fillRect l="-4128" t="-8197" r="-137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CA589FDD-BAD6-478F-AC16-C0B92871FE55}"/>
                  </a:ext>
                </a:extLst>
              </p:cNvPr>
              <p:cNvSpPr txBox="1"/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CA589FDD-BAD6-478F-AC16-C0B92871F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blipFill>
                <a:blip r:embed="rId6"/>
                <a:stretch>
                  <a:fillRect t="-8197" r="-4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770A17A0-8C59-4500-A4C2-E97E0C94F700}"/>
                  </a:ext>
                </a:extLst>
              </p:cNvPr>
              <p:cNvSpPr txBox="1"/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770A17A0-8C59-4500-A4C2-E97E0C94F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blipFill>
                <a:blip r:embed="rId7"/>
                <a:stretch>
                  <a:fillRect t="-10000" r="-4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文本框 89">
            <a:extLst>
              <a:ext uri="{FF2B5EF4-FFF2-40B4-BE49-F238E27FC236}">
                <a16:creationId xmlns:a16="http://schemas.microsoft.com/office/drawing/2014/main" id="{293557AE-CA3C-4AB4-AC51-07B889C5CBF3}"/>
              </a:ext>
            </a:extLst>
          </p:cNvPr>
          <p:cNvSpPr txBox="1"/>
          <p:nvPr/>
        </p:nvSpPr>
        <p:spPr>
          <a:xfrm>
            <a:off x="628650" y="5638197"/>
            <a:ext cx="69233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C00000"/>
                </a:solidFill>
              </a:rPr>
              <a:t>Queries and updates are fast.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C00000"/>
                </a:solidFill>
              </a:rPr>
              <a:t>Modifications are fast at “end”, but slow at “front” or “middle”.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08C0F7-8CFA-43CC-A051-1B0D30D67E16}"/>
              </a:ext>
            </a:extLst>
          </p:cNvPr>
          <p:cNvSpPr txBox="1"/>
          <p:nvPr/>
        </p:nvSpPr>
        <p:spPr>
          <a:xfrm>
            <a:off x="4409300" y="2351909"/>
            <a:ext cx="39782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Q:</a:t>
            </a:r>
            <a:r>
              <a:rPr lang="en-GB" sz="2000" dirty="0"/>
              <a:t> Is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GB" sz="2000" dirty="0"/>
              <a:t> good for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GB" sz="2000" dirty="0"/>
              <a:t>?</a:t>
            </a:r>
          </a:p>
          <a:p>
            <a:r>
              <a:rPr lang="en-GB" sz="2000" b="1" dirty="0"/>
              <a:t>A:</a:t>
            </a:r>
            <a:r>
              <a:rPr lang="en-GB" sz="2000" dirty="0"/>
              <a:t> Yes. (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GB" sz="2000" dirty="0"/>
              <a:t> and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GB" sz="2000" dirty="0"/>
              <a:t> are fast.)</a:t>
            </a:r>
            <a:endParaRPr lang="en-US" sz="20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1B4BAFC-1241-41E3-A173-A41F5B664202}"/>
              </a:ext>
            </a:extLst>
          </p:cNvPr>
          <p:cNvSpPr txBox="1"/>
          <p:nvPr/>
        </p:nvSpPr>
        <p:spPr>
          <a:xfrm>
            <a:off x="4409300" y="3246762"/>
            <a:ext cx="46589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Q:</a:t>
            </a:r>
            <a:r>
              <a:rPr lang="en-GB" sz="2000" dirty="0"/>
              <a:t> Is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GB" sz="2000" dirty="0"/>
              <a:t> good for FIFO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sz="2000" dirty="0"/>
              <a:t>?</a:t>
            </a:r>
          </a:p>
          <a:p>
            <a:r>
              <a:rPr lang="en-GB" sz="2000" b="1" dirty="0"/>
              <a:t>A:</a:t>
            </a:r>
            <a:r>
              <a:rPr lang="en-GB" sz="2000" dirty="0"/>
              <a:t> No. (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GB" sz="2000" dirty="0"/>
              <a:t> can be slow.)</a:t>
            </a:r>
            <a:endParaRPr lang="en-US" sz="200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2F8F2EB-0D1A-40DD-9278-A631FB1917E5}"/>
              </a:ext>
            </a:extLst>
          </p:cNvPr>
          <p:cNvSpPr txBox="1"/>
          <p:nvPr/>
        </p:nvSpPr>
        <p:spPr>
          <a:xfrm>
            <a:off x="4409300" y="4141615"/>
            <a:ext cx="41321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Q:</a:t>
            </a:r>
            <a:r>
              <a:rPr lang="en-GB" sz="2000" dirty="0"/>
              <a:t> Is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GB" sz="2000" dirty="0"/>
              <a:t> good for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sz="2000" dirty="0"/>
              <a:t>?</a:t>
            </a:r>
          </a:p>
          <a:p>
            <a:r>
              <a:rPr lang="en-GB" sz="2000" b="1" dirty="0"/>
              <a:t>A:</a:t>
            </a:r>
            <a:r>
              <a:rPr lang="en-GB" sz="2000" dirty="0"/>
              <a:t> No.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0371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2F850-AFDA-4A1A-9D1F-66613BFB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Using circular array to implement 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ArrayDeque</a:t>
            </a:r>
            <a:r>
              <a:rPr lang="en-GB" dirty="0"/>
              <a:t> data structure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E5F156-D74A-4EA8-BA28-7C225CB5256B}"/>
              </a:ext>
            </a:extLst>
          </p:cNvPr>
          <p:cNvSpPr txBox="1"/>
          <p:nvPr/>
        </p:nvSpPr>
        <p:spPr>
          <a:xfrm>
            <a:off x="628650" y="1690689"/>
            <a:ext cx="64650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Using simple array to implement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dirty="0"/>
              <a:t>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</a:rPr>
              <a:t>Queries and updates are fast.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</a:rPr>
              <a:t>Modifications are fast at “end”, but slow at “front” or “middle”.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dirty="0">
                <a:solidFill>
                  <a:srgbClr val="C00000"/>
                </a:solidFill>
              </a:rPr>
              <a:t> is good for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US" dirty="0">
                <a:solidFill>
                  <a:srgbClr val="C00000"/>
                </a:solidFill>
              </a:rPr>
              <a:t>, but not FIFO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US" dirty="0">
                <a:solidFill>
                  <a:srgbClr val="C00000"/>
                </a:solidFill>
              </a:rPr>
              <a:t> or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BF5210FA-1C27-41E8-B0F0-D5697421ED02}"/>
              </a:ext>
            </a:extLst>
          </p:cNvPr>
          <p:cNvGrpSpPr/>
          <p:nvPr/>
        </p:nvGrpSpPr>
        <p:grpSpPr>
          <a:xfrm>
            <a:off x="628650" y="3016252"/>
            <a:ext cx="2723292" cy="1453312"/>
            <a:chOff x="5192788" y="3847249"/>
            <a:chExt cx="2723292" cy="145331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26AE374-F1B0-4990-81F4-5EB63F198084}"/>
                </a:ext>
              </a:extLst>
            </p:cNvPr>
            <p:cNvGrpSpPr/>
            <p:nvPr/>
          </p:nvGrpSpPr>
          <p:grpSpPr>
            <a:xfrm>
              <a:off x="5344886" y="4216581"/>
              <a:ext cx="2571194" cy="369332"/>
              <a:chOff x="4975041" y="2749770"/>
              <a:chExt cx="2571194" cy="369332"/>
            </a:xfrm>
          </p:grpSpPr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CAB7F23-EE8A-4659-9F28-ECEE5E3EBE22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4B6F7554-E132-4DFE-BC1A-2BE931A74FD3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162A2A8-33BB-4457-900D-F2B1DB06DBBC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0BA8270-F4E6-4380-8C6E-750C617AD05A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2A7C8FAD-CFAB-4A2F-B43A-07E91F07FA01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252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49988F6-BF80-4364-B5F6-B33C42A9155E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1C45F015-CC34-4A83-8771-1F36C1A8007C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1C222D90-3AFF-41F5-8AC0-28E44CA97CA9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C94E105-088D-4C29-8E57-1B5D2A353C64}"/>
                </a:ext>
              </a:extLst>
            </p:cNvPr>
            <p:cNvGrpSpPr/>
            <p:nvPr/>
          </p:nvGrpSpPr>
          <p:grpSpPr>
            <a:xfrm>
              <a:off x="5344886" y="3847249"/>
              <a:ext cx="2571194" cy="369332"/>
              <a:chOff x="4572000" y="2277588"/>
              <a:chExt cx="2571194" cy="369332"/>
            </a:xfrm>
          </p:grpSpPr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F553E80-D8E5-4E99-9D4B-66AC6B223A30}"/>
                  </a:ext>
                </a:extLst>
              </p:cNvPr>
              <p:cNvSpPr txBox="1"/>
              <p:nvPr/>
            </p:nvSpPr>
            <p:spPr>
              <a:xfrm>
                <a:off x="4572000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12637B0-112C-4209-86C0-3812D684A08D}"/>
                  </a:ext>
                </a:extLst>
              </p:cNvPr>
              <p:cNvSpPr txBox="1"/>
              <p:nvPr/>
            </p:nvSpPr>
            <p:spPr>
              <a:xfrm>
                <a:off x="489452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00E008E-9388-4AF4-BEDF-9314AE0B6A87}"/>
                  </a:ext>
                </a:extLst>
              </p:cNvPr>
              <p:cNvSpPr txBox="1"/>
              <p:nvPr/>
            </p:nvSpPr>
            <p:spPr>
              <a:xfrm>
                <a:off x="5217048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89D9C0D-821B-475D-AEDA-4EEEE344524F}"/>
                  </a:ext>
                </a:extLst>
              </p:cNvPr>
              <p:cNvSpPr txBox="1"/>
              <p:nvPr/>
            </p:nvSpPr>
            <p:spPr>
              <a:xfrm>
                <a:off x="5539572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192A350-FD9E-4D8C-A1B8-4073FE2B49F5}"/>
                  </a:ext>
                </a:extLst>
              </p:cNvPr>
              <p:cNvSpPr txBox="1"/>
              <p:nvPr/>
            </p:nvSpPr>
            <p:spPr>
              <a:xfrm>
                <a:off x="5862096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41DF97F9-03E0-41FA-B953-C4D5297C25B8}"/>
                  </a:ext>
                </a:extLst>
              </p:cNvPr>
              <p:cNvSpPr txBox="1"/>
              <p:nvPr/>
            </p:nvSpPr>
            <p:spPr>
              <a:xfrm>
                <a:off x="6179383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0184841E-E2E8-4207-8E20-BB038FC0EE02}"/>
                  </a:ext>
                </a:extLst>
              </p:cNvPr>
              <p:cNvSpPr txBox="1"/>
              <p:nvPr/>
            </p:nvSpPr>
            <p:spPr>
              <a:xfrm>
                <a:off x="6501907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AA79BBE-631F-48A0-8982-47AE780ED724}"/>
                  </a:ext>
                </a:extLst>
              </p:cNvPr>
              <p:cNvSpPr txBox="1"/>
              <p:nvPr/>
            </p:nvSpPr>
            <p:spPr>
              <a:xfrm>
                <a:off x="681919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8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32F7FDE3-5D0C-40F5-869A-123A46D3EF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886" y="4667888"/>
              <a:ext cx="0" cy="26334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94E34B77-1B3E-4E93-8C40-D58F11245B65}"/>
                </a:ext>
              </a:extLst>
            </p:cNvPr>
            <p:cNvSpPr txBox="1"/>
            <p:nvPr/>
          </p:nvSpPr>
          <p:spPr>
            <a:xfrm>
              <a:off x="5192788" y="4931229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head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63B67416-BCE8-45A7-84EA-7A912C1AE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5422" y="4667888"/>
              <a:ext cx="0" cy="26334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CA7D6580-75B0-4562-939F-7B3C1C776BFA}"/>
                </a:ext>
              </a:extLst>
            </p:cNvPr>
            <p:cNvSpPr txBox="1"/>
            <p:nvPr/>
          </p:nvSpPr>
          <p:spPr>
            <a:xfrm>
              <a:off x="6567825" y="4931229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tail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0B57DE42-8787-4674-8F17-9F7B58BB3DF1}"/>
              </a:ext>
            </a:extLst>
          </p:cNvPr>
          <p:cNvGrpSpPr/>
          <p:nvPr/>
        </p:nvGrpSpPr>
        <p:grpSpPr>
          <a:xfrm>
            <a:off x="4310219" y="3028260"/>
            <a:ext cx="2571194" cy="1453312"/>
            <a:chOff x="4501962" y="3016252"/>
            <a:chExt cx="2571194" cy="1453312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4643982A-B6B4-44EA-B678-DB9FA007C02F}"/>
                </a:ext>
              </a:extLst>
            </p:cNvPr>
            <p:cNvGrpSpPr/>
            <p:nvPr/>
          </p:nvGrpSpPr>
          <p:grpSpPr>
            <a:xfrm>
              <a:off x="4501962" y="3385584"/>
              <a:ext cx="2571194" cy="369332"/>
              <a:chOff x="4975041" y="2749770"/>
              <a:chExt cx="2571194" cy="369332"/>
            </a:xfrm>
          </p:grpSpPr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92172201-7445-49BB-8612-62A68CD7AFBA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9A7EAF17-C0A5-4DE8-AA4F-5AC4F0A238D5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099B61F6-32D0-41B9-A743-3254F1E3B03E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143CE59D-15F6-4F82-A3F2-0FC3909639B2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2E82EEE5-5A58-4D17-B0B3-F46ECD7C9893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252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AFF5D579-AFCE-4F6B-BD11-7DFA424D67C1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D18B1BD0-7904-4AE5-BDA9-39900BECCF07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6E36A6E6-853B-4E72-AC3C-A2BE3EEBA7ED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B8CD19C8-7EF1-4D3A-8F4D-899C15E3F977}"/>
                </a:ext>
              </a:extLst>
            </p:cNvPr>
            <p:cNvGrpSpPr/>
            <p:nvPr/>
          </p:nvGrpSpPr>
          <p:grpSpPr>
            <a:xfrm>
              <a:off x="4501962" y="3016252"/>
              <a:ext cx="2571194" cy="369332"/>
              <a:chOff x="4572000" y="2277588"/>
              <a:chExt cx="2571194" cy="369332"/>
            </a:xfrm>
          </p:grpSpPr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E473CE75-65F3-494C-A65D-7C2BC0EC40EB}"/>
                  </a:ext>
                </a:extLst>
              </p:cNvPr>
              <p:cNvSpPr txBox="1"/>
              <p:nvPr/>
            </p:nvSpPr>
            <p:spPr>
              <a:xfrm>
                <a:off x="4572000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664E96B-689D-4932-93D5-28B134DC8792}"/>
                  </a:ext>
                </a:extLst>
              </p:cNvPr>
              <p:cNvSpPr txBox="1"/>
              <p:nvPr/>
            </p:nvSpPr>
            <p:spPr>
              <a:xfrm>
                <a:off x="489452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8909E3F-4BBA-4618-97DD-E7C2340AEC81}"/>
                  </a:ext>
                </a:extLst>
              </p:cNvPr>
              <p:cNvSpPr txBox="1"/>
              <p:nvPr/>
            </p:nvSpPr>
            <p:spPr>
              <a:xfrm>
                <a:off x="5217048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AAA5501-EA50-49E3-A304-8E959B060BCC}"/>
                  </a:ext>
                </a:extLst>
              </p:cNvPr>
              <p:cNvSpPr txBox="1"/>
              <p:nvPr/>
            </p:nvSpPr>
            <p:spPr>
              <a:xfrm>
                <a:off x="5539572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35274B85-692F-4B78-B7C1-C1B7130662CF}"/>
                  </a:ext>
                </a:extLst>
              </p:cNvPr>
              <p:cNvSpPr txBox="1"/>
              <p:nvPr/>
            </p:nvSpPr>
            <p:spPr>
              <a:xfrm>
                <a:off x="5862096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6E41D48B-6EAA-4E7B-A16B-1576A46B7804}"/>
                  </a:ext>
                </a:extLst>
              </p:cNvPr>
              <p:cNvSpPr txBox="1"/>
              <p:nvPr/>
            </p:nvSpPr>
            <p:spPr>
              <a:xfrm>
                <a:off x="6179383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FA9273AD-32B8-480A-8BA5-D0CDC5E940C6}"/>
                  </a:ext>
                </a:extLst>
              </p:cNvPr>
              <p:cNvSpPr txBox="1"/>
              <p:nvPr/>
            </p:nvSpPr>
            <p:spPr>
              <a:xfrm>
                <a:off x="6501907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E68084B5-84FB-4F99-8653-C1E1D3421F2D}"/>
                  </a:ext>
                </a:extLst>
              </p:cNvPr>
              <p:cNvSpPr txBox="1"/>
              <p:nvPr/>
            </p:nvSpPr>
            <p:spPr>
              <a:xfrm>
                <a:off x="681919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8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D7168D23-F52D-444E-820B-590673CFAF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1134" y="3836891"/>
              <a:ext cx="0" cy="26334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E194F8B-E2AF-4482-98F8-6E1C7ECEE366}"/>
                </a:ext>
              </a:extLst>
            </p:cNvPr>
            <p:cNvSpPr txBox="1"/>
            <p:nvPr/>
          </p:nvSpPr>
          <p:spPr>
            <a:xfrm>
              <a:off x="4677036" y="4100232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head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B77ABB3B-824A-471C-9B97-7EBAE31AF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2498" y="3836891"/>
              <a:ext cx="0" cy="26334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104E8E04-0CAD-4230-8535-9DB563B75131}"/>
                </a:ext>
              </a:extLst>
            </p:cNvPr>
            <p:cNvSpPr txBox="1"/>
            <p:nvPr/>
          </p:nvSpPr>
          <p:spPr>
            <a:xfrm>
              <a:off x="5724901" y="4100232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tail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9544A047-D756-4ABF-9687-B824350CD1EA}"/>
              </a:ext>
            </a:extLst>
          </p:cNvPr>
          <p:cNvGrpSpPr/>
          <p:nvPr/>
        </p:nvGrpSpPr>
        <p:grpSpPr>
          <a:xfrm>
            <a:off x="4904619" y="4084485"/>
            <a:ext cx="3610731" cy="2408389"/>
            <a:chOff x="2362868" y="4220516"/>
            <a:chExt cx="3610731" cy="2408389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4B9D473F-5FB4-4CCD-94CE-9DDE96A3BC05}"/>
                </a:ext>
              </a:extLst>
            </p:cNvPr>
            <p:cNvSpPr/>
            <p:nvPr/>
          </p:nvSpPr>
          <p:spPr>
            <a:xfrm>
              <a:off x="3635864" y="4469564"/>
              <a:ext cx="1872271" cy="1872271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E28721E9-9B64-4B47-92FF-F7836F2958FC}"/>
                </a:ext>
              </a:extLst>
            </p:cNvPr>
            <p:cNvSpPr/>
            <p:nvPr/>
          </p:nvSpPr>
          <p:spPr>
            <a:xfrm>
              <a:off x="4040180" y="4876918"/>
              <a:ext cx="1057563" cy="105756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F379C8A6-B8D0-4A8A-9F05-D66EAB69F67A}"/>
                </a:ext>
              </a:extLst>
            </p:cNvPr>
            <p:cNvCxnSpPr>
              <a:cxnSpLocks/>
              <a:stCxn id="102" idx="0"/>
              <a:endCxn id="101" idx="0"/>
            </p:cNvCxnSpPr>
            <p:nvPr/>
          </p:nvCxnSpPr>
          <p:spPr>
            <a:xfrm flipV="1">
              <a:off x="4568962" y="4469564"/>
              <a:ext cx="3038" cy="40735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9255AFB0-3107-4BD4-B164-3F7FCC2535E4}"/>
                </a:ext>
              </a:extLst>
            </p:cNvPr>
            <p:cNvCxnSpPr>
              <a:cxnSpLocks/>
              <a:stCxn id="101" idx="4"/>
              <a:endCxn id="102" idx="4"/>
            </p:cNvCxnSpPr>
            <p:nvPr/>
          </p:nvCxnSpPr>
          <p:spPr>
            <a:xfrm flipH="1" flipV="1">
              <a:off x="4568962" y="5934481"/>
              <a:ext cx="3038" cy="40735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9DCBDFEE-EEC4-455F-B5F3-DDBE9D82B813}"/>
                </a:ext>
              </a:extLst>
            </p:cNvPr>
            <p:cNvCxnSpPr>
              <a:cxnSpLocks/>
              <a:stCxn id="101" idx="6"/>
              <a:endCxn id="102" idx="6"/>
            </p:cNvCxnSpPr>
            <p:nvPr/>
          </p:nvCxnSpPr>
          <p:spPr>
            <a:xfrm flipH="1">
              <a:off x="5097743" y="5405700"/>
              <a:ext cx="41039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D3D0E56E-4E74-4B3C-A002-8A2228CB21B7}"/>
                </a:ext>
              </a:extLst>
            </p:cNvPr>
            <p:cNvCxnSpPr>
              <a:cxnSpLocks/>
              <a:stCxn id="101" idx="2"/>
              <a:endCxn id="102" idx="2"/>
            </p:cNvCxnSpPr>
            <p:nvPr/>
          </p:nvCxnSpPr>
          <p:spPr>
            <a:xfrm>
              <a:off x="3635864" y="5405700"/>
              <a:ext cx="40431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812BEB8B-127C-4A26-92DE-DA5E48B35ADA}"/>
                </a:ext>
              </a:extLst>
            </p:cNvPr>
            <p:cNvCxnSpPr>
              <a:cxnSpLocks/>
              <a:stCxn id="102" idx="1"/>
              <a:endCxn id="101" idx="1"/>
            </p:cNvCxnSpPr>
            <p:nvPr/>
          </p:nvCxnSpPr>
          <p:spPr>
            <a:xfrm flipH="1" flipV="1">
              <a:off x="3910052" y="4743752"/>
              <a:ext cx="285005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9C387938-4BE8-4284-9177-68D159375CD7}"/>
                </a:ext>
              </a:extLst>
            </p:cNvPr>
            <p:cNvCxnSpPr>
              <a:cxnSpLocks/>
              <a:stCxn id="102" idx="7"/>
              <a:endCxn id="101" idx="7"/>
            </p:cNvCxnSpPr>
            <p:nvPr/>
          </p:nvCxnSpPr>
          <p:spPr>
            <a:xfrm flipV="1">
              <a:off x="4942866" y="4743752"/>
              <a:ext cx="291081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C3386F23-2B46-4FF7-A98B-690D42A4596F}"/>
                </a:ext>
              </a:extLst>
            </p:cNvPr>
            <p:cNvCxnSpPr>
              <a:cxnSpLocks/>
              <a:stCxn id="101" idx="5"/>
              <a:endCxn id="102" idx="5"/>
            </p:cNvCxnSpPr>
            <p:nvPr/>
          </p:nvCxnSpPr>
          <p:spPr>
            <a:xfrm flipH="1" flipV="1">
              <a:off x="4942866" y="5779604"/>
              <a:ext cx="291081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2814D469-7CD4-47B3-B574-8A73EA41C49C}"/>
                </a:ext>
              </a:extLst>
            </p:cNvPr>
            <p:cNvCxnSpPr>
              <a:cxnSpLocks/>
              <a:stCxn id="101" idx="3"/>
              <a:endCxn id="102" idx="3"/>
            </p:cNvCxnSpPr>
            <p:nvPr/>
          </p:nvCxnSpPr>
          <p:spPr>
            <a:xfrm flipV="1">
              <a:off x="3910052" y="5779604"/>
              <a:ext cx="285005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2413D9DE-2E24-4277-ABFD-55E772C065F3}"/>
                </a:ext>
              </a:extLst>
            </p:cNvPr>
            <p:cNvSpPr txBox="1"/>
            <p:nvPr/>
          </p:nvSpPr>
          <p:spPr>
            <a:xfrm>
              <a:off x="3978100" y="625957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D03C8C72-03FD-403D-97DD-8AED7A75CCC3}"/>
                </a:ext>
              </a:extLst>
            </p:cNvPr>
            <p:cNvSpPr txBox="1"/>
            <p:nvPr/>
          </p:nvSpPr>
          <p:spPr>
            <a:xfrm>
              <a:off x="4838862" y="625957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AC6A26E5-F793-4511-9327-19CFA9CF1AE9}"/>
                </a:ext>
              </a:extLst>
            </p:cNvPr>
            <p:cNvSpPr txBox="1"/>
            <p:nvPr/>
          </p:nvSpPr>
          <p:spPr>
            <a:xfrm>
              <a:off x="3337660" y="5594938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F032A61F-1DA1-45B6-9EAE-E46580D4DB79}"/>
                </a:ext>
              </a:extLst>
            </p:cNvPr>
            <p:cNvSpPr txBox="1"/>
            <p:nvPr/>
          </p:nvSpPr>
          <p:spPr>
            <a:xfrm>
              <a:off x="5471890" y="5591762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658DA020-18CB-4A7F-AADD-CD1C0583E2BB}"/>
                </a:ext>
              </a:extLst>
            </p:cNvPr>
            <p:cNvSpPr txBox="1"/>
            <p:nvPr/>
          </p:nvSpPr>
          <p:spPr>
            <a:xfrm>
              <a:off x="3334803" y="4847585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9D7CB7E5-CF7B-4B30-80D8-AC134F91FAA7}"/>
                </a:ext>
              </a:extLst>
            </p:cNvPr>
            <p:cNvSpPr txBox="1"/>
            <p:nvPr/>
          </p:nvSpPr>
          <p:spPr>
            <a:xfrm>
              <a:off x="5471890" y="4850307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AA8B5ECD-6D34-4BBF-B8CB-0C9D038C06DA}"/>
                </a:ext>
              </a:extLst>
            </p:cNvPr>
            <p:cNvSpPr txBox="1"/>
            <p:nvPr/>
          </p:nvSpPr>
          <p:spPr>
            <a:xfrm>
              <a:off x="3978100" y="4220516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503DD138-ACCE-443C-86DA-DBFFE2B5481D}"/>
                </a:ext>
              </a:extLst>
            </p:cNvPr>
            <p:cNvSpPr txBox="1"/>
            <p:nvPr/>
          </p:nvSpPr>
          <p:spPr>
            <a:xfrm>
              <a:off x="4838862" y="4220516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A964CBC0-826D-4021-813D-B143E43EF3DD}"/>
                </a:ext>
              </a:extLst>
            </p:cNvPr>
            <p:cNvSpPr txBox="1"/>
            <p:nvPr/>
          </p:nvSpPr>
          <p:spPr>
            <a:xfrm>
              <a:off x="3737603" y="5506117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C4423F7B-0328-4EFB-84FD-3CE423D10EE8}"/>
                </a:ext>
              </a:extLst>
            </p:cNvPr>
            <p:cNvSpPr txBox="1"/>
            <p:nvPr/>
          </p:nvSpPr>
          <p:spPr>
            <a:xfrm>
              <a:off x="3737603" y="4947547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1669045C-F204-459F-8453-53B3D06CBC39}"/>
                </a:ext>
              </a:extLst>
            </p:cNvPr>
            <p:cNvSpPr txBox="1"/>
            <p:nvPr/>
          </p:nvSpPr>
          <p:spPr>
            <a:xfrm>
              <a:off x="4137919" y="455820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F141A69B-B174-4FF3-8E71-F11222212D3C}"/>
                </a:ext>
              </a:extLst>
            </p:cNvPr>
            <p:cNvSpPr txBox="1"/>
            <p:nvPr/>
          </p:nvSpPr>
          <p:spPr>
            <a:xfrm>
              <a:off x="4689786" y="455820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q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06BDE744-7123-4438-A851-F09481EFF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6903" y="5776427"/>
              <a:ext cx="361245" cy="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6AF38EF4-DD54-47A6-B1A2-740AE538BDE8}"/>
                </a:ext>
              </a:extLst>
            </p:cNvPr>
            <p:cNvSpPr txBox="1"/>
            <p:nvPr/>
          </p:nvSpPr>
          <p:spPr>
            <a:xfrm>
              <a:off x="2362868" y="5591762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head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FFC2EB2B-D5FA-4BB7-A452-0828E494F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2862" y="4405182"/>
              <a:ext cx="361245" cy="1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A433F78B-FE64-4479-A8EF-78AEF882FED1}"/>
                </a:ext>
              </a:extLst>
            </p:cNvPr>
            <p:cNvSpPr txBox="1"/>
            <p:nvPr/>
          </p:nvSpPr>
          <p:spPr>
            <a:xfrm>
              <a:off x="5498404" y="4220516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tail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76BF1D53-29D4-413D-B09C-2032AE669D18}"/>
              </a:ext>
            </a:extLst>
          </p:cNvPr>
          <p:cNvGrpSpPr/>
          <p:nvPr/>
        </p:nvGrpSpPr>
        <p:grpSpPr>
          <a:xfrm>
            <a:off x="642041" y="4828096"/>
            <a:ext cx="2723292" cy="1453312"/>
            <a:chOff x="5192788" y="3847249"/>
            <a:chExt cx="2723292" cy="1453312"/>
          </a:xfrm>
        </p:grpSpPr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3275FA48-EB72-408C-A064-C5CE989C0385}"/>
                </a:ext>
              </a:extLst>
            </p:cNvPr>
            <p:cNvGrpSpPr/>
            <p:nvPr/>
          </p:nvGrpSpPr>
          <p:grpSpPr>
            <a:xfrm>
              <a:off x="5344886" y="4216581"/>
              <a:ext cx="2571194" cy="369332"/>
              <a:chOff x="4975041" y="2749770"/>
              <a:chExt cx="2571194" cy="369332"/>
            </a:xfrm>
          </p:grpSpPr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F204453A-14B5-4E23-AC80-1D54DD6EFAE0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89341347-1BAF-4705-97C2-CDAB6DFE0F56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46DCCD2D-8AB4-44B9-80F1-6B9E3785C99B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416224E9-A0BB-498E-9D3F-F819C5875565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1B797257-BFC8-4484-BCB2-BB74D38A0035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252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2508478F-43EA-4228-9020-1C4DE71EF230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8EF10972-ABEC-4B70-8463-B6EC0950AE78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71D7667D-C588-4DF9-ACA3-E28B47B08D8B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192D1444-914F-4D16-831D-74D266128B51}"/>
                </a:ext>
              </a:extLst>
            </p:cNvPr>
            <p:cNvGrpSpPr/>
            <p:nvPr/>
          </p:nvGrpSpPr>
          <p:grpSpPr>
            <a:xfrm>
              <a:off x="5344886" y="3847249"/>
              <a:ext cx="2571194" cy="369332"/>
              <a:chOff x="4572000" y="2277588"/>
              <a:chExt cx="2571194" cy="369332"/>
            </a:xfrm>
          </p:grpSpPr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B1531244-2BF5-42CB-81FE-44903FE67C6B}"/>
                  </a:ext>
                </a:extLst>
              </p:cNvPr>
              <p:cNvSpPr txBox="1"/>
              <p:nvPr/>
            </p:nvSpPr>
            <p:spPr>
              <a:xfrm>
                <a:off x="4572000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028E8893-FC01-49F0-8065-415AEDFFCE50}"/>
                  </a:ext>
                </a:extLst>
              </p:cNvPr>
              <p:cNvSpPr txBox="1"/>
              <p:nvPr/>
            </p:nvSpPr>
            <p:spPr>
              <a:xfrm>
                <a:off x="489452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DF7FAF68-3AE2-4651-90DC-976C035066C8}"/>
                  </a:ext>
                </a:extLst>
              </p:cNvPr>
              <p:cNvSpPr txBox="1"/>
              <p:nvPr/>
            </p:nvSpPr>
            <p:spPr>
              <a:xfrm>
                <a:off x="5217048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03E4EC74-E41E-43E9-9AD9-08360F029C6C}"/>
                  </a:ext>
                </a:extLst>
              </p:cNvPr>
              <p:cNvSpPr txBox="1"/>
              <p:nvPr/>
            </p:nvSpPr>
            <p:spPr>
              <a:xfrm>
                <a:off x="5539572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B0CF6CF6-D379-4A0B-ACCA-B54A64CDD1CC}"/>
                  </a:ext>
                </a:extLst>
              </p:cNvPr>
              <p:cNvSpPr txBox="1"/>
              <p:nvPr/>
            </p:nvSpPr>
            <p:spPr>
              <a:xfrm>
                <a:off x="5862096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30279D8C-9400-4909-A9B7-3F831D39D2CC}"/>
                  </a:ext>
                </a:extLst>
              </p:cNvPr>
              <p:cNvSpPr txBox="1"/>
              <p:nvPr/>
            </p:nvSpPr>
            <p:spPr>
              <a:xfrm>
                <a:off x="6179383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BFEABD7A-B14F-43A3-8D27-9885F59D56B3}"/>
                  </a:ext>
                </a:extLst>
              </p:cNvPr>
              <p:cNvSpPr txBox="1"/>
              <p:nvPr/>
            </p:nvSpPr>
            <p:spPr>
              <a:xfrm>
                <a:off x="6501907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1604A132-3D1D-48E8-B6FA-6456E608B397}"/>
                  </a:ext>
                </a:extLst>
              </p:cNvPr>
              <p:cNvSpPr txBox="1"/>
              <p:nvPr/>
            </p:nvSpPr>
            <p:spPr>
              <a:xfrm>
                <a:off x="681919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8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8FF3D98E-E33A-4E8A-8DD1-B88C43721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886" y="4667888"/>
              <a:ext cx="0" cy="26334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59426D3A-6DC9-4882-AB20-C973FB9825CC}"/>
                </a:ext>
              </a:extLst>
            </p:cNvPr>
            <p:cNvSpPr txBox="1"/>
            <p:nvPr/>
          </p:nvSpPr>
          <p:spPr>
            <a:xfrm>
              <a:off x="5192788" y="4931229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head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6068B63D-006C-4991-B524-2AE7A22D2A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8346" y="4667888"/>
              <a:ext cx="0" cy="26334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9141BF9B-B8D1-4C87-BAF3-31A37519412D}"/>
                </a:ext>
              </a:extLst>
            </p:cNvPr>
            <p:cNvSpPr txBox="1"/>
            <p:nvPr/>
          </p:nvSpPr>
          <p:spPr>
            <a:xfrm>
              <a:off x="6240749" y="4931229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tail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</p:grp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DA1B1FD8-036A-4388-96AC-BA8337D7EBA3}"/>
              </a:ext>
            </a:extLst>
          </p:cNvPr>
          <p:cNvCxnSpPr>
            <a:cxnSpLocks/>
          </p:cNvCxnSpPr>
          <p:nvPr/>
        </p:nvCxnSpPr>
        <p:spPr>
          <a:xfrm flipH="1" flipV="1">
            <a:off x="648047" y="4773672"/>
            <a:ext cx="2715810" cy="1507736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6E2F272F-F6DB-4109-A7F6-E5E9E12D5C44}"/>
              </a:ext>
            </a:extLst>
          </p:cNvPr>
          <p:cNvCxnSpPr>
            <a:cxnSpLocks/>
          </p:cNvCxnSpPr>
          <p:nvPr/>
        </p:nvCxnSpPr>
        <p:spPr>
          <a:xfrm flipH="1">
            <a:off x="628650" y="4773672"/>
            <a:ext cx="2759975" cy="1534536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箭头: 右 3">
            <a:extLst>
              <a:ext uri="{FF2B5EF4-FFF2-40B4-BE49-F238E27FC236}">
                <a16:creationId xmlns:a16="http://schemas.microsoft.com/office/drawing/2014/main" id="{1D2E595B-3372-445A-A9A9-3B28C442EE2A}"/>
              </a:ext>
            </a:extLst>
          </p:cNvPr>
          <p:cNvSpPr/>
          <p:nvPr/>
        </p:nvSpPr>
        <p:spPr>
          <a:xfrm rot="5400000">
            <a:off x="1423183" y="4384020"/>
            <a:ext cx="338022" cy="475196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6A4203B0-1D11-44BB-9D5D-8BF07ADAFB53}"/>
              </a:ext>
            </a:extLst>
          </p:cNvPr>
          <p:cNvSpPr txBox="1"/>
          <p:nvPr/>
        </p:nvSpPr>
        <p:spPr>
          <a:xfrm>
            <a:off x="1786427" y="4437561"/>
            <a:ext cx="1789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RemoveFirst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69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2F850-AFDA-4A1A-9D1F-66613BFB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Using circular array to implement 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ArrayDeque</a:t>
            </a:r>
            <a:r>
              <a:rPr lang="en-GB" dirty="0"/>
              <a:t> data structure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E5F156-D74A-4EA8-BA28-7C225CB5256B}"/>
              </a:ext>
            </a:extLst>
          </p:cNvPr>
          <p:cNvSpPr txBox="1"/>
          <p:nvPr/>
        </p:nvSpPr>
        <p:spPr>
          <a:xfrm>
            <a:off x="628650" y="1690689"/>
            <a:ext cx="524201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Maintain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GB" sz="2000" dirty="0"/>
              <a:t> and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GB" sz="2000" dirty="0"/>
              <a:t>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AddFirst</a:t>
            </a:r>
            <a:r>
              <a:rPr lang="en-GB" sz="2000" dirty="0"/>
              <a:t> and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RemoveFirst</a:t>
            </a:r>
            <a:r>
              <a:rPr lang="en-GB" sz="2000" dirty="0"/>
              <a:t>: move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US" sz="2000" dirty="0"/>
              <a:t>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AddLast</a:t>
            </a:r>
            <a:r>
              <a:rPr lang="en-US" sz="2000" dirty="0"/>
              <a:t> and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RemoveLast</a:t>
            </a:r>
            <a:r>
              <a:rPr lang="en-US" sz="2000" dirty="0"/>
              <a:t>: move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US" sz="2000" dirty="0"/>
              <a:t>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Use modular arithmetic to </a:t>
            </a:r>
            <a:br>
              <a:rPr lang="en-US" sz="2000" dirty="0"/>
            </a:br>
            <a:r>
              <a:rPr lang="en-US" sz="2000" dirty="0"/>
              <a:t>“wrap around” at both ends.</a:t>
            </a: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0B57DE42-8787-4674-8F17-9F7B58BB3DF1}"/>
              </a:ext>
            </a:extLst>
          </p:cNvPr>
          <p:cNvGrpSpPr/>
          <p:nvPr/>
        </p:nvGrpSpPr>
        <p:grpSpPr>
          <a:xfrm>
            <a:off x="5945940" y="1690689"/>
            <a:ext cx="2571194" cy="1453312"/>
            <a:chOff x="4501962" y="3016252"/>
            <a:chExt cx="2571194" cy="1453312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4643982A-B6B4-44EA-B678-DB9FA007C02F}"/>
                </a:ext>
              </a:extLst>
            </p:cNvPr>
            <p:cNvGrpSpPr/>
            <p:nvPr/>
          </p:nvGrpSpPr>
          <p:grpSpPr>
            <a:xfrm>
              <a:off x="4501962" y="3385584"/>
              <a:ext cx="2571194" cy="369332"/>
              <a:chOff x="4975041" y="2749770"/>
              <a:chExt cx="2571194" cy="369332"/>
            </a:xfrm>
          </p:grpSpPr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92172201-7445-49BB-8612-62A68CD7AFBA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9A7EAF17-C0A5-4DE8-AA4F-5AC4F0A238D5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099B61F6-32D0-41B9-A743-3254F1E3B03E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143CE59D-15F6-4F82-A3F2-0FC3909639B2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2E82EEE5-5A58-4D17-B0B3-F46ECD7C9893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252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AFF5D579-AFCE-4F6B-BD11-7DFA424D67C1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D18B1BD0-7904-4AE5-BDA9-39900BECCF07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6E36A6E6-853B-4E72-AC3C-A2BE3EEBA7ED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B8CD19C8-7EF1-4D3A-8F4D-899C15E3F977}"/>
                </a:ext>
              </a:extLst>
            </p:cNvPr>
            <p:cNvGrpSpPr/>
            <p:nvPr/>
          </p:nvGrpSpPr>
          <p:grpSpPr>
            <a:xfrm>
              <a:off x="4501962" y="3016252"/>
              <a:ext cx="2571194" cy="369332"/>
              <a:chOff x="4572000" y="2277588"/>
              <a:chExt cx="2571194" cy="369332"/>
            </a:xfrm>
          </p:grpSpPr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E473CE75-65F3-494C-A65D-7C2BC0EC40EB}"/>
                  </a:ext>
                </a:extLst>
              </p:cNvPr>
              <p:cNvSpPr txBox="1"/>
              <p:nvPr/>
            </p:nvSpPr>
            <p:spPr>
              <a:xfrm>
                <a:off x="4572000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664E96B-689D-4932-93D5-28B134DC8792}"/>
                  </a:ext>
                </a:extLst>
              </p:cNvPr>
              <p:cNvSpPr txBox="1"/>
              <p:nvPr/>
            </p:nvSpPr>
            <p:spPr>
              <a:xfrm>
                <a:off x="489452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8909E3F-4BBA-4618-97DD-E7C2340AEC81}"/>
                  </a:ext>
                </a:extLst>
              </p:cNvPr>
              <p:cNvSpPr txBox="1"/>
              <p:nvPr/>
            </p:nvSpPr>
            <p:spPr>
              <a:xfrm>
                <a:off x="5217048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AAA5501-EA50-49E3-A304-8E959B060BCC}"/>
                  </a:ext>
                </a:extLst>
              </p:cNvPr>
              <p:cNvSpPr txBox="1"/>
              <p:nvPr/>
            </p:nvSpPr>
            <p:spPr>
              <a:xfrm>
                <a:off x="5539572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35274B85-692F-4B78-B7C1-C1B7130662CF}"/>
                  </a:ext>
                </a:extLst>
              </p:cNvPr>
              <p:cNvSpPr txBox="1"/>
              <p:nvPr/>
            </p:nvSpPr>
            <p:spPr>
              <a:xfrm>
                <a:off x="5862096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6E41D48B-6EAA-4E7B-A16B-1576A46B7804}"/>
                  </a:ext>
                </a:extLst>
              </p:cNvPr>
              <p:cNvSpPr txBox="1"/>
              <p:nvPr/>
            </p:nvSpPr>
            <p:spPr>
              <a:xfrm>
                <a:off x="6179383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FA9273AD-32B8-480A-8BA5-D0CDC5E940C6}"/>
                  </a:ext>
                </a:extLst>
              </p:cNvPr>
              <p:cNvSpPr txBox="1"/>
              <p:nvPr/>
            </p:nvSpPr>
            <p:spPr>
              <a:xfrm>
                <a:off x="6501907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E68084B5-84FB-4F99-8653-C1E1D3421F2D}"/>
                  </a:ext>
                </a:extLst>
              </p:cNvPr>
              <p:cNvSpPr txBox="1"/>
              <p:nvPr/>
            </p:nvSpPr>
            <p:spPr>
              <a:xfrm>
                <a:off x="681919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8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D7168D23-F52D-444E-820B-590673CFAF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1134" y="3836891"/>
              <a:ext cx="0" cy="26334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E194F8B-E2AF-4482-98F8-6E1C7ECEE366}"/>
                </a:ext>
              </a:extLst>
            </p:cNvPr>
            <p:cNvSpPr txBox="1"/>
            <p:nvPr/>
          </p:nvSpPr>
          <p:spPr>
            <a:xfrm>
              <a:off x="4677036" y="4100232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head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B77ABB3B-824A-471C-9B97-7EBAE31AF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2498" y="3836891"/>
              <a:ext cx="0" cy="26334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104E8E04-0CAD-4230-8535-9DB563B75131}"/>
                </a:ext>
              </a:extLst>
            </p:cNvPr>
            <p:cNvSpPr txBox="1"/>
            <p:nvPr/>
          </p:nvSpPr>
          <p:spPr>
            <a:xfrm>
              <a:off x="5724901" y="4100232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tail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9544A047-D756-4ABF-9687-B824350CD1EA}"/>
              </a:ext>
            </a:extLst>
          </p:cNvPr>
          <p:cNvGrpSpPr/>
          <p:nvPr/>
        </p:nvGrpSpPr>
        <p:grpSpPr>
          <a:xfrm>
            <a:off x="4947622" y="3711773"/>
            <a:ext cx="3610731" cy="2408389"/>
            <a:chOff x="2362868" y="4220516"/>
            <a:chExt cx="3610731" cy="2408389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4B9D473F-5FB4-4CCD-94CE-9DDE96A3BC05}"/>
                </a:ext>
              </a:extLst>
            </p:cNvPr>
            <p:cNvSpPr/>
            <p:nvPr/>
          </p:nvSpPr>
          <p:spPr>
            <a:xfrm>
              <a:off x="3635864" y="4469564"/>
              <a:ext cx="1872271" cy="1872271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E28721E9-9B64-4B47-92FF-F7836F2958FC}"/>
                </a:ext>
              </a:extLst>
            </p:cNvPr>
            <p:cNvSpPr/>
            <p:nvPr/>
          </p:nvSpPr>
          <p:spPr>
            <a:xfrm>
              <a:off x="4040180" y="4876918"/>
              <a:ext cx="1057563" cy="105756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F379C8A6-B8D0-4A8A-9F05-D66EAB69F67A}"/>
                </a:ext>
              </a:extLst>
            </p:cNvPr>
            <p:cNvCxnSpPr>
              <a:cxnSpLocks/>
              <a:stCxn id="102" idx="0"/>
              <a:endCxn id="101" idx="0"/>
            </p:cNvCxnSpPr>
            <p:nvPr/>
          </p:nvCxnSpPr>
          <p:spPr>
            <a:xfrm flipV="1">
              <a:off x="4568962" y="4469564"/>
              <a:ext cx="3038" cy="40735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9255AFB0-3107-4BD4-B164-3F7FCC2535E4}"/>
                </a:ext>
              </a:extLst>
            </p:cNvPr>
            <p:cNvCxnSpPr>
              <a:cxnSpLocks/>
              <a:stCxn id="101" idx="4"/>
              <a:endCxn id="102" idx="4"/>
            </p:cNvCxnSpPr>
            <p:nvPr/>
          </p:nvCxnSpPr>
          <p:spPr>
            <a:xfrm flipH="1" flipV="1">
              <a:off x="4568962" y="5934481"/>
              <a:ext cx="3038" cy="40735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9DCBDFEE-EEC4-455F-B5F3-DDBE9D82B813}"/>
                </a:ext>
              </a:extLst>
            </p:cNvPr>
            <p:cNvCxnSpPr>
              <a:cxnSpLocks/>
              <a:stCxn id="101" idx="6"/>
              <a:endCxn id="102" idx="6"/>
            </p:cNvCxnSpPr>
            <p:nvPr/>
          </p:nvCxnSpPr>
          <p:spPr>
            <a:xfrm flipH="1">
              <a:off x="5097743" y="5405700"/>
              <a:ext cx="41039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D3D0E56E-4E74-4B3C-A002-8A2228CB21B7}"/>
                </a:ext>
              </a:extLst>
            </p:cNvPr>
            <p:cNvCxnSpPr>
              <a:cxnSpLocks/>
              <a:stCxn id="101" idx="2"/>
              <a:endCxn id="102" idx="2"/>
            </p:cNvCxnSpPr>
            <p:nvPr/>
          </p:nvCxnSpPr>
          <p:spPr>
            <a:xfrm>
              <a:off x="3635864" y="5405700"/>
              <a:ext cx="40431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812BEB8B-127C-4A26-92DE-DA5E48B35ADA}"/>
                </a:ext>
              </a:extLst>
            </p:cNvPr>
            <p:cNvCxnSpPr>
              <a:cxnSpLocks/>
              <a:stCxn id="102" idx="1"/>
              <a:endCxn id="101" idx="1"/>
            </p:cNvCxnSpPr>
            <p:nvPr/>
          </p:nvCxnSpPr>
          <p:spPr>
            <a:xfrm flipH="1" flipV="1">
              <a:off x="3910052" y="4743752"/>
              <a:ext cx="285005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9C387938-4BE8-4284-9177-68D159375CD7}"/>
                </a:ext>
              </a:extLst>
            </p:cNvPr>
            <p:cNvCxnSpPr>
              <a:cxnSpLocks/>
              <a:stCxn id="102" idx="7"/>
              <a:endCxn id="101" idx="7"/>
            </p:cNvCxnSpPr>
            <p:nvPr/>
          </p:nvCxnSpPr>
          <p:spPr>
            <a:xfrm flipV="1">
              <a:off x="4942866" y="4743752"/>
              <a:ext cx="291081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C3386F23-2B46-4FF7-A98B-690D42A4596F}"/>
                </a:ext>
              </a:extLst>
            </p:cNvPr>
            <p:cNvCxnSpPr>
              <a:cxnSpLocks/>
              <a:stCxn id="101" idx="5"/>
              <a:endCxn id="102" idx="5"/>
            </p:cNvCxnSpPr>
            <p:nvPr/>
          </p:nvCxnSpPr>
          <p:spPr>
            <a:xfrm flipH="1" flipV="1">
              <a:off x="4942866" y="5779604"/>
              <a:ext cx="291081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2814D469-7CD4-47B3-B574-8A73EA41C49C}"/>
                </a:ext>
              </a:extLst>
            </p:cNvPr>
            <p:cNvCxnSpPr>
              <a:cxnSpLocks/>
              <a:stCxn id="101" idx="3"/>
              <a:endCxn id="102" idx="3"/>
            </p:cNvCxnSpPr>
            <p:nvPr/>
          </p:nvCxnSpPr>
          <p:spPr>
            <a:xfrm flipV="1">
              <a:off x="3910052" y="5779604"/>
              <a:ext cx="285005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2413D9DE-2E24-4277-ABFD-55E772C065F3}"/>
                </a:ext>
              </a:extLst>
            </p:cNvPr>
            <p:cNvSpPr txBox="1"/>
            <p:nvPr/>
          </p:nvSpPr>
          <p:spPr>
            <a:xfrm>
              <a:off x="3978100" y="625957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D03C8C72-03FD-403D-97DD-8AED7A75CCC3}"/>
                </a:ext>
              </a:extLst>
            </p:cNvPr>
            <p:cNvSpPr txBox="1"/>
            <p:nvPr/>
          </p:nvSpPr>
          <p:spPr>
            <a:xfrm>
              <a:off x="4838862" y="625957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AC6A26E5-F793-4511-9327-19CFA9CF1AE9}"/>
                </a:ext>
              </a:extLst>
            </p:cNvPr>
            <p:cNvSpPr txBox="1"/>
            <p:nvPr/>
          </p:nvSpPr>
          <p:spPr>
            <a:xfrm>
              <a:off x="3337660" y="5594938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F032A61F-1DA1-45B6-9EAE-E46580D4DB79}"/>
                </a:ext>
              </a:extLst>
            </p:cNvPr>
            <p:cNvSpPr txBox="1"/>
            <p:nvPr/>
          </p:nvSpPr>
          <p:spPr>
            <a:xfrm>
              <a:off x="5471890" y="5591762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658DA020-18CB-4A7F-AADD-CD1C0583E2BB}"/>
                </a:ext>
              </a:extLst>
            </p:cNvPr>
            <p:cNvSpPr txBox="1"/>
            <p:nvPr/>
          </p:nvSpPr>
          <p:spPr>
            <a:xfrm>
              <a:off x="3334803" y="4847585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9D7CB7E5-CF7B-4B30-80D8-AC134F91FAA7}"/>
                </a:ext>
              </a:extLst>
            </p:cNvPr>
            <p:cNvSpPr txBox="1"/>
            <p:nvPr/>
          </p:nvSpPr>
          <p:spPr>
            <a:xfrm>
              <a:off x="5471890" y="4850307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AA8B5ECD-6D34-4BBF-B8CB-0C9D038C06DA}"/>
                </a:ext>
              </a:extLst>
            </p:cNvPr>
            <p:cNvSpPr txBox="1"/>
            <p:nvPr/>
          </p:nvSpPr>
          <p:spPr>
            <a:xfrm>
              <a:off x="3978100" y="4220516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503DD138-ACCE-443C-86DA-DBFFE2B5481D}"/>
                </a:ext>
              </a:extLst>
            </p:cNvPr>
            <p:cNvSpPr txBox="1"/>
            <p:nvPr/>
          </p:nvSpPr>
          <p:spPr>
            <a:xfrm>
              <a:off x="4838862" y="4220516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A964CBC0-826D-4021-813D-B143E43EF3DD}"/>
                </a:ext>
              </a:extLst>
            </p:cNvPr>
            <p:cNvSpPr txBox="1"/>
            <p:nvPr/>
          </p:nvSpPr>
          <p:spPr>
            <a:xfrm>
              <a:off x="3737603" y="5506117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C4423F7B-0328-4EFB-84FD-3CE423D10EE8}"/>
                </a:ext>
              </a:extLst>
            </p:cNvPr>
            <p:cNvSpPr txBox="1"/>
            <p:nvPr/>
          </p:nvSpPr>
          <p:spPr>
            <a:xfrm>
              <a:off x="3737603" y="4947547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1669045C-F204-459F-8453-53B3D06CBC39}"/>
                </a:ext>
              </a:extLst>
            </p:cNvPr>
            <p:cNvSpPr txBox="1"/>
            <p:nvPr/>
          </p:nvSpPr>
          <p:spPr>
            <a:xfrm>
              <a:off x="4137919" y="455820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F141A69B-B174-4FF3-8E71-F11222212D3C}"/>
                </a:ext>
              </a:extLst>
            </p:cNvPr>
            <p:cNvSpPr txBox="1"/>
            <p:nvPr/>
          </p:nvSpPr>
          <p:spPr>
            <a:xfrm>
              <a:off x="4689786" y="455820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q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06BDE744-7123-4438-A851-F09481EFF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6903" y="5776427"/>
              <a:ext cx="361245" cy="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6AF38EF4-DD54-47A6-B1A2-740AE538BDE8}"/>
                </a:ext>
              </a:extLst>
            </p:cNvPr>
            <p:cNvSpPr txBox="1"/>
            <p:nvPr/>
          </p:nvSpPr>
          <p:spPr>
            <a:xfrm>
              <a:off x="2362868" y="5591762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head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FFC2EB2B-D5FA-4BB7-A452-0828E494F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2862" y="4405182"/>
              <a:ext cx="361245" cy="1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A433F78B-FE64-4479-A8EF-78AEF882FED1}"/>
                </a:ext>
              </a:extLst>
            </p:cNvPr>
            <p:cNvSpPr txBox="1"/>
            <p:nvPr/>
          </p:nvSpPr>
          <p:spPr>
            <a:xfrm>
              <a:off x="5498404" y="4220516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tail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0BB67171-65EF-4327-865C-716E10678EBF}"/>
              </a:ext>
            </a:extLst>
          </p:cNvPr>
          <p:cNvSpPr/>
          <p:nvPr/>
        </p:nvSpPr>
        <p:spPr>
          <a:xfrm>
            <a:off x="962605" y="3609445"/>
            <a:ext cx="3488808" cy="27758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r>
              <a:rPr lang="en-GB" sz="1600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AddLast</a:t>
            </a:r>
            <a:r>
              <a:rPr lang="en-GB" sz="1600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(x):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tail=(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tail%N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)+1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A[tail]=x</a:t>
            </a:r>
          </a:p>
          <a:p>
            <a:pPr>
              <a:spcBef>
                <a:spcPts val="600"/>
              </a:spcBef>
            </a:pPr>
            <a:r>
              <a:rPr lang="en-GB" sz="1600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RemoveFirst</a:t>
            </a:r>
            <a:r>
              <a:rPr lang="en-GB" sz="1600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head=(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tail%N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)+1</a:t>
            </a:r>
          </a:p>
          <a:p>
            <a:pPr>
              <a:spcBef>
                <a:spcPts val="600"/>
              </a:spcBef>
            </a:pPr>
            <a:r>
              <a:rPr lang="en-GB" sz="1600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AddFirst</a:t>
            </a:r>
            <a:r>
              <a:rPr lang="en-GB" sz="1600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(x):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head=(head==1)?N:(head-1)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A[head]=x</a:t>
            </a:r>
          </a:p>
          <a:p>
            <a:pPr>
              <a:spcBef>
                <a:spcPts val="600"/>
              </a:spcBef>
            </a:pPr>
            <a:r>
              <a:rPr lang="en-GB" sz="1600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RemoveLast</a:t>
            </a:r>
            <a:r>
              <a:rPr lang="en-GB" sz="1600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(x):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tail=(tail==1)?N:(tail-1)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3C553E8D-45E9-43DC-A165-7E2AC4D4A0B5}"/>
                  </a:ext>
                </a:extLst>
              </p:cNvPr>
              <p:cNvSpPr txBox="1"/>
              <p:nvPr/>
            </p:nvSpPr>
            <p:spPr>
              <a:xfrm>
                <a:off x="3249656" y="3680128"/>
                <a:ext cx="1163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C00000"/>
                    </a:solidFill>
                  </a:rPr>
                  <a:t>all in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3C553E8D-45E9-43DC-A165-7E2AC4D4A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656" y="3680128"/>
                <a:ext cx="1163332" cy="369332"/>
              </a:xfrm>
              <a:prstGeom prst="rect">
                <a:avLst/>
              </a:prstGeom>
              <a:blipFill>
                <a:blip r:embed="rId2"/>
                <a:stretch>
                  <a:fillRect l="-4188" t="-10000" r="-104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39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2F850-AFDA-4A1A-9D1F-66613BFB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Using circular array to implement 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ArrayDeque</a:t>
            </a:r>
            <a:r>
              <a:rPr lang="en-GB" dirty="0"/>
              <a:t> data structure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E5F156-D74A-4EA8-BA28-7C225CB5256B}"/>
              </a:ext>
            </a:extLst>
          </p:cNvPr>
          <p:cNvSpPr txBox="1"/>
          <p:nvPr/>
        </p:nvSpPr>
        <p:spPr>
          <a:xfrm>
            <a:off x="628650" y="1690689"/>
            <a:ext cx="524201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Maintain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GB" sz="2000" dirty="0"/>
              <a:t> and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GB" sz="2000" dirty="0"/>
              <a:t>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AddFirst</a:t>
            </a:r>
            <a:r>
              <a:rPr lang="en-GB" sz="2000" dirty="0"/>
              <a:t> and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RemoveFirst</a:t>
            </a:r>
            <a:r>
              <a:rPr lang="en-GB" sz="2000" dirty="0"/>
              <a:t>: move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US" sz="2000" dirty="0"/>
              <a:t>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AddLast</a:t>
            </a:r>
            <a:r>
              <a:rPr lang="en-US" sz="2000" dirty="0"/>
              <a:t> and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RemoveLast</a:t>
            </a:r>
            <a:r>
              <a:rPr lang="en-US" sz="2000" dirty="0"/>
              <a:t>: move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US" sz="2000" dirty="0"/>
              <a:t>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Use modular arithmetic to </a:t>
            </a:r>
            <a:br>
              <a:rPr lang="en-US" sz="2000" dirty="0"/>
            </a:br>
            <a:r>
              <a:rPr lang="en-US" sz="2000" dirty="0"/>
              <a:t>“wrap around” at both ends.</a:t>
            </a: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0B57DE42-8787-4674-8F17-9F7B58BB3DF1}"/>
              </a:ext>
            </a:extLst>
          </p:cNvPr>
          <p:cNvGrpSpPr/>
          <p:nvPr/>
        </p:nvGrpSpPr>
        <p:grpSpPr>
          <a:xfrm>
            <a:off x="5945940" y="1690689"/>
            <a:ext cx="2571194" cy="1453312"/>
            <a:chOff x="4501962" y="3016252"/>
            <a:chExt cx="2571194" cy="1453312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4643982A-B6B4-44EA-B678-DB9FA007C02F}"/>
                </a:ext>
              </a:extLst>
            </p:cNvPr>
            <p:cNvGrpSpPr/>
            <p:nvPr/>
          </p:nvGrpSpPr>
          <p:grpSpPr>
            <a:xfrm>
              <a:off x="4501962" y="3385584"/>
              <a:ext cx="2571194" cy="369332"/>
              <a:chOff x="4975041" y="2749770"/>
              <a:chExt cx="2571194" cy="369332"/>
            </a:xfrm>
          </p:grpSpPr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92172201-7445-49BB-8612-62A68CD7AFBA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9A7EAF17-C0A5-4DE8-AA4F-5AC4F0A238D5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099B61F6-32D0-41B9-A743-3254F1E3B03E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143CE59D-15F6-4F82-A3F2-0FC3909639B2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2E82EEE5-5A58-4D17-B0B3-F46ECD7C9893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252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AFF5D579-AFCE-4F6B-BD11-7DFA424D67C1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D18B1BD0-7904-4AE5-BDA9-39900BECCF07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6E36A6E6-853B-4E72-AC3C-A2BE3EEBA7ED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B8CD19C8-7EF1-4D3A-8F4D-899C15E3F977}"/>
                </a:ext>
              </a:extLst>
            </p:cNvPr>
            <p:cNvGrpSpPr/>
            <p:nvPr/>
          </p:nvGrpSpPr>
          <p:grpSpPr>
            <a:xfrm>
              <a:off x="4501962" y="3016252"/>
              <a:ext cx="2571194" cy="369332"/>
              <a:chOff x="4572000" y="2277588"/>
              <a:chExt cx="2571194" cy="369332"/>
            </a:xfrm>
          </p:grpSpPr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E473CE75-65F3-494C-A65D-7C2BC0EC40EB}"/>
                  </a:ext>
                </a:extLst>
              </p:cNvPr>
              <p:cNvSpPr txBox="1"/>
              <p:nvPr/>
            </p:nvSpPr>
            <p:spPr>
              <a:xfrm>
                <a:off x="4572000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664E96B-689D-4932-93D5-28B134DC8792}"/>
                  </a:ext>
                </a:extLst>
              </p:cNvPr>
              <p:cNvSpPr txBox="1"/>
              <p:nvPr/>
            </p:nvSpPr>
            <p:spPr>
              <a:xfrm>
                <a:off x="489452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8909E3F-4BBA-4618-97DD-E7C2340AEC81}"/>
                  </a:ext>
                </a:extLst>
              </p:cNvPr>
              <p:cNvSpPr txBox="1"/>
              <p:nvPr/>
            </p:nvSpPr>
            <p:spPr>
              <a:xfrm>
                <a:off x="5217048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AAA5501-EA50-49E3-A304-8E959B060BCC}"/>
                  </a:ext>
                </a:extLst>
              </p:cNvPr>
              <p:cNvSpPr txBox="1"/>
              <p:nvPr/>
            </p:nvSpPr>
            <p:spPr>
              <a:xfrm>
                <a:off x="5539572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35274B85-692F-4B78-B7C1-C1B7130662CF}"/>
                  </a:ext>
                </a:extLst>
              </p:cNvPr>
              <p:cNvSpPr txBox="1"/>
              <p:nvPr/>
            </p:nvSpPr>
            <p:spPr>
              <a:xfrm>
                <a:off x="5862096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6E41D48B-6EAA-4E7B-A16B-1576A46B7804}"/>
                  </a:ext>
                </a:extLst>
              </p:cNvPr>
              <p:cNvSpPr txBox="1"/>
              <p:nvPr/>
            </p:nvSpPr>
            <p:spPr>
              <a:xfrm>
                <a:off x="6179383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FA9273AD-32B8-480A-8BA5-D0CDC5E940C6}"/>
                  </a:ext>
                </a:extLst>
              </p:cNvPr>
              <p:cNvSpPr txBox="1"/>
              <p:nvPr/>
            </p:nvSpPr>
            <p:spPr>
              <a:xfrm>
                <a:off x="6501907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E68084B5-84FB-4F99-8653-C1E1D3421F2D}"/>
                  </a:ext>
                </a:extLst>
              </p:cNvPr>
              <p:cNvSpPr txBox="1"/>
              <p:nvPr/>
            </p:nvSpPr>
            <p:spPr>
              <a:xfrm>
                <a:off x="6819194" y="2277588"/>
                <a:ext cx="324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8</a:t>
                </a:r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D7168D23-F52D-444E-820B-590673CFAF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1134" y="3836891"/>
              <a:ext cx="0" cy="26334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E194F8B-E2AF-4482-98F8-6E1C7ECEE366}"/>
                </a:ext>
              </a:extLst>
            </p:cNvPr>
            <p:cNvSpPr txBox="1"/>
            <p:nvPr/>
          </p:nvSpPr>
          <p:spPr>
            <a:xfrm>
              <a:off x="4677036" y="4100232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head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B77ABB3B-824A-471C-9B97-7EBAE31AF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2498" y="3836891"/>
              <a:ext cx="0" cy="26334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104E8E04-0CAD-4230-8535-9DB563B75131}"/>
                </a:ext>
              </a:extLst>
            </p:cNvPr>
            <p:cNvSpPr txBox="1"/>
            <p:nvPr/>
          </p:nvSpPr>
          <p:spPr>
            <a:xfrm>
              <a:off x="5724901" y="4100232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tail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9544A047-D756-4ABF-9687-B824350CD1EA}"/>
              </a:ext>
            </a:extLst>
          </p:cNvPr>
          <p:cNvGrpSpPr/>
          <p:nvPr/>
        </p:nvGrpSpPr>
        <p:grpSpPr>
          <a:xfrm>
            <a:off x="4947622" y="3711773"/>
            <a:ext cx="3610731" cy="2408389"/>
            <a:chOff x="2362868" y="4220516"/>
            <a:chExt cx="3610731" cy="2408389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4B9D473F-5FB4-4CCD-94CE-9DDE96A3BC05}"/>
                </a:ext>
              </a:extLst>
            </p:cNvPr>
            <p:cNvSpPr/>
            <p:nvPr/>
          </p:nvSpPr>
          <p:spPr>
            <a:xfrm>
              <a:off x="3635864" y="4469564"/>
              <a:ext cx="1872271" cy="1872271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E28721E9-9B64-4B47-92FF-F7836F2958FC}"/>
                </a:ext>
              </a:extLst>
            </p:cNvPr>
            <p:cNvSpPr/>
            <p:nvPr/>
          </p:nvSpPr>
          <p:spPr>
            <a:xfrm>
              <a:off x="4040180" y="4876918"/>
              <a:ext cx="1057563" cy="105756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F379C8A6-B8D0-4A8A-9F05-D66EAB69F67A}"/>
                </a:ext>
              </a:extLst>
            </p:cNvPr>
            <p:cNvCxnSpPr>
              <a:cxnSpLocks/>
              <a:stCxn id="102" idx="0"/>
              <a:endCxn id="101" idx="0"/>
            </p:cNvCxnSpPr>
            <p:nvPr/>
          </p:nvCxnSpPr>
          <p:spPr>
            <a:xfrm flipV="1">
              <a:off x="4568962" y="4469564"/>
              <a:ext cx="3038" cy="40735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9255AFB0-3107-4BD4-B164-3F7FCC2535E4}"/>
                </a:ext>
              </a:extLst>
            </p:cNvPr>
            <p:cNvCxnSpPr>
              <a:cxnSpLocks/>
              <a:stCxn id="101" idx="4"/>
              <a:endCxn id="102" idx="4"/>
            </p:cNvCxnSpPr>
            <p:nvPr/>
          </p:nvCxnSpPr>
          <p:spPr>
            <a:xfrm flipH="1" flipV="1">
              <a:off x="4568962" y="5934481"/>
              <a:ext cx="3038" cy="40735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9DCBDFEE-EEC4-455F-B5F3-DDBE9D82B813}"/>
                </a:ext>
              </a:extLst>
            </p:cNvPr>
            <p:cNvCxnSpPr>
              <a:cxnSpLocks/>
              <a:stCxn id="101" idx="6"/>
              <a:endCxn id="102" idx="6"/>
            </p:cNvCxnSpPr>
            <p:nvPr/>
          </p:nvCxnSpPr>
          <p:spPr>
            <a:xfrm flipH="1">
              <a:off x="5097743" y="5405700"/>
              <a:ext cx="41039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D3D0E56E-4E74-4B3C-A002-8A2228CB21B7}"/>
                </a:ext>
              </a:extLst>
            </p:cNvPr>
            <p:cNvCxnSpPr>
              <a:cxnSpLocks/>
              <a:stCxn id="101" idx="2"/>
              <a:endCxn id="102" idx="2"/>
            </p:cNvCxnSpPr>
            <p:nvPr/>
          </p:nvCxnSpPr>
          <p:spPr>
            <a:xfrm>
              <a:off x="3635864" y="5405700"/>
              <a:ext cx="40431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812BEB8B-127C-4A26-92DE-DA5E48B35ADA}"/>
                </a:ext>
              </a:extLst>
            </p:cNvPr>
            <p:cNvCxnSpPr>
              <a:cxnSpLocks/>
              <a:stCxn id="102" idx="1"/>
              <a:endCxn id="101" idx="1"/>
            </p:cNvCxnSpPr>
            <p:nvPr/>
          </p:nvCxnSpPr>
          <p:spPr>
            <a:xfrm flipH="1" flipV="1">
              <a:off x="3910052" y="4743752"/>
              <a:ext cx="285005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9C387938-4BE8-4284-9177-68D159375CD7}"/>
                </a:ext>
              </a:extLst>
            </p:cNvPr>
            <p:cNvCxnSpPr>
              <a:cxnSpLocks/>
              <a:stCxn id="102" idx="7"/>
              <a:endCxn id="101" idx="7"/>
            </p:cNvCxnSpPr>
            <p:nvPr/>
          </p:nvCxnSpPr>
          <p:spPr>
            <a:xfrm flipV="1">
              <a:off x="4942866" y="4743752"/>
              <a:ext cx="291081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C3386F23-2B46-4FF7-A98B-690D42A4596F}"/>
                </a:ext>
              </a:extLst>
            </p:cNvPr>
            <p:cNvCxnSpPr>
              <a:cxnSpLocks/>
              <a:stCxn id="101" idx="5"/>
              <a:endCxn id="102" idx="5"/>
            </p:cNvCxnSpPr>
            <p:nvPr/>
          </p:nvCxnSpPr>
          <p:spPr>
            <a:xfrm flipH="1" flipV="1">
              <a:off x="4942866" y="5779604"/>
              <a:ext cx="291081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2814D469-7CD4-47B3-B574-8A73EA41C49C}"/>
                </a:ext>
              </a:extLst>
            </p:cNvPr>
            <p:cNvCxnSpPr>
              <a:cxnSpLocks/>
              <a:stCxn id="101" idx="3"/>
              <a:endCxn id="102" idx="3"/>
            </p:cNvCxnSpPr>
            <p:nvPr/>
          </p:nvCxnSpPr>
          <p:spPr>
            <a:xfrm flipV="1">
              <a:off x="3910052" y="5779604"/>
              <a:ext cx="285005" cy="28804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2413D9DE-2E24-4277-ABFD-55E772C065F3}"/>
                </a:ext>
              </a:extLst>
            </p:cNvPr>
            <p:cNvSpPr txBox="1"/>
            <p:nvPr/>
          </p:nvSpPr>
          <p:spPr>
            <a:xfrm>
              <a:off x="3978100" y="625957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D03C8C72-03FD-403D-97DD-8AED7A75CCC3}"/>
                </a:ext>
              </a:extLst>
            </p:cNvPr>
            <p:cNvSpPr txBox="1"/>
            <p:nvPr/>
          </p:nvSpPr>
          <p:spPr>
            <a:xfrm>
              <a:off x="4838862" y="625957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AC6A26E5-F793-4511-9327-19CFA9CF1AE9}"/>
                </a:ext>
              </a:extLst>
            </p:cNvPr>
            <p:cNvSpPr txBox="1"/>
            <p:nvPr/>
          </p:nvSpPr>
          <p:spPr>
            <a:xfrm>
              <a:off x="3337660" y="5594938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F032A61F-1DA1-45B6-9EAE-E46580D4DB79}"/>
                </a:ext>
              </a:extLst>
            </p:cNvPr>
            <p:cNvSpPr txBox="1"/>
            <p:nvPr/>
          </p:nvSpPr>
          <p:spPr>
            <a:xfrm>
              <a:off x="5471890" y="5591762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658DA020-18CB-4A7F-AADD-CD1C0583E2BB}"/>
                </a:ext>
              </a:extLst>
            </p:cNvPr>
            <p:cNvSpPr txBox="1"/>
            <p:nvPr/>
          </p:nvSpPr>
          <p:spPr>
            <a:xfrm>
              <a:off x="3334803" y="4847585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9D7CB7E5-CF7B-4B30-80D8-AC134F91FAA7}"/>
                </a:ext>
              </a:extLst>
            </p:cNvPr>
            <p:cNvSpPr txBox="1"/>
            <p:nvPr/>
          </p:nvSpPr>
          <p:spPr>
            <a:xfrm>
              <a:off x="5471890" y="4850307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AA8B5ECD-6D34-4BBF-B8CB-0C9D038C06DA}"/>
                </a:ext>
              </a:extLst>
            </p:cNvPr>
            <p:cNvSpPr txBox="1"/>
            <p:nvPr/>
          </p:nvSpPr>
          <p:spPr>
            <a:xfrm>
              <a:off x="3978100" y="4220516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503DD138-ACCE-443C-86DA-DBFFE2B5481D}"/>
                </a:ext>
              </a:extLst>
            </p:cNvPr>
            <p:cNvSpPr txBox="1"/>
            <p:nvPr/>
          </p:nvSpPr>
          <p:spPr>
            <a:xfrm>
              <a:off x="4838862" y="4220516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A964CBC0-826D-4021-813D-B143E43EF3DD}"/>
                </a:ext>
              </a:extLst>
            </p:cNvPr>
            <p:cNvSpPr txBox="1"/>
            <p:nvPr/>
          </p:nvSpPr>
          <p:spPr>
            <a:xfrm>
              <a:off x="3737603" y="5506117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C4423F7B-0328-4EFB-84FD-3CE423D10EE8}"/>
                </a:ext>
              </a:extLst>
            </p:cNvPr>
            <p:cNvSpPr txBox="1"/>
            <p:nvPr/>
          </p:nvSpPr>
          <p:spPr>
            <a:xfrm>
              <a:off x="3737603" y="4947547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1669045C-F204-459F-8453-53B3D06CBC39}"/>
                </a:ext>
              </a:extLst>
            </p:cNvPr>
            <p:cNvSpPr txBox="1"/>
            <p:nvPr/>
          </p:nvSpPr>
          <p:spPr>
            <a:xfrm>
              <a:off x="4137919" y="455820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F141A69B-B174-4FF3-8E71-F11222212D3C}"/>
                </a:ext>
              </a:extLst>
            </p:cNvPr>
            <p:cNvSpPr txBox="1"/>
            <p:nvPr/>
          </p:nvSpPr>
          <p:spPr>
            <a:xfrm>
              <a:off x="4689786" y="4558203"/>
              <a:ext cx="324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3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q</a:t>
              </a:r>
              <a:endParaRPr lang="en-US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06BDE744-7123-4438-A851-F09481EFF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6903" y="5776427"/>
              <a:ext cx="361245" cy="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6AF38EF4-DD54-47A6-B1A2-740AE538BDE8}"/>
                </a:ext>
              </a:extLst>
            </p:cNvPr>
            <p:cNvSpPr txBox="1"/>
            <p:nvPr/>
          </p:nvSpPr>
          <p:spPr>
            <a:xfrm>
              <a:off x="2362868" y="5591762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head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FFC2EB2B-D5FA-4BB7-A452-0828E494F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2862" y="4405182"/>
              <a:ext cx="361245" cy="1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A433F78B-FE64-4479-A8EF-78AEF882FED1}"/>
                </a:ext>
              </a:extLst>
            </p:cNvPr>
            <p:cNvSpPr txBox="1"/>
            <p:nvPr/>
          </p:nvSpPr>
          <p:spPr>
            <a:xfrm>
              <a:off x="5498404" y="4220516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tail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7F79A18A-CC0A-4405-9881-A573393ADA58}"/>
              </a:ext>
            </a:extLst>
          </p:cNvPr>
          <p:cNvSpPr txBox="1"/>
          <p:nvPr/>
        </p:nvSpPr>
        <p:spPr>
          <a:xfrm>
            <a:off x="628650" y="3429000"/>
            <a:ext cx="43189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C00000"/>
                </a:solidFill>
              </a:rPr>
              <a:t>Queries and updates are fast.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C00000"/>
                </a:solidFill>
              </a:rPr>
              <a:t>Modifications are fast at “front” and “end” (i.e.,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GB" sz="2000" dirty="0">
                <a:solidFill>
                  <a:srgbClr val="C00000"/>
                </a:solidFill>
              </a:rPr>
              <a:t> and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GB" sz="2000" dirty="0">
                <a:solidFill>
                  <a:srgbClr val="C00000"/>
                </a:solidFill>
              </a:rPr>
              <a:t>), but still slow at “middle”.</a:t>
            </a:r>
          </a:p>
          <a:p>
            <a:pPr marL="180000" indent="-1800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ArrayDeque</a:t>
            </a:r>
            <a:r>
              <a:rPr lang="en-GB" sz="2000" dirty="0">
                <a:solidFill>
                  <a:srgbClr val="C00000"/>
                </a:solidFill>
              </a:rPr>
              <a:t> is good for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GB" sz="2000" dirty="0">
                <a:solidFill>
                  <a:srgbClr val="C00000"/>
                </a:solidFill>
              </a:rPr>
              <a:t>, FIFO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sz="2000" dirty="0">
                <a:solidFill>
                  <a:srgbClr val="C00000"/>
                </a:solidFill>
              </a:rPr>
              <a:t>, and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sz="2000" dirty="0">
                <a:solidFill>
                  <a:srgbClr val="C00000"/>
                </a:solidFill>
              </a:rPr>
              <a:t>; but can be slow for some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sz="2000" dirty="0">
                <a:solidFill>
                  <a:srgbClr val="C00000"/>
                </a:solidFill>
              </a:rPr>
              <a:t> operations.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Capacity of array is also a problem.</a:t>
            </a:r>
          </a:p>
        </p:txBody>
      </p:sp>
    </p:spTree>
    <p:extLst>
      <p:ext uri="{BB962C8B-B14F-4D97-AF65-F5344CB8AC3E}">
        <p14:creationId xmlns:p14="http://schemas.microsoft.com/office/powerpoint/2010/main" val="356512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793D9D2-7B19-4F10-A7C8-EC4853686D4B}"/>
              </a:ext>
            </a:extLst>
          </p:cNvPr>
          <p:cNvSpPr/>
          <p:nvPr/>
        </p:nvSpPr>
        <p:spPr>
          <a:xfrm>
            <a:off x="7482553" y="2269535"/>
            <a:ext cx="423420" cy="3077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052F850-AFDA-4A1A-9D1F-66613BFB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Using linked list to implement 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GB" dirty="0"/>
              <a:t> data structure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/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List</a:t>
                </a:r>
                <a:r>
                  <a:rPr lang="en-US" sz="2000" dirty="0"/>
                  <a:t> interface supports the following operations: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Size()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 length of the list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Add(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increase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decrease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blipFill>
                <a:blip r:embed="rId2"/>
                <a:stretch>
                  <a:fillRect l="-1037" t="-1131" r="-207" b="-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组合 62">
            <a:extLst>
              <a:ext uri="{FF2B5EF4-FFF2-40B4-BE49-F238E27FC236}">
                <a16:creationId xmlns:a16="http://schemas.microsoft.com/office/drawing/2014/main" id="{99D9EBEA-6AC1-490D-9E86-918708B6C0C8}"/>
              </a:ext>
            </a:extLst>
          </p:cNvPr>
          <p:cNvGrpSpPr/>
          <p:nvPr/>
        </p:nvGrpSpPr>
        <p:grpSpPr>
          <a:xfrm>
            <a:off x="4544508" y="2235418"/>
            <a:ext cx="3482126" cy="923329"/>
            <a:chOff x="4411013" y="2104718"/>
            <a:chExt cx="3482126" cy="923329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F54BF058-C365-4F3B-A98F-106DE1648191}"/>
                </a:ext>
              </a:extLst>
            </p:cNvPr>
            <p:cNvGrpSpPr/>
            <p:nvPr/>
          </p:nvGrpSpPr>
          <p:grpSpPr>
            <a:xfrm>
              <a:off x="4572000" y="2658715"/>
              <a:ext cx="702036" cy="369332"/>
              <a:chOff x="6616339" y="2519920"/>
              <a:chExt cx="702036" cy="369332"/>
            </a:xfrm>
          </p:grpSpPr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3020F974-01F2-4D87-A6BC-48AE1CB1B47F}"/>
                  </a:ext>
                </a:extLst>
              </p:cNvPr>
              <p:cNvSpPr txBox="1"/>
              <p:nvPr/>
            </p:nvSpPr>
            <p:spPr>
              <a:xfrm>
                <a:off x="6616339" y="251992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8D86F878-3C6C-4F80-930F-65B276B06F39}"/>
                  </a:ext>
                </a:extLst>
              </p:cNvPr>
              <p:cNvSpPr txBox="1"/>
              <p:nvPr/>
            </p:nvSpPr>
            <p:spPr>
              <a:xfrm>
                <a:off x="6940339" y="2519920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F3944DFA-6B36-4A52-8B50-A59D2A5B6F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2704" y="2704586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4430202B-12C8-4E3F-AAE7-C03391103743}"/>
                </a:ext>
              </a:extLst>
            </p:cNvPr>
            <p:cNvGrpSpPr/>
            <p:nvPr/>
          </p:nvGrpSpPr>
          <p:grpSpPr>
            <a:xfrm>
              <a:off x="5274036" y="2658715"/>
              <a:ext cx="702036" cy="369332"/>
              <a:chOff x="6616339" y="2519920"/>
              <a:chExt cx="702036" cy="369332"/>
            </a:xfrm>
          </p:grpSpPr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4C713798-7A74-422C-B2C2-961CC9115A33}"/>
                  </a:ext>
                </a:extLst>
              </p:cNvPr>
              <p:cNvSpPr txBox="1"/>
              <p:nvPr/>
            </p:nvSpPr>
            <p:spPr>
              <a:xfrm>
                <a:off x="6616339" y="251992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71655E4C-B9DC-4874-A87C-EF2ACB8E072B}"/>
                  </a:ext>
                </a:extLst>
              </p:cNvPr>
              <p:cNvSpPr txBox="1"/>
              <p:nvPr/>
            </p:nvSpPr>
            <p:spPr>
              <a:xfrm>
                <a:off x="6940339" y="2519920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93" name="直接箭头连接符 92">
                <a:extLst>
                  <a:ext uri="{FF2B5EF4-FFF2-40B4-BE49-F238E27FC236}">
                    <a16:creationId xmlns:a16="http://schemas.microsoft.com/office/drawing/2014/main" id="{1C33BA43-2CB2-4C2A-A4CB-9141638903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2704" y="2704586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82A123B4-DFC0-4475-8C86-CAA00B73B31B}"/>
                </a:ext>
              </a:extLst>
            </p:cNvPr>
            <p:cNvGrpSpPr/>
            <p:nvPr/>
          </p:nvGrpSpPr>
          <p:grpSpPr>
            <a:xfrm>
              <a:off x="5976072" y="2658715"/>
              <a:ext cx="702036" cy="369332"/>
              <a:chOff x="6616339" y="2519920"/>
              <a:chExt cx="702036" cy="369332"/>
            </a:xfrm>
          </p:grpSpPr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77AC48C0-A0D6-4E39-AB81-FB2CB713E46C}"/>
                  </a:ext>
                </a:extLst>
              </p:cNvPr>
              <p:cNvSpPr txBox="1"/>
              <p:nvPr/>
            </p:nvSpPr>
            <p:spPr>
              <a:xfrm>
                <a:off x="6616339" y="251992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9D741091-01BF-46A7-91E4-D1D71535F6EC}"/>
                  </a:ext>
                </a:extLst>
              </p:cNvPr>
              <p:cNvSpPr txBox="1"/>
              <p:nvPr/>
            </p:nvSpPr>
            <p:spPr>
              <a:xfrm>
                <a:off x="6940339" y="2519920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97" name="直接箭头连接符 96">
                <a:extLst>
                  <a:ext uri="{FF2B5EF4-FFF2-40B4-BE49-F238E27FC236}">
                    <a16:creationId xmlns:a16="http://schemas.microsoft.com/office/drawing/2014/main" id="{691C8360-EEB7-41DF-B715-000519685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2704" y="2704586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5CE56148-B1EC-462D-A809-D06265AE6E56}"/>
                </a:ext>
              </a:extLst>
            </p:cNvPr>
            <p:cNvGrpSpPr/>
            <p:nvPr/>
          </p:nvGrpSpPr>
          <p:grpSpPr>
            <a:xfrm>
              <a:off x="6678108" y="2658715"/>
              <a:ext cx="702036" cy="369332"/>
              <a:chOff x="6616339" y="2519920"/>
              <a:chExt cx="702036" cy="369332"/>
            </a:xfrm>
          </p:grpSpPr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CBA1A73D-DB9B-4A24-AB32-16ED0942F8C1}"/>
                  </a:ext>
                </a:extLst>
              </p:cNvPr>
              <p:cNvSpPr txBox="1"/>
              <p:nvPr/>
            </p:nvSpPr>
            <p:spPr>
              <a:xfrm>
                <a:off x="6616339" y="251992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A4E98382-7243-4F6B-ACE2-7A8475B2E492}"/>
                  </a:ext>
                </a:extLst>
              </p:cNvPr>
              <p:cNvSpPr txBox="1"/>
              <p:nvPr/>
            </p:nvSpPr>
            <p:spPr>
              <a:xfrm>
                <a:off x="6940339" y="2519920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01" name="直接箭头连接符 100">
                <a:extLst>
                  <a:ext uri="{FF2B5EF4-FFF2-40B4-BE49-F238E27FC236}">
                    <a16:creationId xmlns:a16="http://schemas.microsoft.com/office/drawing/2014/main" id="{8A558B26-736C-4883-AC11-4143A8ED91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2704" y="2704586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2817A970-737F-410C-945B-AFCCE02E2904}"/>
                </a:ext>
              </a:extLst>
            </p:cNvPr>
            <p:cNvGrpSpPr/>
            <p:nvPr/>
          </p:nvGrpSpPr>
          <p:grpSpPr>
            <a:xfrm>
              <a:off x="7384408" y="2658715"/>
              <a:ext cx="508731" cy="369332"/>
              <a:chOff x="6616339" y="2519920"/>
              <a:chExt cx="508731" cy="369332"/>
            </a:xfrm>
          </p:grpSpPr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32EF98E8-2A41-40F0-9A33-EE02447EB4AB}"/>
                  </a:ext>
                </a:extLst>
              </p:cNvPr>
              <p:cNvSpPr txBox="1"/>
              <p:nvPr/>
            </p:nvSpPr>
            <p:spPr>
              <a:xfrm>
                <a:off x="6616339" y="251992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k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A8F7616A-A772-4131-879A-9B36467147F3}"/>
                  </a:ext>
                </a:extLst>
              </p:cNvPr>
              <p:cNvSpPr txBox="1"/>
              <p:nvPr/>
            </p:nvSpPr>
            <p:spPr>
              <a:xfrm>
                <a:off x="6940339" y="2519920"/>
                <a:ext cx="184731" cy="369332"/>
              </a:xfrm>
              <a:prstGeom prst="rect">
                <a:avLst/>
              </a:prstGeom>
              <a:pattFill prst="wdUpDiag">
                <a:fgClr>
                  <a:schemeClr val="tx1"/>
                </a:fgClr>
                <a:bgClr>
                  <a:schemeClr val="bg2"/>
                </a:bgClr>
              </a:patt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E57C7AA5-F967-4632-935A-1D4F1C0B1AEB}"/>
                </a:ext>
              </a:extLst>
            </p:cNvPr>
            <p:cNvCxnSpPr>
              <a:cxnSpLocks/>
            </p:cNvCxnSpPr>
            <p:nvPr/>
          </p:nvCxnSpPr>
          <p:spPr>
            <a:xfrm>
              <a:off x="4732988" y="2386190"/>
              <a:ext cx="0" cy="272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69AE30D0-8855-4ED4-A775-072BAF1024AD}"/>
                </a:ext>
              </a:extLst>
            </p:cNvPr>
            <p:cNvSpPr txBox="1"/>
            <p:nvPr/>
          </p:nvSpPr>
          <p:spPr>
            <a:xfrm>
              <a:off x="4411013" y="2104718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cs typeface="Courier New" panose="02070309020205020404" pitchFamily="49" charset="0"/>
                </a:rPr>
                <a:t>head</a:t>
              </a:r>
              <a:endParaRPr lang="en-US" dirty="0">
                <a:cs typeface="Courier New" panose="02070309020205020404" pitchFamily="49" charset="0"/>
              </a:endParaRPr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9B02EA6D-9C8E-48C0-92A0-580980748136}"/>
                </a:ext>
              </a:extLst>
            </p:cNvPr>
            <p:cNvCxnSpPr>
              <a:cxnSpLocks/>
            </p:cNvCxnSpPr>
            <p:nvPr/>
          </p:nvCxnSpPr>
          <p:spPr>
            <a:xfrm>
              <a:off x="7560768" y="2386190"/>
              <a:ext cx="0" cy="272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1BE93EEC-2F77-4171-9ECF-705319A59DA6}"/>
                </a:ext>
              </a:extLst>
            </p:cNvPr>
            <p:cNvSpPr txBox="1"/>
            <p:nvPr/>
          </p:nvSpPr>
          <p:spPr>
            <a:xfrm>
              <a:off x="7328369" y="2104718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cs typeface="Courier New" panose="02070309020205020404" pitchFamily="49" charset="0"/>
                </a:rPr>
                <a:t>tail</a:t>
              </a:r>
              <a:endParaRPr lang="en-US" dirty="0">
                <a:cs typeface="Courier New" panose="020703090202050204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27F6E839-5C3F-4417-AEBB-7022F1E6552D}"/>
                  </a:ext>
                </a:extLst>
              </p:cNvPr>
              <p:cNvSpPr txBox="1"/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C00000"/>
                    </a:solidFill>
                  </a:rPr>
                  <a:t>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27F6E839-5C3F-4417-AEBB-7022F1E65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blipFill>
                <a:blip r:embed="rId3"/>
                <a:stretch>
                  <a:fillRect l="-3653" t="-10000" r="-9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148F0E1F-335D-4802-8634-E9173495AE9E}"/>
                  </a:ext>
                </a:extLst>
              </p:cNvPr>
              <p:cNvSpPr txBox="1"/>
              <p:nvPr/>
            </p:nvSpPr>
            <p:spPr>
              <a:xfrm>
                <a:off x="1884764" y="2533614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148F0E1F-335D-4802-8634-E9173495A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4" y="2533614"/>
                <a:ext cx="1438342" cy="369332"/>
              </a:xfrm>
              <a:prstGeom prst="rect">
                <a:avLst/>
              </a:prstGeom>
              <a:blipFill>
                <a:blip r:embed="rId4"/>
                <a:stretch>
                  <a:fillRect t="-10000" r="-4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647725C7-4C2D-4B69-B2D1-7DE9BBDCB29A}"/>
                  </a:ext>
                </a:extLst>
              </p:cNvPr>
              <p:cNvSpPr txBox="1"/>
              <p:nvPr/>
            </p:nvSpPr>
            <p:spPr>
              <a:xfrm>
                <a:off x="2149548" y="3062096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647725C7-4C2D-4B69-B2D1-7DE9BBDCB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062096"/>
                <a:ext cx="1438342" cy="369332"/>
              </a:xfrm>
              <a:prstGeom prst="rect">
                <a:avLst/>
              </a:prstGeom>
              <a:blipFill>
                <a:blip r:embed="rId5"/>
                <a:stretch>
                  <a:fillRect t="-8197" r="-4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842A8D0B-C1DF-4172-9450-448AB857A4B9}"/>
                  </a:ext>
                </a:extLst>
              </p:cNvPr>
              <p:cNvSpPr txBox="1"/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842A8D0B-C1DF-4172-9450-448AB857A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blipFill>
                <a:blip r:embed="rId6"/>
                <a:stretch>
                  <a:fillRect t="-8197" r="-4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9D91DC91-33E2-4B11-8F68-BB83DCD62994}"/>
                  </a:ext>
                </a:extLst>
              </p:cNvPr>
              <p:cNvSpPr txBox="1"/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9D91DC91-33E2-4B11-8F68-BB83DCD62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blipFill>
                <a:blip r:embed="rId7"/>
                <a:stretch>
                  <a:fillRect t="-10000" r="-4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文本框 114">
            <a:extLst>
              <a:ext uri="{FF2B5EF4-FFF2-40B4-BE49-F238E27FC236}">
                <a16:creationId xmlns:a16="http://schemas.microsoft.com/office/drawing/2014/main" id="{120C9214-EA66-4AE9-B4AC-532C4C203061}"/>
              </a:ext>
            </a:extLst>
          </p:cNvPr>
          <p:cNvSpPr txBox="1"/>
          <p:nvPr/>
        </p:nvSpPr>
        <p:spPr>
          <a:xfrm>
            <a:off x="4327473" y="3663577"/>
            <a:ext cx="4411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Q:</a:t>
            </a:r>
            <a:r>
              <a:rPr lang="en-GB" sz="2000" dirty="0"/>
              <a:t> Is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GB" sz="2000" dirty="0"/>
              <a:t> good for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GB" sz="2000" dirty="0"/>
              <a:t>?</a:t>
            </a:r>
          </a:p>
          <a:p>
            <a:r>
              <a:rPr lang="en-GB" sz="2000" b="1" dirty="0"/>
              <a:t>A:</a:t>
            </a:r>
            <a:r>
              <a:rPr lang="en-GB" sz="2000" dirty="0"/>
              <a:t> Yes. (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GB" sz="2000" dirty="0"/>
              <a:t> and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GB" sz="2000" dirty="0"/>
              <a:t> at head are fast.)</a:t>
            </a:r>
            <a:endParaRPr lang="en-US" sz="20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AF48470D-3291-46D8-B545-7521CE536561}"/>
              </a:ext>
            </a:extLst>
          </p:cNvPr>
          <p:cNvSpPr txBox="1"/>
          <p:nvPr/>
        </p:nvSpPr>
        <p:spPr>
          <a:xfrm>
            <a:off x="4327473" y="4558430"/>
            <a:ext cx="4644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Q:</a:t>
            </a:r>
            <a:r>
              <a:rPr lang="en-GB" sz="2000" dirty="0"/>
              <a:t> Is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GB" sz="2000" dirty="0"/>
              <a:t> good for FIFO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sz="2000" dirty="0"/>
              <a:t>?</a:t>
            </a:r>
          </a:p>
          <a:p>
            <a:r>
              <a:rPr lang="en-GB" sz="2000" b="1" dirty="0"/>
              <a:t>A:</a:t>
            </a:r>
            <a:r>
              <a:rPr lang="en-GB" sz="2000" dirty="0"/>
              <a:t> Yes. (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GB" sz="2000" dirty="0"/>
              <a:t> and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Dequeue</a:t>
            </a:r>
            <a:r>
              <a:rPr lang="en-GB" sz="2000" dirty="0"/>
              <a:t> are fast.)</a:t>
            </a:r>
            <a:endParaRPr lang="en-US" sz="20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054FFC4F-C61F-4205-AB76-5D77CAE2DFF5}"/>
              </a:ext>
            </a:extLst>
          </p:cNvPr>
          <p:cNvSpPr txBox="1"/>
          <p:nvPr/>
        </p:nvSpPr>
        <p:spPr>
          <a:xfrm>
            <a:off x="4327473" y="5453283"/>
            <a:ext cx="41321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Q:</a:t>
            </a:r>
            <a:r>
              <a:rPr lang="en-GB" sz="2000" dirty="0"/>
              <a:t> Is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GB" sz="2000" dirty="0"/>
              <a:t> good for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sz="2000" dirty="0"/>
              <a:t>?</a:t>
            </a:r>
          </a:p>
          <a:p>
            <a:r>
              <a:rPr lang="en-GB" sz="2000" b="1" dirty="0"/>
              <a:t>A:</a:t>
            </a:r>
            <a:r>
              <a:rPr lang="en-GB" sz="2000" dirty="0"/>
              <a:t> No. 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RemoveLast</a:t>
            </a:r>
            <a:r>
              <a:rPr lang="en-GB" sz="2000" dirty="0"/>
              <a:t> can be slow.)</a:t>
            </a:r>
            <a:endParaRPr lang="en-US" sz="20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96BD39D-B2FD-41C8-B138-1A6BFC538008}"/>
              </a:ext>
            </a:extLst>
          </p:cNvPr>
          <p:cNvSpPr txBox="1"/>
          <p:nvPr/>
        </p:nvSpPr>
        <p:spPr>
          <a:xfrm>
            <a:off x="628650" y="5516251"/>
            <a:ext cx="2967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C00000"/>
                </a:solidFill>
              </a:rPr>
              <a:t>Traversing backwards from</a:t>
            </a:r>
            <a:br>
              <a:rPr lang="en-GB" sz="2000" dirty="0">
                <a:solidFill>
                  <a:srgbClr val="C00000"/>
                </a:solidFill>
              </a:rPr>
            </a:br>
            <a:r>
              <a:rPr lang="en-GB" sz="2000" dirty="0">
                <a:solidFill>
                  <a:srgbClr val="C00000"/>
                </a:solidFill>
              </a:rPr>
              <a:t>tail is not efficient.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8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10" grpId="0"/>
      <p:bldP spid="111" grpId="0"/>
      <p:bldP spid="112" grpId="0"/>
      <p:bldP spid="113" grpId="0"/>
      <p:bldP spid="114" grpId="0"/>
      <p:bldP spid="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2F850-AFDA-4A1A-9D1F-66613BFB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Using doubly-linked list to implement 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DLinkedList</a:t>
            </a:r>
            <a:r>
              <a:rPr lang="en-GB" dirty="0"/>
              <a:t> data structure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/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List</a:t>
                </a:r>
                <a:r>
                  <a:rPr lang="en-US" sz="2000" dirty="0"/>
                  <a:t> interface supports the following operations: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Size()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 length of the list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Add(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increase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decrease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blipFill>
                <a:blip r:embed="rId2"/>
                <a:stretch>
                  <a:fillRect l="-1037" t="-1131" r="-207" b="-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组合 62">
            <a:extLst>
              <a:ext uri="{FF2B5EF4-FFF2-40B4-BE49-F238E27FC236}">
                <a16:creationId xmlns:a16="http://schemas.microsoft.com/office/drawing/2014/main" id="{99D9EBEA-6AC1-490D-9E86-918708B6C0C8}"/>
              </a:ext>
            </a:extLst>
          </p:cNvPr>
          <p:cNvGrpSpPr/>
          <p:nvPr/>
        </p:nvGrpSpPr>
        <p:grpSpPr>
          <a:xfrm>
            <a:off x="4544508" y="2235418"/>
            <a:ext cx="3482126" cy="923329"/>
            <a:chOff x="4411013" y="2104718"/>
            <a:chExt cx="3482126" cy="923329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F54BF058-C365-4F3B-A98F-106DE1648191}"/>
                </a:ext>
              </a:extLst>
            </p:cNvPr>
            <p:cNvGrpSpPr/>
            <p:nvPr/>
          </p:nvGrpSpPr>
          <p:grpSpPr>
            <a:xfrm>
              <a:off x="4572000" y="2658715"/>
              <a:ext cx="702036" cy="369332"/>
              <a:chOff x="6616339" y="2519920"/>
              <a:chExt cx="702036" cy="369332"/>
            </a:xfrm>
          </p:grpSpPr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3020F974-01F2-4D87-A6BC-48AE1CB1B47F}"/>
                  </a:ext>
                </a:extLst>
              </p:cNvPr>
              <p:cNvSpPr txBox="1"/>
              <p:nvPr/>
            </p:nvSpPr>
            <p:spPr>
              <a:xfrm>
                <a:off x="6616339" y="251992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8D86F878-3C6C-4F80-930F-65B276B06F39}"/>
                  </a:ext>
                </a:extLst>
              </p:cNvPr>
              <p:cNvSpPr txBox="1"/>
              <p:nvPr/>
            </p:nvSpPr>
            <p:spPr>
              <a:xfrm>
                <a:off x="6940339" y="2519920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F3944DFA-6B36-4A52-8B50-A59D2A5B6F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2704" y="2704586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4430202B-12C8-4E3F-AAE7-C03391103743}"/>
                </a:ext>
              </a:extLst>
            </p:cNvPr>
            <p:cNvGrpSpPr/>
            <p:nvPr/>
          </p:nvGrpSpPr>
          <p:grpSpPr>
            <a:xfrm>
              <a:off x="5274036" y="2658715"/>
              <a:ext cx="702036" cy="369332"/>
              <a:chOff x="6616339" y="2519920"/>
              <a:chExt cx="702036" cy="369332"/>
            </a:xfrm>
          </p:grpSpPr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4C713798-7A74-422C-B2C2-961CC9115A33}"/>
                  </a:ext>
                </a:extLst>
              </p:cNvPr>
              <p:cNvSpPr txBox="1"/>
              <p:nvPr/>
            </p:nvSpPr>
            <p:spPr>
              <a:xfrm>
                <a:off x="6616339" y="251992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71655E4C-B9DC-4874-A87C-EF2ACB8E072B}"/>
                  </a:ext>
                </a:extLst>
              </p:cNvPr>
              <p:cNvSpPr txBox="1"/>
              <p:nvPr/>
            </p:nvSpPr>
            <p:spPr>
              <a:xfrm>
                <a:off x="6940339" y="2519920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93" name="直接箭头连接符 92">
                <a:extLst>
                  <a:ext uri="{FF2B5EF4-FFF2-40B4-BE49-F238E27FC236}">
                    <a16:creationId xmlns:a16="http://schemas.microsoft.com/office/drawing/2014/main" id="{1C33BA43-2CB2-4C2A-A4CB-9141638903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2704" y="2704586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82A123B4-DFC0-4475-8C86-CAA00B73B31B}"/>
                </a:ext>
              </a:extLst>
            </p:cNvPr>
            <p:cNvGrpSpPr/>
            <p:nvPr/>
          </p:nvGrpSpPr>
          <p:grpSpPr>
            <a:xfrm>
              <a:off x="5976072" y="2658715"/>
              <a:ext cx="702036" cy="369332"/>
              <a:chOff x="6616339" y="2519920"/>
              <a:chExt cx="702036" cy="369332"/>
            </a:xfrm>
          </p:grpSpPr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77AC48C0-A0D6-4E39-AB81-FB2CB713E46C}"/>
                  </a:ext>
                </a:extLst>
              </p:cNvPr>
              <p:cNvSpPr txBox="1"/>
              <p:nvPr/>
            </p:nvSpPr>
            <p:spPr>
              <a:xfrm>
                <a:off x="6616339" y="251992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9D741091-01BF-46A7-91E4-D1D71535F6EC}"/>
                  </a:ext>
                </a:extLst>
              </p:cNvPr>
              <p:cNvSpPr txBox="1"/>
              <p:nvPr/>
            </p:nvSpPr>
            <p:spPr>
              <a:xfrm>
                <a:off x="6940339" y="2519920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97" name="直接箭头连接符 96">
                <a:extLst>
                  <a:ext uri="{FF2B5EF4-FFF2-40B4-BE49-F238E27FC236}">
                    <a16:creationId xmlns:a16="http://schemas.microsoft.com/office/drawing/2014/main" id="{691C8360-EEB7-41DF-B715-000519685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2704" y="2704586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5CE56148-B1EC-462D-A809-D06265AE6E56}"/>
                </a:ext>
              </a:extLst>
            </p:cNvPr>
            <p:cNvGrpSpPr/>
            <p:nvPr/>
          </p:nvGrpSpPr>
          <p:grpSpPr>
            <a:xfrm>
              <a:off x="6678108" y="2658715"/>
              <a:ext cx="702036" cy="369332"/>
              <a:chOff x="6616339" y="2519920"/>
              <a:chExt cx="702036" cy="369332"/>
            </a:xfrm>
          </p:grpSpPr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CBA1A73D-DB9B-4A24-AB32-16ED0942F8C1}"/>
                  </a:ext>
                </a:extLst>
              </p:cNvPr>
              <p:cNvSpPr txBox="1"/>
              <p:nvPr/>
            </p:nvSpPr>
            <p:spPr>
              <a:xfrm>
                <a:off x="6616339" y="251992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A4E98382-7243-4F6B-ACE2-7A8475B2E492}"/>
                  </a:ext>
                </a:extLst>
              </p:cNvPr>
              <p:cNvSpPr txBox="1"/>
              <p:nvPr/>
            </p:nvSpPr>
            <p:spPr>
              <a:xfrm>
                <a:off x="6940339" y="2519920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01" name="直接箭头连接符 100">
                <a:extLst>
                  <a:ext uri="{FF2B5EF4-FFF2-40B4-BE49-F238E27FC236}">
                    <a16:creationId xmlns:a16="http://schemas.microsoft.com/office/drawing/2014/main" id="{8A558B26-736C-4883-AC11-4143A8ED91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2704" y="2704586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2817A970-737F-410C-945B-AFCCE02E2904}"/>
                </a:ext>
              </a:extLst>
            </p:cNvPr>
            <p:cNvGrpSpPr/>
            <p:nvPr/>
          </p:nvGrpSpPr>
          <p:grpSpPr>
            <a:xfrm>
              <a:off x="7384408" y="2658715"/>
              <a:ext cx="508731" cy="369332"/>
              <a:chOff x="6616339" y="2519920"/>
              <a:chExt cx="508731" cy="369332"/>
            </a:xfrm>
          </p:grpSpPr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32EF98E8-2A41-40F0-9A33-EE02447EB4AB}"/>
                  </a:ext>
                </a:extLst>
              </p:cNvPr>
              <p:cNvSpPr txBox="1"/>
              <p:nvPr/>
            </p:nvSpPr>
            <p:spPr>
              <a:xfrm>
                <a:off x="6616339" y="251992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k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A8F7616A-A772-4131-879A-9B36467147F3}"/>
                  </a:ext>
                </a:extLst>
              </p:cNvPr>
              <p:cNvSpPr txBox="1"/>
              <p:nvPr/>
            </p:nvSpPr>
            <p:spPr>
              <a:xfrm>
                <a:off x="6940339" y="2519920"/>
                <a:ext cx="184731" cy="369332"/>
              </a:xfrm>
              <a:prstGeom prst="rect">
                <a:avLst/>
              </a:prstGeom>
              <a:pattFill prst="wdUpDiag">
                <a:fgClr>
                  <a:schemeClr val="tx1"/>
                </a:fgClr>
                <a:bgClr>
                  <a:schemeClr val="bg2"/>
                </a:bgClr>
              </a:patt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E57C7AA5-F967-4632-935A-1D4F1C0B1AEB}"/>
                </a:ext>
              </a:extLst>
            </p:cNvPr>
            <p:cNvCxnSpPr>
              <a:cxnSpLocks/>
            </p:cNvCxnSpPr>
            <p:nvPr/>
          </p:nvCxnSpPr>
          <p:spPr>
            <a:xfrm>
              <a:off x="4732988" y="2386190"/>
              <a:ext cx="0" cy="272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69AE30D0-8855-4ED4-A775-072BAF1024AD}"/>
                </a:ext>
              </a:extLst>
            </p:cNvPr>
            <p:cNvSpPr txBox="1"/>
            <p:nvPr/>
          </p:nvSpPr>
          <p:spPr>
            <a:xfrm>
              <a:off x="4411013" y="2104718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cs typeface="Courier New" panose="02070309020205020404" pitchFamily="49" charset="0"/>
                </a:rPr>
                <a:t>head</a:t>
              </a:r>
              <a:endParaRPr lang="en-US" dirty="0">
                <a:cs typeface="Courier New" panose="02070309020205020404" pitchFamily="49" charset="0"/>
              </a:endParaRPr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9B02EA6D-9C8E-48C0-92A0-580980748136}"/>
                </a:ext>
              </a:extLst>
            </p:cNvPr>
            <p:cNvCxnSpPr>
              <a:cxnSpLocks/>
            </p:cNvCxnSpPr>
            <p:nvPr/>
          </p:nvCxnSpPr>
          <p:spPr>
            <a:xfrm>
              <a:off x="7560768" y="2386190"/>
              <a:ext cx="0" cy="272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1BE93EEC-2F77-4171-9ECF-705319A59DA6}"/>
                </a:ext>
              </a:extLst>
            </p:cNvPr>
            <p:cNvSpPr txBox="1"/>
            <p:nvPr/>
          </p:nvSpPr>
          <p:spPr>
            <a:xfrm>
              <a:off x="7328369" y="2104718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cs typeface="Courier New" panose="02070309020205020404" pitchFamily="49" charset="0"/>
                </a:rPr>
                <a:t>tail</a:t>
              </a:r>
              <a:endParaRPr lang="en-US" dirty="0">
                <a:cs typeface="Courier New" panose="02070309020205020404" pitchFamily="49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7560175-D8A4-46DB-9A9F-3966DA4732F5}"/>
              </a:ext>
            </a:extLst>
          </p:cNvPr>
          <p:cNvGrpSpPr/>
          <p:nvPr/>
        </p:nvGrpSpPr>
        <p:grpSpPr>
          <a:xfrm>
            <a:off x="4315239" y="3570416"/>
            <a:ext cx="4234719" cy="923329"/>
            <a:chOff x="4315239" y="3570416"/>
            <a:chExt cx="4234719" cy="92332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59F408A-5603-4D6E-BB79-22DF1B84C5A8}"/>
                </a:ext>
              </a:extLst>
            </p:cNvPr>
            <p:cNvGrpSpPr/>
            <p:nvPr/>
          </p:nvGrpSpPr>
          <p:grpSpPr>
            <a:xfrm>
              <a:off x="4338983" y="3570416"/>
              <a:ext cx="654346" cy="553997"/>
              <a:chOff x="4572000" y="3528078"/>
              <a:chExt cx="654346" cy="553997"/>
            </a:xfrm>
          </p:grpSpPr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C4B874B2-4F56-4064-869F-911892055A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3975" y="3809550"/>
                <a:ext cx="0" cy="27252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74A1DA1-4B75-4CCA-93EF-A2B6634FA76E}"/>
                  </a:ext>
                </a:extLst>
              </p:cNvPr>
              <p:cNvSpPr txBox="1"/>
              <p:nvPr/>
            </p:nvSpPr>
            <p:spPr>
              <a:xfrm>
                <a:off x="4572000" y="3528078"/>
                <a:ext cx="6543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cs typeface="Courier New" panose="02070309020205020404" pitchFamily="49" charset="0"/>
                  </a:rPr>
                  <a:t>head</a:t>
                </a:r>
                <a:endParaRPr lang="en-US" dirty="0"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A9FFC96-26AF-44FC-8975-90B48296066B}"/>
                </a:ext>
              </a:extLst>
            </p:cNvPr>
            <p:cNvGrpSpPr/>
            <p:nvPr/>
          </p:nvGrpSpPr>
          <p:grpSpPr>
            <a:xfrm>
              <a:off x="4315239" y="4124413"/>
              <a:ext cx="886767" cy="369332"/>
              <a:chOff x="6086836" y="4299644"/>
              <a:chExt cx="886767" cy="369332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3049C873-FECA-4496-B426-B9351EDB21E8}"/>
                  </a:ext>
                </a:extLst>
              </p:cNvPr>
              <p:cNvSpPr txBox="1"/>
              <p:nvPr/>
            </p:nvSpPr>
            <p:spPr>
              <a:xfrm>
                <a:off x="6271567" y="4299644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5B23512-6E7B-40EB-B369-573FE667C0D7}"/>
                  </a:ext>
                </a:extLst>
              </p:cNvPr>
              <p:cNvSpPr txBox="1"/>
              <p:nvPr/>
            </p:nvSpPr>
            <p:spPr>
              <a:xfrm>
                <a:off x="6595567" y="4299644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BFD665BC-A6DA-45CB-9344-277A502AF5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7932" y="4398585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841B0B59-0F22-4F65-931F-112CF562EFA9}"/>
                  </a:ext>
                </a:extLst>
              </p:cNvPr>
              <p:cNvSpPr txBox="1"/>
              <p:nvPr/>
            </p:nvSpPr>
            <p:spPr>
              <a:xfrm>
                <a:off x="6086836" y="4299644"/>
                <a:ext cx="184731" cy="369332"/>
              </a:xfrm>
              <a:prstGeom prst="rect">
                <a:avLst/>
              </a:prstGeom>
              <a:pattFill prst="wdUpDiag">
                <a:fgClr>
                  <a:schemeClr val="tx1"/>
                </a:fgClr>
                <a:bgClr>
                  <a:schemeClr val="bg2"/>
                </a:bgClr>
              </a:patt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1318611-9CEE-4FB2-B410-E05BD5F70BB1}"/>
                </a:ext>
              </a:extLst>
            </p:cNvPr>
            <p:cNvGrpSpPr/>
            <p:nvPr/>
          </p:nvGrpSpPr>
          <p:grpSpPr>
            <a:xfrm>
              <a:off x="5008701" y="4115107"/>
              <a:ext cx="1080072" cy="369332"/>
              <a:chOff x="6780298" y="4290338"/>
              <a:chExt cx="1080072" cy="369332"/>
            </a:xfrm>
          </p:grpSpPr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355C2FC6-2C24-4FE5-80BE-3D556E3963AE}"/>
                  </a:ext>
                </a:extLst>
              </p:cNvPr>
              <p:cNvSpPr txBox="1"/>
              <p:nvPr/>
            </p:nvSpPr>
            <p:spPr>
              <a:xfrm>
                <a:off x="7158334" y="4290338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085209B4-7BB1-4C3F-8DF7-47167856F099}"/>
                  </a:ext>
                </a:extLst>
              </p:cNvPr>
              <p:cNvSpPr txBox="1"/>
              <p:nvPr/>
            </p:nvSpPr>
            <p:spPr>
              <a:xfrm>
                <a:off x="7482334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3" name="直接箭头连接符 72">
                <a:extLst>
                  <a:ext uri="{FF2B5EF4-FFF2-40B4-BE49-F238E27FC236}">
                    <a16:creationId xmlns:a16="http://schemas.microsoft.com/office/drawing/2014/main" id="{C275EDD2-780D-42BD-91D3-B988BA5C52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4699" y="4389279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9D0134B-E8CB-497B-AEF3-801BEF5FED6D}"/>
                  </a:ext>
                </a:extLst>
              </p:cNvPr>
              <p:cNvSpPr txBox="1"/>
              <p:nvPr/>
            </p:nvSpPr>
            <p:spPr>
              <a:xfrm>
                <a:off x="6973603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5" name="直接箭头连接符 74">
                <a:extLst>
                  <a:ext uri="{FF2B5EF4-FFF2-40B4-BE49-F238E27FC236}">
                    <a16:creationId xmlns:a16="http://schemas.microsoft.com/office/drawing/2014/main" id="{DC9DE7E6-103B-4D31-B0B3-40938BEB17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0298" y="4565812"/>
                <a:ext cx="28045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56848353-25C3-41B6-90F6-2B51FFAD4A01}"/>
                </a:ext>
              </a:extLst>
            </p:cNvPr>
            <p:cNvGrpSpPr/>
            <p:nvPr/>
          </p:nvGrpSpPr>
          <p:grpSpPr>
            <a:xfrm>
              <a:off x="5893531" y="4115107"/>
              <a:ext cx="1080072" cy="369332"/>
              <a:chOff x="6780298" y="4290338"/>
              <a:chExt cx="1080072" cy="369332"/>
            </a:xfrm>
          </p:grpSpPr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093FDB82-17DE-4CA8-AD4E-EC920E5EA53B}"/>
                  </a:ext>
                </a:extLst>
              </p:cNvPr>
              <p:cNvSpPr txBox="1"/>
              <p:nvPr/>
            </p:nvSpPr>
            <p:spPr>
              <a:xfrm>
                <a:off x="7158334" y="4290338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6C466D68-FC9E-4166-B1BC-B2554391B226}"/>
                  </a:ext>
                </a:extLst>
              </p:cNvPr>
              <p:cNvSpPr txBox="1"/>
              <p:nvPr/>
            </p:nvSpPr>
            <p:spPr>
              <a:xfrm>
                <a:off x="7482334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5" name="直接箭头连接符 84">
                <a:extLst>
                  <a:ext uri="{FF2B5EF4-FFF2-40B4-BE49-F238E27FC236}">
                    <a16:creationId xmlns:a16="http://schemas.microsoft.com/office/drawing/2014/main" id="{589BA184-84C8-4C6F-BE6E-EAE8400CBF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4699" y="4389279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CF6B4EB-6270-4BD9-B2C5-EF93579794AA}"/>
                  </a:ext>
                </a:extLst>
              </p:cNvPr>
              <p:cNvSpPr txBox="1"/>
              <p:nvPr/>
            </p:nvSpPr>
            <p:spPr>
              <a:xfrm>
                <a:off x="6973603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7" name="直接箭头连接符 86">
                <a:extLst>
                  <a:ext uri="{FF2B5EF4-FFF2-40B4-BE49-F238E27FC236}">
                    <a16:creationId xmlns:a16="http://schemas.microsoft.com/office/drawing/2014/main" id="{D812C12E-CFC9-4410-B45E-FE56C64575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0298" y="4565812"/>
                <a:ext cx="28045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1B06FA6F-E1B2-4420-B7F9-3BB67380F84F}"/>
                </a:ext>
              </a:extLst>
            </p:cNvPr>
            <p:cNvGrpSpPr/>
            <p:nvPr/>
          </p:nvGrpSpPr>
          <p:grpSpPr>
            <a:xfrm>
              <a:off x="6778361" y="4115107"/>
              <a:ext cx="1080072" cy="369332"/>
              <a:chOff x="6780298" y="4290338"/>
              <a:chExt cx="1080072" cy="369332"/>
            </a:xfrm>
          </p:grpSpPr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C9F44B59-4246-435E-987B-F454D32A4F24}"/>
                  </a:ext>
                </a:extLst>
              </p:cNvPr>
              <p:cNvSpPr txBox="1"/>
              <p:nvPr/>
            </p:nvSpPr>
            <p:spPr>
              <a:xfrm>
                <a:off x="7158334" y="4290338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CE324AE0-559A-4CAC-A1AD-E13E28B2D7F5}"/>
                  </a:ext>
                </a:extLst>
              </p:cNvPr>
              <p:cNvSpPr txBox="1"/>
              <p:nvPr/>
            </p:nvSpPr>
            <p:spPr>
              <a:xfrm>
                <a:off x="7482334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05" name="直接箭头连接符 104">
                <a:extLst>
                  <a:ext uri="{FF2B5EF4-FFF2-40B4-BE49-F238E27FC236}">
                    <a16:creationId xmlns:a16="http://schemas.microsoft.com/office/drawing/2014/main" id="{B0BB539A-6A49-4555-BA65-9B1FA64A4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4699" y="4389279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A3858E96-6794-4693-B769-19ED30571AE2}"/>
                  </a:ext>
                </a:extLst>
              </p:cNvPr>
              <p:cNvSpPr txBox="1"/>
              <p:nvPr/>
            </p:nvSpPr>
            <p:spPr>
              <a:xfrm>
                <a:off x="6973603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19" name="直接箭头连接符 118">
                <a:extLst>
                  <a:ext uri="{FF2B5EF4-FFF2-40B4-BE49-F238E27FC236}">
                    <a16:creationId xmlns:a16="http://schemas.microsoft.com/office/drawing/2014/main" id="{9F565FFA-FCD3-42D7-B74D-1683FFBCDE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0298" y="4565812"/>
                <a:ext cx="28045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1FC9F6AE-9AF1-41F0-8EC6-0939701C6BE3}"/>
                </a:ext>
              </a:extLst>
            </p:cNvPr>
            <p:cNvGrpSpPr/>
            <p:nvPr/>
          </p:nvGrpSpPr>
          <p:grpSpPr>
            <a:xfrm>
              <a:off x="7663191" y="4115107"/>
              <a:ext cx="886767" cy="369332"/>
              <a:chOff x="6780298" y="4290338"/>
              <a:chExt cx="886767" cy="369332"/>
            </a:xfrm>
          </p:grpSpPr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D2A62167-6246-459C-9B77-4332EA2134EF}"/>
                  </a:ext>
                </a:extLst>
              </p:cNvPr>
              <p:cNvSpPr txBox="1"/>
              <p:nvPr/>
            </p:nvSpPr>
            <p:spPr>
              <a:xfrm>
                <a:off x="7158334" y="4290338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k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E1528C48-C508-41C8-AA2D-948B81B43E80}"/>
                  </a:ext>
                </a:extLst>
              </p:cNvPr>
              <p:cNvSpPr txBox="1"/>
              <p:nvPr/>
            </p:nvSpPr>
            <p:spPr>
              <a:xfrm>
                <a:off x="7482334" y="4290338"/>
                <a:ext cx="184731" cy="369332"/>
              </a:xfrm>
              <a:prstGeom prst="rect">
                <a:avLst/>
              </a:prstGeom>
              <a:pattFill prst="wdUpDiag">
                <a:fgClr>
                  <a:schemeClr val="tx1"/>
                </a:fgClr>
                <a:bgClr>
                  <a:schemeClr val="bg2"/>
                </a:bgClr>
              </a:patt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EFA55319-751C-4231-AEE3-E1A4E50091DD}"/>
                  </a:ext>
                </a:extLst>
              </p:cNvPr>
              <p:cNvSpPr txBox="1"/>
              <p:nvPr/>
            </p:nvSpPr>
            <p:spPr>
              <a:xfrm>
                <a:off x="6973603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25" name="直接箭头连接符 124">
                <a:extLst>
                  <a:ext uri="{FF2B5EF4-FFF2-40B4-BE49-F238E27FC236}">
                    <a16:creationId xmlns:a16="http://schemas.microsoft.com/office/drawing/2014/main" id="{F312CF15-A3CB-4C7E-9F07-580B1871F6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0298" y="4565812"/>
                <a:ext cx="28045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BCC2B5CF-15B2-4B86-8D38-88AD5F5B7A72}"/>
                </a:ext>
              </a:extLst>
            </p:cNvPr>
            <p:cNvGrpSpPr/>
            <p:nvPr/>
          </p:nvGrpSpPr>
          <p:grpSpPr>
            <a:xfrm>
              <a:off x="7965830" y="3574889"/>
              <a:ext cx="475195" cy="553997"/>
              <a:chOff x="4661576" y="3528078"/>
              <a:chExt cx="475195" cy="553997"/>
            </a:xfrm>
          </p:grpSpPr>
          <p:cxnSp>
            <p:nvCxnSpPr>
              <p:cNvPr id="127" name="直接箭头连接符 126">
                <a:extLst>
                  <a:ext uri="{FF2B5EF4-FFF2-40B4-BE49-F238E27FC236}">
                    <a16:creationId xmlns:a16="http://schemas.microsoft.com/office/drawing/2014/main" id="{A52BFD62-A986-4A31-ADE9-9BCC1B2954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3975" y="3809550"/>
                <a:ext cx="0" cy="27252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326ADB59-B3BF-4454-B96D-A06FF7DD8EAA}"/>
                  </a:ext>
                </a:extLst>
              </p:cNvPr>
              <p:cNvSpPr txBox="1"/>
              <p:nvPr/>
            </p:nvSpPr>
            <p:spPr>
              <a:xfrm>
                <a:off x="4661576" y="3528078"/>
                <a:ext cx="47519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cs typeface="Courier New" panose="02070309020205020404" pitchFamily="49" charset="0"/>
                  </a:rPr>
                  <a:t>tail</a:t>
                </a:r>
                <a:endParaRPr lang="en-US" dirty="0">
                  <a:cs typeface="Courier New" panose="02070309020205020404" pitchFamily="49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434A4ABF-36D4-47E5-B6E0-1EFF622FE0EC}"/>
                  </a:ext>
                </a:extLst>
              </p:cNvPr>
              <p:cNvSpPr txBox="1"/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C00000"/>
                    </a:solidFill>
                  </a:rPr>
                  <a:t>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434A4ABF-36D4-47E5-B6E0-1EFF622FE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blipFill>
                <a:blip r:embed="rId3"/>
                <a:stretch>
                  <a:fillRect l="-3653" t="-10000" r="-9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1F66ED2D-5260-49E9-A6E2-5133C12ECB83}"/>
                  </a:ext>
                </a:extLst>
              </p:cNvPr>
              <p:cNvSpPr txBox="1"/>
              <p:nvPr/>
            </p:nvSpPr>
            <p:spPr>
              <a:xfrm>
                <a:off x="1884764" y="2533614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1F66ED2D-5260-49E9-A6E2-5133C12EC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4" y="2533614"/>
                <a:ext cx="1438342" cy="369332"/>
              </a:xfrm>
              <a:prstGeom prst="rect">
                <a:avLst/>
              </a:prstGeom>
              <a:blipFill>
                <a:blip r:embed="rId4"/>
                <a:stretch>
                  <a:fillRect t="-10000" r="-4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F871147C-0E6E-4433-BF2A-744997915E7A}"/>
                  </a:ext>
                </a:extLst>
              </p:cNvPr>
              <p:cNvSpPr txBox="1"/>
              <p:nvPr/>
            </p:nvSpPr>
            <p:spPr>
              <a:xfrm>
                <a:off x="2149548" y="3062096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F871147C-0E6E-4433-BF2A-744997915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062096"/>
                <a:ext cx="1438342" cy="369332"/>
              </a:xfrm>
              <a:prstGeom prst="rect">
                <a:avLst/>
              </a:prstGeom>
              <a:blipFill>
                <a:blip r:embed="rId5"/>
                <a:stretch>
                  <a:fillRect t="-8197" r="-4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D0326FC1-7174-428D-AC79-468ECFA2743D}"/>
                  </a:ext>
                </a:extLst>
              </p:cNvPr>
              <p:cNvSpPr txBox="1"/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D0326FC1-7174-428D-AC79-468ECFA27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blipFill>
                <a:blip r:embed="rId6"/>
                <a:stretch>
                  <a:fillRect t="-8197" r="-4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E14D93A0-1A01-4A08-9D62-99083D56A05E}"/>
                  </a:ext>
                </a:extLst>
              </p:cNvPr>
              <p:cNvSpPr txBox="1"/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E14D93A0-1A01-4A08-9D62-99083D56A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blipFill>
                <a:blip r:embed="rId7"/>
                <a:stretch>
                  <a:fillRect t="-10000" r="-4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F92785AF-CC71-46FA-B8C0-4F66FE68585F}"/>
              </a:ext>
            </a:extLst>
          </p:cNvPr>
          <p:cNvCxnSpPr>
            <a:cxnSpLocks/>
          </p:cNvCxnSpPr>
          <p:nvPr/>
        </p:nvCxnSpPr>
        <p:spPr>
          <a:xfrm flipH="1" flipV="1">
            <a:off x="4478491" y="2192786"/>
            <a:ext cx="3719738" cy="1170224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0B39A333-713C-420A-9B11-D923BC01607F}"/>
              </a:ext>
            </a:extLst>
          </p:cNvPr>
          <p:cNvCxnSpPr>
            <a:cxnSpLocks/>
          </p:cNvCxnSpPr>
          <p:nvPr/>
        </p:nvCxnSpPr>
        <p:spPr>
          <a:xfrm flipH="1">
            <a:off x="4473937" y="2183165"/>
            <a:ext cx="3691966" cy="1224498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8B88DFC-5300-4AE6-AE60-7A60C58AF73E}"/>
              </a:ext>
            </a:extLst>
          </p:cNvPr>
          <p:cNvSpPr txBox="1"/>
          <p:nvPr/>
        </p:nvSpPr>
        <p:spPr>
          <a:xfrm>
            <a:off x="4464235" y="4890668"/>
            <a:ext cx="40760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DLinkedList</a:t>
            </a:r>
            <a:r>
              <a:rPr lang="en-GB" sz="2000" dirty="0">
                <a:solidFill>
                  <a:srgbClr val="C00000"/>
                </a:solidFill>
              </a:rPr>
              <a:t> is good for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GB" sz="2000" dirty="0">
                <a:solidFill>
                  <a:srgbClr val="C00000"/>
                </a:solidFill>
              </a:rPr>
              <a:t>, FIFO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sz="2000" dirty="0">
                <a:solidFill>
                  <a:srgbClr val="C00000"/>
                </a:solidFill>
              </a:rPr>
              <a:t>, and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sz="2000" dirty="0">
                <a:solidFill>
                  <a:srgbClr val="C00000"/>
                </a:solidFill>
              </a:rPr>
              <a:t>; but can be slow for some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sz="2000" dirty="0">
                <a:solidFill>
                  <a:srgbClr val="C00000"/>
                </a:solidFill>
              </a:rPr>
              <a:t> operations.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102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2F850-AFDA-4A1A-9D1F-66613BFB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Using doubly-linked list to implement 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DLinkedList</a:t>
            </a:r>
            <a:r>
              <a:rPr lang="en-GB" dirty="0"/>
              <a:t> data structure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/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List</a:t>
                </a:r>
                <a:r>
                  <a:rPr lang="en-US" sz="2000" dirty="0"/>
                  <a:t> interface supports the following operations: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Size()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 length of the list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Add(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increase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decrease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blipFill>
                <a:blip r:embed="rId2"/>
                <a:stretch>
                  <a:fillRect l="-1037" t="-1131" r="-207" b="-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434A4ABF-36D4-47E5-B6E0-1EFF622FE0EC}"/>
                  </a:ext>
                </a:extLst>
              </p:cNvPr>
              <p:cNvSpPr txBox="1"/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C00000"/>
                    </a:solidFill>
                  </a:rPr>
                  <a:t>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434A4ABF-36D4-47E5-B6E0-1EFF622FE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blipFill>
                <a:blip r:embed="rId3"/>
                <a:stretch>
                  <a:fillRect l="-3653" t="-10000" r="-9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1F66ED2D-5260-49E9-A6E2-5133C12ECB83}"/>
                  </a:ext>
                </a:extLst>
              </p:cNvPr>
              <p:cNvSpPr txBox="1"/>
              <p:nvPr/>
            </p:nvSpPr>
            <p:spPr>
              <a:xfrm>
                <a:off x="1884764" y="2533614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1F66ED2D-5260-49E9-A6E2-5133C12EC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4" y="2533614"/>
                <a:ext cx="1438342" cy="369332"/>
              </a:xfrm>
              <a:prstGeom prst="rect">
                <a:avLst/>
              </a:prstGeom>
              <a:blipFill>
                <a:blip r:embed="rId4"/>
                <a:stretch>
                  <a:fillRect t="-10000" r="-4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F871147C-0E6E-4433-BF2A-744997915E7A}"/>
                  </a:ext>
                </a:extLst>
              </p:cNvPr>
              <p:cNvSpPr txBox="1"/>
              <p:nvPr/>
            </p:nvSpPr>
            <p:spPr>
              <a:xfrm>
                <a:off x="2149548" y="3062096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F871147C-0E6E-4433-BF2A-744997915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062096"/>
                <a:ext cx="1438342" cy="369332"/>
              </a:xfrm>
              <a:prstGeom prst="rect">
                <a:avLst/>
              </a:prstGeom>
              <a:blipFill>
                <a:blip r:embed="rId5"/>
                <a:stretch>
                  <a:fillRect t="-8197" r="-4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D0326FC1-7174-428D-AC79-468ECFA2743D}"/>
                  </a:ext>
                </a:extLst>
              </p:cNvPr>
              <p:cNvSpPr txBox="1"/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D0326FC1-7174-428D-AC79-468ECFA27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blipFill>
                <a:blip r:embed="rId6"/>
                <a:stretch>
                  <a:fillRect t="-8197" r="-4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E14D93A0-1A01-4A08-9D62-99083D56A05E}"/>
                  </a:ext>
                </a:extLst>
              </p:cNvPr>
              <p:cNvSpPr txBox="1"/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E14D93A0-1A01-4A08-9D62-99083D56A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blipFill>
                <a:blip r:embed="rId7"/>
                <a:stretch>
                  <a:fillRect t="-10000" r="-4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68B88DFC-5300-4AE6-AE60-7A60C58AF73E}"/>
              </a:ext>
            </a:extLst>
          </p:cNvPr>
          <p:cNvSpPr txBox="1"/>
          <p:nvPr/>
        </p:nvSpPr>
        <p:spPr>
          <a:xfrm>
            <a:off x="628650" y="5559179"/>
            <a:ext cx="40760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DLinkedList</a:t>
            </a:r>
            <a:r>
              <a:rPr lang="en-GB" sz="2000" dirty="0">
                <a:solidFill>
                  <a:srgbClr val="C00000"/>
                </a:solidFill>
              </a:rPr>
              <a:t> is good for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GB" sz="2000" dirty="0">
                <a:solidFill>
                  <a:srgbClr val="C00000"/>
                </a:solidFill>
              </a:rPr>
              <a:t>, FIFO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sz="2000" dirty="0">
                <a:solidFill>
                  <a:srgbClr val="C00000"/>
                </a:solidFill>
              </a:rPr>
              <a:t>, and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en-GB" sz="2000" dirty="0">
                <a:solidFill>
                  <a:srgbClr val="C00000"/>
                </a:solidFill>
              </a:rPr>
              <a:t>; but can be slow for some </a:t>
            </a:r>
            <a:r>
              <a:rPr lang="en-GB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sz="2000" dirty="0">
                <a:solidFill>
                  <a:srgbClr val="C00000"/>
                </a:solidFill>
              </a:rPr>
              <a:t> operations.</a:t>
            </a:r>
            <a:endParaRPr lang="en-US" sz="20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0075A65C-303A-4F14-A9C7-3BBB4F18C817}"/>
              </a:ext>
            </a:extLst>
          </p:cNvPr>
          <p:cNvSpPr/>
          <p:nvPr/>
        </p:nvSpPr>
        <p:spPr>
          <a:xfrm>
            <a:off x="5050390" y="3466172"/>
            <a:ext cx="2963196" cy="1369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r>
              <a:rPr lang="en-GB" sz="1600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AddFirst</a:t>
            </a:r>
            <a:r>
              <a:rPr lang="en-GB" sz="1600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(x):</a:t>
            </a:r>
          </a:p>
          <a:p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x.next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=head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head-&gt;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=&amp;x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head=&amp;x</a:t>
            </a:r>
          </a:p>
          <a:p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x.prev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=NULL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5D067FEF-FD43-4075-B23A-918CC9E9917E}"/>
              </a:ext>
            </a:extLst>
          </p:cNvPr>
          <p:cNvGrpSpPr/>
          <p:nvPr/>
        </p:nvGrpSpPr>
        <p:grpSpPr>
          <a:xfrm>
            <a:off x="4728415" y="2116766"/>
            <a:ext cx="654346" cy="553997"/>
            <a:chOff x="4572000" y="3528078"/>
            <a:chExt cx="654346" cy="553997"/>
          </a:xfrm>
        </p:grpSpPr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E401B97E-A968-4614-8C64-24ABB72937A1}"/>
                </a:ext>
              </a:extLst>
            </p:cNvPr>
            <p:cNvCxnSpPr>
              <a:cxnSpLocks/>
            </p:cNvCxnSpPr>
            <p:nvPr/>
          </p:nvCxnSpPr>
          <p:spPr>
            <a:xfrm>
              <a:off x="4893975" y="3809550"/>
              <a:ext cx="0" cy="272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CB460B21-114A-498F-8671-37F7988EE804}"/>
                </a:ext>
              </a:extLst>
            </p:cNvPr>
            <p:cNvSpPr txBox="1"/>
            <p:nvPr/>
          </p:nvSpPr>
          <p:spPr>
            <a:xfrm>
              <a:off x="4572000" y="3528078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cs typeface="Courier New" panose="02070309020205020404" pitchFamily="49" charset="0"/>
                </a:rPr>
                <a:t>head</a:t>
              </a:r>
              <a:endParaRPr lang="en-US" dirty="0">
                <a:cs typeface="Courier New" panose="02070309020205020404" pitchFamily="49" charset="0"/>
              </a:endParaRPr>
            </a:p>
          </p:txBody>
        </p:sp>
      </p:grpSp>
      <p:sp>
        <p:nvSpPr>
          <p:cNvPr id="154" name="文本框 153">
            <a:extLst>
              <a:ext uri="{FF2B5EF4-FFF2-40B4-BE49-F238E27FC236}">
                <a16:creationId xmlns:a16="http://schemas.microsoft.com/office/drawing/2014/main" id="{45076DFE-911D-464D-871A-D14AFB346470}"/>
              </a:ext>
            </a:extLst>
          </p:cNvPr>
          <p:cNvSpPr txBox="1"/>
          <p:nvPr/>
        </p:nvSpPr>
        <p:spPr>
          <a:xfrm>
            <a:off x="4889402" y="2670763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B9DF544C-4A48-4C3D-8B42-A185E930D702}"/>
              </a:ext>
            </a:extLst>
          </p:cNvPr>
          <p:cNvSpPr txBox="1"/>
          <p:nvPr/>
        </p:nvSpPr>
        <p:spPr>
          <a:xfrm>
            <a:off x="5213402" y="2670763"/>
            <a:ext cx="18473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356F5BBE-9763-4476-9D3D-A203DE871BB9}"/>
              </a:ext>
            </a:extLst>
          </p:cNvPr>
          <p:cNvCxnSpPr>
            <a:cxnSpLocks/>
          </p:cNvCxnSpPr>
          <p:nvPr/>
        </p:nvCxnSpPr>
        <p:spPr>
          <a:xfrm>
            <a:off x="5305767" y="2769704"/>
            <a:ext cx="285671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本框 156">
            <a:extLst>
              <a:ext uri="{FF2B5EF4-FFF2-40B4-BE49-F238E27FC236}">
                <a16:creationId xmlns:a16="http://schemas.microsoft.com/office/drawing/2014/main" id="{53D90874-32A3-447E-A78B-4226F065BE99}"/>
              </a:ext>
            </a:extLst>
          </p:cNvPr>
          <p:cNvSpPr txBox="1"/>
          <p:nvPr/>
        </p:nvSpPr>
        <p:spPr>
          <a:xfrm>
            <a:off x="4704671" y="2670763"/>
            <a:ext cx="184731" cy="369332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2"/>
            </a:bgClr>
          </a:patt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CCD2B6E7-CBDA-44F5-AB50-C616BFC6401E}"/>
              </a:ext>
            </a:extLst>
          </p:cNvPr>
          <p:cNvGrpSpPr/>
          <p:nvPr/>
        </p:nvGrpSpPr>
        <p:grpSpPr>
          <a:xfrm>
            <a:off x="5398133" y="2661457"/>
            <a:ext cx="1080072" cy="369332"/>
            <a:chOff x="6780298" y="4290338"/>
            <a:chExt cx="1080072" cy="369332"/>
          </a:xfrm>
        </p:grpSpPr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0B0671FB-E296-42B2-92A7-C1832C6981D0}"/>
                </a:ext>
              </a:extLst>
            </p:cNvPr>
            <p:cNvSpPr txBox="1"/>
            <p:nvPr/>
          </p:nvSpPr>
          <p:spPr>
            <a:xfrm>
              <a:off x="7158334" y="4290338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50C5456C-689D-4E79-85C8-D639755554FD}"/>
                </a:ext>
              </a:extLst>
            </p:cNvPr>
            <p:cNvSpPr txBox="1"/>
            <p:nvPr/>
          </p:nvSpPr>
          <p:spPr>
            <a:xfrm>
              <a:off x="7482334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986489DE-2CA4-471A-A0B0-1D365748DAFC}"/>
                </a:ext>
              </a:extLst>
            </p:cNvPr>
            <p:cNvCxnSpPr>
              <a:cxnSpLocks/>
            </p:cNvCxnSpPr>
            <p:nvPr/>
          </p:nvCxnSpPr>
          <p:spPr>
            <a:xfrm>
              <a:off x="7574699" y="4389279"/>
              <a:ext cx="28567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27F5060F-04D4-4642-A03E-AB715B3D6D47}"/>
                </a:ext>
              </a:extLst>
            </p:cNvPr>
            <p:cNvSpPr txBox="1"/>
            <p:nvPr/>
          </p:nvSpPr>
          <p:spPr>
            <a:xfrm>
              <a:off x="6973603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8F0FBF32-C395-42DF-8FFC-A95CA94D85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0298" y="4565812"/>
              <a:ext cx="28045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46CE785D-0414-4160-97BF-4C43157CEDD9}"/>
              </a:ext>
            </a:extLst>
          </p:cNvPr>
          <p:cNvGrpSpPr/>
          <p:nvPr/>
        </p:nvGrpSpPr>
        <p:grpSpPr>
          <a:xfrm>
            <a:off x="6282963" y="2661457"/>
            <a:ext cx="1080072" cy="369332"/>
            <a:chOff x="6780298" y="4290338"/>
            <a:chExt cx="1080072" cy="369332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C2D08EA8-C5BF-45BC-9329-7F6DE68E9164}"/>
                </a:ext>
              </a:extLst>
            </p:cNvPr>
            <p:cNvSpPr txBox="1"/>
            <p:nvPr/>
          </p:nvSpPr>
          <p:spPr>
            <a:xfrm>
              <a:off x="7158334" y="4290338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CB1A917B-31CB-4047-A94C-8B8F64CD7CE8}"/>
                </a:ext>
              </a:extLst>
            </p:cNvPr>
            <p:cNvSpPr txBox="1"/>
            <p:nvPr/>
          </p:nvSpPr>
          <p:spPr>
            <a:xfrm>
              <a:off x="7482334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0C2AC320-45CD-468E-BE09-1DB04BE3682F}"/>
                </a:ext>
              </a:extLst>
            </p:cNvPr>
            <p:cNvCxnSpPr>
              <a:cxnSpLocks/>
            </p:cNvCxnSpPr>
            <p:nvPr/>
          </p:nvCxnSpPr>
          <p:spPr>
            <a:xfrm>
              <a:off x="7574699" y="4389279"/>
              <a:ext cx="28567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A6D8B10A-8E10-4C84-93D5-F4C8E014A931}"/>
                </a:ext>
              </a:extLst>
            </p:cNvPr>
            <p:cNvSpPr txBox="1"/>
            <p:nvPr/>
          </p:nvSpPr>
          <p:spPr>
            <a:xfrm>
              <a:off x="6973603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302FA0E4-DF54-4505-B606-A8D6151A16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0298" y="4565812"/>
              <a:ext cx="28045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6D760AE0-A6E2-49DA-B026-3D891C954472}"/>
              </a:ext>
            </a:extLst>
          </p:cNvPr>
          <p:cNvGrpSpPr/>
          <p:nvPr/>
        </p:nvGrpSpPr>
        <p:grpSpPr>
          <a:xfrm>
            <a:off x="7167793" y="2661457"/>
            <a:ext cx="1080072" cy="369332"/>
            <a:chOff x="6780298" y="4290338"/>
            <a:chExt cx="1080072" cy="369332"/>
          </a:xfrm>
        </p:grpSpPr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C40CB3EB-4085-4E7E-9D50-C5099943F0E7}"/>
                </a:ext>
              </a:extLst>
            </p:cNvPr>
            <p:cNvSpPr txBox="1"/>
            <p:nvPr/>
          </p:nvSpPr>
          <p:spPr>
            <a:xfrm>
              <a:off x="7158334" y="4290338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465F5305-9141-4542-BCBD-97732F094E8F}"/>
                </a:ext>
              </a:extLst>
            </p:cNvPr>
            <p:cNvSpPr txBox="1"/>
            <p:nvPr/>
          </p:nvSpPr>
          <p:spPr>
            <a:xfrm>
              <a:off x="7482334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D9AD08AF-5A15-4694-9C2C-184EB09FD756}"/>
                </a:ext>
              </a:extLst>
            </p:cNvPr>
            <p:cNvCxnSpPr>
              <a:cxnSpLocks/>
            </p:cNvCxnSpPr>
            <p:nvPr/>
          </p:nvCxnSpPr>
          <p:spPr>
            <a:xfrm>
              <a:off x="7574699" y="4389279"/>
              <a:ext cx="28567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CA9D448D-8147-4D2F-BF13-E48DA34CE2C4}"/>
                </a:ext>
              </a:extLst>
            </p:cNvPr>
            <p:cNvSpPr txBox="1"/>
            <p:nvPr/>
          </p:nvSpPr>
          <p:spPr>
            <a:xfrm>
              <a:off x="6973603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FEE8DEA9-6EF1-4FE8-BCF2-577FAF95B2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0298" y="4565812"/>
              <a:ext cx="28045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93ABBAEB-B21E-4CE0-A026-07FA7484CADA}"/>
              </a:ext>
            </a:extLst>
          </p:cNvPr>
          <p:cNvGrpSpPr/>
          <p:nvPr/>
        </p:nvGrpSpPr>
        <p:grpSpPr>
          <a:xfrm>
            <a:off x="8052623" y="2661457"/>
            <a:ext cx="886767" cy="369332"/>
            <a:chOff x="6780298" y="4290338"/>
            <a:chExt cx="886767" cy="369332"/>
          </a:xfrm>
        </p:grpSpPr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20797ABF-D298-421A-A7D8-7089D5326018}"/>
                </a:ext>
              </a:extLst>
            </p:cNvPr>
            <p:cNvSpPr txBox="1"/>
            <p:nvPr/>
          </p:nvSpPr>
          <p:spPr>
            <a:xfrm>
              <a:off x="7158334" y="4290338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k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B9685EE2-3F33-4855-914B-26FCC19654B8}"/>
                </a:ext>
              </a:extLst>
            </p:cNvPr>
            <p:cNvSpPr txBox="1"/>
            <p:nvPr/>
          </p:nvSpPr>
          <p:spPr>
            <a:xfrm>
              <a:off x="7482334" y="4290338"/>
              <a:ext cx="184731" cy="36933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2"/>
              </a:bgClr>
            </a:patt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92EAD5EC-98F9-4196-AEDF-E09A2CB4E2BB}"/>
                </a:ext>
              </a:extLst>
            </p:cNvPr>
            <p:cNvSpPr txBox="1"/>
            <p:nvPr/>
          </p:nvSpPr>
          <p:spPr>
            <a:xfrm>
              <a:off x="6973603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1D6E8BAC-2FDC-4A0E-AD5D-BA9F51A579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0298" y="4565812"/>
              <a:ext cx="28045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8C1A846C-4AD4-4311-B5E9-0A48142937DC}"/>
              </a:ext>
            </a:extLst>
          </p:cNvPr>
          <p:cNvGrpSpPr/>
          <p:nvPr/>
        </p:nvGrpSpPr>
        <p:grpSpPr>
          <a:xfrm>
            <a:off x="8355262" y="2121239"/>
            <a:ext cx="475195" cy="553997"/>
            <a:chOff x="4661576" y="3528078"/>
            <a:chExt cx="475195" cy="553997"/>
          </a:xfrm>
        </p:grpSpPr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09DA99E4-F7C1-4E05-AC8C-C38A7AF7F179}"/>
                </a:ext>
              </a:extLst>
            </p:cNvPr>
            <p:cNvCxnSpPr>
              <a:cxnSpLocks/>
            </p:cNvCxnSpPr>
            <p:nvPr/>
          </p:nvCxnSpPr>
          <p:spPr>
            <a:xfrm>
              <a:off x="4893975" y="3809550"/>
              <a:ext cx="0" cy="272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BD9F9C04-EF4C-48EB-98A7-04864D038E1F}"/>
                </a:ext>
              </a:extLst>
            </p:cNvPr>
            <p:cNvSpPr txBox="1"/>
            <p:nvPr/>
          </p:nvSpPr>
          <p:spPr>
            <a:xfrm>
              <a:off x="4661576" y="3528078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cs typeface="Courier New" panose="02070309020205020404" pitchFamily="49" charset="0"/>
                </a:rPr>
                <a:t>tail</a:t>
              </a:r>
              <a:endParaRPr lang="en-US" dirty="0">
                <a:cs typeface="Courier New" panose="02070309020205020404" pitchFamily="49" charset="0"/>
              </a:endParaRPr>
            </a:p>
          </p:txBody>
        </p:sp>
      </p:grpSp>
      <p:sp>
        <p:nvSpPr>
          <p:cNvPr id="161" name="文本框 160">
            <a:extLst>
              <a:ext uri="{FF2B5EF4-FFF2-40B4-BE49-F238E27FC236}">
                <a16:creationId xmlns:a16="http://schemas.microsoft.com/office/drawing/2014/main" id="{462A3481-4C02-472E-AFDC-04E3C33BCA32}"/>
              </a:ext>
            </a:extLst>
          </p:cNvPr>
          <p:cNvSpPr txBox="1"/>
          <p:nvPr/>
        </p:nvSpPr>
        <p:spPr>
          <a:xfrm>
            <a:off x="4005468" y="2670763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C3AEFC51-5CBD-41EC-A2DE-59B08B748CD2}"/>
              </a:ext>
            </a:extLst>
          </p:cNvPr>
          <p:cNvSpPr txBox="1"/>
          <p:nvPr/>
        </p:nvSpPr>
        <p:spPr>
          <a:xfrm>
            <a:off x="4329468" y="2670763"/>
            <a:ext cx="18473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1EB1B59F-A8D7-42FE-96BA-0013509C291C}"/>
              </a:ext>
            </a:extLst>
          </p:cNvPr>
          <p:cNvCxnSpPr>
            <a:cxnSpLocks/>
          </p:cNvCxnSpPr>
          <p:nvPr/>
        </p:nvCxnSpPr>
        <p:spPr>
          <a:xfrm>
            <a:off x="4421833" y="2769704"/>
            <a:ext cx="285671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文本框 163">
            <a:extLst>
              <a:ext uri="{FF2B5EF4-FFF2-40B4-BE49-F238E27FC236}">
                <a16:creationId xmlns:a16="http://schemas.microsoft.com/office/drawing/2014/main" id="{D2D9D8F1-DB37-43E6-A9E3-1F8E1C102DFF}"/>
              </a:ext>
            </a:extLst>
          </p:cNvPr>
          <p:cNvSpPr txBox="1"/>
          <p:nvPr/>
        </p:nvSpPr>
        <p:spPr>
          <a:xfrm>
            <a:off x="3820737" y="2670763"/>
            <a:ext cx="18473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8C6FB435-7A50-4D47-ACE9-6CCAB70954E1}"/>
              </a:ext>
            </a:extLst>
          </p:cNvPr>
          <p:cNvCxnSpPr>
            <a:cxnSpLocks/>
          </p:cNvCxnSpPr>
          <p:nvPr/>
        </p:nvCxnSpPr>
        <p:spPr>
          <a:xfrm flipH="1">
            <a:off x="4516577" y="2936931"/>
            <a:ext cx="280459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21803D80-8E9F-481D-A199-CF31D2230FF6}"/>
              </a:ext>
            </a:extLst>
          </p:cNvPr>
          <p:cNvSpPr txBox="1"/>
          <p:nvPr/>
        </p:nvSpPr>
        <p:spPr>
          <a:xfrm>
            <a:off x="3815881" y="2670763"/>
            <a:ext cx="184731" cy="369332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2"/>
            </a:bgClr>
          </a:patt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073C45-FF5C-47F2-A731-EA8700FB0FCD}"/>
              </a:ext>
            </a:extLst>
          </p:cNvPr>
          <p:cNvSpPr txBox="1"/>
          <p:nvPr/>
        </p:nvSpPr>
        <p:spPr>
          <a:xfrm rot="1800000">
            <a:off x="6423730" y="3665622"/>
            <a:ext cx="26653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What if </a:t>
            </a:r>
            <a:r>
              <a:rPr lang="en-GB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head==NULL</a:t>
            </a:r>
            <a:r>
              <a:rPr lang="en-GB" sz="2000" dirty="0">
                <a:solidFill>
                  <a:srgbClr val="FF0000"/>
                </a:solidFill>
              </a:rPr>
              <a:t>?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43DB91E3-8C33-4304-BC63-21A3F6F182B5}"/>
              </a:ext>
            </a:extLst>
          </p:cNvPr>
          <p:cNvSpPr/>
          <p:nvPr/>
        </p:nvSpPr>
        <p:spPr>
          <a:xfrm>
            <a:off x="5050390" y="5029660"/>
            <a:ext cx="2963196" cy="1545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r>
              <a:rPr lang="en-GB" sz="1600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AddFirst</a:t>
            </a:r>
            <a:r>
              <a:rPr lang="en-GB" sz="1600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(x):</a:t>
            </a:r>
          </a:p>
          <a:p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x.next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=head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(head!=NULL)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head-&gt;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=&amp;x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head=&amp;x</a:t>
            </a:r>
          </a:p>
          <a:p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x.prev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=NULL</a:t>
            </a:r>
          </a:p>
        </p:txBody>
      </p:sp>
    </p:spTree>
    <p:extLst>
      <p:ext uri="{BB962C8B-B14F-4D97-AF65-F5344CB8AC3E}">
        <p14:creationId xmlns:p14="http://schemas.microsoft.com/office/powerpoint/2010/main" val="50320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59259E-6 L -0.09826 -2.59259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animBg="1"/>
      <p:bldP spid="7" grpId="0"/>
      <p:bldP spid="16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2F850-AFDA-4A1A-9D1F-66613BFB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Using doubly-linked list to implement 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DLinkedList</a:t>
            </a:r>
            <a:r>
              <a:rPr lang="en-GB" dirty="0"/>
              <a:t> data structure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/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List</a:t>
                </a:r>
                <a:r>
                  <a:rPr lang="en-US" sz="2000" dirty="0"/>
                  <a:t> interface supports the following operations: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Size()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 length of the list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Set(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Add(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i,x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increase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</a:t>
                </a:r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br>
                  <a:rPr lang="en-US" dirty="0"/>
                </a:br>
                <a:r>
                  <a:rPr lang="en-US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decrease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1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2BA4C3F-730D-45E4-8FE3-16CAFC2EA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5873596" cy="3768724"/>
              </a:xfrm>
              <a:prstGeom prst="rect">
                <a:avLst/>
              </a:prstGeom>
              <a:blipFill>
                <a:blip r:embed="rId3"/>
                <a:stretch>
                  <a:fillRect l="-1037" t="-1131" r="-207" b="-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434A4ABF-36D4-47E5-B6E0-1EFF622FE0EC}"/>
                  </a:ext>
                </a:extLst>
              </p:cNvPr>
              <p:cNvSpPr txBox="1"/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C00000"/>
                    </a:solidFill>
                  </a:rPr>
                  <a:t>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434A4ABF-36D4-47E5-B6E0-1EFF622FE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5" y="1985498"/>
                <a:ext cx="1333057" cy="369332"/>
              </a:xfrm>
              <a:prstGeom prst="rect">
                <a:avLst/>
              </a:prstGeom>
              <a:blipFill>
                <a:blip r:embed="rId4"/>
                <a:stretch>
                  <a:fillRect l="-3653" t="-10000" r="-9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1F66ED2D-5260-49E9-A6E2-5133C12ECB83}"/>
                  </a:ext>
                </a:extLst>
              </p:cNvPr>
              <p:cNvSpPr txBox="1"/>
              <p:nvPr/>
            </p:nvSpPr>
            <p:spPr>
              <a:xfrm>
                <a:off x="1884764" y="2533614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1F66ED2D-5260-49E9-A6E2-5133C12EC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764" y="2533614"/>
                <a:ext cx="1438342" cy="369332"/>
              </a:xfrm>
              <a:prstGeom prst="rect">
                <a:avLst/>
              </a:prstGeom>
              <a:blipFill>
                <a:blip r:embed="rId5"/>
                <a:stretch>
                  <a:fillRect t="-10000" r="-4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F871147C-0E6E-4433-BF2A-744997915E7A}"/>
                  </a:ext>
                </a:extLst>
              </p:cNvPr>
              <p:cNvSpPr txBox="1"/>
              <p:nvPr/>
            </p:nvSpPr>
            <p:spPr>
              <a:xfrm>
                <a:off x="2149548" y="3062096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F871147C-0E6E-4433-BF2A-744997915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062096"/>
                <a:ext cx="1438342" cy="369332"/>
              </a:xfrm>
              <a:prstGeom prst="rect">
                <a:avLst/>
              </a:prstGeom>
              <a:blipFill>
                <a:blip r:embed="rId6"/>
                <a:stretch>
                  <a:fillRect t="-8197" r="-4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D0326FC1-7174-428D-AC79-468ECFA2743D}"/>
                  </a:ext>
                </a:extLst>
              </p:cNvPr>
              <p:cNvSpPr txBox="1"/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D0326FC1-7174-428D-AC79-468ECFA27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548" y="3610212"/>
                <a:ext cx="1438342" cy="369332"/>
              </a:xfrm>
              <a:prstGeom prst="rect">
                <a:avLst/>
              </a:prstGeom>
              <a:blipFill>
                <a:blip r:embed="rId7"/>
                <a:stretch>
                  <a:fillRect t="-8197" r="-4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E14D93A0-1A01-4A08-9D62-99083D56A05E}"/>
                  </a:ext>
                </a:extLst>
              </p:cNvPr>
              <p:cNvSpPr txBox="1"/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E14D93A0-1A01-4A08-9D62-99083D56A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360" y="4466145"/>
                <a:ext cx="1438342" cy="369332"/>
              </a:xfrm>
              <a:prstGeom prst="rect">
                <a:avLst/>
              </a:prstGeom>
              <a:blipFill>
                <a:blip r:embed="rId8"/>
                <a:stretch>
                  <a:fillRect t="-10000" r="-4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E87A79A4-6D7C-4B5D-BC2F-EC8F42458FA7}"/>
              </a:ext>
            </a:extLst>
          </p:cNvPr>
          <p:cNvGrpSpPr/>
          <p:nvPr/>
        </p:nvGrpSpPr>
        <p:grpSpPr>
          <a:xfrm>
            <a:off x="4473937" y="2122212"/>
            <a:ext cx="4234719" cy="923329"/>
            <a:chOff x="4315239" y="3570416"/>
            <a:chExt cx="4234719" cy="923329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7E06682-00DB-46AC-9FBC-838F7A0DE9B5}"/>
                </a:ext>
              </a:extLst>
            </p:cNvPr>
            <p:cNvGrpSpPr/>
            <p:nvPr/>
          </p:nvGrpSpPr>
          <p:grpSpPr>
            <a:xfrm>
              <a:off x="4338983" y="3570416"/>
              <a:ext cx="654346" cy="553997"/>
              <a:chOff x="4572000" y="3528078"/>
              <a:chExt cx="654346" cy="553997"/>
            </a:xfrm>
          </p:grpSpPr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0719E369-C9BA-449B-979D-CA139CD840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3975" y="3809550"/>
                <a:ext cx="0" cy="27252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967872B-15C4-4F91-A009-AF51C6991D03}"/>
                  </a:ext>
                </a:extLst>
              </p:cNvPr>
              <p:cNvSpPr txBox="1"/>
              <p:nvPr/>
            </p:nvSpPr>
            <p:spPr>
              <a:xfrm>
                <a:off x="4572000" y="3528078"/>
                <a:ext cx="6543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cs typeface="Courier New" panose="02070309020205020404" pitchFamily="49" charset="0"/>
                  </a:rPr>
                  <a:t>head</a:t>
                </a:r>
                <a:endParaRPr lang="en-US" dirty="0"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B60FCE6-F8BA-4539-9A09-C6FD9A6E65DD}"/>
                </a:ext>
              </a:extLst>
            </p:cNvPr>
            <p:cNvGrpSpPr/>
            <p:nvPr/>
          </p:nvGrpSpPr>
          <p:grpSpPr>
            <a:xfrm>
              <a:off x="4315239" y="4124413"/>
              <a:ext cx="886767" cy="369332"/>
              <a:chOff x="6086836" y="4299644"/>
              <a:chExt cx="886767" cy="369332"/>
            </a:xfrm>
          </p:grpSpPr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719B643-D7EA-4B04-BCD6-8A80BB339795}"/>
                  </a:ext>
                </a:extLst>
              </p:cNvPr>
              <p:cNvSpPr txBox="1"/>
              <p:nvPr/>
            </p:nvSpPr>
            <p:spPr>
              <a:xfrm>
                <a:off x="6271567" y="4299644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CD79493-4597-49EB-920A-01C81EEAEB8B}"/>
                  </a:ext>
                </a:extLst>
              </p:cNvPr>
              <p:cNvSpPr txBox="1"/>
              <p:nvPr/>
            </p:nvSpPr>
            <p:spPr>
              <a:xfrm>
                <a:off x="6595567" y="4299644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32F52906-4D97-490D-99B9-2FBFB125BC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7932" y="4398585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F3F7C1DE-1472-4993-9D0B-AB18F51F3FF4}"/>
                  </a:ext>
                </a:extLst>
              </p:cNvPr>
              <p:cNvSpPr txBox="1"/>
              <p:nvPr/>
            </p:nvSpPr>
            <p:spPr>
              <a:xfrm>
                <a:off x="6086836" y="4299644"/>
                <a:ext cx="184731" cy="369332"/>
              </a:xfrm>
              <a:prstGeom prst="rect">
                <a:avLst/>
              </a:prstGeom>
              <a:pattFill prst="wdUpDiag">
                <a:fgClr>
                  <a:schemeClr val="tx1"/>
                </a:fgClr>
                <a:bgClr>
                  <a:schemeClr val="bg2"/>
                </a:bgClr>
              </a:patt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3ECE143-AB7B-4C43-B5D2-2E819DC998E3}"/>
                </a:ext>
              </a:extLst>
            </p:cNvPr>
            <p:cNvGrpSpPr/>
            <p:nvPr/>
          </p:nvGrpSpPr>
          <p:grpSpPr>
            <a:xfrm>
              <a:off x="5008701" y="4115107"/>
              <a:ext cx="1080072" cy="369332"/>
              <a:chOff x="6780298" y="4290338"/>
              <a:chExt cx="1080072" cy="369332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E027882-B656-4851-B83A-61CAB0B37443}"/>
                  </a:ext>
                </a:extLst>
              </p:cNvPr>
              <p:cNvSpPr txBox="1"/>
              <p:nvPr/>
            </p:nvSpPr>
            <p:spPr>
              <a:xfrm>
                <a:off x="7158334" y="4290338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F95EDD6-E03A-48E1-A789-79C13FD5F1F4}"/>
                  </a:ext>
                </a:extLst>
              </p:cNvPr>
              <p:cNvSpPr txBox="1"/>
              <p:nvPr/>
            </p:nvSpPr>
            <p:spPr>
              <a:xfrm>
                <a:off x="7482334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4984BDF1-1369-46CD-B745-812CA9B6D1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4699" y="4389279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8528D55-1543-45A8-B072-4683FAB460AC}"/>
                  </a:ext>
                </a:extLst>
              </p:cNvPr>
              <p:cNvSpPr txBox="1"/>
              <p:nvPr/>
            </p:nvSpPr>
            <p:spPr>
              <a:xfrm>
                <a:off x="6973603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2D4C8AC9-54A6-4E2D-A1D8-AC1B4EB509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0298" y="4565812"/>
                <a:ext cx="28045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7B8FD20A-BC21-4CDC-A733-0971E534B399}"/>
                </a:ext>
              </a:extLst>
            </p:cNvPr>
            <p:cNvGrpSpPr/>
            <p:nvPr/>
          </p:nvGrpSpPr>
          <p:grpSpPr>
            <a:xfrm>
              <a:off x="5893531" y="4115107"/>
              <a:ext cx="1080072" cy="369332"/>
              <a:chOff x="6780298" y="4290338"/>
              <a:chExt cx="1080072" cy="369332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EC5CFA0-C64A-47F0-AA90-CE20B7693492}"/>
                  </a:ext>
                </a:extLst>
              </p:cNvPr>
              <p:cNvSpPr txBox="1"/>
              <p:nvPr/>
            </p:nvSpPr>
            <p:spPr>
              <a:xfrm>
                <a:off x="7158334" y="4290338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AA04BF1-B140-4113-A616-E3CA1B464DA3}"/>
                  </a:ext>
                </a:extLst>
              </p:cNvPr>
              <p:cNvSpPr txBox="1"/>
              <p:nvPr/>
            </p:nvSpPr>
            <p:spPr>
              <a:xfrm>
                <a:off x="7482334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999DCA78-79E0-47ED-B37E-A14F72970D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4699" y="4389279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20AA093-0621-47CC-80DF-B285DAE5DEA6}"/>
                  </a:ext>
                </a:extLst>
              </p:cNvPr>
              <p:cNvSpPr txBox="1"/>
              <p:nvPr/>
            </p:nvSpPr>
            <p:spPr>
              <a:xfrm>
                <a:off x="6973603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7EFDBDBC-163C-4C79-A528-F2E21E6ECD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0298" y="4565812"/>
                <a:ext cx="28045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49FDC8C-0CA8-4F4E-BA82-3D9E837F85D0}"/>
                </a:ext>
              </a:extLst>
            </p:cNvPr>
            <p:cNvGrpSpPr/>
            <p:nvPr/>
          </p:nvGrpSpPr>
          <p:grpSpPr>
            <a:xfrm>
              <a:off x="6778361" y="4115107"/>
              <a:ext cx="1080072" cy="369332"/>
              <a:chOff x="6780298" y="4290338"/>
              <a:chExt cx="1080072" cy="369332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09C37C6-6C57-4AFF-AA23-C3D91C5D2CB7}"/>
                  </a:ext>
                </a:extLst>
              </p:cNvPr>
              <p:cNvSpPr txBox="1"/>
              <p:nvPr/>
            </p:nvSpPr>
            <p:spPr>
              <a:xfrm>
                <a:off x="7158334" y="4290338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655BC19-11F9-4513-BA60-CA67E7D0CC14}"/>
                  </a:ext>
                </a:extLst>
              </p:cNvPr>
              <p:cNvSpPr txBox="1"/>
              <p:nvPr/>
            </p:nvSpPr>
            <p:spPr>
              <a:xfrm>
                <a:off x="7482334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2C482C1A-7F1E-4D64-B6ED-DB5D5AB63B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4699" y="4389279"/>
                <a:ext cx="28567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5D28C42-5FCC-4434-8FA6-53A48D8F3FC5}"/>
                  </a:ext>
                </a:extLst>
              </p:cNvPr>
              <p:cNvSpPr txBox="1"/>
              <p:nvPr/>
            </p:nvSpPr>
            <p:spPr>
              <a:xfrm>
                <a:off x="6973603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6E526F8A-0F31-4B45-A530-F029287DDF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0298" y="4565812"/>
                <a:ext cx="28045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AB7F8FA-DC37-418A-9159-D137D4F7DD68}"/>
                </a:ext>
              </a:extLst>
            </p:cNvPr>
            <p:cNvGrpSpPr/>
            <p:nvPr/>
          </p:nvGrpSpPr>
          <p:grpSpPr>
            <a:xfrm>
              <a:off x="7663191" y="4115107"/>
              <a:ext cx="886767" cy="369332"/>
              <a:chOff x="6780298" y="4290338"/>
              <a:chExt cx="886767" cy="369332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DA75B5E-2671-4782-A946-16AFD425F572}"/>
                  </a:ext>
                </a:extLst>
              </p:cNvPr>
              <p:cNvSpPr txBox="1"/>
              <p:nvPr/>
            </p:nvSpPr>
            <p:spPr>
              <a:xfrm>
                <a:off x="7158334" y="4290338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k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DCBC052-4614-4173-A253-5061E0B07658}"/>
                  </a:ext>
                </a:extLst>
              </p:cNvPr>
              <p:cNvSpPr txBox="1"/>
              <p:nvPr/>
            </p:nvSpPr>
            <p:spPr>
              <a:xfrm>
                <a:off x="7482334" y="4290338"/>
                <a:ext cx="184731" cy="369332"/>
              </a:xfrm>
              <a:prstGeom prst="rect">
                <a:avLst/>
              </a:prstGeom>
              <a:pattFill prst="wdUpDiag">
                <a:fgClr>
                  <a:schemeClr val="tx1"/>
                </a:fgClr>
                <a:bgClr>
                  <a:schemeClr val="bg2"/>
                </a:bgClr>
              </a:patt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B865981-70A0-48C8-B76E-29EDEEDAA8F6}"/>
                  </a:ext>
                </a:extLst>
              </p:cNvPr>
              <p:cNvSpPr txBox="1"/>
              <p:nvPr/>
            </p:nvSpPr>
            <p:spPr>
              <a:xfrm>
                <a:off x="6973603" y="4290338"/>
                <a:ext cx="184731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8F95F3CD-47D2-4BE2-B05A-BB17234EA3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0298" y="4565812"/>
                <a:ext cx="28045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191C48D-846E-4B13-B75E-2CCB938AB8BC}"/>
                </a:ext>
              </a:extLst>
            </p:cNvPr>
            <p:cNvGrpSpPr/>
            <p:nvPr/>
          </p:nvGrpSpPr>
          <p:grpSpPr>
            <a:xfrm>
              <a:off x="7965830" y="3574889"/>
              <a:ext cx="475195" cy="553997"/>
              <a:chOff x="4661576" y="3528078"/>
              <a:chExt cx="475195" cy="553997"/>
            </a:xfrm>
          </p:grpSpPr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65B7066B-7B00-44E8-92C8-A3764A2E46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3975" y="3809550"/>
                <a:ext cx="0" cy="27252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7341D95-3D67-474F-A24E-BFD3808CD56D}"/>
                  </a:ext>
                </a:extLst>
              </p:cNvPr>
              <p:cNvSpPr txBox="1"/>
              <p:nvPr/>
            </p:nvSpPr>
            <p:spPr>
              <a:xfrm>
                <a:off x="4661576" y="3528078"/>
                <a:ext cx="47519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cs typeface="Courier New" panose="02070309020205020404" pitchFamily="49" charset="0"/>
                  </a:rPr>
                  <a:t>tail</a:t>
                </a:r>
                <a:endParaRPr lang="en-US" dirty="0">
                  <a:cs typeface="Courier New" panose="02070309020205020404" pitchFamily="49" charset="0"/>
                </a:endParaRPr>
              </a:p>
            </p:txBody>
          </p:sp>
        </p:grpSp>
      </p:grp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DE42805D-313D-43B7-B953-0479502D145B}"/>
              </a:ext>
            </a:extLst>
          </p:cNvPr>
          <p:cNvCxnSpPr>
            <a:cxnSpLocks/>
          </p:cNvCxnSpPr>
          <p:nvPr/>
        </p:nvCxnSpPr>
        <p:spPr>
          <a:xfrm flipH="1">
            <a:off x="4278087" y="2122212"/>
            <a:ext cx="4604656" cy="1033385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2BF7C6AA-58C6-412A-98E0-1B23350453FA}"/>
              </a:ext>
            </a:extLst>
          </p:cNvPr>
          <p:cNvCxnSpPr>
            <a:cxnSpLocks/>
          </p:cNvCxnSpPr>
          <p:nvPr/>
        </p:nvCxnSpPr>
        <p:spPr>
          <a:xfrm flipH="1" flipV="1">
            <a:off x="4278087" y="2122212"/>
            <a:ext cx="4604656" cy="1033386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C140F915-E484-49A3-B872-D6CA36F6A86E}"/>
              </a:ext>
            </a:extLst>
          </p:cNvPr>
          <p:cNvGrpSpPr/>
          <p:nvPr/>
        </p:nvGrpSpPr>
        <p:grpSpPr>
          <a:xfrm>
            <a:off x="3938943" y="5054199"/>
            <a:ext cx="929550" cy="530218"/>
            <a:chOff x="4434400" y="3528078"/>
            <a:chExt cx="929550" cy="530218"/>
          </a:xfrm>
        </p:grpSpPr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143C8FE8-B843-49BA-A67A-553AADB31F1A}"/>
                </a:ext>
              </a:extLst>
            </p:cNvPr>
            <p:cNvCxnSpPr>
              <a:cxnSpLocks/>
            </p:cNvCxnSpPr>
            <p:nvPr/>
          </p:nvCxnSpPr>
          <p:spPr>
            <a:xfrm>
              <a:off x="4893975" y="3809550"/>
              <a:ext cx="184731" cy="2487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5D3E4181-4D02-4571-A8DF-1F0EE7BE025B}"/>
                </a:ext>
              </a:extLst>
            </p:cNvPr>
            <p:cNvSpPr txBox="1"/>
            <p:nvPr/>
          </p:nvSpPr>
          <p:spPr>
            <a:xfrm>
              <a:off x="4434400" y="3528078"/>
              <a:ext cx="9295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cs typeface="Courier New" panose="02070309020205020404" pitchFamily="49" charset="0"/>
                </a:rPr>
                <a:t>sentinel</a:t>
              </a:r>
              <a:endParaRPr lang="en-US" dirty="0">
                <a:cs typeface="Courier New" panose="02070309020205020404" pitchFamily="49" charset="0"/>
              </a:endParaRPr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E1A9DDFC-3A55-433B-947A-1398D06B2E7C}"/>
              </a:ext>
            </a:extLst>
          </p:cNvPr>
          <p:cNvGrpSpPr/>
          <p:nvPr/>
        </p:nvGrpSpPr>
        <p:grpSpPr>
          <a:xfrm>
            <a:off x="4615139" y="5653533"/>
            <a:ext cx="693462" cy="369332"/>
            <a:chOff x="6086836" y="4299644"/>
            <a:chExt cx="693462" cy="369332"/>
          </a:xfrm>
        </p:grpSpPr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3712294E-5F1C-4937-A096-2D49AA9EED31}"/>
                </a:ext>
              </a:extLst>
            </p:cNvPr>
            <p:cNvSpPr txBox="1"/>
            <p:nvPr/>
          </p:nvSpPr>
          <p:spPr>
            <a:xfrm>
              <a:off x="6271567" y="4299644"/>
              <a:ext cx="324000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B6114A2E-561C-4596-8E79-BA170A81C1C2}"/>
                </a:ext>
              </a:extLst>
            </p:cNvPr>
            <p:cNvSpPr txBox="1"/>
            <p:nvPr/>
          </p:nvSpPr>
          <p:spPr>
            <a:xfrm>
              <a:off x="6595567" y="4299644"/>
              <a:ext cx="184731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8483B66E-FD89-4B98-84F6-7D49581EA487}"/>
                </a:ext>
              </a:extLst>
            </p:cNvPr>
            <p:cNvSpPr txBox="1"/>
            <p:nvPr/>
          </p:nvSpPr>
          <p:spPr>
            <a:xfrm>
              <a:off x="6086836" y="4299644"/>
              <a:ext cx="184731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D5F1DF72-4DF2-47B6-BED0-7DE43F5462D2}"/>
              </a:ext>
            </a:extLst>
          </p:cNvPr>
          <p:cNvCxnSpPr>
            <a:cxnSpLocks/>
          </p:cNvCxnSpPr>
          <p:nvPr/>
        </p:nvCxnSpPr>
        <p:spPr>
          <a:xfrm>
            <a:off x="4711481" y="5930284"/>
            <a:ext cx="233568" cy="92581"/>
          </a:xfrm>
          <a:prstGeom prst="bentConnector4">
            <a:avLst>
              <a:gd name="adj1" fmla="val -991"/>
              <a:gd name="adj2" fmla="val 237177"/>
            </a:avLst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连接符: 肘形 156">
            <a:extLst>
              <a:ext uri="{FF2B5EF4-FFF2-40B4-BE49-F238E27FC236}">
                <a16:creationId xmlns:a16="http://schemas.microsoft.com/office/drawing/2014/main" id="{2038405A-0004-4BF8-B818-F873D8E64056}"/>
              </a:ext>
            </a:extLst>
          </p:cNvPr>
          <p:cNvCxnSpPr>
            <a:cxnSpLocks/>
            <a:endCxn id="147" idx="0"/>
          </p:cNvCxnSpPr>
          <p:nvPr/>
        </p:nvCxnSpPr>
        <p:spPr>
          <a:xfrm rot="10800000">
            <a:off x="4961870" y="5653534"/>
            <a:ext cx="254366" cy="105855"/>
          </a:xfrm>
          <a:prstGeom prst="bentConnector4">
            <a:avLst>
              <a:gd name="adj1" fmla="val -567"/>
              <a:gd name="adj2" fmla="val 231974"/>
            </a:avLst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A0A34428-3DD6-4D47-A045-747142AF857F}"/>
              </a:ext>
            </a:extLst>
          </p:cNvPr>
          <p:cNvSpPr/>
          <p:nvPr/>
        </p:nvSpPr>
        <p:spPr>
          <a:xfrm>
            <a:off x="6751522" y="4774766"/>
            <a:ext cx="1957134" cy="13692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600"/>
              </a:spcBef>
            </a:pPr>
            <a:r>
              <a:rPr lang="en-GB" sz="1600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AddFirst</a:t>
            </a:r>
            <a:r>
              <a:rPr lang="en-GB" sz="1600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(x):</a:t>
            </a:r>
          </a:p>
          <a:p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x.next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S.next.prev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=&amp;x</a:t>
            </a:r>
          </a:p>
          <a:p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=&amp;x</a:t>
            </a:r>
          </a:p>
          <a:p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x.prev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=&amp;S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C69C34-558D-4835-8414-7C7828B360E1}"/>
              </a:ext>
            </a:extLst>
          </p:cNvPr>
          <p:cNvGrpSpPr/>
          <p:nvPr/>
        </p:nvGrpSpPr>
        <p:grpSpPr>
          <a:xfrm>
            <a:off x="5598960" y="5653533"/>
            <a:ext cx="693462" cy="369332"/>
            <a:chOff x="5598960" y="5653533"/>
            <a:chExt cx="693462" cy="369332"/>
          </a:xfrm>
        </p:grpSpPr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B7D98F8D-5013-412A-8CD0-4DB8348B33BD}"/>
                </a:ext>
              </a:extLst>
            </p:cNvPr>
            <p:cNvSpPr txBox="1"/>
            <p:nvPr/>
          </p:nvSpPr>
          <p:spPr>
            <a:xfrm>
              <a:off x="5783691" y="5653533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C1F3604A-7AF8-4F8D-A1AD-1E8EEB99A667}"/>
                </a:ext>
              </a:extLst>
            </p:cNvPr>
            <p:cNvSpPr txBox="1"/>
            <p:nvPr/>
          </p:nvSpPr>
          <p:spPr>
            <a:xfrm>
              <a:off x="6107691" y="5653533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5CFCAA0E-B9F3-444E-ADC9-FBEFA439CB5E}"/>
                </a:ext>
              </a:extLst>
            </p:cNvPr>
            <p:cNvSpPr txBox="1"/>
            <p:nvPr/>
          </p:nvSpPr>
          <p:spPr>
            <a:xfrm>
              <a:off x="5598960" y="5653533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87D284DE-D94C-4640-B88F-FDC33543C664}"/>
              </a:ext>
            </a:extLst>
          </p:cNvPr>
          <p:cNvCxnSpPr>
            <a:cxnSpLocks/>
            <a:endCxn id="150" idx="0"/>
          </p:cNvCxnSpPr>
          <p:nvPr/>
        </p:nvCxnSpPr>
        <p:spPr>
          <a:xfrm rot="10800000">
            <a:off x="4707505" y="5653534"/>
            <a:ext cx="1493728" cy="84555"/>
          </a:xfrm>
          <a:prstGeom prst="bentConnector4">
            <a:avLst>
              <a:gd name="adj1" fmla="val 40"/>
              <a:gd name="adj2" fmla="val 370357"/>
            </a:avLst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连接符: 肘形 179">
            <a:extLst>
              <a:ext uri="{FF2B5EF4-FFF2-40B4-BE49-F238E27FC236}">
                <a16:creationId xmlns:a16="http://schemas.microsoft.com/office/drawing/2014/main" id="{B24669FC-5945-418A-A611-414C7B37C8D5}"/>
              </a:ext>
            </a:extLst>
          </p:cNvPr>
          <p:cNvCxnSpPr>
            <a:cxnSpLocks/>
            <a:endCxn id="171" idx="2"/>
          </p:cNvCxnSpPr>
          <p:nvPr/>
        </p:nvCxnSpPr>
        <p:spPr>
          <a:xfrm>
            <a:off x="4711481" y="5929202"/>
            <a:ext cx="1233472" cy="93663"/>
          </a:xfrm>
          <a:prstGeom prst="bentConnector4">
            <a:avLst>
              <a:gd name="adj1" fmla="val -553"/>
              <a:gd name="adj2" fmla="val 242372"/>
            </a:avLst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F24BC1E0-243F-4DA6-B5EB-A9FD92313A55}"/>
              </a:ext>
            </a:extLst>
          </p:cNvPr>
          <p:cNvCxnSpPr>
            <a:cxnSpLocks/>
          </p:cNvCxnSpPr>
          <p:nvPr/>
        </p:nvCxnSpPr>
        <p:spPr>
          <a:xfrm>
            <a:off x="5216235" y="5759390"/>
            <a:ext cx="372825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DD6CF6F6-5507-431E-B0F1-1EFDC5B61A89}"/>
              </a:ext>
            </a:extLst>
          </p:cNvPr>
          <p:cNvCxnSpPr>
            <a:cxnSpLocks/>
          </p:cNvCxnSpPr>
          <p:nvPr/>
        </p:nvCxnSpPr>
        <p:spPr>
          <a:xfrm flipH="1">
            <a:off x="5307628" y="5929202"/>
            <a:ext cx="379010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1A04EFD5-AB53-4D83-942F-9C57B158BA64}"/>
              </a:ext>
            </a:extLst>
          </p:cNvPr>
          <p:cNvGrpSpPr/>
          <p:nvPr/>
        </p:nvGrpSpPr>
        <p:grpSpPr>
          <a:xfrm>
            <a:off x="3938943" y="3274383"/>
            <a:ext cx="929550" cy="530218"/>
            <a:chOff x="4434400" y="3528078"/>
            <a:chExt cx="929550" cy="530218"/>
          </a:xfrm>
        </p:grpSpPr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F8E8CA93-59F4-4098-8D4D-630AF86B8395}"/>
                </a:ext>
              </a:extLst>
            </p:cNvPr>
            <p:cNvCxnSpPr>
              <a:cxnSpLocks/>
            </p:cNvCxnSpPr>
            <p:nvPr/>
          </p:nvCxnSpPr>
          <p:spPr>
            <a:xfrm>
              <a:off x="4893975" y="3809550"/>
              <a:ext cx="184731" cy="2487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82DABE94-79DA-4D38-BB19-DF182E39ECAB}"/>
                </a:ext>
              </a:extLst>
            </p:cNvPr>
            <p:cNvSpPr txBox="1"/>
            <p:nvPr/>
          </p:nvSpPr>
          <p:spPr>
            <a:xfrm>
              <a:off x="4434400" y="3528078"/>
              <a:ext cx="9295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cs typeface="Courier New" panose="02070309020205020404" pitchFamily="49" charset="0"/>
                </a:rPr>
                <a:t>sentinel</a:t>
              </a:r>
              <a:endParaRPr lang="en-US" dirty="0">
                <a:cs typeface="Courier New" panose="02070309020205020404" pitchFamily="49" charset="0"/>
              </a:endParaRPr>
            </a:p>
          </p:txBody>
        </p:sp>
      </p:grpSp>
      <p:sp>
        <p:nvSpPr>
          <p:cNvPr id="116" name="文本框 115">
            <a:extLst>
              <a:ext uri="{FF2B5EF4-FFF2-40B4-BE49-F238E27FC236}">
                <a16:creationId xmlns:a16="http://schemas.microsoft.com/office/drawing/2014/main" id="{3F2645BB-3BB2-4B2A-9468-E07F0E4EC0F2}"/>
              </a:ext>
            </a:extLst>
          </p:cNvPr>
          <p:cNvSpPr txBox="1"/>
          <p:nvPr/>
        </p:nvSpPr>
        <p:spPr>
          <a:xfrm>
            <a:off x="4799870" y="3873717"/>
            <a:ext cx="3240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AAFEF0B-5C55-40D7-9657-F4A3D1D5EA77}"/>
              </a:ext>
            </a:extLst>
          </p:cNvPr>
          <p:cNvSpPr txBox="1"/>
          <p:nvPr/>
        </p:nvSpPr>
        <p:spPr>
          <a:xfrm>
            <a:off x="5123870" y="3873717"/>
            <a:ext cx="184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F568E807-369C-4EF2-950F-5DC2379C3B36}"/>
              </a:ext>
            </a:extLst>
          </p:cNvPr>
          <p:cNvCxnSpPr>
            <a:cxnSpLocks/>
          </p:cNvCxnSpPr>
          <p:nvPr/>
        </p:nvCxnSpPr>
        <p:spPr>
          <a:xfrm>
            <a:off x="5216235" y="3972658"/>
            <a:ext cx="285671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48AF7588-27FB-4FA1-A99E-FABC7D728E02}"/>
              </a:ext>
            </a:extLst>
          </p:cNvPr>
          <p:cNvSpPr txBox="1"/>
          <p:nvPr/>
        </p:nvSpPr>
        <p:spPr>
          <a:xfrm>
            <a:off x="4615139" y="3873717"/>
            <a:ext cx="18473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AA067DD-19B9-4C37-9741-A0AA4BA4A040}"/>
              </a:ext>
            </a:extLst>
          </p:cNvPr>
          <p:cNvSpPr txBox="1"/>
          <p:nvPr/>
        </p:nvSpPr>
        <p:spPr>
          <a:xfrm>
            <a:off x="5686637" y="3864411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15A0BBC6-891B-40F8-B0CC-829BADE3B838}"/>
              </a:ext>
            </a:extLst>
          </p:cNvPr>
          <p:cNvSpPr txBox="1"/>
          <p:nvPr/>
        </p:nvSpPr>
        <p:spPr>
          <a:xfrm>
            <a:off x="6010637" y="3864411"/>
            <a:ext cx="18473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099A27E3-0D4D-4A13-877E-B978A3C1CCAA}"/>
              </a:ext>
            </a:extLst>
          </p:cNvPr>
          <p:cNvCxnSpPr>
            <a:cxnSpLocks/>
          </p:cNvCxnSpPr>
          <p:nvPr/>
        </p:nvCxnSpPr>
        <p:spPr>
          <a:xfrm>
            <a:off x="6103002" y="3963352"/>
            <a:ext cx="285671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1665FBCF-3844-4110-A881-03BB51609C72}"/>
              </a:ext>
            </a:extLst>
          </p:cNvPr>
          <p:cNvSpPr txBox="1"/>
          <p:nvPr/>
        </p:nvSpPr>
        <p:spPr>
          <a:xfrm>
            <a:off x="5501906" y="3864411"/>
            <a:ext cx="18473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83DB396F-ADF6-4BFB-B2F3-E95D22348A01}"/>
              </a:ext>
            </a:extLst>
          </p:cNvPr>
          <p:cNvCxnSpPr>
            <a:cxnSpLocks/>
          </p:cNvCxnSpPr>
          <p:nvPr/>
        </p:nvCxnSpPr>
        <p:spPr>
          <a:xfrm flipH="1">
            <a:off x="5308601" y="4139885"/>
            <a:ext cx="280459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349E48DD-3870-49B5-9BE8-19CEEDB88FCD}"/>
              </a:ext>
            </a:extLst>
          </p:cNvPr>
          <p:cNvGrpSpPr/>
          <p:nvPr/>
        </p:nvGrpSpPr>
        <p:grpSpPr>
          <a:xfrm>
            <a:off x="6193431" y="3864411"/>
            <a:ext cx="1080072" cy="369332"/>
            <a:chOff x="6780298" y="4290338"/>
            <a:chExt cx="1080072" cy="369332"/>
          </a:xfrm>
        </p:grpSpPr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3CC274A9-9A36-49BC-BCB9-8ADC020903D2}"/>
                </a:ext>
              </a:extLst>
            </p:cNvPr>
            <p:cNvSpPr txBox="1"/>
            <p:nvPr/>
          </p:nvSpPr>
          <p:spPr>
            <a:xfrm>
              <a:off x="7158334" y="4290338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77487E55-747E-470A-8830-731F392F270D}"/>
                </a:ext>
              </a:extLst>
            </p:cNvPr>
            <p:cNvSpPr txBox="1"/>
            <p:nvPr/>
          </p:nvSpPr>
          <p:spPr>
            <a:xfrm>
              <a:off x="7482334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A071F7DF-1AAF-49F8-B65E-BACC7A779A25}"/>
                </a:ext>
              </a:extLst>
            </p:cNvPr>
            <p:cNvCxnSpPr>
              <a:cxnSpLocks/>
            </p:cNvCxnSpPr>
            <p:nvPr/>
          </p:nvCxnSpPr>
          <p:spPr>
            <a:xfrm>
              <a:off x="7574699" y="4389279"/>
              <a:ext cx="28567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1BDB396C-C66B-4341-BBB3-046582965439}"/>
                </a:ext>
              </a:extLst>
            </p:cNvPr>
            <p:cNvSpPr txBox="1"/>
            <p:nvPr/>
          </p:nvSpPr>
          <p:spPr>
            <a:xfrm>
              <a:off x="6973603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8B82465E-0B33-410C-B1AB-A3C93CE967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0298" y="4565812"/>
              <a:ext cx="28045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8CB7D1E3-B894-484D-B9F3-E080C0774B7A}"/>
              </a:ext>
            </a:extLst>
          </p:cNvPr>
          <p:cNvGrpSpPr/>
          <p:nvPr/>
        </p:nvGrpSpPr>
        <p:grpSpPr>
          <a:xfrm>
            <a:off x="7078261" y="3864411"/>
            <a:ext cx="1080072" cy="369332"/>
            <a:chOff x="6780298" y="4290338"/>
            <a:chExt cx="1080072" cy="369332"/>
          </a:xfrm>
        </p:grpSpPr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4E710545-CE75-45C8-9B3C-F74429545F44}"/>
                </a:ext>
              </a:extLst>
            </p:cNvPr>
            <p:cNvSpPr txBox="1"/>
            <p:nvPr/>
          </p:nvSpPr>
          <p:spPr>
            <a:xfrm>
              <a:off x="7158334" y="4290338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3939F9DE-2E52-42B2-A918-8B4F7E75A811}"/>
                </a:ext>
              </a:extLst>
            </p:cNvPr>
            <p:cNvSpPr txBox="1"/>
            <p:nvPr/>
          </p:nvSpPr>
          <p:spPr>
            <a:xfrm>
              <a:off x="7482334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391D5AB3-E9F4-4BFF-8214-513F0FE710B7}"/>
                </a:ext>
              </a:extLst>
            </p:cNvPr>
            <p:cNvCxnSpPr>
              <a:cxnSpLocks/>
            </p:cNvCxnSpPr>
            <p:nvPr/>
          </p:nvCxnSpPr>
          <p:spPr>
            <a:xfrm>
              <a:off x="7574699" y="4389279"/>
              <a:ext cx="28567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B43F06D2-E73D-4AF0-9373-03615205861C}"/>
                </a:ext>
              </a:extLst>
            </p:cNvPr>
            <p:cNvSpPr txBox="1"/>
            <p:nvPr/>
          </p:nvSpPr>
          <p:spPr>
            <a:xfrm>
              <a:off x="6973603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1307AB02-7C31-4876-9944-A1AB63CABC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0298" y="4565812"/>
              <a:ext cx="28045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2A2A7E17-25B8-49A1-BCD6-E790F0E6034C}"/>
              </a:ext>
            </a:extLst>
          </p:cNvPr>
          <p:cNvGrpSpPr/>
          <p:nvPr/>
        </p:nvGrpSpPr>
        <p:grpSpPr>
          <a:xfrm>
            <a:off x="7963091" y="3864411"/>
            <a:ext cx="886767" cy="369332"/>
            <a:chOff x="6780298" y="4290338"/>
            <a:chExt cx="886767" cy="369332"/>
          </a:xfrm>
        </p:grpSpPr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E4FAB847-1A29-4BB7-97A8-76D30D5AA7A3}"/>
                </a:ext>
              </a:extLst>
            </p:cNvPr>
            <p:cNvSpPr txBox="1"/>
            <p:nvPr/>
          </p:nvSpPr>
          <p:spPr>
            <a:xfrm>
              <a:off x="7158334" y="4290338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k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CE72357-DF4C-4D8D-BFBE-4A804AADF4D1}"/>
                </a:ext>
              </a:extLst>
            </p:cNvPr>
            <p:cNvSpPr txBox="1"/>
            <p:nvPr/>
          </p:nvSpPr>
          <p:spPr>
            <a:xfrm>
              <a:off x="7482334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B1D9363D-AA9A-4E52-9C8B-D41F743D2DBA}"/>
                </a:ext>
              </a:extLst>
            </p:cNvPr>
            <p:cNvSpPr txBox="1"/>
            <p:nvPr/>
          </p:nvSpPr>
          <p:spPr>
            <a:xfrm>
              <a:off x="6973603" y="4290338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7258EE01-8381-46AC-9CBD-2B2460BDBD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0298" y="4565812"/>
              <a:ext cx="28045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6FDFC72E-F344-4D94-8055-7816FC92FF6C}"/>
              </a:ext>
            </a:extLst>
          </p:cNvPr>
          <p:cNvCxnSpPr>
            <a:cxnSpLocks/>
            <a:endCxn id="97" idx="2"/>
          </p:cNvCxnSpPr>
          <p:nvPr/>
        </p:nvCxnSpPr>
        <p:spPr>
          <a:xfrm>
            <a:off x="4707504" y="4138468"/>
            <a:ext cx="3795623" cy="95275"/>
          </a:xfrm>
          <a:prstGeom prst="bentConnector4">
            <a:avLst>
              <a:gd name="adj1" fmla="val -64"/>
              <a:gd name="adj2" fmla="val 238297"/>
            </a:avLst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连接符: 肘形 136">
            <a:extLst>
              <a:ext uri="{FF2B5EF4-FFF2-40B4-BE49-F238E27FC236}">
                <a16:creationId xmlns:a16="http://schemas.microsoft.com/office/drawing/2014/main" id="{E5E7719D-6775-4C3F-920B-A8C1994ECD41}"/>
              </a:ext>
            </a:extLst>
          </p:cNvPr>
          <p:cNvCxnSpPr>
            <a:cxnSpLocks/>
            <a:endCxn id="116" idx="0"/>
          </p:cNvCxnSpPr>
          <p:nvPr/>
        </p:nvCxnSpPr>
        <p:spPr>
          <a:xfrm rot="10800000">
            <a:off x="4961871" y="3873718"/>
            <a:ext cx="3795625" cy="98295"/>
          </a:xfrm>
          <a:prstGeom prst="bentConnector4">
            <a:avLst>
              <a:gd name="adj1" fmla="val 19"/>
              <a:gd name="adj2" fmla="val 255043"/>
            </a:avLst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BC7D026-9C06-40BA-A24B-AABC6666A216}"/>
              </a:ext>
            </a:extLst>
          </p:cNvPr>
          <p:cNvSpPr txBox="1"/>
          <p:nvPr/>
        </p:nvSpPr>
        <p:spPr>
          <a:xfrm>
            <a:off x="4868493" y="3241442"/>
            <a:ext cx="361387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</a:t>
            </a:r>
            <a:r>
              <a:rPr lang="en-GB" dirty="0">
                <a:solidFill>
                  <a:srgbClr val="C00000"/>
                </a:solidFill>
                <a:cs typeface="Courier New" panose="02070309020205020404" pitchFamily="49" charset="0"/>
              </a:rPr>
              <a:t> is head, and </a:t>
            </a:r>
            <a:r>
              <a:rPr lang="en-GB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S.prev</a:t>
            </a:r>
            <a:r>
              <a:rPr lang="en-GB" dirty="0">
                <a:solidFill>
                  <a:srgbClr val="C00000"/>
                </a:solidFill>
                <a:cs typeface="Courier New" panose="02070309020205020404" pitchFamily="49" charset="0"/>
              </a:rPr>
              <a:t> is tail</a:t>
            </a: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1A361D2-14EC-43B3-B644-2F7B551624FB}"/>
              </a:ext>
            </a:extLst>
          </p:cNvPr>
          <p:cNvGrpSpPr/>
          <p:nvPr/>
        </p:nvGrpSpPr>
        <p:grpSpPr>
          <a:xfrm>
            <a:off x="5055653" y="4600904"/>
            <a:ext cx="693462" cy="369332"/>
            <a:chOff x="5055653" y="4600904"/>
            <a:chExt cx="693462" cy="369332"/>
          </a:xfrm>
        </p:grpSpPr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F022E614-E541-4C33-87D6-4FE511C731D5}"/>
                </a:ext>
              </a:extLst>
            </p:cNvPr>
            <p:cNvSpPr txBox="1"/>
            <p:nvPr/>
          </p:nvSpPr>
          <p:spPr>
            <a:xfrm>
              <a:off x="5240384" y="4600904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19B35A07-ADFD-415D-8361-B5F3C95D3545}"/>
                </a:ext>
              </a:extLst>
            </p:cNvPr>
            <p:cNvSpPr txBox="1"/>
            <p:nvPr/>
          </p:nvSpPr>
          <p:spPr>
            <a:xfrm>
              <a:off x="5564384" y="4600904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530A72AB-D81C-476E-B41B-0DE38709EE78}"/>
                </a:ext>
              </a:extLst>
            </p:cNvPr>
            <p:cNvSpPr txBox="1"/>
            <p:nvPr/>
          </p:nvSpPr>
          <p:spPr>
            <a:xfrm>
              <a:off x="5055653" y="4600904"/>
              <a:ext cx="184731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70790BAC-7A8D-44FD-9DD6-59A2B9E831C8}"/>
              </a:ext>
            </a:extLst>
          </p:cNvPr>
          <p:cNvCxnSpPr>
            <a:cxnSpLocks/>
          </p:cNvCxnSpPr>
          <p:nvPr/>
        </p:nvCxnSpPr>
        <p:spPr>
          <a:xfrm flipV="1">
            <a:off x="5653054" y="4243049"/>
            <a:ext cx="110068" cy="456280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1FF11D24-6542-49A2-BB46-D90EAD211E35}"/>
              </a:ext>
            </a:extLst>
          </p:cNvPr>
          <p:cNvCxnSpPr>
            <a:cxnSpLocks/>
          </p:cNvCxnSpPr>
          <p:nvPr/>
        </p:nvCxnSpPr>
        <p:spPr>
          <a:xfrm flipH="1">
            <a:off x="5477884" y="4143849"/>
            <a:ext cx="112102" cy="457055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D7631956-9A41-4D57-927F-B61AC26C5CD2}"/>
              </a:ext>
            </a:extLst>
          </p:cNvPr>
          <p:cNvCxnSpPr>
            <a:cxnSpLocks/>
          </p:cNvCxnSpPr>
          <p:nvPr/>
        </p:nvCxnSpPr>
        <p:spPr>
          <a:xfrm>
            <a:off x="5216235" y="3972013"/>
            <a:ext cx="98715" cy="628562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D44F57C5-E84E-4C8B-B69F-2C06571746A9}"/>
              </a:ext>
            </a:extLst>
          </p:cNvPr>
          <p:cNvCxnSpPr>
            <a:cxnSpLocks/>
          </p:cNvCxnSpPr>
          <p:nvPr/>
        </p:nvCxnSpPr>
        <p:spPr>
          <a:xfrm flipH="1" flipV="1">
            <a:off x="5075033" y="4243049"/>
            <a:ext cx="72753" cy="451236"/>
          </a:xfrm>
          <a:prstGeom prst="straightConnector1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3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7E39357-2AD0-40B3-BCDA-210840322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sz="2400" dirty="0"/>
              <a:t> ADT: FIFO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sz="2400" dirty="0"/>
              <a:t>,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GB" sz="2400" dirty="0"/>
              <a:t> (LIFO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en-GB" sz="2400" dirty="0"/>
              <a:t>),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GB" sz="2400" dirty="0"/>
              <a:t> ADT: can implement various Queue</a:t>
            </a:r>
          </a:p>
          <a:p>
            <a:r>
              <a:rPr lang="en-GB" sz="2400" dirty="0"/>
              <a:t>Array based implementations (simple/circular):</a:t>
            </a:r>
          </a:p>
          <a:p>
            <a:pPr lvl="1"/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Queries are fast, updates (i.e., 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) are also fast</a:t>
            </a:r>
          </a:p>
          <a:p>
            <a:pPr lvl="1"/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Modifications (i.e., 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) are fast at “start” and “end”, but slow in “middle”</a:t>
            </a:r>
          </a:p>
          <a:p>
            <a:pPr lvl="1"/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Capacity can be a problem (come back to this later…)</a:t>
            </a:r>
          </a:p>
          <a:p>
            <a:r>
              <a:rPr lang="en-GB" sz="2400" dirty="0"/>
              <a:t>Linked list based implementations (singly/doubly linked):</a:t>
            </a:r>
          </a:p>
          <a:p>
            <a:pPr lvl="1"/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Operations (queries, updates, and modifications) are fast at “start” and “end”, but slow in “middle”</a:t>
            </a:r>
          </a:p>
          <a:p>
            <a:pPr lvl="1"/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No capacity issue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364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Ch10 (10.1-10.3)</a:t>
            </a:r>
          </a:p>
          <a:p>
            <a:r>
              <a:rPr lang="en-GB" sz="2400" dirty="0"/>
              <a:t>[Morin] Ch1 (1.1, 1.2), Ch2 (2.1-2.4), Ch3 (3.1, 3.2)</a:t>
            </a:r>
            <a:endParaRPr 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2863C7-E192-474F-907B-BBCE74700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3435348"/>
            <a:ext cx="2038350" cy="3057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Application of </a:t>
            </a:r>
            <a:r>
              <a:rPr lang="en-GB" sz="2800" dirty="0">
                <a:cs typeface="Courier New" panose="02070309020205020404" pitchFamily="49" charset="0"/>
              </a:rPr>
              <a:t>Stack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/>
              <a:t>Balancing Symbols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0B00A3-42F0-4E0E-B2DA-848DCC251F1D}"/>
              </a:ext>
            </a:extLst>
          </p:cNvPr>
          <p:cNvSpPr txBox="1"/>
          <p:nvPr/>
        </p:nvSpPr>
        <p:spPr>
          <a:xfrm>
            <a:off x="628651" y="1690689"/>
            <a:ext cx="7886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Compiler needs to check whether the parentheses (), brackets [], and braces {} are </a:t>
            </a:r>
            <a:r>
              <a:rPr lang="en-GB" sz="2400" dirty="0">
                <a:solidFill>
                  <a:srgbClr val="C00000"/>
                </a:solidFill>
              </a:rPr>
              <a:t>matched</a:t>
            </a:r>
            <a:r>
              <a:rPr lang="en-GB" sz="2400" dirty="0"/>
              <a:t>.</a:t>
            </a:r>
            <a:endParaRPr 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1C38C7-2BB1-4B4D-BDBC-141952C06A33}"/>
              </a:ext>
            </a:extLst>
          </p:cNvPr>
          <p:cNvSpPr/>
          <p:nvPr/>
        </p:nvSpPr>
        <p:spPr>
          <a:xfrm>
            <a:off x="628650" y="2744352"/>
            <a:ext cx="4672693" cy="3384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CheckParen</a:t>
            </a: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(str):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s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(str[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]!=NULL)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(str[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is ‘(’ or ‘[’ or ‘{’)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(str[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(str[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is ‘)’ or ‘]’ or ‘}’)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</a:t>
            </a:r>
            <a:r>
              <a:rPr lang="en-GB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s.pop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and str[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mismatch)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</a:t>
            </a:r>
            <a:r>
              <a:rPr lang="en-GB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0FCFA3-D93B-4F65-BE2C-6743F4AF9EE4}"/>
              </a:ext>
            </a:extLst>
          </p:cNvPr>
          <p:cNvSpPr/>
          <p:nvPr/>
        </p:nvSpPr>
        <p:spPr>
          <a:xfrm>
            <a:off x="5671457" y="2744352"/>
            <a:ext cx="2623457" cy="4778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if (a&gt;b) {b=c[10];}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5731117-C5B1-416C-BFF5-195772404CA2}"/>
              </a:ext>
            </a:extLst>
          </p:cNvPr>
          <p:cNvSpPr/>
          <p:nvPr/>
        </p:nvSpPr>
        <p:spPr>
          <a:xfrm>
            <a:off x="5671456" y="3444837"/>
            <a:ext cx="2623457" cy="47781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if (a&gt;b) {b=c[10];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62C2850-B0F3-4721-851A-01D15D16E2F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743200" y="3683747"/>
            <a:ext cx="2928256" cy="2248967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2918606-07D9-4FF5-9851-4FFDDB840F12}"/>
              </a:ext>
            </a:extLst>
          </p:cNvPr>
          <p:cNvSpPr/>
          <p:nvPr/>
        </p:nvSpPr>
        <p:spPr>
          <a:xfrm>
            <a:off x="5671456" y="4161566"/>
            <a:ext cx="2623457" cy="47781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if (a&gt;b)) {b=c[10];}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4842AD2-23EA-4D5F-97C9-82484CAD62A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2964996" y="4400476"/>
            <a:ext cx="2706460" cy="5758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A66F524-994E-4286-85B7-FBE5933DE2E3}"/>
              </a:ext>
            </a:extLst>
          </p:cNvPr>
          <p:cNvSpPr/>
          <p:nvPr/>
        </p:nvSpPr>
        <p:spPr>
          <a:xfrm>
            <a:off x="5671455" y="4878295"/>
            <a:ext cx="2623457" cy="47781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if (a&gt;b) {b=c[10);}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E51379C-C1D2-427B-8652-35EADB0C8782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2964996" y="5117205"/>
            <a:ext cx="2706459" cy="33112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65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1102F1D-3C1C-4BD0-A725-D7D5C7B4331B}"/>
              </a:ext>
            </a:extLst>
          </p:cNvPr>
          <p:cNvSpPr/>
          <p:nvPr/>
        </p:nvSpPr>
        <p:spPr>
          <a:xfrm>
            <a:off x="663262" y="3450093"/>
            <a:ext cx="1632263" cy="3539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D84262B-6F6E-4E0F-8E83-11BC16BA02DB}"/>
              </a:ext>
            </a:extLst>
          </p:cNvPr>
          <p:cNvSpPr/>
          <p:nvPr/>
        </p:nvSpPr>
        <p:spPr>
          <a:xfrm>
            <a:off x="2841750" y="1724205"/>
            <a:ext cx="1939800" cy="47781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Application of </a:t>
            </a:r>
            <a:r>
              <a:rPr lang="en-GB" sz="2800" dirty="0">
                <a:cs typeface="Courier New" panose="02070309020205020404" pitchFamily="49" charset="0"/>
              </a:rPr>
              <a:t>Stack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/>
              <a:t>Evaluating Postfix Expressions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4A11861-4A8B-4DED-A25A-D0F9DEC261D3}"/>
                  </a:ext>
                </a:extLst>
              </p:cNvPr>
              <p:cNvSpPr txBox="1"/>
              <p:nvPr/>
            </p:nvSpPr>
            <p:spPr>
              <a:xfrm>
                <a:off x="628650" y="1763060"/>
                <a:ext cx="43883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How do we evaluate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?</a:t>
                </a:r>
                <a:endParaRPr 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4A11861-4A8B-4DED-A25A-D0F9DEC26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763060"/>
                <a:ext cx="4388317" cy="400110"/>
              </a:xfrm>
              <a:prstGeom prst="rect">
                <a:avLst/>
              </a:prstGeom>
              <a:blipFill>
                <a:blip r:embed="rId2"/>
                <a:stretch>
                  <a:fillRect l="-1389" t="-7576" r="-41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680543DF-0D18-4B1C-AF5C-8C2C1EA7926E}"/>
              </a:ext>
            </a:extLst>
          </p:cNvPr>
          <p:cNvGrpSpPr/>
          <p:nvPr/>
        </p:nvGrpSpPr>
        <p:grpSpPr>
          <a:xfrm>
            <a:off x="6166757" y="2460684"/>
            <a:ext cx="843500" cy="1143885"/>
            <a:chOff x="5519057" y="2157463"/>
            <a:chExt cx="843500" cy="11438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5B78481-65AF-4073-A893-F89BC668B775}"/>
                    </a:ext>
                  </a:extLst>
                </p:cNvPr>
                <p:cNvSpPr txBox="1"/>
                <p:nvPr/>
              </p:nvSpPr>
              <p:spPr>
                <a:xfrm>
                  <a:off x="5519057" y="2993571"/>
                  <a:ext cx="21640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5B78481-65AF-4073-A893-F89BC668B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9057" y="2993571"/>
                  <a:ext cx="216405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17143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5EFA4B6-3F78-4A60-BA1C-B8A8E6CA6B40}"/>
                    </a:ext>
                  </a:extLst>
                </p:cNvPr>
                <p:cNvSpPr txBox="1"/>
                <p:nvPr/>
              </p:nvSpPr>
              <p:spPr>
                <a:xfrm>
                  <a:off x="6146152" y="2993570"/>
                  <a:ext cx="21640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5EFA4B6-3F78-4A60-BA1C-B8A8E6CA6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6152" y="2993570"/>
                  <a:ext cx="216405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7778" r="-27778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38AC205-6F0F-4EA6-9A40-AE30EF7D120C}"/>
                    </a:ext>
                  </a:extLst>
                </p:cNvPr>
                <p:cNvSpPr/>
                <p:nvPr/>
              </p:nvSpPr>
              <p:spPr>
                <a:xfrm>
                  <a:off x="5735462" y="2157463"/>
                  <a:ext cx="41069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38AC205-6F0F-4EA6-9A40-AE30EF7D12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462" y="2157463"/>
                  <a:ext cx="41069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46B818C8-F0BB-401B-AFEE-CC6CA2845E2B}"/>
                </a:ext>
              </a:extLst>
            </p:cNvPr>
            <p:cNvCxnSpPr>
              <a:stCxn id="9" idx="0"/>
              <a:endCxn id="10" idx="2"/>
            </p:cNvCxnSpPr>
            <p:nvPr/>
          </p:nvCxnSpPr>
          <p:spPr>
            <a:xfrm flipV="1">
              <a:off x="5627260" y="2526795"/>
              <a:ext cx="313547" cy="4667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769952ED-F702-423F-8585-7FA018D39B19}"/>
                </a:ext>
              </a:extLst>
            </p:cNvPr>
            <p:cNvCxnSpPr>
              <a:cxnSpLocks/>
              <a:stCxn id="14" idx="0"/>
              <a:endCxn id="10" idx="2"/>
            </p:cNvCxnSpPr>
            <p:nvPr/>
          </p:nvCxnSpPr>
          <p:spPr>
            <a:xfrm flipH="1" flipV="1">
              <a:off x="5940807" y="2526795"/>
              <a:ext cx="313548" cy="4667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DB965AF-33AD-40EC-9EEA-F7EBE0AC8EE9}"/>
              </a:ext>
            </a:extLst>
          </p:cNvPr>
          <p:cNvGrpSpPr/>
          <p:nvPr/>
        </p:nvGrpSpPr>
        <p:grpSpPr>
          <a:xfrm>
            <a:off x="7419080" y="2460684"/>
            <a:ext cx="849913" cy="1143885"/>
            <a:chOff x="5519057" y="2157463"/>
            <a:chExt cx="849913" cy="11438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18C2950-0E00-4CE0-90FD-460C428B5168}"/>
                    </a:ext>
                  </a:extLst>
                </p:cNvPr>
                <p:cNvSpPr txBox="1"/>
                <p:nvPr/>
              </p:nvSpPr>
              <p:spPr>
                <a:xfrm>
                  <a:off x="5519057" y="2993571"/>
                  <a:ext cx="18755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18C2950-0E00-4CE0-90FD-460C428B51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9057" y="2993571"/>
                  <a:ext cx="187551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9355" r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A71978B-F0D7-4927-B4B6-811FC635DAD2}"/>
                    </a:ext>
                  </a:extLst>
                </p:cNvPr>
                <p:cNvSpPr txBox="1"/>
                <p:nvPr/>
              </p:nvSpPr>
              <p:spPr>
                <a:xfrm>
                  <a:off x="6146152" y="2993570"/>
                  <a:ext cx="22281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A71978B-F0D7-4927-B4B6-811FC635DA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6152" y="2993570"/>
                  <a:ext cx="222818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30556" r="-30556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B85AAAC2-F419-40E0-B72E-DD2E04D4ED67}"/>
                    </a:ext>
                  </a:extLst>
                </p:cNvPr>
                <p:cNvSpPr/>
                <p:nvPr/>
              </p:nvSpPr>
              <p:spPr>
                <a:xfrm>
                  <a:off x="5735462" y="2157463"/>
                  <a:ext cx="41069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B85AAAC2-F419-40E0-B72E-DD2E04D4ED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462" y="2157463"/>
                  <a:ext cx="41069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C2A51DEF-4B7E-4A4B-A2F2-D605C812AE2F}"/>
                </a:ext>
              </a:extLst>
            </p:cNvPr>
            <p:cNvCxnSpPr>
              <a:stCxn id="23" idx="0"/>
              <a:endCxn id="25" idx="2"/>
            </p:cNvCxnSpPr>
            <p:nvPr/>
          </p:nvCxnSpPr>
          <p:spPr>
            <a:xfrm flipV="1">
              <a:off x="5612833" y="2526795"/>
              <a:ext cx="327974" cy="4667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306DA1F2-E54B-4D4B-80B8-27ADAFDD1347}"/>
                </a:ext>
              </a:extLst>
            </p:cNvPr>
            <p:cNvCxnSpPr>
              <a:cxnSpLocks/>
              <a:stCxn id="24" idx="0"/>
              <a:endCxn id="25" idx="2"/>
            </p:cNvCxnSpPr>
            <p:nvPr/>
          </p:nvCxnSpPr>
          <p:spPr>
            <a:xfrm flipH="1" flipV="1">
              <a:off x="5940807" y="2526795"/>
              <a:ext cx="316754" cy="4667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239C2F8-0DE5-4573-8944-706AE75B6AFE}"/>
              </a:ext>
            </a:extLst>
          </p:cNvPr>
          <p:cNvGrpSpPr/>
          <p:nvPr/>
        </p:nvGrpSpPr>
        <p:grpSpPr>
          <a:xfrm>
            <a:off x="6588507" y="1758208"/>
            <a:ext cx="1252323" cy="702476"/>
            <a:chOff x="6588507" y="1690689"/>
            <a:chExt cx="1252323" cy="7024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5436067F-6C4C-4F95-9CB0-E4DBDD57D9B7}"/>
                    </a:ext>
                  </a:extLst>
                </p:cNvPr>
                <p:cNvSpPr/>
                <p:nvPr/>
              </p:nvSpPr>
              <p:spPr>
                <a:xfrm>
                  <a:off x="7010257" y="1690689"/>
                  <a:ext cx="40267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5436067F-6C4C-4F95-9CB0-E4DBDD57D9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0257" y="1690689"/>
                  <a:ext cx="40267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FED0473-C732-48B4-9EFD-44927A99BF0A}"/>
                </a:ext>
              </a:extLst>
            </p:cNvPr>
            <p:cNvCxnSpPr>
              <a:cxnSpLocks/>
              <a:stCxn id="10" idx="0"/>
              <a:endCxn id="28" idx="2"/>
            </p:cNvCxnSpPr>
            <p:nvPr/>
          </p:nvCxnSpPr>
          <p:spPr>
            <a:xfrm flipV="1">
              <a:off x="6588507" y="2060021"/>
              <a:ext cx="623087" cy="33314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2064A342-81F2-4A79-BD48-E3F161C44A8A}"/>
                </a:ext>
              </a:extLst>
            </p:cNvPr>
            <p:cNvCxnSpPr>
              <a:cxnSpLocks/>
              <a:stCxn id="25" idx="0"/>
              <a:endCxn id="28" idx="2"/>
            </p:cNvCxnSpPr>
            <p:nvPr/>
          </p:nvCxnSpPr>
          <p:spPr>
            <a:xfrm flipH="1" flipV="1">
              <a:off x="7211594" y="2060021"/>
              <a:ext cx="629236" cy="33314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E4B01283-3D02-4861-90D2-43F6BAF79A21}"/>
                  </a:ext>
                </a:extLst>
              </p:cNvPr>
              <p:cNvSpPr txBox="1"/>
              <p:nvPr/>
            </p:nvSpPr>
            <p:spPr>
              <a:xfrm>
                <a:off x="634126" y="2388264"/>
                <a:ext cx="4045466" cy="747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If we place operators </a:t>
                </a:r>
                <a:r>
                  <a:rPr lang="en-GB" sz="2000" b="1" dirty="0"/>
                  <a:t>after</a:t>
                </a:r>
                <a:r>
                  <a:rPr lang="en-GB" sz="2000" dirty="0"/>
                  <a:t> operands: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GB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GB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GB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en-GB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E4B01283-3D02-4861-90D2-43F6BAF79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26" y="2388264"/>
                <a:ext cx="4045466" cy="747512"/>
              </a:xfrm>
              <a:prstGeom prst="rect">
                <a:avLst/>
              </a:prstGeom>
              <a:blipFill>
                <a:blip r:embed="rId10"/>
                <a:stretch>
                  <a:fillRect l="-1506" t="-4918" r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D9193E3-039B-4E62-9B7A-BB8E4A136E2C}"/>
                  </a:ext>
                </a:extLst>
              </p:cNvPr>
              <p:cNvSpPr txBox="1"/>
              <p:nvPr/>
            </p:nvSpPr>
            <p:spPr>
              <a:xfrm>
                <a:off x="634126" y="3096150"/>
                <a:ext cx="441524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In fact, we can remove the parentheses:</a:t>
                </a:r>
              </a:p>
              <a:p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×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D9193E3-039B-4E62-9B7A-BB8E4A136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26" y="3096150"/>
                <a:ext cx="4415248" cy="707886"/>
              </a:xfrm>
              <a:prstGeom prst="rect">
                <a:avLst/>
              </a:prstGeom>
              <a:blipFill>
                <a:blip r:embed="rId11"/>
                <a:stretch>
                  <a:fillRect l="-1381" t="-5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>
            <a:extLst>
              <a:ext uri="{FF2B5EF4-FFF2-40B4-BE49-F238E27FC236}">
                <a16:creationId xmlns:a16="http://schemas.microsoft.com/office/drawing/2014/main" id="{4673928F-C60E-42F9-8465-E26398CCD685}"/>
              </a:ext>
            </a:extLst>
          </p:cNvPr>
          <p:cNvSpPr txBox="1"/>
          <p:nvPr/>
        </p:nvSpPr>
        <p:spPr>
          <a:xfrm>
            <a:off x="3714327" y="2163170"/>
            <a:ext cx="1672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infix expression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A075F4F-EBB2-4E76-8B7F-A21965BA050B}"/>
              </a:ext>
            </a:extLst>
          </p:cNvPr>
          <p:cNvSpPr txBox="1"/>
          <p:nvPr/>
        </p:nvSpPr>
        <p:spPr>
          <a:xfrm>
            <a:off x="1479393" y="3788647"/>
            <a:ext cx="1910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postfix expression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C74B70E-51E2-4AA2-9CD9-A82E5F9E16FA}"/>
              </a:ext>
            </a:extLst>
          </p:cNvPr>
          <p:cNvSpPr txBox="1"/>
          <p:nvPr/>
        </p:nvSpPr>
        <p:spPr>
          <a:xfrm>
            <a:off x="628650" y="4319300"/>
            <a:ext cx="7886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Postfix notation</a:t>
            </a:r>
            <a:r>
              <a:rPr lang="en-GB" dirty="0"/>
              <a:t>, also known as </a:t>
            </a:r>
            <a:r>
              <a:rPr lang="en-GB" b="1" dirty="0">
                <a:solidFill>
                  <a:schemeClr val="accent1"/>
                </a:solidFill>
              </a:rPr>
              <a:t>reverse Polish notation</a:t>
            </a:r>
            <a:r>
              <a:rPr lang="en-GB" dirty="0"/>
              <a:t> (</a:t>
            </a:r>
            <a:r>
              <a:rPr lang="en-GB" b="1" dirty="0">
                <a:solidFill>
                  <a:schemeClr val="accent1"/>
                </a:solidFill>
              </a:rPr>
              <a:t>RPN</a:t>
            </a:r>
            <a:r>
              <a:rPr lang="en-GB" dirty="0"/>
              <a:t>), </a:t>
            </a:r>
            <a:r>
              <a:rPr lang="en-US" dirty="0"/>
              <a:t>is a mathematical notation in which operators follow their operands. If there are multiple operations, operators are given immediately after their last operands.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9A4FD57-DAF9-4191-9548-80BB7A6E4788}"/>
              </a:ext>
            </a:extLst>
          </p:cNvPr>
          <p:cNvSpPr txBox="1"/>
          <p:nvPr/>
        </p:nvSpPr>
        <p:spPr>
          <a:xfrm>
            <a:off x="628650" y="5323846"/>
            <a:ext cx="3601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C00000"/>
                </a:solidFill>
              </a:rPr>
              <a:t>RPN does not need </a:t>
            </a:r>
            <a:r>
              <a:rPr lang="en-US" sz="2000" dirty="0">
                <a:solidFill>
                  <a:srgbClr val="C00000"/>
                </a:solidFill>
              </a:rPr>
              <a:t>parentheses!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7359535E-A6C7-4E8E-98FE-C5A73E048963}"/>
                  </a:ext>
                </a:extLst>
              </p:cNvPr>
              <p:cNvSpPr txBox="1"/>
              <p:nvPr/>
            </p:nvSpPr>
            <p:spPr>
              <a:xfrm>
                <a:off x="5051618" y="5323846"/>
                <a:ext cx="2455865" cy="784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000" i="1" u="sng" dirty="0"/>
                  <a:t>One more example:</a:t>
                </a:r>
              </a:p>
              <a:p>
                <a:r>
                  <a:rPr lang="en-GB" sz="2000" dirty="0"/>
                  <a:t>Infix: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7359535E-A6C7-4E8E-98FE-C5A73E048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618" y="5323846"/>
                <a:ext cx="2455865" cy="784830"/>
              </a:xfrm>
              <a:prstGeom prst="rect">
                <a:avLst/>
              </a:prstGeom>
              <a:blipFill>
                <a:blip r:embed="rId12"/>
                <a:stretch>
                  <a:fillRect l="-2730" t="-3876" b="-13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F15D438-4FAC-4382-B480-21603DE8D74D}"/>
                  </a:ext>
                </a:extLst>
              </p:cNvPr>
              <p:cNvSpPr txBox="1"/>
              <p:nvPr/>
            </p:nvSpPr>
            <p:spPr>
              <a:xfrm>
                <a:off x="5049374" y="6026044"/>
                <a:ext cx="223394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RPN: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F15D438-4FAC-4382-B480-21603DE8D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374" y="6026044"/>
                <a:ext cx="2233945" cy="400110"/>
              </a:xfrm>
              <a:prstGeom prst="rect">
                <a:avLst/>
              </a:prstGeom>
              <a:blipFill>
                <a:blip r:embed="rId13"/>
                <a:stretch>
                  <a:fillRect l="-2725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2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8" grpId="0" animBg="1"/>
      <p:bldP spid="2" grpId="0"/>
      <p:bldP spid="36" grpId="0"/>
      <p:bldP spid="37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Application of </a:t>
            </a:r>
            <a:r>
              <a:rPr lang="en-GB" sz="2800" dirty="0">
                <a:cs typeface="Courier New" panose="02070309020205020404" pitchFamily="49" charset="0"/>
              </a:rPr>
              <a:t>Stack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/>
              <a:t>Evaluating Postfix Expressions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A4756A-ACA1-4BA9-931E-7F978070AA61}"/>
              </a:ext>
            </a:extLst>
          </p:cNvPr>
          <p:cNvSpPr txBox="1"/>
          <p:nvPr/>
        </p:nvSpPr>
        <p:spPr>
          <a:xfrm>
            <a:off x="628650" y="1690689"/>
            <a:ext cx="5851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C00000"/>
                </a:solidFill>
              </a:rPr>
              <a:t>Given an expression in RPN, how to evaluate its value?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0340CC-7D08-49BA-9DDA-9966B0F263BC}"/>
              </a:ext>
            </a:extLst>
          </p:cNvPr>
          <p:cNvSpPr/>
          <p:nvPr/>
        </p:nvSpPr>
        <p:spPr>
          <a:xfrm>
            <a:off x="628650" y="2237590"/>
            <a:ext cx="4672693" cy="23828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EvalRPN</a:t>
            </a: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(str):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s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((token=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NextToken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(str))!=NULL)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(token is an operand)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(token)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res=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PopOperandAndCalc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s,token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(res)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s.pop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2037F0-476A-4DD8-B368-B1363EF4F941}"/>
                  </a:ext>
                </a:extLst>
              </p:cNvPr>
              <p:cNvSpPr txBox="1"/>
              <p:nvPr/>
            </p:nvSpPr>
            <p:spPr>
              <a:xfrm>
                <a:off x="6059485" y="3835580"/>
                <a:ext cx="2399247" cy="784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000" i="1" u="sng" dirty="0"/>
                  <a:t>One simple example: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 6+8×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2037F0-476A-4DD8-B368-B1363EF4F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485" y="3835580"/>
                <a:ext cx="2399247" cy="784830"/>
              </a:xfrm>
              <a:prstGeom prst="rect">
                <a:avLst/>
              </a:prstGeom>
              <a:blipFill>
                <a:blip r:embed="rId2"/>
                <a:stretch>
                  <a:fillRect l="-2538" t="-3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FD3A2F3B-EC54-4118-AECF-23508FAB279F}"/>
              </a:ext>
            </a:extLst>
          </p:cNvPr>
          <p:cNvGrpSpPr/>
          <p:nvPr/>
        </p:nvGrpSpPr>
        <p:grpSpPr>
          <a:xfrm rot="16200000">
            <a:off x="726622" y="6111874"/>
            <a:ext cx="283028" cy="478971"/>
            <a:chOff x="1623856" y="5647268"/>
            <a:chExt cx="283028" cy="478971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70CE88E0-2E9C-4BCB-A516-A67AAAB80C2C}"/>
                </a:ext>
              </a:extLst>
            </p:cNvPr>
            <p:cNvCxnSpPr/>
            <p:nvPr/>
          </p:nvCxnSpPr>
          <p:spPr>
            <a:xfrm>
              <a:off x="1623856" y="5647268"/>
              <a:ext cx="0" cy="478971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B3D1B07-0D30-4056-A4ED-4E9FC335F7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3856" y="5647268"/>
              <a:ext cx="283028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1C455AC-8BBC-4F4D-8397-CDD2E2D3E7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3856" y="6126239"/>
              <a:ext cx="283028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5CA1FAF-8DCB-4B2B-A330-32742925AC4B}"/>
              </a:ext>
            </a:extLst>
          </p:cNvPr>
          <p:cNvCxnSpPr>
            <a:cxnSpLocks/>
          </p:cNvCxnSpPr>
          <p:nvPr/>
        </p:nvCxnSpPr>
        <p:spPr>
          <a:xfrm flipV="1">
            <a:off x="6219825" y="4620410"/>
            <a:ext cx="1" cy="2884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5F03D73-19F9-4BB0-A50A-3D81FA2D49A7}"/>
              </a:ext>
            </a:extLst>
          </p:cNvPr>
          <p:cNvGrpSpPr/>
          <p:nvPr/>
        </p:nvGrpSpPr>
        <p:grpSpPr>
          <a:xfrm>
            <a:off x="1347106" y="6025179"/>
            <a:ext cx="478971" cy="467694"/>
            <a:chOff x="1347106" y="6025179"/>
            <a:chExt cx="478971" cy="467694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772124F-14C0-41D2-8E06-496D2389E480}"/>
                </a:ext>
              </a:extLst>
            </p:cNvPr>
            <p:cNvSpPr txBox="1"/>
            <p:nvPr/>
          </p:nvSpPr>
          <p:spPr>
            <a:xfrm>
              <a:off x="1425330" y="6025179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5D6632A6-F4F4-462C-91AE-DB4991FD748D}"/>
                </a:ext>
              </a:extLst>
            </p:cNvPr>
            <p:cNvGrpSpPr/>
            <p:nvPr/>
          </p:nvGrpSpPr>
          <p:grpSpPr>
            <a:xfrm rot="16200000">
              <a:off x="1445078" y="6111873"/>
              <a:ext cx="283028" cy="478971"/>
              <a:chOff x="1623856" y="5647268"/>
              <a:chExt cx="283028" cy="478971"/>
            </a:xfrm>
          </p:grpSpPr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44ABB901-7DC5-4B0D-9FB0-558D481EE718}"/>
                  </a:ext>
                </a:extLst>
              </p:cNvPr>
              <p:cNvCxnSpPr/>
              <p:nvPr/>
            </p:nvCxnSpPr>
            <p:spPr>
              <a:xfrm>
                <a:off x="1623856" y="5647268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20703EEE-850F-40EA-B909-9B63FACEF2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5647268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8CBDDDC-9CDF-41C4-9C08-36AA26D066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612623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C845B02-944A-4880-A24B-A84BBE6BE1FD}"/>
              </a:ext>
            </a:extLst>
          </p:cNvPr>
          <p:cNvCxnSpPr>
            <a:cxnSpLocks/>
          </p:cNvCxnSpPr>
          <p:nvPr/>
        </p:nvCxnSpPr>
        <p:spPr>
          <a:xfrm flipV="1">
            <a:off x="6420795" y="4620410"/>
            <a:ext cx="1" cy="2884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A5F3452-4DBD-4B2C-9F1B-C0D4FA7ED26F}"/>
              </a:ext>
            </a:extLst>
          </p:cNvPr>
          <p:cNvGrpSpPr/>
          <p:nvPr/>
        </p:nvGrpSpPr>
        <p:grpSpPr>
          <a:xfrm>
            <a:off x="2065562" y="5655845"/>
            <a:ext cx="478971" cy="837027"/>
            <a:chOff x="2143785" y="5655846"/>
            <a:chExt cx="478971" cy="837027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8FD4BB5-12B0-4A22-B878-F2A1A7B5923F}"/>
                </a:ext>
              </a:extLst>
            </p:cNvPr>
            <p:cNvSpPr txBox="1"/>
            <p:nvPr/>
          </p:nvSpPr>
          <p:spPr>
            <a:xfrm>
              <a:off x="2222009" y="6025179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B4D4AF9-EE62-4CA4-A49C-F4094EBF85C3}"/>
                </a:ext>
              </a:extLst>
            </p:cNvPr>
            <p:cNvGrpSpPr/>
            <p:nvPr/>
          </p:nvGrpSpPr>
          <p:grpSpPr>
            <a:xfrm rot="16200000">
              <a:off x="2241757" y="6111873"/>
              <a:ext cx="283028" cy="478971"/>
              <a:chOff x="1623856" y="5647268"/>
              <a:chExt cx="283028" cy="478971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5F38BE20-2F84-4AD4-81C8-2AD9020D0384}"/>
                  </a:ext>
                </a:extLst>
              </p:cNvPr>
              <p:cNvCxnSpPr/>
              <p:nvPr/>
            </p:nvCxnSpPr>
            <p:spPr>
              <a:xfrm>
                <a:off x="1623856" y="5647268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D383FAD-92B1-4D45-B4F8-63AEDDD32F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5647268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760B5FAB-7D4C-452D-80D9-697A26EAD5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612623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3AF56EE-0499-4BDB-B924-5FED0363B171}"/>
                </a:ext>
              </a:extLst>
            </p:cNvPr>
            <p:cNvSpPr txBox="1"/>
            <p:nvPr/>
          </p:nvSpPr>
          <p:spPr>
            <a:xfrm>
              <a:off x="2222008" y="5655846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E49F8B0-3867-4A31-8202-DB7CA4E54655}"/>
              </a:ext>
            </a:extLst>
          </p:cNvPr>
          <p:cNvCxnSpPr>
            <a:cxnSpLocks/>
          </p:cNvCxnSpPr>
          <p:nvPr/>
        </p:nvCxnSpPr>
        <p:spPr>
          <a:xfrm flipV="1">
            <a:off x="6646787" y="4620409"/>
            <a:ext cx="1" cy="2884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F1CDC46-FBE0-44A7-820A-DC610C287F9A}"/>
              </a:ext>
            </a:extLst>
          </p:cNvPr>
          <p:cNvGrpSpPr/>
          <p:nvPr/>
        </p:nvGrpSpPr>
        <p:grpSpPr>
          <a:xfrm>
            <a:off x="2784016" y="4818819"/>
            <a:ext cx="478971" cy="1674053"/>
            <a:chOff x="2784016" y="4818819"/>
            <a:chExt cx="478971" cy="1674053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A39581E-2357-4954-8BBA-AF3881932C0A}"/>
                </a:ext>
              </a:extLst>
            </p:cNvPr>
            <p:cNvSpPr txBox="1"/>
            <p:nvPr/>
          </p:nvSpPr>
          <p:spPr>
            <a:xfrm>
              <a:off x="2862240" y="5471179"/>
              <a:ext cx="32252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C3723AD1-5312-41B4-A533-F8D50A0D4E0E}"/>
                </a:ext>
              </a:extLst>
            </p:cNvPr>
            <p:cNvGrpSpPr/>
            <p:nvPr/>
          </p:nvGrpSpPr>
          <p:grpSpPr>
            <a:xfrm rot="16200000">
              <a:off x="2881988" y="6111872"/>
              <a:ext cx="283028" cy="478971"/>
              <a:chOff x="1623856" y="5647268"/>
              <a:chExt cx="283028" cy="478971"/>
            </a:xfrm>
          </p:grpSpPr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B5A0A8FC-C0DC-4EDB-A739-9B34CADC7E38}"/>
                  </a:ext>
                </a:extLst>
              </p:cNvPr>
              <p:cNvCxnSpPr/>
              <p:nvPr/>
            </p:nvCxnSpPr>
            <p:spPr>
              <a:xfrm>
                <a:off x="1623856" y="5647268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B388B946-D857-4846-8CCE-668C0FB3B5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5647268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2E0FA1E7-8A74-40C4-A320-E4BCA2D6E3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612623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C0F7B46-2829-43EA-98AE-2D049A1E0BC2}"/>
                </a:ext>
              </a:extLst>
            </p:cNvPr>
            <p:cNvSpPr txBox="1"/>
            <p:nvPr/>
          </p:nvSpPr>
          <p:spPr>
            <a:xfrm>
              <a:off x="2862240" y="4818819"/>
              <a:ext cx="32252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07691138-6EDC-4F28-9254-7DAF7F94FCE0}"/>
                    </a:ext>
                  </a:extLst>
                </p:cNvPr>
                <p:cNvSpPr/>
                <p:nvPr/>
              </p:nvSpPr>
              <p:spPr>
                <a:xfrm>
                  <a:off x="2818157" y="5138128"/>
                  <a:ext cx="41069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07691138-6EDC-4F28-9254-7DAF7F94FC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8157" y="5138128"/>
                  <a:ext cx="41069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302BF82-131C-4C5E-81C9-B6D8A28A65AB}"/>
              </a:ext>
            </a:extLst>
          </p:cNvPr>
          <p:cNvGrpSpPr/>
          <p:nvPr/>
        </p:nvGrpSpPr>
        <p:grpSpPr>
          <a:xfrm>
            <a:off x="3502472" y="6025177"/>
            <a:ext cx="478971" cy="467694"/>
            <a:chOff x="1347106" y="6025179"/>
            <a:chExt cx="478971" cy="467694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1AEB723-7CAA-487B-817E-1D0D2D59EC7C}"/>
                </a:ext>
              </a:extLst>
            </p:cNvPr>
            <p:cNvSpPr txBox="1"/>
            <p:nvPr/>
          </p:nvSpPr>
          <p:spPr>
            <a:xfrm>
              <a:off x="1425330" y="6025179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EA325070-E410-49F9-94FF-C98C4D4F1091}"/>
                </a:ext>
              </a:extLst>
            </p:cNvPr>
            <p:cNvGrpSpPr/>
            <p:nvPr/>
          </p:nvGrpSpPr>
          <p:grpSpPr>
            <a:xfrm rot="16200000">
              <a:off x="1445078" y="6111873"/>
              <a:ext cx="283028" cy="478971"/>
              <a:chOff x="1623856" y="5647268"/>
              <a:chExt cx="283028" cy="478971"/>
            </a:xfrm>
          </p:grpSpPr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15D9B90E-A38A-44EF-966D-7B7FCFCB1BE7}"/>
                  </a:ext>
                </a:extLst>
              </p:cNvPr>
              <p:cNvCxnSpPr/>
              <p:nvPr/>
            </p:nvCxnSpPr>
            <p:spPr>
              <a:xfrm>
                <a:off x="1623856" y="5647268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18CF3A6-57C0-41C6-93E1-9C1DF2B23F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5647268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58D0983B-E6E9-4FC7-84A3-536E8AF7B5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612623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F7C9CF9C-A514-4C56-80F8-45D760381C7C}"/>
              </a:ext>
            </a:extLst>
          </p:cNvPr>
          <p:cNvCxnSpPr>
            <a:cxnSpLocks/>
          </p:cNvCxnSpPr>
          <p:nvPr/>
        </p:nvCxnSpPr>
        <p:spPr>
          <a:xfrm flipV="1">
            <a:off x="6862199" y="4620409"/>
            <a:ext cx="1" cy="2884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E6A09D3-CC6D-4893-841F-783EE780D533}"/>
              </a:ext>
            </a:extLst>
          </p:cNvPr>
          <p:cNvGrpSpPr/>
          <p:nvPr/>
        </p:nvGrpSpPr>
        <p:grpSpPr>
          <a:xfrm>
            <a:off x="4142702" y="5655845"/>
            <a:ext cx="478971" cy="837027"/>
            <a:chOff x="2143785" y="5655846"/>
            <a:chExt cx="478971" cy="837027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E4DF0CD-F103-4693-B83F-C3DBC1602AD3}"/>
                </a:ext>
              </a:extLst>
            </p:cNvPr>
            <p:cNvSpPr txBox="1"/>
            <p:nvPr/>
          </p:nvSpPr>
          <p:spPr>
            <a:xfrm>
              <a:off x="2222009" y="6025179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4201ED9A-544E-4113-B512-CBC28ABD75C6}"/>
                </a:ext>
              </a:extLst>
            </p:cNvPr>
            <p:cNvGrpSpPr/>
            <p:nvPr/>
          </p:nvGrpSpPr>
          <p:grpSpPr>
            <a:xfrm rot="16200000">
              <a:off x="2241757" y="6111873"/>
              <a:ext cx="283028" cy="478971"/>
              <a:chOff x="1623856" y="5647268"/>
              <a:chExt cx="283028" cy="478971"/>
            </a:xfrm>
          </p:grpSpPr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DE227284-7E61-4BBF-B128-5185CF11E086}"/>
                  </a:ext>
                </a:extLst>
              </p:cNvPr>
              <p:cNvCxnSpPr/>
              <p:nvPr/>
            </p:nvCxnSpPr>
            <p:spPr>
              <a:xfrm>
                <a:off x="1623856" y="5647268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ECFB6093-F633-428C-9F94-9AA79E3FC2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5647268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FC0981F4-C01F-40D9-8E3C-73829793BE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612623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FE2096EC-31E8-4F98-94F4-EEF51A0D1178}"/>
                </a:ext>
              </a:extLst>
            </p:cNvPr>
            <p:cNvSpPr txBox="1"/>
            <p:nvPr/>
          </p:nvSpPr>
          <p:spPr>
            <a:xfrm>
              <a:off x="2222008" y="5655846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65969A09-3DC4-4503-866A-9537B120FE90}"/>
              </a:ext>
            </a:extLst>
          </p:cNvPr>
          <p:cNvCxnSpPr>
            <a:cxnSpLocks/>
          </p:cNvCxnSpPr>
          <p:nvPr/>
        </p:nvCxnSpPr>
        <p:spPr>
          <a:xfrm flipV="1">
            <a:off x="7082333" y="4620408"/>
            <a:ext cx="1" cy="2884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2F1D3C12-B14D-4899-BBFD-3338A91A56C8}"/>
              </a:ext>
            </a:extLst>
          </p:cNvPr>
          <p:cNvGrpSpPr/>
          <p:nvPr/>
        </p:nvGrpSpPr>
        <p:grpSpPr>
          <a:xfrm>
            <a:off x="4864866" y="4818819"/>
            <a:ext cx="478971" cy="1674053"/>
            <a:chOff x="2784016" y="4818819"/>
            <a:chExt cx="478971" cy="1674053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1C28B95D-DE8C-47D3-85E8-498CC0153077}"/>
                </a:ext>
              </a:extLst>
            </p:cNvPr>
            <p:cNvSpPr txBox="1"/>
            <p:nvPr/>
          </p:nvSpPr>
          <p:spPr>
            <a:xfrm>
              <a:off x="2862240" y="5471179"/>
              <a:ext cx="32252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669BD57B-80F4-4DC3-AF0D-2086A691E1B3}"/>
                </a:ext>
              </a:extLst>
            </p:cNvPr>
            <p:cNvGrpSpPr/>
            <p:nvPr/>
          </p:nvGrpSpPr>
          <p:grpSpPr>
            <a:xfrm rot="16200000">
              <a:off x="2881988" y="6111872"/>
              <a:ext cx="283028" cy="478971"/>
              <a:chOff x="1623856" y="5647268"/>
              <a:chExt cx="283028" cy="478971"/>
            </a:xfrm>
          </p:grpSpPr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5B899BFD-3F4F-4403-8048-8C1F92B01A96}"/>
                  </a:ext>
                </a:extLst>
              </p:cNvPr>
              <p:cNvCxnSpPr/>
              <p:nvPr/>
            </p:nvCxnSpPr>
            <p:spPr>
              <a:xfrm>
                <a:off x="1623856" y="5647268"/>
                <a:ext cx="0" cy="47897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DEE0BB89-901F-4D93-86D2-FDE31375D0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5647268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994C0512-EC89-4185-A3AE-0E7636ED9E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6126239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1337CA7-3010-47AD-893A-E61CD3C34F16}"/>
                </a:ext>
              </a:extLst>
            </p:cNvPr>
            <p:cNvSpPr txBox="1"/>
            <p:nvPr/>
          </p:nvSpPr>
          <p:spPr>
            <a:xfrm>
              <a:off x="2862240" y="4818819"/>
              <a:ext cx="32252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BD12D19D-8EFE-4762-B795-F3FB554950AA}"/>
                    </a:ext>
                  </a:extLst>
                </p:cNvPr>
                <p:cNvSpPr/>
                <p:nvPr/>
              </p:nvSpPr>
              <p:spPr>
                <a:xfrm>
                  <a:off x="2818157" y="5138128"/>
                  <a:ext cx="40267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BD12D19D-8EFE-4762-B795-F3FB554950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8157" y="5138128"/>
                  <a:ext cx="40267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EF436C30-9500-44D3-9A58-7F08D8F6EE7F}"/>
              </a:ext>
            </a:extLst>
          </p:cNvPr>
          <p:cNvGrpSpPr/>
          <p:nvPr/>
        </p:nvGrpSpPr>
        <p:grpSpPr>
          <a:xfrm>
            <a:off x="5580515" y="6025176"/>
            <a:ext cx="624568" cy="467696"/>
            <a:chOff x="1347107" y="6025179"/>
            <a:chExt cx="624568" cy="467696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2615420D-92E3-4FB3-B34F-AC58769DED53}"/>
                </a:ext>
              </a:extLst>
            </p:cNvPr>
            <p:cNvSpPr txBox="1"/>
            <p:nvPr/>
          </p:nvSpPr>
          <p:spPr>
            <a:xfrm>
              <a:off x="1425330" y="6025179"/>
              <a:ext cx="46038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72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BBCF23A7-71D9-4089-AC7D-7C9764B8C232}"/>
                </a:ext>
              </a:extLst>
            </p:cNvPr>
            <p:cNvGrpSpPr/>
            <p:nvPr/>
          </p:nvGrpSpPr>
          <p:grpSpPr>
            <a:xfrm rot="16200000">
              <a:off x="1517876" y="6039076"/>
              <a:ext cx="283030" cy="624568"/>
              <a:chOff x="1623854" y="5647268"/>
              <a:chExt cx="283030" cy="624568"/>
            </a:xfrm>
          </p:grpSpPr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5B9C193B-F354-4174-8D1C-904F59FEFB6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311571" y="5959552"/>
                <a:ext cx="624567" cy="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51D53D6C-DA40-4DE0-94DB-51793083E5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5647268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391D8E83-5E57-458F-BF6A-FD33476217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6271836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61A8B15C-1388-4DBF-B608-DC47F6C9060A}"/>
              </a:ext>
            </a:extLst>
          </p:cNvPr>
          <p:cNvGrpSpPr/>
          <p:nvPr/>
        </p:nvGrpSpPr>
        <p:grpSpPr>
          <a:xfrm>
            <a:off x="6441760" y="5471179"/>
            <a:ext cx="624568" cy="1021691"/>
            <a:chOff x="1347107" y="5471184"/>
            <a:chExt cx="624568" cy="1021691"/>
          </a:xfrm>
        </p:grpSpPr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9E7F612B-F23D-42FB-8B8B-67126481FE91}"/>
                </a:ext>
              </a:extLst>
            </p:cNvPr>
            <p:cNvSpPr txBox="1"/>
            <p:nvPr/>
          </p:nvSpPr>
          <p:spPr>
            <a:xfrm>
              <a:off x="1425330" y="5471184"/>
              <a:ext cx="460382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72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B528A2C0-4E70-4158-9D24-BA68C7F3B10D}"/>
                </a:ext>
              </a:extLst>
            </p:cNvPr>
            <p:cNvGrpSpPr/>
            <p:nvPr/>
          </p:nvGrpSpPr>
          <p:grpSpPr>
            <a:xfrm rot="16200000">
              <a:off x="1517876" y="6039076"/>
              <a:ext cx="283030" cy="624568"/>
              <a:chOff x="1623854" y="5647268"/>
              <a:chExt cx="283030" cy="624568"/>
            </a:xfrm>
          </p:grpSpPr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CE5DB5C7-8BA1-4745-8095-3D955820491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311571" y="5959552"/>
                <a:ext cx="624567" cy="1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460192A5-B644-4C50-8D88-A6C0F4B9F0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5647268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9F4EAD90-0B41-48E9-8E12-B539ECF3E4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23856" y="6271836"/>
                <a:ext cx="283028" cy="0"/>
              </a:xfrm>
              <a:prstGeom prst="line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FFC861F8-BDD9-4840-A2AE-BAD0FD5088F3}"/>
              </a:ext>
            </a:extLst>
          </p:cNvPr>
          <p:cNvSpPr txBox="1"/>
          <p:nvPr/>
        </p:nvSpPr>
        <p:spPr>
          <a:xfrm>
            <a:off x="5658739" y="2237263"/>
            <a:ext cx="28566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Given an infix expression, how to convert it to RPN and evaluate its value?</a:t>
            </a:r>
          </a:p>
          <a:p>
            <a:r>
              <a:rPr lang="en-GB" sz="2000" dirty="0">
                <a:solidFill>
                  <a:srgbClr val="C00000"/>
                </a:solidFill>
              </a:rPr>
              <a:t>(Beware of priorities!)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27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Application of </a:t>
            </a:r>
            <a:r>
              <a:rPr lang="en-GB" sz="2800" dirty="0">
                <a:cs typeface="Courier New" panose="02070309020205020404" pitchFamily="49" charset="0"/>
              </a:rPr>
              <a:t>Stack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/>
              <a:t>Function Calls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B2C49B-0696-4AC5-9C55-0F8072BC1A46}"/>
              </a:ext>
            </a:extLst>
          </p:cNvPr>
          <p:cNvSpPr txBox="1"/>
          <p:nvPr/>
        </p:nvSpPr>
        <p:spPr>
          <a:xfrm>
            <a:off x="628650" y="1690689"/>
            <a:ext cx="3992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C00000"/>
                </a:solidFill>
              </a:rPr>
              <a:t>How do function calls actually work?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BE74EE-E912-4FEE-967E-D39D00A26E6B}"/>
              </a:ext>
            </a:extLst>
          </p:cNvPr>
          <p:cNvSpPr txBox="1"/>
          <p:nvPr/>
        </p:nvSpPr>
        <p:spPr>
          <a:xfrm>
            <a:off x="628650" y="2216032"/>
            <a:ext cx="29882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1"/>
                </a:solidFill>
              </a:rPr>
              <a:t>Alice</a:t>
            </a:r>
            <a:r>
              <a:rPr lang="en-GB" sz="2000" b="1" dirty="0"/>
              <a:t>:</a:t>
            </a:r>
            <a:r>
              <a:rPr lang="en-GB" sz="2000" dirty="0"/>
              <a:t> only knows addition.</a:t>
            </a:r>
            <a:endParaRPr lang="en-US" sz="2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144CEC3B-C7C0-48EA-BE62-1C8DA8071775}"/>
              </a:ext>
            </a:extLst>
          </p:cNvPr>
          <p:cNvSpPr txBox="1"/>
          <p:nvPr/>
        </p:nvSpPr>
        <p:spPr>
          <a:xfrm>
            <a:off x="628650" y="2616142"/>
            <a:ext cx="346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2"/>
                </a:solidFill>
              </a:rPr>
              <a:t>Bob</a:t>
            </a:r>
            <a:r>
              <a:rPr lang="en-GB" sz="2000" b="1" dirty="0"/>
              <a:t>:</a:t>
            </a:r>
            <a:r>
              <a:rPr lang="en-GB" sz="2000" dirty="0"/>
              <a:t> only knows multiplication.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DE6B523-1CB6-4A50-BA77-4881CB1822FB}"/>
                  </a:ext>
                </a:extLst>
              </p:cNvPr>
              <p:cNvSpPr txBox="1"/>
              <p:nvPr/>
            </p:nvSpPr>
            <p:spPr>
              <a:xfrm>
                <a:off x="628650" y="3016252"/>
                <a:ext cx="4210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b="1" dirty="0"/>
                  <a:t>Question: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100+234+35×45+25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DE6B523-1CB6-4A50-BA77-4881CB182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016252"/>
                <a:ext cx="4210896" cy="400110"/>
              </a:xfrm>
              <a:prstGeom prst="rect">
                <a:avLst/>
              </a:prstGeom>
              <a:blipFill>
                <a:blip r:embed="rId2"/>
                <a:stretch>
                  <a:fillRect l="-1447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BDF7AF6-9F5B-4B65-A1E6-EF096D3EB657}"/>
                  </a:ext>
                </a:extLst>
              </p:cNvPr>
              <p:cNvSpPr/>
              <p:nvPr/>
            </p:nvSpPr>
            <p:spPr>
              <a:xfrm>
                <a:off x="628650" y="4541213"/>
                <a:ext cx="3929743" cy="11990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100+234=334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35×45</m:t>
                    </m:r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334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+1575=1909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909</m:t>
                    </m:r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1934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BDF7AF6-9F5B-4B65-A1E6-EF096D3EB6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541213"/>
                <a:ext cx="3929743" cy="1199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08F6C14-8AB2-4883-BDEE-8E82FCD5A560}"/>
                  </a:ext>
                </a:extLst>
              </p:cNvPr>
              <p:cNvSpPr/>
              <p:nvPr/>
            </p:nvSpPr>
            <p:spPr>
              <a:xfrm>
                <a:off x="1668592" y="4809272"/>
                <a:ext cx="7505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1575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08F6C14-8AB2-4883-BDEE-8E82FCD5A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592" y="4809272"/>
                <a:ext cx="75052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EE7E5C1C-9CD7-489A-9E59-9B85E1DDB181}"/>
                  </a:ext>
                </a:extLst>
              </p:cNvPr>
              <p:cNvSpPr/>
              <p:nvPr/>
            </p:nvSpPr>
            <p:spPr>
              <a:xfrm>
                <a:off x="2593521" y="3876337"/>
                <a:ext cx="2364688" cy="93095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GB" dirty="0">
                    <a:solidFill>
                      <a:schemeClr val="tx1"/>
                    </a:solidFill>
                  </a:rPr>
                  <a:t>Calc: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35×45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Answer: _____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 left at end of line two</a:t>
                </a: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EE7E5C1C-9CD7-489A-9E59-9B85E1DDB1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521" y="3876337"/>
                <a:ext cx="2364688" cy="930955"/>
              </a:xfrm>
              <a:prstGeom prst="rect">
                <a:avLst/>
              </a:prstGeom>
              <a:blipFill>
                <a:blip r:embed="rId5"/>
                <a:stretch>
                  <a:fillRect l="-1795" t="-3226" b="-77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9B3C9D3-FD91-4B93-8688-26F199C6903A}"/>
                  </a:ext>
                </a:extLst>
              </p:cNvPr>
              <p:cNvSpPr/>
              <p:nvPr/>
            </p:nvSpPr>
            <p:spPr>
              <a:xfrm>
                <a:off x="3400602" y="4141103"/>
                <a:ext cx="7505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1575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29B3C9D3-FD91-4B93-8688-26F199C690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602" y="4141103"/>
                <a:ext cx="7505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148C95A0-10BE-4F83-A28C-78AE85325C03}"/>
                  </a:ext>
                </a:extLst>
              </p:cNvPr>
              <p:cNvSpPr/>
              <p:nvPr/>
            </p:nvSpPr>
            <p:spPr>
              <a:xfrm>
                <a:off x="1243818" y="4859909"/>
                <a:ext cx="3929743" cy="119901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35×45=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1575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148C95A0-10BE-4F83-A28C-78AE85325C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818" y="4859909"/>
                <a:ext cx="3929743" cy="11990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98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4" grpId="0"/>
      <p:bldP spid="75" grpId="0"/>
      <p:bldP spid="14" grpId="0" animBg="1"/>
      <p:bldP spid="20" grpId="0"/>
      <p:bldP spid="83" grpId="0" animBg="1"/>
      <p:bldP spid="84" grpId="0"/>
      <p:bldP spid="85" grpId="0" animBg="1"/>
      <p:bldP spid="85" grpId="1" uiExpand="1" build="allAtOnce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Application of </a:t>
            </a:r>
            <a:r>
              <a:rPr lang="en-GB" sz="2800" dirty="0">
                <a:cs typeface="Courier New" panose="02070309020205020404" pitchFamily="49" charset="0"/>
              </a:rPr>
              <a:t>Stack</a:t>
            </a:r>
            <a:r>
              <a:rPr lang="en-GB" sz="2800" dirty="0"/>
              <a:t>:</a:t>
            </a:r>
            <a:br>
              <a:rPr lang="en-GB" dirty="0"/>
            </a:br>
            <a:r>
              <a:rPr lang="en-GB" dirty="0"/>
              <a:t>Function Calls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B2C49B-0696-4AC5-9C55-0F8072BC1A46}"/>
              </a:ext>
            </a:extLst>
          </p:cNvPr>
          <p:cNvSpPr txBox="1"/>
          <p:nvPr/>
        </p:nvSpPr>
        <p:spPr>
          <a:xfrm>
            <a:off x="628650" y="1690689"/>
            <a:ext cx="3992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C00000"/>
                </a:solidFill>
              </a:rPr>
              <a:t>How do function calls actually work?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BE74EE-E912-4FEE-967E-D39D00A26E6B}"/>
              </a:ext>
            </a:extLst>
          </p:cNvPr>
          <p:cNvSpPr txBox="1"/>
          <p:nvPr/>
        </p:nvSpPr>
        <p:spPr>
          <a:xfrm>
            <a:off x="628650" y="2216032"/>
            <a:ext cx="29882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1"/>
                </a:solidFill>
              </a:rPr>
              <a:t>Alice</a:t>
            </a:r>
            <a:r>
              <a:rPr lang="en-GB" sz="2000" b="1" dirty="0"/>
              <a:t>:</a:t>
            </a:r>
            <a:r>
              <a:rPr lang="en-GB" sz="2000" dirty="0"/>
              <a:t> only knows addition.</a:t>
            </a:r>
            <a:endParaRPr lang="en-US" sz="2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144CEC3B-C7C0-48EA-BE62-1C8DA8071775}"/>
              </a:ext>
            </a:extLst>
          </p:cNvPr>
          <p:cNvSpPr txBox="1"/>
          <p:nvPr/>
        </p:nvSpPr>
        <p:spPr>
          <a:xfrm>
            <a:off x="628650" y="2616142"/>
            <a:ext cx="346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chemeClr val="accent2"/>
                </a:solidFill>
              </a:rPr>
              <a:t>Bob</a:t>
            </a:r>
            <a:r>
              <a:rPr lang="en-GB" sz="2000" b="1" dirty="0"/>
              <a:t>:</a:t>
            </a:r>
            <a:r>
              <a:rPr lang="en-GB" sz="2000" dirty="0"/>
              <a:t> only knows multiplication.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DE6B523-1CB6-4A50-BA77-4881CB1822FB}"/>
                  </a:ext>
                </a:extLst>
              </p:cNvPr>
              <p:cNvSpPr txBox="1"/>
              <p:nvPr/>
            </p:nvSpPr>
            <p:spPr>
              <a:xfrm>
                <a:off x="628650" y="3016252"/>
                <a:ext cx="4210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b="1" dirty="0"/>
                  <a:t>Question: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100+234+35×45+25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DE6B523-1CB6-4A50-BA77-4881CB182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016252"/>
                <a:ext cx="4210896" cy="400110"/>
              </a:xfrm>
              <a:prstGeom prst="rect">
                <a:avLst/>
              </a:prstGeom>
              <a:blipFill>
                <a:blip r:embed="rId2"/>
                <a:stretch>
                  <a:fillRect l="-1447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641F8C2A-318C-41A5-9460-3D44C798726C}"/>
              </a:ext>
            </a:extLst>
          </p:cNvPr>
          <p:cNvSpPr/>
          <p:nvPr/>
        </p:nvSpPr>
        <p:spPr>
          <a:xfrm>
            <a:off x="628650" y="3795776"/>
            <a:ext cx="3992696" cy="26970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FuncAlice</a:t>
            </a: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():</a:t>
            </a:r>
          </a:p>
          <a:p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sum=100+234</a:t>
            </a:r>
          </a:p>
          <a:p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temp=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FuncBob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(35,45)</a:t>
            </a:r>
          </a:p>
          <a:p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sum+=temp</a:t>
            </a:r>
          </a:p>
          <a:p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sum+=25</a:t>
            </a:r>
          </a:p>
          <a:p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sum</a:t>
            </a:r>
          </a:p>
          <a:p>
            <a:pPr>
              <a:spcBef>
                <a:spcPts val="1200"/>
              </a:spcBef>
            </a:pPr>
            <a:r>
              <a:rPr lang="en-GB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FuncBob</a:t>
            </a: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</a:t>
            </a:r>
            <a:r>
              <a:rPr lang="en-GB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a,b</a:t>
            </a: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):</a:t>
            </a:r>
          </a:p>
          <a:p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c=a*b</a:t>
            </a:r>
          </a:p>
          <a:p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c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BD293D-7DE8-40E1-A63F-ECBCA5579762}"/>
              </a:ext>
            </a:extLst>
          </p:cNvPr>
          <p:cNvSpPr txBox="1"/>
          <p:nvPr/>
        </p:nvSpPr>
        <p:spPr>
          <a:xfrm>
            <a:off x="5701568" y="2616142"/>
            <a:ext cx="173356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EF4AC9A-835B-46FA-AE32-61304D51A257}"/>
              </a:ext>
            </a:extLst>
          </p:cNvPr>
          <p:cNvSpPr txBox="1"/>
          <p:nvPr/>
        </p:nvSpPr>
        <p:spPr>
          <a:xfrm>
            <a:off x="5701568" y="2985474"/>
            <a:ext cx="173356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temp: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4BEE039-1B0C-4C2E-91AC-5028C3E24DCC}"/>
              </a:ext>
            </a:extLst>
          </p:cNvPr>
          <p:cNvCxnSpPr>
            <a:cxnSpLocks/>
          </p:cNvCxnSpPr>
          <p:nvPr/>
        </p:nvCxnSpPr>
        <p:spPr>
          <a:xfrm flipH="1" flipV="1">
            <a:off x="1950739" y="3941705"/>
            <a:ext cx="496476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8E80AA4-315B-44E3-9B7F-1912804B23B6}"/>
              </a:ext>
            </a:extLst>
          </p:cNvPr>
          <p:cNvCxnSpPr>
            <a:cxnSpLocks/>
          </p:cNvCxnSpPr>
          <p:nvPr/>
        </p:nvCxnSpPr>
        <p:spPr>
          <a:xfrm flipH="1" flipV="1">
            <a:off x="2360983" y="4264669"/>
            <a:ext cx="496476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199016B-4A5C-49F2-81A1-509887C8B58D}"/>
              </a:ext>
            </a:extLst>
          </p:cNvPr>
          <p:cNvCxnSpPr>
            <a:cxnSpLocks/>
          </p:cNvCxnSpPr>
          <p:nvPr/>
        </p:nvCxnSpPr>
        <p:spPr>
          <a:xfrm flipH="1" flipV="1">
            <a:off x="3368666" y="4536811"/>
            <a:ext cx="496476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F45904F-6F0D-4BEE-80F3-1AB136E9C98B}"/>
              </a:ext>
            </a:extLst>
          </p:cNvPr>
          <p:cNvSpPr/>
          <p:nvPr/>
        </p:nvSpPr>
        <p:spPr>
          <a:xfrm>
            <a:off x="6257205" y="2616142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334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1A1C2D-AF79-430F-BBFF-F8FDFCD85043}"/>
              </a:ext>
            </a:extLst>
          </p:cNvPr>
          <p:cNvSpPr txBox="1"/>
          <p:nvPr/>
        </p:nvSpPr>
        <p:spPr>
          <a:xfrm>
            <a:off x="5701567" y="3724138"/>
            <a:ext cx="173356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a:35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2233B9-CBCD-46B3-BE42-011A235F3EE2}"/>
              </a:ext>
            </a:extLst>
          </p:cNvPr>
          <p:cNvSpPr txBox="1"/>
          <p:nvPr/>
        </p:nvSpPr>
        <p:spPr>
          <a:xfrm>
            <a:off x="5701567" y="3354806"/>
            <a:ext cx="173356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b:45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A2B1A8-C94C-4910-B61A-26329EB23899}"/>
              </a:ext>
            </a:extLst>
          </p:cNvPr>
          <p:cNvSpPr txBox="1"/>
          <p:nvPr/>
        </p:nvSpPr>
        <p:spPr>
          <a:xfrm>
            <a:off x="5701567" y="4093470"/>
            <a:ext cx="173356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endParaRPr lang="en-US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741BA2A-72F6-46B3-9E85-3247DD4F5250}"/>
              </a:ext>
            </a:extLst>
          </p:cNvPr>
          <p:cNvCxnSpPr>
            <a:cxnSpLocks/>
          </p:cNvCxnSpPr>
          <p:nvPr/>
        </p:nvCxnSpPr>
        <p:spPr>
          <a:xfrm flipH="1" flipV="1">
            <a:off x="2112745" y="5788668"/>
            <a:ext cx="496476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6E6BA20-9829-443D-82A2-D47E673AE857}"/>
              </a:ext>
            </a:extLst>
          </p:cNvPr>
          <p:cNvSpPr txBox="1"/>
          <p:nvPr/>
        </p:nvSpPr>
        <p:spPr>
          <a:xfrm>
            <a:off x="5701567" y="4462802"/>
            <a:ext cx="173356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59AABA7-1B79-4BAF-925C-863475EE4E8F}"/>
              </a:ext>
            </a:extLst>
          </p:cNvPr>
          <p:cNvCxnSpPr>
            <a:cxnSpLocks/>
          </p:cNvCxnSpPr>
          <p:nvPr/>
        </p:nvCxnSpPr>
        <p:spPr>
          <a:xfrm flipH="1" flipV="1">
            <a:off x="1454263" y="6049925"/>
            <a:ext cx="496476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48DF6E0-69C4-4C21-9457-7D59D49DF6A1}"/>
              </a:ext>
            </a:extLst>
          </p:cNvPr>
          <p:cNvCxnSpPr>
            <a:cxnSpLocks/>
          </p:cNvCxnSpPr>
          <p:nvPr/>
        </p:nvCxnSpPr>
        <p:spPr>
          <a:xfrm flipH="1" flipV="1">
            <a:off x="1874539" y="6353000"/>
            <a:ext cx="496476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EE0CD73F-3130-4BFC-9B12-E385F908A489}"/>
              </a:ext>
            </a:extLst>
          </p:cNvPr>
          <p:cNvSpPr/>
          <p:nvPr/>
        </p:nvSpPr>
        <p:spPr>
          <a:xfrm>
            <a:off x="5989323" y="4462802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1575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0DEE367-91C2-42CF-81EC-D0B3879F8AE7}"/>
              </a:ext>
            </a:extLst>
          </p:cNvPr>
          <p:cNvSpPr txBox="1"/>
          <p:nvPr/>
        </p:nvSpPr>
        <p:spPr>
          <a:xfrm>
            <a:off x="5689544" y="1690689"/>
            <a:ext cx="173356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EAX:1575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76DC241-637E-44E8-9F2D-848C627EB110}"/>
              </a:ext>
            </a:extLst>
          </p:cNvPr>
          <p:cNvCxnSpPr>
            <a:cxnSpLocks/>
          </p:cNvCxnSpPr>
          <p:nvPr/>
        </p:nvCxnSpPr>
        <p:spPr>
          <a:xfrm flipH="1" flipV="1">
            <a:off x="2076737" y="4829000"/>
            <a:ext cx="496476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B82D6FBC-C5BA-4769-9739-07D417015EAE}"/>
              </a:ext>
            </a:extLst>
          </p:cNvPr>
          <p:cNvSpPr/>
          <p:nvPr/>
        </p:nvSpPr>
        <p:spPr>
          <a:xfrm>
            <a:off x="6392035" y="298547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1575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B5B58C-35B0-4188-AF8E-B11D5090D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933" y="185864"/>
            <a:ext cx="3602660" cy="648627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8D333BD-A5CF-40E5-BAA8-B7D1C3159FA4}"/>
              </a:ext>
            </a:extLst>
          </p:cNvPr>
          <p:cNvSpPr txBox="1"/>
          <p:nvPr/>
        </p:nvSpPr>
        <p:spPr>
          <a:xfrm>
            <a:off x="4839546" y="365126"/>
            <a:ext cx="1398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Call Stack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47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2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9" grpId="0"/>
      <p:bldP spid="21" grpId="0" animBg="1"/>
      <p:bldP spid="22" grpId="0" animBg="1"/>
      <p:bldP spid="23" grpId="0" animBg="1"/>
      <p:bldP spid="23" grpId="1" animBg="1"/>
      <p:bldP spid="25" grpId="0" animBg="1"/>
      <p:bldP spid="25" grpId="1" animBg="1"/>
      <p:bldP spid="28" grpId="0"/>
      <p:bldP spid="28" grpId="1"/>
      <p:bldP spid="29" grpId="0" animBg="1"/>
      <p:bldP spid="34" grpId="0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Eliminating Recursion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064FB4-A6EE-4610-A885-1F602B68BDEB}"/>
              </a:ext>
            </a:extLst>
          </p:cNvPr>
          <p:cNvSpPr txBox="1"/>
          <p:nvPr/>
        </p:nvSpPr>
        <p:spPr>
          <a:xfrm>
            <a:off x="314463" y="1527896"/>
            <a:ext cx="515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function calls are implemented via a “call stack”</a:t>
            </a:r>
            <a:endParaRPr 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846D6D-5FC7-464A-B117-D6F190EE5E18}"/>
              </a:ext>
            </a:extLst>
          </p:cNvPr>
          <p:cNvSpPr txBox="1"/>
          <p:nvPr/>
        </p:nvSpPr>
        <p:spPr>
          <a:xfrm>
            <a:off x="628651" y="2128060"/>
            <a:ext cx="4523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recursion is a specific type of function call</a:t>
            </a:r>
            <a:endParaRPr lang="en-US" sz="2000" dirty="0"/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1F280A9E-580A-41DA-A783-FA3AB072487F}"/>
              </a:ext>
            </a:extLst>
          </p:cNvPr>
          <p:cNvSpPr/>
          <p:nvPr/>
        </p:nvSpPr>
        <p:spPr>
          <a:xfrm>
            <a:off x="5551782" y="1731320"/>
            <a:ext cx="226325" cy="59679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51F8B9-42A3-41CD-83FC-02AFF03DB1C0}"/>
              </a:ext>
            </a:extLst>
          </p:cNvPr>
          <p:cNvSpPr txBox="1"/>
          <p:nvPr/>
        </p:nvSpPr>
        <p:spPr>
          <a:xfrm>
            <a:off x="5979134" y="1472561"/>
            <a:ext cx="2850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C00000"/>
                </a:solidFill>
              </a:rPr>
              <a:t>with the help of a stack, recursion can be replaced by </a:t>
            </a:r>
            <a:r>
              <a:rPr lang="en-GB" sz="2000" b="1" dirty="0">
                <a:solidFill>
                  <a:srgbClr val="C00000"/>
                </a:solidFill>
              </a:rPr>
              <a:t>iteration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EF5C05-9652-4402-877F-96587529FCB3}"/>
              </a:ext>
            </a:extLst>
          </p:cNvPr>
          <p:cNvSpPr/>
          <p:nvPr/>
        </p:nvSpPr>
        <p:spPr>
          <a:xfrm>
            <a:off x="118519" y="2725541"/>
            <a:ext cx="3016567" cy="1461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FactRec</a:t>
            </a: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(n):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(n==1)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1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n*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FactRec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(n-1)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73197C-4003-48AA-BD5C-29A4867C2FA4}"/>
              </a:ext>
            </a:extLst>
          </p:cNvPr>
          <p:cNvSpPr/>
          <p:nvPr/>
        </p:nvSpPr>
        <p:spPr>
          <a:xfrm>
            <a:off x="3383422" y="2725541"/>
            <a:ext cx="5642059" cy="3882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FactIter</a:t>
            </a: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(n):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s</a:t>
            </a:r>
          </a:p>
          <a:p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(Frame(n,-1,NULL))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s.empty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frame=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s.peek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frame.val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&lt;=1)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frame.acc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frame.acc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!=-1) {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res=(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frame.val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)*(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frame.acc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frame.prevFrame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!=NULL)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frame.prevFrame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)-&gt;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=res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s.pop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}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(Frame(frame.val-1,-1,&amp;frame))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res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A72699-709C-4671-A682-65064413961E}"/>
              </a:ext>
            </a:extLst>
          </p:cNvPr>
          <p:cNvSpPr/>
          <p:nvPr/>
        </p:nvSpPr>
        <p:spPr>
          <a:xfrm>
            <a:off x="564834" y="5353381"/>
            <a:ext cx="2570252" cy="1254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Frame {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Frame*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prevFrame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B317F23-EF05-41AC-B6B8-CF7997EA724F}"/>
              </a:ext>
            </a:extLst>
          </p:cNvPr>
          <p:cNvSpPr/>
          <p:nvPr/>
        </p:nvSpPr>
        <p:spPr>
          <a:xfrm>
            <a:off x="4212771" y="4593771"/>
            <a:ext cx="1110343" cy="22860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BE35A7A-5413-4E2A-914A-C30EA7EF5F0E}"/>
              </a:ext>
            </a:extLst>
          </p:cNvPr>
          <p:cNvCxnSpPr/>
          <p:nvPr/>
        </p:nvCxnSpPr>
        <p:spPr>
          <a:xfrm flipH="1">
            <a:off x="5323114" y="4186618"/>
            <a:ext cx="968829" cy="407153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4554D54-EBCE-4372-9F1B-AFB6743D737A}"/>
              </a:ext>
            </a:extLst>
          </p:cNvPr>
          <p:cNvSpPr txBox="1"/>
          <p:nvPr/>
        </p:nvSpPr>
        <p:spPr>
          <a:xfrm>
            <a:off x="6291943" y="4001952"/>
            <a:ext cx="2709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“return address” implicitly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54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 animBg="1"/>
      <p:bldP spid="8" grpId="0"/>
      <p:bldP spid="9" grpId="0" animBg="1"/>
      <p:bldP spid="10" grpId="0" animBg="1"/>
      <p:bldP spid="11" grpId="0" animBg="1"/>
      <p:bldP spid="2" grpId="0" animBg="1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Eliminating Recursion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064FB4-A6EE-4610-A885-1F602B68BDEB}"/>
              </a:ext>
            </a:extLst>
          </p:cNvPr>
          <p:cNvSpPr txBox="1"/>
          <p:nvPr/>
        </p:nvSpPr>
        <p:spPr>
          <a:xfrm>
            <a:off x="314463" y="1527896"/>
            <a:ext cx="515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function calls are implemented via a “call stack”</a:t>
            </a:r>
            <a:endParaRPr 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846D6D-5FC7-464A-B117-D6F190EE5E18}"/>
              </a:ext>
            </a:extLst>
          </p:cNvPr>
          <p:cNvSpPr txBox="1"/>
          <p:nvPr/>
        </p:nvSpPr>
        <p:spPr>
          <a:xfrm>
            <a:off x="628651" y="2128060"/>
            <a:ext cx="4523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recursion is a specific type of function call</a:t>
            </a:r>
            <a:endParaRPr lang="en-US" sz="2000" dirty="0"/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1F280A9E-580A-41DA-A783-FA3AB072487F}"/>
              </a:ext>
            </a:extLst>
          </p:cNvPr>
          <p:cNvSpPr/>
          <p:nvPr/>
        </p:nvSpPr>
        <p:spPr>
          <a:xfrm>
            <a:off x="5551782" y="1731320"/>
            <a:ext cx="226325" cy="59679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51F8B9-42A3-41CD-83FC-02AFF03DB1C0}"/>
              </a:ext>
            </a:extLst>
          </p:cNvPr>
          <p:cNvSpPr txBox="1"/>
          <p:nvPr/>
        </p:nvSpPr>
        <p:spPr>
          <a:xfrm>
            <a:off x="5979134" y="1472561"/>
            <a:ext cx="2850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C00000"/>
                </a:solidFill>
              </a:rPr>
              <a:t>with the help of a stack, recursion can be replaced by </a:t>
            </a:r>
            <a:r>
              <a:rPr lang="en-GB" sz="2000" b="1" dirty="0">
                <a:solidFill>
                  <a:srgbClr val="C00000"/>
                </a:solidFill>
              </a:rPr>
              <a:t>iteration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427355-76F3-4AFD-A8F1-8840AE23CEFA}"/>
              </a:ext>
            </a:extLst>
          </p:cNvPr>
          <p:cNvSpPr txBox="1"/>
          <p:nvPr/>
        </p:nvSpPr>
        <p:spPr>
          <a:xfrm>
            <a:off x="314463" y="3090776"/>
            <a:ext cx="8515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Q:</a:t>
            </a:r>
            <a:r>
              <a:rPr lang="en-GB" sz="2400" dirty="0"/>
              <a:t> Why recursion can be </a:t>
            </a:r>
            <a:r>
              <a:rPr lang="en-GB" sz="2400" i="1" dirty="0"/>
              <a:t>undesirable</a:t>
            </a:r>
            <a:r>
              <a:rPr lang="en-GB" sz="2400" dirty="0"/>
              <a:t>?</a:t>
            </a:r>
          </a:p>
          <a:p>
            <a:r>
              <a:rPr lang="en-US" sz="2400" b="1" dirty="0"/>
              <a:t>A:</a:t>
            </a:r>
            <a:r>
              <a:rPr lang="en-US" sz="2400" dirty="0"/>
              <a:t> Recursion can be </a:t>
            </a:r>
            <a:r>
              <a:rPr lang="en-US" sz="2400" dirty="0">
                <a:solidFill>
                  <a:schemeClr val="accent1"/>
                </a:solidFill>
              </a:rPr>
              <a:t>slow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accent1"/>
                </a:solidFill>
              </a:rPr>
              <a:t>memory consuming</a:t>
            </a:r>
            <a:r>
              <a:rPr lang="en-US" sz="2400" dirty="0"/>
              <a:t> due to the creation and maintenance of stack frames.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7C78210-1282-42D9-90DB-B034E9CCE515}"/>
              </a:ext>
            </a:extLst>
          </p:cNvPr>
          <p:cNvSpPr txBox="1"/>
          <p:nvPr/>
        </p:nvSpPr>
        <p:spPr>
          <a:xfrm>
            <a:off x="314463" y="4490863"/>
            <a:ext cx="8515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Q:</a:t>
            </a:r>
            <a:r>
              <a:rPr lang="en-GB" sz="2400" dirty="0"/>
              <a:t> Why recursion can be </a:t>
            </a:r>
            <a:r>
              <a:rPr lang="en-GB" sz="2400" i="1" dirty="0"/>
              <a:t>desirable</a:t>
            </a:r>
            <a:r>
              <a:rPr lang="en-GB" sz="2400" dirty="0"/>
              <a:t>?</a:t>
            </a:r>
          </a:p>
          <a:p>
            <a:r>
              <a:rPr lang="en-US" sz="2400" b="1" dirty="0"/>
              <a:t>A:</a:t>
            </a:r>
            <a:r>
              <a:rPr lang="en-US" sz="2400" dirty="0"/>
              <a:t> Recursion can make the code </a:t>
            </a:r>
            <a:r>
              <a:rPr lang="en-US" sz="2400" dirty="0">
                <a:solidFill>
                  <a:schemeClr val="accent1"/>
                </a:solidFill>
              </a:rPr>
              <a:t>clearer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1"/>
                </a:solidFill>
              </a:rPr>
              <a:t>concise</a:t>
            </a:r>
            <a:r>
              <a:rPr lang="en-US" sz="2400" dirty="0"/>
              <a:t>, and </a:t>
            </a:r>
            <a:r>
              <a:rPr lang="en-US" sz="2400" dirty="0">
                <a:solidFill>
                  <a:schemeClr val="accent1"/>
                </a:solidFill>
              </a:rPr>
              <a:t>intuitive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680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Tail Recursion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BC6E2D-6F9A-40A9-AC06-977067486FFA}"/>
              </a:ext>
            </a:extLst>
          </p:cNvPr>
          <p:cNvSpPr txBox="1"/>
          <p:nvPr/>
        </p:nvSpPr>
        <p:spPr>
          <a:xfrm>
            <a:off x="628650" y="1500585"/>
            <a:ext cx="7886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function is called </a:t>
            </a:r>
            <a:r>
              <a:rPr lang="en-US" sz="2400" b="1" dirty="0">
                <a:solidFill>
                  <a:schemeClr val="accent1"/>
                </a:solidFill>
              </a:rPr>
              <a:t>tail-recursive</a:t>
            </a:r>
            <a:r>
              <a:rPr lang="en-US" sz="2400" dirty="0"/>
              <a:t> if each activation of the function will make at most a single recursive call, and will return immediately after that call.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3B00DF-2D31-4883-9E53-66552262AEA5}"/>
              </a:ext>
            </a:extLst>
          </p:cNvPr>
          <p:cNvSpPr/>
          <p:nvPr/>
        </p:nvSpPr>
        <p:spPr>
          <a:xfrm>
            <a:off x="628650" y="2831523"/>
            <a:ext cx="3016567" cy="1461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FactRec</a:t>
            </a: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(n):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(n==1)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1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n*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FactRec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(n-1)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338FAA-3082-4630-8C5A-DDFEBFD456D1}"/>
              </a:ext>
            </a:extLst>
          </p:cNvPr>
          <p:cNvSpPr txBox="1"/>
          <p:nvPr/>
        </p:nvSpPr>
        <p:spPr>
          <a:xfrm>
            <a:off x="3205673" y="2826148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</a:rPr>
              <a:t>X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956A37-A65B-4515-BB63-FD0F61A0E68B}"/>
              </a:ext>
            </a:extLst>
          </p:cNvPr>
          <p:cNvSpPr/>
          <p:nvPr/>
        </p:nvSpPr>
        <p:spPr>
          <a:xfrm>
            <a:off x="4752669" y="2831523"/>
            <a:ext cx="3758292" cy="16378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EuclidGCDRec</a:t>
            </a: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(m, n):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(n==0)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m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rem=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m%n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EuclidGCDRec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(n, rem)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1DF6D9-0418-4F68-BB08-0ACB1A0B38CA}"/>
              </a:ext>
            </a:extLst>
          </p:cNvPr>
          <p:cNvSpPr txBox="1"/>
          <p:nvPr/>
        </p:nvSpPr>
        <p:spPr>
          <a:xfrm>
            <a:off x="7863027" y="2826148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√</a:t>
            </a:r>
            <a:endParaRPr lang="en-US" sz="36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22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6" grpId="0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Tail Recursion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956A37-A65B-4515-BB63-FD0F61A0E68B}"/>
              </a:ext>
            </a:extLst>
          </p:cNvPr>
          <p:cNvSpPr/>
          <p:nvPr/>
        </p:nvSpPr>
        <p:spPr>
          <a:xfrm>
            <a:off x="628651" y="2826148"/>
            <a:ext cx="3083378" cy="16378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Euclid (m, n):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(n==0)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m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rem=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m%n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Euclid(n, rem)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4AFB38-29CC-4B11-BD0B-D453752A5DF9}"/>
              </a:ext>
            </a:extLst>
          </p:cNvPr>
          <p:cNvSpPr txBox="1"/>
          <p:nvPr/>
        </p:nvSpPr>
        <p:spPr>
          <a:xfrm>
            <a:off x="3941020" y="2826148"/>
            <a:ext cx="1440160" cy="14773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u="sng" dirty="0"/>
              <a:t>Euclid(6, 4):</a:t>
            </a:r>
          </a:p>
          <a:p>
            <a:r>
              <a:rPr lang="en-US" altLang="zh-CN" dirty="0"/>
              <a:t>4==0 ? </a:t>
            </a:r>
          </a:p>
          <a:p>
            <a:r>
              <a:rPr lang="en-US" altLang="zh-CN" dirty="0"/>
              <a:t>rem = 6%4</a:t>
            </a:r>
          </a:p>
          <a:p>
            <a:r>
              <a:rPr lang="en-US" altLang="zh-CN" dirty="0"/>
              <a:t>… … …</a:t>
            </a:r>
          </a:p>
          <a:p>
            <a:r>
              <a:rPr lang="en-US" altLang="zh-CN" dirty="0"/>
              <a:t>return 2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0CB87BF-0C23-49EE-84FC-ED9765EFF42F}"/>
              </a:ext>
            </a:extLst>
          </p:cNvPr>
          <p:cNvSpPr txBox="1"/>
          <p:nvPr/>
        </p:nvSpPr>
        <p:spPr>
          <a:xfrm>
            <a:off x="5680319" y="3974936"/>
            <a:ext cx="1296144" cy="14773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u="sng" dirty="0"/>
              <a:t>Euclid(4, 2):</a:t>
            </a:r>
          </a:p>
          <a:p>
            <a:r>
              <a:rPr lang="en-US" altLang="zh-CN" dirty="0"/>
              <a:t>2==0 ?</a:t>
            </a:r>
          </a:p>
          <a:p>
            <a:r>
              <a:rPr lang="en-US" altLang="zh-CN" dirty="0"/>
              <a:t>rem = 4%2</a:t>
            </a:r>
          </a:p>
          <a:p>
            <a:r>
              <a:rPr lang="en-US" altLang="zh-CN" dirty="0"/>
              <a:t>… … … </a:t>
            </a:r>
          </a:p>
          <a:p>
            <a:r>
              <a:rPr lang="en-US" altLang="zh-CN" dirty="0"/>
              <a:t>return 2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04854C-964F-4DD4-9FE0-350EF7F8A94D}"/>
              </a:ext>
            </a:extLst>
          </p:cNvPr>
          <p:cNvSpPr txBox="1"/>
          <p:nvPr/>
        </p:nvSpPr>
        <p:spPr>
          <a:xfrm>
            <a:off x="7219205" y="5209770"/>
            <a:ext cx="1296144" cy="9233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u="sng" dirty="0"/>
              <a:t>Euclid(2, 0):</a:t>
            </a:r>
          </a:p>
          <a:p>
            <a:r>
              <a:rPr lang="en-US" altLang="zh-CN" dirty="0"/>
              <a:t>0==0 ?</a:t>
            </a:r>
          </a:p>
          <a:p>
            <a:r>
              <a:rPr lang="en-US" altLang="zh-CN" dirty="0"/>
              <a:t>return 2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C63DADB-488A-4361-8908-05691238C43F}"/>
              </a:ext>
            </a:extLst>
          </p:cNvPr>
          <p:cNvCxnSpPr>
            <a:cxnSpLocks/>
          </p:cNvCxnSpPr>
          <p:nvPr/>
        </p:nvCxnSpPr>
        <p:spPr>
          <a:xfrm>
            <a:off x="5381180" y="3862106"/>
            <a:ext cx="299139" cy="1078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08FA88F-C9FC-4973-8C33-E8C5A14FBE91}"/>
              </a:ext>
            </a:extLst>
          </p:cNvPr>
          <p:cNvCxnSpPr>
            <a:cxnSpLocks/>
          </p:cNvCxnSpPr>
          <p:nvPr/>
        </p:nvCxnSpPr>
        <p:spPr>
          <a:xfrm>
            <a:off x="6976463" y="5057156"/>
            <a:ext cx="242742" cy="1686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623C6ED-2DBB-4698-9DD2-8311B51C1759}"/>
              </a:ext>
            </a:extLst>
          </p:cNvPr>
          <p:cNvCxnSpPr>
            <a:cxnSpLocks/>
          </p:cNvCxnSpPr>
          <p:nvPr/>
        </p:nvCxnSpPr>
        <p:spPr>
          <a:xfrm flipH="1" flipV="1">
            <a:off x="6976463" y="5452264"/>
            <a:ext cx="242742" cy="6808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93440A5-F4AF-4323-A8DC-FCA0D4570661}"/>
              </a:ext>
            </a:extLst>
          </p:cNvPr>
          <p:cNvCxnSpPr>
            <a:cxnSpLocks/>
          </p:cNvCxnSpPr>
          <p:nvPr/>
        </p:nvCxnSpPr>
        <p:spPr>
          <a:xfrm flipH="1" flipV="1">
            <a:off x="5381180" y="4303476"/>
            <a:ext cx="299139" cy="1148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944836E-C902-4B2E-9582-A5EB83FF3F15}"/>
              </a:ext>
            </a:extLst>
          </p:cNvPr>
          <p:cNvSpPr txBox="1"/>
          <p:nvPr/>
        </p:nvSpPr>
        <p:spPr>
          <a:xfrm>
            <a:off x="628650" y="1500585"/>
            <a:ext cx="7886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function is called </a:t>
            </a:r>
            <a:r>
              <a:rPr lang="en-US" sz="2400" b="1" dirty="0">
                <a:solidFill>
                  <a:schemeClr val="accent1"/>
                </a:solidFill>
              </a:rPr>
              <a:t>tail-recursive</a:t>
            </a:r>
            <a:r>
              <a:rPr lang="en-US" sz="2400" dirty="0"/>
              <a:t> if each activation of the function will make at most a single recursive call, and will return immediately after that call.</a:t>
            </a:r>
          </a:p>
        </p:txBody>
      </p:sp>
    </p:spTree>
    <p:extLst>
      <p:ext uri="{BB962C8B-B14F-4D97-AF65-F5344CB8AC3E}">
        <p14:creationId xmlns:p14="http://schemas.microsoft.com/office/powerpoint/2010/main" val="159585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Tail Recursion to Iteration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BC6E2D-6F9A-40A9-AC06-977067486FFA}"/>
              </a:ext>
            </a:extLst>
          </p:cNvPr>
          <p:cNvSpPr txBox="1"/>
          <p:nvPr/>
        </p:nvSpPr>
        <p:spPr>
          <a:xfrm>
            <a:off x="628651" y="1690689"/>
            <a:ext cx="78867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GB" sz="2400" dirty="0"/>
              <a:t>Each function parameter is a variable.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400" dirty="0"/>
              <a:t>Convert the main body of the function into a loop: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en-US" sz="2200" i="1" dirty="0"/>
              <a:t>Base cases</a:t>
            </a:r>
            <a:r>
              <a:rPr lang="en-US" sz="2200" dirty="0"/>
              <a:t>: do computation and return results.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en-US" sz="2200" i="1" dirty="0"/>
              <a:t>Recursive cases</a:t>
            </a:r>
            <a:r>
              <a:rPr lang="en-US" sz="2200" dirty="0"/>
              <a:t>: do computation and update variables.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956A37-A65B-4515-BB63-FD0F61A0E68B}"/>
              </a:ext>
            </a:extLst>
          </p:cNvPr>
          <p:cNvSpPr/>
          <p:nvPr/>
        </p:nvSpPr>
        <p:spPr>
          <a:xfrm>
            <a:off x="628650" y="3659207"/>
            <a:ext cx="3758293" cy="16378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EuclidGCDRec</a:t>
            </a: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 (m, n):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(n==0)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m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rem=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m%n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EuclidGCDRec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(n, rem)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1031BE-E43C-4093-BDC1-B2326D018C9E}"/>
              </a:ext>
            </a:extLst>
          </p:cNvPr>
          <p:cNvSpPr/>
          <p:nvPr/>
        </p:nvSpPr>
        <p:spPr>
          <a:xfrm>
            <a:off x="5094514" y="3659207"/>
            <a:ext cx="2612571" cy="2122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  <a:cs typeface="Courier New" panose="02070309020205020404" pitchFamily="49" charset="0"/>
              </a:rPr>
              <a:t>EuclidGCDIter</a:t>
            </a:r>
            <a:r>
              <a:rPr lang="en-GB" b="1" u="sng" dirty="0">
                <a:solidFill>
                  <a:schemeClr val="tx1"/>
                </a:solidFill>
                <a:cs typeface="Courier New" panose="02070309020205020404" pitchFamily="49" charset="0"/>
              </a:rPr>
              <a:t> (m, n):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(n==0)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m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rem=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m%n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m=n</a:t>
            </a:r>
          </a:p>
          <a:p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n=rem</a:t>
            </a:r>
          </a:p>
        </p:txBody>
      </p:sp>
    </p:spTree>
    <p:extLst>
      <p:ext uri="{BB962C8B-B14F-4D97-AF65-F5344CB8AC3E}">
        <p14:creationId xmlns:p14="http://schemas.microsoft.com/office/powerpoint/2010/main" val="772095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6748DA-6197-4FC2-9A58-BA2F7E6F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Iteration and Recursion</a:t>
            </a:r>
            <a:endParaRPr 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9DECC55-9DBF-411C-89ED-9255FE1D1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Recursion can be converted into iteration</a:t>
            </a:r>
          </a:p>
          <a:p>
            <a:pPr lvl="1"/>
            <a:r>
              <a:rPr lang="en-GB" dirty="0"/>
              <a:t>Generic method: simulate a call stack</a:t>
            </a:r>
          </a:p>
          <a:p>
            <a:pPr lvl="1"/>
            <a:r>
              <a:rPr lang="en-GB" dirty="0"/>
              <a:t>Special case: tail recursion</a:t>
            </a:r>
          </a:p>
          <a:p>
            <a:r>
              <a:rPr lang="en-GB" dirty="0">
                <a:solidFill>
                  <a:srgbClr val="C00000"/>
                </a:solidFill>
              </a:rPr>
              <a:t>Iteration can be converted into tail recursion</a:t>
            </a:r>
          </a:p>
          <a:p>
            <a:r>
              <a:rPr lang="en-GB" dirty="0">
                <a:solidFill>
                  <a:srgbClr val="C00000"/>
                </a:solidFill>
              </a:rPr>
              <a:t>No one is always perfect</a:t>
            </a:r>
          </a:p>
          <a:p>
            <a:pPr lvl="1"/>
            <a:r>
              <a:rPr lang="en-GB" dirty="0"/>
              <a:t>Iteration can be faster and more memory efficient</a:t>
            </a:r>
          </a:p>
          <a:p>
            <a:pPr lvl="1"/>
            <a:r>
              <a:rPr lang="en-GB" dirty="0"/>
              <a:t>Recursion can </a:t>
            </a:r>
            <a:r>
              <a:rPr lang="en-US" dirty="0"/>
              <a:t>be clearer, more concise and intuitive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7266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[Deng] Ch1 (1.4</a:t>
            </a:r>
            <a:r>
              <a:rPr lang="en-GB" sz="2400" baseline="30000" dirty="0"/>
              <a:t>*</a:t>
            </a:r>
            <a:r>
              <a:rPr lang="en-GB" sz="2400" dirty="0"/>
              <a:t>), Ch4 (4.1-4.4)</a:t>
            </a:r>
          </a:p>
          <a:p>
            <a:r>
              <a:rPr lang="en-GB" sz="2400" dirty="0"/>
              <a:t>[Weiss] Ch3 (3.6)</a:t>
            </a:r>
          </a:p>
          <a:p>
            <a:r>
              <a:rPr lang="en-GB" sz="2400" dirty="0"/>
              <a:t>[CSAPP] Ch3 (3.7</a:t>
            </a:r>
            <a:r>
              <a:rPr lang="en-GB" sz="2400" baseline="30000" dirty="0"/>
              <a:t>*</a:t>
            </a:r>
            <a:r>
              <a:rPr lang="en-GB" sz="2400" dirty="0"/>
              <a:t>)</a:t>
            </a:r>
            <a:endParaRPr lang="en-US" sz="2400" dirty="0"/>
          </a:p>
        </p:txBody>
      </p:sp>
      <p:pic>
        <p:nvPicPr>
          <p:cNvPr id="4" name="Picture 6" descr="https://img1.doubanio.com/view/subject/l/public/s28388499.jpg">
            <a:extLst>
              <a:ext uri="{FF2B5EF4-FFF2-40B4-BE49-F238E27FC236}">
                <a16:creationId xmlns:a16="http://schemas.microsoft.com/office/drawing/2014/main" id="{BF82DBB4-B22A-4917-9B44-6D2EBF390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344" y="3944936"/>
            <a:ext cx="1684818" cy="23669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https://images-na.ssl-images-amazon.com/images/I/41oGuEd4krL._SX378_BO1,204,203,200_.jpg">
            <a:extLst>
              <a:ext uri="{FF2B5EF4-FFF2-40B4-BE49-F238E27FC236}">
                <a16:creationId xmlns:a16="http://schemas.microsoft.com/office/drawing/2014/main" id="{4C426DD9-F1C9-4700-BE69-CEEAA51AA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878" y="3944936"/>
            <a:ext cx="1802497" cy="23669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229CCDB-E595-42BB-AC8E-CEEF78DE6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091" y="3944936"/>
            <a:ext cx="1819236" cy="23669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3424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11131</TotalTime>
  <Words>3071</Words>
  <Application>Microsoft Office PowerPoint</Application>
  <PresentationFormat>全屏显示(4:3)</PresentationFormat>
  <Paragraphs>751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Courier New</vt:lpstr>
      <vt:lpstr>Calibri Light</vt:lpstr>
      <vt:lpstr>Arial</vt:lpstr>
      <vt:lpstr>宋体</vt:lpstr>
      <vt:lpstr>Calibri</vt:lpstr>
      <vt:lpstr>Cambria Math</vt:lpstr>
      <vt:lpstr>Office 主题​​</vt:lpstr>
      <vt:lpstr>Basic Data Structures</vt:lpstr>
      <vt:lpstr>What is a “data structure”?</vt:lpstr>
      <vt:lpstr>Abstract Data Type (ADT)</vt:lpstr>
      <vt:lpstr>The Queue ADT</vt:lpstr>
      <vt:lpstr>FIFO Queue</vt:lpstr>
      <vt:lpstr>PowerPoint 演示文稿</vt:lpstr>
      <vt:lpstr>LIFO Queue: Stack</vt:lpstr>
      <vt:lpstr>PowerPoint 演示文稿</vt:lpstr>
      <vt:lpstr>The Deque ADT</vt:lpstr>
      <vt:lpstr>The List ADT</vt:lpstr>
      <vt:lpstr>The List ADT</vt:lpstr>
      <vt:lpstr>Using array to implement List: ArrayList data structure</vt:lpstr>
      <vt:lpstr>Using array to implement List: ArrayList data structure</vt:lpstr>
      <vt:lpstr>Using circular array to implement Deque: ArrayDeque data structure</vt:lpstr>
      <vt:lpstr>Using circular array to implement Deque: ArrayDeque data structure</vt:lpstr>
      <vt:lpstr>Using circular array to implement Deque: ArrayDeque data structure</vt:lpstr>
      <vt:lpstr>Using linked list to implement List: LinkedList data structure</vt:lpstr>
      <vt:lpstr>Using doubly-linked list to implement List: DLinkedList data structure</vt:lpstr>
      <vt:lpstr>Using doubly-linked list to implement List: DLinkedList data structure</vt:lpstr>
      <vt:lpstr>Using doubly-linked list to implement List: DLinkedList data structure</vt:lpstr>
      <vt:lpstr>Summary</vt:lpstr>
      <vt:lpstr>Reading</vt:lpstr>
      <vt:lpstr>Application of Stack: Balancing Symbols</vt:lpstr>
      <vt:lpstr>Application of Stack: Evaluating Postfix Expressions</vt:lpstr>
      <vt:lpstr>Application of Stack: Evaluating Postfix Expressions</vt:lpstr>
      <vt:lpstr>Application of Stack: Function Calls</vt:lpstr>
      <vt:lpstr>Application of Stack: Function Calls</vt:lpstr>
      <vt:lpstr>Eliminating Recursion</vt:lpstr>
      <vt:lpstr>Eliminating Recursion</vt:lpstr>
      <vt:lpstr>Tail Recursion</vt:lpstr>
      <vt:lpstr>Tail Recursion</vt:lpstr>
      <vt:lpstr>Tail Recursion to Iteration</vt:lpstr>
      <vt:lpstr>Iteration and Recursion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Data Structures</dc:title>
  <dc:creator>Chaodong ZHENG</dc:creator>
  <cp:lastModifiedBy>Chaodong</cp:lastModifiedBy>
  <cp:revision>275</cp:revision>
  <dcterms:created xsi:type="dcterms:W3CDTF">2019-05-23T06:25:52Z</dcterms:created>
  <dcterms:modified xsi:type="dcterms:W3CDTF">2019-09-04T13:56:00Z</dcterms:modified>
</cp:coreProperties>
</file>