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3"/>
  </p:notesMasterIdLst>
  <p:sldIdLst>
    <p:sldId id="257" r:id="rId2"/>
    <p:sldId id="291" r:id="rId3"/>
    <p:sldId id="292" r:id="rId4"/>
    <p:sldId id="293" r:id="rId5"/>
    <p:sldId id="294" r:id="rId6"/>
    <p:sldId id="295" r:id="rId7"/>
    <p:sldId id="296" r:id="rId8"/>
    <p:sldId id="297" r:id="rId9"/>
    <p:sldId id="298" r:id="rId10"/>
    <p:sldId id="299" r:id="rId11"/>
    <p:sldId id="300" r:id="rId12"/>
    <p:sldId id="301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290" r:id="rId22"/>
  </p:sldIdLst>
  <p:sldSz cx="9144000" cy="6858000" type="screen4x3"/>
  <p:notesSz cx="6858000" cy="9144000"/>
  <p:embeddedFontLs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libri Light" panose="020F0302020204030204" pitchFamily="34" charset="0"/>
      <p:regular r:id="rId28"/>
      <p:italic r:id="rId29"/>
    </p:embeddedFont>
    <p:embeddedFont>
      <p:font typeface="Cambria Math" panose="02040503050406030204" pitchFamily="18" charset="0"/>
      <p:regular r:id="rId30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563" autoAdjust="0"/>
  </p:normalViewPr>
  <p:slideViewPr>
    <p:cSldViewPr snapToGrid="0">
      <p:cViewPr varScale="1">
        <p:scale>
          <a:sx n="91" d="100"/>
          <a:sy n="91" d="100"/>
        </p:scale>
        <p:origin x="1302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7E32234-7028-4DA2-BE93-7DEA451379BD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E0C9BC-34BC-4CD2-90DE-08E5B15A805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93473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39F09-393E-4E6D-98AC-DC0B07A168D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46265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7076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3070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42080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0451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554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0261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3238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5502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17640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883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0713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D5C35-C625-46D0-B02E-129C36ED7CF4}" type="datetimeFigureOut">
              <a:rPr lang="en-US" smtClean="0"/>
              <a:t>19/11/17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5BB72D-7131-4AFE-BCD8-F506349CD7A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698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FB974E-FDF9-47AD-B73D-2F48DADDAC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</a:pPr>
            <a:r>
              <a:rPr lang="en-GB" sz="5400" b="1" dirty="0"/>
              <a:t>(Some) Applications of DFS</a:t>
            </a:r>
            <a:endParaRPr lang="en-US" sz="5400" b="1" dirty="0"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730E9ED-4082-48C1-9706-0FA0AA4FD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3000"/>
              </a:spcAft>
            </a:pPr>
            <a:r>
              <a:rPr lang="en-GB" dirty="0"/>
              <a:t>Data Structures and Algorithms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GB" sz="2000" dirty="0">
                <a:solidFill>
                  <a:schemeClr val="bg2">
                    <a:lumMod val="50000"/>
                  </a:schemeClr>
                </a:solidFill>
              </a:rPr>
              <a:t>Nanjing University, Fall 2019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zh-CN" altLang="en-US" sz="2000" dirty="0">
                <a:solidFill>
                  <a:schemeClr val="bg2">
                    <a:lumMod val="50000"/>
                  </a:schemeClr>
                </a:solidFill>
              </a:rPr>
              <a:t>郑朝栋</a:t>
            </a:r>
            <a:endParaRPr lang="en-US" sz="2000" dirty="0">
              <a:solidFill>
                <a:schemeClr val="bg2">
                  <a:lumMod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223416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297E1F9-9A97-4D2A-A6D4-AB96C73DDA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Directed Acyclic Graphs (DAG)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DDE75C2-8B5A-4654-A6A4-392BACE7E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8515350" cy="4802185"/>
          </a:xfrm>
        </p:spPr>
        <p:txBody>
          <a:bodyPr>
            <a:normAutofit/>
          </a:bodyPr>
          <a:lstStyle/>
          <a:p>
            <a:r>
              <a:rPr lang="en-US" sz="2400" dirty="0"/>
              <a:t>A graph </a:t>
            </a:r>
            <a:r>
              <a:rPr lang="en-US" sz="2400" dirty="0">
                <a:solidFill>
                  <a:srgbClr val="C00000"/>
                </a:solidFill>
              </a:rPr>
              <a:t>without cycles</a:t>
            </a:r>
            <a:r>
              <a:rPr lang="en-US" sz="2400" dirty="0"/>
              <a:t> is called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acyclic</a:t>
            </a:r>
            <a:r>
              <a:rPr lang="en-US" sz="2400" dirty="0"/>
              <a:t>.</a:t>
            </a:r>
          </a:p>
          <a:p>
            <a:r>
              <a:rPr lang="en-US" sz="2400" dirty="0"/>
              <a:t>A </a:t>
            </a:r>
            <a:r>
              <a:rPr lang="en-US" sz="2400" dirty="0">
                <a:solidFill>
                  <a:srgbClr val="C00000"/>
                </a:solidFill>
              </a:rPr>
              <a:t>directed</a:t>
            </a:r>
            <a:r>
              <a:rPr lang="en-US" sz="2400" dirty="0"/>
              <a:t> graph </a:t>
            </a:r>
            <a:r>
              <a:rPr lang="en-US" sz="2400" dirty="0">
                <a:solidFill>
                  <a:srgbClr val="C00000"/>
                </a:solidFill>
              </a:rPr>
              <a:t>without cycles</a:t>
            </a:r>
            <a:r>
              <a:rPr lang="en-US" sz="2400" dirty="0"/>
              <a:t> is a 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directed acyclic graph</a:t>
            </a:r>
            <a:r>
              <a:rPr lang="en-US" sz="2400" dirty="0"/>
              <a:t> (</a:t>
            </a:r>
            <a:r>
              <a:rPr lang="en-US" sz="2400" b="1" dirty="0">
                <a:solidFill>
                  <a:schemeClr val="accent1">
                    <a:lumMod val="75000"/>
                  </a:schemeClr>
                </a:solidFill>
              </a:rPr>
              <a:t>DAG</a:t>
            </a:r>
            <a:r>
              <a:rPr lang="en-US" sz="2400" dirty="0"/>
              <a:t>).</a:t>
            </a:r>
          </a:p>
          <a:p>
            <a:r>
              <a:rPr lang="en-US" sz="2400" dirty="0"/>
              <a:t>DAGs are good for modeling relations such as: </a:t>
            </a:r>
            <a:br>
              <a:rPr lang="en-US" sz="2400" dirty="0"/>
            </a:br>
            <a:r>
              <a:rPr lang="en-US" sz="2400" i="1" dirty="0"/>
              <a:t>causalities</a:t>
            </a:r>
            <a:r>
              <a:rPr lang="en-US" sz="2400" dirty="0"/>
              <a:t>, </a:t>
            </a:r>
            <a:r>
              <a:rPr lang="en-US" sz="2400" i="1" dirty="0"/>
              <a:t>hierarchies</a:t>
            </a:r>
            <a:r>
              <a:rPr lang="en-US" sz="2400" dirty="0"/>
              <a:t>, and </a:t>
            </a:r>
            <a:r>
              <a:rPr lang="en-US" sz="2400" i="1" dirty="0"/>
              <a:t>temporal dependencies</a:t>
            </a:r>
            <a:r>
              <a:rPr lang="en-US" sz="2400" dirty="0"/>
              <a:t>. </a:t>
            </a:r>
          </a:p>
        </p:txBody>
      </p:sp>
      <p:grpSp>
        <p:nvGrpSpPr>
          <p:cNvPr id="46" name="组合 45">
            <a:extLst>
              <a:ext uri="{FF2B5EF4-FFF2-40B4-BE49-F238E27FC236}">
                <a16:creationId xmlns:a16="http://schemas.microsoft.com/office/drawing/2014/main" id="{27461AE4-1834-4031-A011-88A18BF0F829}"/>
              </a:ext>
            </a:extLst>
          </p:cNvPr>
          <p:cNvGrpSpPr/>
          <p:nvPr/>
        </p:nvGrpSpPr>
        <p:grpSpPr>
          <a:xfrm>
            <a:off x="2419709" y="4099547"/>
            <a:ext cx="1243446" cy="1594609"/>
            <a:chOff x="2388178" y="4898263"/>
            <a:chExt cx="1243446" cy="1594609"/>
          </a:xfrm>
        </p:grpSpPr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829C38A-D28A-4BCE-A329-E8B05D8A463A}"/>
                </a:ext>
              </a:extLst>
            </p:cNvPr>
            <p:cNvGrpSpPr/>
            <p:nvPr/>
          </p:nvGrpSpPr>
          <p:grpSpPr>
            <a:xfrm>
              <a:off x="2388178" y="5310455"/>
              <a:ext cx="1243446" cy="1182417"/>
              <a:chOff x="374561" y="219653"/>
              <a:chExt cx="1243446" cy="1182417"/>
            </a:xfrm>
          </p:grpSpPr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77E0F4BF-F74E-4327-9B5D-6888CBF624F9}"/>
                  </a:ext>
                </a:extLst>
              </p:cNvPr>
              <p:cNvSpPr/>
              <p:nvPr/>
            </p:nvSpPr>
            <p:spPr>
              <a:xfrm>
                <a:off x="374561" y="219653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9998415E-0582-408A-A69C-D8C0700FF926}"/>
                  </a:ext>
                </a:extLst>
              </p:cNvPr>
              <p:cNvSpPr/>
              <p:nvPr/>
            </p:nvSpPr>
            <p:spPr>
              <a:xfrm>
                <a:off x="374561" y="1038388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16" name="椭圆 15">
                <a:extLst>
                  <a:ext uri="{FF2B5EF4-FFF2-40B4-BE49-F238E27FC236}">
                    <a16:creationId xmlns:a16="http://schemas.microsoft.com/office/drawing/2014/main" id="{0F1E50F5-15B7-4E8C-B6E3-EC565715AE38}"/>
                  </a:ext>
                </a:extLst>
              </p:cNvPr>
              <p:cNvSpPr/>
              <p:nvPr/>
            </p:nvSpPr>
            <p:spPr>
              <a:xfrm>
                <a:off x="1254325" y="219653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17" name="椭圆 16">
                <a:extLst>
                  <a:ext uri="{FF2B5EF4-FFF2-40B4-BE49-F238E27FC236}">
                    <a16:creationId xmlns:a16="http://schemas.microsoft.com/office/drawing/2014/main" id="{5412F114-FC7B-44DA-AA2F-6EAEE5BADCD1}"/>
                  </a:ext>
                </a:extLst>
              </p:cNvPr>
              <p:cNvSpPr/>
              <p:nvPr/>
            </p:nvSpPr>
            <p:spPr>
              <a:xfrm>
                <a:off x="1254325" y="1038388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14224631-1784-49B6-B2D9-D541117691D3}"/>
                  </a:ext>
                </a:extLst>
              </p:cNvPr>
              <p:cNvCxnSpPr>
                <a:stCxn id="14" idx="6"/>
                <a:endCxn id="16" idx="2"/>
              </p:cNvCxnSpPr>
              <p:nvPr/>
            </p:nvCxnSpPr>
            <p:spPr>
              <a:xfrm>
                <a:off x="738243" y="401494"/>
                <a:ext cx="51608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8756D8CF-3E19-4A53-885E-920B46DD4C65}"/>
                  </a:ext>
                </a:extLst>
              </p:cNvPr>
              <p:cNvCxnSpPr>
                <a:cxnSpLocks/>
                <a:stCxn id="16" idx="4"/>
                <a:endCxn id="17" idx="0"/>
              </p:cNvCxnSpPr>
              <p:nvPr/>
            </p:nvCxnSpPr>
            <p:spPr>
              <a:xfrm>
                <a:off x="1436166" y="583335"/>
                <a:ext cx="0" cy="4550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FE9EB958-598E-40B2-95B3-6DB11B4144A7}"/>
                  </a:ext>
                </a:extLst>
              </p:cNvPr>
              <p:cNvCxnSpPr>
                <a:cxnSpLocks/>
                <a:stCxn id="14" idx="4"/>
                <a:endCxn id="15" idx="0"/>
              </p:cNvCxnSpPr>
              <p:nvPr/>
            </p:nvCxnSpPr>
            <p:spPr>
              <a:xfrm>
                <a:off x="556402" y="583335"/>
                <a:ext cx="0" cy="4550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DA58C3B4-7C0E-419A-898B-B883A286949C}"/>
                </a:ext>
              </a:extLst>
            </p:cNvPr>
            <p:cNvSpPr/>
            <p:nvPr/>
          </p:nvSpPr>
          <p:spPr>
            <a:xfrm>
              <a:off x="2600846" y="4898263"/>
              <a:ext cx="818109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Acyclic</a:t>
              </a:r>
            </a:p>
          </p:txBody>
        </p:sp>
      </p:grpSp>
      <p:grpSp>
        <p:nvGrpSpPr>
          <p:cNvPr id="45" name="组合 44">
            <a:extLst>
              <a:ext uri="{FF2B5EF4-FFF2-40B4-BE49-F238E27FC236}">
                <a16:creationId xmlns:a16="http://schemas.microsoft.com/office/drawing/2014/main" id="{9A4672D0-ED99-4F77-A708-E2EC82AF1F29}"/>
              </a:ext>
            </a:extLst>
          </p:cNvPr>
          <p:cNvGrpSpPr/>
          <p:nvPr/>
        </p:nvGrpSpPr>
        <p:grpSpPr>
          <a:xfrm>
            <a:off x="660181" y="4105230"/>
            <a:ext cx="1243446" cy="1588927"/>
            <a:chOff x="628650" y="4903946"/>
            <a:chExt cx="1243446" cy="158892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2A6F879A-D499-4453-83A8-AB3D274DDBB5}"/>
                </a:ext>
              </a:extLst>
            </p:cNvPr>
            <p:cNvGrpSpPr/>
            <p:nvPr/>
          </p:nvGrpSpPr>
          <p:grpSpPr>
            <a:xfrm>
              <a:off x="628650" y="5310456"/>
              <a:ext cx="1243446" cy="1182417"/>
              <a:chOff x="374561" y="219653"/>
              <a:chExt cx="1243446" cy="1182417"/>
            </a:xfrm>
          </p:grpSpPr>
          <p:sp>
            <p:nvSpPr>
              <p:cNvPr id="5" name="椭圆 4">
                <a:extLst>
                  <a:ext uri="{FF2B5EF4-FFF2-40B4-BE49-F238E27FC236}">
                    <a16:creationId xmlns:a16="http://schemas.microsoft.com/office/drawing/2014/main" id="{71985DC7-ADF2-4405-BB8E-A19C4999EB3E}"/>
                  </a:ext>
                </a:extLst>
              </p:cNvPr>
              <p:cNvSpPr/>
              <p:nvPr/>
            </p:nvSpPr>
            <p:spPr>
              <a:xfrm>
                <a:off x="374561" y="219653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6" name="椭圆 5">
                <a:extLst>
                  <a:ext uri="{FF2B5EF4-FFF2-40B4-BE49-F238E27FC236}">
                    <a16:creationId xmlns:a16="http://schemas.microsoft.com/office/drawing/2014/main" id="{B95BFC93-29F2-4206-AFC5-CC43D1FE5091}"/>
                  </a:ext>
                </a:extLst>
              </p:cNvPr>
              <p:cNvSpPr/>
              <p:nvPr/>
            </p:nvSpPr>
            <p:spPr>
              <a:xfrm>
                <a:off x="374561" y="1038388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7" name="椭圆 6">
                <a:extLst>
                  <a:ext uri="{FF2B5EF4-FFF2-40B4-BE49-F238E27FC236}">
                    <a16:creationId xmlns:a16="http://schemas.microsoft.com/office/drawing/2014/main" id="{895CD2ED-2032-4E92-BB7C-A93131ECD7DB}"/>
                  </a:ext>
                </a:extLst>
              </p:cNvPr>
              <p:cNvSpPr/>
              <p:nvPr/>
            </p:nvSpPr>
            <p:spPr>
              <a:xfrm>
                <a:off x="1254325" y="219653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8" name="椭圆 7">
                <a:extLst>
                  <a:ext uri="{FF2B5EF4-FFF2-40B4-BE49-F238E27FC236}">
                    <a16:creationId xmlns:a16="http://schemas.microsoft.com/office/drawing/2014/main" id="{C87AB088-4D07-40AE-9ACF-8FE61E5E931E}"/>
                  </a:ext>
                </a:extLst>
              </p:cNvPr>
              <p:cNvSpPr/>
              <p:nvPr/>
            </p:nvSpPr>
            <p:spPr>
              <a:xfrm>
                <a:off x="1254325" y="1038388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9" name="直接箭头连接符 8">
                <a:extLst>
                  <a:ext uri="{FF2B5EF4-FFF2-40B4-BE49-F238E27FC236}">
                    <a16:creationId xmlns:a16="http://schemas.microsoft.com/office/drawing/2014/main" id="{C12605D8-E491-49A8-9648-938C3FDB9D6E}"/>
                  </a:ext>
                </a:extLst>
              </p:cNvPr>
              <p:cNvCxnSpPr>
                <a:stCxn id="5" idx="6"/>
                <a:endCxn id="7" idx="2"/>
              </p:cNvCxnSpPr>
              <p:nvPr/>
            </p:nvCxnSpPr>
            <p:spPr>
              <a:xfrm>
                <a:off x="738243" y="401494"/>
                <a:ext cx="51608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" name="直接箭头连接符 9">
                <a:extLst>
                  <a:ext uri="{FF2B5EF4-FFF2-40B4-BE49-F238E27FC236}">
                    <a16:creationId xmlns:a16="http://schemas.microsoft.com/office/drawing/2014/main" id="{810C81BF-5324-4302-9942-3031FC9A85CB}"/>
                  </a:ext>
                </a:extLst>
              </p:cNvPr>
              <p:cNvCxnSpPr>
                <a:cxnSpLocks/>
                <a:stCxn id="7" idx="4"/>
                <a:endCxn id="8" idx="0"/>
              </p:cNvCxnSpPr>
              <p:nvPr/>
            </p:nvCxnSpPr>
            <p:spPr>
              <a:xfrm>
                <a:off x="1436166" y="583335"/>
                <a:ext cx="0" cy="4550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直接箭头连接符 10">
                <a:extLst>
                  <a:ext uri="{FF2B5EF4-FFF2-40B4-BE49-F238E27FC236}">
                    <a16:creationId xmlns:a16="http://schemas.microsoft.com/office/drawing/2014/main" id="{0844F303-EA3C-4E71-A44B-7ABE4444E744}"/>
                  </a:ext>
                </a:extLst>
              </p:cNvPr>
              <p:cNvCxnSpPr>
                <a:cxnSpLocks/>
                <a:stCxn id="5" idx="4"/>
                <a:endCxn id="6" idx="0"/>
              </p:cNvCxnSpPr>
              <p:nvPr/>
            </p:nvCxnSpPr>
            <p:spPr>
              <a:xfrm>
                <a:off x="556402" y="583335"/>
                <a:ext cx="0" cy="4550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箭头连接符 11">
                <a:extLst>
                  <a:ext uri="{FF2B5EF4-FFF2-40B4-BE49-F238E27FC236}">
                    <a16:creationId xmlns:a16="http://schemas.microsoft.com/office/drawing/2014/main" id="{6297B5F6-10DD-4814-9E67-EAE27E60A13A}"/>
                  </a:ext>
                </a:extLst>
              </p:cNvPr>
              <p:cNvCxnSpPr>
                <a:cxnSpLocks/>
                <a:stCxn id="5" idx="5"/>
                <a:endCxn id="8" idx="1"/>
              </p:cNvCxnSpPr>
              <p:nvPr/>
            </p:nvCxnSpPr>
            <p:spPr>
              <a:xfrm>
                <a:off x="684983" y="530075"/>
                <a:ext cx="622602" cy="5615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non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00AD266-E1F2-4275-B97E-5AE9FD6E3774}"/>
                </a:ext>
              </a:extLst>
            </p:cNvPr>
            <p:cNvSpPr/>
            <p:nvPr/>
          </p:nvSpPr>
          <p:spPr>
            <a:xfrm>
              <a:off x="939072" y="4903946"/>
              <a:ext cx="7107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Cyclic</a:t>
              </a:r>
            </a:p>
          </p:txBody>
        </p:sp>
      </p:grpSp>
      <p:grpSp>
        <p:nvGrpSpPr>
          <p:cNvPr id="47" name="组合 46">
            <a:extLst>
              <a:ext uri="{FF2B5EF4-FFF2-40B4-BE49-F238E27FC236}">
                <a16:creationId xmlns:a16="http://schemas.microsoft.com/office/drawing/2014/main" id="{1E432E78-592B-45AD-A084-C9147FC20A16}"/>
              </a:ext>
            </a:extLst>
          </p:cNvPr>
          <p:cNvGrpSpPr/>
          <p:nvPr/>
        </p:nvGrpSpPr>
        <p:grpSpPr>
          <a:xfrm>
            <a:off x="4179237" y="4105230"/>
            <a:ext cx="1243446" cy="1588926"/>
            <a:chOff x="4147706" y="4903946"/>
            <a:chExt cx="1243446" cy="1588926"/>
          </a:xfrm>
        </p:grpSpPr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AADE39EA-F2EB-4B6A-9D77-D5A3DAFA9B7F}"/>
                </a:ext>
              </a:extLst>
            </p:cNvPr>
            <p:cNvGrpSpPr/>
            <p:nvPr/>
          </p:nvGrpSpPr>
          <p:grpSpPr>
            <a:xfrm>
              <a:off x="4147706" y="5310455"/>
              <a:ext cx="1243446" cy="1182417"/>
              <a:chOff x="374561" y="219653"/>
              <a:chExt cx="1243446" cy="1182417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09B1476C-16E4-47B9-9DD6-179A34C341E4}"/>
                  </a:ext>
                </a:extLst>
              </p:cNvPr>
              <p:cNvSpPr/>
              <p:nvPr/>
            </p:nvSpPr>
            <p:spPr>
              <a:xfrm>
                <a:off x="374561" y="219653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AF8EA4DF-8A2F-4143-B132-D64AB6124187}"/>
                  </a:ext>
                </a:extLst>
              </p:cNvPr>
              <p:cNvSpPr/>
              <p:nvPr/>
            </p:nvSpPr>
            <p:spPr>
              <a:xfrm>
                <a:off x="374561" y="1038388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F154BEE0-4872-465F-8F33-60AF2DA423C1}"/>
                  </a:ext>
                </a:extLst>
              </p:cNvPr>
              <p:cNvSpPr/>
              <p:nvPr/>
            </p:nvSpPr>
            <p:spPr>
              <a:xfrm>
                <a:off x="1254325" y="219653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1BBA4C3D-DC7F-4422-A1A0-97D8CA048BCE}"/>
                  </a:ext>
                </a:extLst>
              </p:cNvPr>
              <p:cNvSpPr/>
              <p:nvPr/>
            </p:nvSpPr>
            <p:spPr>
              <a:xfrm>
                <a:off x="1254325" y="1038388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27" name="直接箭头连接符 26">
                <a:extLst>
                  <a:ext uri="{FF2B5EF4-FFF2-40B4-BE49-F238E27FC236}">
                    <a16:creationId xmlns:a16="http://schemas.microsoft.com/office/drawing/2014/main" id="{62B8A037-47D5-4044-9084-C8FCA92CC7A9}"/>
                  </a:ext>
                </a:extLst>
              </p:cNvPr>
              <p:cNvCxnSpPr>
                <a:stCxn id="23" idx="6"/>
                <a:endCxn id="25" idx="2"/>
              </p:cNvCxnSpPr>
              <p:nvPr/>
            </p:nvCxnSpPr>
            <p:spPr>
              <a:xfrm>
                <a:off x="738243" y="401494"/>
                <a:ext cx="51608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978ACAB3-656F-4696-878B-894F0FACB2B3}"/>
                  </a:ext>
                </a:extLst>
              </p:cNvPr>
              <p:cNvCxnSpPr>
                <a:cxnSpLocks/>
                <a:stCxn id="25" idx="4"/>
                <a:endCxn id="26" idx="0"/>
              </p:cNvCxnSpPr>
              <p:nvPr/>
            </p:nvCxnSpPr>
            <p:spPr>
              <a:xfrm>
                <a:off x="1436166" y="583335"/>
                <a:ext cx="0" cy="4550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D2654179-45B4-4378-808B-91DE577CAEC5}"/>
                  </a:ext>
                </a:extLst>
              </p:cNvPr>
              <p:cNvCxnSpPr>
                <a:cxnSpLocks/>
                <a:stCxn id="23" idx="4"/>
                <a:endCxn id="24" idx="0"/>
              </p:cNvCxnSpPr>
              <p:nvPr/>
            </p:nvCxnSpPr>
            <p:spPr>
              <a:xfrm>
                <a:off x="556402" y="583335"/>
                <a:ext cx="0" cy="4550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B012B321-6FEA-4B72-ADAC-0773FBDD4E40}"/>
                  </a:ext>
                </a:extLst>
              </p:cNvPr>
              <p:cNvCxnSpPr>
                <a:cxnSpLocks/>
                <a:stCxn id="23" idx="5"/>
                <a:endCxn id="26" idx="1"/>
              </p:cNvCxnSpPr>
              <p:nvPr/>
            </p:nvCxnSpPr>
            <p:spPr>
              <a:xfrm>
                <a:off x="684983" y="530075"/>
                <a:ext cx="622602" cy="5615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0730DC46-004C-4E21-A5BD-B1AC701D2571}"/>
                </a:ext>
              </a:extLst>
            </p:cNvPr>
            <p:cNvSpPr/>
            <p:nvPr/>
          </p:nvSpPr>
          <p:spPr>
            <a:xfrm>
              <a:off x="4409707" y="4903946"/>
              <a:ext cx="710708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Cyclic</a:t>
              </a:r>
            </a:p>
          </p:txBody>
        </p:sp>
      </p:grp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C637AF0C-E203-49B6-BBFB-3150DD5E3C36}"/>
              </a:ext>
            </a:extLst>
          </p:cNvPr>
          <p:cNvGrpSpPr/>
          <p:nvPr/>
        </p:nvGrpSpPr>
        <p:grpSpPr>
          <a:xfrm>
            <a:off x="5938765" y="4096722"/>
            <a:ext cx="1243446" cy="1597434"/>
            <a:chOff x="5907234" y="4895438"/>
            <a:chExt cx="1243446" cy="1597434"/>
          </a:xfrm>
        </p:grpSpPr>
        <p:grpSp>
          <p:nvGrpSpPr>
            <p:cNvPr id="31" name="组合 30">
              <a:extLst>
                <a:ext uri="{FF2B5EF4-FFF2-40B4-BE49-F238E27FC236}">
                  <a16:creationId xmlns:a16="http://schemas.microsoft.com/office/drawing/2014/main" id="{7768A678-BCF9-43C1-8A62-A7443797DD0C}"/>
                </a:ext>
              </a:extLst>
            </p:cNvPr>
            <p:cNvGrpSpPr/>
            <p:nvPr/>
          </p:nvGrpSpPr>
          <p:grpSpPr>
            <a:xfrm>
              <a:off x="5907234" y="5310455"/>
              <a:ext cx="1243446" cy="1182417"/>
              <a:chOff x="374561" y="219653"/>
              <a:chExt cx="1243446" cy="1182417"/>
            </a:xfrm>
          </p:grpSpPr>
          <p:sp>
            <p:nvSpPr>
              <p:cNvPr id="32" name="椭圆 31">
                <a:extLst>
                  <a:ext uri="{FF2B5EF4-FFF2-40B4-BE49-F238E27FC236}">
                    <a16:creationId xmlns:a16="http://schemas.microsoft.com/office/drawing/2014/main" id="{C280D63A-EEA7-4802-B9BC-4D443D532EE9}"/>
                  </a:ext>
                </a:extLst>
              </p:cNvPr>
              <p:cNvSpPr/>
              <p:nvPr/>
            </p:nvSpPr>
            <p:spPr>
              <a:xfrm>
                <a:off x="374561" y="219653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A</a:t>
                </a:r>
              </a:p>
            </p:txBody>
          </p:sp>
          <p:sp>
            <p:nvSpPr>
              <p:cNvPr id="33" name="椭圆 32">
                <a:extLst>
                  <a:ext uri="{FF2B5EF4-FFF2-40B4-BE49-F238E27FC236}">
                    <a16:creationId xmlns:a16="http://schemas.microsoft.com/office/drawing/2014/main" id="{AECC4B95-9E02-4089-9AC3-443CB943425D}"/>
                  </a:ext>
                </a:extLst>
              </p:cNvPr>
              <p:cNvSpPr/>
              <p:nvPr/>
            </p:nvSpPr>
            <p:spPr>
              <a:xfrm>
                <a:off x="374561" y="1038388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34" name="椭圆 33">
                <a:extLst>
                  <a:ext uri="{FF2B5EF4-FFF2-40B4-BE49-F238E27FC236}">
                    <a16:creationId xmlns:a16="http://schemas.microsoft.com/office/drawing/2014/main" id="{60B47AFB-38C2-44F9-81BF-78C68DCD20B0}"/>
                  </a:ext>
                </a:extLst>
              </p:cNvPr>
              <p:cNvSpPr/>
              <p:nvPr/>
            </p:nvSpPr>
            <p:spPr>
              <a:xfrm>
                <a:off x="1254325" y="219653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B</a:t>
                </a:r>
              </a:p>
            </p:txBody>
          </p:sp>
          <p:sp>
            <p:nvSpPr>
              <p:cNvPr id="35" name="椭圆 34">
                <a:extLst>
                  <a:ext uri="{FF2B5EF4-FFF2-40B4-BE49-F238E27FC236}">
                    <a16:creationId xmlns:a16="http://schemas.microsoft.com/office/drawing/2014/main" id="{5D4D849E-EB15-4494-AB6D-2858830019A9}"/>
                  </a:ext>
                </a:extLst>
              </p:cNvPr>
              <p:cNvSpPr/>
              <p:nvPr/>
            </p:nvSpPr>
            <p:spPr>
              <a:xfrm>
                <a:off x="1254325" y="1038388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C</a:t>
                </a:r>
              </a:p>
            </p:txBody>
          </p:sp>
          <p:cxnSp>
            <p:nvCxnSpPr>
              <p:cNvPr id="36" name="直接箭头连接符 35">
                <a:extLst>
                  <a:ext uri="{FF2B5EF4-FFF2-40B4-BE49-F238E27FC236}">
                    <a16:creationId xmlns:a16="http://schemas.microsoft.com/office/drawing/2014/main" id="{C01E012A-926C-42B6-AD10-189113C55F15}"/>
                  </a:ext>
                </a:extLst>
              </p:cNvPr>
              <p:cNvCxnSpPr>
                <a:stCxn id="32" idx="6"/>
                <a:endCxn id="34" idx="2"/>
              </p:cNvCxnSpPr>
              <p:nvPr/>
            </p:nvCxnSpPr>
            <p:spPr>
              <a:xfrm>
                <a:off x="738243" y="401494"/>
                <a:ext cx="516082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D8AC525E-D508-405D-AE1B-E01309721CA1}"/>
                  </a:ext>
                </a:extLst>
              </p:cNvPr>
              <p:cNvCxnSpPr>
                <a:cxnSpLocks/>
                <a:stCxn id="34" idx="4"/>
                <a:endCxn id="35" idx="0"/>
              </p:cNvCxnSpPr>
              <p:nvPr/>
            </p:nvCxnSpPr>
            <p:spPr>
              <a:xfrm>
                <a:off x="1436166" y="583335"/>
                <a:ext cx="0" cy="4550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8" name="直接箭头连接符 37">
                <a:extLst>
                  <a:ext uri="{FF2B5EF4-FFF2-40B4-BE49-F238E27FC236}">
                    <a16:creationId xmlns:a16="http://schemas.microsoft.com/office/drawing/2014/main" id="{5CE71B19-E1AC-458B-8678-6B2526F7990C}"/>
                  </a:ext>
                </a:extLst>
              </p:cNvPr>
              <p:cNvCxnSpPr>
                <a:cxnSpLocks/>
                <a:stCxn id="32" idx="4"/>
                <a:endCxn id="33" idx="0"/>
              </p:cNvCxnSpPr>
              <p:nvPr/>
            </p:nvCxnSpPr>
            <p:spPr>
              <a:xfrm>
                <a:off x="556402" y="583335"/>
                <a:ext cx="0" cy="45505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D27E07D1-663E-4382-B13F-0D55BF7076B0}"/>
                  </a:ext>
                </a:extLst>
              </p:cNvPr>
              <p:cNvCxnSpPr>
                <a:cxnSpLocks/>
                <a:stCxn id="32" idx="5"/>
                <a:endCxn id="35" idx="1"/>
              </p:cNvCxnSpPr>
              <p:nvPr/>
            </p:nvCxnSpPr>
            <p:spPr>
              <a:xfrm>
                <a:off x="684983" y="530075"/>
                <a:ext cx="622602" cy="56157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D68CA88C-AD17-4855-B311-0B1557315461}"/>
                </a:ext>
              </a:extLst>
            </p:cNvPr>
            <p:cNvSpPr/>
            <p:nvPr/>
          </p:nvSpPr>
          <p:spPr>
            <a:xfrm>
              <a:off x="6228362" y="4895438"/>
              <a:ext cx="601190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/>
              <a:r>
                <a:rPr lang="en-US" dirty="0"/>
                <a:t>DAG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265775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D5C750-C64D-4E5B-9114-724F759B6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DAG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9FA78B3-063D-44C4-B225-2011771E80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90688"/>
            <a:ext cx="7886700" cy="4802185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400" dirty="0"/>
              <a:t>DAGs are good for modeling relations such as: </a:t>
            </a:r>
            <a:br>
              <a:rPr lang="en-US" sz="2400" dirty="0"/>
            </a:br>
            <a:r>
              <a:rPr lang="en-US" sz="2400" i="1" dirty="0"/>
              <a:t>causalities</a:t>
            </a:r>
            <a:r>
              <a:rPr lang="en-US" sz="2400" dirty="0"/>
              <a:t>, </a:t>
            </a:r>
            <a:r>
              <a:rPr lang="en-US" sz="2400" i="1" dirty="0"/>
              <a:t>hierarchies</a:t>
            </a:r>
            <a:r>
              <a:rPr lang="en-US" sz="2400" dirty="0"/>
              <a:t>, and </a:t>
            </a:r>
            <a:r>
              <a:rPr lang="en-US" sz="2400" i="1" dirty="0"/>
              <a:t>temporal dependencies</a:t>
            </a:r>
            <a:r>
              <a:rPr lang="en-US" sz="24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400" b="1" dirty="0"/>
              <a:t>Example: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Consider how you get dressed in the morning.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Must don certain garments before others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(e.g., socks before shoes)</a:t>
            </a:r>
            <a:r>
              <a:rPr lang="en-US" sz="2000" dirty="0"/>
              <a:t>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Other items may be put on in any order </a:t>
            </a: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(e.g., socks and pants)</a:t>
            </a:r>
            <a:r>
              <a:rPr lang="en-US" sz="2000" dirty="0"/>
              <a:t>.</a:t>
            </a:r>
          </a:p>
          <a:p>
            <a:pPr lvl="1">
              <a:spcBef>
                <a:spcPts val="0"/>
              </a:spcBef>
            </a:pPr>
            <a:r>
              <a:rPr lang="en-US" sz="2000" dirty="0"/>
              <a:t>This process can be modeled by a DAG!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6DDAAAE0-3D02-4893-A69B-B7D7E975342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64" t="2590" r="1954" b="2084"/>
          <a:stretch/>
        </p:blipFill>
        <p:spPr>
          <a:xfrm>
            <a:off x="4246179" y="4094633"/>
            <a:ext cx="4269170" cy="23982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F5F93AF5-BB2C-4374-87DB-48E9F2AD69D3}"/>
              </a:ext>
            </a:extLst>
          </p:cNvPr>
          <p:cNvSpPr txBox="1"/>
          <p:nvPr/>
        </p:nvSpPr>
        <p:spPr>
          <a:xfrm>
            <a:off x="628649" y="4462756"/>
            <a:ext cx="33127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What is a valid order to perform all the task?</a:t>
            </a:r>
          </a:p>
        </p:txBody>
      </p:sp>
    </p:spTree>
    <p:extLst>
      <p:ext uri="{BB962C8B-B14F-4D97-AF65-F5344CB8AC3E}">
        <p14:creationId xmlns:p14="http://schemas.microsoft.com/office/powerpoint/2010/main" val="31046102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834E22-56D9-436C-8001-E90F1BAF0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426BF5-B04D-42FB-BCD3-22CB2A64195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topological sort</a:t>
                </a:r>
                <a:r>
                  <a:rPr lang="en-US" sz="2400" dirty="0"/>
                  <a:t> of a DAG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is a </a:t>
                </a:r>
                <a:r>
                  <a:rPr lang="en-US" sz="2400" dirty="0">
                    <a:solidFill>
                      <a:srgbClr val="C00000"/>
                    </a:solidFill>
                  </a:rPr>
                  <a:t>linear ordering of its vertices</a:t>
                </a:r>
                <a:r>
                  <a:rPr lang="en-US" sz="2400" dirty="0"/>
                  <a:t> such that if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400" dirty="0"/>
                  <a:t> contains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400" dirty="0"/>
                  <a:t> then </a:t>
                </a:r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400" dirty="0"/>
                  <a:t> appears before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400" dirty="0"/>
                  <a:t> in the ordering.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400" dirty="0"/>
                  <a:t> defines a </a:t>
                </a:r>
                <a:r>
                  <a:rPr lang="en-US" sz="2400" i="1" dirty="0"/>
                  <a:t>partial order</a:t>
                </a:r>
                <a:r>
                  <a:rPr lang="en-US" sz="2400" dirty="0"/>
                  <a:t> over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400" dirty="0"/>
                  <a:t>, 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topological sort </a:t>
                </a:r>
                <a:r>
                  <a:rPr lang="en-US" sz="2400" dirty="0"/>
                  <a:t>gives a </a:t>
                </a:r>
                <a:r>
                  <a:rPr lang="en-US" sz="2400" i="1" dirty="0"/>
                  <a:t>total order</a:t>
                </a:r>
                <a:r>
                  <a:rPr lang="en-US" sz="2400" dirty="0"/>
                  <a:t> over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400" dirty="0"/>
                  <a:t> satisfying 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400" dirty="0"/>
                  <a:t>.</a:t>
                </a:r>
              </a:p>
              <a:p>
                <a:pPr>
                  <a:spcBef>
                    <a:spcPts val="2400"/>
                  </a:spcBef>
                </a:pPr>
                <a:r>
                  <a:rPr lang="en-US" sz="2000" dirty="0"/>
                  <a:t>Topological sort is impossible if the graph contains a cycle.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A given graph may have multiple different valid topological ordering.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81426BF5-B04D-42FB-BCD3-22CB2A64195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7886700" cy="4802185"/>
              </a:xfrm>
              <a:blipFill>
                <a:blip r:embed="rId2"/>
                <a:stretch>
                  <a:fillRect l="-1005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F77A5217-8B98-404D-B227-BD1A503877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69" y="5929875"/>
            <a:ext cx="5507422" cy="5629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67B5BBC4-8DF6-477D-99D0-51FB591C625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287" t="2590" r="1953" b="2084"/>
          <a:stretch/>
        </p:blipFill>
        <p:spPr>
          <a:xfrm>
            <a:off x="5931745" y="4824248"/>
            <a:ext cx="2938986" cy="166862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矩形 5">
            <a:extLst>
              <a:ext uri="{FF2B5EF4-FFF2-40B4-BE49-F238E27FC236}">
                <a16:creationId xmlns:a16="http://schemas.microsoft.com/office/drawing/2014/main" id="{63FC2084-1FEC-427F-8FD0-58B14ED4534E}"/>
              </a:ext>
            </a:extLst>
          </p:cNvPr>
          <p:cNvSpPr/>
          <p:nvPr/>
        </p:nvSpPr>
        <p:spPr>
          <a:xfrm>
            <a:off x="273269" y="5167312"/>
            <a:ext cx="527093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accent2">
                    <a:lumMod val="50000"/>
                  </a:schemeClr>
                </a:solidFill>
              </a:rPr>
              <a:t>A topological ordering arranges the vertices along a horizontal line so that all edges go “from left to right”.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D1C9788-8700-453B-9BBD-5D881D4EE602}"/>
              </a:ext>
            </a:extLst>
          </p:cNvPr>
          <p:cNvSpPr txBox="1"/>
          <p:nvPr/>
        </p:nvSpPr>
        <p:spPr>
          <a:xfrm>
            <a:off x="273269" y="4593415"/>
            <a:ext cx="5507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C00000"/>
                </a:solidFill>
              </a:rPr>
              <a:t>How to generate a topological ordering?</a:t>
            </a:r>
          </a:p>
        </p:txBody>
      </p:sp>
    </p:spTree>
    <p:extLst>
      <p:ext uri="{BB962C8B-B14F-4D97-AF65-F5344CB8AC3E}">
        <p14:creationId xmlns:p14="http://schemas.microsoft.com/office/powerpoint/2010/main" val="282405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1AF0E-A79B-40E0-8102-B96B5C68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topological sort</a:t>
                </a:r>
                <a:r>
                  <a:rPr lang="en-US" sz="2000" dirty="0"/>
                  <a:t> of a DAG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linear ordering of its vertices such </a:t>
                </a:r>
                <a:r>
                  <a:rPr lang="en-US" sz="2000" dirty="0"/>
                  <a:t>that:</a:t>
                </a:r>
                <a:br>
                  <a:rPr lang="en-US" sz="2000" dirty="0"/>
                </a:b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contains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appears before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in the 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Directed graphs containing cycles have no topological ordering.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000" dirty="0"/>
                  <a:t>: Does every DAG has a topological ordering?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000" dirty="0"/>
                  <a:t>: How to tell if a directed graph is acyclic? If acyclic, how to do topo-sort?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1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Directed graph </a:t>
                </a:r>
                <a14:m>
                  <m:oMath xmlns:m="http://schemas.openxmlformats.org/officeDocument/2006/math">
                    <m:r>
                      <a:rPr lang="en-US" sz="2000" i="1" u="sng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 is acyclic </a:t>
                </a:r>
                <a:r>
                  <a:rPr lang="en-US" sz="2000" u="sng" dirty="0" err="1">
                    <a:solidFill>
                      <a:schemeClr val="accent6">
                        <a:lumMod val="50000"/>
                      </a:schemeClr>
                    </a:solidFill>
                  </a:rPr>
                  <a:t>iff</a:t>
                </a:r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 a DFS of </a:t>
                </a:r>
                <a14:m>
                  <m:oMath xmlns:m="http://schemas.openxmlformats.org/officeDocument/2006/math">
                    <m:r>
                      <a:rPr lang="en-US" sz="2000" i="1" u="sng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 yields no back edges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 of [==&gt;]: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For the sake of contradiction, assume DFS yields back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So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ancestor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in DFS forest, meaning a path from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to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But together with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this creates a cycle. Contradiction!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>
            <a:extLst>
              <a:ext uri="{FF2B5EF4-FFF2-40B4-BE49-F238E27FC236}">
                <a16:creationId xmlns:a16="http://schemas.microsoft.com/office/drawing/2014/main" id="{994CEBED-05FA-4F02-BC6B-DED9EC2E9820}"/>
              </a:ext>
            </a:extLst>
          </p:cNvPr>
          <p:cNvGrpSpPr/>
          <p:nvPr/>
        </p:nvGrpSpPr>
        <p:grpSpPr>
          <a:xfrm>
            <a:off x="2891706" y="5167312"/>
            <a:ext cx="3360587" cy="461665"/>
            <a:chOff x="2891706" y="5167312"/>
            <a:chExt cx="3360587" cy="4616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09227016-CF2B-470F-AE46-26C239CF1D42}"/>
                    </a:ext>
                  </a:extLst>
                </p:cNvPr>
                <p:cNvSpPr/>
                <p:nvPr/>
              </p:nvSpPr>
              <p:spPr>
                <a:xfrm>
                  <a:off x="3407788" y="5265295"/>
                  <a:ext cx="363682" cy="36368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7" name="椭圆 6">
                  <a:extLst>
                    <a:ext uri="{FF2B5EF4-FFF2-40B4-BE49-F238E27FC236}">
                      <a16:creationId xmlns:a16="http://schemas.microsoft.com/office/drawing/2014/main" id="{09227016-CF2B-470F-AE46-26C239CF1D4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07788" y="5265295"/>
                  <a:ext cx="363682" cy="36368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1C0F26EE-8918-43F2-9122-E22CA1722F02}"/>
                    </a:ext>
                  </a:extLst>
                </p:cNvPr>
                <p:cNvSpPr/>
                <p:nvPr/>
              </p:nvSpPr>
              <p:spPr>
                <a:xfrm>
                  <a:off x="4287552" y="5265295"/>
                  <a:ext cx="363682" cy="36368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dirty="0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8" name="椭圆 7">
                  <a:extLst>
                    <a:ext uri="{FF2B5EF4-FFF2-40B4-BE49-F238E27FC236}">
                      <a16:creationId xmlns:a16="http://schemas.microsoft.com/office/drawing/2014/main" id="{1C0F26EE-8918-43F2-9122-E22CA1722F02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87552" y="5265295"/>
                  <a:ext cx="363682" cy="36368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9" name="直接箭头连接符 8">
              <a:extLst>
                <a:ext uri="{FF2B5EF4-FFF2-40B4-BE49-F238E27FC236}">
                  <a16:creationId xmlns:a16="http://schemas.microsoft.com/office/drawing/2014/main" id="{3F789AFC-730A-4052-A30F-56E40685DE35}"/>
                </a:ext>
              </a:extLst>
            </p:cNvPr>
            <p:cNvCxnSpPr>
              <a:stCxn id="5" idx="6"/>
              <a:endCxn id="7" idx="2"/>
            </p:cNvCxnSpPr>
            <p:nvPr/>
          </p:nvCxnSpPr>
          <p:spPr>
            <a:xfrm>
              <a:off x="2891706" y="5447136"/>
              <a:ext cx="5160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箭头连接符 9">
              <a:extLst>
                <a:ext uri="{FF2B5EF4-FFF2-40B4-BE49-F238E27FC236}">
                  <a16:creationId xmlns:a16="http://schemas.microsoft.com/office/drawing/2014/main" id="{56BB6B00-E29D-479C-9DBC-064BE6921BCA}"/>
                </a:ext>
              </a:extLst>
            </p:cNvPr>
            <p:cNvCxnSpPr>
              <a:cxnSpLocks/>
              <a:stCxn id="7" idx="6"/>
              <a:endCxn id="8" idx="2"/>
            </p:cNvCxnSpPr>
            <p:nvPr/>
          </p:nvCxnSpPr>
          <p:spPr>
            <a:xfrm>
              <a:off x="3771470" y="5447136"/>
              <a:ext cx="5160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直接箭头连接符 10">
              <a:extLst>
                <a:ext uri="{FF2B5EF4-FFF2-40B4-BE49-F238E27FC236}">
                  <a16:creationId xmlns:a16="http://schemas.microsoft.com/office/drawing/2014/main" id="{F7D7DED5-8C39-44D6-9446-7409B4665FA0}"/>
                </a:ext>
              </a:extLst>
            </p:cNvPr>
            <p:cNvCxnSpPr>
              <a:cxnSpLocks/>
              <a:stCxn id="8" idx="6"/>
            </p:cNvCxnSpPr>
            <p:nvPr/>
          </p:nvCxnSpPr>
          <p:spPr>
            <a:xfrm>
              <a:off x="4651234" y="5447136"/>
              <a:ext cx="516082" cy="147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直接箭头连接符 11">
              <a:extLst>
                <a:ext uri="{FF2B5EF4-FFF2-40B4-BE49-F238E27FC236}">
                  <a16:creationId xmlns:a16="http://schemas.microsoft.com/office/drawing/2014/main" id="{5D05CB3F-AD73-4A14-AC15-F7569A4871EE}"/>
                </a:ext>
              </a:extLst>
            </p:cNvPr>
            <p:cNvCxnSpPr>
              <a:cxnSpLocks/>
              <a:endCxn id="6" idx="2"/>
            </p:cNvCxnSpPr>
            <p:nvPr/>
          </p:nvCxnSpPr>
          <p:spPr>
            <a:xfrm>
              <a:off x="5782100" y="5452074"/>
              <a:ext cx="470193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F090B0A9-8306-498D-856A-7C30B8A3F88C}"/>
                </a:ext>
              </a:extLst>
            </p:cNvPr>
            <p:cNvSpPr txBox="1"/>
            <p:nvPr/>
          </p:nvSpPr>
          <p:spPr>
            <a:xfrm>
              <a:off x="5162764" y="5167312"/>
              <a:ext cx="6238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……</a:t>
              </a:r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587E0C45-B484-43E1-BA6A-14E4C060D4EB}"/>
              </a:ext>
            </a:extLst>
          </p:cNvPr>
          <p:cNvGrpSpPr/>
          <p:nvPr/>
        </p:nvGrpSpPr>
        <p:grpSpPr>
          <a:xfrm>
            <a:off x="2528024" y="5265295"/>
            <a:ext cx="4087951" cy="368621"/>
            <a:chOff x="2528024" y="5265295"/>
            <a:chExt cx="4087951" cy="368621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4AD229A7-25DD-4714-93D5-E56EC6340111}"/>
                    </a:ext>
                  </a:extLst>
                </p:cNvPr>
                <p:cNvSpPr/>
                <p:nvPr/>
              </p:nvSpPr>
              <p:spPr>
                <a:xfrm>
                  <a:off x="2528024" y="5265295"/>
                  <a:ext cx="363682" cy="36368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5" name="椭圆 4">
                  <a:extLst>
                    <a:ext uri="{FF2B5EF4-FFF2-40B4-BE49-F238E27FC236}">
                      <a16:creationId xmlns:a16="http://schemas.microsoft.com/office/drawing/2014/main" id="{4AD229A7-25DD-4714-93D5-E56EC634011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28024" y="5265295"/>
                  <a:ext cx="363682" cy="36368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21D43D78-4C97-4A80-976D-35481F4995B5}"/>
                    </a:ext>
                  </a:extLst>
                </p:cNvPr>
                <p:cNvSpPr/>
                <p:nvPr/>
              </p:nvSpPr>
              <p:spPr>
                <a:xfrm>
                  <a:off x="6252293" y="5270233"/>
                  <a:ext cx="363682" cy="36368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6" name="椭圆 5">
                  <a:extLst>
                    <a:ext uri="{FF2B5EF4-FFF2-40B4-BE49-F238E27FC236}">
                      <a16:creationId xmlns:a16="http://schemas.microsoft.com/office/drawing/2014/main" id="{21D43D78-4C97-4A80-976D-35481F4995B5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2293" y="5270233"/>
                  <a:ext cx="363682" cy="363682"/>
                </a:xfrm>
                <a:prstGeom prst="ellipse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6" name="连接符: 曲线 15">
              <a:extLst>
                <a:ext uri="{FF2B5EF4-FFF2-40B4-BE49-F238E27FC236}">
                  <a16:creationId xmlns:a16="http://schemas.microsoft.com/office/drawing/2014/main" id="{3053E9CE-CC1C-4884-8B47-1B20583F69E1}"/>
                </a:ext>
              </a:extLst>
            </p:cNvPr>
            <p:cNvCxnSpPr>
              <a:stCxn id="6" idx="4"/>
              <a:endCxn id="5" idx="4"/>
            </p:cNvCxnSpPr>
            <p:nvPr/>
          </p:nvCxnSpPr>
          <p:spPr>
            <a:xfrm rot="5400000" flipH="1">
              <a:off x="4569531" y="3769312"/>
              <a:ext cx="4938" cy="3724269"/>
            </a:xfrm>
            <a:prstGeom prst="curvedConnector3">
              <a:avLst>
                <a:gd name="adj1" fmla="val -4629405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7117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1AF0E-A79B-40E0-8102-B96B5C68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topological sort</a:t>
                </a:r>
                <a:r>
                  <a:rPr lang="en-US" sz="2000" dirty="0"/>
                  <a:t> of a DAG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linear ordering of its vertices such </a:t>
                </a:r>
                <a:r>
                  <a:rPr lang="en-US" sz="2000" dirty="0"/>
                  <a:t>that:</a:t>
                </a:r>
                <a:br>
                  <a:rPr lang="en-US" sz="2000" dirty="0"/>
                </a:b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contains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appears before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in the 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Directed graphs containing cycles have no topological ordering.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000" dirty="0"/>
                  <a:t>: Does every DAG has a topological ordering?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000" dirty="0"/>
                  <a:t>: How to tell if a directed graph is acyclic? If acyclic, how to do topo-sort?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1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Directed graph </a:t>
                </a:r>
                <a14:m>
                  <m:oMath xmlns:m="http://schemas.openxmlformats.org/officeDocument/2006/math">
                    <m:r>
                      <a:rPr lang="en-US" sz="2000" i="1" u="sng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 is acyclic </a:t>
                </a:r>
                <a:r>
                  <a:rPr lang="en-US" sz="2000" u="sng" dirty="0" err="1">
                    <a:solidFill>
                      <a:schemeClr val="accent6">
                        <a:lumMod val="50000"/>
                      </a:schemeClr>
                    </a:solidFill>
                  </a:rPr>
                  <a:t>iff</a:t>
                </a:r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 a DFS of </a:t>
                </a:r>
                <a14:m>
                  <m:oMath xmlns:m="http://schemas.openxmlformats.org/officeDocument/2006/math">
                    <m:r>
                      <a:rPr lang="en-US" sz="2000" i="1" u="sng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 yields no back edges</a:t>
                </a:r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 of [&lt;==]: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For the sake of contradiction, assume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contains a cycle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Let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be the first node to be discovered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By the White-path theorem,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is a descendant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in DFS forest.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But then when processing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becomes a back edge!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6" name="组合 55">
            <a:extLst>
              <a:ext uri="{FF2B5EF4-FFF2-40B4-BE49-F238E27FC236}">
                <a16:creationId xmlns:a16="http://schemas.microsoft.com/office/drawing/2014/main" id="{79B0FA1A-7410-4977-804B-5C00349E2C8A}"/>
              </a:ext>
            </a:extLst>
          </p:cNvPr>
          <p:cNvGrpSpPr/>
          <p:nvPr/>
        </p:nvGrpSpPr>
        <p:grpSpPr>
          <a:xfrm>
            <a:off x="6618401" y="5283589"/>
            <a:ext cx="1896949" cy="1209284"/>
            <a:chOff x="6618401" y="5261493"/>
            <a:chExt cx="1896949" cy="120928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B091DC44-2907-41B4-962D-691FB62929A0}"/>
                    </a:ext>
                  </a:extLst>
                </p:cNvPr>
                <p:cNvSpPr/>
                <p:nvPr/>
              </p:nvSpPr>
              <p:spPr>
                <a:xfrm>
                  <a:off x="8151668" y="5645430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0" name="椭圆 19">
                  <a:extLst>
                    <a:ext uri="{FF2B5EF4-FFF2-40B4-BE49-F238E27FC236}">
                      <a16:creationId xmlns:a16="http://schemas.microsoft.com/office/drawing/2014/main" id="{B091DC44-2907-41B4-962D-691FB62929A0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151668" y="5645430"/>
                  <a:ext cx="363682" cy="363682"/>
                </a:xfrm>
                <a:prstGeom prst="ellipse">
                  <a:avLst/>
                </a:prstGeom>
                <a:blipFill>
                  <a:blip r:embed="rId3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98E7827A-743E-4664-8818-A30737C7D32D}"/>
                </a:ext>
              </a:extLst>
            </p:cNvPr>
            <p:cNvCxnSpPr>
              <a:cxnSpLocks/>
              <a:stCxn id="28" idx="6"/>
              <a:endCxn id="20" idx="0"/>
            </p:cNvCxnSpPr>
            <p:nvPr/>
          </p:nvCxnSpPr>
          <p:spPr>
            <a:xfrm>
              <a:off x="7748716" y="5443334"/>
              <a:ext cx="584793" cy="202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D032CB92-1832-4906-AC98-F74304948DF2}"/>
                </a:ext>
              </a:extLst>
            </p:cNvPr>
            <p:cNvCxnSpPr>
              <a:cxnSpLocks/>
              <a:stCxn id="20" idx="4"/>
              <a:endCxn id="26" idx="3"/>
            </p:cNvCxnSpPr>
            <p:nvPr/>
          </p:nvCxnSpPr>
          <p:spPr>
            <a:xfrm flipH="1">
              <a:off x="7878820" y="6009112"/>
              <a:ext cx="454689" cy="2308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D7A455C-CF9A-4826-90C8-60BD43E01281}"/>
                </a:ext>
              </a:extLst>
            </p:cNvPr>
            <p:cNvSpPr txBox="1"/>
            <p:nvPr/>
          </p:nvSpPr>
          <p:spPr>
            <a:xfrm>
              <a:off x="7254931" y="6009112"/>
              <a:ext cx="623889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400" b="1" dirty="0"/>
                <a:t>……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32612E07-9071-4F68-BEDB-5650A88763C1}"/>
                    </a:ext>
                  </a:extLst>
                </p:cNvPr>
                <p:cNvSpPr/>
                <p:nvPr/>
              </p:nvSpPr>
              <p:spPr>
                <a:xfrm>
                  <a:off x="7385034" y="5261493"/>
                  <a:ext cx="363682" cy="363682"/>
                </a:xfrm>
                <a:prstGeom prst="ellipse">
                  <a:avLst/>
                </a:prstGeom>
                <a:solidFill>
                  <a:schemeClr val="bg1">
                    <a:lumMod val="85000"/>
                  </a:schemeClr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8" name="椭圆 27">
                  <a:extLst>
                    <a:ext uri="{FF2B5EF4-FFF2-40B4-BE49-F238E27FC236}">
                      <a16:creationId xmlns:a16="http://schemas.microsoft.com/office/drawing/2014/main" id="{32612E07-9071-4F68-BEDB-5650A88763C1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85034" y="5261493"/>
                  <a:ext cx="363682" cy="363682"/>
                </a:xfrm>
                <a:prstGeom prst="ellipse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3C0294F2-3CDD-4FD9-B190-C6C90C65D2DC}"/>
                    </a:ext>
                  </a:extLst>
                </p:cNvPr>
                <p:cNvSpPr/>
                <p:nvPr/>
              </p:nvSpPr>
              <p:spPr>
                <a:xfrm>
                  <a:off x="6618401" y="5645430"/>
                  <a:ext cx="363682" cy="363682"/>
                </a:xfrm>
                <a:prstGeom prst="ellipse">
                  <a:avLst/>
                </a:prstGeom>
                <a:solidFill>
                  <a:schemeClr val="bg1"/>
                </a:solidFill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72000"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b="0" i="1" dirty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oMath>
                    </m:oMathPara>
                  </a14:m>
                  <a:endParaRPr lang="en-US" dirty="0">
                    <a:solidFill>
                      <a:schemeClr val="tx1"/>
                    </a:solidFill>
                  </a:endParaRPr>
                </a:p>
              </p:txBody>
            </p:sp>
          </mc:Choice>
          <mc:Fallback xmlns="">
            <p:sp>
              <p:nvSpPr>
                <p:cNvPr id="29" name="椭圆 28">
                  <a:extLst>
                    <a:ext uri="{FF2B5EF4-FFF2-40B4-BE49-F238E27FC236}">
                      <a16:creationId xmlns:a16="http://schemas.microsoft.com/office/drawing/2014/main" id="{3C0294F2-3CDD-4FD9-B190-C6C90C65D2DC}"/>
                    </a:ext>
                  </a:extLst>
                </p:cNvPr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618401" y="5645430"/>
                  <a:ext cx="363682" cy="363682"/>
                </a:xfrm>
                <a:prstGeom prst="ellipse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>
                  <a:solidFill>
                    <a:schemeClr val="tx1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35" name="直接箭头连接符 34">
              <a:extLst>
                <a:ext uri="{FF2B5EF4-FFF2-40B4-BE49-F238E27FC236}">
                  <a16:creationId xmlns:a16="http://schemas.microsoft.com/office/drawing/2014/main" id="{086E61E8-4645-43D5-82AC-A1D9C8B67F22}"/>
                </a:ext>
              </a:extLst>
            </p:cNvPr>
            <p:cNvCxnSpPr>
              <a:cxnSpLocks/>
              <a:stCxn id="26" idx="1"/>
              <a:endCxn id="29" idx="4"/>
            </p:cNvCxnSpPr>
            <p:nvPr/>
          </p:nvCxnSpPr>
          <p:spPr>
            <a:xfrm flipH="1" flipV="1">
              <a:off x="6800242" y="6009112"/>
              <a:ext cx="454689" cy="23083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直接箭头连接符 37">
              <a:extLst>
                <a:ext uri="{FF2B5EF4-FFF2-40B4-BE49-F238E27FC236}">
                  <a16:creationId xmlns:a16="http://schemas.microsoft.com/office/drawing/2014/main" id="{A559DE51-B045-43F7-B072-3F4665B990D0}"/>
                </a:ext>
              </a:extLst>
            </p:cNvPr>
            <p:cNvCxnSpPr>
              <a:cxnSpLocks/>
              <a:stCxn id="29" idx="0"/>
              <a:endCxn id="28" idx="2"/>
            </p:cNvCxnSpPr>
            <p:nvPr/>
          </p:nvCxnSpPr>
          <p:spPr>
            <a:xfrm flipV="1">
              <a:off x="6800242" y="5443334"/>
              <a:ext cx="584792" cy="20209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57742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1AF0E-A79B-40E0-8102-B96B5C68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topological sort</a:t>
                </a:r>
                <a:r>
                  <a:rPr lang="en-US" sz="2000" dirty="0"/>
                  <a:t> of a DAG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linear ordering of its vertices such </a:t>
                </a:r>
                <a:r>
                  <a:rPr lang="en-US" sz="2000" dirty="0"/>
                  <a:t>that:</a:t>
                </a:r>
                <a:br>
                  <a:rPr lang="en-US" sz="2000" dirty="0"/>
                </a:b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contains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appears before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in the 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Directed graphs containing cycles have no topological ordering.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000" dirty="0"/>
                  <a:t>: Does every DAG has a topological ordering?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000" dirty="0"/>
                  <a:t>: How to tell if a directed graph is acyclic? If acyclic, how to do topo-sort?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1</a:t>
                </a:r>
                <a:r>
                  <a:rPr lang="en-US" sz="2000" b="1" dirty="0"/>
                  <a:t>:</a:t>
                </a:r>
                <a:r>
                  <a:rPr lang="en-US" sz="2000" dirty="0"/>
                  <a:t> Directed graph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is acyclic </a:t>
                </a:r>
                <a:r>
                  <a:rPr lang="en-US" sz="2000" u="sng" dirty="0" err="1"/>
                  <a:t>iff</a:t>
                </a:r>
                <a:r>
                  <a:rPr lang="en-US" sz="2000" dirty="0"/>
                  <a:t> a DFS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yields no back edges.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2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If we do a DFS in DAG </a:t>
                </a:r>
                <a14:m>
                  <m:oMath xmlns:m="http://schemas.openxmlformats.org/officeDocument/2006/math">
                    <m:r>
                      <a:rPr lang="en-US" sz="2000" i="1" u="sng" dirty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b="0" i="1" u="sng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u="sng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u="sng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u="sng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u="sng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u="sng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u="sng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 for every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u="sng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u="sng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u="sng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u="sng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u="sng" dirty="0">
                    <a:solidFill>
                      <a:schemeClr val="accent6">
                        <a:lumMod val="50000"/>
                      </a:schemeClr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i="1" u="sng" dirty="0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Proof: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When exploring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,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cannot be GRAY. </a:t>
                </a: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(Otherwise we have a back edge.)</a:t>
                </a:r>
                <a:endParaRPr lang="en-US" sz="20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WHITE, </a:t>
                </a:r>
                <a:r>
                  <a:rPr lang="en-US" sz="2000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becomes a descendant of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</a:t>
                </a:r>
                <a:r>
                  <a:rPr lang="en-US" sz="2000" dirty="0"/>
                  <a:t>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is BLACK, then trivially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269" r="-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990058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1AF0E-A79B-40E0-8102-B96B5C68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topological sort</a:t>
                </a:r>
                <a:r>
                  <a:rPr lang="en-US" sz="2000" dirty="0"/>
                  <a:t> of a DAG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linear ordering of its vertices such </a:t>
                </a:r>
                <a:r>
                  <a:rPr lang="en-US" sz="2000" dirty="0"/>
                  <a:t>that:</a:t>
                </a:r>
                <a:br>
                  <a:rPr lang="en-US" sz="2000" dirty="0"/>
                </a:b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contains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appears before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in the 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Directed graphs containing cycles have no topological ordering.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000" dirty="0"/>
                  <a:t>: Does every DAG has a topological ordering?</a:t>
                </a:r>
                <a:br>
                  <a:rPr lang="en-US" sz="2000" dirty="0"/>
                </a:br>
                <a:r>
                  <a:rPr lang="en-US" sz="20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000" dirty="0"/>
                  <a:t>: How to tell if a directed graph is acyclic? If acyclic, how to do topo-sort?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1</a:t>
                </a:r>
                <a:r>
                  <a:rPr lang="en-US" sz="2000" b="1" dirty="0"/>
                  <a:t>:</a:t>
                </a:r>
                <a:r>
                  <a:rPr lang="en-US" sz="2000" dirty="0"/>
                  <a:t> Directed graph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is acyclic </a:t>
                </a:r>
                <a:r>
                  <a:rPr lang="en-US" sz="2000" u="sng" dirty="0" err="1"/>
                  <a:t>iff</a:t>
                </a:r>
                <a:r>
                  <a:rPr lang="en-US" sz="2000" dirty="0"/>
                  <a:t> a DFS of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yields no back edges.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 2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  <a:r>
                  <a:rPr lang="en-US" sz="2000" dirty="0">
                    <a:solidFill>
                      <a:schemeClr val="tx1"/>
                    </a:solidFill>
                  </a:rPr>
                  <a:t>If we do a DFS in DAG </a:t>
                </a:r>
                <a14:m>
                  <m:oMath xmlns:m="http://schemas.openxmlformats.org/officeDocument/2006/math">
                    <m:r>
                      <a:rPr lang="en-US" sz="2000" i="1" dirty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, then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sz="20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for every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Topo-Sort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b="1" dirty="0"/>
                  <a:t>:</a:t>
                </a:r>
                <a:br>
                  <a:rPr lang="en-US" sz="2000" b="1" dirty="0"/>
                </a:br>
                <a:r>
                  <a:rPr lang="en-US" sz="2000" dirty="0"/>
                  <a:t>(</a:t>
                </a:r>
                <a:r>
                  <a:rPr lang="en-US" sz="2000" b="1" dirty="0"/>
                  <a:t>a</a:t>
                </a:r>
                <a:r>
                  <a:rPr lang="en-US" sz="2000" dirty="0"/>
                  <a:t>) Do DFS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, compute finish times for each node along the way.</a:t>
                </a:r>
                <a:br>
                  <a:rPr lang="en-US" sz="2000" dirty="0"/>
                </a:br>
                <a:r>
                  <a:rPr lang="en-US" sz="2000" dirty="0"/>
                  <a:t>(</a:t>
                </a:r>
                <a:r>
                  <a:rPr lang="en-US" sz="2000" b="1" dirty="0"/>
                  <a:t>b</a:t>
                </a:r>
                <a:r>
                  <a:rPr lang="en-US" sz="2000" dirty="0"/>
                  <a:t>) When a node finishes, insert it to the </a:t>
                </a:r>
                <a:r>
                  <a:rPr lang="en-US" sz="2000" i="1" dirty="0"/>
                  <a:t>head</a:t>
                </a:r>
                <a:r>
                  <a:rPr lang="en-US" sz="2000" dirty="0"/>
                  <a:t> of a list.</a:t>
                </a:r>
                <a:br>
                  <a:rPr lang="en-US" sz="2000" dirty="0"/>
                </a:br>
                <a:r>
                  <a:rPr lang="en-US" sz="2000" dirty="0"/>
                  <a:t>(</a:t>
                </a:r>
                <a:r>
                  <a:rPr lang="en-US" sz="2000" b="1" dirty="0"/>
                  <a:t>c</a:t>
                </a:r>
                <a:r>
                  <a:rPr lang="en-US" sz="2000" dirty="0"/>
                  <a:t>) If no back edge is found, then the list eventually gives a topo-ordering.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Thm</a:t>
                </a:r>
                <a:r>
                  <a:rPr lang="en-US" sz="2000" b="1" dirty="0"/>
                  <a:t>:</a:t>
                </a:r>
                <a:r>
                  <a:rPr lang="en-US" sz="2000" dirty="0"/>
                  <a:t> Every DAG has a topological 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Thm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Descreasing</a:t>
                </a:r>
                <a:r>
                  <a:rPr lang="en-US" sz="2000" dirty="0"/>
                  <a:t> order of finish times of DFS on DAG gives a topo-ordering.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269" r="-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: 圆角 3">
            <a:extLst>
              <a:ext uri="{FF2B5EF4-FFF2-40B4-BE49-F238E27FC236}">
                <a16:creationId xmlns:a16="http://schemas.microsoft.com/office/drawing/2014/main" id="{5A671117-58F5-432F-9EFA-B3D17FF1F43A}"/>
              </a:ext>
            </a:extLst>
          </p:cNvPr>
          <p:cNvSpPr/>
          <p:nvPr/>
        </p:nvSpPr>
        <p:spPr>
          <a:xfrm>
            <a:off x="865042" y="2605424"/>
            <a:ext cx="7795481" cy="600231"/>
          </a:xfrm>
          <a:prstGeom prst="roundRect">
            <a:avLst>
              <a:gd name="adj" fmla="val 7555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1FB1B454-61A1-4AFA-8FDB-09B7BAF88035}"/>
              </a:ext>
            </a:extLst>
          </p:cNvPr>
          <p:cNvSpPr/>
          <p:nvPr/>
        </p:nvSpPr>
        <p:spPr>
          <a:xfrm>
            <a:off x="865042" y="3562201"/>
            <a:ext cx="8173855" cy="358158"/>
          </a:xfrm>
          <a:prstGeom prst="roundRect">
            <a:avLst>
              <a:gd name="adj" fmla="val 7555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5E793EB9-934B-4F78-9D8F-947CEFBD13C9}"/>
              </a:ext>
            </a:extLst>
          </p:cNvPr>
          <p:cNvSpPr/>
          <p:nvPr/>
        </p:nvSpPr>
        <p:spPr>
          <a:xfrm>
            <a:off x="865043" y="1689882"/>
            <a:ext cx="7650308" cy="600231"/>
          </a:xfrm>
          <a:prstGeom prst="roundRect">
            <a:avLst>
              <a:gd name="adj" fmla="val 7555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AFC1A6A-6EFE-4D8E-8AE7-2BF9095C17B1}"/>
                  </a:ext>
                </a:extLst>
              </p:cNvPr>
              <p:cNvSpPr txBox="1"/>
              <p:nvPr/>
            </p:nvSpPr>
            <p:spPr>
              <a:xfrm>
                <a:off x="2659117" y="3876795"/>
                <a:ext cx="3306546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2000" dirty="0">
                    <a:solidFill>
                      <a:srgbClr val="C00000"/>
                    </a:solidFill>
                  </a:rPr>
                  <a:t>Time complexity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0AFC1A6A-6EFE-4D8E-8AE7-2BF9095C17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117" y="3876795"/>
                <a:ext cx="3306546" cy="400110"/>
              </a:xfrm>
              <a:prstGeom prst="rect">
                <a:avLst/>
              </a:prstGeom>
              <a:blipFill>
                <a:blip r:embed="rId3"/>
                <a:stretch>
                  <a:fillRect l="-1842" t="-9091" r="-1105" b="-257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0448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01AF0E-A79B-40E0-8102-B96B5C68E8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Topological 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/>
                  <a:t>A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topological sort</a:t>
                </a:r>
                <a:r>
                  <a:rPr lang="en-US" sz="2000" dirty="0"/>
                  <a:t> of a DAG </a:t>
                </a:r>
                <a14:m>
                  <m:oMath xmlns:m="http://schemas.openxmlformats.org/officeDocument/2006/math">
                    <m:r>
                      <a:rPr lang="en-US" sz="200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tx1"/>
                    </a:solidFill>
                  </a:rPr>
                  <a:t> is a linear ordering of its vertices such </a:t>
                </a:r>
                <a:r>
                  <a:rPr lang="en-US" sz="2000" dirty="0"/>
                  <a:t>that:</a:t>
                </a:r>
                <a:br>
                  <a:rPr lang="en-US" sz="2000" dirty="0"/>
                </a:br>
                <a:r>
                  <a:rPr lang="en-US" sz="2000" dirty="0"/>
                  <a:t>if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contains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</m:oMath>
                </a14:m>
                <a:r>
                  <a:rPr lang="en-US" sz="2000" dirty="0"/>
                  <a:t> then </a:t>
                </a:r>
                <a14:m>
                  <m:oMath xmlns:m="http://schemas.openxmlformats.org/officeDocument/2006/math">
                    <m:r>
                      <a:rPr lang="en-US" sz="20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/>
                  <a:t> appears before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000" dirty="0"/>
                  <a:t> in the 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Thm</a:t>
                </a:r>
                <a:r>
                  <a:rPr lang="en-US" sz="2000" b="1" dirty="0"/>
                  <a:t>:</a:t>
                </a:r>
                <a:r>
                  <a:rPr lang="en-US" sz="2000" dirty="0"/>
                  <a:t> Every DAG has a topological 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 err="1">
                    <a:solidFill>
                      <a:schemeClr val="accent6">
                        <a:lumMod val="75000"/>
                      </a:schemeClr>
                    </a:solidFill>
                  </a:rPr>
                  <a:t>Thm</a:t>
                </a:r>
                <a:r>
                  <a:rPr lang="en-US" sz="2000" b="1" dirty="0"/>
                  <a:t>:</a:t>
                </a:r>
                <a:r>
                  <a:rPr lang="en-US" sz="2000" dirty="0"/>
                  <a:t> </a:t>
                </a:r>
                <a:r>
                  <a:rPr lang="en-US" sz="2000" dirty="0" err="1"/>
                  <a:t>Descreasing</a:t>
                </a:r>
                <a:r>
                  <a:rPr lang="en-US" sz="2000" dirty="0"/>
                  <a:t> order of finish times of DFS on DAG gives a topo-ordering.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Topo-Sort of </a:t>
                </a:r>
                <a14:m>
                  <m:oMath xmlns:m="http://schemas.openxmlformats.org/officeDocument/2006/math">
                    <m:r>
                      <a:rPr lang="en-US" sz="2000" b="1" i="1" dirty="0" smtClean="0">
                        <a:latin typeface="Cambria Math" panose="02040503050406030204" pitchFamily="18" charset="0"/>
                      </a:rPr>
                      <m:t>𝑮</m:t>
                    </m:r>
                  </m:oMath>
                </a14:m>
                <a:r>
                  <a:rPr lang="en-US" sz="2000" b="1" dirty="0"/>
                  <a:t>:</a:t>
                </a:r>
                <a:br>
                  <a:rPr lang="en-US" sz="2000" b="1" dirty="0"/>
                </a:br>
                <a:r>
                  <a:rPr lang="en-US" sz="2000" dirty="0"/>
                  <a:t>(</a:t>
                </a:r>
                <a:r>
                  <a:rPr lang="en-US" sz="2000" b="1" dirty="0"/>
                  <a:t>a</a:t>
                </a:r>
                <a:r>
                  <a:rPr lang="en-US" sz="2000" dirty="0"/>
                  <a:t>) Do DFS on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, compute finish times for each node along the way.</a:t>
                </a:r>
                <a:br>
                  <a:rPr lang="en-US" sz="2000" dirty="0"/>
                </a:br>
                <a:r>
                  <a:rPr lang="en-US" sz="2000" dirty="0"/>
                  <a:t>(</a:t>
                </a:r>
                <a:r>
                  <a:rPr lang="en-US" sz="2000" b="1" dirty="0"/>
                  <a:t>b</a:t>
                </a:r>
                <a:r>
                  <a:rPr lang="en-US" sz="2000" dirty="0"/>
                  <a:t>) When a node finishes, insert it to the </a:t>
                </a:r>
                <a:r>
                  <a:rPr lang="en-US" sz="2000" i="1" dirty="0"/>
                  <a:t>head</a:t>
                </a:r>
                <a:r>
                  <a:rPr lang="en-US" sz="2000" dirty="0"/>
                  <a:t> of a list.</a:t>
                </a:r>
                <a:br>
                  <a:rPr lang="en-US" sz="2000" dirty="0"/>
                </a:br>
                <a:r>
                  <a:rPr lang="en-US" sz="2000" dirty="0"/>
                  <a:t>(</a:t>
                </a:r>
                <a:r>
                  <a:rPr lang="en-US" sz="2000" b="1" dirty="0"/>
                  <a:t>c</a:t>
                </a:r>
                <a:r>
                  <a:rPr lang="en-US" sz="2000" dirty="0"/>
                  <a:t>) If no back edge is found, then the list eventually gives a topo-ordering.</a:t>
                </a: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A59EE189-A4DA-4E30-94C1-4EF8DB7575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644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图片 6">
            <a:extLst>
              <a:ext uri="{FF2B5EF4-FFF2-40B4-BE49-F238E27FC236}">
                <a16:creationId xmlns:a16="http://schemas.microsoft.com/office/drawing/2014/main" id="{1209547D-7400-4A5E-BD33-C4FC821F094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034" t="1617" r="31839" b="38803"/>
          <a:stretch/>
        </p:blipFill>
        <p:spPr>
          <a:xfrm>
            <a:off x="178676" y="4485468"/>
            <a:ext cx="4099035" cy="2007405"/>
          </a:xfrm>
          <a:prstGeom prst="rect">
            <a:avLst/>
          </a:prstGeom>
        </p:spPr>
      </p:pic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4DF86010-7F31-4AB9-AD56-FE5C829BEF0C}"/>
              </a:ext>
            </a:extLst>
          </p:cNvPr>
          <p:cNvCxnSpPr/>
          <p:nvPr/>
        </p:nvCxnSpPr>
        <p:spPr>
          <a:xfrm flipH="1">
            <a:off x="2028496" y="5093739"/>
            <a:ext cx="199697" cy="1471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9048F924-B3F4-41B3-B3EE-AAA40403B659}"/>
              </a:ext>
            </a:extLst>
          </p:cNvPr>
          <p:cNvCxnSpPr/>
          <p:nvPr/>
        </p:nvCxnSpPr>
        <p:spPr>
          <a:xfrm flipH="1">
            <a:off x="3914446" y="4642889"/>
            <a:ext cx="199697" cy="1471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F5EAA42E-BB03-42F6-A9E5-F9A4F50280C5}"/>
              </a:ext>
            </a:extLst>
          </p:cNvPr>
          <p:cNvCxnSpPr/>
          <p:nvPr/>
        </p:nvCxnSpPr>
        <p:spPr>
          <a:xfrm flipH="1">
            <a:off x="1355396" y="4411895"/>
            <a:ext cx="199697" cy="1471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4800A343-182C-4B6C-AC98-D3108BA818C4}"/>
              </a:ext>
            </a:extLst>
          </p:cNvPr>
          <p:cNvCxnSpPr/>
          <p:nvPr/>
        </p:nvCxnSpPr>
        <p:spPr>
          <a:xfrm flipH="1">
            <a:off x="3019096" y="4411895"/>
            <a:ext cx="199697" cy="147145"/>
          </a:xfrm>
          <a:prstGeom prst="straightConnector1">
            <a:avLst/>
          </a:prstGeom>
          <a:ln w="38100"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2C476745-8AE6-4110-B704-E6C87813BD2C}"/>
              </a:ext>
            </a:extLst>
          </p:cNvPr>
          <p:cNvGrpSpPr/>
          <p:nvPr/>
        </p:nvGrpSpPr>
        <p:grpSpPr>
          <a:xfrm>
            <a:off x="2931400" y="5616737"/>
            <a:ext cx="6033924" cy="876136"/>
            <a:chOff x="2931400" y="5616737"/>
            <a:chExt cx="6033924" cy="876136"/>
          </a:xfrm>
        </p:grpSpPr>
        <p:pic>
          <p:nvPicPr>
            <p:cNvPr id="8" name="图片 7">
              <a:extLst>
                <a:ext uri="{FF2B5EF4-FFF2-40B4-BE49-F238E27FC236}">
                  <a16:creationId xmlns:a16="http://schemas.microsoft.com/office/drawing/2014/main" id="{2D15E9F4-1AC3-42B2-B932-688D58097E0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1034" t="73481" r="153" b="515"/>
            <a:stretch/>
          </p:blipFill>
          <p:spPr>
            <a:xfrm>
              <a:off x="2931400" y="5616737"/>
              <a:ext cx="6033924" cy="876136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p:sp>
          <p:nvSpPr>
            <p:cNvPr id="14" name="矩形: 圆角 13">
              <a:extLst>
                <a:ext uri="{FF2B5EF4-FFF2-40B4-BE49-F238E27FC236}">
                  <a16:creationId xmlns:a16="http://schemas.microsoft.com/office/drawing/2014/main" id="{C7B20E69-D707-4DE1-B9F8-2EE203E5B238}"/>
                </a:ext>
              </a:extLst>
            </p:cNvPr>
            <p:cNvSpPr/>
            <p:nvPr/>
          </p:nvSpPr>
          <p:spPr>
            <a:xfrm>
              <a:off x="3218793" y="6266091"/>
              <a:ext cx="1721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矩形: 圆角 14">
              <a:extLst>
                <a:ext uri="{FF2B5EF4-FFF2-40B4-BE49-F238E27FC236}">
                  <a16:creationId xmlns:a16="http://schemas.microsoft.com/office/drawing/2014/main" id="{CCD6F363-6CE3-48F4-90C3-637199A4245A}"/>
                </a:ext>
              </a:extLst>
            </p:cNvPr>
            <p:cNvSpPr/>
            <p:nvPr/>
          </p:nvSpPr>
          <p:spPr>
            <a:xfrm>
              <a:off x="4063343" y="6266090"/>
              <a:ext cx="1721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id="{CD69BCD0-F716-4661-A760-CE7B612CB695}"/>
                </a:ext>
              </a:extLst>
            </p:cNvPr>
            <p:cNvSpPr/>
            <p:nvPr/>
          </p:nvSpPr>
          <p:spPr>
            <a:xfrm>
              <a:off x="4907893" y="6266089"/>
              <a:ext cx="1721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AEE7950-206E-4122-868E-CFEFBDDF0655}"/>
                </a:ext>
              </a:extLst>
            </p:cNvPr>
            <p:cNvSpPr/>
            <p:nvPr/>
          </p:nvSpPr>
          <p:spPr>
            <a:xfrm>
              <a:off x="5585371" y="6266089"/>
              <a:ext cx="1721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12C17098-427F-44F7-A073-24CC3B120EFA}"/>
                </a:ext>
              </a:extLst>
            </p:cNvPr>
            <p:cNvSpPr/>
            <p:nvPr/>
          </p:nvSpPr>
          <p:spPr>
            <a:xfrm>
              <a:off x="6235043" y="6266088"/>
              <a:ext cx="1721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76EB199F-D6EF-4BC1-BBA0-E495DFFDB69C}"/>
                </a:ext>
              </a:extLst>
            </p:cNvPr>
            <p:cNvSpPr/>
            <p:nvPr/>
          </p:nvSpPr>
          <p:spPr>
            <a:xfrm>
              <a:off x="6898618" y="6266088"/>
              <a:ext cx="832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3A57D064-3047-4BDF-A572-39FA2E0E8F47}"/>
                </a:ext>
              </a:extLst>
            </p:cNvPr>
            <p:cNvSpPr/>
            <p:nvPr/>
          </p:nvSpPr>
          <p:spPr>
            <a:xfrm>
              <a:off x="7466943" y="6266087"/>
              <a:ext cx="832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" name="矩形: 圆角 20">
              <a:extLst>
                <a:ext uri="{FF2B5EF4-FFF2-40B4-BE49-F238E27FC236}">
                  <a16:creationId xmlns:a16="http://schemas.microsoft.com/office/drawing/2014/main" id="{2775789B-2DDA-42E5-9B69-D2EA9FCEFE76}"/>
                </a:ext>
              </a:extLst>
            </p:cNvPr>
            <p:cNvSpPr/>
            <p:nvPr/>
          </p:nvSpPr>
          <p:spPr>
            <a:xfrm>
              <a:off x="8027058" y="6266086"/>
              <a:ext cx="832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矩形: 圆角 21">
              <a:extLst>
                <a:ext uri="{FF2B5EF4-FFF2-40B4-BE49-F238E27FC236}">
                  <a16:creationId xmlns:a16="http://schemas.microsoft.com/office/drawing/2014/main" id="{F78076C2-0B91-4AAC-9149-B7CF74D99575}"/>
                </a:ext>
              </a:extLst>
            </p:cNvPr>
            <p:cNvSpPr/>
            <p:nvPr/>
          </p:nvSpPr>
          <p:spPr>
            <a:xfrm>
              <a:off x="8649686" y="6266085"/>
              <a:ext cx="83207" cy="134709"/>
            </a:xfrm>
            <a:prstGeom prst="roundRect">
              <a:avLst>
                <a:gd name="adj" fmla="val 7555"/>
              </a:avLst>
            </a:prstGeom>
            <a:solidFill>
              <a:schemeClr val="accent2">
                <a:lumMod val="75000"/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0280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781BA-D92A-4E4C-9D30-C342335E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 and Sink in DAG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2762F1-2C51-45C0-915A-C4CD8B76A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source node</a:t>
                </a:r>
                <a:r>
                  <a:rPr lang="en-US" sz="2400" dirty="0"/>
                  <a:t> is a node with </a:t>
                </a:r>
                <a:r>
                  <a:rPr lang="en-US" sz="2400" dirty="0">
                    <a:solidFill>
                      <a:srgbClr val="C00000"/>
                    </a:solidFill>
                  </a:rPr>
                  <a:t>no incoming edges</a:t>
                </a:r>
                <a:r>
                  <a:rPr lang="en-US" sz="2400" dirty="0"/>
                  <a:t>;</a:t>
                </a:r>
                <a:br>
                  <a:rPr lang="en-US" sz="2400" dirty="0"/>
                </a:br>
                <a:r>
                  <a:rPr lang="en-US" sz="2400" dirty="0"/>
                  <a:t>A </a:t>
                </a: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sink node</a:t>
                </a:r>
                <a:r>
                  <a:rPr lang="en-US" sz="2400" dirty="0"/>
                  <a:t> is a node with </a:t>
                </a:r>
                <a:r>
                  <a:rPr lang="en-US" sz="2400" dirty="0">
                    <a:solidFill>
                      <a:srgbClr val="C00000"/>
                    </a:solidFill>
                  </a:rPr>
                  <a:t>no outgoing edges</a:t>
                </a:r>
                <a:r>
                  <a:rPr lang="en-US" sz="2400" dirty="0"/>
                  <a:t>.</a:t>
                </a:r>
              </a:p>
              <a:p>
                <a:pPr lvl="1"/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Example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is source; both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are sink.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Claim</a:t>
                </a:r>
                <a:r>
                  <a:rPr lang="en-US" sz="2400" b="1" dirty="0"/>
                  <a:t>:</a:t>
                </a:r>
                <a:r>
                  <a:rPr lang="en-US" sz="2400" dirty="0"/>
                  <a:t> Each DAG has at least one source and one sink. </a:t>
                </a:r>
                <a:r>
                  <a:rPr lang="en-US" sz="2000" dirty="0"/>
                  <a:t>(</a:t>
                </a:r>
                <a:r>
                  <a:rPr lang="en-US" sz="2000" dirty="0">
                    <a:solidFill>
                      <a:srgbClr val="C00000"/>
                    </a:solidFill>
                  </a:rPr>
                  <a:t>Why?</a:t>
                </a:r>
                <a:r>
                  <a:rPr lang="en-US" sz="2000" dirty="0"/>
                  <a:t>)</a:t>
                </a:r>
              </a:p>
              <a:p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Observations</a:t>
                </a:r>
                <a:r>
                  <a:rPr lang="en-US" sz="2000" b="1" dirty="0"/>
                  <a:t>: </a:t>
                </a:r>
                <a:r>
                  <a:rPr lang="en-US" sz="2000" dirty="0"/>
                  <a:t>In DFS of a DAG, node with max finish time must be a source.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(Node with max finish time appears first in topo-sort, it cannot have incoming edges.)</a:t>
                </a:r>
              </a:p>
              <a:p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Observations</a:t>
                </a:r>
                <a:r>
                  <a:rPr lang="en-US" sz="2000" b="1" dirty="0"/>
                  <a:t>: </a:t>
                </a:r>
                <a:r>
                  <a:rPr lang="en-US" sz="2000" dirty="0"/>
                  <a:t>In DFS of a DAG, node with min finish time must be a sink.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(Node with min finish time appears last in topo-sort, it cannot have outgoing edges.)</a:t>
                </a:r>
                <a:endParaRPr lang="en-US" sz="240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2762F1-2C51-45C0-915A-C4CD8B76A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4" name="组合 33">
            <a:extLst>
              <a:ext uri="{FF2B5EF4-FFF2-40B4-BE49-F238E27FC236}">
                <a16:creationId xmlns:a16="http://schemas.microsoft.com/office/drawing/2014/main" id="{4A6AEF3B-5C6F-4442-AAA1-099048E4753F}"/>
              </a:ext>
            </a:extLst>
          </p:cNvPr>
          <p:cNvGrpSpPr/>
          <p:nvPr/>
        </p:nvGrpSpPr>
        <p:grpSpPr>
          <a:xfrm>
            <a:off x="6393066" y="5167312"/>
            <a:ext cx="2122284" cy="1186014"/>
            <a:chOff x="3950277" y="4715651"/>
            <a:chExt cx="2122284" cy="1186014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B27FE6D-C8AD-41F9-BF3D-639B2633A337}"/>
                </a:ext>
              </a:extLst>
            </p:cNvPr>
            <p:cNvSpPr/>
            <p:nvPr/>
          </p:nvSpPr>
          <p:spPr>
            <a:xfrm>
              <a:off x="3950277" y="4719248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A</a:t>
              </a:r>
            </a:p>
          </p:txBody>
        </p:sp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74B1C32E-DE3E-4BC0-95AC-C9A9E4D52C43}"/>
                </a:ext>
              </a:extLst>
            </p:cNvPr>
            <p:cNvSpPr/>
            <p:nvPr/>
          </p:nvSpPr>
          <p:spPr>
            <a:xfrm>
              <a:off x="3950277" y="5537983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B</a:t>
              </a:r>
            </a:p>
          </p:txBody>
        </p:sp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D8D3AC37-1C76-434D-8285-1C17CFF5AB8E}"/>
                </a:ext>
              </a:extLst>
            </p:cNvPr>
            <p:cNvSpPr/>
            <p:nvPr/>
          </p:nvSpPr>
          <p:spPr>
            <a:xfrm>
              <a:off x="4830041" y="4719248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</a:t>
              </a: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303B7679-27C4-4546-9722-3450B1297555}"/>
                </a:ext>
              </a:extLst>
            </p:cNvPr>
            <p:cNvSpPr/>
            <p:nvPr/>
          </p:nvSpPr>
          <p:spPr>
            <a:xfrm>
              <a:off x="4830041" y="5537983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D</a:t>
              </a:r>
            </a:p>
          </p:txBody>
        </p:sp>
        <p:cxnSp>
          <p:nvCxnSpPr>
            <p:cNvPr id="13" name="直接箭头连接符 12">
              <a:extLst>
                <a:ext uri="{FF2B5EF4-FFF2-40B4-BE49-F238E27FC236}">
                  <a16:creationId xmlns:a16="http://schemas.microsoft.com/office/drawing/2014/main" id="{587CC32E-B742-489E-B70C-718DFBA3FC88}"/>
                </a:ext>
              </a:extLst>
            </p:cNvPr>
            <p:cNvCxnSpPr>
              <a:cxnSpLocks/>
              <a:stCxn id="8" idx="6"/>
              <a:endCxn id="10" idx="2"/>
            </p:cNvCxnSpPr>
            <p:nvPr/>
          </p:nvCxnSpPr>
          <p:spPr>
            <a:xfrm>
              <a:off x="4313959" y="5719824"/>
              <a:ext cx="5160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id="{53E1D723-C083-4D01-8148-4A80E4137DE2}"/>
                </a:ext>
              </a:extLst>
            </p:cNvPr>
            <p:cNvSpPr/>
            <p:nvPr/>
          </p:nvSpPr>
          <p:spPr>
            <a:xfrm>
              <a:off x="5708879" y="4715651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E</a:t>
              </a:r>
            </a:p>
          </p:txBody>
        </p:sp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21AF6D44-9F3A-4A09-B6D1-5E7E279BE022}"/>
                </a:ext>
              </a:extLst>
            </p:cNvPr>
            <p:cNvSpPr/>
            <p:nvPr/>
          </p:nvSpPr>
          <p:spPr>
            <a:xfrm>
              <a:off x="5708879" y="5537983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F</a:t>
              </a:r>
            </a:p>
          </p:txBody>
        </p:sp>
        <p:cxnSp>
          <p:nvCxnSpPr>
            <p:cNvPr id="19" name="直接箭头连接符 18">
              <a:extLst>
                <a:ext uri="{FF2B5EF4-FFF2-40B4-BE49-F238E27FC236}">
                  <a16:creationId xmlns:a16="http://schemas.microsoft.com/office/drawing/2014/main" id="{4BD4CD4D-0739-401E-B09E-921A4C74CF67}"/>
                </a:ext>
              </a:extLst>
            </p:cNvPr>
            <p:cNvCxnSpPr>
              <a:cxnSpLocks/>
              <a:stCxn id="8" idx="0"/>
              <a:endCxn id="7" idx="4"/>
            </p:cNvCxnSpPr>
            <p:nvPr/>
          </p:nvCxnSpPr>
          <p:spPr>
            <a:xfrm flipV="1">
              <a:off x="4132118" y="5082930"/>
              <a:ext cx="0" cy="4550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直接箭头连接符 21">
              <a:extLst>
                <a:ext uri="{FF2B5EF4-FFF2-40B4-BE49-F238E27FC236}">
                  <a16:creationId xmlns:a16="http://schemas.microsoft.com/office/drawing/2014/main" id="{7513C2FB-2D2F-4E6C-9784-49F323835BEF}"/>
                </a:ext>
              </a:extLst>
            </p:cNvPr>
            <p:cNvCxnSpPr>
              <a:cxnSpLocks/>
              <a:stCxn id="10" idx="0"/>
              <a:endCxn id="9" idx="4"/>
            </p:cNvCxnSpPr>
            <p:nvPr/>
          </p:nvCxnSpPr>
          <p:spPr>
            <a:xfrm flipV="1">
              <a:off x="5011882" y="5082930"/>
              <a:ext cx="0" cy="45505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直接箭头连接符 24">
              <a:extLst>
                <a:ext uri="{FF2B5EF4-FFF2-40B4-BE49-F238E27FC236}">
                  <a16:creationId xmlns:a16="http://schemas.microsoft.com/office/drawing/2014/main" id="{872D17E6-D3BB-4A0B-BB52-42195803C601}"/>
                </a:ext>
              </a:extLst>
            </p:cNvPr>
            <p:cNvCxnSpPr>
              <a:cxnSpLocks/>
              <a:stCxn id="7" idx="6"/>
              <a:endCxn id="9" idx="2"/>
            </p:cNvCxnSpPr>
            <p:nvPr/>
          </p:nvCxnSpPr>
          <p:spPr>
            <a:xfrm>
              <a:off x="4313959" y="4901089"/>
              <a:ext cx="51608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直接箭头连接符 27">
              <a:extLst>
                <a:ext uri="{FF2B5EF4-FFF2-40B4-BE49-F238E27FC236}">
                  <a16:creationId xmlns:a16="http://schemas.microsoft.com/office/drawing/2014/main" id="{6F26F4F9-6419-495D-97E8-E57D56D0972E}"/>
                </a:ext>
              </a:extLst>
            </p:cNvPr>
            <p:cNvCxnSpPr>
              <a:cxnSpLocks/>
              <a:stCxn id="9" idx="6"/>
              <a:endCxn id="15" idx="2"/>
            </p:cNvCxnSpPr>
            <p:nvPr/>
          </p:nvCxnSpPr>
          <p:spPr>
            <a:xfrm flipV="1">
              <a:off x="5193723" y="4897492"/>
              <a:ext cx="515156" cy="3597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直接箭头连接符 30">
              <a:extLst>
                <a:ext uri="{FF2B5EF4-FFF2-40B4-BE49-F238E27FC236}">
                  <a16:creationId xmlns:a16="http://schemas.microsoft.com/office/drawing/2014/main" id="{99765557-C6CD-4E5E-AB29-7FF78CBFC310}"/>
                </a:ext>
              </a:extLst>
            </p:cNvPr>
            <p:cNvCxnSpPr>
              <a:cxnSpLocks/>
              <a:stCxn id="9" idx="5"/>
              <a:endCxn id="16" idx="1"/>
            </p:cNvCxnSpPr>
            <p:nvPr/>
          </p:nvCxnSpPr>
          <p:spPr>
            <a:xfrm>
              <a:off x="5140463" y="5029670"/>
              <a:ext cx="621676" cy="561573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313102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7781BA-D92A-4E4C-9D30-C342335EB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Alt Algorithm for Topo-Sort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2762F1-2C51-45C0-915A-C4CD8B76AAE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Claim</a:t>
                </a:r>
                <a:r>
                  <a:rPr lang="en-US" sz="2000" b="1" dirty="0"/>
                  <a:t>:</a:t>
                </a:r>
                <a:r>
                  <a:rPr lang="en-US" sz="2000" dirty="0"/>
                  <a:t> Each DAG has at least one source and one sink. 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Observations</a:t>
                </a:r>
                <a:r>
                  <a:rPr lang="en-US" sz="2000" b="1" dirty="0"/>
                  <a:t>: </a:t>
                </a:r>
                <a:r>
                  <a:rPr lang="en-US" sz="2000" dirty="0"/>
                  <a:t>In DFS of a DAG, node with max finish time must be a source.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(Node with max finish time appears first in topo-sort, it cannot have incoming edges.)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Observations</a:t>
                </a:r>
                <a:r>
                  <a:rPr lang="en-US" sz="2000" b="1" dirty="0"/>
                  <a:t>: </a:t>
                </a:r>
                <a:r>
                  <a:rPr lang="en-US" sz="2000" dirty="0"/>
                  <a:t>In DFS of a DAG, node with min finish time must be a sink.</a:t>
                </a:r>
                <a:br>
                  <a:rPr lang="en-US" sz="2000" dirty="0"/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(Node with min finish time appears last in topo-sort, it cannot have outgoing edges.)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75000"/>
                      </a:schemeClr>
                    </a:solidFill>
                  </a:rPr>
                  <a:t>An alternative algorithm for topo-sort in a DAG</a:t>
                </a:r>
                <a:r>
                  <a:rPr lang="en-US" sz="2400" b="1" dirty="0"/>
                  <a:t>:</a:t>
                </a:r>
                <a:br>
                  <a:rPr lang="en-US" sz="2000" b="1" dirty="0"/>
                </a:br>
                <a:r>
                  <a:rPr lang="en-US" sz="2000" dirty="0"/>
                  <a:t>(1) Find a source node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000" dirty="0"/>
                  <a:t> in the (remaining) graph, output it.</a:t>
                </a:r>
                <a:br>
                  <a:rPr lang="en-US" sz="2000" dirty="0"/>
                </a:br>
                <a:r>
                  <a:rPr lang="en-US" sz="2000" dirty="0"/>
                  <a:t>(2) Delete s and all its outgoing edges from the graph.</a:t>
                </a:r>
                <a:br>
                  <a:rPr lang="en-US" sz="2000" dirty="0"/>
                </a:br>
                <a:r>
                  <a:rPr lang="en-US" sz="2000" dirty="0"/>
                  <a:t>(3) Repeat until the graph is empty.</a:t>
                </a:r>
                <a:endParaRPr lang="en-US" dirty="0"/>
              </a:p>
            </p:txBody>
          </p:sp>
        </mc:Choice>
        <mc:Fallback xmlns="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62762F1-2C51-45C0-915A-C4CD8B76AAE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8515350" cy="4802185"/>
              </a:xfrm>
              <a:blipFill>
                <a:blip r:embed="rId2"/>
                <a:stretch>
                  <a:fillRect l="-931" t="-126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椭圆 6">
            <a:extLst>
              <a:ext uri="{FF2B5EF4-FFF2-40B4-BE49-F238E27FC236}">
                <a16:creationId xmlns:a16="http://schemas.microsoft.com/office/drawing/2014/main" id="{BB27FE6D-C8AD-41F9-BF3D-639B2633A337}"/>
              </a:ext>
            </a:extLst>
          </p:cNvPr>
          <p:cNvSpPr/>
          <p:nvPr/>
        </p:nvSpPr>
        <p:spPr>
          <a:xfrm>
            <a:off x="6393066" y="5170909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74B1C32E-DE3E-4BC0-95AC-C9A9E4D52C43}"/>
              </a:ext>
            </a:extLst>
          </p:cNvPr>
          <p:cNvSpPr/>
          <p:nvPr/>
        </p:nvSpPr>
        <p:spPr>
          <a:xfrm>
            <a:off x="6393066" y="5989644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D8D3AC37-1C76-434D-8285-1C17CFF5AB8E}"/>
              </a:ext>
            </a:extLst>
          </p:cNvPr>
          <p:cNvSpPr/>
          <p:nvPr/>
        </p:nvSpPr>
        <p:spPr>
          <a:xfrm>
            <a:off x="7272830" y="5170909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10" name="椭圆 9">
            <a:extLst>
              <a:ext uri="{FF2B5EF4-FFF2-40B4-BE49-F238E27FC236}">
                <a16:creationId xmlns:a16="http://schemas.microsoft.com/office/drawing/2014/main" id="{303B7679-27C4-4546-9722-3450B1297555}"/>
              </a:ext>
            </a:extLst>
          </p:cNvPr>
          <p:cNvSpPr/>
          <p:nvPr/>
        </p:nvSpPr>
        <p:spPr>
          <a:xfrm>
            <a:off x="7272830" y="5989644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cxnSp>
        <p:nvCxnSpPr>
          <p:cNvPr id="13" name="直接箭头连接符 12">
            <a:extLst>
              <a:ext uri="{FF2B5EF4-FFF2-40B4-BE49-F238E27FC236}">
                <a16:creationId xmlns:a16="http://schemas.microsoft.com/office/drawing/2014/main" id="{587CC32E-B742-489E-B70C-718DFBA3FC88}"/>
              </a:ext>
            </a:extLst>
          </p:cNvPr>
          <p:cNvCxnSpPr>
            <a:cxnSpLocks/>
            <a:stCxn id="8" idx="6"/>
            <a:endCxn id="10" idx="2"/>
          </p:cNvCxnSpPr>
          <p:nvPr/>
        </p:nvCxnSpPr>
        <p:spPr>
          <a:xfrm>
            <a:off x="6756748" y="6171485"/>
            <a:ext cx="51608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椭圆 14">
            <a:extLst>
              <a:ext uri="{FF2B5EF4-FFF2-40B4-BE49-F238E27FC236}">
                <a16:creationId xmlns:a16="http://schemas.microsoft.com/office/drawing/2014/main" id="{53E1D723-C083-4D01-8148-4A80E4137DE2}"/>
              </a:ext>
            </a:extLst>
          </p:cNvPr>
          <p:cNvSpPr/>
          <p:nvPr/>
        </p:nvSpPr>
        <p:spPr>
          <a:xfrm>
            <a:off x="8151668" y="5167312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21AF6D44-9F3A-4A09-B6D1-5E7E279BE022}"/>
              </a:ext>
            </a:extLst>
          </p:cNvPr>
          <p:cNvSpPr/>
          <p:nvPr/>
        </p:nvSpPr>
        <p:spPr>
          <a:xfrm>
            <a:off x="8151668" y="5989644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4BD4CD4D-0739-401E-B09E-921A4C74CF67}"/>
              </a:ext>
            </a:extLst>
          </p:cNvPr>
          <p:cNvCxnSpPr>
            <a:cxnSpLocks/>
            <a:stCxn id="8" idx="0"/>
            <a:endCxn id="7" idx="4"/>
          </p:cNvCxnSpPr>
          <p:nvPr/>
        </p:nvCxnSpPr>
        <p:spPr>
          <a:xfrm flipV="1">
            <a:off x="6574907" y="5534591"/>
            <a:ext cx="0" cy="4550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>
            <a:extLst>
              <a:ext uri="{FF2B5EF4-FFF2-40B4-BE49-F238E27FC236}">
                <a16:creationId xmlns:a16="http://schemas.microsoft.com/office/drawing/2014/main" id="{7513C2FB-2D2F-4E6C-9784-49F323835BEF}"/>
              </a:ext>
            </a:extLst>
          </p:cNvPr>
          <p:cNvCxnSpPr>
            <a:cxnSpLocks/>
            <a:stCxn id="10" idx="0"/>
            <a:endCxn id="9" idx="4"/>
          </p:cNvCxnSpPr>
          <p:nvPr/>
        </p:nvCxnSpPr>
        <p:spPr>
          <a:xfrm flipV="1">
            <a:off x="7454671" y="5534591"/>
            <a:ext cx="0" cy="45505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872D17E6-D3BB-4A0B-BB52-42195803C601}"/>
              </a:ext>
            </a:extLst>
          </p:cNvPr>
          <p:cNvCxnSpPr>
            <a:cxnSpLocks/>
            <a:stCxn id="7" idx="6"/>
            <a:endCxn id="9" idx="2"/>
          </p:cNvCxnSpPr>
          <p:nvPr/>
        </p:nvCxnSpPr>
        <p:spPr>
          <a:xfrm>
            <a:off x="6756748" y="5352750"/>
            <a:ext cx="516082" cy="0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6F26F4F9-6419-495D-97E8-E57D56D0972E}"/>
              </a:ext>
            </a:extLst>
          </p:cNvPr>
          <p:cNvCxnSpPr>
            <a:cxnSpLocks/>
            <a:stCxn id="9" idx="6"/>
            <a:endCxn id="15" idx="2"/>
          </p:cNvCxnSpPr>
          <p:nvPr/>
        </p:nvCxnSpPr>
        <p:spPr>
          <a:xfrm flipV="1">
            <a:off x="7636512" y="5349153"/>
            <a:ext cx="515156" cy="3597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9765557-C6CD-4E5E-AB29-7FF78CBFC310}"/>
              </a:ext>
            </a:extLst>
          </p:cNvPr>
          <p:cNvCxnSpPr>
            <a:cxnSpLocks/>
            <a:stCxn id="9" idx="5"/>
            <a:endCxn id="16" idx="1"/>
          </p:cNvCxnSpPr>
          <p:nvPr/>
        </p:nvCxnSpPr>
        <p:spPr>
          <a:xfrm>
            <a:off x="7583252" y="5481331"/>
            <a:ext cx="621676" cy="561573"/>
          </a:xfrm>
          <a:prstGeom prst="straightConnector1">
            <a:avLst/>
          </a:prstGeom>
          <a:ln w="190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椭圆 16">
            <a:extLst>
              <a:ext uri="{FF2B5EF4-FFF2-40B4-BE49-F238E27FC236}">
                <a16:creationId xmlns:a16="http://schemas.microsoft.com/office/drawing/2014/main" id="{37CA1091-B83B-4CEF-85AB-57CC8FA022A1}"/>
              </a:ext>
            </a:extLst>
          </p:cNvPr>
          <p:cNvSpPr/>
          <p:nvPr/>
        </p:nvSpPr>
        <p:spPr>
          <a:xfrm>
            <a:off x="1794368" y="5625962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B</a:t>
            </a: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CFCBD905-1893-4B85-A134-DAB848BC897A}"/>
              </a:ext>
            </a:extLst>
          </p:cNvPr>
          <p:cNvSpPr/>
          <p:nvPr/>
        </p:nvSpPr>
        <p:spPr>
          <a:xfrm>
            <a:off x="2409431" y="5625962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B418D800-C268-4CB6-94B4-AA9D325E5A1F}"/>
              </a:ext>
            </a:extLst>
          </p:cNvPr>
          <p:cNvSpPr/>
          <p:nvPr/>
        </p:nvSpPr>
        <p:spPr>
          <a:xfrm>
            <a:off x="3024494" y="5625962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6491A209-CF37-4F94-AC99-3909546EE0F1}"/>
              </a:ext>
            </a:extLst>
          </p:cNvPr>
          <p:cNvSpPr/>
          <p:nvPr/>
        </p:nvSpPr>
        <p:spPr>
          <a:xfrm>
            <a:off x="3638970" y="5625962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</a:t>
            </a:r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3ED8773E-67C8-4777-8091-4925373D7283}"/>
              </a:ext>
            </a:extLst>
          </p:cNvPr>
          <p:cNvSpPr/>
          <p:nvPr/>
        </p:nvSpPr>
        <p:spPr>
          <a:xfrm>
            <a:off x="4248604" y="5625962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E</a:t>
            </a: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912E2558-B3EA-4602-8062-B2257121B0C4}"/>
              </a:ext>
            </a:extLst>
          </p:cNvPr>
          <p:cNvSpPr/>
          <p:nvPr/>
        </p:nvSpPr>
        <p:spPr>
          <a:xfrm>
            <a:off x="4863667" y="5625962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</a:t>
            </a: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D21B9D91-74C6-404B-8629-2725D3559F81}"/>
              </a:ext>
            </a:extLst>
          </p:cNvPr>
          <p:cNvGrpSpPr/>
          <p:nvPr/>
        </p:nvGrpSpPr>
        <p:grpSpPr>
          <a:xfrm>
            <a:off x="1982559" y="5619612"/>
            <a:ext cx="3069298" cy="376382"/>
            <a:chOff x="1982559" y="5619612"/>
            <a:chExt cx="3069298" cy="376382"/>
          </a:xfrm>
        </p:grpSpPr>
        <p:cxnSp>
          <p:nvCxnSpPr>
            <p:cNvPr id="26" name="直接箭头连接符 25">
              <a:extLst>
                <a:ext uri="{FF2B5EF4-FFF2-40B4-BE49-F238E27FC236}">
                  <a16:creationId xmlns:a16="http://schemas.microsoft.com/office/drawing/2014/main" id="{3A363320-25DE-4960-A7CE-23945A1D5299}"/>
                </a:ext>
              </a:extLst>
            </p:cNvPr>
            <p:cNvCxnSpPr>
              <a:cxnSpLocks/>
              <a:stCxn id="17" idx="6"/>
              <a:endCxn id="18" idx="2"/>
            </p:cNvCxnSpPr>
            <p:nvPr/>
          </p:nvCxnSpPr>
          <p:spPr>
            <a:xfrm>
              <a:off x="2158050" y="5807803"/>
              <a:ext cx="25138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连接符: 曲线 28">
              <a:extLst>
                <a:ext uri="{FF2B5EF4-FFF2-40B4-BE49-F238E27FC236}">
                  <a16:creationId xmlns:a16="http://schemas.microsoft.com/office/drawing/2014/main" id="{F0E063A2-4563-4BC8-9CFC-46C585B68741}"/>
                </a:ext>
              </a:extLst>
            </p:cNvPr>
            <p:cNvCxnSpPr>
              <a:cxnSpLocks/>
              <a:stCxn id="17" idx="0"/>
              <a:endCxn id="20" idx="0"/>
            </p:cNvCxnSpPr>
            <p:nvPr/>
          </p:nvCxnSpPr>
          <p:spPr>
            <a:xfrm rot="5400000" flipH="1" flipV="1">
              <a:off x="2591272" y="5010899"/>
              <a:ext cx="12700" cy="1230126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直接箭头连接符 29">
              <a:extLst>
                <a:ext uri="{FF2B5EF4-FFF2-40B4-BE49-F238E27FC236}">
                  <a16:creationId xmlns:a16="http://schemas.microsoft.com/office/drawing/2014/main" id="{AFAD3302-3B7A-4A99-B12E-F54B12E2CB73}"/>
                </a:ext>
              </a:extLst>
            </p:cNvPr>
            <p:cNvCxnSpPr>
              <a:cxnSpLocks/>
              <a:stCxn id="20" idx="6"/>
              <a:endCxn id="21" idx="2"/>
            </p:cNvCxnSpPr>
            <p:nvPr/>
          </p:nvCxnSpPr>
          <p:spPr>
            <a:xfrm>
              <a:off x="3388176" y="5807803"/>
              <a:ext cx="250794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连接符: 曲线 32">
              <a:extLst>
                <a:ext uri="{FF2B5EF4-FFF2-40B4-BE49-F238E27FC236}">
                  <a16:creationId xmlns:a16="http://schemas.microsoft.com/office/drawing/2014/main" id="{D6CD266C-9216-493D-B2FB-50A8B1CD15FE}"/>
                </a:ext>
              </a:extLst>
            </p:cNvPr>
            <p:cNvCxnSpPr>
              <a:cxnSpLocks/>
              <a:stCxn id="18" idx="4"/>
              <a:endCxn id="21" idx="4"/>
            </p:cNvCxnSpPr>
            <p:nvPr/>
          </p:nvCxnSpPr>
          <p:spPr>
            <a:xfrm rot="16200000" flipH="1">
              <a:off x="3206041" y="5374874"/>
              <a:ext cx="12700" cy="1229539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>
              <a:extLst>
                <a:ext uri="{FF2B5EF4-FFF2-40B4-BE49-F238E27FC236}">
                  <a16:creationId xmlns:a16="http://schemas.microsoft.com/office/drawing/2014/main" id="{3C1671E0-52D4-43EE-8A29-1723B2227560}"/>
                </a:ext>
              </a:extLst>
            </p:cNvPr>
            <p:cNvCxnSpPr>
              <a:cxnSpLocks/>
              <a:stCxn id="21" idx="6"/>
              <a:endCxn id="23" idx="2"/>
            </p:cNvCxnSpPr>
            <p:nvPr/>
          </p:nvCxnSpPr>
          <p:spPr>
            <a:xfrm>
              <a:off x="4002652" y="5807803"/>
              <a:ext cx="245952" cy="0"/>
            </a:xfrm>
            <a:prstGeom prst="straightConnector1">
              <a:avLst/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连接符: 曲线 39">
              <a:extLst>
                <a:ext uri="{FF2B5EF4-FFF2-40B4-BE49-F238E27FC236}">
                  <a16:creationId xmlns:a16="http://schemas.microsoft.com/office/drawing/2014/main" id="{7188EC12-1F60-454B-B84E-B7B0527360AD}"/>
                </a:ext>
              </a:extLst>
            </p:cNvPr>
            <p:cNvCxnSpPr>
              <a:cxnSpLocks/>
              <a:stCxn id="21" idx="0"/>
              <a:endCxn id="24" idx="0"/>
            </p:cNvCxnSpPr>
            <p:nvPr/>
          </p:nvCxnSpPr>
          <p:spPr>
            <a:xfrm rot="5400000" flipH="1" flipV="1">
              <a:off x="4433159" y="5013614"/>
              <a:ext cx="12700" cy="1224697"/>
            </a:xfrm>
            <a:prstGeom prst="curvedConnector3">
              <a:avLst>
                <a:gd name="adj1" fmla="val 1800000"/>
              </a:avLst>
            </a:prstGeom>
            <a:ln w="19050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E41D1F2C-8F6C-4CB1-9D7D-ED6181278373}"/>
              </a:ext>
            </a:extLst>
          </p:cNvPr>
          <p:cNvSpPr txBox="1"/>
          <p:nvPr/>
        </p:nvSpPr>
        <p:spPr>
          <a:xfrm>
            <a:off x="628650" y="4510006"/>
            <a:ext cx="769499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200" dirty="0">
                <a:solidFill>
                  <a:srgbClr val="C00000"/>
                </a:solidFill>
              </a:rPr>
              <a:t>Formal proof of correctness? How efficient can you implement it?</a:t>
            </a:r>
          </a:p>
        </p:txBody>
      </p:sp>
    </p:spTree>
    <p:extLst>
      <p:ext uri="{BB962C8B-B14F-4D97-AF65-F5344CB8AC3E}">
        <p14:creationId xmlns:p14="http://schemas.microsoft.com/office/powerpoint/2010/main" val="407638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1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2" dur="indefinite"/>
                                        <p:tgtEl>
                                          <p:spTgt spid="8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9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0" dur="indefinite"/>
                                        <p:tgtEl>
                                          <p:spTgt spid="7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45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46" dur="indefinite"/>
                                        <p:tgtEl>
                                          <p:spTgt spid="10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61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62" dur="indefinite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79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80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93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94" dur="indefinite"/>
                                        <p:tgtEl>
                                          <p:spTgt spid="16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8" grpId="0" animBg="1"/>
      <p:bldP spid="20" grpId="0" animBg="1"/>
      <p:bldP spid="21" grpId="0" animBg="1"/>
      <p:bldP spid="23" grpId="0" animBg="1"/>
      <p:bldP spid="24" grpId="0" animBg="1"/>
      <p:bldP spid="44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45678FD-3D3A-43B5-9637-10D0C4557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(Strongly) Connected Components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8168-F089-492F-B70D-1AE9AB03F5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4962853" cy="4802185"/>
              </a:xfrm>
            </p:spPr>
            <p:txBody>
              <a:bodyPr>
                <a:normAutofit/>
              </a:bodyPr>
              <a:lstStyle/>
              <a:p>
                <a:r>
                  <a:rPr lang="en-US" sz="2200" dirty="0"/>
                  <a:t>For an </a:t>
                </a:r>
                <a:r>
                  <a:rPr lang="en-US" sz="2200" dirty="0">
                    <a:solidFill>
                      <a:schemeClr val="accent2">
                        <a:lumMod val="75000"/>
                      </a:schemeClr>
                    </a:solidFill>
                  </a:rPr>
                  <a:t>undirected</a:t>
                </a:r>
                <a:r>
                  <a:rPr lang="en-US" sz="2200" dirty="0"/>
                  <a:t> graph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/>
                  <a:t>, a </a:t>
                </a:r>
                <a:r>
                  <a:rPr lang="en-US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connected component </a:t>
                </a:r>
                <a:r>
                  <a:rPr lang="en-US" sz="2200" dirty="0"/>
                  <a:t>is a </a:t>
                </a:r>
                <a:r>
                  <a:rPr lang="en-US" sz="2200" dirty="0">
                    <a:solidFill>
                      <a:srgbClr val="C00000"/>
                    </a:solidFill>
                  </a:rPr>
                  <a:t>maximal</a:t>
                </a:r>
                <a:r>
                  <a:rPr lang="en-US" sz="2200" dirty="0"/>
                  <a:t> set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200" dirty="0"/>
                  <a:t>, such that for any pair of nodes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b="0" i="1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/>
                  <a:t> in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/>
                  <a:t>, there is a path from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00" dirty="0"/>
                  <a:t> to </a:t>
                </a:r>
                <a14:m>
                  <m:oMath xmlns:m="http://schemas.openxmlformats.org/officeDocument/2006/math">
                    <m:r>
                      <a:rPr lang="en-US" sz="2200" i="1" dirty="0" smtClean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/>
                  <a:t>.</a:t>
                </a:r>
              </a:p>
              <a:p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E.g.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1,2,5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3,6</m:t>
                        </m:r>
                      </m:e>
                    </m:d>
                  </m:oMath>
                </a14:m>
                <a:endParaRPr lang="en-US" sz="2200" dirty="0"/>
              </a:p>
              <a:p>
                <a:pPr>
                  <a:spcBef>
                    <a:spcPts val="1800"/>
                  </a:spcBef>
                </a:pPr>
                <a:r>
                  <a:rPr lang="en-US" sz="2200" dirty="0"/>
                  <a:t>For a </a:t>
                </a:r>
                <a:r>
                  <a:rPr lang="en-US" sz="2200" dirty="0">
                    <a:solidFill>
                      <a:schemeClr val="accent2">
                        <a:lumMod val="75000"/>
                      </a:schemeClr>
                    </a:solidFill>
                  </a:rPr>
                  <a:t>directed</a:t>
                </a:r>
                <a:r>
                  <a:rPr lang="en-US" sz="2200" dirty="0"/>
                  <a:t> graph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200" dirty="0"/>
                  <a:t>, a </a:t>
                </a:r>
                <a:r>
                  <a:rPr lang="en-US" sz="2200" b="1" dirty="0">
                    <a:solidFill>
                      <a:schemeClr val="accent1">
                        <a:lumMod val="75000"/>
                      </a:schemeClr>
                    </a:solidFill>
                  </a:rPr>
                  <a:t>strongly connected component </a:t>
                </a:r>
                <a:r>
                  <a:rPr lang="en-US" sz="2200" dirty="0"/>
                  <a:t>is a </a:t>
                </a:r>
                <a:r>
                  <a:rPr lang="en-US" sz="2200" dirty="0">
                    <a:solidFill>
                      <a:srgbClr val="C00000"/>
                    </a:solidFill>
                  </a:rPr>
                  <a:t>maximal</a:t>
                </a:r>
                <a:r>
                  <a:rPr lang="en-US" sz="2200" dirty="0"/>
                  <a:t> set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⊆</m:t>
                    </m:r>
                    <m:r>
                      <a:rPr lang="en-US" sz="2200" i="1">
                        <a:latin typeface="Cambria Math" panose="02040503050406030204" pitchFamily="18" charset="0"/>
                      </a:rPr>
                      <m:t>𝑉</m:t>
                    </m:r>
                    <m:d>
                      <m:dPr>
                        <m:ctrlPr>
                          <a:rPr lang="en-US" sz="22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2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</m:d>
                  </m:oMath>
                </a14:m>
                <a:r>
                  <a:rPr lang="en-US" sz="2200" dirty="0"/>
                  <a:t>, such that for any pair of nodes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00" dirty="0"/>
                  <a:t> and </a:t>
                </a:r>
                <a14:m>
                  <m:oMath xmlns:m="http://schemas.openxmlformats.org/officeDocument/2006/math">
                    <m:r>
                      <a:rPr lang="en-US" sz="2200" i="1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/>
                  <a:t> in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lang="en-US" sz="2200" dirty="0"/>
                  <a:t>, there is a directed path from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200" dirty="0"/>
                  <a:t> to </a:t>
                </a:r>
                <a14:m>
                  <m:oMath xmlns:m="http://schemas.openxmlformats.org/officeDocument/2006/math">
                    <m:r>
                      <a:rPr lang="en-US" sz="2200" i="1" dirty="0">
                        <a:latin typeface="Cambria Math" panose="02040503050406030204" pitchFamily="18" charset="0"/>
                      </a:rPr>
                      <m:t>𝑣</m:t>
                    </m:r>
                  </m:oMath>
                </a14:m>
                <a:r>
                  <a:rPr lang="en-US" sz="2200" dirty="0"/>
                  <a:t>, and vice versa.</a:t>
                </a:r>
              </a:p>
              <a:p>
                <a:r>
                  <a:rPr lang="en-US" sz="2000" b="1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E.g.</a:t>
                </a: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</m:d>
                    <m:r>
                      <a:rPr lang="en-US" sz="2000" i="1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0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𝐹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,</m:t>
                    </m:r>
                    <m:d>
                      <m:dPr>
                        <m:begChr m:val="{"/>
                        <m:endChr m:val="}"/>
                        <m:ctrlP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𝐻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𝐼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𝐽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</m:d>
                  </m:oMath>
                </a14:m>
                <a:endParaRPr lang="en-US" sz="2000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39A18168-F089-492F-B70D-1AE9AB03F5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4962853" cy="4802185"/>
              </a:xfrm>
              <a:blipFill>
                <a:blip r:embed="rId2"/>
                <a:stretch>
                  <a:fillRect l="-1351" t="-1396" r="-208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27734E07-66C1-4305-B185-D9666C39AA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8343" y="1527284"/>
            <a:ext cx="2367007" cy="17466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4BE991A4-1DD1-4978-A640-B8638A9E78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47591" y="3584028"/>
            <a:ext cx="2367759" cy="29088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47968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12B1398-69F0-4754-9A72-0DB1BE29FF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CC and SCC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F17F5A-0D33-4919-A033-87C17513ECD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sz="24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400" b="1" dirty="0"/>
                  <a:t>:</a:t>
                </a:r>
                <a:r>
                  <a:rPr lang="en-US" sz="2400" dirty="0"/>
                  <a:t> Given an undirected graph,</a:t>
                </a:r>
                <a:br>
                  <a:rPr lang="en-US" sz="2400" dirty="0"/>
                </a:br>
                <a:r>
                  <a:rPr lang="en-US" sz="2400" dirty="0"/>
                  <a:t>how to compute its connected components (CC) ?</a:t>
                </a:r>
              </a:p>
              <a:p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A</a:t>
                </a:r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Easy, just do DFS (or BFS) on the entire graph.</a:t>
                </a:r>
                <a:b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(DFS(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), or BFS(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), reaches exactly nodes in the CC containing </a:t>
                </a:r>
                <a14:m>
                  <m:oMath xmlns:m="http://schemas.openxmlformats.org/officeDocument/2006/math">
                    <m:r>
                      <a:rPr lang="en-US" sz="2000" i="1" dirty="0" smtClean="0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lang="en-US" sz="20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r>
                  <a:rPr lang="en-US" sz="2400" b="1" dirty="0">
                    <a:solidFill>
                      <a:srgbClr val="C00000"/>
                    </a:solidFill>
                  </a:rPr>
                  <a:t>Q</a:t>
                </a:r>
                <a:r>
                  <a:rPr lang="en-US" sz="2400" b="1" dirty="0"/>
                  <a:t>:</a:t>
                </a:r>
                <a:r>
                  <a:rPr lang="en-US" sz="2400" dirty="0"/>
                  <a:t> Given a directed graph,</a:t>
                </a:r>
                <a:br>
                  <a:rPr lang="en-US" sz="2400" dirty="0"/>
                </a:br>
                <a:r>
                  <a:rPr lang="en-US" sz="2400" dirty="0"/>
                  <a:t>how to compute its strongly connected components (SCC) ?</a:t>
                </a:r>
              </a:p>
              <a:p>
                <a:r>
                  <a:rPr lang="en-US" sz="2400" dirty="0">
                    <a:solidFill>
                      <a:schemeClr val="accent1">
                        <a:lumMod val="75000"/>
                      </a:schemeClr>
                    </a:solidFill>
                  </a:rPr>
                  <a:t>Err, can be done efficiently, but not so obvious…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57F17F5A-0D33-4919-A033-87C17513ECD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19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62808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BB5A1-7E4E-46AB-8B94-0A0944D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Component Graph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0" y="1690688"/>
                <a:ext cx="5362247" cy="4802185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Given a directed graph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</m:d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assume it has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000" dirty="0"/>
                  <a:t> SCC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sz="2000" dirty="0"/>
                  <a:t>,</a:t>
                </a:r>
                <a:br>
                  <a:rPr lang="en-US" sz="2000" dirty="0"/>
                </a:br>
                <a:r>
                  <a:rPr lang="en-US" sz="2000" dirty="0"/>
                  <a:t>then the 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component graph</a:t>
                </a:r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𝑉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sSup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0" dirty="0"/>
                  <a:t>The vertex set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/>
                  <a:t> is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each representing one SCC.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dirty="0"/>
                  <a:t>There is an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</m:sSub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𝐸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/>
                  <a:t> if there exists 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𝐸</m:t>
                    </m:r>
                  </m:oMath>
                </a14:m>
                <a:r>
                  <a:rPr lang="en-US" sz="2000" dirty="0"/>
                  <a:t>, where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endParaRPr lang="en-US" sz="2000" dirty="0"/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75000"/>
                      </a:schemeClr>
                    </a:solidFill>
                  </a:rPr>
                  <a:t>Claim</a:t>
                </a:r>
                <a:r>
                  <a:rPr lang="en-US" sz="2400" b="1" dirty="0"/>
                  <a:t>:</a:t>
                </a:r>
                <a:r>
                  <a:rPr lang="en-US" sz="2400" dirty="0"/>
                  <a:t> </a:t>
                </a:r>
                <a:r>
                  <a:rPr lang="en-US" sz="2400" dirty="0">
                    <a:solidFill>
                      <a:schemeClr val="accent6">
                        <a:lumMod val="50000"/>
                      </a:schemeClr>
                    </a:solidFill>
                  </a:rPr>
                  <a:t>A component graph is a DAG</a:t>
                </a:r>
                <a:r>
                  <a:rPr lang="en-US" sz="2400" dirty="0"/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000" b="1" dirty="0"/>
                  <a:t>Proof:</a:t>
                </a:r>
                <a:r>
                  <a:rPr lang="en-US" sz="2000" dirty="0"/>
                  <a:t> Otherwise, the components in the circle becomes a bigger SCC, contradiction!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0" y="1690688"/>
                <a:ext cx="5362247" cy="4802185"/>
              </a:xfrm>
              <a:blipFill>
                <a:blip r:embed="rId2"/>
                <a:stretch>
                  <a:fillRect l="-1477" t="-6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08886D3-03A8-49F3-8791-A3500AEF5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591" y="1798414"/>
            <a:ext cx="2367759" cy="29088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grpSp>
        <p:nvGrpSpPr>
          <p:cNvPr id="8" name="组合 7">
            <a:extLst>
              <a:ext uri="{FF2B5EF4-FFF2-40B4-BE49-F238E27FC236}">
                <a16:creationId xmlns:a16="http://schemas.microsoft.com/office/drawing/2014/main" id="{934B116C-692C-4F2A-A3D8-64C4AB901AB0}"/>
              </a:ext>
            </a:extLst>
          </p:cNvPr>
          <p:cNvGrpSpPr/>
          <p:nvPr/>
        </p:nvGrpSpPr>
        <p:grpSpPr>
          <a:xfrm>
            <a:off x="5990897" y="5167312"/>
            <a:ext cx="2700690" cy="1039096"/>
            <a:chOff x="2122785" y="5296780"/>
            <a:chExt cx="2700690" cy="1039096"/>
          </a:xfrm>
        </p:grpSpPr>
        <p:sp>
          <p:nvSpPr>
            <p:cNvPr id="9" name="椭圆 8">
              <a:extLst>
                <a:ext uri="{FF2B5EF4-FFF2-40B4-BE49-F238E27FC236}">
                  <a16:creationId xmlns:a16="http://schemas.microsoft.com/office/drawing/2014/main" id="{4114C7A0-6C74-4B7D-A60A-135B6F88ED95}"/>
                </a:ext>
              </a:extLst>
            </p:cNvPr>
            <p:cNvSpPr/>
            <p:nvPr/>
          </p:nvSpPr>
          <p:spPr>
            <a:xfrm>
              <a:off x="2122785" y="5296780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E3BC7DFD-6F26-49AE-9661-CB870D6BA426}"/>
                </a:ext>
              </a:extLst>
            </p:cNvPr>
            <p:cNvSpPr/>
            <p:nvPr/>
          </p:nvSpPr>
          <p:spPr>
            <a:xfrm>
              <a:off x="2542336" y="5956355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11" name="椭圆 10">
              <a:extLst>
                <a:ext uri="{FF2B5EF4-FFF2-40B4-BE49-F238E27FC236}">
                  <a16:creationId xmlns:a16="http://schemas.microsoft.com/office/drawing/2014/main" id="{AFC9F8A3-6412-45C7-A076-438F0A47EBDA}"/>
                </a:ext>
              </a:extLst>
            </p:cNvPr>
            <p:cNvSpPr/>
            <p:nvPr/>
          </p:nvSpPr>
          <p:spPr>
            <a:xfrm>
              <a:off x="3002548" y="5296780"/>
              <a:ext cx="655051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B,E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2" name="椭圆 11">
              <a:extLst>
                <a:ext uri="{FF2B5EF4-FFF2-40B4-BE49-F238E27FC236}">
                  <a16:creationId xmlns:a16="http://schemas.microsoft.com/office/drawing/2014/main" id="{FA2B642F-C961-40C1-8065-2B1D2E722078}"/>
                </a:ext>
              </a:extLst>
            </p:cNvPr>
            <p:cNvSpPr/>
            <p:nvPr/>
          </p:nvSpPr>
          <p:spPr>
            <a:xfrm>
              <a:off x="3407534" y="5817459"/>
              <a:ext cx="886280" cy="5184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G,H,I</a:t>
              </a:r>
              <a:br>
                <a:rPr lang="en-US" sz="1600" dirty="0">
                  <a:solidFill>
                    <a:schemeClr val="tx1"/>
                  </a:solidFill>
                </a:rPr>
              </a:br>
              <a:r>
                <a:rPr lang="en-US" sz="1600" dirty="0">
                  <a:solidFill>
                    <a:schemeClr val="tx1"/>
                  </a:solidFill>
                </a:rPr>
                <a:t>J,K,L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13" name="椭圆 12">
              <a:extLst>
                <a:ext uri="{FF2B5EF4-FFF2-40B4-BE49-F238E27FC236}">
                  <a16:creationId xmlns:a16="http://schemas.microsoft.com/office/drawing/2014/main" id="{46133C49-B409-450F-B5FE-16ECB47DD216}"/>
                </a:ext>
              </a:extLst>
            </p:cNvPr>
            <p:cNvSpPr/>
            <p:nvPr/>
          </p:nvSpPr>
          <p:spPr>
            <a:xfrm>
              <a:off x="4168424" y="5296780"/>
              <a:ext cx="655051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C,F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14" name="直接箭头连接符 13">
              <a:extLst>
                <a:ext uri="{FF2B5EF4-FFF2-40B4-BE49-F238E27FC236}">
                  <a16:creationId xmlns:a16="http://schemas.microsoft.com/office/drawing/2014/main" id="{1B794973-C00F-42D8-B1C1-F5CBC2F59FD9}"/>
                </a:ext>
              </a:extLst>
            </p:cNvPr>
            <p:cNvCxnSpPr>
              <a:stCxn id="9" idx="6"/>
              <a:endCxn id="11" idx="2"/>
            </p:cNvCxnSpPr>
            <p:nvPr/>
          </p:nvCxnSpPr>
          <p:spPr>
            <a:xfrm>
              <a:off x="2486467" y="5478621"/>
              <a:ext cx="51608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箭头连接符 14">
              <a:extLst>
                <a:ext uri="{FF2B5EF4-FFF2-40B4-BE49-F238E27FC236}">
                  <a16:creationId xmlns:a16="http://schemas.microsoft.com/office/drawing/2014/main" id="{70743B2D-48CC-49DA-BC19-74D433236314}"/>
                </a:ext>
              </a:extLst>
            </p:cNvPr>
            <p:cNvCxnSpPr>
              <a:cxnSpLocks/>
              <a:stCxn id="11" idx="6"/>
              <a:endCxn id="13" idx="2"/>
            </p:cNvCxnSpPr>
            <p:nvPr/>
          </p:nvCxnSpPr>
          <p:spPr>
            <a:xfrm>
              <a:off x="3657599" y="5478621"/>
              <a:ext cx="51082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箭头连接符 15">
              <a:extLst>
                <a:ext uri="{FF2B5EF4-FFF2-40B4-BE49-F238E27FC236}">
                  <a16:creationId xmlns:a16="http://schemas.microsoft.com/office/drawing/2014/main" id="{FFCF7C1A-EFF5-4BEA-93F1-99C100025D99}"/>
                </a:ext>
              </a:extLst>
            </p:cNvPr>
            <p:cNvCxnSpPr>
              <a:cxnSpLocks/>
              <a:stCxn id="11" idx="3"/>
              <a:endCxn id="10" idx="7"/>
            </p:cNvCxnSpPr>
            <p:nvPr/>
          </p:nvCxnSpPr>
          <p:spPr>
            <a:xfrm flipH="1">
              <a:off x="2852758" y="5607202"/>
              <a:ext cx="245720" cy="402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箭头连接符 16">
              <a:extLst>
                <a:ext uri="{FF2B5EF4-FFF2-40B4-BE49-F238E27FC236}">
                  <a16:creationId xmlns:a16="http://schemas.microsoft.com/office/drawing/2014/main" id="{D26B2603-F3DC-4057-94BB-8BDD8C9A590D}"/>
                </a:ext>
              </a:extLst>
            </p:cNvPr>
            <p:cNvCxnSpPr>
              <a:cxnSpLocks/>
              <a:stCxn id="11" idx="4"/>
              <a:endCxn id="12" idx="1"/>
            </p:cNvCxnSpPr>
            <p:nvPr/>
          </p:nvCxnSpPr>
          <p:spPr>
            <a:xfrm>
              <a:off x="3330074" y="5660462"/>
              <a:ext cx="207253" cy="232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箭头连接符 17">
              <a:extLst>
                <a:ext uri="{FF2B5EF4-FFF2-40B4-BE49-F238E27FC236}">
                  <a16:creationId xmlns:a16="http://schemas.microsoft.com/office/drawing/2014/main" id="{BDAB4C52-5486-4330-B8B9-EC9413D1D055}"/>
                </a:ext>
              </a:extLst>
            </p:cNvPr>
            <p:cNvCxnSpPr>
              <a:cxnSpLocks/>
              <a:stCxn id="13" idx="4"/>
              <a:endCxn id="12" idx="7"/>
            </p:cNvCxnSpPr>
            <p:nvPr/>
          </p:nvCxnSpPr>
          <p:spPr>
            <a:xfrm flipH="1">
              <a:off x="4164021" y="5660462"/>
              <a:ext cx="331929" cy="232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81794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" name="组合 36">
            <a:extLst>
              <a:ext uri="{FF2B5EF4-FFF2-40B4-BE49-F238E27FC236}">
                <a16:creationId xmlns:a16="http://schemas.microsoft.com/office/drawing/2014/main" id="{7276810C-F123-4E9D-9654-A30052B6CA02}"/>
              </a:ext>
            </a:extLst>
          </p:cNvPr>
          <p:cNvGrpSpPr/>
          <p:nvPr/>
        </p:nvGrpSpPr>
        <p:grpSpPr>
          <a:xfrm>
            <a:off x="5990897" y="5167312"/>
            <a:ext cx="2700690" cy="1039096"/>
            <a:chOff x="2122785" y="5296780"/>
            <a:chExt cx="2700690" cy="1039096"/>
          </a:xfrm>
        </p:grpSpPr>
        <p:sp>
          <p:nvSpPr>
            <p:cNvPr id="38" name="椭圆 37">
              <a:extLst>
                <a:ext uri="{FF2B5EF4-FFF2-40B4-BE49-F238E27FC236}">
                  <a16:creationId xmlns:a16="http://schemas.microsoft.com/office/drawing/2014/main" id="{B078B623-5CEE-457A-A7E1-E6228800B2BB}"/>
                </a:ext>
              </a:extLst>
            </p:cNvPr>
            <p:cNvSpPr/>
            <p:nvPr/>
          </p:nvSpPr>
          <p:spPr>
            <a:xfrm>
              <a:off x="2122785" y="5296780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A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39" name="椭圆 38">
              <a:extLst>
                <a:ext uri="{FF2B5EF4-FFF2-40B4-BE49-F238E27FC236}">
                  <a16:creationId xmlns:a16="http://schemas.microsoft.com/office/drawing/2014/main" id="{A0D3379F-6983-495D-96A0-6D2F427C0AE1}"/>
                </a:ext>
              </a:extLst>
            </p:cNvPr>
            <p:cNvSpPr/>
            <p:nvPr/>
          </p:nvSpPr>
          <p:spPr>
            <a:xfrm>
              <a:off x="2542336" y="5956355"/>
              <a:ext cx="363682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D</a:t>
              </a:r>
            </a:p>
          </p:txBody>
        </p:sp>
        <p:sp>
          <p:nvSpPr>
            <p:cNvPr id="40" name="椭圆 39">
              <a:extLst>
                <a:ext uri="{FF2B5EF4-FFF2-40B4-BE49-F238E27FC236}">
                  <a16:creationId xmlns:a16="http://schemas.microsoft.com/office/drawing/2014/main" id="{EF50D13E-7810-43B5-9FD1-B66C942834B4}"/>
                </a:ext>
              </a:extLst>
            </p:cNvPr>
            <p:cNvSpPr/>
            <p:nvPr/>
          </p:nvSpPr>
          <p:spPr>
            <a:xfrm>
              <a:off x="3002548" y="5296780"/>
              <a:ext cx="655051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B,E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1" name="椭圆 40">
              <a:extLst>
                <a:ext uri="{FF2B5EF4-FFF2-40B4-BE49-F238E27FC236}">
                  <a16:creationId xmlns:a16="http://schemas.microsoft.com/office/drawing/2014/main" id="{84267968-85AE-4739-8DD6-536D0F6D7ED0}"/>
                </a:ext>
              </a:extLst>
            </p:cNvPr>
            <p:cNvSpPr/>
            <p:nvPr/>
          </p:nvSpPr>
          <p:spPr>
            <a:xfrm>
              <a:off x="3407534" y="5817459"/>
              <a:ext cx="886280" cy="518417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G,H,I</a:t>
              </a:r>
              <a:br>
                <a:rPr lang="en-US" sz="1600" dirty="0">
                  <a:solidFill>
                    <a:schemeClr val="tx1"/>
                  </a:solidFill>
                </a:rPr>
              </a:br>
              <a:r>
                <a:rPr lang="en-US" sz="1600" dirty="0">
                  <a:solidFill>
                    <a:schemeClr val="tx1"/>
                  </a:solidFill>
                </a:rPr>
                <a:t>J,K,L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42" name="椭圆 41">
              <a:extLst>
                <a:ext uri="{FF2B5EF4-FFF2-40B4-BE49-F238E27FC236}">
                  <a16:creationId xmlns:a16="http://schemas.microsoft.com/office/drawing/2014/main" id="{B8F39D39-A125-48A6-9F38-B5961F244CF5}"/>
                </a:ext>
              </a:extLst>
            </p:cNvPr>
            <p:cNvSpPr/>
            <p:nvPr/>
          </p:nvSpPr>
          <p:spPr>
            <a:xfrm>
              <a:off x="4168424" y="5296780"/>
              <a:ext cx="655051" cy="363682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dirty="0">
                  <a:solidFill>
                    <a:schemeClr val="tx1"/>
                  </a:solidFill>
                </a:rPr>
                <a:t>C,F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cxnSp>
          <p:nvCxnSpPr>
            <p:cNvPr id="43" name="直接箭头连接符 42">
              <a:extLst>
                <a:ext uri="{FF2B5EF4-FFF2-40B4-BE49-F238E27FC236}">
                  <a16:creationId xmlns:a16="http://schemas.microsoft.com/office/drawing/2014/main" id="{8C73EED3-99F3-43E6-B6C1-8A7E53D34EA6}"/>
                </a:ext>
              </a:extLst>
            </p:cNvPr>
            <p:cNvCxnSpPr>
              <a:stCxn id="38" idx="6"/>
              <a:endCxn id="40" idx="2"/>
            </p:cNvCxnSpPr>
            <p:nvPr/>
          </p:nvCxnSpPr>
          <p:spPr>
            <a:xfrm>
              <a:off x="2486467" y="5478621"/>
              <a:ext cx="516081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直接箭头连接符 43">
              <a:extLst>
                <a:ext uri="{FF2B5EF4-FFF2-40B4-BE49-F238E27FC236}">
                  <a16:creationId xmlns:a16="http://schemas.microsoft.com/office/drawing/2014/main" id="{C353A58A-F816-41DD-889A-48D5BD549116}"/>
                </a:ext>
              </a:extLst>
            </p:cNvPr>
            <p:cNvCxnSpPr>
              <a:cxnSpLocks/>
              <a:stCxn id="40" idx="6"/>
              <a:endCxn id="42" idx="2"/>
            </p:cNvCxnSpPr>
            <p:nvPr/>
          </p:nvCxnSpPr>
          <p:spPr>
            <a:xfrm>
              <a:off x="3657599" y="5478621"/>
              <a:ext cx="510825" cy="0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直接箭头连接符 44">
              <a:extLst>
                <a:ext uri="{FF2B5EF4-FFF2-40B4-BE49-F238E27FC236}">
                  <a16:creationId xmlns:a16="http://schemas.microsoft.com/office/drawing/2014/main" id="{7BE38B37-46E0-4252-9FD5-F2E2A136846F}"/>
                </a:ext>
              </a:extLst>
            </p:cNvPr>
            <p:cNvCxnSpPr>
              <a:cxnSpLocks/>
              <a:stCxn id="40" idx="3"/>
              <a:endCxn id="39" idx="7"/>
            </p:cNvCxnSpPr>
            <p:nvPr/>
          </p:nvCxnSpPr>
          <p:spPr>
            <a:xfrm flipH="1">
              <a:off x="2852758" y="5607202"/>
              <a:ext cx="245720" cy="40241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直接箭头连接符 45">
              <a:extLst>
                <a:ext uri="{FF2B5EF4-FFF2-40B4-BE49-F238E27FC236}">
                  <a16:creationId xmlns:a16="http://schemas.microsoft.com/office/drawing/2014/main" id="{65CB3120-F354-4C49-A6F0-9B442FC3950A}"/>
                </a:ext>
              </a:extLst>
            </p:cNvPr>
            <p:cNvCxnSpPr>
              <a:cxnSpLocks/>
              <a:stCxn id="40" idx="4"/>
              <a:endCxn id="41" idx="1"/>
            </p:cNvCxnSpPr>
            <p:nvPr/>
          </p:nvCxnSpPr>
          <p:spPr>
            <a:xfrm>
              <a:off x="3330074" y="5660462"/>
              <a:ext cx="207253" cy="232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直接箭头连接符 46">
              <a:extLst>
                <a:ext uri="{FF2B5EF4-FFF2-40B4-BE49-F238E27FC236}">
                  <a16:creationId xmlns:a16="http://schemas.microsoft.com/office/drawing/2014/main" id="{CE83B1AA-DCF2-4712-8AC0-2893EA5CCFA1}"/>
                </a:ext>
              </a:extLst>
            </p:cNvPr>
            <p:cNvCxnSpPr>
              <a:cxnSpLocks/>
              <a:stCxn id="42" idx="4"/>
              <a:endCxn id="41" idx="7"/>
            </p:cNvCxnSpPr>
            <p:nvPr/>
          </p:nvCxnSpPr>
          <p:spPr>
            <a:xfrm flipH="1">
              <a:off x="4164021" y="5660462"/>
              <a:ext cx="331929" cy="232917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DEEBB5A1-7E4E-46AB-8B94-0A0944D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SCC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D24E085-48F1-489D-B526-079C76D3A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1" y="1690688"/>
            <a:ext cx="5330716" cy="4802185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2000" dirty="0"/>
              <a:t>A component graph is a DAG.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Each DAG has at least one </a:t>
            </a: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</a:rPr>
              <a:t>source</a:t>
            </a:r>
            <a:r>
              <a:rPr lang="en-US" sz="2000" dirty="0"/>
              <a:t> and one </a:t>
            </a:r>
            <a:r>
              <a:rPr lang="en-US" sz="2000" b="1" dirty="0">
                <a:solidFill>
                  <a:schemeClr val="accent5">
                    <a:lumMod val="75000"/>
                  </a:schemeClr>
                </a:solidFill>
              </a:rPr>
              <a:t>sink</a:t>
            </a:r>
            <a:r>
              <a:rPr lang="en-US" sz="2000" dirty="0"/>
              <a:t>.</a:t>
            </a:r>
          </a:p>
          <a:p>
            <a:pPr>
              <a:spcBef>
                <a:spcPts val="600"/>
              </a:spcBef>
            </a:pPr>
            <a:r>
              <a:rPr lang="en-US" sz="2000" dirty="0">
                <a:solidFill>
                  <a:srgbClr val="C00000"/>
                </a:solidFill>
              </a:rPr>
              <a:t>If we start from a node in a sink SCC, then we explore exactly nodes in that SCC and stop!</a:t>
            </a:r>
            <a:br>
              <a:rPr lang="en-US" sz="2000" dirty="0"/>
            </a:br>
            <a:r>
              <a:rPr lang="en-US" sz="180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(Due to the white-path theorem.)</a:t>
            </a:r>
            <a:endParaRPr lang="en-US" sz="2000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>
              <a:spcBef>
                <a:spcPts val="600"/>
              </a:spcBef>
            </a:pPr>
            <a:endParaRPr lang="en-US" sz="2000" dirty="0"/>
          </a:p>
          <a:p>
            <a:pPr>
              <a:spcBef>
                <a:spcPts val="600"/>
              </a:spcBef>
            </a:pPr>
            <a:r>
              <a:rPr lang="en-US" sz="2000" b="1" dirty="0"/>
              <a:t>A good start, but two problems exist: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1</a:t>
            </a:r>
            <a:r>
              <a:rPr lang="en-US" sz="2000" dirty="0"/>
              <a:t>) How to identify a node that is in a sink SCC?</a:t>
            </a:r>
          </a:p>
          <a:p>
            <a:pPr>
              <a:spcBef>
                <a:spcPts val="600"/>
              </a:spcBef>
            </a:pPr>
            <a:r>
              <a:rPr lang="en-US" sz="2000" dirty="0"/>
              <a:t>(</a:t>
            </a:r>
            <a:r>
              <a:rPr lang="en-US" sz="2000" b="1" dirty="0">
                <a:solidFill>
                  <a:schemeClr val="accent1">
                    <a:lumMod val="75000"/>
                  </a:schemeClr>
                </a:solidFill>
              </a:rPr>
              <a:t>2</a:t>
            </a:r>
            <a:r>
              <a:rPr lang="en-US" sz="2000" dirty="0"/>
              <a:t>) What to do when the first SCC is done?</a:t>
            </a:r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8886D3-03A8-49F3-8791-A3500AEF5F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47591" y="1798414"/>
            <a:ext cx="2367759" cy="29088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矩形: 圆角 5">
            <a:extLst>
              <a:ext uri="{FF2B5EF4-FFF2-40B4-BE49-F238E27FC236}">
                <a16:creationId xmlns:a16="http://schemas.microsoft.com/office/drawing/2014/main" id="{7C8C2280-72A8-416E-B659-7CBD991404E2}"/>
              </a:ext>
            </a:extLst>
          </p:cNvPr>
          <p:cNvSpPr/>
          <p:nvPr/>
        </p:nvSpPr>
        <p:spPr>
          <a:xfrm>
            <a:off x="5946588" y="5130454"/>
            <a:ext cx="463860" cy="437397"/>
          </a:xfrm>
          <a:prstGeom prst="roundRect">
            <a:avLst>
              <a:gd name="adj" fmla="val 2484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AE5AFF7-0981-40B2-88D6-D5DD765DED6D}"/>
              </a:ext>
            </a:extLst>
          </p:cNvPr>
          <p:cNvSpPr/>
          <p:nvPr/>
        </p:nvSpPr>
        <p:spPr>
          <a:xfrm>
            <a:off x="7205356" y="5599950"/>
            <a:ext cx="1045474" cy="691602"/>
          </a:xfrm>
          <a:prstGeom prst="roundRect">
            <a:avLst>
              <a:gd name="adj" fmla="val 24841"/>
            </a:avLst>
          </a:prstGeom>
          <a:solidFill>
            <a:schemeClr val="accent5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矩形: 圆角 47">
            <a:extLst>
              <a:ext uri="{FF2B5EF4-FFF2-40B4-BE49-F238E27FC236}">
                <a16:creationId xmlns:a16="http://schemas.microsoft.com/office/drawing/2014/main" id="{23585A7B-C13C-485F-9CB1-B066E9844FCB}"/>
              </a:ext>
            </a:extLst>
          </p:cNvPr>
          <p:cNvSpPr/>
          <p:nvPr/>
        </p:nvSpPr>
        <p:spPr>
          <a:xfrm>
            <a:off x="6371082" y="5786550"/>
            <a:ext cx="463860" cy="437397"/>
          </a:xfrm>
          <a:prstGeom prst="roundRect">
            <a:avLst>
              <a:gd name="adj" fmla="val 24841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0665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4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BB5A1-7E4E-46AB-8B94-0A0944D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SCC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690688"/>
                <a:ext cx="5416872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If we start from a node in a sink SCC, then we explore exactly nodes in that SCC and stop!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Good idea but two problems exist:</a:t>
                </a:r>
                <a:br>
                  <a:rPr lang="en-US" sz="2000" b="1" dirty="0"/>
                </a:b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1</a:t>
                </a:r>
                <a:r>
                  <a:rPr lang="en-US" sz="2000" dirty="0"/>
                  <a:t>) </a:t>
                </a:r>
                <a:r>
                  <a:rPr lang="en-US" sz="2000" dirty="0">
                    <a:solidFill>
                      <a:srgbClr val="C00000"/>
                    </a:solidFill>
                  </a:rPr>
                  <a:t>How to identify a node that is in a sink SCC?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(</a:t>
                </a:r>
                <a:r>
                  <a:rPr lang="en-US" sz="2000" b="1" dirty="0">
                    <a:solidFill>
                      <a:schemeClr val="bg1">
                        <a:lumMod val="75000"/>
                      </a:schemeClr>
                    </a:solidFill>
                  </a:rPr>
                  <a:t>2</a:t>
                </a: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) What to do when the first SCC is done?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Don’t do it directly: find a node in a </a:t>
                </a:r>
                <a:r>
                  <a:rPr lang="en-US" sz="2000" i="1" u="sng" dirty="0">
                    <a:solidFill>
                      <a:srgbClr val="C00000"/>
                    </a:solidFill>
                  </a:rPr>
                  <a:t>source</a:t>
                </a:r>
                <a:r>
                  <a:rPr lang="en-US" sz="2000" dirty="0">
                    <a:solidFill>
                      <a:srgbClr val="C00000"/>
                    </a:solidFill>
                  </a:rPr>
                  <a:t> SCC!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Reverse the direction of each edge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gets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/>
                  <a:t> have same set of SCCs.</a:t>
                </a:r>
              </a:p>
              <a:p>
                <a:pPr>
                  <a:spcBef>
                    <a:spcPts val="600"/>
                  </a:spcBef>
                </a:pP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/>
                  <a:t> have same vertex set, but the direction of each edge is reversed.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A source SCC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sz="20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𝐺</m:t>
                                </m:r>
                              </m:e>
                              <m:sup>
                                <m:r>
                                  <a:rPr lang="en-US" sz="20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sup>
                            </m:sSup>
                          </m:e>
                        </m:d>
                      </m:e>
                      <m:sup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 is a sink SCC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690688"/>
                <a:ext cx="5416872" cy="4802185"/>
              </a:xfrm>
              <a:blipFill>
                <a:blip r:embed="rId2"/>
                <a:stretch>
                  <a:fillRect l="-1012" t="-1269" r="-67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" name="图片 3">
            <a:extLst>
              <a:ext uri="{FF2B5EF4-FFF2-40B4-BE49-F238E27FC236}">
                <a16:creationId xmlns:a16="http://schemas.microsoft.com/office/drawing/2014/main" id="{C08886D3-03A8-49F3-8791-A3500AEF5F6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47590" y="2001111"/>
            <a:ext cx="2367759" cy="290884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45592F3-5115-40DE-A7C0-48C0816552ED}"/>
                  </a:ext>
                </a:extLst>
              </p:cNvPr>
              <p:cNvSpPr txBox="1"/>
              <p:nvPr/>
            </p:nvSpPr>
            <p:spPr>
              <a:xfrm>
                <a:off x="6162965" y="4536949"/>
                <a:ext cx="276422" cy="369332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400" b="0" i="1" smtClean="0">
                          <a:solidFill>
                            <a:schemeClr val="accent4">
                              <a:lumMod val="50000"/>
                            </a:schemeClr>
                          </a:solidFill>
                          <a:latin typeface="Cambria Math" panose="02040503050406030204" pitchFamily="18" charset="0"/>
                        </a:rPr>
                        <m:t>𝐺</m:t>
                      </m:r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3" name="文本框 32">
                <a:extLst>
                  <a:ext uri="{FF2B5EF4-FFF2-40B4-BE49-F238E27FC236}">
                    <a16:creationId xmlns:a16="http://schemas.microsoft.com/office/drawing/2014/main" id="{F45592F3-5115-40DE-A7C0-48C0816552E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62965" y="4536949"/>
                <a:ext cx="276422" cy="369332"/>
              </a:xfrm>
              <a:prstGeom prst="rect">
                <a:avLst/>
              </a:prstGeom>
              <a:blipFill>
                <a:blip r:embed="rId4"/>
                <a:stretch>
                  <a:fillRect l="-26667" r="-22222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组合 37">
            <a:extLst>
              <a:ext uri="{FF2B5EF4-FFF2-40B4-BE49-F238E27FC236}">
                <a16:creationId xmlns:a16="http://schemas.microsoft.com/office/drawing/2014/main" id="{8430CC67-18FC-46A2-AEDD-F043FEFDA18F}"/>
              </a:ext>
            </a:extLst>
          </p:cNvPr>
          <p:cNvGrpSpPr/>
          <p:nvPr/>
        </p:nvGrpSpPr>
        <p:grpSpPr>
          <a:xfrm>
            <a:off x="5900383" y="5348461"/>
            <a:ext cx="2861322" cy="1251991"/>
            <a:chOff x="5900383" y="5348461"/>
            <a:chExt cx="2861322" cy="1251991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879964C-AE19-490C-AC6F-E8F4FBC868AB}"/>
                </a:ext>
              </a:extLst>
            </p:cNvPr>
            <p:cNvSpPr/>
            <p:nvPr/>
          </p:nvSpPr>
          <p:spPr>
            <a:xfrm>
              <a:off x="5900383" y="5348461"/>
              <a:ext cx="2861322" cy="1251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FC6D4C9-E172-4092-B3E3-B87CB1086AF8}"/>
                </a:ext>
              </a:extLst>
            </p:cNvPr>
            <p:cNvGrpSpPr/>
            <p:nvPr/>
          </p:nvGrpSpPr>
          <p:grpSpPr>
            <a:xfrm>
              <a:off x="5981124" y="5453778"/>
              <a:ext cx="2700690" cy="1039096"/>
              <a:chOff x="2122785" y="5296780"/>
              <a:chExt cx="2700690" cy="1039096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871B654E-CAE8-40ED-AF19-595D3CA5F9EA}"/>
                  </a:ext>
                </a:extLst>
              </p:cNvPr>
              <p:cNvSpPr/>
              <p:nvPr/>
            </p:nvSpPr>
            <p:spPr>
              <a:xfrm>
                <a:off x="2122785" y="5296780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C6378330-EF93-4BB3-B89D-61CEF8036A23}"/>
                  </a:ext>
                </a:extLst>
              </p:cNvPr>
              <p:cNvSpPr/>
              <p:nvPr/>
            </p:nvSpPr>
            <p:spPr>
              <a:xfrm>
                <a:off x="2542336" y="5956355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9B5FC1CF-E427-4C7F-8F29-D49CCFC7CC89}"/>
                  </a:ext>
                </a:extLst>
              </p:cNvPr>
              <p:cNvSpPr/>
              <p:nvPr/>
            </p:nvSpPr>
            <p:spPr>
              <a:xfrm>
                <a:off x="3002548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B,E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DCDA609A-CCDA-47B3-8A90-558D3B6695E8}"/>
                  </a:ext>
                </a:extLst>
              </p:cNvPr>
              <p:cNvSpPr/>
              <p:nvPr/>
            </p:nvSpPr>
            <p:spPr>
              <a:xfrm>
                <a:off x="3407534" y="5817459"/>
                <a:ext cx="886280" cy="51841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G,H,I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J,K,L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A41AE039-E0C0-4B12-A46E-EB841180FA9D}"/>
                  </a:ext>
                </a:extLst>
              </p:cNvPr>
              <p:cNvSpPr/>
              <p:nvPr/>
            </p:nvSpPr>
            <p:spPr>
              <a:xfrm>
                <a:off x="4168424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C,F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3EB1CC32-2F80-4EDA-AAFF-C7F1F4F8E9EE}"/>
                  </a:ext>
                </a:extLst>
              </p:cNvPr>
              <p:cNvCxnSpPr>
                <a:stCxn id="11" idx="6"/>
                <a:endCxn id="13" idx="2"/>
              </p:cNvCxnSpPr>
              <p:nvPr/>
            </p:nvCxnSpPr>
            <p:spPr>
              <a:xfrm>
                <a:off x="2486467" y="5478621"/>
                <a:ext cx="51608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24B7D2E7-B5CC-437A-814E-1B3B42A1658D}"/>
                  </a:ext>
                </a:extLst>
              </p:cNvPr>
              <p:cNvCxnSpPr>
                <a:cxnSpLocks/>
                <a:stCxn id="13" idx="6"/>
                <a:endCxn id="15" idx="2"/>
              </p:cNvCxnSpPr>
              <p:nvPr/>
            </p:nvCxnSpPr>
            <p:spPr>
              <a:xfrm>
                <a:off x="3657599" y="5478621"/>
                <a:ext cx="51082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66615B96-71D9-4448-88DE-126DC46564F5}"/>
                  </a:ext>
                </a:extLst>
              </p:cNvPr>
              <p:cNvCxnSpPr>
                <a:cxnSpLocks/>
                <a:stCxn id="13" idx="3"/>
                <a:endCxn id="12" idx="7"/>
              </p:cNvCxnSpPr>
              <p:nvPr/>
            </p:nvCxnSpPr>
            <p:spPr>
              <a:xfrm flipH="1">
                <a:off x="2852758" y="5607202"/>
                <a:ext cx="245720" cy="4024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A49C8E68-6E91-4B5E-8CFB-585A1BE42BF1}"/>
                  </a:ext>
                </a:extLst>
              </p:cNvPr>
              <p:cNvCxnSpPr>
                <a:cxnSpLocks/>
                <a:stCxn id="13" idx="4"/>
                <a:endCxn id="14" idx="1"/>
              </p:cNvCxnSpPr>
              <p:nvPr/>
            </p:nvCxnSpPr>
            <p:spPr>
              <a:xfrm>
                <a:off x="3330074" y="5660462"/>
                <a:ext cx="207253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92185AB9-A5FA-4B7C-A2DA-CA599F474EF5}"/>
                  </a:ext>
                </a:extLst>
              </p:cNvPr>
              <p:cNvCxnSpPr>
                <a:cxnSpLocks/>
                <a:stCxn id="15" idx="4"/>
                <a:endCxn id="14" idx="7"/>
              </p:cNvCxnSpPr>
              <p:nvPr/>
            </p:nvCxnSpPr>
            <p:spPr>
              <a:xfrm flipH="1">
                <a:off x="4164021" y="5660462"/>
                <a:ext cx="331929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EA3369F-2147-442D-9B4D-784A7C98F131}"/>
                    </a:ext>
                  </a:extLst>
                </p:cNvPr>
                <p:cNvSpPr txBox="1"/>
                <p:nvPr/>
              </p:nvSpPr>
              <p:spPr>
                <a:xfrm>
                  <a:off x="8242261" y="6122322"/>
                  <a:ext cx="440570" cy="3705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EA3369F-2147-442D-9B4D-784A7C98F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261" y="6122322"/>
                  <a:ext cx="440570" cy="370551"/>
                </a:xfrm>
                <a:prstGeom prst="rect">
                  <a:avLst/>
                </a:prstGeom>
                <a:blipFill>
                  <a:blip r:embed="rId5"/>
                  <a:stretch>
                    <a:fillRect l="-15278" t="-1639" r="-555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A635C3B-5CB9-4C92-932F-FF28507640B5}"/>
              </a:ext>
            </a:extLst>
          </p:cNvPr>
          <p:cNvGrpSpPr/>
          <p:nvPr/>
        </p:nvGrpSpPr>
        <p:grpSpPr>
          <a:xfrm>
            <a:off x="2184934" y="5348461"/>
            <a:ext cx="3217018" cy="1251991"/>
            <a:chOff x="2532510" y="5348461"/>
            <a:chExt cx="3217018" cy="1251991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F19172E4-3946-4083-BDB6-926E25FF6AC5}"/>
                </a:ext>
              </a:extLst>
            </p:cNvPr>
            <p:cNvSpPr/>
            <p:nvPr/>
          </p:nvSpPr>
          <p:spPr>
            <a:xfrm>
              <a:off x="2532510" y="5348461"/>
              <a:ext cx="3217018" cy="1251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E61B26D-A3E5-43CF-A220-BA3C200920E3}"/>
                </a:ext>
              </a:extLst>
            </p:cNvPr>
            <p:cNvGrpSpPr/>
            <p:nvPr/>
          </p:nvGrpSpPr>
          <p:grpSpPr>
            <a:xfrm>
              <a:off x="2614860" y="5453778"/>
              <a:ext cx="2700690" cy="1039096"/>
              <a:chOff x="2122785" y="5296780"/>
              <a:chExt cx="2700690" cy="1039096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F86D55A-AF97-47C8-865D-B99571C943FE}"/>
                  </a:ext>
                </a:extLst>
              </p:cNvPr>
              <p:cNvSpPr/>
              <p:nvPr/>
            </p:nvSpPr>
            <p:spPr>
              <a:xfrm>
                <a:off x="2122785" y="5296780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E208FF75-6AD5-4A81-BB8E-088E1BAEFF9C}"/>
                  </a:ext>
                </a:extLst>
              </p:cNvPr>
              <p:cNvSpPr/>
              <p:nvPr/>
            </p:nvSpPr>
            <p:spPr>
              <a:xfrm>
                <a:off x="2542336" y="5956355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59CFABC-326B-4AF2-AAAA-3C905A55B9BA}"/>
                  </a:ext>
                </a:extLst>
              </p:cNvPr>
              <p:cNvSpPr/>
              <p:nvPr/>
            </p:nvSpPr>
            <p:spPr>
              <a:xfrm>
                <a:off x="3002548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B,E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CCE4E3A8-FAD5-4D40-A9A0-565B0C046F70}"/>
                  </a:ext>
                </a:extLst>
              </p:cNvPr>
              <p:cNvSpPr/>
              <p:nvPr/>
            </p:nvSpPr>
            <p:spPr>
              <a:xfrm>
                <a:off x="3407534" y="5817459"/>
                <a:ext cx="886280" cy="51841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G,H,I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J,K,L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6B9B5C4A-569D-46A3-8340-0CDE13D18624}"/>
                  </a:ext>
                </a:extLst>
              </p:cNvPr>
              <p:cNvSpPr/>
              <p:nvPr/>
            </p:nvSpPr>
            <p:spPr>
              <a:xfrm>
                <a:off x="4168424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C,F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3244B7C0-7FCD-41AB-B58A-B1F72737A713}"/>
                  </a:ext>
                </a:extLst>
              </p:cNvPr>
              <p:cNvCxnSpPr>
                <a:stCxn id="23" idx="6"/>
                <a:endCxn id="25" idx="2"/>
              </p:cNvCxnSpPr>
              <p:nvPr/>
            </p:nvCxnSpPr>
            <p:spPr>
              <a:xfrm>
                <a:off x="2486467" y="5478621"/>
                <a:ext cx="51608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21C525CA-AA0D-4840-85BD-DCEF90F05FC4}"/>
                  </a:ext>
                </a:extLst>
              </p:cNvPr>
              <p:cNvCxnSpPr>
                <a:cxnSpLocks/>
                <a:stCxn id="25" idx="6"/>
                <a:endCxn id="27" idx="2"/>
              </p:cNvCxnSpPr>
              <p:nvPr/>
            </p:nvCxnSpPr>
            <p:spPr>
              <a:xfrm>
                <a:off x="3657599" y="5478621"/>
                <a:ext cx="51082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484B689E-6172-4D59-BBE9-047EE73B74BB}"/>
                  </a:ext>
                </a:extLst>
              </p:cNvPr>
              <p:cNvCxnSpPr>
                <a:cxnSpLocks/>
                <a:stCxn id="25" idx="3"/>
                <a:endCxn id="24" idx="7"/>
              </p:cNvCxnSpPr>
              <p:nvPr/>
            </p:nvCxnSpPr>
            <p:spPr>
              <a:xfrm flipH="1">
                <a:off x="2852758" y="5607202"/>
                <a:ext cx="245720" cy="4024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A7233EA9-1BFB-481E-82D4-14187B9F1C43}"/>
                  </a:ext>
                </a:extLst>
              </p:cNvPr>
              <p:cNvCxnSpPr>
                <a:cxnSpLocks/>
                <a:stCxn id="25" idx="4"/>
                <a:endCxn id="26" idx="1"/>
              </p:cNvCxnSpPr>
              <p:nvPr/>
            </p:nvCxnSpPr>
            <p:spPr>
              <a:xfrm>
                <a:off x="3330074" y="5660462"/>
                <a:ext cx="207253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E7D6E906-2527-43A5-BADA-62F38A1521CD}"/>
                  </a:ext>
                </a:extLst>
              </p:cNvPr>
              <p:cNvCxnSpPr>
                <a:cxnSpLocks/>
                <a:stCxn id="27" idx="4"/>
                <a:endCxn id="26" idx="7"/>
              </p:cNvCxnSpPr>
              <p:nvPr/>
            </p:nvCxnSpPr>
            <p:spPr>
              <a:xfrm flipH="1">
                <a:off x="4164021" y="5660462"/>
                <a:ext cx="331929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B740121-37CD-4901-9BE4-AF460FB8DDB7}"/>
                    </a:ext>
                  </a:extLst>
                </p:cNvPr>
                <p:cNvSpPr txBox="1"/>
                <p:nvPr/>
              </p:nvSpPr>
              <p:spPr>
                <a:xfrm>
                  <a:off x="4874660" y="6168302"/>
                  <a:ext cx="863057" cy="3705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B740121-37CD-4901-9BE4-AF460FB8D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60" y="6168302"/>
                  <a:ext cx="863057" cy="370551"/>
                </a:xfrm>
                <a:prstGeom prst="rect">
                  <a:avLst/>
                </a:prstGeom>
                <a:blipFill>
                  <a:blip r:embed="rId6"/>
                  <a:stretch>
                    <a:fillRect t="-3279" r="-2128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81553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BB5A1-7E4E-46AB-8B94-0A0944D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SCC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690688"/>
                <a:ext cx="5279513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If we start from a node in a sink SCC, then we explore exactly nodes in that SCC and stop!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Good idea but two problems exist:</a:t>
                </a:r>
                <a:br>
                  <a:rPr lang="en-US" sz="2000" b="1" dirty="0"/>
                </a:br>
                <a:r>
                  <a:rPr lang="en-US" sz="2000" dirty="0"/>
                  <a:t>(</a:t>
                </a:r>
                <a:r>
                  <a:rPr lang="en-US" sz="2000" b="1" dirty="0">
                    <a:solidFill>
                      <a:schemeClr val="accent1">
                        <a:lumMod val="75000"/>
                      </a:schemeClr>
                    </a:solidFill>
                  </a:rPr>
                  <a:t>1</a:t>
                </a:r>
                <a:r>
                  <a:rPr lang="en-US" sz="2000" dirty="0"/>
                  <a:t>) </a:t>
                </a:r>
                <a:r>
                  <a:rPr lang="en-US" sz="2000" dirty="0">
                    <a:solidFill>
                      <a:srgbClr val="C00000"/>
                    </a:solidFill>
                  </a:rPr>
                  <a:t>How to identify a node that is in a sink SCC?</a:t>
                </a:r>
                <a:br>
                  <a:rPr lang="en-US" sz="2000" dirty="0">
                    <a:solidFill>
                      <a:srgbClr val="C00000"/>
                    </a:solidFill>
                  </a:rPr>
                </a:b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(</a:t>
                </a:r>
                <a:r>
                  <a:rPr lang="en-US" sz="2000" b="1" dirty="0">
                    <a:solidFill>
                      <a:schemeClr val="bg1">
                        <a:lumMod val="75000"/>
                      </a:schemeClr>
                    </a:solidFill>
                  </a:rPr>
                  <a:t>2</a:t>
                </a:r>
                <a:r>
                  <a:rPr lang="en-US" sz="2000" dirty="0">
                    <a:solidFill>
                      <a:schemeClr val="bg1">
                        <a:lumMod val="75000"/>
                      </a:schemeClr>
                    </a:solidFill>
                  </a:rPr>
                  <a:t>) What to do when the first SCC is done?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time, </a:t>
                </a:r>
                <a:b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then find a node in a </a:t>
                </a:r>
                <a:r>
                  <a:rPr lang="en-US" sz="2000" i="1" u="sng" dirty="0">
                    <a:solidFill>
                      <a:schemeClr val="accent1">
                        <a:lumMod val="50000"/>
                      </a:schemeClr>
                    </a:solidFill>
                  </a:rPr>
                  <a:t>source</a:t>
                </a: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SCC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/>
                  <a:t>But how to find such a node?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rgbClr val="C00000"/>
                    </a:solidFill>
                  </a:rPr>
                  <a:t>Do DFS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, then the node with maximum finish time is guaranteed to be in source SCC.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50000"/>
                      </a:schemeClr>
                    </a:solidFill>
                  </a:rPr>
                  <a:t>Lemma:</a:t>
                </a: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 for any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,</a:t>
                </a:r>
                <a:b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if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,</a:t>
                </a:r>
                <a:b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i="1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sz="20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 b="0" i="0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b="0" i="1" smtClean="0">
                                    <a:solidFill>
                                      <a:schemeClr val="accent6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b="0" i="1" smtClean="0">
                                <a:solidFill>
                                  <a:schemeClr val="accent6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690688"/>
                <a:ext cx="5279513" cy="4802185"/>
              </a:xfrm>
              <a:blipFill>
                <a:blip r:embed="rId2"/>
                <a:stretch>
                  <a:fillRect l="-1039" t="-1269" r="-92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44351A82-5DE1-4D3B-875A-DBA3CBF66F14}"/>
              </a:ext>
            </a:extLst>
          </p:cNvPr>
          <p:cNvGrpSpPr/>
          <p:nvPr/>
        </p:nvGrpSpPr>
        <p:grpSpPr>
          <a:xfrm>
            <a:off x="6147590" y="801535"/>
            <a:ext cx="2367759" cy="2908845"/>
            <a:chOff x="6147590" y="2001111"/>
            <a:chExt cx="2367759" cy="290884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08886D3-03A8-49F3-8791-A3500AEF5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7590" y="2001111"/>
              <a:ext cx="2367759" cy="290884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45592F3-5115-40DE-A7C0-48C0816552ED}"/>
                    </a:ext>
                  </a:extLst>
                </p:cNvPr>
                <p:cNvSpPr txBox="1"/>
                <p:nvPr/>
              </p:nvSpPr>
              <p:spPr>
                <a:xfrm>
                  <a:off x="6162965" y="4536949"/>
                  <a:ext cx="27642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45592F3-5115-40DE-A7C0-48C081655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2965" y="4536949"/>
                  <a:ext cx="27642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6667" r="-22222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430CC67-18FC-46A2-AEDD-F043FEFDA18F}"/>
              </a:ext>
            </a:extLst>
          </p:cNvPr>
          <p:cNvGrpSpPr/>
          <p:nvPr/>
        </p:nvGrpSpPr>
        <p:grpSpPr>
          <a:xfrm>
            <a:off x="5900383" y="3915321"/>
            <a:ext cx="2861322" cy="1251991"/>
            <a:chOff x="5900383" y="5348461"/>
            <a:chExt cx="2861322" cy="1251991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879964C-AE19-490C-AC6F-E8F4FBC868AB}"/>
                </a:ext>
              </a:extLst>
            </p:cNvPr>
            <p:cNvSpPr/>
            <p:nvPr/>
          </p:nvSpPr>
          <p:spPr>
            <a:xfrm>
              <a:off x="5900383" y="5348461"/>
              <a:ext cx="2861322" cy="1251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FC6D4C9-E172-4092-B3E3-B87CB1086AF8}"/>
                </a:ext>
              </a:extLst>
            </p:cNvPr>
            <p:cNvGrpSpPr/>
            <p:nvPr/>
          </p:nvGrpSpPr>
          <p:grpSpPr>
            <a:xfrm>
              <a:off x="5981124" y="5453778"/>
              <a:ext cx="2700690" cy="1039096"/>
              <a:chOff x="2122785" y="5296780"/>
              <a:chExt cx="2700690" cy="1039096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871B654E-CAE8-40ED-AF19-595D3CA5F9EA}"/>
                  </a:ext>
                </a:extLst>
              </p:cNvPr>
              <p:cNvSpPr/>
              <p:nvPr/>
            </p:nvSpPr>
            <p:spPr>
              <a:xfrm>
                <a:off x="2122785" y="5296780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C6378330-EF93-4BB3-B89D-61CEF8036A23}"/>
                  </a:ext>
                </a:extLst>
              </p:cNvPr>
              <p:cNvSpPr/>
              <p:nvPr/>
            </p:nvSpPr>
            <p:spPr>
              <a:xfrm>
                <a:off x="2542336" y="5956355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9B5FC1CF-E427-4C7F-8F29-D49CCFC7CC89}"/>
                  </a:ext>
                </a:extLst>
              </p:cNvPr>
              <p:cNvSpPr/>
              <p:nvPr/>
            </p:nvSpPr>
            <p:spPr>
              <a:xfrm>
                <a:off x="3002548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B,E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DCDA609A-CCDA-47B3-8A90-558D3B6695E8}"/>
                  </a:ext>
                </a:extLst>
              </p:cNvPr>
              <p:cNvSpPr/>
              <p:nvPr/>
            </p:nvSpPr>
            <p:spPr>
              <a:xfrm>
                <a:off x="3407534" y="5817459"/>
                <a:ext cx="886280" cy="51841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G,H,I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J,K,L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A41AE039-E0C0-4B12-A46E-EB841180FA9D}"/>
                  </a:ext>
                </a:extLst>
              </p:cNvPr>
              <p:cNvSpPr/>
              <p:nvPr/>
            </p:nvSpPr>
            <p:spPr>
              <a:xfrm>
                <a:off x="4168424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C,F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3EB1CC32-2F80-4EDA-AAFF-C7F1F4F8E9EE}"/>
                  </a:ext>
                </a:extLst>
              </p:cNvPr>
              <p:cNvCxnSpPr>
                <a:stCxn id="11" idx="6"/>
                <a:endCxn id="13" idx="2"/>
              </p:cNvCxnSpPr>
              <p:nvPr/>
            </p:nvCxnSpPr>
            <p:spPr>
              <a:xfrm>
                <a:off x="2486467" y="5478621"/>
                <a:ext cx="51608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24B7D2E7-B5CC-437A-814E-1B3B42A1658D}"/>
                  </a:ext>
                </a:extLst>
              </p:cNvPr>
              <p:cNvCxnSpPr>
                <a:cxnSpLocks/>
                <a:stCxn id="13" idx="6"/>
                <a:endCxn id="15" idx="2"/>
              </p:cNvCxnSpPr>
              <p:nvPr/>
            </p:nvCxnSpPr>
            <p:spPr>
              <a:xfrm>
                <a:off x="3657599" y="5478621"/>
                <a:ext cx="51082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66615B96-71D9-4448-88DE-126DC46564F5}"/>
                  </a:ext>
                </a:extLst>
              </p:cNvPr>
              <p:cNvCxnSpPr>
                <a:cxnSpLocks/>
                <a:stCxn id="13" idx="3"/>
                <a:endCxn id="12" idx="7"/>
              </p:cNvCxnSpPr>
              <p:nvPr/>
            </p:nvCxnSpPr>
            <p:spPr>
              <a:xfrm flipH="1">
                <a:off x="2852758" y="5607202"/>
                <a:ext cx="245720" cy="4024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A49C8E68-6E91-4B5E-8CFB-585A1BE42BF1}"/>
                  </a:ext>
                </a:extLst>
              </p:cNvPr>
              <p:cNvCxnSpPr>
                <a:cxnSpLocks/>
                <a:stCxn id="13" idx="4"/>
                <a:endCxn id="14" idx="1"/>
              </p:cNvCxnSpPr>
              <p:nvPr/>
            </p:nvCxnSpPr>
            <p:spPr>
              <a:xfrm>
                <a:off x="3330074" y="5660462"/>
                <a:ext cx="207253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92185AB9-A5FA-4B7C-A2DA-CA599F474EF5}"/>
                  </a:ext>
                </a:extLst>
              </p:cNvPr>
              <p:cNvCxnSpPr>
                <a:cxnSpLocks/>
                <a:stCxn id="15" idx="4"/>
                <a:endCxn id="14" idx="7"/>
              </p:cNvCxnSpPr>
              <p:nvPr/>
            </p:nvCxnSpPr>
            <p:spPr>
              <a:xfrm flipH="1">
                <a:off x="4164021" y="5660462"/>
                <a:ext cx="331929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EA3369F-2147-442D-9B4D-784A7C98F131}"/>
                    </a:ext>
                  </a:extLst>
                </p:cNvPr>
                <p:cNvSpPr txBox="1"/>
                <p:nvPr/>
              </p:nvSpPr>
              <p:spPr>
                <a:xfrm>
                  <a:off x="8242261" y="6122322"/>
                  <a:ext cx="440570" cy="3705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EA3369F-2147-442D-9B4D-784A7C98F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261" y="6122322"/>
                  <a:ext cx="440570" cy="370551"/>
                </a:xfrm>
                <a:prstGeom prst="rect">
                  <a:avLst/>
                </a:prstGeom>
                <a:blipFill>
                  <a:blip r:embed="rId5"/>
                  <a:stretch>
                    <a:fillRect l="-15278" t="-1639" r="-555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A635C3B-5CB9-4C92-932F-FF28507640B5}"/>
              </a:ext>
            </a:extLst>
          </p:cNvPr>
          <p:cNvGrpSpPr/>
          <p:nvPr/>
        </p:nvGrpSpPr>
        <p:grpSpPr>
          <a:xfrm>
            <a:off x="5722535" y="5348461"/>
            <a:ext cx="3217018" cy="1251991"/>
            <a:chOff x="2532510" y="5348461"/>
            <a:chExt cx="3217018" cy="1251991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F19172E4-3946-4083-BDB6-926E25FF6AC5}"/>
                </a:ext>
              </a:extLst>
            </p:cNvPr>
            <p:cNvSpPr/>
            <p:nvPr/>
          </p:nvSpPr>
          <p:spPr>
            <a:xfrm>
              <a:off x="2532510" y="5348461"/>
              <a:ext cx="3217018" cy="1251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E61B26D-A3E5-43CF-A220-BA3C200920E3}"/>
                </a:ext>
              </a:extLst>
            </p:cNvPr>
            <p:cNvGrpSpPr/>
            <p:nvPr/>
          </p:nvGrpSpPr>
          <p:grpSpPr>
            <a:xfrm>
              <a:off x="2614860" y="5453778"/>
              <a:ext cx="2700690" cy="1039096"/>
              <a:chOff x="2122785" y="5296780"/>
              <a:chExt cx="2700690" cy="1039096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F86D55A-AF97-47C8-865D-B99571C943FE}"/>
                  </a:ext>
                </a:extLst>
              </p:cNvPr>
              <p:cNvSpPr/>
              <p:nvPr/>
            </p:nvSpPr>
            <p:spPr>
              <a:xfrm>
                <a:off x="2122785" y="5296780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E208FF75-6AD5-4A81-BB8E-088E1BAEFF9C}"/>
                  </a:ext>
                </a:extLst>
              </p:cNvPr>
              <p:cNvSpPr/>
              <p:nvPr/>
            </p:nvSpPr>
            <p:spPr>
              <a:xfrm>
                <a:off x="2542336" y="5956355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59CFABC-326B-4AF2-AAAA-3C905A55B9BA}"/>
                  </a:ext>
                </a:extLst>
              </p:cNvPr>
              <p:cNvSpPr/>
              <p:nvPr/>
            </p:nvSpPr>
            <p:spPr>
              <a:xfrm>
                <a:off x="3002548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B,E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CCE4E3A8-FAD5-4D40-A9A0-565B0C046F70}"/>
                  </a:ext>
                </a:extLst>
              </p:cNvPr>
              <p:cNvSpPr/>
              <p:nvPr/>
            </p:nvSpPr>
            <p:spPr>
              <a:xfrm>
                <a:off x="3407534" y="5817459"/>
                <a:ext cx="886280" cy="51841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G,H,I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J,K,L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6B9B5C4A-569D-46A3-8340-0CDE13D18624}"/>
                  </a:ext>
                </a:extLst>
              </p:cNvPr>
              <p:cNvSpPr/>
              <p:nvPr/>
            </p:nvSpPr>
            <p:spPr>
              <a:xfrm>
                <a:off x="4168424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C,F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3244B7C0-7FCD-41AB-B58A-B1F72737A713}"/>
                  </a:ext>
                </a:extLst>
              </p:cNvPr>
              <p:cNvCxnSpPr>
                <a:stCxn id="23" idx="6"/>
                <a:endCxn id="25" idx="2"/>
              </p:cNvCxnSpPr>
              <p:nvPr/>
            </p:nvCxnSpPr>
            <p:spPr>
              <a:xfrm>
                <a:off x="2486467" y="5478621"/>
                <a:ext cx="51608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21C525CA-AA0D-4840-85BD-DCEF90F05FC4}"/>
                  </a:ext>
                </a:extLst>
              </p:cNvPr>
              <p:cNvCxnSpPr>
                <a:cxnSpLocks/>
                <a:stCxn id="25" idx="6"/>
                <a:endCxn id="27" idx="2"/>
              </p:cNvCxnSpPr>
              <p:nvPr/>
            </p:nvCxnSpPr>
            <p:spPr>
              <a:xfrm>
                <a:off x="3657599" y="5478621"/>
                <a:ext cx="51082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484B689E-6172-4D59-BBE9-047EE73B74BB}"/>
                  </a:ext>
                </a:extLst>
              </p:cNvPr>
              <p:cNvCxnSpPr>
                <a:cxnSpLocks/>
                <a:stCxn id="25" idx="3"/>
                <a:endCxn id="24" idx="7"/>
              </p:cNvCxnSpPr>
              <p:nvPr/>
            </p:nvCxnSpPr>
            <p:spPr>
              <a:xfrm flipH="1">
                <a:off x="2852758" y="5607202"/>
                <a:ext cx="245720" cy="4024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A7233EA9-1BFB-481E-82D4-14187B9F1C43}"/>
                  </a:ext>
                </a:extLst>
              </p:cNvPr>
              <p:cNvCxnSpPr>
                <a:cxnSpLocks/>
                <a:stCxn id="25" idx="4"/>
                <a:endCxn id="26" idx="1"/>
              </p:cNvCxnSpPr>
              <p:nvPr/>
            </p:nvCxnSpPr>
            <p:spPr>
              <a:xfrm>
                <a:off x="3330074" y="5660462"/>
                <a:ext cx="207253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E7D6E906-2527-43A5-BADA-62F38A1521CD}"/>
                  </a:ext>
                </a:extLst>
              </p:cNvPr>
              <p:cNvCxnSpPr>
                <a:cxnSpLocks/>
                <a:stCxn id="27" idx="4"/>
                <a:endCxn id="26" idx="7"/>
              </p:cNvCxnSpPr>
              <p:nvPr/>
            </p:nvCxnSpPr>
            <p:spPr>
              <a:xfrm flipH="1">
                <a:off x="4164021" y="5660462"/>
                <a:ext cx="331929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B740121-37CD-4901-9BE4-AF460FB8DDB7}"/>
                    </a:ext>
                  </a:extLst>
                </p:cNvPr>
                <p:cNvSpPr txBox="1"/>
                <p:nvPr/>
              </p:nvSpPr>
              <p:spPr>
                <a:xfrm>
                  <a:off x="4874660" y="6168302"/>
                  <a:ext cx="863057" cy="3705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B740121-37CD-4901-9BE4-AF460FB8D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60" y="6168302"/>
                  <a:ext cx="863057" cy="370551"/>
                </a:xfrm>
                <a:prstGeom prst="rect">
                  <a:avLst/>
                </a:prstGeom>
                <a:blipFill>
                  <a:blip r:embed="rId6"/>
                  <a:stretch>
                    <a:fillRect t="-3279" r="-1408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3589383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421" end="5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A78DD3-82A8-42B1-882B-3DE277DDB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SCC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7278F6-F437-4F5E-A37E-7220AE150E4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6">
                        <a:lumMod val="50000"/>
                      </a:schemeClr>
                    </a:solidFill>
                  </a:rPr>
                  <a:t>Lemma</a:t>
                </a:r>
                <a:r>
                  <a:rPr lang="en-US" sz="2400" b="1" dirty="0">
                    <a:solidFill>
                      <a:schemeClr val="tx1"/>
                    </a:solidFill>
                  </a:rPr>
                  <a:t>:</a:t>
                </a:r>
                <a:r>
                  <a:rPr lang="en-US" sz="2400" dirty="0">
                    <a:solidFill>
                      <a:schemeClr val="tx1"/>
                    </a:solidFill>
                  </a:rPr>
                  <a:t> for any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 if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,</a:t>
                </a:r>
                <a:br>
                  <a:rPr lang="en-US" sz="2400" dirty="0">
                    <a:solidFill>
                      <a:schemeClr val="tx1"/>
                    </a:solidFill>
                  </a:rPr>
                </a:br>
                <a:r>
                  <a:rPr lang="en-US" sz="2400" dirty="0">
                    <a:solidFill>
                      <a:schemeClr val="tx1"/>
                    </a:solidFill>
                  </a:rPr>
                  <a:t>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sz="2400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US" sz="2400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40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400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400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400" dirty="0">
                    <a:solidFill>
                      <a:schemeClr val="tx1"/>
                    </a:solidFill>
                  </a:rPr>
                  <a:t>.</a:t>
                </a:r>
              </a:p>
              <a:p>
                <a:pPr>
                  <a:lnSpc>
                    <a:spcPct val="100000"/>
                  </a:lnSpc>
                  <a:spcBef>
                    <a:spcPts val="600"/>
                  </a:spcBef>
                </a:pPr>
                <a:r>
                  <a:rPr lang="en-US" sz="2400" b="1" dirty="0">
                    <a:solidFill>
                      <a:schemeClr val="accent1">
                        <a:lumMod val="50000"/>
                      </a:schemeClr>
                    </a:solidFill>
                  </a:rPr>
                  <a:t>Proof</a:t>
                </a:r>
                <a:r>
                  <a:rPr lang="en-US" sz="2400" b="1" dirty="0"/>
                  <a:t>: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000" dirty="0"/>
                  <a:t>Consider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, let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1800" dirty="0"/>
                  <a:t> be the first node visited by DFS.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, then all nodes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 will be visited before any node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is visited.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In this case, the lemma clearly is true.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If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𝑤</m:t>
                    </m:r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, at the time that DFS visits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1800" dirty="0"/>
                  <a:t>, for any node in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1800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1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1800" dirty="0"/>
                  <a:t>, there is a white-path from </a:t>
                </a:r>
                <a14:m>
                  <m:oMath xmlns:m="http://schemas.openxmlformats.org/officeDocument/2006/math">
                    <m:r>
                      <a:rPr lang="en-US" sz="1800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en-US" sz="1800" dirty="0"/>
                  <a:t> to that node.</a:t>
                </a:r>
              </a:p>
              <a:p>
                <a:pPr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1800" dirty="0"/>
                  <a:t>In this case, due to the white-path theorem, the lemma again holds.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BF7278F6-F437-4F5E-A37E-7220AE150E4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05" t="-98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93138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BB5A1-7E4E-46AB-8B94-0A0944D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SCC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690688"/>
                <a:ext cx="5279513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If we DFS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accent2">
                        <a:lumMod val="75000"/>
                      </a:schemeClr>
                    </a:solidFill>
                  </a:rPr>
                  <a:t> from a node in a sink SCC, then we explore exactly nodes in that SCC and stop!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Problem 1 in the strategy:</a:t>
                </a:r>
                <a:br>
                  <a:rPr lang="en-US" sz="2000" b="1" dirty="0"/>
                </a:br>
                <a:r>
                  <a:rPr lang="en-US" sz="2000" dirty="0">
                    <a:solidFill>
                      <a:srgbClr val="C00000"/>
                    </a:solidFill>
                  </a:rPr>
                  <a:t>How to identify a node in a sink SCC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rgbClr val="C00000"/>
                    </a:solidFill>
                  </a:rPr>
                  <a:t>?</a:t>
                </a:r>
                <a:endParaRPr lang="en-US" sz="2000" dirty="0"/>
              </a:p>
              <a:p>
                <a:pPr>
                  <a:spcBef>
                    <a:spcPts val="600"/>
                  </a:spcBef>
                </a:pPr>
                <a:r>
                  <a:rPr lang="en-US" sz="2000" b="1" dirty="0">
                    <a:solidFill>
                      <a:schemeClr val="accent6">
                        <a:lumMod val="75000"/>
                      </a:schemeClr>
                    </a:solidFill>
                  </a:rPr>
                  <a:t>Lemma</a:t>
                </a:r>
                <a:r>
                  <a:rPr lang="en-US" sz="2000" b="1" dirty="0"/>
                  <a:t>:</a:t>
                </a:r>
                <a:r>
                  <a:rPr lang="en-US" sz="2000" dirty="0"/>
                  <a:t> for any edge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𝑢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</m:d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sup>
                        </m:sSup>
                      </m:e>
                    </m:d>
                  </m:oMath>
                </a14:m>
                <a:r>
                  <a:rPr lang="en-US" sz="2000" dirty="0"/>
                  <a:t>, if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𝑢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sz="2000" dirty="0"/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sz="2000" i="1">
                        <a:latin typeface="Cambria Math" panose="02040503050406030204" pitchFamily="18" charset="0"/>
                      </a:rPr>
                      <m:t>∈</m:t>
                    </m:r>
                    <m:sSub>
                      <m:sSub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sz="20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sz="2000" dirty="0"/>
                  <a:t>, then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  <m:r>
                      <a:rPr lang="en-US" sz="2000" i="1">
                        <a:latin typeface="Cambria Math" panose="02040503050406030204" pitchFamily="18" charset="0"/>
                      </a:rPr>
                      <m:t>&gt;</m:t>
                    </m:r>
                    <m:func>
                      <m:funcPr>
                        <m:ctrlPr>
                          <a:rPr lang="en-US" sz="20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sz="2000">
                                <a:latin typeface="Cambria Math" panose="02040503050406030204" pitchFamily="18" charset="0"/>
                              </a:rPr>
                              <m:t>max</m:t>
                            </m:r>
                          </m:e>
                          <m:lim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∈</m:t>
                            </m:r>
                            <m:sSub>
                              <m:sSubPr>
                                <m:ctrlPr>
                                  <a:rPr lang="en-US" sz="2000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𝐶</m:t>
                                </m:r>
                              </m:e>
                              <m:sub>
                                <m:r>
                                  <a:rPr lang="en-US" sz="2000" i="1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lim>
                        </m:limLow>
                      </m:fName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000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.</m:t>
                            </m:r>
                            <m:r>
                              <a:rPr lang="en-US" sz="2000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</m:d>
                      </m:e>
                    </m:func>
                  </m:oMath>
                </a14:m>
                <a:r>
                  <a:rPr lang="en-US" sz="2000" dirty="0"/>
                  <a:t>.</a:t>
                </a:r>
                <a:endParaRPr lang="en-US" sz="2000" dirty="0">
                  <a:solidFill>
                    <a:schemeClr val="accent1">
                      <a:lumMod val="50000"/>
                    </a:schemeClr>
                  </a:solidFill>
                </a:endParaRP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1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time, do DFS in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  <a:t> and find the node with max finish time.</a:t>
                </a:r>
                <a:br>
                  <a:rPr lang="en-US" sz="2000" dirty="0">
                    <a:solidFill>
                      <a:schemeClr val="accent1">
                        <a:lumMod val="50000"/>
                      </a:schemeClr>
                    </a:solidFill>
                  </a:rPr>
                </a:br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(This node is in a source SCC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1800" i="1">
                            <a:solidFill>
                              <a:schemeClr val="tx1">
                                <a:lumMod val="65000"/>
                                <a:lumOff val="3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180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.)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b="1" dirty="0"/>
                  <a:t>Problem 2 in the strategy:</a:t>
                </a:r>
                <a:br>
                  <a:rPr lang="en-US" sz="2000" dirty="0"/>
                </a:br>
                <a:r>
                  <a:rPr lang="en-US" sz="2000" dirty="0">
                    <a:solidFill>
                      <a:srgbClr val="C00000"/>
                    </a:solidFill>
                  </a:rPr>
                  <a:t>What to do when the first SCC is found?</a:t>
                </a:r>
              </a:p>
              <a:p>
                <a:pPr>
                  <a:spcBef>
                    <a:spcPts val="600"/>
                  </a:spcBef>
                </a:pP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For remaining nodes in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, the node with max</a:t>
                </a:r>
                <a:b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finish time (in DFS of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solidFill>
                              <a:schemeClr val="accent6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) is again in a sink </a:t>
                </a:r>
                <a:b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</a:br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SCC, for whatever remains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solidFill>
                          <a:schemeClr val="accent6">
                            <a:lumMod val="50000"/>
                          </a:schemeClr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>
                    <a:solidFill>
                      <a:schemeClr val="accent6">
                        <a:lumMod val="50000"/>
                      </a:schemeClr>
                    </a:solidFill>
                  </a:rPr>
                  <a:t>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690688"/>
                <a:ext cx="5279513" cy="4802185"/>
              </a:xfrm>
              <a:blipFill>
                <a:blip r:embed="rId2"/>
                <a:stretch>
                  <a:fillRect l="-1039" t="-1269" r="-23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44351A82-5DE1-4D3B-875A-DBA3CBF66F14}"/>
              </a:ext>
            </a:extLst>
          </p:cNvPr>
          <p:cNvGrpSpPr/>
          <p:nvPr/>
        </p:nvGrpSpPr>
        <p:grpSpPr>
          <a:xfrm>
            <a:off x="6147590" y="801535"/>
            <a:ext cx="2367759" cy="2908845"/>
            <a:chOff x="6147590" y="2001111"/>
            <a:chExt cx="2367759" cy="290884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08886D3-03A8-49F3-8791-A3500AEF5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7590" y="2001111"/>
              <a:ext cx="2367759" cy="290884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45592F3-5115-40DE-A7C0-48C0816552ED}"/>
                    </a:ext>
                  </a:extLst>
                </p:cNvPr>
                <p:cNvSpPr txBox="1"/>
                <p:nvPr/>
              </p:nvSpPr>
              <p:spPr>
                <a:xfrm>
                  <a:off x="6162965" y="4536949"/>
                  <a:ext cx="27642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45592F3-5115-40DE-A7C0-48C081655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2965" y="4536949"/>
                  <a:ext cx="27642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6667" r="-22222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6" name="矩形: 圆角 35">
            <a:extLst>
              <a:ext uri="{FF2B5EF4-FFF2-40B4-BE49-F238E27FC236}">
                <a16:creationId xmlns:a16="http://schemas.microsoft.com/office/drawing/2014/main" id="{D879964C-AE19-490C-AC6F-E8F4FBC868AB}"/>
              </a:ext>
            </a:extLst>
          </p:cNvPr>
          <p:cNvSpPr/>
          <p:nvPr/>
        </p:nvSpPr>
        <p:spPr>
          <a:xfrm>
            <a:off x="5900383" y="3915321"/>
            <a:ext cx="2861322" cy="12519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椭圆 10">
            <a:extLst>
              <a:ext uri="{FF2B5EF4-FFF2-40B4-BE49-F238E27FC236}">
                <a16:creationId xmlns:a16="http://schemas.microsoft.com/office/drawing/2014/main" id="{871B654E-CAE8-40ED-AF19-595D3CA5F9EA}"/>
              </a:ext>
            </a:extLst>
          </p:cNvPr>
          <p:cNvSpPr/>
          <p:nvPr/>
        </p:nvSpPr>
        <p:spPr>
          <a:xfrm>
            <a:off x="5981124" y="4020638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C6378330-EF93-4BB3-B89D-61CEF8036A23}"/>
              </a:ext>
            </a:extLst>
          </p:cNvPr>
          <p:cNvSpPr/>
          <p:nvPr/>
        </p:nvSpPr>
        <p:spPr>
          <a:xfrm>
            <a:off x="6400675" y="4680213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13" name="椭圆 12">
            <a:extLst>
              <a:ext uri="{FF2B5EF4-FFF2-40B4-BE49-F238E27FC236}">
                <a16:creationId xmlns:a16="http://schemas.microsoft.com/office/drawing/2014/main" id="{9B5FC1CF-E427-4C7F-8F29-D49CCFC7CC89}"/>
              </a:ext>
            </a:extLst>
          </p:cNvPr>
          <p:cNvSpPr/>
          <p:nvPr/>
        </p:nvSpPr>
        <p:spPr>
          <a:xfrm>
            <a:off x="6860887" y="4020638"/>
            <a:ext cx="655051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B,E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DCDA609A-CCDA-47B3-8A90-558D3B6695E8}"/>
              </a:ext>
            </a:extLst>
          </p:cNvPr>
          <p:cNvSpPr/>
          <p:nvPr/>
        </p:nvSpPr>
        <p:spPr>
          <a:xfrm>
            <a:off x="7265873" y="4541317"/>
            <a:ext cx="886280" cy="518417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G,H,I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J,K,L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A41AE039-E0C0-4B12-A46E-EB841180FA9D}"/>
              </a:ext>
            </a:extLst>
          </p:cNvPr>
          <p:cNvSpPr/>
          <p:nvPr/>
        </p:nvSpPr>
        <p:spPr>
          <a:xfrm>
            <a:off x="8026763" y="4020638"/>
            <a:ext cx="655051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C,F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EB1CC32-2F80-4EDA-AAFF-C7F1F4F8E9EE}"/>
              </a:ext>
            </a:extLst>
          </p:cNvPr>
          <p:cNvCxnSpPr>
            <a:stCxn id="11" idx="6"/>
            <a:endCxn id="13" idx="2"/>
          </p:cNvCxnSpPr>
          <p:nvPr/>
        </p:nvCxnSpPr>
        <p:spPr>
          <a:xfrm>
            <a:off x="6344806" y="4202479"/>
            <a:ext cx="516081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>
            <a:extLst>
              <a:ext uri="{FF2B5EF4-FFF2-40B4-BE49-F238E27FC236}">
                <a16:creationId xmlns:a16="http://schemas.microsoft.com/office/drawing/2014/main" id="{24B7D2E7-B5CC-437A-814E-1B3B42A1658D}"/>
              </a:ext>
            </a:extLst>
          </p:cNvPr>
          <p:cNvCxnSpPr>
            <a:cxnSpLocks/>
            <a:stCxn id="13" idx="6"/>
            <a:endCxn id="15" idx="2"/>
          </p:cNvCxnSpPr>
          <p:nvPr/>
        </p:nvCxnSpPr>
        <p:spPr>
          <a:xfrm>
            <a:off x="7515938" y="4202479"/>
            <a:ext cx="510825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66615B96-71D9-4448-88DE-126DC46564F5}"/>
              </a:ext>
            </a:extLst>
          </p:cNvPr>
          <p:cNvCxnSpPr>
            <a:cxnSpLocks/>
            <a:stCxn id="13" idx="3"/>
            <a:endCxn id="12" idx="7"/>
          </p:cNvCxnSpPr>
          <p:nvPr/>
        </p:nvCxnSpPr>
        <p:spPr>
          <a:xfrm flipH="1">
            <a:off x="6711097" y="4331060"/>
            <a:ext cx="245720" cy="40241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A49C8E68-6E91-4B5E-8CFB-585A1BE42BF1}"/>
              </a:ext>
            </a:extLst>
          </p:cNvPr>
          <p:cNvCxnSpPr>
            <a:cxnSpLocks/>
            <a:stCxn id="13" idx="4"/>
            <a:endCxn id="14" idx="1"/>
          </p:cNvCxnSpPr>
          <p:nvPr/>
        </p:nvCxnSpPr>
        <p:spPr>
          <a:xfrm>
            <a:off x="7188413" y="4384320"/>
            <a:ext cx="207253" cy="2329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92185AB9-A5FA-4B7C-A2DA-CA599F474EF5}"/>
              </a:ext>
            </a:extLst>
          </p:cNvPr>
          <p:cNvCxnSpPr>
            <a:cxnSpLocks/>
            <a:stCxn id="15" idx="4"/>
            <a:endCxn id="14" idx="7"/>
          </p:cNvCxnSpPr>
          <p:nvPr/>
        </p:nvCxnSpPr>
        <p:spPr>
          <a:xfrm flipH="1">
            <a:off x="8022360" y="4384320"/>
            <a:ext cx="331929" cy="23291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EA3369F-2147-442D-9B4D-784A7C98F131}"/>
                  </a:ext>
                </a:extLst>
              </p:cNvPr>
              <p:cNvSpPr txBox="1"/>
              <p:nvPr/>
            </p:nvSpPr>
            <p:spPr>
              <a:xfrm>
                <a:off x="8242261" y="4689182"/>
                <a:ext cx="440570" cy="370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US" sz="24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4" name="文本框 33">
                <a:extLst>
                  <a:ext uri="{FF2B5EF4-FFF2-40B4-BE49-F238E27FC236}">
                    <a16:creationId xmlns:a16="http://schemas.microsoft.com/office/drawing/2014/main" id="{DEA3369F-2147-442D-9B4D-784A7C98F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42261" y="4689182"/>
                <a:ext cx="440570" cy="370551"/>
              </a:xfrm>
              <a:prstGeom prst="rect">
                <a:avLst/>
              </a:prstGeom>
              <a:blipFill>
                <a:blip r:embed="rId5"/>
                <a:stretch>
                  <a:fillRect l="-15278" t="-1639" r="-5556" b="-655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矩形: 圆角 36">
            <a:extLst>
              <a:ext uri="{FF2B5EF4-FFF2-40B4-BE49-F238E27FC236}">
                <a16:creationId xmlns:a16="http://schemas.microsoft.com/office/drawing/2014/main" id="{F19172E4-3946-4083-BDB6-926E25FF6AC5}"/>
              </a:ext>
            </a:extLst>
          </p:cNvPr>
          <p:cNvSpPr/>
          <p:nvPr/>
        </p:nvSpPr>
        <p:spPr>
          <a:xfrm>
            <a:off x="5722535" y="5348461"/>
            <a:ext cx="3217018" cy="125199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2F86D55A-AF97-47C8-865D-B99571C943FE}"/>
              </a:ext>
            </a:extLst>
          </p:cNvPr>
          <p:cNvSpPr/>
          <p:nvPr/>
        </p:nvSpPr>
        <p:spPr>
          <a:xfrm>
            <a:off x="5804885" y="5453778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A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4" name="椭圆 23">
            <a:extLst>
              <a:ext uri="{FF2B5EF4-FFF2-40B4-BE49-F238E27FC236}">
                <a16:creationId xmlns:a16="http://schemas.microsoft.com/office/drawing/2014/main" id="{E208FF75-6AD5-4A81-BB8E-088E1BAEFF9C}"/>
              </a:ext>
            </a:extLst>
          </p:cNvPr>
          <p:cNvSpPr/>
          <p:nvPr/>
        </p:nvSpPr>
        <p:spPr>
          <a:xfrm>
            <a:off x="6224436" y="6113353"/>
            <a:ext cx="363682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D</a:t>
            </a:r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159CFABC-326B-4AF2-AAAA-3C905A55B9BA}"/>
              </a:ext>
            </a:extLst>
          </p:cNvPr>
          <p:cNvSpPr/>
          <p:nvPr/>
        </p:nvSpPr>
        <p:spPr>
          <a:xfrm>
            <a:off x="6684648" y="5453778"/>
            <a:ext cx="655051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B,E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CCE4E3A8-FAD5-4D40-A9A0-565B0C046F70}"/>
              </a:ext>
            </a:extLst>
          </p:cNvPr>
          <p:cNvSpPr/>
          <p:nvPr/>
        </p:nvSpPr>
        <p:spPr>
          <a:xfrm>
            <a:off x="7089634" y="5974457"/>
            <a:ext cx="886280" cy="518417"/>
          </a:xfrm>
          <a:prstGeom prst="ellipse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G,H,I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>
                <a:solidFill>
                  <a:schemeClr val="tx1"/>
                </a:solidFill>
              </a:rPr>
              <a:t>J,K,L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6B9B5C4A-569D-46A3-8340-0CDE13D18624}"/>
              </a:ext>
            </a:extLst>
          </p:cNvPr>
          <p:cNvSpPr/>
          <p:nvPr/>
        </p:nvSpPr>
        <p:spPr>
          <a:xfrm>
            <a:off x="7850524" y="5453778"/>
            <a:ext cx="655051" cy="363682"/>
          </a:xfrm>
          <a:prstGeom prst="ellipse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C,F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8" name="直接箭头连接符 27">
            <a:extLst>
              <a:ext uri="{FF2B5EF4-FFF2-40B4-BE49-F238E27FC236}">
                <a16:creationId xmlns:a16="http://schemas.microsoft.com/office/drawing/2014/main" id="{3244B7C0-7FCD-41AB-B58A-B1F72737A713}"/>
              </a:ext>
            </a:extLst>
          </p:cNvPr>
          <p:cNvCxnSpPr>
            <a:stCxn id="23" idx="6"/>
            <a:endCxn id="25" idx="2"/>
          </p:cNvCxnSpPr>
          <p:nvPr/>
        </p:nvCxnSpPr>
        <p:spPr>
          <a:xfrm>
            <a:off x="6168567" y="5635619"/>
            <a:ext cx="516081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21C525CA-AA0D-4840-85BD-DCEF90F05FC4}"/>
              </a:ext>
            </a:extLst>
          </p:cNvPr>
          <p:cNvCxnSpPr>
            <a:cxnSpLocks/>
            <a:stCxn id="25" idx="6"/>
            <a:endCxn id="27" idx="2"/>
          </p:cNvCxnSpPr>
          <p:nvPr/>
        </p:nvCxnSpPr>
        <p:spPr>
          <a:xfrm>
            <a:off x="7339699" y="5635619"/>
            <a:ext cx="510825" cy="0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484B689E-6172-4D59-BBE9-047EE73B74BB}"/>
              </a:ext>
            </a:extLst>
          </p:cNvPr>
          <p:cNvCxnSpPr>
            <a:cxnSpLocks/>
            <a:stCxn id="25" idx="3"/>
            <a:endCxn id="24" idx="7"/>
          </p:cNvCxnSpPr>
          <p:nvPr/>
        </p:nvCxnSpPr>
        <p:spPr>
          <a:xfrm flipH="1">
            <a:off x="6534858" y="5764200"/>
            <a:ext cx="245720" cy="402413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A7233EA9-1BFB-481E-82D4-14187B9F1C43}"/>
              </a:ext>
            </a:extLst>
          </p:cNvPr>
          <p:cNvCxnSpPr>
            <a:cxnSpLocks/>
            <a:stCxn id="25" idx="4"/>
            <a:endCxn id="26" idx="1"/>
          </p:cNvCxnSpPr>
          <p:nvPr/>
        </p:nvCxnSpPr>
        <p:spPr>
          <a:xfrm>
            <a:off x="7012174" y="5817460"/>
            <a:ext cx="207253" cy="232917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E7D6E906-2527-43A5-BADA-62F38A1521CD}"/>
              </a:ext>
            </a:extLst>
          </p:cNvPr>
          <p:cNvCxnSpPr>
            <a:cxnSpLocks/>
            <a:stCxn id="27" idx="4"/>
            <a:endCxn id="26" idx="7"/>
          </p:cNvCxnSpPr>
          <p:nvPr/>
        </p:nvCxnSpPr>
        <p:spPr>
          <a:xfrm flipH="1">
            <a:off x="7846121" y="5817460"/>
            <a:ext cx="331929" cy="232917"/>
          </a:xfrm>
          <a:prstGeom prst="straightConnector1">
            <a:avLst/>
          </a:prstGeom>
          <a:ln w="19050">
            <a:solidFill>
              <a:schemeClr val="tx1"/>
            </a:solidFill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B740121-37CD-4901-9BE4-AF460FB8DDB7}"/>
                  </a:ext>
                </a:extLst>
              </p:cNvPr>
              <p:cNvSpPr txBox="1"/>
              <p:nvPr/>
            </p:nvSpPr>
            <p:spPr>
              <a:xfrm>
                <a:off x="8064685" y="6168302"/>
                <a:ext cx="863057" cy="3705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sz="24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lang="en-US" sz="2400" b="0" i="1" smtClean="0">
                                  <a:solidFill>
                                    <a:schemeClr val="accent4">
                                      <a:lumMod val="50000"/>
                                    </a:schemeClr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p>
                                <m:sSupPr>
                                  <m:ctrlPr>
                                    <a:rPr lang="en-US" sz="2400" b="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b="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p>
                                  <m:r>
                                    <a:rPr lang="en-US" sz="2400" b="0" i="1" smtClean="0">
                                      <a:solidFill>
                                        <a:schemeClr val="accent4">
                                          <a:lumMod val="50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</a:rPr>
                                    <m:t>𝑅</m:t>
                                  </m:r>
                                </m:sup>
                              </m:sSup>
                            </m:e>
                          </m:d>
                        </m:e>
                        <m:sup>
                          <m:r>
                            <a:rPr lang="en-US" sz="2400" b="0" i="1" smtClean="0">
                              <a:solidFill>
                                <a:schemeClr val="accent4">
                                  <a:lumMod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p>
                      </m:sSup>
                    </m:oMath>
                  </m:oMathPara>
                </a14:m>
                <a:endParaRPr lang="en-US" sz="2000" dirty="0"/>
              </a:p>
            </p:txBody>
          </p:sp>
        </mc:Choice>
        <mc:Fallback>
          <p:sp>
            <p:nvSpPr>
              <p:cNvPr id="35" name="文本框 34">
                <a:extLst>
                  <a:ext uri="{FF2B5EF4-FFF2-40B4-BE49-F238E27FC236}">
                    <a16:creationId xmlns:a16="http://schemas.microsoft.com/office/drawing/2014/main" id="{9B740121-37CD-4901-9BE4-AF460FB8DDB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64685" y="6168302"/>
                <a:ext cx="863057" cy="370551"/>
              </a:xfrm>
              <a:prstGeom prst="rect">
                <a:avLst/>
              </a:prstGeom>
              <a:blipFill>
                <a:blip r:embed="rId6"/>
                <a:stretch>
                  <a:fillRect t="-3279" r="-1408" b="-49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矩形: 圆角 39">
            <a:extLst>
              <a:ext uri="{FF2B5EF4-FFF2-40B4-BE49-F238E27FC236}">
                <a16:creationId xmlns:a16="http://schemas.microsoft.com/office/drawing/2014/main" id="{CF2A45C6-492A-4E08-84F2-9FA613A93455}"/>
              </a:ext>
            </a:extLst>
          </p:cNvPr>
          <p:cNvSpPr/>
          <p:nvPr/>
        </p:nvSpPr>
        <p:spPr>
          <a:xfrm>
            <a:off x="880601" y="2942898"/>
            <a:ext cx="4924283" cy="763808"/>
          </a:xfrm>
          <a:prstGeom prst="roundRect">
            <a:avLst>
              <a:gd name="adj" fmla="val 14864"/>
            </a:avLst>
          </a:prstGeom>
          <a:solidFill>
            <a:schemeClr val="accent2">
              <a:lumMod val="75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0905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charRg st="500" end="6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7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17" dur="indefinite"/>
                                        <p:tgtEl>
                                          <p:spTgt spid="19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0" dur="indefinite"/>
                                        <p:tgtEl>
                                          <p:spTgt spid="20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7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3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stroke.on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2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26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27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3" presetClass="emph" presetSubtype="1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 override="childStyle">
                                        <p:cTn id="29" dur="indefinite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bg1"/>
                                        </p:clrVal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mph" presetSubtype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4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5" dur="indefinit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mph" presetSubtype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p:clrVal>
                                          <a:schemeClr val="accent1"/>
                                        </p:clrVal>
                                      </p:to>
                                    </p:set>
                                    <p:set>
                                      <p:cBhvr>
                                        <p:cTn id="38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39" dur="indefinite"/>
                                        <p:tgtEl>
                                          <p:spTgt spid="12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4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EBB5A1-7E4E-46AB-8B94-0A0944DCF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Computing SCC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28651" y="1690688"/>
                <a:ext cx="5279513" cy="4802185"/>
              </a:xfrm>
            </p:spPr>
            <p:txBody>
              <a:bodyPr>
                <a:normAutofit/>
              </a:bodyPr>
              <a:lstStyle/>
              <a:p>
                <a:pPr>
                  <a:spcBef>
                    <a:spcPts val="400"/>
                  </a:spcBef>
                </a:pPr>
                <a:r>
                  <a:rPr lang="en-US" sz="2400" b="1" dirty="0"/>
                  <a:t>Algorithm Description: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Compute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Run DFS on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/>
                  <a:t> and record finish times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Run DFS on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, but in </a:t>
                </a:r>
                <a:r>
                  <a:rPr lang="en-US" sz="2000" dirty="0" err="1">
                    <a:latin typeface="Courier New" panose="02070309020205020404" pitchFamily="49" charset="0"/>
                    <a:cs typeface="Courier New" panose="02070309020205020404" pitchFamily="49" charset="0"/>
                  </a:rPr>
                  <a:t>DFSAall</a:t>
                </a:r>
                <a:r>
                  <a:rPr lang="en-US" sz="2000" dirty="0"/>
                  <a:t>, </a:t>
                </a:r>
                <a:br>
                  <a:rPr lang="en-US" sz="2000" dirty="0"/>
                </a:br>
                <a:r>
                  <a:rPr lang="en-US" sz="2000" dirty="0"/>
                  <a:t>process nodes in decreasing order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Each DFS tree is a SCC of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/>
                  <a:t>Time Complexity:</a:t>
                </a:r>
              </a:p>
              <a:p>
                <a:pPr>
                  <a:spcBef>
                    <a:spcPts val="400"/>
                  </a:spcBef>
                </a:pP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 for computing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𝐺</m:t>
                        </m:r>
                      </m:e>
                      <m:sup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𝑅</m:t>
                        </m:r>
                      </m:sup>
                    </m:sSup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Two passes of DFS, each costing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Thus total runtime is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.</a:t>
                </a:r>
              </a:p>
              <a:p>
                <a:pPr>
                  <a:spcBef>
                    <a:spcPts val="1200"/>
                  </a:spcBef>
                </a:pPr>
                <a:r>
                  <a:rPr lang="en-US" sz="2400" b="1" dirty="0"/>
                  <a:t>There are faster algorithms!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 err="1"/>
                  <a:t>Tarjan’s</a:t>
                </a:r>
                <a:r>
                  <a:rPr lang="en-US" sz="2000" dirty="0"/>
                  <a:t> algorithm uses DFS only once.</a:t>
                </a:r>
              </a:p>
              <a:p>
                <a:pPr>
                  <a:spcBef>
                    <a:spcPts val="400"/>
                  </a:spcBef>
                </a:pPr>
                <a:r>
                  <a:rPr lang="en-US" sz="2000" dirty="0"/>
                  <a:t>Still takes 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r>
                  <a:rPr lang="en-US" sz="2000" dirty="0"/>
                  <a:t>, but smaller constant.</a:t>
                </a:r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2D24E085-48F1-489D-B526-079C76D3A85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28651" y="1690688"/>
                <a:ext cx="5279513" cy="4802185"/>
              </a:xfrm>
              <a:blipFill>
                <a:blip r:embed="rId2"/>
                <a:stretch>
                  <a:fillRect l="-1501" t="-177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" name="组合 4">
            <a:extLst>
              <a:ext uri="{FF2B5EF4-FFF2-40B4-BE49-F238E27FC236}">
                <a16:creationId xmlns:a16="http://schemas.microsoft.com/office/drawing/2014/main" id="{44351A82-5DE1-4D3B-875A-DBA3CBF66F14}"/>
              </a:ext>
            </a:extLst>
          </p:cNvPr>
          <p:cNvGrpSpPr/>
          <p:nvPr/>
        </p:nvGrpSpPr>
        <p:grpSpPr>
          <a:xfrm>
            <a:off x="6147590" y="801535"/>
            <a:ext cx="2367759" cy="2908845"/>
            <a:chOff x="6147590" y="2001111"/>
            <a:chExt cx="2367759" cy="2908845"/>
          </a:xfrm>
        </p:grpSpPr>
        <p:pic>
          <p:nvPicPr>
            <p:cNvPr id="4" name="图片 3">
              <a:extLst>
                <a:ext uri="{FF2B5EF4-FFF2-40B4-BE49-F238E27FC236}">
                  <a16:creationId xmlns:a16="http://schemas.microsoft.com/office/drawing/2014/main" id="{C08886D3-03A8-49F3-8791-A3500AEF5F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47590" y="2001111"/>
              <a:ext cx="2367759" cy="2908845"/>
            </a:xfrm>
            <a:prstGeom prst="rect">
              <a:avLst/>
            </a:prstGeom>
            <a:ln w="38100" cap="sq">
              <a:solidFill>
                <a:srgbClr val="000000"/>
              </a:solidFill>
              <a:prstDash val="solid"/>
              <a:miter lim="800000"/>
            </a:ln>
            <a:effectLst>
              <a:outerShdw blurRad="50800" dist="38100" dir="2700000" algn="tl" rotWithShape="0">
                <a:srgbClr val="000000">
                  <a:alpha val="43000"/>
                </a:srgbClr>
              </a:outerShdw>
            </a:effectLst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45592F3-5115-40DE-A7C0-48C0816552ED}"/>
                    </a:ext>
                  </a:extLst>
                </p:cNvPr>
                <p:cNvSpPr txBox="1"/>
                <p:nvPr/>
              </p:nvSpPr>
              <p:spPr>
                <a:xfrm>
                  <a:off x="6162965" y="4536949"/>
                  <a:ext cx="276422" cy="369332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2400" b="0" i="1" smtClean="0">
                            <a:solidFill>
                              <a:schemeClr val="accent4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𝐺</m:t>
                        </m:r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3" name="文本框 32">
                  <a:extLst>
                    <a:ext uri="{FF2B5EF4-FFF2-40B4-BE49-F238E27FC236}">
                      <a16:creationId xmlns:a16="http://schemas.microsoft.com/office/drawing/2014/main" id="{F45592F3-5115-40DE-A7C0-48C0816552E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162965" y="4536949"/>
                  <a:ext cx="276422" cy="369332"/>
                </a:xfrm>
                <a:prstGeom prst="rect">
                  <a:avLst/>
                </a:prstGeom>
                <a:blipFill>
                  <a:blip r:embed="rId4"/>
                  <a:stretch>
                    <a:fillRect l="-26667" r="-22222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8430CC67-18FC-46A2-AEDD-F043FEFDA18F}"/>
              </a:ext>
            </a:extLst>
          </p:cNvPr>
          <p:cNvGrpSpPr/>
          <p:nvPr/>
        </p:nvGrpSpPr>
        <p:grpSpPr>
          <a:xfrm>
            <a:off x="5900383" y="3915321"/>
            <a:ext cx="2861322" cy="1251991"/>
            <a:chOff x="5900383" y="5348461"/>
            <a:chExt cx="2861322" cy="1251991"/>
          </a:xfrm>
        </p:grpSpPr>
        <p:sp>
          <p:nvSpPr>
            <p:cNvPr id="36" name="矩形: 圆角 35">
              <a:extLst>
                <a:ext uri="{FF2B5EF4-FFF2-40B4-BE49-F238E27FC236}">
                  <a16:creationId xmlns:a16="http://schemas.microsoft.com/office/drawing/2014/main" id="{D879964C-AE19-490C-AC6F-E8F4FBC868AB}"/>
                </a:ext>
              </a:extLst>
            </p:cNvPr>
            <p:cNvSpPr/>
            <p:nvPr/>
          </p:nvSpPr>
          <p:spPr>
            <a:xfrm>
              <a:off x="5900383" y="5348461"/>
              <a:ext cx="2861322" cy="1251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0" name="组合 9">
              <a:extLst>
                <a:ext uri="{FF2B5EF4-FFF2-40B4-BE49-F238E27FC236}">
                  <a16:creationId xmlns:a16="http://schemas.microsoft.com/office/drawing/2014/main" id="{AFC6D4C9-E172-4092-B3E3-B87CB1086AF8}"/>
                </a:ext>
              </a:extLst>
            </p:cNvPr>
            <p:cNvGrpSpPr/>
            <p:nvPr/>
          </p:nvGrpSpPr>
          <p:grpSpPr>
            <a:xfrm>
              <a:off x="5981124" y="5453778"/>
              <a:ext cx="2700690" cy="1039096"/>
              <a:chOff x="2122785" y="5296780"/>
              <a:chExt cx="2700690" cy="1039096"/>
            </a:xfrm>
          </p:grpSpPr>
          <p:sp>
            <p:nvSpPr>
              <p:cNvPr id="11" name="椭圆 10">
                <a:extLst>
                  <a:ext uri="{FF2B5EF4-FFF2-40B4-BE49-F238E27FC236}">
                    <a16:creationId xmlns:a16="http://schemas.microsoft.com/office/drawing/2014/main" id="{871B654E-CAE8-40ED-AF19-595D3CA5F9EA}"/>
                  </a:ext>
                </a:extLst>
              </p:cNvPr>
              <p:cNvSpPr/>
              <p:nvPr/>
            </p:nvSpPr>
            <p:spPr>
              <a:xfrm>
                <a:off x="2122785" y="5296780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椭圆 11">
                <a:extLst>
                  <a:ext uri="{FF2B5EF4-FFF2-40B4-BE49-F238E27FC236}">
                    <a16:creationId xmlns:a16="http://schemas.microsoft.com/office/drawing/2014/main" id="{C6378330-EF93-4BB3-B89D-61CEF8036A23}"/>
                  </a:ext>
                </a:extLst>
              </p:cNvPr>
              <p:cNvSpPr/>
              <p:nvPr/>
            </p:nvSpPr>
            <p:spPr>
              <a:xfrm>
                <a:off x="2542336" y="5956355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13" name="椭圆 12">
                <a:extLst>
                  <a:ext uri="{FF2B5EF4-FFF2-40B4-BE49-F238E27FC236}">
                    <a16:creationId xmlns:a16="http://schemas.microsoft.com/office/drawing/2014/main" id="{9B5FC1CF-E427-4C7F-8F29-D49CCFC7CC89}"/>
                  </a:ext>
                </a:extLst>
              </p:cNvPr>
              <p:cNvSpPr/>
              <p:nvPr/>
            </p:nvSpPr>
            <p:spPr>
              <a:xfrm>
                <a:off x="3002548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B,E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4" name="椭圆 13">
                <a:extLst>
                  <a:ext uri="{FF2B5EF4-FFF2-40B4-BE49-F238E27FC236}">
                    <a16:creationId xmlns:a16="http://schemas.microsoft.com/office/drawing/2014/main" id="{DCDA609A-CCDA-47B3-8A90-558D3B6695E8}"/>
                  </a:ext>
                </a:extLst>
              </p:cNvPr>
              <p:cNvSpPr/>
              <p:nvPr/>
            </p:nvSpPr>
            <p:spPr>
              <a:xfrm>
                <a:off x="3407534" y="5817459"/>
                <a:ext cx="886280" cy="518417"/>
              </a:xfrm>
              <a:prstGeom prst="ellipse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G,H,I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J,K,L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A41AE039-E0C0-4B12-A46E-EB841180FA9D}"/>
                  </a:ext>
                </a:extLst>
              </p:cNvPr>
              <p:cNvSpPr/>
              <p:nvPr/>
            </p:nvSpPr>
            <p:spPr>
              <a:xfrm>
                <a:off x="4168424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C,F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16" name="直接箭头连接符 15">
                <a:extLst>
                  <a:ext uri="{FF2B5EF4-FFF2-40B4-BE49-F238E27FC236}">
                    <a16:creationId xmlns:a16="http://schemas.microsoft.com/office/drawing/2014/main" id="{3EB1CC32-2F80-4EDA-AAFF-C7F1F4F8E9EE}"/>
                  </a:ext>
                </a:extLst>
              </p:cNvPr>
              <p:cNvCxnSpPr>
                <a:stCxn id="11" idx="6"/>
                <a:endCxn id="13" idx="2"/>
              </p:cNvCxnSpPr>
              <p:nvPr/>
            </p:nvCxnSpPr>
            <p:spPr>
              <a:xfrm>
                <a:off x="2486467" y="5478621"/>
                <a:ext cx="51608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箭头连接符 16">
                <a:extLst>
                  <a:ext uri="{FF2B5EF4-FFF2-40B4-BE49-F238E27FC236}">
                    <a16:creationId xmlns:a16="http://schemas.microsoft.com/office/drawing/2014/main" id="{24B7D2E7-B5CC-437A-814E-1B3B42A1658D}"/>
                  </a:ext>
                </a:extLst>
              </p:cNvPr>
              <p:cNvCxnSpPr>
                <a:cxnSpLocks/>
                <a:stCxn id="13" idx="6"/>
                <a:endCxn id="15" idx="2"/>
              </p:cNvCxnSpPr>
              <p:nvPr/>
            </p:nvCxnSpPr>
            <p:spPr>
              <a:xfrm>
                <a:off x="3657599" y="5478621"/>
                <a:ext cx="51082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箭头连接符 17">
                <a:extLst>
                  <a:ext uri="{FF2B5EF4-FFF2-40B4-BE49-F238E27FC236}">
                    <a16:creationId xmlns:a16="http://schemas.microsoft.com/office/drawing/2014/main" id="{66615B96-71D9-4448-88DE-126DC46564F5}"/>
                  </a:ext>
                </a:extLst>
              </p:cNvPr>
              <p:cNvCxnSpPr>
                <a:cxnSpLocks/>
                <a:stCxn id="13" idx="3"/>
                <a:endCxn id="12" idx="7"/>
              </p:cNvCxnSpPr>
              <p:nvPr/>
            </p:nvCxnSpPr>
            <p:spPr>
              <a:xfrm flipH="1">
                <a:off x="2852758" y="5607202"/>
                <a:ext cx="245720" cy="4024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直接箭头连接符 18">
                <a:extLst>
                  <a:ext uri="{FF2B5EF4-FFF2-40B4-BE49-F238E27FC236}">
                    <a16:creationId xmlns:a16="http://schemas.microsoft.com/office/drawing/2014/main" id="{A49C8E68-6E91-4B5E-8CFB-585A1BE42BF1}"/>
                  </a:ext>
                </a:extLst>
              </p:cNvPr>
              <p:cNvCxnSpPr>
                <a:cxnSpLocks/>
                <a:stCxn id="13" idx="4"/>
                <a:endCxn id="14" idx="1"/>
              </p:cNvCxnSpPr>
              <p:nvPr/>
            </p:nvCxnSpPr>
            <p:spPr>
              <a:xfrm>
                <a:off x="3330074" y="5660462"/>
                <a:ext cx="207253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直接箭头连接符 19">
                <a:extLst>
                  <a:ext uri="{FF2B5EF4-FFF2-40B4-BE49-F238E27FC236}">
                    <a16:creationId xmlns:a16="http://schemas.microsoft.com/office/drawing/2014/main" id="{92185AB9-A5FA-4B7C-A2DA-CA599F474EF5}"/>
                  </a:ext>
                </a:extLst>
              </p:cNvPr>
              <p:cNvCxnSpPr>
                <a:cxnSpLocks/>
                <a:stCxn id="15" idx="4"/>
                <a:endCxn id="14" idx="7"/>
              </p:cNvCxnSpPr>
              <p:nvPr/>
            </p:nvCxnSpPr>
            <p:spPr>
              <a:xfrm flipH="1">
                <a:off x="4164021" y="5660462"/>
                <a:ext cx="331929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EA3369F-2147-442D-9B4D-784A7C98F131}"/>
                    </a:ext>
                  </a:extLst>
                </p:cNvPr>
                <p:cNvSpPr txBox="1"/>
                <p:nvPr/>
              </p:nvSpPr>
              <p:spPr>
                <a:xfrm>
                  <a:off x="8242261" y="6122322"/>
                  <a:ext cx="440570" cy="3705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𝐺</m:t>
                            </m:r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4" name="文本框 33">
                  <a:extLst>
                    <a:ext uri="{FF2B5EF4-FFF2-40B4-BE49-F238E27FC236}">
                      <a16:creationId xmlns:a16="http://schemas.microsoft.com/office/drawing/2014/main" id="{DEA3369F-2147-442D-9B4D-784A7C98F13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242261" y="6122322"/>
                  <a:ext cx="440570" cy="370551"/>
                </a:xfrm>
                <a:prstGeom prst="rect">
                  <a:avLst/>
                </a:prstGeom>
                <a:blipFill>
                  <a:blip r:embed="rId5"/>
                  <a:stretch>
                    <a:fillRect l="-15278" t="-1639" r="-5556" b="-655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2A635C3B-5CB9-4C92-932F-FF28507640B5}"/>
              </a:ext>
            </a:extLst>
          </p:cNvPr>
          <p:cNvGrpSpPr/>
          <p:nvPr/>
        </p:nvGrpSpPr>
        <p:grpSpPr>
          <a:xfrm>
            <a:off x="5722535" y="5348461"/>
            <a:ext cx="3217018" cy="1251991"/>
            <a:chOff x="2532510" y="5348461"/>
            <a:chExt cx="3217018" cy="1251991"/>
          </a:xfrm>
        </p:grpSpPr>
        <p:sp>
          <p:nvSpPr>
            <p:cNvPr id="37" name="矩形: 圆角 36">
              <a:extLst>
                <a:ext uri="{FF2B5EF4-FFF2-40B4-BE49-F238E27FC236}">
                  <a16:creationId xmlns:a16="http://schemas.microsoft.com/office/drawing/2014/main" id="{F19172E4-3946-4083-BDB6-926E25FF6AC5}"/>
                </a:ext>
              </a:extLst>
            </p:cNvPr>
            <p:cNvSpPr/>
            <p:nvPr/>
          </p:nvSpPr>
          <p:spPr>
            <a:xfrm>
              <a:off x="2532510" y="5348461"/>
              <a:ext cx="3217018" cy="1251991"/>
            </a:xfrm>
            <a:prstGeom prst="round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2" name="组合 21">
              <a:extLst>
                <a:ext uri="{FF2B5EF4-FFF2-40B4-BE49-F238E27FC236}">
                  <a16:creationId xmlns:a16="http://schemas.microsoft.com/office/drawing/2014/main" id="{EE61B26D-A3E5-43CF-A220-BA3C200920E3}"/>
                </a:ext>
              </a:extLst>
            </p:cNvPr>
            <p:cNvGrpSpPr/>
            <p:nvPr/>
          </p:nvGrpSpPr>
          <p:grpSpPr>
            <a:xfrm>
              <a:off x="2614860" y="5453778"/>
              <a:ext cx="2700690" cy="1039096"/>
              <a:chOff x="2122785" y="5296780"/>
              <a:chExt cx="2700690" cy="1039096"/>
            </a:xfrm>
          </p:grpSpPr>
          <p:sp>
            <p:nvSpPr>
              <p:cNvPr id="23" name="椭圆 22">
                <a:extLst>
                  <a:ext uri="{FF2B5EF4-FFF2-40B4-BE49-F238E27FC236}">
                    <a16:creationId xmlns:a16="http://schemas.microsoft.com/office/drawing/2014/main" id="{2F86D55A-AF97-47C8-865D-B99571C943FE}"/>
                  </a:ext>
                </a:extLst>
              </p:cNvPr>
              <p:cNvSpPr/>
              <p:nvPr/>
            </p:nvSpPr>
            <p:spPr>
              <a:xfrm>
                <a:off x="2122785" y="5296780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A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椭圆 23">
                <a:extLst>
                  <a:ext uri="{FF2B5EF4-FFF2-40B4-BE49-F238E27FC236}">
                    <a16:creationId xmlns:a16="http://schemas.microsoft.com/office/drawing/2014/main" id="{E208FF75-6AD5-4A81-BB8E-088E1BAEFF9C}"/>
                  </a:ext>
                </a:extLst>
              </p:cNvPr>
              <p:cNvSpPr/>
              <p:nvPr/>
            </p:nvSpPr>
            <p:spPr>
              <a:xfrm>
                <a:off x="2542336" y="5956355"/>
                <a:ext cx="363682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D</a:t>
                </a:r>
              </a:p>
            </p:txBody>
          </p:sp>
          <p:sp>
            <p:nvSpPr>
              <p:cNvPr id="25" name="椭圆 24">
                <a:extLst>
                  <a:ext uri="{FF2B5EF4-FFF2-40B4-BE49-F238E27FC236}">
                    <a16:creationId xmlns:a16="http://schemas.microsoft.com/office/drawing/2014/main" id="{159CFABC-326B-4AF2-AAAA-3C905A55B9BA}"/>
                  </a:ext>
                </a:extLst>
              </p:cNvPr>
              <p:cNvSpPr/>
              <p:nvPr/>
            </p:nvSpPr>
            <p:spPr>
              <a:xfrm>
                <a:off x="3002548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B,E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椭圆 25">
                <a:extLst>
                  <a:ext uri="{FF2B5EF4-FFF2-40B4-BE49-F238E27FC236}">
                    <a16:creationId xmlns:a16="http://schemas.microsoft.com/office/drawing/2014/main" id="{CCE4E3A8-FAD5-4D40-A9A0-565B0C046F70}"/>
                  </a:ext>
                </a:extLst>
              </p:cNvPr>
              <p:cNvSpPr/>
              <p:nvPr/>
            </p:nvSpPr>
            <p:spPr>
              <a:xfrm>
                <a:off x="3407534" y="5817459"/>
                <a:ext cx="886280" cy="518417"/>
              </a:xfrm>
              <a:prstGeom prst="ellipse">
                <a:avLst/>
              </a:prstGeom>
              <a:solidFill>
                <a:schemeClr val="accent2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G,H,I</a:t>
                </a:r>
                <a:br>
                  <a:rPr lang="en-US" sz="1600" dirty="0">
                    <a:solidFill>
                      <a:schemeClr val="tx1"/>
                    </a:solidFill>
                  </a:rPr>
                </a:br>
                <a:r>
                  <a:rPr lang="en-US" sz="1600" dirty="0">
                    <a:solidFill>
                      <a:schemeClr val="tx1"/>
                    </a:solidFill>
                  </a:rPr>
                  <a:t>J,K,L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7" name="椭圆 26">
                <a:extLst>
                  <a:ext uri="{FF2B5EF4-FFF2-40B4-BE49-F238E27FC236}">
                    <a16:creationId xmlns:a16="http://schemas.microsoft.com/office/drawing/2014/main" id="{6B9B5C4A-569D-46A3-8340-0CDE13D18624}"/>
                  </a:ext>
                </a:extLst>
              </p:cNvPr>
              <p:cNvSpPr/>
              <p:nvPr/>
            </p:nvSpPr>
            <p:spPr>
              <a:xfrm>
                <a:off x="4168424" y="5296780"/>
                <a:ext cx="655051" cy="363682"/>
              </a:xfrm>
              <a:prstGeom prst="ellipse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sz="1600" dirty="0">
                    <a:solidFill>
                      <a:schemeClr val="tx1"/>
                    </a:solidFill>
                  </a:rPr>
                  <a:t>C,F</a:t>
                </a:r>
                <a:endParaRPr lang="en-US" dirty="0">
                  <a:solidFill>
                    <a:schemeClr val="tx1"/>
                  </a:solidFill>
                </a:endParaRPr>
              </a:p>
            </p:txBody>
          </p:sp>
          <p:cxnSp>
            <p:nvCxnSpPr>
              <p:cNvPr id="28" name="直接箭头连接符 27">
                <a:extLst>
                  <a:ext uri="{FF2B5EF4-FFF2-40B4-BE49-F238E27FC236}">
                    <a16:creationId xmlns:a16="http://schemas.microsoft.com/office/drawing/2014/main" id="{3244B7C0-7FCD-41AB-B58A-B1F72737A713}"/>
                  </a:ext>
                </a:extLst>
              </p:cNvPr>
              <p:cNvCxnSpPr>
                <a:stCxn id="23" idx="6"/>
                <a:endCxn id="25" idx="2"/>
              </p:cNvCxnSpPr>
              <p:nvPr/>
            </p:nvCxnSpPr>
            <p:spPr>
              <a:xfrm>
                <a:off x="2486467" y="5478621"/>
                <a:ext cx="516081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箭头连接符 28">
                <a:extLst>
                  <a:ext uri="{FF2B5EF4-FFF2-40B4-BE49-F238E27FC236}">
                    <a16:creationId xmlns:a16="http://schemas.microsoft.com/office/drawing/2014/main" id="{21C525CA-AA0D-4840-85BD-DCEF90F05FC4}"/>
                  </a:ext>
                </a:extLst>
              </p:cNvPr>
              <p:cNvCxnSpPr>
                <a:cxnSpLocks/>
                <a:stCxn id="25" idx="6"/>
                <a:endCxn id="27" idx="2"/>
              </p:cNvCxnSpPr>
              <p:nvPr/>
            </p:nvCxnSpPr>
            <p:spPr>
              <a:xfrm>
                <a:off x="3657599" y="5478621"/>
                <a:ext cx="510825" cy="0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直接箭头连接符 29">
                <a:extLst>
                  <a:ext uri="{FF2B5EF4-FFF2-40B4-BE49-F238E27FC236}">
                    <a16:creationId xmlns:a16="http://schemas.microsoft.com/office/drawing/2014/main" id="{484B689E-6172-4D59-BBE9-047EE73B74BB}"/>
                  </a:ext>
                </a:extLst>
              </p:cNvPr>
              <p:cNvCxnSpPr>
                <a:cxnSpLocks/>
                <a:stCxn id="25" idx="3"/>
                <a:endCxn id="24" idx="7"/>
              </p:cNvCxnSpPr>
              <p:nvPr/>
            </p:nvCxnSpPr>
            <p:spPr>
              <a:xfrm flipH="1">
                <a:off x="2852758" y="5607202"/>
                <a:ext cx="245720" cy="402413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箭头连接符 30">
                <a:extLst>
                  <a:ext uri="{FF2B5EF4-FFF2-40B4-BE49-F238E27FC236}">
                    <a16:creationId xmlns:a16="http://schemas.microsoft.com/office/drawing/2014/main" id="{A7233EA9-1BFB-481E-82D4-14187B9F1C43}"/>
                  </a:ext>
                </a:extLst>
              </p:cNvPr>
              <p:cNvCxnSpPr>
                <a:cxnSpLocks/>
                <a:stCxn id="25" idx="4"/>
                <a:endCxn id="26" idx="1"/>
              </p:cNvCxnSpPr>
              <p:nvPr/>
            </p:nvCxnSpPr>
            <p:spPr>
              <a:xfrm>
                <a:off x="3330074" y="5660462"/>
                <a:ext cx="207253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箭头连接符 31">
                <a:extLst>
                  <a:ext uri="{FF2B5EF4-FFF2-40B4-BE49-F238E27FC236}">
                    <a16:creationId xmlns:a16="http://schemas.microsoft.com/office/drawing/2014/main" id="{E7D6E906-2527-43A5-BADA-62F38A1521CD}"/>
                  </a:ext>
                </a:extLst>
              </p:cNvPr>
              <p:cNvCxnSpPr>
                <a:cxnSpLocks/>
                <a:stCxn id="27" idx="4"/>
                <a:endCxn id="26" idx="7"/>
              </p:cNvCxnSpPr>
              <p:nvPr/>
            </p:nvCxnSpPr>
            <p:spPr>
              <a:xfrm flipH="1">
                <a:off x="4164021" y="5660462"/>
                <a:ext cx="331929" cy="232917"/>
              </a:xfrm>
              <a:prstGeom prst="straightConnector1">
                <a:avLst/>
              </a:prstGeom>
              <a:ln w="19050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B740121-37CD-4901-9BE4-AF460FB8DDB7}"/>
                    </a:ext>
                  </a:extLst>
                </p:cNvPr>
                <p:cNvSpPr txBox="1"/>
                <p:nvPr/>
              </p:nvSpPr>
              <p:spPr>
                <a:xfrm>
                  <a:off x="4874660" y="6168302"/>
                  <a:ext cx="863057" cy="37055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sz="2400" b="0" i="1" smtClean="0">
                                    <a:solidFill>
                                      <a:schemeClr val="accent4">
                                        <a:lumMod val="50000"/>
                                      </a:schemeClr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sSupPr>
                                    <m:ctrlP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𝐺</m:t>
                                    </m:r>
                                  </m:e>
                                  <m:sup>
                                    <m:r>
                                      <a:rPr lang="en-US" sz="2400" b="0" i="1" smtClean="0">
                                        <a:solidFill>
                                          <a:schemeClr val="accent4">
                                            <a:lumMod val="50000"/>
                                          </a:schemeClr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𝑅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US" sz="2400" b="0" i="1" smtClean="0">
                                <a:solidFill>
                                  <a:schemeClr val="accent4">
                                    <a:lumMod val="50000"/>
                                  </a:schemeClr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sup>
                        </m:sSup>
                      </m:oMath>
                    </m:oMathPara>
                  </a14:m>
                  <a:endParaRPr lang="en-US" sz="2000" dirty="0"/>
                </a:p>
              </p:txBody>
            </p:sp>
          </mc:Choice>
          <mc:Fallback>
            <p:sp>
              <p:nvSpPr>
                <p:cNvPr id="35" name="文本框 34">
                  <a:extLst>
                    <a:ext uri="{FF2B5EF4-FFF2-40B4-BE49-F238E27FC236}">
                      <a16:creationId xmlns:a16="http://schemas.microsoft.com/office/drawing/2014/main" id="{9B740121-37CD-4901-9BE4-AF460FB8DDB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74660" y="6168302"/>
                  <a:ext cx="863057" cy="370551"/>
                </a:xfrm>
                <a:prstGeom prst="rect">
                  <a:avLst/>
                </a:prstGeom>
                <a:blipFill>
                  <a:blip r:embed="rId6"/>
                  <a:stretch>
                    <a:fillRect t="-3279" r="-1408" b="-4918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11824730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672A32-D3AF-46A0-B548-4CBBB23E5C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Reading</a:t>
            </a:r>
            <a:endParaRPr 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61531AD-1593-46BE-9E30-047A1682D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2400" dirty="0"/>
              <a:t>[CLRS] Ch.22 (22.4-22.5)</a:t>
            </a:r>
          </a:p>
          <a:p>
            <a:r>
              <a:rPr lang="en-GB" sz="2400" dirty="0"/>
              <a:t>If you want to know more about </a:t>
            </a:r>
            <a:r>
              <a:rPr lang="en-GB" sz="2400" dirty="0" err="1"/>
              <a:t>Tarjan’s</a:t>
            </a:r>
            <a:r>
              <a:rPr lang="en-GB" sz="2400" dirty="0"/>
              <a:t> SCC algorithm:</a:t>
            </a:r>
            <a:br>
              <a:rPr lang="en-GB" sz="2400" dirty="0"/>
            </a:br>
            <a:r>
              <a:rPr lang="en-GB" sz="2400" dirty="0"/>
              <a:t>[</a:t>
            </a:r>
            <a:r>
              <a:rPr lang="en-US" sz="2400" dirty="0"/>
              <a:t>Erickson v1</a:t>
            </a:r>
            <a:r>
              <a:rPr lang="en-GB" sz="2400" dirty="0"/>
              <a:t>] Ch.6 (6.6)</a:t>
            </a:r>
            <a:endParaRPr lang="en-US" sz="2000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EA104740-4E27-4469-9283-3FC2276BC0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1243" y="3927535"/>
            <a:ext cx="1564107" cy="224942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12521648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1529</TotalTime>
  <Words>2625</Words>
  <Application>Microsoft Office PowerPoint</Application>
  <PresentationFormat>全屏显示(4:3)</PresentationFormat>
  <Paragraphs>256</Paragraphs>
  <Slides>21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27" baseType="lpstr">
      <vt:lpstr>Courier New</vt:lpstr>
      <vt:lpstr>Calibri Light</vt:lpstr>
      <vt:lpstr>Cambria Math</vt:lpstr>
      <vt:lpstr>Calibri</vt:lpstr>
      <vt:lpstr>Arial</vt:lpstr>
      <vt:lpstr>Office 主题​​</vt:lpstr>
      <vt:lpstr>(Some) Applications of DFS</vt:lpstr>
      <vt:lpstr>Directed Acyclic Graphs (DAG)</vt:lpstr>
      <vt:lpstr>Application of DAG</vt:lpstr>
      <vt:lpstr>Topological Sort</vt:lpstr>
      <vt:lpstr>Topological Sort</vt:lpstr>
      <vt:lpstr>Topological Sort</vt:lpstr>
      <vt:lpstr>Topological Sort</vt:lpstr>
      <vt:lpstr>Topological Sort</vt:lpstr>
      <vt:lpstr>Topological Sort</vt:lpstr>
      <vt:lpstr>Source and Sink in DAG</vt:lpstr>
      <vt:lpstr>Alt Algorithm for Topo-Sort</vt:lpstr>
      <vt:lpstr>(Strongly) Connected Components</vt:lpstr>
      <vt:lpstr>Computing CC and SCC</vt:lpstr>
      <vt:lpstr>Component Graph</vt:lpstr>
      <vt:lpstr>Computing SCC</vt:lpstr>
      <vt:lpstr>Computing SCC</vt:lpstr>
      <vt:lpstr>Computing SCC</vt:lpstr>
      <vt:lpstr>Computing SCC</vt:lpstr>
      <vt:lpstr>Computing SCC</vt:lpstr>
      <vt:lpstr>Computing SCC</vt:lpstr>
      <vt:lpstr>Reading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DFS</dc:title>
  <dc:creator>Chaodong</dc:creator>
  <cp:lastModifiedBy>Chaodong</cp:lastModifiedBy>
  <cp:revision>49</cp:revision>
  <dcterms:created xsi:type="dcterms:W3CDTF">2019-11-13T12:15:45Z</dcterms:created>
  <dcterms:modified xsi:type="dcterms:W3CDTF">2019-11-18T03:07:14Z</dcterms:modified>
</cp:coreProperties>
</file>