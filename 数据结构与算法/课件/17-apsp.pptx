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4"/>
  </p:notesMasterIdLst>
  <p:sldIdLst>
    <p:sldId id="291" r:id="rId2"/>
    <p:sldId id="257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290" r:id="rId23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libri Light" panose="020F0302020204030204" pitchFamily="34" charset="0"/>
      <p:regular r:id="rId29"/>
      <p:italic r:id="rId30"/>
    </p:embeddedFont>
    <p:embeddedFont>
      <p:font typeface="Cambria Math" panose="02040503050406030204" pitchFamily="18" charset="0"/>
      <p:regular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5" autoAdjust="0"/>
    <p:restoredTop sz="82811" autoAdjust="0"/>
  </p:normalViewPr>
  <p:slideViewPr>
    <p:cSldViewPr snapToGrid="0">
      <p:cViewPr varScale="1">
        <p:scale>
          <a:sx n="95" d="100"/>
          <a:sy n="95" d="100"/>
        </p:scale>
        <p:origin x="11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0 - 19</c:v>
                </c:pt>
                <c:pt idx="1">
                  <c:v>20 - 29</c:v>
                </c:pt>
                <c:pt idx="2">
                  <c:v>30 - 39</c:v>
                </c:pt>
                <c:pt idx="3">
                  <c:v>40 - 49</c:v>
                </c:pt>
                <c:pt idx="4">
                  <c:v>50 - 59</c:v>
                </c:pt>
                <c:pt idx="5">
                  <c:v>60 - 69</c:v>
                </c:pt>
                <c:pt idx="6">
                  <c:v>70 - 79</c:v>
                </c:pt>
                <c:pt idx="7">
                  <c:v>80 - 100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14</c:v>
                </c:pt>
                <c:pt idx="2">
                  <c:v>21</c:v>
                </c:pt>
                <c:pt idx="3">
                  <c:v>15</c:v>
                </c:pt>
                <c:pt idx="4">
                  <c:v>17</c:v>
                </c:pt>
                <c:pt idx="5">
                  <c:v>7</c:v>
                </c:pt>
                <c:pt idx="6">
                  <c:v>3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40-4760-88E8-8A6F2D0F03E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08980280"/>
        <c:axId val="508980920"/>
      </c:barChart>
      <c:catAx>
        <c:axId val="508980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8980920"/>
        <c:crosses val="autoZero"/>
        <c:auto val="1"/>
        <c:lblAlgn val="ctr"/>
        <c:lblOffset val="100"/>
        <c:noMultiLvlLbl val="0"/>
      </c:catAx>
      <c:valAx>
        <c:axId val="508980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8980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0683B-C2DD-4CA9-A9EF-38221D6441C5}" type="datetimeFigureOut">
              <a:rPr lang="en-US" smtClean="0"/>
              <a:t>2019-11-28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F7499-A094-4354-9E75-33E41697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484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39F09-393E-4E6D-98AC-DC0B07A168D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26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9031B-8D7C-4842-88D8-919F45541C58}" type="datetimeFigureOut">
              <a:rPr lang="en-US" smtClean="0"/>
              <a:t>2019-11-28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B0969-6C45-4B2F-9843-98901387A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07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9031B-8D7C-4842-88D8-919F45541C58}" type="datetimeFigureOut">
              <a:rPr lang="en-US" smtClean="0"/>
              <a:t>2019-11-28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B0969-6C45-4B2F-9843-98901387A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803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9031B-8D7C-4842-88D8-919F45541C58}" type="datetimeFigureOut">
              <a:rPr lang="en-US" smtClean="0"/>
              <a:t>2019-11-28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B0969-6C45-4B2F-9843-98901387A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23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9031B-8D7C-4842-88D8-919F45541C58}" type="datetimeFigureOut">
              <a:rPr lang="en-US" smtClean="0"/>
              <a:t>2019-11-28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B0969-6C45-4B2F-9843-98901387A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36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9031B-8D7C-4842-88D8-919F45541C58}" type="datetimeFigureOut">
              <a:rPr lang="en-US" smtClean="0"/>
              <a:t>2019-11-28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B0969-6C45-4B2F-9843-98901387A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801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9031B-8D7C-4842-88D8-919F45541C58}" type="datetimeFigureOut">
              <a:rPr lang="en-US" smtClean="0"/>
              <a:t>2019-11-28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B0969-6C45-4B2F-9843-98901387A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90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9031B-8D7C-4842-88D8-919F45541C58}" type="datetimeFigureOut">
              <a:rPr lang="en-US" smtClean="0"/>
              <a:t>2019-11-28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B0969-6C45-4B2F-9843-98901387A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9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9031B-8D7C-4842-88D8-919F45541C58}" type="datetimeFigureOut">
              <a:rPr lang="en-US" smtClean="0"/>
              <a:t>2019-11-28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B0969-6C45-4B2F-9843-98901387A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33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9031B-8D7C-4842-88D8-919F45541C58}" type="datetimeFigureOut">
              <a:rPr lang="en-US" smtClean="0"/>
              <a:t>2019-11-28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B0969-6C45-4B2F-9843-98901387A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25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9031B-8D7C-4842-88D8-919F45541C58}" type="datetimeFigureOut">
              <a:rPr lang="en-US" smtClean="0"/>
              <a:t>2019-11-28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B0969-6C45-4B2F-9843-98901387A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55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9031B-8D7C-4842-88D8-919F45541C58}" type="datetimeFigureOut">
              <a:rPr lang="en-US" smtClean="0"/>
              <a:t>2019-11-28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B0969-6C45-4B2F-9843-98901387A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20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9031B-8D7C-4842-88D8-919F45541C58}" type="datetimeFigureOut">
              <a:rPr lang="en-US" smtClean="0"/>
              <a:t>2019-11-28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B0969-6C45-4B2F-9843-98901387A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22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FD24F-C6D7-4601-9E72-5C136A08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Midterm Exam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99500-30A0-4D37-A4CD-D3B9A1B56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Highest: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84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 Average: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42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 (Median: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40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 Lowest: </a:t>
            </a:r>
            <a:r>
              <a:rPr lang="en-US" sz="3200" b="1" dirty="0">
                <a:solidFill>
                  <a:srgbClr val="C00000"/>
                </a:solidFill>
              </a:rPr>
              <a:t>&lt;20</a:t>
            </a:r>
            <a:endParaRPr lang="en-US" b="1" dirty="0">
              <a:solidFill>
                <a:srgbClr val="C00000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75 Percentile: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54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 25 Percentile: </a:t>
            </a: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31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Your “real” score is usually 5-10 points higher.</a:t>
            </a:r>
            <a:br>
              <a:rPr lang="en-US" sz="2400" dirty="0"/>
            </a:b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(But that’s still not enough…)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AB5EAA2-8BA0-43D4-9C24-2C966FD621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8846693"/>
              </p:ext>
            </p:extLst>
          </p:nvPr>
        </p:nvGraphicFramePr>
        <p:xfrm>
          <a:off x="1524000" y="3577213"/>
          <a:ext cx="6096000" cy="29156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4984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5400" b="1" dirty="0"/>
              <a:t>All-Pairs Shortest Path</a:t>
            </a:r>
            <a:endParaRPr lang="en-US" sz="54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4D3ED-FC4C-48C5-B56D-36E28270F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SSSP and APSP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86F064-B6CD-46E4-8158-1189D1045B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Single-Source Shortest Paths (SSSP) Problem</a:t>
                </a:r>
                <a:r>
                  <a:rPr lang="en-US" b="1" dirty="0"/>
                  <a:t>:</a:t>
                </a:r>
                <a:r>
                  <a:rPr lang="en-US" dirty="0"/>
                  <a:t> </a:t>
                </a:r>
                <a:br>
                  <a:rPr lang="en-US" sz="2400" dirty="0"/>
                </a:br>
                <a:r>
                  <a:rPr lang="en-US" sz="2400" dirty="0"/>
                  <a:t>Given a graph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400" dirty="0"/>
                  <a:t> and a weight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, given </a:t>
                </a:r>
                <a:r>
                  <a:rPr lang="en-US" sz="2400" dirty="0">
                    <a:solidFill>
                      <a:srgbClr val="C00000"/>
                    </a:solidFill>
                  </a:rPr>
                  <a:t>a source node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, find a shortest path from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to every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All-Pairs Shortest Paths (APSP) Problem</a:t>
                </a:r>
                <a:r>
                  <a:rPr lang="en-US" b="1" dirty="0"/>
                  <a:t>:</a:t>
                </a:r>
                <a:br>
                  <a:rPr lang="en-US" sz="2400" dirty="0"/>
                </a:br>
                <a:r>
                  <a:rPr lang="en-US" sz="2400" dirty="0"/>
                  <a:t>Given a graph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400" dirty="0"/>
                  <a:t> and a weight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, for </a:t>
                </a:r>
                <a:r>
                  <a:rPr lang="en-US" sz="2400" dirty="0">
                    <a:solidFill>
                      <a:srgbClr val="C00000"/>
                    </a:solidFill>
                  </a:rPr>
                  <a:t>every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, find a shortest path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86F064-B6CD-46E4-8158-1189D1045B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 r="-1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1950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33CD8-DAB3-43EA-BC1A-FB848ABE6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APSP from multiple SSSP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DDDD7C-1AFC-473C-BBED-ECA52F72EE71}"/>
                  </a:ext>
                </a:extLst>
              </p:cNvPr>
              <p:cNvSpPr txBox="1"/>
              <p:nvPr/>
            </p:nvSpPr>
            <p:spPr>
              <a:xfrm>
                <a:off x="628650" y="1690689"/>
                <a:ext cx="588866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Straightforward solution for APSP: </a:t>
                </a:r>
                <a:br>
                  <a:rPr lang="en-US" sz="2400" dirty="0"/>
                </a:br>
                <a:r>
                  <a:rPr lang="en-US" sz="2400" dirty="0">
                    <a:solidFill>
                      <a:srgbClr val="C00000"/>
                    </a:solidFill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, execute SSSP algorithm once!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DDDD7C-1AFC-473C-BBED-ECA52F72E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690689"/>
                <a:ext cx="5888663" cy="830997"/>
              </a:xfrm>
              <a:prstGeom prst="rect">
                <a:avLst/>
              </a:prstGeom>
              <a:blipFill>
                <a:blip r:embed="rId2"/>
                <a:stretch>
                  <a:fillRect l="-1553" t="-5839" r="-518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D116EEF7-8B25-4120-BAA8-F7D9B2A7BF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2908581"/>
                  </p:ext>
                </p:extLst>
              </p:nvPr>
            </p:nvGraphicFramePr>
            <p:xfrm>
              <a:off x="628650" y="2780578"/>
              <a:ext cx="7863840" cy="3383280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2926080">
                      <a:extLst>
                        <a:ext uri="{9D8B030D-6E8A-4147-A177-3AD203B41FA5}">
                          <a16:colId xmlns:a16="http://schemas.microsoft.com/office/drawing/2014/main" val="599247429"/>
                        </a:ext>
                      </a:extLst>
                    </a:gridCol>
                    <a:gridCol w="3474720">
                      <a:extLst>
                        <a:ext uri="{9D8B030D-6E8A-4147-A177-3AD203B41FA5}">
                          <a16:colId xmlns:a16="http://schemas.microsoft.com/office/drawing/2014/main" val="3040033715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88907395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US" sz="2400">
                            <a:solidFill>
                              <a:schemeClr val="accent1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SSSP</a:t>
                          </a:r>
                          <a:endParaRPr lang="en-US" sz="2400" b="1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APSP</a:t>
                          </a:r>
                          <a:endParaRPr lang="en-US" sz="2400" b="1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3097611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BFS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(Unit-weight Graphs)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00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00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d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01742761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Dijkstra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(Positive-weight Graphs)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</m:d>
                                    <m:func>
                                      <m:funcPr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lg</m:t>
                                        </m:r>
                                      </m:fName>
                                      <m:e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e>
                                </m:d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func>
                                      <m:funcPr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lg</m:t>
                                        </m:r>
                                      </m:fName>
                                      <m:e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US" sz="2000" dirty="0"/>
                        </a:p>
                        <a:p>
                          <a:pPr algn="ctr"/>
                          <a:r>
                            <a:rPr lang="en-US" sz="16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(using binary heap for priority queue)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func>
                                      <m:funcPr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lg</m:t>
                                        </m:r>
                                      </m:fName>
                                      <m:e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05626026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Bellman-Ford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(Arbitrary-weight Directed)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smtClean="0">
                                        <a:latin typeface="Cambria Math" panose="02040503050406030204" pitchFamily="18" charset="0"/>
                                      </a:rPr>
                                      <m:t>𝑛𝑚</m:t>
                                    </m:r>
                                  </m:e>
                                </m:d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5889843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Topological Sort Variant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(Arbitrary-weight DAG)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00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00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d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00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958255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D116EEF7-8B25-4120-BAA8-F7D9B2A7BF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2908581"/>
                  </p:ext>
                </p:extLst>
              </p:nvPr>
            </p:nvGraphicFramePr>
            <p:xfrm>
              <a:off x="628650" y="2780578"/>
              <a:ext cx="7863840" cy="3383280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2926080">
                      <a:extLst>
                        <a:ext uri="{9D8B030D-6E8A-4147-A177-3AD203B41FA5}">
                          <a16:colId xmlns:a16="http://schemas.microsoft.com/office/drawing/2014/main" val="599247429"/>
                        </a:ext>
                      </a:extLst>
                    </a:gridCol>
                    <a:gridCol w="3474720">
                      <a:extLst>
                        <a:ext uri="{9D8B030D-6E8A-4147-A177-3AD203B41FA5}">
                          <a16:colId xmlns:a16="http://schemas.microsoft.com/office/drawing/2014/main" val="3040033715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88907395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US" sz="2400">
                            <a:solidFill>
                              <a:schemeClr val="accent1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SSSP</a:t>
                          </a:r>
                          <a:endParaRPr lang="en-US" sz="2400" b="1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APSP</a:t>
                          </a:r>
                          <a:endParaRPr lang="en-US" sz="2400" b="1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3097611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BFS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(Unit-weight Graphs)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4063" t="-69167" r="-42382" b="-3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7917" t="-69167" r="-833" b="-3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1742761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Dijkstra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(Positive-weight Graphs)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4063" t="-167769" r="-42382" b="-2024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7917" t="-167769" r="-833" b="-2024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5626026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Bellman-Ford</a:t>
                          </a:r>
                        </a:p>
                        <a:p>
                          <a:pPr algn="ctr"/>
                          <a:r>
                            <a:rPr lang="en-US" sz="16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(Arbitrary-weight Directed)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4063" t="-270000" r="-42382" b="-10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7917" t="-270000" r="-833" b="-10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5889843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Topological Sort Variant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a:t>(Arbitrary-weight DAG)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4063" t="-370000" r="-42382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7917" t="-370000" r="-833" b="-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58255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矩形: 圆角 12">
            <a:extLst>
              <a:ext uri="{FF2B5EF4-FFF2-40B4-BE49-F238E27FC236}">
                <a16:creationId xmlns:a16="http://schemas.microsoft.com/office/drawing/2014/main" id="{1ADE5989-73BB-4C8C-ABE9-A01AF509822C}"/>
              </a:ext>
            </a:extLst>
          </p:cNvPr>
          <p:cNvSpPr/>
          <p:nvPr/>
        </p:nvSpPr>
        <p:spPr>
          <a:xfrm>
            <a:off x="651510" y="3989196"/>
            <a:ext cx="7840980" cy="1416817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107AFF-E2D6-4F85-A091-1C251101D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APSP from multiple SSSP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057D56-7943-4706-A1FE-8A80AD6139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80218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200" b="1" dirty="0"/>
                  <a:t>Positive-weight Graphs:</a:t>
                </a:r>
                <a:r>
                  <a:rPr lang="en-US" sz="2200" dirty="0"/>
                  <a:t> Repeating Dijkstra gives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func>
                          <m:func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200" dirty="0"/>
                  <a:t>.</a:t>
                </a:r>
                <a:br>
                  <a:rPr lang="en-US" sz="2200" dirty="0"/>
                </a:br>
                <a:r>
                  <a:rPr lang="en-US" sz="2200" b="1" dirty="0"/>
                  <a:t>Arbitrary-weight Graphs:</a:t>
                </a:r>
                <a:r>
                  <a:rPr lang="en-US" sz="2200" dirty="0"/>
                  <a:t> Repeating Bellman-Ford gives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2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Faster algorithms for arbitrary-weight graphs?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Intuition</a:t>
                </a:r>
                <a:r>
                  <a:rPr lang="en-US" sz="2400" b="1" dirty="0"/>
                  <a:t>:</a:t>
                </a:r>
                <a:r>
                  <a:rPr lang="en-US" sz="2400" dirty="0"/>
                  <a:t> modify edge weights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without</a:t>
                </a:r>
                <a:r>
                  <a:rPr lang="en-US" sz="2400" dirty="0"/>
                  <a:t> changing shortest path, so that Dijkstra’s algorithm can work.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Add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−1⋅</m:t>
                            </m:r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 to each edge?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NO!</a:t>
                </a:r>
                <a:r>
                  <a:rPr lang="en-US" sz="2400" dirty="0">
                    <a:solidFill>
                      <a:srgbClr val="C00000"/>
                    </a:solidFill>
                  </a:rPr>
                  <a:t> Shortest paths may change!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2000" dirty="0"/>
                  <a:t>Given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/>
                  <a:t>, different paths may change by different amount!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057D56-7943-4706-A1FE-8A80AD6139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802186"/>
              </a:xfrm>
              <a:blipFill>
                <a:blip r:embed="rId2"/>
                <a:stretch>
                  <a:fillRect l="-1005" t="-1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C2F03869-33E5-4570-8F88-FBCACEE38D88}"/>
              </a:ext>
            </a:extLst>
          </p:cNvPr>
          <p:cNvGrpSpPr/>
          <p:nvPr/>
        </p:nvGrpSpPr>
        <p:grpSpPr>
          <a:xfrm>
            <a:off x="4933093" y="4889829"/>
            <a:ext cx="2751226" cy="1190259"/>
            <a:chOff x="798215" y="4933968"/>
            <a:chExt cx="2751226" cy="1190259"/>
          </a:xfrm>
        </p:grpSpPr>
        <p:sp>
          <p:nvSpPr>
            <p:cNvPr id="126" name="椭圆 8">
              <a:extLst>
                <a:ext uri="{FF2B5EF4-FFF2-40B4-BE49-F238E27FC236}">
                  <a16:creationId xmlns:a16="http://schemas.microsoft.com/office/drawing/2014/main" id="{F56722CE-2421-43F0-826A-4DFBA3CD8246}"/>
                </a:ext>
              </a:extLst>
            </p:cNvPr>
            <p:cNvSpPr/>
            <p:nvPr/>
          </p:nvSpPr>
          <p:spPr>
            <a:xfrm>
              <a:off x="798215" y="5343312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27" name="椭圆 16">
              <a:extLst>
                <a:ext uri="{FF2B5EF4-FFF2-40B4-BE49-F238E27FC236}">
                  <a16:creationId xmlns:a16="http://schemas.microsoft.com/office/drawing/2014/main" id="{779820CD-B9FD-4E6D-AFAB-3B09EB638658}"/>
                </a:ext>
              </a:extLst>
            </p:cNvPr>
            <p:cNvSpPr/>
            <p:nvPr/>
          </p:nvSpPr>
          <p:spPr>
            <a:xfrm>
              <a:off x="1594063" y="5760545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28" name="椭圆 24">
              <a:extLst>
                <a:ext uri="{FF2B5EF4-FFF2-40B4-BE49-F238E27FC236}">
                  <a16:creationId xmlns:a16="http://schemas.microsoft.com/office/drawing/2014/main" id="{8551734F-6066-485F-8CC2-79FDC2A92CA9}"/>
                </a:ext>
              </a:extLst>
            </p:cNvPr>
            <p:cNvSpPr/>
            <p:nvPr/>
          </p:nvSpPr>
          <p:spPr>
            <a:xfrm>
              <a:off x="2389911" y="5760545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129" name="直接箭头连接符 36">
              <a:extLst>
                <a:ext uri="{FF2B5EF4-FFF2-40B4-BE49-F238E27FC236}">
                  <a16:creationId xmlns:a16="http://schemas.microsoft.com/office/drawing/2014/main" id="{08A82484-580D-4374-8D2B-10D2CA4B10BF}"/>
                </a:ext>
              </a:extLst>
            </p:cNvPr>
            <p:cNvCxnSpPr>
              <a:cxnSpLocks/>
              <a:stCxn id="126" idx="7"/>
              <a:endCxn id="131" idx="2"/>
            </p:cNvCxnSpPr>
            <p:nvPr/>
          </p:nvCxnSpPr>
          <p:spPr>
            <a:xfrm flipV="1">
              <a:off x="1108637" y="5147555"/>
              <a:ext cx="883350" cy="24901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椭圆 24">
              <a:extLst>
                <a:ext uri="{FF2B5EF4-FFF2-40B4-BE49-F238E27FC236}">
                  <a16:creationId xmlns:a16="http://schemas.microsoft.com/office/drawing/2014/main" id="{10F42938-692C-4620-9829-29473ABC36D2}"/>
                </a:ext>
              </a:extLst>
            </p:cNvPr>
            <p:cNvSpPr/>
            <p:nvPr/>
          </p:nvSpPr>
          <p:spPr>
            <a:xfrm>
              <a:off x="3185759" y="5343312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131" name="椭圆 24">
              <a:extLst>
                <a:ext uri="{FF2B5EF4-FFF2-40B4-BE49-F238E27FC236}">
                  <a16:creationId xmlns:a16="http://schemas.microsoft.com/office/drawing/2014/main" id="{1C3A0D6F-30B4-46F4-AC69-00E3DFCDB60E}"/>
                </a:ext>
              </a:extLst>
            </p:cNvPr>
            <p:cNvSpPr/>
            <p:nvPr/>
          </p:nvSpPr>
          <p:spPr>
            <a:xfrm>
              <a:off x="1991987" y="4965714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132" name="直接箭头连接符 36">
              <a:extLst>
                <a:ext uri="{FF2B5EF4-FFF2-40B4-BE49-F238E27FC236}">
                  <a16:creationId xmlns:a16="http://schemas.microsoft.com/office/drawing/2014/main" id="{39D77CB9-11EE-419C-821E-0A150BF0685A}"/>
                </a:ext>
              </a:extLst>
            </p:cNvPr>
            <p:cNvCxnSpPr>
              <a:cxnSpLocks/>
              <a:stCxn id="131" idx="6"/>
              <a:endCxn id="130" idx="1"/>
            </p:cNvCxnSpPr>
            <p:nvPr/>
          </p:nvCxnSpPr>
          <p:spPr>
            <a:xfrm>
              <a:off x="2355669" y="5147555"/>
              <a:ext cx="883350" cy="24901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箭头连接符 36">
              <a:extLst>
                <a:ext uri="{FF2B5EF4-FFF2-40B4-BE49-F238E27FC236}">
                  <a16:creationId xmlns:a16="http://schemas.microsoft.com/office/drawing/2014/main" id="{65889A47-827D-4806-9CE4-8FA5BEE45AC2}"/>
                </a:ext>
              </a:extLst>
            </p:cNvPr>
            <p:cNvCxnSpPr>
              <a:cxnSpLocks/>
              <a:stCxn id="126" idx="5"/>
              <a:endCxn id="127" idx="2"/>
            </p:cNvCxnSpPr>
            <p:nvPr/>
          </p:nvCxnSpPr>
          <p:spPr>
            <a:xfrm>
              <a:off x="1108637" y="5653734"/>
              <a:ext cx="485426" cy="28865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箭头连接符 36">
              <a:extLst>
                <a:ext uri="{FF2B5EF4-FFF2-40B4-BE49-F238E27FC236}">
                  <a16:creationId xmlns:a16="http://schemas.microsoft.com/office/drawing/2014/main" id="{141564CD-0E0B-4873-BF99-37D5987F31D8}"/>
                </a:ext>
              </a:extLst>
            </p:cNvPr>
            <p:cNvCxnSpPr>
              <a:cxnSpLocks/>
              <a:stCxn id="128" idx="6"/>
              <a:endCxn id="130" idx="3"/>
            </p:cNvCxnSpPr>
            <p:nvPr/>
          </p:nvCxnSpPr>
          <p:spPr>
            <a:xfrm flipV="1">
              <a:off x="2753593" y="5653734"/>
              <a:ext cx="485426" cy="28865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箭头连接符 36">
              <a:extLst>
                <a:ext uri="{FF2B5EF4-FFF2-40B4-BE49-F238E27FC236}">
                  <a16:creationId xmlns:a16="http://schemas.microsoft.com/office/drawing/2014/main" id="{4BAD31D4-DB9D-45C5-8312-84FA6E97A396}"/>
                </a:ext>
              </a:extLst>
            </p:cNvPr>
            <p:cNvCxnSpPr>
              <a:cxnSpLocks/>
              <a:stCxn id="127" idx="6"/>
              <a:endCxn id="128" idx="2"/>
            </p:cNvCxnSpPr>
            <p:nvPr/>
          </p:nvCxnSpPr>
          <p:spPr>
            <a:xfrm>
              <a:off x="1957745" y="5942386"/>
              <a:ext cx="43216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文本框 43">
              <a:extLst>
                <a:ext uri="{FF2B5EF4-FFF2-40B4-BE49-F238E27FC236}">
                  <a16:creationId xmlns:a16="http://schemas.microsoft.com/office/drawing/2014/main" id="{42A74735-6F97-4A95-B02D-47BE70957E75}"/>
                </a:ext>
              </a:extLst>
            </p:cNvPr>
            <p:cNvSpPr txBox="1"/>
            <p:nvPr/>
          </p:nvSpPr>
          <p:spPr>
            <a:xfrm>
              <a:off x="1449632" y="4933968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6</a:t>
              </a:r>
            </a:p>
          </p:txBody>
        </p:sp>
        <p:sp>
          <p:nvSpPr>
            <p:cNvPr id="137" name="文本框 43">
              <a:extLst>
                <a:ext uri="{FF2B5EF4-FFF2-40B4-BE49-F238E27FC236}">
                  <a16:creationId xmlns:a16="http://schemas.microsoft.com/office/drawing/2014/main" id="{CAA4A8DE-55D2-4EFF-A3BA-1AFA68464C8F}"/>
                </a:ext>
              </a:extLst>
            </p:cNvPr>
            <p:cNvSpPr txBox="1"/>
            <p:nvPr/>
          </p:nvSpPr>
          <p:spPr>
            <a:xfrm>
              <a:off x="2652913" y="4933968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6</a:t>
              </a:r>
            </a:p>
          </p:txBody>
        </p:sp>
        <p:sp>
          <p:nvSpPr>
            <p:cNvPr id="138" name="文本框 43">
              <a:extLst>
                <a:ext uri="{FF2B5EF4-FFF2-40B4-BE49-F238E27FC236}">
                  <a16:creationId xmlns:a16="http://schemas.microsoft.com/office/drawing/2014/main" id="{552FE865-DD6A-4833-87D2-1C8A6E342854}"/>
                </a:ext>
              </a:extLst>
            </p:cNvPr>
            <p:cNvSpPr txBox="1"/>
            <p:nvPr/>
          </p:nvSpPr>
          <p:spPr>
            <a:xfrm>
              <a:off x="2029397" y="5628783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0</a:t>
              </a:r>
            </a:p>
          </p:txBody>
        </p:sp>
        <p:sp>
          <p:nvSpPr>
            <p:cNvPr id="139" name="文本框 43">
              <a:extLst>
                <a:ext uri="{FF2B5EF4-FFF2-40B4-BE49-F238E27FC236}">
                  <a16:creationId xmlns:a16="http://schemas.microsoft.com/office/drawing/2014/main" id="{AE18B8EF-39D3-4BF3-A743-A30A636987E4}"/>
                </a:ext>
              </a:extLst>
            </p:cNvPr>
            <p:cNvSpPr txBox="1"/>
            <p:nvPr/>
          </p:nvSpPr>
          <p:spPr>
            <a:xfrm>
              <a:off x="1206919" y="5484457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7</a:t>
              </a:r>
            </a:p>
          </p:txBody>
        </p:sp>
        <p:sp>
          <p:nvSpPr>
            <p:cNvPr id="140" name="文本框 43">
              <a:extLst>
                <a:ext uri="{FF2B5EF4-FFF2-40B4-BE49-F238E27FC236}">
                  <a16:creationId xmlns:a16="http://schemas.microsoft.com/office/drawing/2014/main" id="{D7629679-7F09-40C1-AB80-A76D4E86BBB3}"/>
                </a:ext>
              </a:extLst>
            </p:cNvPr>
            <p:cNvSpPr txBox="1"/>
            <p:nvPr/>
          </p:nvSpPr>
          <p:spPr>
            <a:xfrm>
              <a:off x="2822573" y="5500202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7</a:t>
              </a:r>
            </a:p>
          </p:txBody>
        </p:sp>
      </p:grpSp>
      <p:sp>
        <p:nvSpPr>
          <p:cNvPr id="141" name="Arrow: Right 140">
            <a:extLst>
              <a:ext uri="{FF2B5EF4-FFF2-40B4-BE49-F238E27FC236}">
                <a16:creationId xmlns:a16="http://schemas.microsoft.com/office/drawing/2014/main" id="{B13C9E58-FF5F-4917-8896-C5BA00727659}"/>
              </a:ext>
            </a:extLst>
          </p:cNvPr>
          <p:cNvSpPr/>
          <p:nvPr/>
        </p:nvSpPr>
        <p:spPr>
          <a:xfrm>
            <a:off x="4036394" y="5299173"/>
            <a:ext cx="643703" cy="363973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FAE0C9CB-40B8-4A23-8907-9C86357262B8}"/>
              </a:ext>
            </a:extLst>
          </p:cNvPr>
          <p:cNvGrpSpPr/>
          <p:nvPr/>
        </p:nvGrpSpPr>
        <p:grpSpPr>
          <a:xfrm>
            <a:off x="1033117" y="4893774"/>
            <a:ext cx="2751226" cy="1190259"/>
            <a:chOff x="1033117" y="4893774"/>
            <a:chExt cx="2751226" cy="1190259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5408DA0C-8CE4-47D1-A599-29A9CA4FABB2}"/>
                </a:ext>
              </a:extLst>
            </p:cNvPr>
            <p:cNvGrpSpPr/>
            <p:nvPr/>
          </p:nvGrpSpPr>
          <p:grpSpPr>
            <a:xfrm>
              <a:off x="1033117" y="4893774"/>
              <a:ext cx="2751226" cy="1190259"/>
              <a:chOff x="798215" y="4933968"/>
              <a:chExt cx="2751226" cy="1190259"/>
            </a:xfrm>
          </p:grpSpPr>
          <p:sp>
            <p:nvSpPr>
              <p:cNvPr id="5" name="椭圆 8">
                <a:extLst>
                  <a:ext uri="{FF2B5EF4-FFF2-40B4-BE49-F238E27FC236}">
                    <a16:creationId xmlns:a16="http://schemas.microsoft.com/office/drawing/2014/main" id="{8D203F54-EE36-4938-8F67-2AB58C7DC95E}"/>
                  </a:ext>
                </a:extLst>
              </p:cNvPr>
              <p:cNvSpPr/>
              <p:nvPr/>
            </p:nvSpPr>
            <p:spPr>
              <a:xfrm>
                <a:off x="798215" y="5343312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3" name="椭圆 16">
                <a:extLst>
                  <a:ext uri="{FF2B5EF4-FFF2-40B4-BE49-F238E27FC236}">
                    <a16:creationId xmlns:a16="http://schemas.microsoft.com/office/drawing/2014/main" id="{C0D1B3F2-93EF-44AF-A327-0C93AB4E5525}"/>
                  </a:ext>
                </a:extLst>
              </p:cNvPr>
              <p:cNvSpPr/>
              <p:nvPr/>
            </p:nvSpPr>
            <p:spPr>
              <a:xfrm>
                <a:off x="1594063" y="5760545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14" name="椭圆 24">
                <a:extLst>
                  <a:ext uri="{FF2B5EF4-FFF2-40B4-BE49-F238E27FC236}">
                    <a16:creationId xmlns:a16="http://schemas.microsoft.com/office/drawing/2014/main" id="{C6AF7AE6-032A-4369-911C-E94CEC8B9151}"/>
                  </a:ext>
                </a:extLst>
              </p:cNvPr>
              <p:cNvSpPr/>
              <p:nvPr/>
            </p:nvSpPr>
            <p:spPr>
              <a:xfrm>
                <a:off x="2389911" y="5760545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cxnSp>
            <p:nvCxnSpPr>
              <p:cNvPr id="17" name="直接箭头连接符 36">
                <a:extLst>
                  <a:ext uri="{FF2B5EF4-FFF2-40B4-BE49-F238E27FC236}">
                    <a16:creationId xmlns:a16="http://schemas.microsoft.com/office/drawing/2014/main" id="{A619F0A0-E190-4E03-8FA3-F7F99D5F24CD}"/>
                  </a:ext>
                </a:extLst>
              </p:cNvPr>
              <p:cNvCxnSpPr>
                <a:cxnSpLocks/>
                <a:stCxn id="5" idx="7"/>
                <a:endCxn id="78" idx="2"/>
              </p:cNvCxnSpPr>
              <p:nvPr/>
            </p:nvCxnSpPr>
            <p:spPr>
              <a:xfrm flipV="1">
                <a:off x="1108637" y="5147555"/>
                <a:ext cx="883350" cy="2490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椭圆 24">
                <a:extLst>
                  <a:ext uri="{FF2B5EF4-FFF2-40B4-BE49-F238E27FC236}">
                    <a16:creationId xmlns:a16="http://schemas.microsoft.com/office/drawing/2014/main" id="{F1B98BAC-A397-4916-99DE-2866FAE50CFF}"/>
                  </a:ext>
                </a:extLst>
              </p:cNvPr>
              <p:cNvSpPr/>
              <p:nvPr/>
            </p:nvSpPr>
            <p:spPr>
              <a:xfrm>
                <a:off x="3185759" y="5343312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</a:t>
                </a:r>
              </a:p>
            </p:txBody>
          </p:sp>
          <p:sp>
            <p:nvSpPr>
              <p:cNvPr id="78" name="椭圆 24">
                <a:extLst>
                  <a:ext uri="{FF2B5EF4-FFF2-40B4-BE49-F238E27FC236}">
                    <a16:creationId xmlns:a16="http://schemas.microsoft.com/office/drawing/2014/main" id="{CA298C5B-7E8D-4FF8-BD32-9A1922AD341C}"/>
                  </a:ext>
                </a:extLst>
              </p:cNvPr>
              <p:cNvSpPr/>
              <p:nvPr/>
            </p:nvSpPr>
            <p:spPr>
              <a:xfrm>
                <a:off x="1991987" y="4965714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82" name="直接箭头连接符 36">
                <a:extLst>
                  <a:ext uri="{FF2B5EF4-FFF2-40B4-BE49-F238E27FC236}">
                    <a16:creationId xmlns:a16="http://schemas.microsoft.com/office/drawing/2014/main" id="{BC5522A1-4593-4363-A6CD-203FD88EC934}"/>
                  </a:ext>
                </a:extLst>
              </p:cNvPr>
              <p:cNvCxnSpPr>
                <a:cxnSpLocks/>
                <a:stCxn id="78" idx="6"/>
                <a:endCxn id="77" idx="1"/>
              </p:cNvCxnSpPr>
              <p:nvPr/>
            </p:nvCxnSpPr>
            <p:spPr>
              <a:xfrm>
                <a:off x="2355669" y="5147555"/>
                <a:ext cx="883350" cy="2490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箭头连接符 36">
                <a:extLst>
                  <a:ext uri="{FF2B5EF4-FFF2-40B4-BE49-F238E27FC236}">
                    <a16:creationId xmlns:a16="http://schemas.microsoft.com/office/drawing/2014/main" id="{E6F62C9A-2984-4407-A91D-584B51C33FB4}"/>
                  </a:ext>
                </a:extLst>
              </p:cNvPr>
              <p:cNvCxnSpPr>
                <a:cxnSpLocks/>
                <a:stCxn id="5" idx="5"/>
                <a:endCxn id="13" idx="2"/>
              </p:cNvCxnSpPr>
              <p:nvPr/>
            </p:nvCxnSpPr>
            <p:spPr>
              <a:xfrm>
                <a:off x="1108637" y="5653734"/>
                <a:ext cx="485426" cy="28865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箭头连接符 36">
                <a:extLst>
                  <a:ext uri="{FF2B5EF4-FFF2-40B4-BE49-F238E27FC236}">
                    <a16:creationId xmlns:a16="http://schemas.microsoft.com/office/drawing/2014/main" id="{85E7D794-3E40-4C1D-BB32-2FBFCEE8DD93}"/>
                  </a:ext>
                </a:extLst>
              </p:cNvPr>
              <p:cNvCxnSpPr>
                <a:cxnSpLocks/>
                <a:stCxn id="14" idx="6"/>
                <a:endCxn id="77" idx="3"/>
              </p:cNvCxnSpPr>
              <p:nvPr/>
            </p:nvCxnSpPr>
            <p:spPr>
              <a:xfrm flipV="1">
                <a:off x="2753593" y="5653734"/>
                <a:ext cx="485426" cy="28865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箭头连接符 36">
                <a:extLst>
                  <a:ext uri="{FF2B5EF4-FFF2-40B4-BE49-F238E27FC236}">
                    <a16:creationId xmlns:a16="http://schemas.microsoft.com/office/drawing/2014/main" id="{51BEBF38-731D-4712-BB22-27A20A606C6E}"/>
                  </a:ext>
                </a:extLst>
              </p:cNvPr>
              <p:cNvCxnSpPr>
                <a:cxnSpLocks/>
                <a:stCxn id="13" idx="6"/>
                <a:endCxn id="14" idx="2"/>
              </p:cNvCxnSpPr>
              <p:nvPr/>
            </p:nvCxnSpPr>
            <p:spPr>
              <a:xfrm>
                <a:off x="1957745" y="5942386"/>
                <a:ext cx="43216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文本框 43">
                <a:extLst>
                  <a:ext uri="{FF2B5EF4-FFF2-40B4-BE49-F238E27FC236}">
                    <a16:creationId xmlns:a16="http://schemas.microsoft.com/office/drawing/2014/main" id="{C4DED30F-472F-43E8-A056-32F094EB2F1E}"/>
                  </a:ext>
                </a:extLst>
              </p:cNvPr>
              <p:cNvSpPr txBox="1"/>
              <p:nvPr/>
            </p:nvSpPr>
            <p:spPr>
              <a:xfrm>
                <a:off x="1449632" y="4933968"/>
                <a:ext cx="2888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3</a:t>
                </a:r>
              </a:p>
            </p:txBody>
          </p:sp>
          <p:sp>
            <p:nvSpPr>
              <p:cNvPr id="104" name="文本框 43">
                <a:extLst>
                  <a:ext uri="{FF2B5EF4-FFF2-40B4-BE49-F238E27FC236}">
                    <a16:creationId xmlns:a16="http://schemas.microsoft.com/office/drawing/2014/main" id="{0367701C-3840-40E2-B55F-58E3D0C9403E}"/>
                  </a:ext>
                </a:extLst>
              </p:cNvPr>
              <p:cNvSpPr txBox="1"/>
              <p:nvPr/>
            </p:nvSpPr>
            <p:spPr>
              <a:xfrm>
                <a:off x="2652913" y="4933968"/>
                <a:ext cx="2888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3</a:t>
                </a:r>
              </a:p>
            </p:txBody>
          </p:sp>
          <p:sp>
            <p:nvSpPr>
              <p:cNvPr id="105" name="文本框 43">
                <a:extLst>
                  <a:ext uri="{FF2B5EF4-FFF2-40B4-BE49-F238E27FC236}">
                    <a16:creationId xmlns:a16="http://schemas.microsoft.com/office/drawing/2014/main" id="{786CB75E-6E2A-4069-9133-4AC2146B95AB}"/>
                  </a:ext>
                </a:extLst>
              </p:cNvPr>
              <p:cNvSpPr txBox="1"/>
              <p:nvPr/>
            </p:nvSpPr>
            <p:spPr>
              <a:xfrm>
                <a:off x="1998139" y="5628783"/>
                <a:ext cx="35137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-3</a:t>
                </a:r>
              </a:p>
            </p:txBody>
          </p:sp>
          <p:sp>
            <p:nvSpPr>
              <p:cNvPr id="106" name="文本框 43">
                <a:extLst>
                  <a:ext uri="{FF2B5EF4-FFF2-40B4-BE49-F238E27FC236}">
                    <a16:creationId xmlns:a16="http://schemas.microsoft.com/office/drawing/2014/main" id="{56CD91B8-75F6-40D8-A7B0-D6BDA107F788}"/>
                  </a:ext>
                </a:extLst>
              </p:cNvPr>
              <p:cNvSpPr txBox="1"/>
              <p:nvPr/>
            </p:nvSpPr>
            <p:spPr>
              <a:xfrm>
                <a:off x="1206919" y="5484457"/>
                <a:ext cx="2888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4</a:t>
                </a:r>
              </a:p>
            </p:txBody>
          </p:sp>
          <p:sp>
            <p:nvSpPr>
              <p:cNvPr id="107" name="文本框 43">
                <a:extLst>
                  <a:ext uri="{FF2B5EF4-FFF2-40B4-BE49-F238E27FC236}">
                    <a16:creationId xmlns:a16="http://schemas.microsoft.com/office/drawing/2014/main" id="{EDC13875-8F2E-422F-A297-9E3A8D697850}"/>
                  </a:ext>
                </a:extLst>
              </p:cNvPr>
              <p:cNvSpPr txBox="1"/>
              <p:nvPr/>
            </p:nvSpPr>
            <p:spPr>
              <a:xfrm>
                <a:off x="2822573" y="5500202"/>
                <a:ext cx="2888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4</a:t>
                </a:r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ADE7C99C-59CF-45A5-9CC1-CDCEE554FB8E}"/>
                </a:ext>
              </a:extLst>
            </p:cNvPr>
            <p:cNvGrpSpPr/>
            <p:nvPr/>
          </p:nvGrpSpPr>
          <p:grpSpPr>
            <a:xfrm>
              <a:off x="1292183" y="5675474"/>
              <a:ext cx="2224322" cy="311588"/>
              <a:chOff x="1292183" y="5675474"/>
              <a:chExt cx="2224322" cy="311588"/>
            </a:xfrm>
          </p:grpSpPr>
          <p:sp>
            <p:nvSpPr>
              <p:cNvPr id="142" name="矩形: 圆角 12">
                <a:extLst>
                  <a:ext uri="{FF2B5EF4-FFF2-40B4-BE49-F238E27FC236}">
                    <a16:creationId xmlns:a16="http://schemas.microsoft.com/office/drawing/2014/main" id="{F2A7D850-B40F-405D-A8A2-8A526D34561E}"/>
                  </a:ext>
                </a:extLst>
              </p:cNvPr>
              <p:cNvSpPr/>
              <p:nvPr/>
            </p:nvSpPr>
            <p:spPr>
              <a:xfrm rot="1810622">
                <a:off x="1292183" y="5679242"/>
                <a:ext cx="579682" cy="177630"/>
              </a:xfrm>
              <a:prstGeom prst="roundRect">
                <a:avLst/>
              </a:prstGeom>
              <a:solidFill>
                <a:schemeClr val="accent2">
                  <a:lumMod val="75000"/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矩形: 圆角 12">
                <a:extLst>
                  <a:ext uri="{FF2B5EF4-FFF2-40B4-BE49-F238E27FC236}">
                    <a16:creationId xmlns:a16="http://schemas.microsoft.com/office/drawing/2014/main" id="{0A0DBDCA-9615-480C-A783-ED586D5E40B3}"/>
                  </a:ext>
                </a:extLst>
              </p:cNvPr>
              <p:cNvSpPr/>
              <p:nvPr/>
            </p:nvSpPr>
            <p:spPr>
              <a:xfrm rot="19812626">
                <a:off x="2936823" y="5675474"/>
                <a:ext cx="579682" cy="177630"/>
              </a:xfrm>
              <a:prstGeom prst="roundRect">
                <a:avLst/>
              </a:prstGeom>
              <a:solidFill>
                <a:schemeClr val="accent2">
                  <a:lumMod val="75000"/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矩形: 圆角 12">
                <a:extLst>
                  <a:ext uri="{FF2B5EF4-FFF2-40B4-BE49-F238E27FC236}">
                    <a16:creationId xmlns:a16="http://schemas.microsoft.com/office/drawing/2014/main" id="{1B7F5CC6-F523-45F3-9603-09EFE40CEF3C}"/>
                  </a:ext>
                </a:extLst>
              </p:cNvPr>
              <p:cNvSpPr/>
              <p:nvPr/>
            </p:nvSpPr>
            <p:spPr>
              <a:xfrm>
                <a:off x="2106602" y="5809432"/>
                <a:ext cx="579682" cy="177630"/>
              </a:xfrm>
              <a:prstGeom prst="roundRect">
                <a:avLst/>
              </a:prstGeom>
              <a:solidFill>
                <a:schemeClr val="accent2">
                  <a:lumMod val="75000"/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13B536E-A434-4143-AE14-403FF30C003E}"/>
              </a:ext>
            </a:extLst>
          </p:cNvPr>
          <p:cNvGrpSpPr/>
          <p:nvPr/>
        </p:nvGrpSpPr>
        <p:grpSpPr>
          <a:xfrm>
            <a:off x="5203088" y="5136720"/>
            <a:ext cx="2219575" cy="192455"/>
            <a:chOff x="5203088" y="5136720"/>
            <a:chExt cx="2219575" cy="192455"/>
          </a:xfrm>
        </p:grpSpPr>
        <p:sp>
          <p:nvSpPr>
            <p:cNvPr id="145" name="矩形: 圆角 12">
              <a:extLst>
                <a:ext uri="{FF2B5EF4-FFF2-40B4-BE49-F238E27FC236}">
                  <a16:creationId xmlns:a16="http://schemas.microsoft.com/office/drawing/2014/main" id="{9EF0B5A0-28B4-49E4-99D5-E59CCF0123F0}"/>
                </a:ext>
              </a:extLst>
            </p:cNvPr>
            <p:cNvSpPr/>
            <p:nvPr/>
          </p:nvSpPr>
          <p:spPr>
            <a:xfrm rot="1007619">
              <a:off x="6454590" y="5151545"/>
              <a:ext cx="968073" cy="177630"/>
            </a:xfrm>
            <a:prstGeom prst="roundRect">
              <a:avLst/>
            </a:prstGeom>
            <a:solidFill>
              <a:schemeClr val="accent2">
                <a:lumMod val="7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矩形: 圆角 12">
              <a:extLst>
                <a:ext uri="{FF2B5EF4-FFF2-40B4-BE49-F238E27FC236}">
                  <a16:creationId xmlns:a16="http://schemas.microsoft.com/office/drawing/2014/main" id="{A61C5996-4812-4402-B0B4-F10F9B8C236D}"/>
                </a:ext>
              </a:extLst>
            </p:cNvPr>
            <p:cNvSpPr/>
            <p:nvPr/>
          </p:nvSpPr>
          <p:spPr>
            <a:xfrm rot="20619268">
              <a:off x="5203088" y="5136720"/>
              <a:ext cx="968073" cy="177630"/>
            </a:xfrm>
            <a:prstGeom prst="roundRect">
              <a:avLst/>
            </a:prstGeom>
            <a:solidFill>
              <a:schemeClr val="accent2">
                <a:lumMod val="7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3056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107AFF-E2D6-4F85-A091-1C251101D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APSP from multiple SSSP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057D56-7943-4706-A1FE-8A80AD6139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8515350" cy="480218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Faster algorithms for arbitrary-weight graphs?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Intuition</a:t>
                </a:r>
                <a:r>
                  <a:rPr lang="en-US" sz="2400" b="1" dirty="0"/>
                  <a:t>:</a:t>
                </a:r>
                <a:r>
                  <a:rPr lang="en-US" sz="2400" dirty="0"/>
                  <a:t> modify edge weights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without</a:t>
                </a:r>
                <a:r>
                  <a:rPr lang="en-US" sz="2400" dirty="0"/>
                  <a:t> changing shortest path, so that Dijkstra’s algorithm can work.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Requirement</a:t>
                </a:r>
                <a:r>
                  <a:rPr lang="en-US" sz="2400" b="1" dirty="0"/>
                  <a:t>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sz="2000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sSupPr>
                            <m:ctrlPr>
                              <a:rPr lang="en-US" sz="20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000" b="0" i="1" dirty="0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dirty="0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sz="2000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acc>
                      <m:accPr>
                        <m:chr m:val="̂"/>
                        <m:ctrlP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000" i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  <m:r>
                          <a:rPr lang="en-US" sz="20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</a:rPr>
                  <a:t>iff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000" i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i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sz="20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000" i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i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  <m:r>
                          <a:rPr lang="en-US" sz="2000" i="1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sz="24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Alternatively</a:t>
                </a:r>
                <a:r>
                  <a:rPr lang="en-US" sz="2400" b="1" dirty="0"/>
                  <a:t>:</a:t>
                </a:r>
                <a:r>
                  <a:rPr lang="en-US" sz="2400" dirty="0"/>
                  <a:t> </a:t>
                </a: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for every path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 change it by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same</a:t>
                </a: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 amount!</a:t>
                </a:r>
                <a:endParaRPr lang="en-US" sz="24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sz="20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b="0" dirty="0"/>
                  <a:t>Imagine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000" dirty="0"/>
                  <a:t> is </a:t>
                </a: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</a:rPr>
                  <a:t>entry gift</a:t>
                </a:r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b="0" dirty="0">
                    <a:solidFill>
                      <a:schemeClr val="tx1"/>
                    </a:solidFill>
                  </a:rPr>
                  <a:t> is </a:t>
                </a:r>
                <a:r>
                  <a:rPr lang="en-US" sz="2000" b="0" dirty="0">
                    <a:solidFill>
                      <a:schemeClr val="accent4">
                        <a:lumMod val="75000"/>
                      </a:schemeClr>
                    </a:solidFill>
                  </a:rPr>
                  <a:t>exit tax</a:t>
                </a:r>
                <a:r>
                  <a:rPr lang="en-US" sz="2000" dirty="0"/>
                  <a:t> </a:t>
                </a:r>
                <a:r>
                  <a:rPr lang="en-US" sz="2000" b="0" dirty="0">
                    <a:solidFill>
                      <a:schemeClr val="tx1"/>
                    </a:solidFill>
                  </a:rPr>
                  <a:t>for traveling through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sz="20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sSupPr>
                            <m:ctrlPr>
                              <a:rPr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→⋯→</m:t>
                        </m:r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acc>
                      <m:accPr>
                        <m:chr m:val="̂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sz="1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1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d>
                          <m:d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1800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1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d>
                          <m:d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1800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⋯+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1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d>
                          <m:d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1800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1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d>
                          <m:d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1800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</m:oMath>
                </a14:m>
                <a:endParaRPr lang="en-US" sz="1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→⋯→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8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057D56-7943-4706-A1FE-8A80AD6139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8515350" cy="4802186"/>
              </a:xfrm>
              <a:blipFill>
                <a:blip r:embed="rId2"/>
                <a:stretch>
                  <a:fillRect l="-931" t="-1015" b="-1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矩形: 圆角 12">
            <a:extLst>
              <a:ext uri="{FF2B5EF4-FFF2-40B4-BE49-F238E27FC236}">
                <a16:creationId xmlns:a16="http://schemas.microsoft.com/office/drawing/2014/main" id="{EF7D6D00-D3B2-46C1-8D5A-62E50552097F}"/>
              </a:ext>
            </a:extLst>
          </p:cNvPr>
          <p:cNvSpPr/>
          <p:nvPr/>
        </p:nvSpPr>
        <p:spPr>
          <a:xfrm>
            <a:off x="842429" y="4612195"/>
            <a:ext cx="1317967" cy="422030"/>
          </a:xfrm>
          <a:prstGeom prst="roundRect">
            <a:avLst/>
          </a:prstGeom>
          <a:solidFill>
            <a:schemeClr val="accent6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矩形: 圆角 12">
            <a:extLst>
              <a:ext uri="{FF2B5EF4-FFF2-40B4-BE49-F238E27FC236}">
                <a16:creationId xmlns:a16="http://schemas.microsoft.com/office/drawing/2014/main" id="{F77D430B-8FBE-4038-8AB4-18B2152F1400}"/>
              </a:ext>
            </a:extLst>
          </p:cNvPr>
          <p:cNvSpPr/>
          <p:nvPr/>
        </p:nvSpPr>
        <p:spPr>
          <a:xfrm>
            <a:off x="5637167" y="6070844"/>
            <a:ext cx="2713013" cy="422030"/>
          </a:xfrm>
          <a:prstGeom prst="roundRect">
            <a:avLst/>
          </a:prstGeom>
          <a:solidFill>
            <a:schemeClr val="accent6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矩形: 圆角 12">
            <a:extLst>
              <a:ext uri="{FF2B5EF4-FFF2-40B4-BE49-F238E27FC236}">
                <a16:creationId xmlns:a16="http://schemas.microsoft.com/office/drawing/2014/main" id="{748B4FEA-D42B-4895-9453-C9E801164B33}"/>
              </a:ext>
            </a:extLst>
          </p:cNvPr>
          <p:cNvSpPr/>
          <p:nvPr/>
        </p:nvSpPr>
        <p:spPr>
          <a:xfrm>
            <a:off x="842429" y="3429000"/>
            <a:ext cx="7869492" cy="422030"/>
          </a:xfrm>
          <a:prstGeom prst="roundRect">
            <a:avLst/>
          </a:prstGeom>
          <a:solidFill>
            <a:schemeClr val="accent6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977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107AFF-E2D6-4F85-A091-1C251101D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APSP from multiple SSSP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057D56-7943-4706-A1FE-8A80AD6139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8515350" cy="480218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Faster algorithms for arbitrary-weight graphs?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Intuition</a:t>
                </a:r>
                <a:r>
                  <a:rPr lang="en-US" sz="2400" b="1" dirty="0"/>
                  <a:t>:</a:t>
                </a:r>
                <a:r>
                  <a:rPr lang="en-US" sz="2400" dirty="0"/>
                  <a:t> modify edge weights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without</a:t>
                </a:r>
                <a:r>
                  <a:rPr lang="en-US" sz="2400" dirty="0"/>
                  <a:t> changing shortest path, so that Dijkstra’s algorithm can work.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Requirement</a:t>
                </a:r>
                <a:r>
                  <a:rPr lang="en-US" sz="2400" b="1" dirty="0"/>
                  <a:t>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sSupPr>
                            <m:ctrlP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acc>
                      <m:accPr>
                        <m:chr m:val="̂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iff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sz="24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Alternatively</a:t>
                </a:r>
                <a:r>
                  <a:rPr lang="en-US" sz="2400" b="1" dirty="0"/>
                  <a:t>:</a:t>
                </a:r>
                <a:r>
                  <a:rPr lang="en-US" sz="2400" dirty="0"/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for every path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change it by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same</a:t>
                </a:r>
                <a:r>
                  <a:rPr lang="en-US" sz="2000" dirty="0">
                    <a:solidFill>
                      <a:schemeClr val="tx1"/>
                    </a:solidFill>
                  </a:rPr>
                  <a:t> amount!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for some </a:t>
                </a:r>
                <a:r>
                  <a:rPr lang="en-US" sz="2000" i="1" dirty="0">
                    <a:solidFill>
                      <a:schemeClr val="tx1"/>
                    </a:solidFill>
                  </a:rPr>
                  <a:t>fixed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then</a:t>
                </a:r>
                <a:br>
                  <a:rPr lang="en-US" sz="2400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sz="24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4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4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4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It is possible that we cannot find such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that reaches every node!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057D56-7943-4706-A1FE-8A80AD6139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8515350" cy="4802186"/>
              </a:xfrm>
              <a:blipFill>
                <a:blip r:embed="rId2"/>
                <a:stretch>
                  <a:fillRect l="-931" t="-1015" r="-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: 圆角 12">
            <a:extLst>
              <a:ext uri="{FF2B5EF4-FFF2-40B4-BE49-F238E27FC236}">
                <a16:creationId xmlns:a16="http://schemas.microsoft.com/office/drawing/2014/main" id="{E120242E-5BE9-430E-B9BC-14D43B4C23A7}"/>
              </a:ext>
            </a:extLst>
          </p:cNvPr>
          <p:cNvSpPr/>
          <p:nvPr/>
        </p:nvSpPr>
        <p:spPr>
          <a:xfrm>
            <a:off x="912767" y="3850623"/>
            <a:ext cx="4965519" cy="422030"/>
          </a:xfrm>
          <a:prstGeom prst="roundRect">
            <a:avLst/>
          </a:prstGeom>
          <a:solidFill>
            <a:schemeClr val="accent6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3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107AFF-E2D6-4F85-A091-1C251101D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APSP from multiple SSSP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057D56-7943-4706-A1FE-8A80AD6139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8515350" cy="480218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Faster algorithms for arbitrary-weight graphs?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Intuition</a:t>
                </a:r>
                <a:r>
                  <a:rPr lang="en-US" sz="2400" b="1" dirty="0"/>
                  <a:t>:</a:t>
                </a:r>
                <a:r>
                  <a:rPr lang="en-US" sz="2400" dirty="0"/>
                  <a:t> modify edge weights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without</a:t>
                </a:r>
                <a:r>
                  <a:rPr lang="en-US" sz="2400" dirty="0"/>
                  <a:t> changing shortest path, so that Dijkstra’s algorithm can work.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b="0" dirty="0">
                  <a:solidFill>
                    <a:srgbClr val="C0000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Add node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b="0" dirty="0">
                    <a:solidFill>
                      <a:srgbClr val="C00000"/>
                    </a:solidFill>
                  </a:rPr>
                  <a:t> that goes to every node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b="0" dirty="0">
                    <a:solidFill>
                      <a:srgbClr val="C00000"/>
                    </a:solidFill>
                  </a:rPr>
                  <a:t> with a weight 0 edge.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|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b="0" dirty="0"/>
                  <a:t>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b="0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057D56-7943-4706-A1FE-8A80AD6139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8515350" cy="4802186"/>
              </a:xfrm>
              <a:blipFill>
                <a:blip r:embed="rId2"/>
                <a:stretch>
                  <a:fillRect l="-931" t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: 圆角 12">
            <a:extLst>
              <a:ext uri="{FF2B5EF4-FFF2-40B4-BE49-F238E27FC236}">
                <a16:creationId xmlns:a16="http://schemas.microsoft.com/office/drawing/2014/main" id="{E120242E-5BE9-430E-B9BC-14D43B4C23A7}"/>
              </a:ext>
            </a:extLst>
          </p:cNvPr>
          <p:cNvSpPr/>
          <p:nvPr/>
        </p:nvSpPr>
        <p:spPr>
          <a:xfrm>
            <a:off x="882622" y="2956730"/>
            <a:ext cx="4965519" cy="422030"/>
          </a:xfrm>
          <a:prstGeom prst="roundRect">
            <a:avLst/>
          </a:prstGeom>
          <a:solidFill>
            <a:schemeClr val="accent6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B0C91F0-0E41-4346-8C24-63DB8D5B4063}"/>
              </a:ext>
            </a:extLst>
          </p:cNvPr>
          <p:cNvGrpSpPr/>
          <p:nvPr/>
        </p:nvGrpSpPr>
        <p:grpSpPr>
          <a:xfrm>
            <a:off x="1384223" y="4360985"/>
            <a:ext cx="5710642" cy="2131889"/>
            <a:chOff x="1384223" y="4360985"/>
            <a:chExt cx="5710642" cy="213188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955252F-E107-4846-8264-E234C129D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84223" y="4644801"/>
              <a:ext cx="1981976" cy="168453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DEC099C-5030-4E52-A6F6-D7B142D71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60740" y="4360985"/>
              <a:ext cx="2634125" cy="2131889"/>
            </a:xfrm>
            <a:prstGeom prst="rect">
              <a:avLst/>
            </a:prstGeom>
          </p:spPr>
        </p:pic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C0D21AF7-ABE1-4DDD-8BA4-3DFD1456607E}"/>
                </a:ext>
              </a:extLst>
            </p:cNvPr>
            <p:cNvSpPr/>
            <p:nvPr/>
          </p:nvSpPr>
          <p:spPr>
            <a:xfrm>
              <a:off x="3591618" y="5305082"/>
              <a:ext cx="643703" cy="363973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365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107AFF-E2D6-4F85-A091-1C251101D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APSP from multiple SSSP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057D56-7943-4706-A1FE-8A80AD6139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8515350" cy="4802186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200" dirty="0">
                    <a:solidFill>
                      <a:srgbClr val="C00000"/>
                    </a:solidFill>
                  </a:rPr>
                  <a:t>Faster algorithms for arbitrary-weight graphs?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b="1" dirty="0">
                    <a:solidFill>
                      <a:schemeClr val="accent1">
                        <a:lumMod val="75000"/>
                      </a:schemeClr>
                    </a:solidFill>
                  </a:rPr>
                  <a:t>Strategy</a:t>
                </a:r>
                <a:r>
                  <a:rPr lang="en-US" sz="2200" b="1" dirty="0"/>
                  <a:t>:</a:t>
                </a:r>
                <a:r>
                  <a:rPr lang="en-US" sz="2200" dirty="0"/>
                  <a:t> modify edge weights </a:t>
                </a:r>
                <a:r>
                  <a:rPr lang="en-US" sz="2200" i="1" dirty="0">
                    <a:solidFill>
                      <a:srgbClr val="C00000"/>
                    </a:solidFill>
                  </a:rPr>
                  <a:t>without</a:t>
                </a:r>
                <a:r>
                  <a:rPr lang="en-US" sz="2200" dirty="0"/>
                  <a:t> changing shortest path, </a:t>
                </a:r>
                <a:br>
                  <a:rPr lang="en-US" sz="2200" dirty="0"/>
                </a:br>
                <a:r>
                  <a:rPr lang="en-US" sz="2200" dirty="0"/>
                  <a:t>so that Dijkstra’s algorithm can work.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dirty="0">
                    <a:solidFill>
                      <a:schemeClr val="accent6">
                        <a:lumMod val="75000"/>
                      </a:schemeClr>
                    </a:solidFill>
                  </a:rPr>
                  <a:t>Add node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200" b="0" dirty="0">
                    <a:solidFill>
                      <a:schemeClr val="accent6">
                        <a:lumMod val="75000"/>
                      </a:schemeClr>
                    </a:solidFill>
                  </a:rPr>
                  <a:t> that goes to every node in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200" b="0" dirty="0">
                    <a:solidFill>
                      <a:schemeClr val="accent6">
                        <a:lumMod val="75000"/>
                      </a:schemeClr>
                    </a:solidFill>
                  </a:rPr>
                  <a:t> with a weight 0 edge.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b="1" dirty="0">
                    <a:solidFill>
                      <a:schemeClr val="accent6">
                        <a:lumMod val="75000"/>
                      </a:schemeClr>
                    </a:solidFill>
                  </a:rPr>
                  <a:t>Reweight edges</a:t>
                </a:r>
                <a:r>
                  <a:rPr lang="en-US" sz="2200" b="1" dirty="0"/>
                  <a:t>:</a:t>
                </a:r>
                <a:r>
                  <a:rPr lang="en-US" sz="22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200" b="0" dirty="0"/>
              </a:p>
              <a:p>
                <a:pPr lvl="1">
                  <a:spcBef>
                    <a:spcPts val="0"/>
                  </a:spcBef>
                </a:pP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For node pairs in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addition of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d</a:t>
                </a:r>
                <a:r>
                  <a:rPr lang="en-US" sz="18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oes not create new shortest path.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For node pairs in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a path is shortest under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US" sz="18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iff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this path is shortest under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</a:t>
                </a:r>
              </a:p>
              <a:p>
                <a:pPr lvl="1">
                  <a:spcBef>
                    <a:spcPts val="600"/>
                  </a:spcBef>
                </a:pPr>
                <a:endParaRPr lang="en-US" sz="1800" b="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057D56-7943-4706-A1FE-8A80AD6139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8515350" cy="4802186"/>
              </a:xfrm>
              <a:blipFill>
                <a:blip r:embed="rId2"/>
                <a:stretch>
                  <a:fillRect l="-787" t="-15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4">
                <a:extLst>
                  <a:ext uri="{FF2B5EF4-FFF2-40B4-BE49-F238E27FC236}">
                    <a16:creationId xmlns:a16="http://schemas.microsoft.com/office/drawing/2014/main" id="{99B99263-B579-4ADA-9216-E522EDCD8732}"/>
                  </a:ext>
                </a:extLst>
              </p:cNvPr>
              <p:cNvSpPr/>
              <p:nvPr/>
            </p:nvSpPr>
            <p:spPr>
              <a:xfrm>
                <a:off x="1059001" y="4033131"/>
                <a:ext cx="7025997" cy="245974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spcAft>
                    <a:spcPts val="600"/>
                  </a:spcAft>
                </a:pPr>
                <a:r>
                  <a:rPr lang="en-GB" b="1" u="sng" dirty="0" err="1">
                    <a:solidFill>
                      <a:schemeClr val="tx1"/>
                    </a:solidFill>
                  </a:rPr>
                  <a:t>JohnsonAPSP</a:t>
                </a:r>
                <a:r>
                  <a:rPr lang="en-GB" b="1" u="sng" dirty="0">
                    <a:solidFill>
                      <a:schemeClr val="tx1"/>
                    </a:solidFill>
                  </a:rPr>
                  <a:t>(G):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Create H=(V+{z},E+{(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z,v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)|v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∈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V}) with w(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z,v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)=0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Bellman-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FordSSSP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H,z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to obtain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</a:t>
                </a:r>
                <a:endParaRPr lang="en-GB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 (each edge 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in H.E)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w’(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=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z,u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)+w(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)-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z,v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 (each node u in G.V)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DijkstraSSSP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G,u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with w’ to obtain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G,w</a:t>
                </a:r>
                <a:r>
                  <a:rPr lang="en-GB" baseline="-25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’</a:t>
                </a:r>
                <a:endParaRPr lang="en-GB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for (each node v in G.V)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=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G,w</a:t>
                </a:r>
                <a:r>
                  <a:rPr lang="en-GB" baseline="-25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’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)+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z,v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)-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z,u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矩形 4">
                <a:extLst>
                  <a:ext uri="{FF2B5EF4-FFF2-40B4-BE49-F238E27FC236}">
                    <a16:creationId xmlns:a16="http://schemas.microsoft.com/office/drawing/2014/main" id="{99B99263-B579-4ADA-9216-E522EDCD87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001" y="4033131"/>
                <a:ext cx="7025997" cy="2459743"/>
              </a:xfrm>
              <a:prstGeom prst="rect">
                <a:avLst/>
              </a:prstGeom>
              <a:blipFill>
                <a:blip r:embed="rId3"/>
                <a:stretch>
                  <a:fillRect l="-693" t="-1235" b="-24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2506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D46DE9C-AFFF-4EAC-9D9A-66CBAB28B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319" y="5245695"/>
            <a:ext cx="1829681" cy="149747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4C98AC6-FCC8-4CEC-BD8D-734603106D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09"/>
          <a:stretch/>
        </p:blipFill>
        <p:spPr>
          <a:xfrm>
            <a:off x="2463623" y="5167312"/>
            <a:ext cx="2072076" cy="1669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5107AFF-E2D6-4F85-A091-1C251101D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APSP from multiple SSSP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057D56-7943-4706-A1FE-8A80AD613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633293" cy="4802186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2200" dirty="0">
                <a:solidFill>
                  <a:srgbClr val="C00000"/>
                </a:solidFill>
              </a:rPr>
              <a:t>Faster algorithms for arbitrary-weight graphs?</a:t>
            </a:r>
          </a:p>
          <a:p>
            <a:pPr>
              <a:spcBef>
                <a:spcPts val="600"/>
              </a:spcBef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Strategy</a:t>
            </a:r>
            <a:r>
              <a:rPr lang="en-US" sz="2200" b="1" dirty="0"/>
              <a:t>:</a:t>
            </a:r>
            <a:r>
              <a:rPr lang="en-US" sz="2200" dirty="0"/>
              <a:t> </a:t>
            </a:r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reweight</a:t>
            </a:r>
            <a:r>
              <a:rPr lang="en-US" sz="2200" dirty="0"/>
              <a:t> edges </a:t>
            </a:r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without</a:t>
            </a:r>
            <a:r>
              <a:rPr lang="en-US" sz="2200" dirty="0"/>
              <a:t> changing shortest path, </a:t>
            </a:r>
            <a:br>
              <a:rPr lang="en-US" sz="2200" dirty="0"/>
            </a:br>
            <a:r>
              <a:rPr lang="en-US" sz="2200" dirty="0"/>
              <a:t>so that Dijkstra’s algorithm can work.</a:t>
            </a:r>
            <a:endParaRPr lang="en-US" sz="18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4">
                <a:extLst>
                  <a:ext uri="{FF2B5EF4-FFF2-40B4-BE49-F238E27FC236}">
                    <a16:creationId xmlns:a16="http://schemas.microsoft.com/office/drawing/2014/main" id="{99B99263-B579-4ADA-9216-E522EDCD8732}"/>
                  </a:ext>
                </a:extLst>
              </p:cNvPr>
              <p:cNvSpPr/>
              <p:nvPr/>
            </p:nvSpPr>
            <p:spPr>
              <a:xfrm>
                <a:off x="1433852" y="2761428"/>
                <a:ext cx="6276295" cy="216226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spcAft>
                    <a:spcPts val="600"/>
                  </a:spcAft>
                </a:pPr>
                <a:r>
                  <a:rPr lang="en-GB" sz="1600" b="1" u="sng" dirty="0" err="1">
                    <a:solidFill>
                      <a:schemeClr val="tx1"/>
                    </a:solidFill>
                  </a:rPr>
                  <a:t>JohnsonAPSP</a:t>
                </a:r>
                <a:r>
                  <a:rPr lang="en-GB" sz="1600" b="1" u="sng" dirty="0">
                    <a:solidFill>
                      <a:schemeClr val="tx1"/>
                    </a:solidFill>
                  </a:rPr>
                  <a:t>(G):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Create H=(V+{z},E+{(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)|v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∈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V}) with w(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)=0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Bellman-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FordSSSP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H,z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to obtain 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</a:t>
                </a:r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 (each edge 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in H.E)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w’(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= 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z,u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)+w(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)-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 (each node u in G.V)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DijkstraSSSP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G,u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with w’ to obtain 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G,w</a:t>
                </a:r>
                <a:r>
                  <a:rPr lang="en-GB" sz="1600" baseline="-25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’</a:t>
                </a:r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for (each node v in G.V)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= 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G,w</a:t>
                </a:r>
                <a:r>
                  <a:rPr lang="en-GB" sz="1600" baseline="-25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’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)+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)-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z,u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矩形 4">
                <a:extLst>
                  <a:ext uri="{FF2B5EF4-FFF2-40B4-BE49-F238E27FC236}">
                    <a16:creationId xmlns:a16="http://schemas.microsoft.com/office/drawing/2014/main" id="{99B99263-B579-4ADA-9216-E522EDCD87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852" y="2761428"/>
                <a:ext cx="6276295" cy="2162266"/>
              </a:xfrm>
              <a:prstGeom prst="rect">
                <a:avLst/>
              </a:prstGeom>
              <a:blipFill>
                <a:blip r:embed="rId4"/>
                <a:stretch>
                  <a:fillRect l="-388" t="-560" b="-39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273DF36-7113-432E-A503-810059FE9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8" y="5152164"/>
            <a:ext cx="1981976" cy="168453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C9BBE4CB-A394-40ED-864B-78566E999C09}"/>
              </a:ext>
            </a:extLst>
          </p:cNvPr>
          <p:cNvSpPr/>
          <p:nvPr/>
        </p:nvSpPr>
        <p:spPr>
          <a:xfrm>
            <a:off x="2073327" y="5812445"/>
            <a:ext cx="390296" cy="363973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7C3269-57A8-47ED-B06E-43B6EF01541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3400"/>
          <a:stretch/>
        </p:blipFill>
        <p:spPr>
          <a:xfrm>
            <a:off x="4925995" y="5139656"/>
            <a:ext cx="2072076" cy="1697045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74F28A53-5231-4AB1-B42B-144E7A2AC3F3}"/>
              </a:ext>
            </a:extLst>
          </p:cNvPr>
          <p:cNvSpPr/>
          <p:nvPr/>
        </p:nvSpPr>
        <p:spPr>
          <a:xfrm>
            <a:off x="4535699" y="5806191"/>
            <a:ext cx="390296" cy="363973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331DD73-8D66-4313-B7A4-A06AF39F7339}"/>
              </a:ext>
            </a:extLst>
          </p:cNvPr>
          <p:cNvSpPr/>
          <p:nvPr/>
        </p:nvSpPr>
        <p:spPr>
          <a:xfrm>
            <a:off x="6998071" y="5806190"/>
            <a:ext cx="390296" cy="363973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矩形: 圆角 12">
            <a:extLst>
              <a:ext uri="{FF2B5EF4-FFF2-40B4-BE49-F238E27FC236}">
                <a16:creationId xmlns:a16="http://schemas.microsoft.com/office/drawing/2014/main" id="{04F977BB-0001-47CF-8110-634F3A5AE728}"/>
              </a:ext>
            </a:extLst>
          </p:cNvPr>
          <p:cNvSpPr/>
          <p:nvPr/>
        </p:nvSpPr>
        <p:spPr>
          <a:xfrm>
            <a:off x="1433853" y="3046162"/>
            <a:ext cx="5564218" cy="541100"/>
          </a:xfrm>
          <a:prstGeom prst="roundRect">
            <a:avLst/>
          </a:prstGeom>
          <a:solidFill>
            <a:schemeClr val="accent6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矩形: 圆角 12">
            <a:extLst>
              <a:ext uri="{FF2B5EF4-FFF2-40B4-BE49-F238E27FC236}">
                <a16:creationId xmlns:a16="http://schemas.microsoft.com/office/drawing/2014/main" id="{C8715173-B09D-4090-8969-6F2C9648A62B}"/>
              </a:ext>
            </a:extLst>
          </p:cNvPr>
          <p:cNvSpPr/>
          <p:nvPr/>
        </p:nvSpPr>
        <p:spPr>
          <a:xfrm>
            <a:off x="1433853" y="3558063"/>
            <a:ext cx="5564218" cy="451229"/>
          </a:xfrm>
          <a:prstGeom prst="roundRect">
            <a:avLst/>
          </a:prstGeom>
          <a:solidFill>
            <a:schemeClr val="accent6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矩形: 圆角 12">
            <a:extLst>
              <a:ext uri="{FF2B5EF4-FFF2-40B4-BE49-F238E27FC236}">
                <a16:creationId xmlns:a16="http://schemas.microsoft.com/office/drawing/2014/main" id="{83447EFB-35EB-4C94-98AB-9ADCD970163A}"/>
              </a:ext>
            </a:extLst>
          </p:cNvPr>
          <p:cNvSpPr/>
          <p:nvPr/>
        </p:nvSpPr>
        <p:spPr>
          <a:xfrm rot="19655403">
            <a:off x="5498740" y="5588977"/>
            <a:ext cx="919724" cy="199836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: 圆角 12">
            <a:extLst>
              <a:ext uri="{FF2B5EF4-FFF2-40B4-BE49-F238E27FC236}">
                <a16:creationId xmlns:a16="http://schemas.microsoft.com/office/drawing/2014/main" id="{D693905A-CAE3-4CB1-88B1-AC94CD21C002}"/>
              </a:ext>
            </a:extLst>
          </p:cNvPr>
          <p:cNvSpPr/>
          <p:nvPr/>
        </p:nvSpPr>
        <p:spPr>
          <a:xfrm>
            <a:off x="1750101" y="4167902"/>
            <a:ext cx="5866550" cy="755792"/>
          </a:xfrm>
          <a:prstGeom prst="roundRect">
            <a:avLst/>
          </a:prstGeom>
          <a:solidFill>
            <a:schemeClr val="accent6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矩形: 圆角 12">
            <a:extLst>
              <a:ext uri="{FF2B5EF4-FFF2-40B4-BE49-F238E27FC236}">
                <a16:creationId xmlns:a16="http://schemas.microsoft.com/office/drawing/2014/main" id="{73DAC7CD-7095-49AD-A522-B1E6E8C7F4C1}"/>
              </a:ext>
            </a:extLst>
          </p:cNvPr>
          <p:cNvSpPr/>
          <p:nvPr/>
        </p:nvSpPr>
        <p:spPr>
          <a:xfrm>
            <a:off x="7980745" y="5258039"/>
            <a:ext cx="562395" cy="288651"/>
          </a:xfrm>
          <a:prstGeom prst="ellipse">
            <a:avLst/>
          </a:prstGeom>
          <a:solidFill>
            <a:schemeClr val="accent5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矩形: 圆角 12">
            <a:extLst>
              <a:ext uri="{FF2B5EF4-FFF2-40B4-BE49-F238E27FC236}">
                <a16:creationId xmlns:a16="http://schemas.microsoft.com/office/drawing/2014/main" id="{F3C9B0AA-D296-416F-A71B-B5CEEC4284C7}"/>
              </a:ext>
            </a:extLst>
          </p:cNvPr>
          <p:cNvSpPr/>
          <p:nvPr/>
        </p:nvSpPr>
        <p:spPr>
          <a:xfrm>
            <a:off x="5458448" y="5731073"/>
            <a:ext cx="390296" cy="288651"/>
          </a:xfrm>
          <a:prstGeom prst="ellipse">
            <a:avLst/>
          </a:prstGeom>
          <a:solidFill>
            <a:schemeClr val="accent5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矩形: 圆角 12">
            <a:extLst>
              <a:ext uri="{FF2B5EF4-FFF2-40B4-BE49-F238E27FC236}">
                <a16:creationId xmlns:a16="http://schemas.microsoft.com/office/drawing/2014/main" id="{2349369D-7476-4839-B856-DD056B1D10B8}"/>
              </a:ext>
            </a:extLst>
          </p:cNvPr>
          <p:cNvSpPr/>
          <p:nvPr/>
        </p:nvSpPr>
        <p:spPr>
          <a:xfrm rot="3939199">
            <a:off x="64015" y="6108980"/>
            <a:ext cx="757022" cy="199836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: 圆角 12">
            <a:extLst>
              <a:ext uri="{FF2B5EF4-FFF2-40B4-BE49-F238E27FC236}">
                <a16:creationId xmlns:a16="http://schemas.microsoft.com/office/drawing/2014/main" id="{F8F65D7B-1B2C-4952-8238-CAFFBFBBE056}"/>
              </a:ext>
            </a:extLst>
          </p:cNvPr>
          <p:cNvSpPr/>
          <p:nvPr/>
        </p:nvSpPr>
        <p:spPr>
          <a:xfrm rot="17786748">
            <a:off x="1358044" y="6164881"/>
            <a:ext cx="746638" cy="199836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矩形: 圆角 12">
            <a:extLst>
              <a:ext uri="{FF2B5EF4-FFF2-40B4-BE49-F238E27FC236}">
                <a16:creationId xmlns:a16="http://schemas.microsoft.com/office/drawing/2014/main" id="{CA043C0C-F290-465E-A70D-02CBDF720333}"/>
              </a:ext>
            </a:extLst>
          </p:cNvPr>
          <p:cNvSpPr/>
          <p:nvPr/>
        </p:nvSpPr>
        <p:spPr>
          <a:xfrm rot="1900523">
            <a:off x="1094379" y="5445913"/>
            <a:ext cx="772253" cy="199836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矩形: 圆角 12">
            <a:extLst>
              <a:ext uri="{FF2B5EF4-FFF2-40B4-BE49-F238E27FC236}">
                <a16:creationId xmlns:a16="http://schemas.microsoft.com/office/drawing/2014/main" id="{5E0FD733-BD81-4AD0-86B6-D6C097A5260A}"/>
              </a:ext>
            </a:extLst>
          </p:cNvPr>
          <p:cNvSpPr/>
          <p:nvPr/>
        </p:nvSpPr>
        <p:spPr>
          <a:xfrm>
            <a:off x="715728" y="6554542"/>
            <a:ext cx="718124" cy="199836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9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  <p:bldP spid="14" grpId="0" animBg="1"/>
      <p:bldP spid="14" grpId="1" animBg="1"/>
      <p:bldP spid="15" grpId="0" animBg="1"/>
      <p:bldP spid="15" grpId="1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107AFF-E2D6-4F85-A091-1C251101D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APSP from multiple SSSP</a:t>
            </a:r>
            <a:br>
              <a:rPr lang="en-US" dirty="0"/>
            </a:br>
            <a:r>
              <a:rPr lang="en-US" dirty="0"/>
              <a:t>Johnson’s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057D56-7943-4706-A1FE-8A80AD6139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633293" cy="4802186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200" b="1" dirty="0"/>
                  <a:t>Positive-weight Graphs:</a:t>
                </a:r>
                <a:r>
                  <a:rPr lang="en-US" sz="2200" dirty="0"/>
                  <a:t> Repeating Dijkstra gives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func>
                          <m:func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200" dirty="0"/>
                  <a:t>.</a:t>
                </a:r>
                <a:br>
                  <a:rPr lang="en-US" sz="2200" dirty="0"/>
                </a:br>
                <a:r>
                  <a:rPr lang="en-US" sz="2200" b="1" dirty="0"/>
                  <a:t>Arbitrary-weight Graphs:</a:t>
                </a:r>
                <a:r>
                  <a:rPr lang="en-US" sz="2200" dirty="0"/>
                  <a:t> Repeating Bellman-Ford gives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200" dirty="0"/>
                  <a:t>.</a:t>
                </a:r>
                <a:endParaRPr lang="en-US" sz="2200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200" dirty="0">
                    <a:solidFill>
                      <a:srgbClr val="C00000"/>
                    </a:solidFill>
                  </a:rPr>
                  <a:t>Faster algorithms for arbitrary-weight graphs?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b="1" dirty="0">
                    <a:solidFill>
                      <a:schemeClr val="accent1">
                        <a:lumMod val="75000"/>
                      </a:schemeClr>
                    </a:solidFill>
                  </a:rPr>
                  <a:t>Johnson’s Alg.</a:t>
                </a:r>
                <a:r>
                  <a:rPr lang="en-US" sz="2200" b="1" dirty="0"/>
                  <a:t>:</a:t>
                </a:r>
                <a:r>
                  <a:rPr lang="en-US" sz="2200" dirty="0"/>
                  <a:t> </a:t>
                </a:r>
                <a:r>
                  <a:rPr lang="en-US" sz="2200" i="1" dirty="0">
                    <a:solidFill>
                      <a:schemeClr val="accent2">
                        <a:lumMod val="75000"/>
                      </a:schemeClr>
                    </a:solidFill>
                  </a:rPr>
                  <a:t>reweight</a:t>
                </a:r>
                <a:r>
                  <a:rPr lang="en-US" sz="2200" dirty="0"/>
                  <a:t> edges </a:t>
                </a:r>
                <a:r>
                  <a:rPr lang="en-US" sz="2200" i="1" dirty="0">
                    <a:solidFill>
                      <a:schemeClr val="accent2">
                        <a:lumMod val="75000"/>
                      </a:schemeClr>
                    </a:solidFill>
                  </a:rPr>
                  <a:t>without</a:t>
                </a:r>
                <a:r>
                  <a:rPr lang="en-US" sz="2200" dirty="0"/>
                  <a:t> changing shortest path, </a:t>
                </a:r>
                <a:br>
                  <a:rPr lang="en-US" sz="2200" dirty="0"/>
                </a:br>
                <a:r>
                  <a:rPr lang="en-US" sz="2200" dirty="0"/>
                  <a:t>so that Dijkstra’s algorithm can work.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b="0" dirty="0">
                    <a:solidFill>
                      <a:schemeClr val="accent6">
                        <a:lumMod val="75000"/>
                      </a:schemeClr>
                    </a:solidFill>
                  </a:rPr>
                  <a:t>Johnson’s algorithm combines Dijkstra and Bellman-Ford,</a:t>
                </a:r>
                <a:br>
                  <a:rPr lang="en-US" sz="2200" b="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r>
                  <a:rPr lang="en-US" sz="2200" b="0" dirty="0">
                    <a:solidFill>
                      <a:schemeClr val="accent6">
                        <a:lumMod val="75000"/>
                      </a:schemeClr>
                    </a:solidFill>
                  </a:rPr>
                  <a:t>resulting a runtime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func>
                          <m:funcPr>
                            <m:ctrlPr>
                              <a:rPr lang="en-US" sz="2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200" b="0" dirty="0">
                    <a:solidFill>
                      <a:schemeClr val="accent6">
                        <a:lumMod val="75000"/>
                      </a:schemeClr>
                    </a:solidFill>
                  </a:rPr>
                  <a:t>, for </a:t>
                </a:r>
                <a:r>
                  <a:rPr lang="en-US" sz="2200" b="0" dirty="0">
                    <a:solidFill>
                      <a:srgbClr val="C00000"/>
                    </a:solidFill>
                  </a:rPr>
                  <a:t>arbitrary weight graphs</a:t>
                </a:r>
                <a:r>
                  <a:rPr lang="en-US" sz="2200" b="0" dirty="0">
                    <a:solidFill>
                      <a:schemeClr val="accent6">
                        <a:lumMod val="7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057D56-7943-4706-A1FE-8A80AD6139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633293" cy="4802186"/>
              </a:xfrm>
              <a:blipFill>
                <a:blip r:embed="rId2"/>
                <a:stretch>
                  <a:fillRect l="-879" t="-1396" r="-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4">
                <a:extLst>
                  <a:ext uri="{FF2B5EF4-FFF2-40B4-BE49-F238E27FC236}">
                    <a16:creationId xmlns:a16="http://schemas.microsoft.com/office/drawing/2014/main" id="{99B99263-B579-4ADA-9216-E522EDCD8732}"/>
                  </a:ext>
                </a:extLst>
              </p:cNvPr>
              <p:cNvSpPr/>
              <p:nvPr/>
            </p:nvSpPr>
            <p:spPr>
              <a:xfrm>
                <a:off x="1433852" y="4330609"/>
                <a:ext cx="6276295" cy="216226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spcAft>
                    <a:spcPts val="600"/>
                  </a:spcAft>
                </a:pPr>
                <a:r>
                  <a:rPr lang="en-GB" sz="1600" b="1" u="sng" dirty="0" err="1">
                    <a:solidFill>
                      <a:schemeClr val="tx1"/>
                    </a:solidFill>
                  </a:rPr>
                  <a:t>JohnsonAPSP</a:t>
                </a:r>
                <a:r>
                  <a:rPr lang="en-GB" sz="1600" b="1" u="sng" dirty="0">
                    <a:solidFill>
                      <a:schemeClr val="tx1"/>
                    </a:solidFill>
                  </a:rPr>
                  <a:t>(G):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Create H=(V+{z},E+{(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)|v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∈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V}) with w(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)=0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Bellman-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FordSSSP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H,z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to obtain 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</a:t>
                </a:r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 (each edge 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in H.E)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w’(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= 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z,u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)+w(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)-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 (each node u in G.V)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DijkstraSSSP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G,u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with w’ to obtain 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G,w</a:t>
                </a:r>
                <a:r>
                  <a:rPr lang="en-GB" sz="1600" baseline="-25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’</a:t>
                </a:r>
                <a:endParaRPr lang="en-GB" sz="16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for (each node v in G.V)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 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 = 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G,w</a:t>
                </a:r>
                <a:r>
                  <a:rPr lang="en-GB" sz="1600" baseline="-250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’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)+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z,v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)-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dist</a:t>
                </a:r>
                <a:r>
                  <a:rPr lang="en-GB" sz="1600" baseline="-250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sz="1600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z,u</a:t>
                </a:r>
                <a:r>
                  <a:rPr lang="en-GB" sz="1600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矩形 4">
                <a:extLst>
                  <a:ext uri="{FF2B5EF4-FFF2-40B4-BE49-F238E27FC236}">
                    <a16:creationId xmlns:a16="http://schemas.microsoft.com/office/drawing/2014/main" id="{99B99263-B579-4ADA-9216-E522EDCD87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852" y="4330609"/>
                <a:ext cx="6276295" cy="2162266"/>
              </a:xfrm>
              <a:prstGeom prst="rect">
                <a:avLst/>
              </a:prstGeom>
              <a:blipFill>
                <a:blip r:embed="rId3"/>
                <a:stretch>
                  <a:fillRect l="-388" t="-560" b="-39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: 圆角 12">
            <a:extLst>
              <a:ext uri="{FF2B5EF4-FFF2-40B4-BE49-F238E27FC236}">
                <a16:creationId xmlns:a16="http://schemas.microsoft.com/office/drawing/2014/main" id="{2617E216-6156-4F63-9955-154890D0D1B1}"/>
              </a:ext>
            </a:extLst>
          </p:cNvPr>
          <p:cNvSpPr/>
          <p:nvPr/>
        </p:nvSpPr>
        <p:spPr>
          <a:xfrm>
            <a:off x="882057" y="1690688"/>
            <a:ext cx="7379886" cy="690772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58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0F72-36D4-4B28-8F1F-1FA37847D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APSP via Recursion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8515350" cy="4667249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𝑚𝑖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d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𝑑𝑖𝑠𝑡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mr>
                        </m: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This recurrence is correct, </a:t>
                </a:r>
                <a:b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</a:b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but it does not lead to a recursive algorithm directly!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Cycle in the graph can make the recursion never ends!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Introduce an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additional parameter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in the recurrence:</a:t>
                </a:r>
                <a:br>
                  <a:rPr lang="en-US" sz="2400" dirty="0">
                    <a:solidFill>
                      <a:srgbClr val="C00000"/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en-US" sz="2400" dirty="0"/>
                  <a:t>:</a:t>
                </a:r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shortest path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that </a:t>
                </a:r>
                <a:r>
                  <a:rPr lang="en-US" sz="2400" dirty="0">
                    <a:solidFill>
                      <a:srgbClr val="C00000"/>
                    </a:solidFill>
                  </a:rPr>
                  <a:t>uses at most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edges</a:t>
                </a:r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𝑢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𝑣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𝑙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rgbClr val="C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</m:e>
                                        </m:mr>
                                        <m:mr>
                                          <m:e>
                                            <m:func>
                                              <m:funcPr>
                                                <m:ctrlP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limLow>
                                                  <m:limLowPr>
                                                    <m:ctrlP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limLow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sz="1800" b="0" i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min</m:t>
                                                    </m:r>
                                                  </m:e>
                                                  <m:lim>
                                                    <m:d>
                                                      <m:dPr>
                                                        <m:ctrlP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𝑣</m:t>
                                                        </m:r>
                                                      </m:e>
                                                    </m:d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∈</m:t>
                                                    </m:r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𝐸</m:t>
                                                    </m:r>
                                                  </m:lim>
                                                </m:limLow>
                                              </m:fName>
                                              <m:e>
                                                <m:d>
                                                  <m:dPr>
                                                    <m:begChr m:val="{"/>
                                                    <m:endChr m:val="}"/>
                                                    <m:ctrlP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𝑑𝑖𝑠𝑡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𝑢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rgbClr val="C00000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𝑙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rgbClr val="C00000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−1</m:t>
                                                        </m:r>
                                                      </m:e>
                                                    </m:d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+</m:t>
                                                    </m:r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𝑤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𝑣</m:t>
                                                        </m:r>
                                                      </m:e>
                                                    </m:d>
                                                  </m:e>
                                                </m:d>
                                              </m:e>
                                            </m:func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8515350" cy="4667249"/>
              </a:xfrm>
              <a:blipFill>
                <a:blip r:embed="rId2"/>
                <a:stretch>
                  <a:fillRect l="-931" r="-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36075361-B330-47E9-BA6A-7FEA59392851}"/>
              </a:ext>
            </a:extLst>
          </p:cNvPr>
          <p:cNvGrpSpPr/>
          <p:nvPr/>
        </p:nvGrpSpPr>
        <p:grpSpPr>
          <a:xfrm>
            <a:off x="3583101" y="4159248"/>
            <a:ext cx="1977798" cy="1167330"/>
            <a:chOff x="4406830" y="4671562"/>
            <a:chExt cx="1977798" cy="1167330"/>
          </a:xfrm>
        </p:grpSpPr>
        <p:sp>
          <p:nvSpPr>
            <p:cNvPr id="5" name="椭圆 61">
              <a:extLst>
                <a:ext uri="{FF2B5EF4-FFF2-40B4-BE49-F238E27FC236}">
                  <a16:creationId xmlns:a16="http://schemas.microsoft.com/office/drawing/2014/main" id="{7C4F0BA5-9D1E-494E-B337-918A32681CA5}"/>
                </a:ext>
              </a:extLst>
            </p:cNvPr>
            <p:cNvSpPr/>
            <p:nvPr/>
          </p:nvSpPr>
          <p:spPr>
            <a:xfrm>
              <a:off x="4406830" y="5533045"/>
              <a:ext cx="305847" cy="3058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</a:t>
              </a:r>
            </a:p>
          </p:txBody>
        </p:sp>
        <p:cxnSp>
          <p:nvCxnSpPr>
            <p:cNvPr id="6" name="直接箭头连接符 63">
              <a:extLst>
                <a:ext uri="{FF2B5EF4-FFF2-40B4-BE49-F238E27FC236}">
                  <a16:creationId xmlns:a16="http://schemas.microsoft.com/office/drawing/2014/main" id="{020DCD85-3F75-4D24-8E9C-A0740C360A62}"/>
                </a:ext>
              </a:extLst>
            </p:cNvPr>
            <p:cNvCxnSpPr>
              <a:cxnSpLocks/>
              <a:stCxn id="17" idx="1"/>
              <a:endCxn id="18" idx="5"/>
            </p:cNvCxnSpPr>
            <p:nvPr/>
          </p:nvCxnSpPr>
          <p:spPr>
            <a:xfrm flipH="1" flipV="1">
              <a:off x="5791789" y="4932619"/>
              <a:ext cx="331782" cy="20443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66">
              <a:extLst>
                <a:ext uri="{FF2B5EF4-FFF2-40B4-BE49-F238E27FC236}">
                  <a16:creationId xmlns:a16="http://schemas.microsoft.com/office/drawing/2014/main" id="{B21D66B6-1573-4674-B783-67798E2DEE4C}"/>
                </a:ext>
              </a:extLst>
            </p:cNvPr>
            <p:cNvCxnSpPr>
              <a:cxnSpLocks/>
              <a:stCxn id="5" idx="6"/>
              <a:endCxn id="16" idx="2"/>
            </p:cNvCxnSpPr>
            <p:nvPr/>
          </p:nvCxnSpPr>
          <p:spPr>
            <a:xfrm>
              <a:off x="4712677" y="5685969"/>
              <a:ext cx="81805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61">
              <a:extLst>
                <a:ext uri="{FF2B5EF4-FFF2-40B4-BE49-F238E27FC236}">
                  <a16:creationId xmlns:a16="http://schemas.microsoft.com/office/drawing/2014/main" id="{1568BEA3-1852-4768-BDFB-38AFFBCF9566}"/>
                </a:ext>
              </a:extLst>
            </p:cNvPr>
            <p:cNvSpPr/>
            <p:nvPr/>
          </p:nvSpPr>
          <p:spPr>
            <a:xfrm>
              <a:off x="5530733" y="5533045"/>
              <a:ext cx="305847" cy="3058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17" name="椭圆 61">
              <a:extLst>
                <a:ext uri="{FF2B5EF4-FFF2-40B4-BE49-F238E27FC236}">
                  <a16:creationId xmlns:a16="http://schemas.microsoft.com/office/drawing/2014/main" id="{6F361A4A-02B4-4753-9C7A-186CD8A3D93A}"/>
                </a:ext>
              </a:extLst>
            </p:cNvPr>
            <p:cNvSpPr/>
            <p:nvPr/>
          </p:nvSpPr>
          <p:spPr>
            <a:xfrm>
              <a:off x="6078781" y="5092262"/>
              <a:ext cx="305847" cy="3058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8" name="椭圆 61">
              <a:extLst>
                <a:ext uri="{FF2B5EF4-FFF2-40B4-BE49-F238E27FC236}">
                  <a16:creationId xmlns:a16="http://schemas.microsoft.com/office/drawing/2014/main" id="{290E350F-550C-4A6E-B241-96B729F130E6}"/>
                </a:ext>
              </a:extLst>
            </p:cNvPr>
            <p:cNvSpPr/>
            <p:nvPr/>
          </p:nvSpPr>
          <p:spPr>
            <a:xfrm>
              <a:off x="5530732" y="4671562"/>
              <a:ext cx="305847" cy="3058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9" name="椭圆 61">
              <a:extLst>
                <a:ext uri="{FF2B5EF4-FFF2-40B4-BE49-F238E27FC236}">
                  <a16:creationId xmlns:a16="http://schemas.microsoft.com/office/drawing/2014/main" id="{0A57418A-3686-4B0C-8A1E-8790D789244B}"/>
                </a:ext>
              </a:extLst>
            </p:cNvPr>
            <p:cNvSpPr/>
            <p:nvPr/>
          </p:nvSpPr>
          <p:spPr>
            <a:xfrm>
              <a:off x="5013419" y="5096081"/>
              <a:ext cx="305847" cy="3020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22" name="直接箭头连接符 66">
              <a:extLst>
                <a:ext uri="{FF2B5EF4-FFF2-40B4-BE49-F238E27FC236}">
                  <a16:creationId xmlns:a16="http://schemas.microsoft.com/office/drawing/2014/main" id="{33281CB6-7502-470F-90B1-E2AE7070F501}"/>
                </a:ext>
              </a:extLst>
            </p:cNvPr>
            <p:cNvCxnSpPr>
              <a:cxnSpLocks/>
              <a:stCxn id="16" idx="7"/>
              <a:endCxn id="17" idx="3"/>
            </p:cNvCxnSpPr>
            <p:nvPr/>
          </p:nvCxnSpPr>
          <p:spPr>
            <a:xfrm flipV="1">
              <a:off x="5791790" y="5353319"/>
              <a:ext cx="331781" cy="2245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63">
              <a:extLst>
                <a:ext uri="{FF2B5EF4-FFF2-40B4-BE49-F238E27FC236}">
                  <a16:creationId xmlns:a16="http://schemas.microsoft.com/office/drawing/2014/main" id="{67ADEA52-8B5F-4FBB-ABC4-5DEBC8A26027}"/>
                </a:ext>
              </a:extLst>
            </p:cNvPr>
            <p:cNvCxnSpPr>
              <a:cxnSpLocks/>
              <a:stCxn id="18" idx="3"/>
              <a:endCxn id="19" idx="7"/>
            </p:cNvCxnSpPr>
            <p:nvPr/>
          </p:nvCxnSpPr>
          <p:spPr>
            <a:xfrm flipH="1">
              <a:off x="5274476" y="4932619"/>
              <a:ext cx="301046" cy="2076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63">
              <a:extLst>
                <a:ext uri="{FF2B5EF4-FFF2-40B4-BE49-F238E27FC236}">
                  <a16:creationId xmlns:a16="http://schemas.microsoft.com/office/drawing/2014/main" id="{B200958B-775A-47FC-8C68-9A789612A245}"/>
                </a:ext>
              </a:extLst>
            </p:cNvPr>
            <p:cNvCxnSpPr>
              <a:cxnSpLocks/>
              <a:stCxn id="19" idx="5"/>
              <a:endCxn id="16" idx="1"/>
            </p:cNvCxnSpPr>
            <p:nvPr/>
          </p:nvCxnSpPr>
          <p:spPr>
            <a:xfrm>
              <a:off x="5274476" y="5353878"/>
              <a:ext cx="301047" cy="22395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414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0F72-36D4-4B28-8F1F-1FA37847D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APSP via Recursion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𝑢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𝑣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𝑙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</m:e>
                                        </m:mr>
                                        <m:mr>
                                          <m:e>
                                            <m:func>
                                              <m:funcPr>
                                                <m:ctrlP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limLow>
                                                  <m:limLowPr>
                                                    <m:ctrlP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limLow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sz="1800" b="0" i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min</m:t>
                                                    </m:r>
                                                  </m:e>
                                                  <m:lim>
                                                    <m:d>
                                                      <m:dPr>
                                                        <m:ctrlP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𝑣</m:t>
                                                        </m:r>
                                                      </m:e>
                                                    </m:d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∈</m:t>
                                                    </m:r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𝐸</m:t>
                                                    </m:r>
                                                  </m:lim>
                                                </m:limLow>
                                              </m:fName>
                                              <m:e>
                                                <m:d>
                                                  <m:dPr>
                                                    <m:begChr m:val="{"/>
                                                    <m:endChr m:val="}"/>
                                                    <m:ctrlP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𝑑𝑖𝑠𝑡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𝑢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𝑙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−1</m:t>
                                                        </m:r>
                                                      </m:e>
                                                    </m:d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+</m:t>
                                                    </m:r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𝑤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𝑣</m:t>
                                                        </m:r>
                                                      </m:e>
                                                    </m:d>
                                                  </m:e>
                                                </m:d>
                                              </m:e>
                                            </m:func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Evaluate this recurrence easily in a “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bottom-up</a:t>
                </a:r>
                <a:r>
                  <a:rPr lang="en-US" sz="2400" dirty="0">
                    <a:solidFill>
                      <a:srgbClr val="C00000"/>
                    </a:solidFill>
                  </a:rPr>
                  <a:t>” fashion!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⋅,⋅,0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are easy to compute, given input graph.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⋅,⋅,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are easy to compute,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⋅,⋅,0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are known.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⋅,⋅,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sz="2000" dirty="0"/>
                  <a:t> are easy to compute,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⋅,⋅,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en-US" sz="2000" dirty="0"/>
                  <a:t> are known.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⋅,⋅,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are what we want!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Don’t always need a recursive algorithm to evaluate recurrence, </a:t>
                </a:r>
                <a:b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</a:b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often an iterative alternative exists.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8515350" cy="4802185"/>
              </a:xfrm>
              <a:blipFill>
                <a:blip r:embed="rId2"/>
                <a:stretch>
                  <a:fillRect l="-931" t="-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927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0F72-36D4-4B28-8F1F-1FA37847D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APSP via Recursion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𝑢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𝑣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𝑙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</m:e>
                                        </m:mr>
                                        <m:mr>
                                          <m:e>
                                            <m:func>
                                              <m:funcPr>
                                                <m:ctrlP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limLow>
                                                  <m:limLowPr>
                                                    <m:ctrlP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limLow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sz="1800" b="0" i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min</m:t>
                                                    </m:r>
                                                  </m:e>
                                                  <m:lim>
                                                    <m:d>
                                                      <m:dPr>
                                                        <m:ctrlP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𝑣</m:t>
                                                        </m:r>
                                                      </m:e>
                                                    </m:d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∈</m:t>
                                                    </m:r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𝐸</m:t>
                                                    </m:r>
                                                  </m:lim>
                                                </m:limLow>
                                              </m:fName>
                                              <m:e>
                                                <m:d>
                                                  <m:dPr>
                                                    <m:begChr m:val="{"/>
                                                    <m:endChr m:val="}"/>
                                                    <m:ctrlP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𝑑𝑖𝑠𝑡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𝑢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𝑙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−1</m:t>
                                                        </m:r>
                                                      </m:e>
                                                    </m:d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+</m:t>
                                                    </m:r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𝑤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𝑣</m:t>
                                                        </m:r>
                                                      </m:e>
                                                    </m:d>
                                                  </m:e>
                                                </m:d>
                                              </m:e>
                                            </m:func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Evaluate this recurrence easily in a “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bottom-up</a:t>
                </a:r>
                <a:r>
                  <a:rPr lang="en-US" sz="2400" dirty="0">
                    <a:solidFill>
                      <a:srgbClr val="C00000"/>
                    </a:solidFill>
                  </a:rPr>
                  <a:t>” fashion!</a:t>
                </a:r>
                <a:endParaRPr lang="en-US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8515350" cy="4802185"/>
              </a:xfrm>
              <a:blipFill>
                <a:blip r:embed="rId2"/>
                <a:stretch>
                  <a:fillRect l="-931" t="-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4">
            <a:extLst>
              <a:ext uri="{FF2B5EF4-FFF2-40B4-BE49-F238E27FC236}">
                <a16:creationId xmlns:a16="http://schemas.microsoft.com/office/drawing/2014/main" id="{1F7457DB-C5A8-466D-9913-61D6855E1575}"/>
              </a:ext>
            </a:extLst>
          </p:cNvPr>
          <p:cNvSpPr/>
          <p:nvPr/>
        </p:nvSpPr>
        <p:spPr>
          <a:xfrm>
            <a:off x="1320592" y="3647321"/>
            <a:ext cx="6502815" cy="2622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RecursiveAPSP</a:t>
            </a:r>
            <a:r>
              <a:rPr lang="en-GB" sz="1600" b="1" u="sng" dirty="0">
                <a:solidFill>
                  <a:schemeClr val="tx1"/>
                </a:solidFill>
              </a:rPr>
              <a:t>(G):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(every pair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V*V)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(u=v) then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[u,v,0]=0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[u,v,0]=INF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(l=1 to n-1)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node u)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(each node v)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u,v,l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[u,v,l-1]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for (each edge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going to v)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u,v,l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&gt;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[u,x,l-1] + w(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u,v,l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[u,x,l-1]+w(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EB6A70C-8102-421C-8A01-7C559DDB69E9}"/>
                  </a:ext>
                </a:extLst>
              </p:cNvPr>
              <p:cNvSpPr/>
              <p:nvPr/>
            </p:nvSpPr>
            <p:spPr>
              <a:xfrm>
                <a:off x="5377737" y="3647321"/>
                <a:ext cx="244567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</a:rPr>
                  <a:t>Runtime is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EB6A70C-8102-421C-8A01-7C559DDB69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737" y="3647321"/>
                <a:ext cx="2445670" cy="461665"/>
              </a:xfrm>
              <a:prstGeom prst="rect">
                <a:avLst/>
              </a:prstGeom>
              <a:blipFill>
                <a:blip r:embed="rId3"/>
                <a:stretch>
                  <a:fillRect l="-3741" t="-10526" r="-3242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5987F94-92BA-47B1-A131-305EC37649C2}"/>
              </a:ext>
            </a:extLst>
          </p:cNvPr>
          <p:cNvSpPr txBox="1"/>
          <p:nvPr/>
        </p:nvSpPr>
        <p:spPr>
          <a:xfrm>
            <a:off x="2037161" y="4635254"/>
            <a:ext cx="5069678" cy="646986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200" dirty="0"/>
              <a:t>Can this approach do better?</a:t>
            </a:r>
          </a:p>
        </p:txBody>
      </p:sp>
    </p:spTree>
    <p:extLst>
      <p:ext uri="{BB962C8B-B14F-4D97-AF65-F5344CB8AC3E}">
        <p14:creationId xmlns:p14="http://schemas.microsoft.com/office/powerpoint/2010/main" val="3945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0F72-36D4-4B28-8F1F-1FA37847D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APSP via Recursion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𝑢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𝑣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𝑙</m:t>
                                                </m:r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</m:e>
                                        </m:mr>
                                        <m:mr>
                                          <m:e>
                                            <m:func>
                                              <m:funcPr>
                                                <m:ctrlPr>
                                                  <a:rPr lang="en-US" sz="18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limLow>
                                                  <m:limLowPr>
                                                    <m:ctrlP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limLowPr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sz="1800" b="0" i="0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min</m:t>
                                                    </m:r>
                                                  </m:e>
                                                  <m:lim>
                                                    <m:d>
                                                      <m:dPr>
                                                        <m:ctrlP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𝑣</m:t>
                                                        </m:r>
                                                      </m:e>
                                                    </m:d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∈</m:t>
                                                    </m:r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𝐸</m:t>
                                                    </m:r>
                                                  </m:lim>
                                                </m:limLow>
                                              </m:fName>
                                              <m:e>
                                                <m:d>
                                                  <m:dPr>
                                                    <m:begChr m:val="{"/>
                                                    <m:endChr m:val="}"/>
                                                    <m:ctrlP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𝑑𝑖𝑠𝑡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𝑢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𝑙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−1</m:t>
                                                        </m:r>
                                                      </m:e>
                                                    </m:d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+</m:t>
                                                    </m:r>
                                                    <m:r>
                                                      <a:rPr lang="en-US" sz="18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𝑤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𝑥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en-US" sz="18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𝑣</m:t>
                                                        </m:r>
                                                      </m:e>
                                                    </m:d>
                                                  </m:e>
                                                </m:d>
                                              </m:e>
                                            </m:func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This recursion is like “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split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” in divide-and-conquer.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How about “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split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”?</a:t>
                </a:r>
                <a:br>
                  <a:rPr lang="en-US" sz="1800" dirty="0">
                    <a:solidFill>
                      <a:schemeClr val="accent2">
                        <a:lumMod val="75000"/>
                      </a:schemeClr>
                    </a:solidFill>
                  </a:rPr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(You might have noticed “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split” is usually better than “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8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split”)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 </m:t>
                              </m:r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 </m:t>
                              </m:r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∉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𝑑𝑖𝑠𝑡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US" sz="180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𝑑𝑖𝑠𝑡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US" sz="180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Start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⋅,⋅,1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, then double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each time, until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⌈"/>
                            <m:endChr m:val="⌉"/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4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d>
                      </m:sup>
                    </m:sSup>
                  </m:oMath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8515350" cy="4802185"/>
              </a:xfrm>
              <a:blipFill>
                <a:blip r:embed="rId2"/>
                <a:stretch>
                  <a:fillRect l="-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319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0F72-36D4-4B28-8F1F-1FA37847D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APSP via Recursion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 </m:t>
                              </m:r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 </m:t>
                              </m:r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∉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𝑑𝑖𝑠𝑡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US" sz="180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𝑑𝑖𝑠𝑡</m:t>
                                      </m:r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f>
                                            <m:fPr>
                                              <m:type m:val="lin"/>
                                              <m:ctrlPr>
                                                <a:rPr lang="en-US" sz="1800" i="1" smtClean="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Start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⋅,⋅,1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, then double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each time, until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⌈"/>
                            <m:endChr m:val="⌉"/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4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d>
                      </m:sup>
                    </m:sSup>
                  </m:oMath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8515350" cy="4802185"/>
              </a:xfrm>
              <a:blipFill>
                <a:blip r:embed="rId2"/>
                <a:stretch>
                  <a:fillRect l="-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4">
            <a:extLst>
              <a:ext uri="{FF2B5EF4-FFF2-40B4-BE49-F238E27FC236}">
                <a16:creationId xmlns:a16="http://schemas.microsoft.com/office/drawing/2014/main" id="{908B6258-8D93-42F3-9B1F-97C452347C94}"/>
              </a:ext>
            </a:extLst>
          </p:cNvPr>
          <p:cNvSpPr/>
          <p:nvPr/>
        </p:nvSpPr>
        <p:spPr>
          <a:xfrm>
            <a:off x="928707" y="3429000"/>
            <a:ext cx="7286586" cy="2622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FasterRecursiveAPSP</a:t>
            </a:r>
            <a:r>
              <a:rPr lang="en-GB" sz="1600" b="1" u="sng" dirty="0">
                <a:solidFill>
                  <a:schemeClr val="tx1"/>
                </a:solidFill>
              </a:rPr>
              <a:t>(G):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(every pair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V*V)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 then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[u,v,1]=w(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[u,v,1]=INF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Ceil(lg(n)))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node u)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(each node v)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INF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for (each node x)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&gt;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[u,x,i-1] +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[x,v,i-1])</a:t>
            </a:r>
          </a:p>
          <a:p>
            <a:pPr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u,v,i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[u,x,i-1] +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[x,v,i-1]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1D0324E-909D-44E0-A4A2-0BE76A8A732B}"/>
                  </a:ext>
                </a:extLst>
              </p:cNvPr>
              <p:cNvSpPr/>
              <p:nvPr/>
            </p:nvSpPr>
            <p:spPr>
              <a:xfrm>
                <a:off x="5255534" y="3429000"/>
                <a:ext cx="295975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</a:rPr>
                  <a:t>Runtime is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1D0324E-909D-44E0-A4A2-0BE76A8A73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534" y="3429000"/>
                <a:ext cx="2959759" cy="461665"/>
              </a:xfrm>
              <a:prstGeom prst="rect">
                <a:avLst/>
              </a:prstGeom>
              <a:blipFill>
                <a:blip r:embed="rId3"/>
                <a:stretch>
                  <a:fillRect l="-3086" t="-10667" r="-2675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80FF7CA-B2F5-4881-939A-39E799CEB6A1}"/>
              </a:ext>
            </a:extLst>
          </p:cNvPr>
          <p:cNvSpPr txBox="1"/>
          <p:nvPr/>
        </p:nvSpPr>
        <p:spPr>
          <a:xfrm>
            <a:off x="2037161" y="4416933"/>
            <a:ext cx="5069678" cy="646986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200" dirty="0"/>
              <a:t>Can this approach do better?</a:t>
            </a:r>
          </a:p>
        </p:txBody>
      </p:sp>
    </p:spTree>
    <p:extLst>
      <p:ext uri="{BB962C8B-B14F-4D97-AF65-F5344CB8AC3E}">
        <p14:creationId xmlns:p14="http://schemas.microsoft.com/office/powerpoint/2010/main" val="288811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0F72-36D4-4B28-8F1F-1FA37847D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APSP via Recursion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277967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b="1" dirty="0"/>
                  <a:t>Strategy:</a:t>
                </a:r>
                <a:r>
                  <a:rPr lang="en-US" sz="2400" dirty="0"/>
                  <a:t> recuse on the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set of node</a:t>
                </a:r>
                <a:r>
                  <a:rPr lang="en-US" sz="2400" dirty="0"/>
                  <a:t> the shortest paths use.</a:t>
                </a:r>
                <a:br>
                  <a:rPr lang="en-US" sz="2400" dirty="0"/>
                </a:b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(Previous algorithms recuse on # of edges the shortest paths use.)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/>
                  <a:t>Number nodes arbitrarily: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; </a:t>
                </a:r>
                <a:br>
                  <a:rPr lang="en-US" sz="2400" dirty="0"/>
                </a:br>
                <a:r>
                  <a:rPr lang="en-US" sz="2400" dirty="0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/>
                  <a:t>Define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400" dirty="0"/>
                  <a:t> be length of shortest path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, </a:t>
                </a:r>
                <a:br>
                  <a:rPr lang="en-US" sz="2400" dirty="0"/>
                </a:br>
                <a:r>
                  <a:rPr lang="en-US" sz="2400" dirty="0" err="1"/>
                  <a:t>s.t.</a:t>
                </a: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only nodes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can be </a:t>
                </a:r>
                <a:r>
                  <a:rPr lang="en-US" sz="2400" u="sng" dirty="0">
                    <a:solidFill>
                      <a:schemeClr val="accent1">
                        <a:lumMod val="75000"/>
                      </a:schemeClr>
                    </a:solidFill>
                  </a:rPr>
                  <a:t>intermediate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nodes in paths</a:t>
                </a:r>
                <a:r>
                  <a:rPr lang="en-US" sz="2400" dirty="0"/>
                  <a:t>.</a:t>
                </a:r>
                <a:br>
                  <a:rPr lang="en-US" sz="2400" dirty="0"/>
                </a:br>
                <a:r>
                  <a:rPr lang="en-US" sz="2400" dirty="0"/>
                  <a:t>Let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400" dirty="0"/>
                  <a:t> be such a path.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2779677"/>
              </a:xfrm>
              <a:blipFill>
                <a:blip r:embed="rId2"/>
                <a:stretch>
                  <a:fillRect l="-1005" t="-1754" b="-3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15FD8D85-A2CD-4812-90C0-808C15150298}"/>
              </a:ext>
            </a:extLst>
          </p:cNvPr>
          <p:cNvGrpSpPr/>
          <p:nvPr/>
        </p:nvGrpSpPr>
        <p:grpSpPr>
          <a:xfrm>
            <a:off x="628650" y="4442358"/>
            <a:ext cx="2840264" cy="1935365"/>
            <a:chOff x="965505" y="4367195"/>
            <a:chExt cx="2840264" cy="1935365"/>
          </a:xfrm>
        </p:grpSpPr>
        <p:sp>
          <p:nvSpPr>
            <p:cNvPr id="8" name="椭圆 61">
              <a:extLst>
                <a:ext uri="{FF2B5EF4-FFF2-40B4-BE49-F238E27FC236}">
                  <a16:creationId xmlns:a16="http://schemas.microsoft.com/office/drawing/2014/main" id="{FB8A3CD7-E17C-4AFE-82FB-B373972F6A55}"/>
                </a:ext>
              </a:extLst>
            </p:cNvPr>
            <p:cNvSpPr/>
            <p:nvPr/>
          </p:nvSpPr>
          <p:spPr>
            <a:xfrm>
              <a:off x="965505" y="5210328"/>
              <a:ext cx="305847" cy="30584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12" name="椭圆 61">
              <a:extLst>
                <a:ext uri="{FF2B5EF4-FFF2-40B4-BE49-F238E27FC236}">
                  <a16:creationId xmlns:a16="http://schemas.microsoft.com/office/drawing/2014/main" id="{F36B4924-28ED-4E38-AA11-1F05283C5586}"/>
                </a:ext>
              </a:extLst>
            </p:cNvPr>
            <p:cNvSpPr/>
            <p:nvPr/>
          </p:nvSpPr>
          <p:spPr>
            <a:xfrm>
              <a:off x="3499922" y="5196856"/>
              <a:ext cx="305847" cy="3058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v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椭圆 61">
                  <a:extLst>
                    <a:ext uri="{FF2B5EF4-FFF2-40B4-BE49-F238E27FC236}">
                      <a16:creationId xmlns:a16="http://schemas.microsoft.com/office/drawing/2014/main" id="{C994F025-3438-42DF-A184-AECC7428175E}"/>
                    </a:ext>
                  </a:extLst>
                </p:cNvPr>
                <p:cNvSpPr/>
                <p:nvPr/>
              </p:nvSpPr>
              <p:spPr>
                <a:xfrm>
                  <a:off x="1410897" y="5660971"/>
                  <a:ext cx="305847" cy="30584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9144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椭圆 61">
                  <a:extLst>
                    <a:ext uri="{FF2B5EF4-FFF2-40B4-BE49-F238E27FC236}">
                      <a16:creationId xmlns:a16="http://schemas.microsoft.com/office/drawing/2014/main" id="{C994F025-3438-42DF-A184-AECC742817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0897" y="5660971"/>
                  <a:ext cx="305847" cy="305847"/>
                </a:xfrm>
                <a:prstGeom prst="ellipse">
                  <a:avLst/>
                </a:prstGeom>
                <a:blipFill>
                  <a:blip r:embed="rId3"/>
                  <a:stretch>
                    <a:fillRect r="-7692" b="-769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椭圆 61">
                  <a:extLst>
                    <a:ext uri="{FF2B5EF4-FFF2-40B4-BE49-F238E27FC236}">
                      <a16:creationId xmlns:a16="http://schemas.microsoft.com/office/drawing/2014/main" id="{71BCCC63-A6ED-4418-9860-AD44465B9AAD}"/>
                    </a:ext>
                  </a:extLst>
                </p:cNvPr>
                <p:cNvSpPr/>
                <p:nvPr/>
              </p:nvSpPr>
              <p:spPr>
                <a:xfrm>
                  <a:off x="1984096" y="5996713"/>
                  <a:ext cx="305847" cy="30584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9144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椭圆 61">
                  <a:extLst>
                    <a:ext uri="{FF2B5EF4-FFF2-40B4-BE49-F238E27FC236}">
                      <a16:creationId xmlns:a16="http://schemas.microsoft.com/office/drawing/2014/main" id="{71BCCC63-A6ED-4418-9860-AD44465B9A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4096" y="5996713"/>
                  <a:ext cx="305847" cy="305847"/>
                </a:xfrm>
                <a:prstGeom prst="ellipse">
                  <a:avLst/>
                </a:prstGeom>
                <a:blipFill>
                  <a:blip r:embed="rId4"/>
                  <a:stretch>
                    <a:fillRect r="-7692" b="-769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椭圆 61">
                  <a:extLst>
                    <a:ext uri="{FF2B5EF4-FFF2-40B4-BE49-F238E27FC236}">
                      <a16:creationId xmlns:a16="http://schemas.microsoft.com/office/drawing/2014/main" id="{793E701D-17F5-4E02-A871-27405C183A86}"/>
                    </a:ext>
                  </a:extLst>
                </p:cNvPr>
                <p:cNvSpPr/>
                <p:nvPr/>
              </p:nvSpPr>
              <p:spPr>
                <a:xfrm>
                  <a:off x="2121181" y="5351022"/>
                  <a:ext cx="305847" cy="30584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9144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椭圆 61">
                  <a:extLst>
                    <a:ext uri="{FF2B5EF4-FFF2-40B4-BE49-F238E27FC236}">
                      <a16:creationId xmlns:a16="http://schemas.microsoft.com/office/drawing/2014/main" id="{793E701D-17F5-4E02-A871-27405C183A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1181" y="5351022"/>
                  <a:ext cx="305847" cy="305847"/>
                </a:xfrm>
                <a:prstGeom prst="ellipse">
                  <a:avLst/>
                </a:prstGeom>
                <a:blipFill>
                  <a:blip r:embed="rId5"/>
                  <a:stretch>
                    <a:fillRect r="-7692" b="-769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椭圆 61">
                  <a:extLst>
                    <a:ext uri="{FF2B5EF4-FFF2-40B4-BE49-F238E27FC236}">
                      <a16:creationId xmlns:a16="http://schemas.microsoft.com/office/drawing/2014/main" id="{D3B7F60C-EC68-4EDD-A2FB-6124F30F33D6}"/>
                    </a:ext>
                  </a:extLst>
                </p:cNvPr>
                <p:cNvSpPr/>
                <p:nvPr/>
              </p:nvSpPr>
              <p:spPr>
                <a:xfrm>
                  <a:off x="2809293" y="5690866"/>
                  <a:ext cx="305847" cy="30584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9144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椭圆 61">
                  <a:extLst>
                    <a:ext uri="{FF2B5EF4-FFF2-40B4-BE49-F238E27FC236}">
                      <a16:creationId xmlns:a16="http://schemas.microsoft.com/office/drawing/2014/main" id="{D3B7F60C-EC68-4EDD-A2FB-6124F30F33D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9293" y="5690866"/>
                  <a:ext cx="305847" cy="305847"/>
                </a:xfrm>
                <a:prstGeom prst="ellipse">
                  <a:avLst/>
                </a:prstGeom>
                <a:blipFill>
                  <a:blip r:embed="rId6"/>
                  <a:stretch>
                    <a:fillRect r="-7692" b="-769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椭圆 61">
                  <a:extLst>
                    <a:ext uri="{FF2B5EF4-FFF2-40B4-BE49-F238E27FC236}">
                      <a16:creationId xmlns:a16="http://schemas.microsoft.com/office/drawing/2014/main" id="{80428ACF-7189-4B91-9902-30250ADD6E56}"/>
                    </a:ext>
                  </a:extLst>
                </p:cNvPr>
                <p:cNvSpPr/>
                <p:nvPr/>
              </p:nvSpPr>
              <p:spPr>
                <a:xfrm>
                  <a:off x="1716744" y="4602596"/>
                  <a:ext cx="305847" cy="30584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9144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椭圆 61">
                  <a:extLst>
                    <a:ext uri="{FF2B5EF4-FFF2-40B4-BE49-F238E27FC236}">
                      <a16:creationId xmlns:a16="http://schemas.microsoft.com/office/drawing/2014/main" id="{80428ACF-7189-4B91-9902-30250ADD6E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6744" y="4602596"/>
                  <a:ext cx="305847" cy="305847"/>
                </a:xfrm>
                <a:prstGeom prst="ellipse">
                  <a:avLst/>
                </a:prstGeom>
                <a:blipFill>
                  <a:blip r:embed="rId7"/>
                  <a:stretch>
                    <a:fillRect r="-7547" b="-754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椭圆 61">
                  <a:extLst>
                    <a:ext uri="{FF2B5EF4-FFF2-40B4-BE49-F238E27FC236}">
                      <a16:creationId xmlns:a16="http://schemas.microsoft.com/office/drawing/2014/main" id="{E489D2B7-C584-4553-BBA2-7108EE10B42F}"/>
                    </a:ext>
                  </a:extLst>
                </p:cNvPr>
                <p:cNvSpPr/>
                <p:nvPr/>
              </p:nvSpPr>
              <p:spPr>
                <a:xfrm>
                  <a:off x="2503446" y="4772518"/>
                  <a:ext cx="305847" cy="30584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9144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椭圆 61">
                  <a:extLst>
                    <a:ext uri="{FF2B5EF4-FFF2-40B4-BE49-F238E27FC236}">
                      <a16:creationId xmlns:a16="http://schemas.microsoft.com/office/drawing/2014/main" id="{E489D2B7-C584-4553-BBA2-7108EE10B4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3446" y="4772518"/>
                  <a:ext cx="305847" cy="305847"/>
                </a:xfrm>
                <a:prstGeom prst="ellipse">
                  <a:avLst/>
                </a:prstGeom>
                <a:blipFill>
                  <a:blip r:embed="rId8"/>
                  <a:stretch>
                    <a:fillRect r="-7547" b="-769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262FA75-31B4-43DC-ADC5-505D580AD1BA}"/>
                </a:ext>
              </a:extLst>
            </p:cNvPr>
            <p:cNvSpPr/>
            <p:nvPr/>
          </p:nvSpPr>
          <p:spPr>
            <a:xfrm>
              <a:off x="1193286" y="4903596"/>
              <a:ext cx="639336" cy="331595"/>
            </a:xfrm>
            <a:custGeom>
              <a:avLst/>
              <a:gdLst>
                <a:gd name="connsiteX0" fmla="*/ 42661 w 639336"/>
                <a:gd name="connsiteY0" fmla="*/ 331595 h 331595"/>
                <a:gd name="connsiteX1" fmla="*/ 52710 w 639336"/>
                <a:gd name="connsiteY1" fmla="*/ 30145 h 331595"/>
                <a:gd name="connsiteX2" fmla="*/ 565176 w 639336"/>
                <a:gd name="connsiteY2" fmla="*/ 281353 h 331595"/>
                <a:gd name="connsiteX3" fmla="*/ 625466 w 639336"/>
                <a:gd name="connsiteY3" fmla="*/ 0 h 33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9336" h="331595">
                  <a:moveTo>
                    <a:pt x="42661" y="331595"/>
                  </a:moveTo>
                  <a:cubicBezTo>
                    <a:pt x="4142" y="185057"/>
                    <a:pt x="-34376" y="38519"/>
                    <a:pt x="52710" y="30145"/>
                  </a:cubicBezTo>
                  <a:cubicBezTo>
                    <a:pt x="139796" y="21771"/>
                    <a:pt x="469717" y="286377"/>
                    <a:pt x="565176" y="281353"/>
                  </a:cubicBezTo>
                  <a:cubicBezTo>
                    <a:pt x="660635" y="276329"/>
                    <a:pt x="643050" y="138164"/>
                    <a:pt x="625466" y="0"/>
                  </a:cubicBezTo>
                </a:path>
              </a:pathLst>
            </a:custGeom>
            <a:noFill/>
            <a:ln w="19050">
              <a:solidFill>
                <a:srgbClr val="C00000"/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9D71525-6F16-4404-A142-35AA0CBC39A5}"/>
                </a:ext>
              </a:extLst>
            </p:cNvPr>
            <p:cNvSpPr/>
            <p:nvPr/>
          </p:nvSpPr>
          <p:spPr>
            <a:xfrm>
              <a:off x="1919235" y="4367195"/>
              <a:ext cx="683288" cy="415820"/>
            </a:xfrm>
            <a:custGeom>
              <a:avLst/>
              <a:gdLst>
                <a:gd name="connsiteX0" fmla="*/ 0 w 683288"/>
                <a:gd name="connsiteY0" fmla="*/ 244998 h 415820"/>
                <a:gd name="connsiteX1" fmla="*/ 271306 w 683288"/>
                <a:gd name="connsiteY1" fmla="*/ 3838 h 415820"/>
                <a:gd name="connsiteX2" fmla="*/ 683288 w 683288"/>
                <a:gd name="connsiteY2" fmla="*/ 415820 h 415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3288" h="415820">
                  <a:moveTo>
                    <a:pt x="0" y="244998"/>
                  </a:moveTo>
                  <a:cubicBezTo>
                    <a:pt x="78712" y="110183"/>
                    <a:pt x="157425" y="-24632"/>
                    <a:pt x="271306" y="3838"/>
                  </a:cubicBezTo>
                  <a:cubicBezTo>
                    <a:pt x="385187" y="32308"/>
                    <a:pt x="534237" y="224064"/>
                    <a:pt x="683288" y="415820"/>
                  </a:cubicBezTo>
                </a:path>
              </a:pathLst>
            </a:custGeom>
            <a:noFill/>
            <a:ln w="19050">
              <a:solidFill>
                <a:srgbClr val="C00000"/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EC956E6-6465-4B60-8F1C-A55793FFE944}"/>
                </a:ext>
              </a:extLst>
            </p:cNvPr>
            <p:cNvSpPr/>
            <p:nvPr/>
          </p:nvSpPr>
          <p:spPr>
            <a:xfrm>
              <a:off x="2803490" y="4983982"/>
              <a:ext cx="703385" cy="306826"/>
            </a:xfrm>
            <a:custGeom>
              <a:avLst/>
              <a:gdLst>
                <a:gd name="connsiteX0" fmla="*/ 0 w 703385"/>
                <a:gd name="connsiteY0" fmla="*/ 0 h 306826"/>
                <a:gd name="connsiteX1" fmla="*/ 180870 w 703385"/>
                <a:gd name="connsiteY1" fmla="*/ 301451 h 306826"/>
                <a:gd name="connsiteX2" fmla="*/ 482321 w 703385"/>
                <a:gd name="connsiteY2" fmla="*/ 200967 h 306826"/>
                <a:gd name="connsiteX3" fmla="*/ 703385 w 703385"/>
                <a:gd name="connsiteY3" fmla="*/ 301451 h 306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3385" h="306826">
                  <a:moveTo>
                    <a:pt x="0" y="0"/>
                  </a:moveTo>
                  <a:cubicBezTo>
                    <a:pt x="50241" y="133978"/>
                    <a:pt x="100483" y="267957"/>
                    <a:pt x="180870" y="301451"/>
                  </a:cubicBezTo>
                  <a:cubicBezTo>
                    <a:pt x="261257" y="334946"/>
                    <a:pt x="395235" y="200967"/>
                    <a:pt x="482321" y="200967"/>
                  </a:cubicBezTo>
                  <a:cubicBezTo>
                    <a:pt x="569407" y="200967"/>
                    <a:pt x="636396" y="251209"/>
                    <a:pt x="703385" y="301451"/>
                  </a:cubicBezTo>
                </a:path>
              </a:pathLst>
            </a:custGeom>
            <a:noFill/>
            <a:ln w="19050">
              <a:solidFill>
                <a:srgbClr val="C00000"/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5AA0606-91E7-4152-AD21-A3336854971B}"/>
                </a:ext>
              </a:extLst>
            </p:cNvPr>
            <p:cNvSpPr/>
            <p:nvPr/>
          </p:nvSpPr>
          <p:spPr>
            <a:xfrm>
              <a:off x="1188548" y="5486400"/>
              <a:ext cx="228270" cy="351692"/>
            </a:xfrm>
            <a:custGeom>
              <a:avLst/>
              <a:gdLst>
                <a:gd name="connsiteX0" fmla="*/ 7206 w 228270"/>
                <a:gd name="connsiteY0" fmla="*/ 0 h 351692"/>
                <a:gd name="connsiteX1" fmla="*/ 27303 w 228270"/>
                <a:gd name="connsiteY1" fmla="*/ 291402 h 351692"/>
                <a:gd name="connsiteX2" fmla="*/ 228270 w 228270"/>
                <a:gd name="connsiteY2" fmla="*/ 351692 h 351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270" h="351692">
                  <a:moveTo>
                    <a:pt x="7206" y="0"/>
                  </a:moveTo>
                  <a:cubicBezTo>
                    <a:pt x="-1168" y="116393"/>
                    <a:pt x="-9541" y="232787"/>
                    <a:pt x="27303" y="291402"/>
                  </a:cubicBezTo>
                  <a:cubicBezTo>
                    <a:pt x="64147" y="350017"/>
                    <a:pt x="146208" y="350854"/>
                    <a:pt x="228270" y="351692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0C52CFD-13BC-4934-87B9-727484A18019}"/>
                </a:ext>
              </a:extLst>
            </p:cNvPr>
            <p:cNvSpPr/>
            <p:nvPr/>
          </p:nvSpPr>
          <p:spPr>
            <a:xfrm>
              <a:off x="1668026" y="5459124"/>
              <a:ext cx="452176" cy="228243"/>
            </a:xfrm>
            <a:custGeom>
              <a:avLst/>
              <a:gdLst>
                <a:gd name="connsiteX0" fmla="*/ 0 w 452176"/>
                <a:gd name="connsiteY0" fmla="*/ 228243 h 228243"/>
                <a:gd name="connsiteX1" fmla="*/ 221064 w 452176"/>
                <a:gd name="connsiteY1" fmla="*/ 17228 h 228243"/>
                <a:gd name="connsiteX2" fmla="*/ 452176 w 452176"/>
                <a:gd name="connsiteY2" fmla="*/ 17228 h 22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2176" h="228243">
                  <a:moveTo>
                    <a:pt x="0" y="228243"/>
                  </a:moveTo>
                  <a:cubicBezTo>
                    <a:pt x="72850" y="140320"/>
                    <a:pt x="145701" y="52397"/>
                    <a:pt x="221064" y="17228"/>
                  </a:cubicBezTo>
                  <a:cubicBezTo>
                    <a:pt x="296427" y="-17941"/>
                    <a:pt x="408633" y="10529"/>
                    <a:pt x="452176" y="17228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3F8B2D7-15E0-41BD-BBCC-943A8F78A044}"/>
                </a:ext>
              </a:extLst>
            </p:cNvPr>
            <p:cNvSpPr/>
            <p:nvPr/>
          </p:nvSpPr>
          <p:spPr>
            <a:xfrm>
              <a:off x="2431701" y="5432201"/>
              <a:ext cx="482321" cy="265214"/>
            </a:xfrm>
            <a:custGeom>
              <a:avLst/>
              <a:gdLst>
                <a:gd name="connsiteX0" fmla="*/ 0 w 482321"/>
                <a:gd name="connsiteY0" fmla="*/ 54199 h 265214"/>
                <a:gd name="connsiteX1" fmla="*/ 311499 w 482321"/>
                <a:gd name="connsiteY1" fmla="*/ 14006 h 265214"/>
                <a:gd name="connsiteX2" fmla="*/ 482321 w 482321"/>
                <a:gd name="connsiteY2" fmla="*/ 265214 h 265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2321" h="265214">
                  <a:moveTo>
                    <a:pt x="0" y="54199"/>
                  </a:moveTo>
                  <a:cubicBezTo>
                    <a:pt x="115556" y="16518"/>
                    <a:pt x="231112" y="-21163"/>
                    <a:pt x="311499" y="14006"/>
                  </a:cubicBezTo>
                  <a:cubicBezTo>
                    <a:pt x="391886" y="49175"/>
                    <a:pt x="437103" y="157194"/>
                    <a:pt x="482321" y="265214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6D04BAE-40B6-47A3-8373-D000E2F60D01}"/>
                </a:ext>
              </a:extLst>
            </p:cNvPr>
            <p:cNvSpPr/>
            <p:nvPr/>
          </p:nvSpPr>
          <p:spPr>
            <a:xfrm>
              <a:off x="1708220" y="5888334"/>
              <a:ext cx="291402" cy="223901"/>
            </a:xfrm>
            <a:custGeom>
              <a:avLst/>
              <a:gdLst>
                <a:gd name="connsiteX0" fmla="*/ 0 w 291402"/>
                <a:gd name="connsiteY0" fmla="*/ 0 h 223901"/>
                <a:gd name="connsiteX1" fmla="*/ 120580 w 291402"/>
                <a:gd name="connsiteY1" fmla="*/ 200967 h 223901"/>
                <a:gd name="connsiteX2" fmla="*/ 291402 w 291402"/>
                <a:gd name="connsiteY2" fmla="*/ 211015 h 223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1402" h="223901">
                  <a:moveTo>
                    <a:pt x="0" y="0"/>
                  </a:moveTo>
                  <a:cubicBezTo>
                    <a:pt x="36006" y="82899"/>
                    <a:pt x="72013" y="165798"/>
                    <a:pt x="120580" y="200967"/>
                  </a:cubicBezTo>
                  <a:cubicBezTo>
                    <a:pt x="169147" y="236136"/>
                    <a:pt x="230274" y="223575"/>
                    <a:pt x="291402" y="211015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5F8114C-0306-4901-9072-06A8FE58A72B}"/>
                </a:ext>
              </a:extLst>
            </p:cNvPr>
            <p:cNvSpPr/>
            <p:nvPr/>
          </p:nvSpPr>
          <p:spPr>
            <a:xfrm>
              <a:off x="2291024" y="6018963"/>
              <a:ext cx="683288" cy="214425"/>
            </a:xfrm>
            <a:custGeom>
              <a:avLst/>
              <a:gdLst>
                <a:gd name="connsiteX0" fmla="*/ 0 w 683288"/>
                <a:gd name="connsiteY0" fmla="*/ 110532 h 214425"/>
                <a:gd name="connsiteX1" fmla="*/ 422031 w 683288"/>
                <a:gd name="connsiteY1" fmla="*/ 211015 h 214425"/>
                <a:gd name="connsiteX2" fmla="*/ 683288 w 683288"/>
                <a:gd name="connsiteY2" fmla="*/ 0 h 214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3288" h="214425">
                  <a:moveTo>
                    <a:pt x="0" y="110532"/>
                  </a:moveTo>
                  <a:cubicBezTo>
                    <a:pt x="154075" y="169984"/>
                    <a:pt x="308150" y="229437"/>
                    <a:pt x="422031" y="211015"/>
                  </a:cubicBezTo>
                  <a:cubicBezTo>
                    <a:pt x="535912" y="192593"/>
                    <a:pt x="609600" y="96296"/>
                    <a:pt x="683288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2B186CA-94EC-4CCF-8FEC-7AC753601FE7}"/>
                </a:ext>
              </a:extLst>
            </p:cNvPr>
            <p:cNvSpPr/>
            <p:nvPr/>
          </p:nvSpPr>
          <p:spPr>
            <a:xfrm>
              <a:off x="3125037" y="5496448"/>
              <a:ext cx="582805" cy="301451"/>
            </a:xfrm>
            <a:custGeom>
              <a:avLst/>
              <a:gdLst>
                <a:gd name="connsiteX0" fmla="*/ 0 w 582805"/>
                <a:gd name="connsiteY0" fmla="*/ 301451 h 301451"/>
                <a:gd name="connsiteX1" fmla="*/ 120581 w 582805"/>
                <a:gd name="connsiteY1" fmla="*/ 80387 h 301451"/>
                <a:gd name="connsiteX2" fmla="*/ 482321 w 582805"/>
                <a:gd name="connsiteY2" fmla="*/ 180871 h 301451"/>
                <a:gd name="connsiteX3" fmla="*/ 582805 w 582805"/>
                <a:gd name="connsiteY3" fmla="*/ 0 h 301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2805" h="301451">
                  <a:moveTo>
                    <a:pt x="0" y="301451"/>
                  </a:moveTo>
                  <a:cubicBezTo>
                    <a:pt x="20097" y="200967"/>
                    <a:pt x="40194" y="100484"/>
                    <a:pt x="120581" y="80387"/>
                  </a:cubicBezTo>
                  <a:cubicBezTo>
                    <a:pt x="200968" y="60290"/>
                    <a:pt x="405284" y="194269"/>
                    <a:pt x="482321" y="180871"/>
                  </a:cubicBezTo>
                  <a:cubicBezTo>
                    <a:pt x="559358" y="167473"/>
                    <a:pt x="571081" y="83736"/>
                    <a:pt x="582805" y="0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矩形: 圆角 12">
            <a:extLst>
              <a:ext uri="{FF2B5EF4-FFF2-40B4-BE49-F238E27FC236}">
                <a16:creationId xmlns:a16="http://schemas.microsoft.com/office/drawing/2014/main" id="{EA210FCA-3DE4-4302-B8D8-1D1C7D8BC138}"/>
              </a:ext>
            </a:extLst>
          </p:cNvPr>
          <p:cNvSpPr/>
          <p:nvPr/>
        </p:nvSpPr>
        <p:spPr>
          <a:xfrm>
            <a:off x="952992" y="5354125"/>
            <a:ext cx="1882670" cy="1107716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3F7C1A9-6A12-4D8F-A98C-37D222063E13}"/>
                  </a:ext>
                </a:extLst>
              </p:cNvPr>
              <p:cNvSpPr txBox="1"/>
              <p:nvPr/>
            </p:nvSpPr>
            <p:spPr>
              <a:xfrm>
                <a:off x="2905759" y="6185097"/>
                <a:ext cx="45910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0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0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,4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0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0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3F7C1A9-6A12-4D8F-A98C-37D222063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59" y="6185097"/>
                <a:ext cx="4591000" cy="307777"/>
              </a:xfrm>
              <a:prstGeom prst="rect">
                <a:avLst/>
              </a:prstGeom>
              <a:blipFill>
                <a:blip r:embed="rId9"/>
                <a:stretch>
                  <a:fillRect l="-930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95BA0EF-27AF-4826-9361-642642EE4D64}"/>
                  </a:ext>
                </a:extLst>
              </p:cNvPr>
              <p:cNvSpPr txBox="1"/>
              <p:nvPr/>
            </p:nvSpPr>
            <p:spPr>
              <a:xfrm>
                <a:off x="2577167" y="4554842"/>
                <a:ext cx="374794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95BA0EF-27AF-4826-9361-642642EE4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167" y="4554842"/>
                <a:ext cx="3747949" cy="307777"/>
              </a:xfrm>
              <a:prstGeom prst="rect">
                <a:avLst/>
              </a:prstGeom>
              <a:blipFill>
                <a:blip r:embed="rId10"/>
                <a:stretch>
                  <a:fillRect l="-1138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6662F33-4CAA-4B66-9536-EAB70F40E1E7}"/>
                  </a:ext>
                </a:extLst>
              </p:cNvPr>
              <p:cNvSpPr/>
              <p:nvPr/>
            </p:nvSpPr>
            <p:spPr>
              <a:xfrm>
                <a:off x="2845559" y="5758371"/>
                <a:ext cx="230543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6662F33-4CAA-4B66-9536-EAB70F40E1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559" y="5758371"/>
                <a:ext cx="2305439" cy="400110"/>
              </a:xfrm>
              <a:prstGeom prst="rect">
                <a:avLst/>
              </a:prstGeom>
              <a:blipFill>
                <a:blip r:embed="rId11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928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/>
      <p:bldP spid="41" grpId="0"/>
      <p:bldP spid="4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0F72-36D4-4B28-8F1F-1FA37847D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APSP via Recursion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90"/>
                <a:ext cx="8515350" cy="299781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b="1" dirty="0"/>
                  <a:t>Strategy:</a:t>
                </a:r>
                <a:r>
                  <a:rPr lang="en-US" sz="2400" dirty="0"/>
                  <a:t> recuse on the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set of node</a:t>
                </a:r>
                <a:r>
                  <a:rPr lang="en-US" sz="2400" dirty="0"/>
                  <a:t> the shortest paths use.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Number nodes arbitrarily: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;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Define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000" dirty="0"/>
                  <a:t> be length of shortest path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 err="1"/>
                  <a:t>s.t.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only nodes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can be </a:t>
                </a:r>
                <a:r>
                  <a:rPr lang="en-US" sz="2000" u="sng" dirty="0">
                    <a:solidFill>
                      <a:schemeClr val="accent1">
                        <a:lumMod val="75000"/>
                      </a:schemeClr>
                    </a:solidFill>
                  </a:rPr>
                  <a:t>intermediate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nodes in paths</a:t>
                </a:r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2000" dirty="0"/>
                  <a:t>Let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000" dirty="0"/>
                  <a:t> be such a path.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Observation:</a:t>
                </a:r>
                <a:r>
                  <a:rPr lang="en-US" sz="2400" dirty="0">
                    <a:solidFill>
                      <a:schemeClr val="tx1"/>
                    </a:solidFill>
                  </a:rPr>
                  <a:t> either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go through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or not.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1800" b="1" dirty="0">
                    <a:solidFill>
                      <a:schemeClr val="accent4">
                        <a:lumMod val="75000"/>
                      </a:schemeClr>
                    </a:solidFill>
                  </a:rPr>
                  <a:t>Latter case</a:t>
                </a:r>
                <a:r>
                  <a:rPr lang="en-US" sz="1800" b="1" dirty="0"/>
                  <a:t>: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18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1800" b="1" dirty="0">
                    <a:solidFill>
                      <a:schemeClr val="accent2">
                        <a:lumMod val="75000"/>
                      </a:schemeClr>
                    </a:solidFill>
                  </a:rPr>
                  <a:t>Former case</a:t>
                </a:r>
                <a:r>
                  <a:rPr lang="en-US" sz="1800" b="1" dirty="0"/>
                  <a:t>: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90"/>
                <a:ext cx="8515350" cy="2997816"/>
              </a:xfrm>
              <a:blipFill>
                <a:blip r:embed="rId2"/>
                <a:stretch>
                  <a:fillRect l="-931" t="-1626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CE3B8DDF-035C-4838-A7D5-FB0E0A94EBA9}"/>
              </a:ext>
            </a:extLst>
          </p:cNvPr>
          <p:cNvGrpSpPr/>
          <p:nvPr/>
        </p:nvGrpSpPr>
        <p:grpSpPr>
          <a:xfrm>
            <a:off x="1989018" y="4903503"/>
            <a:ext cx="4011979" cy="785347"/>
            <a:chOff x="1989018" y="4903503"/>
            <a:chExt cx="4011979" cy="785347"/>
          </a:xfrm>
        </p:grpSpPr>
        <p:sp>
          <p:nvSpPr>
            <p:cNvPr id="27" name="椭圆 61">
              <a:extLst>
                <a:ext uri="{FF2B5EF4-FFF2-40B4-BE49-F238E27FC236}">
                  <a16:creationId xmlns:a16="http://schemas.microsoft.com/office/drawing/2014/main" id="{165A7A02-8143-4273-9E08-8FA0FEE2CAD3}"/>
                </a:ext>
              </a:extLst>
            </p:cNvPr>
            <p:cNvSpPr/>
            <p:nvPr/>
          </p:nvSpPr>
          <p:spPr>
            <a:xfrm>
              <a:off x="1989018" y="5383003"/>
              <a:ext cx="305847" cy="30584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29" name="椭圆 61">
              <a:extLst>
                <a:ext uri="{FF2B5EF4-FFF2-40B4-BE49-F238E27FC236}">
                  <a16:creationId xmlns:a16="http://schemas.microsoft.com/office/drawing/2014/main" id="{0D38A9E4-08DB-44A1-B236-4A3022EDC21B}"/>
                </a:ext>
              </a:extLst>
            </p:cNvPr>
            <p:cNvSpPr/>
            <p:nvPr/>
          </p:nvSpPr>
          <p:spPr>
            <a:xfrm>
              <a:off x="5695150" y="5157258"/>
              <a:ext cx="305847" cy="3058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v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椭圆 61">
                  <a:extLst>
                    <a:ext uri="{FF2B5EF4-FFF2-40B4-BE49-F238E27FC236}">
                      <a16:creationId xmlns:a16="http://schemas.microsoft.com/office/drawing/2014/main" id="{D31E28CA-86A7-4982-B2B9-E21C4DA4B214}"/>
                    </a:ext>
                  </a:extLst>
                </p:cNvPr>
                <p:cNvSpPr/>
                <p:nvPr/>
              </p:nvSpPr>
              <p:spPr>
                <a:xfrm>
                  <a:off x="3536237" y="4941197"/>
                  <a:ext cx="305847" cy="30584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9144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椭圆 61">
                  <a:extLst>
                    <a:ext uri="{FF2B5EF4-FFF2-40B4-BE49-F238E27FC236}">
                      <a16:creationId xmlns:a16="http://schemas.microsoft.com/office/drawing/2014/main" id="{D31E28CA-86A7-4982-B2B9-E21C4DA4B2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237" y="4941197"/>
                  <a:ext cx="305847" cy="305847"/>
                </a:xfrm>
                <a:prstGeom prst="ellipse">
                  <a:avLst/>
                </a:prstGeom>
                <a:blipFill>
                  <a:blip r:embed="rId3"/>
                  <a:stretch>
                    <a:fillRect r="-9615" b="-769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椭圆 61">
                  <a:extLst>
                    <a:ext uri="{FF2B5EF4-FFF2-40B4-BE49-F238E27FC236}">
                      <a16:creationId xmlns:a16="http://schemas.microsoft.com/office/drawing/2014/main" id="{3693DDD3-9D10-46DD-B1A8-6EE6CF395111}"/>
                    </a:ext>
                  </a:extLst>
                </p:cNvPr>
                <p:cNvSpPr/>
                <p:nvPr/>
              </p:nvSpPr>
              <p:spPr>
                <a:xfrm>
                  <a:off x="4523434" y="4941198"/>
                  <a:ext cx="305847" cy="30584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9144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椭圆 61">
                  <a:extLst>
                    <a:ext uri="{FF2B5EF4-FFF2-40B4-BE49-F238E27FC236}">
                      <a16:creationId xmlns:a16="http://schemas.microsoft.com/office/drawing/2014/main" id="{3693DDD3-9D10-46DD-B1A8-6EE6CF3951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3434" y="4941198"/>
                  <a:ext cx="305847" cy="305847"/>
                </a:xfrm>
                <a:prstGeom prst="ellipse">
                  <a:avLst/>
                </a:prstGeom>
                <a:blipFill>
                  <a:blip r:embed="rId4"/>
                  <a:stretch>
                    <a:fillRect r="-7692" b="-769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02E1A0E-E98E-4256-9459-68DB0C235FDA}"/>
                </a:ext>
              </a:extLst>
            </p:cNvPr>
            <p:cNvSpPr/>
            <p:nvPr/>
          </p:nvSpPr>
          <p:spPr>
            <a:xfrm>
              <a:off x="2256904" y="5099256"/>
              <a:ext cx="1286189" cy="319263"/>
            </a:xfrm>
            <a:custGeom>
              <a:avLst/>
              <a:gdLst>
                <a:gd name="connsiteX0" fmla="*/ 0 w 1286189"/>
                <a:gd name="connsiteY0" fmla="*/ 319263 h 319263"/>
                <a:gd name="connsiteX1" fmla="*/ 361741 w 1286189"/>
                <a:gd name="connsiteY1" fmla="*/ 7764 h 319263"/>
                <a:gd name="connsiteX2" fmla="*/ 834013 w 1286189"/>
                <a:gd name="connsiteY2" fmla="*/ 88151 h 319263"/>
                <a:gd name="connsiteX3" fmla="*/ 1286189 w 1286189"/>
                <a:gd name="connsiteY3" fmla="*/ 17813 h 31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6189" h="319263">
                  <a:moveTo>
                    <a:pt x="0" y="319263"/>
                  </a:moveTo>
                  <a:cubicBezTo>
                    <a:pt x="111369" y="182773"/>
                    <a:pt x="222739" y="46283"/>
                    <a:pt x="361741" y="7764"/>
                  </a:cubicBezTo>
                  <a:cubicBezTo>
                    <a:pt x="500743" y="-30755"/>
                    <a:pt x="679938" y="86476"/>
                    <a:pt x="834013" y="88151"/>
                  </a:cubicBezTo>
                  <a:cubicBezTo>
                    <a:pt x="988088" y="89826"/>
                    <a:pt x="1137138" y="53819"/>
                    <a:pt x="1286189" y="17813"/>
                  </a:cubicBezTo>
                </a:path>
              </a:pathLst>
            </a:custGeom>
            <a:noFill/>
            <a:ln w="19050">
              <a:solidFill>
                <a:schemeClr val="accent4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C2D6585-818B-4556-B76C-C35E29D99CA8}"/>
                </a:ext>
              </a:extLst>
            </p:cNvPr>
            <p:cNvSpPr/>
            <p:nvPr/>
          </p:nvSpPr>
          <p:spPr>
            <a:xfrm>
              <a:off x="3854592" y="4903503"/>
              <a:ext cx="663191" cy="273658"/>
            </a:xfrm>
            <a:custGeom>
              <a:avLst/>
              <a:gdLst>
                <a:gd name="connsiteX0" fmla="*/ 0 w 663191"/>
                <a:gd name="connsiteY0" fmla="*/ 153276 h 273658"/>
                <a:gd name="connsiteX1" fmla="*/ 231112 w 663191"/>
                <a:gd name="connsiteY1" fmla="*/ 2550 h 273658"/>
                <a:gd name="connsiteX2" fmla="*/ 452176 w 663191"/>
                <a:gd name="connsiteY2" fmla="*/ 263807 h 273658"/>
                <a:gd name="connsiteX3" fmla="*/ 663191 w 663191"/>
                <a:gd name="connsiteY3" fmla="*/ 193469 h 27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3191" h="273658">
                  <a:moveTo>
                    <a:pt x="0" y="153276"/>
                  </a:moveTo>
                  <a:cubicBezTo>
                    <a:pt x="77874" y="68702"/>
                    <a:pt x="155749" y="-15872"/>
                    <a:pt x="231112" y="2550"/>
                  </a:cubicBezTo>
                  <a:cubicBezTo>
                    <a:pt x="306475" y="20972"/>
                    <a:pt x="380163" y="231987"/>
                    <a:pt x="452176" y="263807"/>
                  </a:cubicBezTo>
                  <a:cubicBezTo>
                    <a:pt x="524189" y="295627"/>
                    <a:pt x="593690" y="244548"/>
                    <a:pt x="663191" y="193469"/>
                  </a:cubicBezTo>
                </a:path>
              </a:pathLst>
            </a:custGeom>
            <a:noFill/>
            <a:ln w="19050">
              <a:solidFill>
                <a:schemeClr val="accent4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DC2F299-CD64-4FE5-9AEE-593C0B286B37}"/>
                </a:ext>
              </a:extLst>
            </p:cNvPr>
            <p:cNvSpPr/>
            <p:nvPr/>
          </p:nvSpPr>
          <p:spPr>
            <a:xfrm>
              <a:off x="4819234" y="4922665"/>
              <a:ext cx="1004835" cy="244645"/>
            </a:xfrm>
            <a:custGeom>
              <a:avLst/>
              <a:gdLst>
                <a:gd name="connsiteX0" fmla="*/ 0 w 1004835"/>
                <a:gd name="connsiteY0" fmla="*/ 124065 h 244645"/>
                <a:gd name="connsiteX1" fmla="*/ 582804 w 1004835"/>
                <a:gd name="connsiteY1" fmla="*/ 3485 h 244645"/>
                <a:gd name="connsiteX2" fmla="*/ 1004835 w 1004835"/>
                <a:gd name="connsiteY2" fmla="*/ 244645 h 244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4835" h="244645">
                  <a:moveTo>
                    <a:pt x="0" y="124065"/>
                  </a:moveTo>
                  <a:cubicBezTo>
                    <a:pt x="207666" y="53726"/>
                    <a:pt x="415332" y="-16612"/>
                    <a:pt x="582804" y="3485"/>
                  </a:cubicBezTo>
                  <a:cubicBezTo>
                    <a:pt x="750276" y="23582"/>
                    <a:pt x="914400" y="207801"/>
                    <a:pt x="1004835" y="244645"/>
                  </a:cubicBezTo>
                </a:path>
              </a:pathLst>
            </a:custGeom>
            <a:noFill/>
            <a:ln w="19050">
              <a:solidFill>
                <a:schemeClr val="accent4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D50B5CF-A658-4F41-BAC1-B8E5C539E6CB}"/>
              </a:ext>
            </a:extLst>
          </p:cNvPr>
          <p:cNvGrpSpPr/>
          <p:nvPr/>
        </p:nvGrpSpPr>
        <p:grpSpPr>
          <a:xfrm>
            <a:off x="2266952" y="5458713"/>
            <a:ext cx="3705530" cy="756961"/>
            <a:chOff x="2266952" y="5458713"/>
            <a:chExt cx="3705530" cy="7569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椭圆 61">
                  <a:extLst>
                    <a:ext uri="{FF2B5EF4-FFF2-40B4-BE49-F238E27FC236}">
                      <a16:creationId xmlns:a16="http://schemas.microsoft.com/office/drawing/2014/main" id="{BEA99748-68D0-441C-B853-0F478D1EB3BC}"/>
                    </a:ext>
                  </a:extLst>
                </p:cNvPr>
                <p:cNvSpPr/>
                <p:nvPr/>
              </p:nvSpPr>
              <p:spPr>
                <a:xfrm>
                  <a:off x="2434410" y="5833646"/>
                  <a:ext cx="305847" cy="30584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9144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椭圆 61">
                  <a:extLst>
                    <a:ext uri="{FF2B5EF4-FFF2-40B4-BE49-F238E27FC236}">
                      <a16:creationId xmlns:a16="http://schemas.microsoft.com/office/drawing/2014/main" id="{BEA99748-68D0-441C-B853-0F478D1EB3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4410" y="5833646"/>
                  <a:ext cx="305847" cy="305847"/>
                </a:xfrm>
                <a:prstGeom prst="ellipse">
                  <a:avLst/>
                </a:prstGeom>
                <a:blipFill>
                  <a:blip r:embed="rId5"/>
                  <a:stretch>
                    <a:fillRect r="-5660" b="-769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椭圆 61">
                  <a:extLst>
                    <a:ext uri="{FF2B5EF4-FFF2-40B4-BE49-F238E27FC236}">
                      <a16:creationId xmlns:a16="http://schemas.microsoft.com/office/drawing/2014/main" id="{AF033C56-8FC7-4CB3-9FF9-45AEE10AC73F}"/>
                    </a:ext>
                  </a:extLst>
                </p:cNvPr>
                <p:cNvSpPr/>
                <p:nvPr/>
              </p:nvSpPr>
              <p:spPr>
                <a:xfrm>
                  <a:off x="4676358" y="5909827"/>
                  <a:ext cx="305847" cy="30584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9144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椭圆 61">
                  <a:extLst>
                    <a:ext uri="{FF2B5EF4-FFF2-40B4-BE49-F238E27FC236}">
                      <a16:creationId xmlns:a16="http://schemas.microsoft.com/office/drawing/2014/main" id="{AF033C56-8FC7-4CB3-9FF9-45AEE10AC7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358" y="5909827"/>
                  <a:ext cx="305847" cy="305847"/>
                </a:xfrm>
                <a:prstGeom prst="ellipse">
                  <a:avLst/>
                </a:prstGeom>
                <a:blipFill>
                  <a:blip r:embed="rId6"/>
                  <a:stretch>
                    <a:fillRect r="-7692" b="-754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椭圆 61">
                  <a:extLst>
                    <a:ext uri="{FF2B5EF4-FFF2-40B4-BE49-F238E27FC236}">
                      <a16:creationId xmlns:a16="http://schemas.microsoft.com/office/drawing/2014/main" id="{FDA26E68-D36D-4D28-A847-1038D7773EB5}"/>
                    </a:ext>
                  </a:extLst>
                </p:cNvPr>
                <p:cNvSpPr/>
                <p:nvPr/>
              </p:nvSpPr>
              <p:spPr>
                <a:xfrm>
                  <a:off x="3144694" y="5523697"/>
                  <a:ext cx="305847" cy="30584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9144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椭圆 61">
                  <a:extLst>
                    <a:ext uri="{FF2B5EF4-FFF2-40B4-BE49-F238E27FC236}">
                      <a16:creationId xmlns:a16="http://schemas.microsoft.com/office/drawing/2014/main" id="{FDA26E68-D36D-4D28-A847-1038D7773E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4694" y="5523697"/>
                  <a:ext cx="305847" cy="305847"/>
                </a:xfrm>
                <a:prstGeom prst="ellipse">
                  <a:avLst/>
                </a:prstGeom>
                <a:blipFill>
                  <a:blip r:embed="rId7"/>
                  <a:stretch>
                    <a:fillRect r="-7692" b="-769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椭圆 61">
                  <a:extLst>
                    <a:ext uri="{FF2B5EF4-FFF2-40B4-BE49-F238E27FC236}">
                      <a16:creationId xmlns:a16="http://schemas.microsoft.com/office/drawing/2014/main" id="{69BE5096-67AA-4427-8C12-54D5FC955E9E}"/>
                    </a:ext>
                  </a:extLst>
                </p:cNvPr>
                <p:cNvSpPr/>
                <p:nvPr/>
              </p:nvSpPr>
              <p:spPr>
                <a:xfrm>
                  <a:off x="5409780" y="5713166"/>
                  <a:ext cx="305847" cy="30584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9144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椭圆 61">
                  <a:extLst>
                    <a:ext uri="{FF2B5EF4-FFF2-40B4-BE49-F238E27FC236}">
                      <a16:creationId xmlns:a16="http://schemas.microsoft.com/office/drawing/2014/main" id="{69BE5096-67AA-4427-8C12-54D5FC955E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9780" y="5713166"/>
                  <a:ext cx="305847" cy="305847"/>
                </a:xfrm>
                <a:prstGeom prst="ellipse">
                  <a:avLst/>
                </a:prstGeom>
                <a:blipFill>
                  <a:blip r:embed="rId8"/>
                  <a:stretch>
                    <a:fillRect r="-7547" b="-769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椭圆 61">
                  <a:extLst>
                    <a:ext uri="{FF2B5EF4-FFF2-40B4-BE49-F238E27FC236}">
                      <a16:creationId xmlns:a16="http://schemas.microsoft.com/office/drawing/2014/main" id="{CF736059-3C95-4400-974E-F529FAD851E9}"/>
                    </a:ext>
                  </a:extLst>
                </p:cNvPr>
                <p:cNvSpPr/>
                <p:nvPr/>
              </p:nvSpPr>
              <p:spPr>
                <a:xfrm>
                  <a:off x="3787608" y="5909827"/>
                  <a:ext cx="305847" cy="305847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9144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椭圆 61">
                  <a:extLst>
                    <a:ext uri="{FF2B5EF4-FFF2-40B4-BE49-F238E27FC236}">
                      <a16:creationId xmlns:a16="http://schemas.microsoft.com/office/drawing/2014/main" id="{CF736059-3C95-4400-974E-F529FAD851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7608" y="5909827"/>
                  <a:ext cx="305847" cy="305847"/>
                </a:xfrm>
                <a:prstGeom prst="ellipse">
                  <a:avLst/>
                </a:prstGeom>
                <a:blipFill>
                  <a:blip r:embed="rId9"/>
                  <a:stretch>
                    <a:fillRect r="-3846" b="-377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DF226B4-C51C-4080-B6F6-35D6A3DB737B}"/>
                </a:ext>
              </a:extLst>
            </p:cNvPr>
            <p:cNvSpPr/>
            <p:nvPr/>
          </p:nvSpPr>
          <p:spPr>
            <a:xfrm>
              <a:off x="2266952" y="5629535"/>
              <a:ext cx="231112" cy="251208"/>
            </a:xfrm>
            <a:custGeom>
              <a:avLst/>
              <a:gdLst>
                <a:gd name="connsiteX0" fmla="*/ 0 w 231112"/>
                <a:gd name="connsiteY0" fmla="*/ 0 h 251208"/>
                <a:gd name="connsiteX1" fmla="*/ 50242 w 231112"/>
                <a:gd name="connsiteY1" fmla="*/ 190918 h 251208"/>
                <a:gd name="connsiteX2" fmla="*/ 231112 w 231112"/>
                <a:gd name="connsiteY2" fmla="*/ 251208 h 25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1112" h="251208">
                  <a:moveTo>
                    <a:pt x="0" y="0"/>
                  </a:moveTo>
                  <a:cubicBezTo>
                    <a:pt x="5861" y="74525"/>
                    <a:pt x="11723" y="149050"/>
                    <a:pt x="50242" y="190918"/>
                  </a:cubicBezTo>
                  <a:cubicBezTo>
                    <a:pt x="88761" y="232786"/>
                    <a:pt x="159936" y="241997"/>
                    <a:pt x="231112" y="251208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69017DA-EAAE-43EC-8424-29BABB9114DA}"/>
                </a:ext>
              </a:extLst>
            </p:cNvPr>
            <p:cNvSpPr/>
            <p:nvPr/>
          </p:nvSpPr>
          <p:spPr>
            <a:xfrm>
              <a:off x="2678935" y="5629867"/>
              <a:ext cx="472272" cy="230780"/>
            </a:xfrm>
            <a:custGeom>
              <a:avLst/>
              <a:gdLst>
                <a:gd name="connsiteX0" fmla="*/ 0 w 472272"/>
                <a:gd name="connsiteY0" fmla="*/ 230780 h 230780"/>
                <a:gd name="connsiteX1" fmla="*/ 150725 w 472272"/>
                <a:gd name="connsiteY1" fmla="*/ 9716 h 230780"/>
                <a:gd name="connsiteX2" fmla="*/ 472272 w 472272"/>
                <a:gd name="connsiteY2" fmla="*/ 59958 h 230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2272" h="230780">
                  <a:moveTo>
                    <a:pt x="0" y="230780"/>
                  </a:moveTo>
                  <a:cubicBezTo>
                    <a:pt x="36006" y="134483"/>
                    <a:pt x="72013" y="38186"/>
                    <a:pt x="150725" y="9716"/>
                  </a:cubicBezTo>
                  <a:cubicBezTo>
                    <a:pt x="229437" y="-18754"/>
                    <a:pt x="350854" y="20602"/>
                    <a:pt x="472272" y="59958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03CAF0B-1294-4E4E-8486-5F9B9466C051}"/>
                </a:ext>
              </a:extLst>
            </p:cNvPr>
            <p:cNvSpPr/>
            <p:nvPr/>
          </p:nvSpPr>
          <p:spPr>
            <a:xfrm>
              <a:off x="3462706" y="5719970"/>
              <a:ext cx="462224" cy="180870"/>
            </a:xfrm>
            <a:custGeom>
              <a:avLst/>
              <a:gdLst>
                <a:gd name="connsiteX0" fmla="*/ 0 w 462224"/>
                <a:gd name="connsiteY0" fmla="*/ 0 h 180870"/>
                <a:gd name="connsiteX1" fmla="*/ 311499 w 462224"/>
                <a:gd name="connsiteY1" fmla="*/ 30145 h 180870"/>
                <a:gd name="connsiteX2" fmla="*/ 462224 w 462224"/>
                <a:gd name="connsiteY2" fmla="*/ 180870 h 18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2224" h="180870">
                  <a:moveTo>
                    <a:pt x="0" y="0"/>
                  </a:moveTo>
                  <a:cubicBezTo>
                    <a:pt x="117231" y="0"/>
                    <a:pt x="234462" y="0"/>
                    <a:pt x="311499" y="30145"/>
                  </a:cubicBezTo>
                  <a:cubicBezTo>
                    <a:pt x="388536" y="60290"/>
                    <a:pt x="425380" y="120580"/>
                    <a:pt x="462224" y="180870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EB46-EAED-4FE7-91B3-8C54D67AB11F}"/>
                </a:ext>
              </a:extLst>
            </p:cNvPr>
            <p:cNvSpPr/>
            <p:nvPr/>
          </p:nvSpPr>
          <p:spPr>
            <a:xfrm>
              <a:off x="4095752" y="6041517"/>
              <a:ext cx="592853" cy="120616"/>
            </a:xfrm>
            <a:custGeom>
              <a:avLst/>
              <a:gdLst>
                <a:gd name="connsiteX0" fmla="*/ 0 w 592853"/>
                <a:gd name="connsiteY0" fmla="*/ 10048 h 120616"/>
                <a:gd name="connsiteX1" fmla="*/ 241161 w 592853"/>
                <a:gd name="connsiteY1" fmla="*/ 120580 h 120616"/>
                <a:gd name="connsiteX2" fmla="*/ 592853 w 592853"/>
                <a:gd name="connsiteY2" fmla="*/ 0 h 120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2853" h="120616">
                  <a:moveTo>
                    <a:pt x="0" y="10048"/>
                  </a:moveTo>
                  <a:cubicBezTo>
                    <a:pt x="71176" y="66151"/>
                    <a:pt x="142352" y="122255"/>
                    <a:pt x="241161" y="120580"/>
                  </a:cubicBezTo>
                  <a:cubicBezTo>
                    <a:pt x="339970" y="118905"/>
                    <a:pt x="466411" y="59452"/>
                    <a:pt x="592853" y="0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592853"/>
                        <a:gd name="connsiteY0" fmla="*/ 10048 h 120616"/>
                        <a:gd name="connsiteX1" fmla="*/ 241161 w 592853"/>
                        <a:gd name="connsiteY1" fmla="*/ 120580 h 120616"/>
                        <a:gd name="connsiteX2" fmla="*/ 592853 w 592853"/>
                        <a:gd name="connsiteY2" fmla="*/ 0 h 12061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592853" h="120616" extrusionOk="0">
                          <a:moveTo>
                            <a:pt x="0" y="10048"/>
                          </a:moveTo>
                          <a:cubicBezTo>
                            <a:pt x="58256" y="58182"/>
                            <a:pt x="127553" y="127809"/>
                            <a:pt x="241161" y="120580"/>
                          </a:cubicBezTo>
                          <a:cubicBezTo>
                            <a:pt x="357167" y="122525"/>
                            <a:pt x="445016" y="60132"/>
                            <a:pt x="592853" y="0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C619EB1-FC64-433F-858C-8491792D9633}"/>
                </a:ext>
              </a:extLst>
            </p:cNvPr>
            <p:cNvSpPr/>
            <p:nvPr/>
          </p:nvSpPr>
          <p:spPr>
            <a:xfrm>
              <a:off x="4919717" y="5686126"/>
              <a:ext cx="522514" cy="234811"/>
            </a:xfrm>
            <a:custGeom>
              <a:avLst/>
              <a:gdLst>
                <a:gd name="connsiteX0" fmla="*/ 0 w 522514"/>
                <a:gd name="connsiteY0" fmla="*/ 234811 h 234811"/>
                <a:gd name="connsiteX1" fmla="*/ 281354 w 522514"/>
                <a:gd name="connsiteY1" fmla="*/ 3699 h 234811"/>
                <a:gd name="connsiteX2" fmla="*/ 522514 w 522514"/>
                <a:gd name="connsiteY2" fmla="*/ 114231 h 234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2514" h="234811">
                  <a:moveTo>
                    <a:pt x="0" y="234811"/>
                  </a:moveTo>
                  <a:cubicBezTo>
                    <a:pt x="97134" y="129303"/>
                    <a:pt x="194268" y="23796"/>
                    <a:pt x="281354" y="3699"/>
                  </a:cubicBezTo>
                  <a:cubicBezTo>
                    <a:pt x="368440" y="-16398"/>
                    <a:pt x="445477" y="48916"/>
                    <a:pt x="522514" y="114231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  <a:extLst>
                <a:ext uri="{C807C97D-BFC1-408E-A445-0C87EB9F89A2}">
                  <ask:lineSketchStyleProps xmlns:ask="http://schemas.microsoft.com/office/drawing/2018/sketchyshapes" sd="2116632749">
                    <a:custGeom>
                      <a:avLst/>
                      <a:gdLst>
                        <a:gd name="connsiteX0" fmla="*/ 0 w 522514"/>
                        <a:gd name="connsiteY0" fmla="*/ 234811 h 234811"/>
                        <a:gd name="connsiteX1" fmla="*/ 281354 w 522514"/>
                        <a:gd name="connsiteY1" fmla="*/ 3699 h 234811"/>
                        <a:gd name="connsiteX2" fmla="*/ 522514 w 522514"/>
                        <a:gd name="connsiteY2" fmla="*/ 114231 h 23481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522514" h="234811" extrusionOk="0">
                          <a:moveTo>
                            <a:pt x="0" y="234811"/>
                          </a:moveTo>
                          <a:cubicBezTo>
                            <a:pt x="80559" y="127970"/>
                            <a:pt x="181180" y="32354"/>
                            <a:pt x="281354" y="3699"/>
                          </a:cubicBezTo>
                          <a:cubicBezTo>
                            <a:pt x="365468" y="-27770"/>
                            <a:pt x="449539" y="37675"/>
                            <a:pt x="522514" y="114231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DF26DE8-703E-4EA6-AD81-7449317BFF4F}"/>
                </a:ext>
              </a:extLst>
            </p:cNvPr>
            <p:cNvSpPr/>
            <p:nvPr/>
          </p:nvSpPr>
          <p:spPr>
            <a:xfrm>
              <a:off x="5623102" y="5458713"/>
              <a:ext cx="349380" cy="251442"/>
            </a:xfrm>
            <a:custGeom>
              <a:avLst/>
              <a:gdLst>
                <a:gd name="connsiteX0" fmla="*/ 0 w 349380"/>
                <a:gd name="connsiteY0" fmla="*/ 251208 h 251442"/>
                <a:gd name="connsiteX1" fmla="*/ 321547 w 349380"/>
                <a:gd name="connsiteY1" fmla="*/ 211015 h 251442"/>
                <a:gd name="connsiteX2" fmla="*/ 311499 w 349380"/>
                <a:gd name="connsiteY2" fmla="*/ 0 h 251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9380" h="251442">
                  <a:moveTo>
                    <a:pt x="0" y="251208"/>
                  </a:moveTo>
                  <a:cubicBezTo>
                    <a:pt x="134815" y="252045"/>
                    <a:pt x="269631" y="252883"/>
                    <a:pt x="321547" y="211015"/>
                  </a:cubicBezTo>
                  <a:cubicBezTo>
                    <a:pt x="373463" y="169147"/>
                    <a:pt x="342481" y="84573"/>
                    <a:pt x="311499" y="0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  <a:extLst>
                <a:ext uri="{C807C97D-BFC1-408E-A445-0C87EB9F89A2}">
                  <ask:lineSketchStyleProps xmlns:ask="http://schemas.microsoft.com/office/drawing/2018/sketchyshapes" sd="697022472">
                    <a:custGeom>
                      <a:avLst/>
                      <a:gdLst>
                        <a:gd name="connsiteX0" fmla="*/ 0 w 349380"/>
                        <a:gd name="connsiteY0" fmla="*/ 251208 h 251442"/>
                        <a:gd name="connsiteX1" fmla="*/ 321547 w 349380"/>
                        <a:gd name="connsiteY1" fmla="*/ 211015 h 251442"/>
                        <a:gd name="connsiteX2" fmla="*/ 311499 w 349380"/>
                        <a:gd name="connsiteY2" fmla="*/ 0 h 2514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349380" h="251442" extrusionOk="0">
                          <a:moveTo>
                            <a:pt x="0" y="251208"/>
                          </a:moveTo>
                          <a:cubicBezTo>
                            <a:pt x="140449" y="259198"/>
                            <a:pt x="272790" y="262400"/>
                            <a:pt x="321547" y="211015"/>
                          </a:cubicBezTo>
                          <a:cubicBezTo>
                            <a:pt x="360318" y="157023"/>
                            <a:pt x="348865" y="84463"/>
                            <a:pt x="311499" y="0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7A3F889-429C-4403-8962-4F737D000582}"/>
                  </a:ext>
                </a:extLst>
              </p:cNvPr>
              <p:cNvSpPr/>
              <p:nvPr/>
            </p:nvSpPr>
            <p:spPr>
              <a:xfrm>
                <a:off x="5598132" y="4736494"/>
                <a:ext cx="27241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7A3F889-429C-4403-8962-4F737D0005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132" y="4736494"/>
                <a:ext cx="272414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C597377-3093-429A-858D-635ADE3D4CFD}"/>
                  </a:ext>
                </a:extLst>
              </p:cNvPr>
              <p:cNvSpPr/>
              <p:nvPr/>
            </p:nvSpPr>
            <p:spPr>
              <a:xfrm>
                <a:off x="628650" y="5841710"/>
                <a:ext cx="16262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C597377-3093-429A-858D-635ADE3D4C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5841710"/>
                <a:ext cx="162621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44133E8-E513-46BC-8CA4-7D640EA2DC75}"/>
                  </a:ext>
                </a:extLst>
              </p:cNvPr>
              <p:cNvSpPr/>
              <p:nvPr/>
            </p:nvSpPr>
            <p:spPr>
              <a:xfrm>
                <a:off x="6100692" y="5913347"/>
                <a:ext cx="16190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44133E8-E513-46BC-8CA4-7D640EA2DC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0692" y="5913347"/>
                <a:ext cx="161909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矩形: 圆角 12">
            <a:extLst>
              <a:ext uri="{FF2B5EF4-FFF2-40B4-BE49-F238E27FC236}">
                <a16:creationId xmlns:a16="http://schemas.microsoft.com/office/drawing/2014/main" id="{D87677A5-C4D0-4226-AC08-FFA4B827D046}"/>
              </a:ext>
            </a:extLst>
          </p:cNvPr>
          <p:cNvSpPr/>
          <p:nvPr/>
        </p:nvSpPr>
        <p:spPr>
          <a:xfrm>
            <a:off x="2254863" y="5487659"/>
            <a:ext cx="1504229" cy="723383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矩形: 圆角 12">
            <a:extLst>
              <a:ext uri="{FF2B5EF4-FFF2-40B4-BE49-F238E27FC236}">
                <a16:creationId xmlns:a16="http://schemas.microsoft.com/office/drawing/2014/main" id="{87A1151C-0A8D-47FA-A871-BFB15256AC59}"/>
              </a:ext>
            </a:extLst>
          </p:cNvPr>
          <p:cNvSpPr/>
          <p:nvPr/>
        </p:nvSpPr>
        <p:spPr>
          <a:xfrm>
            <a:off x="4118874" y="5429854"/>
            <a:ext cx="1990524" cy="842030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1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60" grpId="0" animBg="1"/>
      <p:bldP spid="6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0F72-36D4-4B28-8F1F-1FA37847D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APSP via Recursion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90"/>
                <a:ext cx="8515350" cy="480218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b="1" dirty="0"/>
                  <a:t>Strategy:</a:t>
                </a:r>
                <a:r>
                  <a:rPr lang="en-US" sz="2400" dirty="0"/>
                  <a:t> recuse on the </a:t>
                </a:r>
                <a:r>
                  <a:rPr lang="en-US" sz="2400" i="1" dirty="0">
                    <a:solidFill>
                      <a:srgbClr val="C00000"/>
                    </a:solidFill>
                  </a:rPr>
                  <a:t>set of node</a:t>
                </a:r>
                <a:r>
                  <a:rPr lang="en-US" sz="2400" dirty="0"/>
                  <a:t> the shortest paths use.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Number nodes arbitrarily: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;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Define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000" dirty="0"/>
                  <a:t> be length of shortest path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 err="1"/>
                  <a:t>s.t.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only nodes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can be </a:t>
                </a:r>
                <a:r>
                  <a:rPr lang="en-US" sz="2000" u="sng" dirty="0">
                    <a:solidFill>
                      <a:schemeClr val="accent1">
                        <a:lumMod val="75000"/>
                      </a:schemeClr>
                    </a:solidFill>
                  </a:rPr>
                  <a:t>intermediate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nodes in paths</a:t>
                </a:r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2000" dirty="0"/>
                  <a:t>Let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000" dirty="0"/>
                  <a:t> be such a path.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Observation: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/>
                  <a:t>either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400" dirty="0"/>
                  <a:t> go through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/>
                  <a:t> or not.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1800" b="1" dirty="0">
                    <a:solidFill>
                      <a:schemeClr val="accent4">
                        <a:lumMod val="75000"/>
                      </a:schemeClr>
                    </a:solidFill>
                  </a:rPr>
                  <a:t>Latter case</a:t>
                </a:r>
                <a:r>
                  <a:rPr lang="en-US" sz="1800" b="1" dirty="0"/>
                  <a:t>: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18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1800" b="1" dirty="0">
                    <a:solidFill>
                      <a:schemeClr val="accent2">
                        <a:lumMod val="75000"/>
                      </a:schemeClr>
                    </a:solidFill>
                  </a:rPr>
                  <a:t>Former case</a:t>
                </a:r>
                <a:r>
                  <a:rPr lang="en-US" sz="1800" b="1" dirty="0"/>
                  <a:t>: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1800" dirty="0"/>
              </a:p>
              <a:p>
                <a:pPr>
                  <a:lnSpc>
                    <a:spcPct val="100000"/>
                  </a:lnSpc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7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mr>
                          <m:mr>
                            <m:e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∉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7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700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sz="1700" i="1">
                                                <a:latin typeface="Cambria Math" panose="02040503050406030204" pitchFamily="18" charset="0"/>
                                              </a:rPr>
                                              <m:t>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  <m:t>𝑢</m:t>
                                                </m:r>
                                                <m: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  <m:t>𝑣</m:t>
                                                </m:r>
                                                <m: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  <m: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7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𝑢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𝑟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sz="1700" b="0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17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𝑟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𝑣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7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90"/>
                <a:ext cx="8515350" cy="4802184"/>
              </a:xfrm>
              <a:blipFill>
                <a:blip r:embed="rId2"/>
                <a:stretch>
                  <a:fillRect l="-931" t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矩形: 圆角 12">
            <a:extLst>
              <a:ext uri="{FF2B5EF4-FFF2-40B4-BE49-F238E27FC236}">
                <a16:creationId xmlns:a16="http://schemas.microsoft.com/office/drawing/2014/main" id="{4C89A6C7-DDB9-4158-8B9F-2ACEB8EB5368}"/>
              </a:ext>
            </a:extLst>
          </p:cNvPr>
          <p:cNvSpPr/>
          <p:nvPr/>
        </p:nvSpPr>
        <p:spPr>
          <a:xfrm>
            <a:off x="2928103" y="5688628"/>
            <a:ext cx="3392310" cy="290142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7DFA17-F36C-4DC9-B258-C0011038B3AB}"/>
              </a:ext>
            </a:extLst>
          </p:cNvPr>
          <p:cNvSpPr txBox="1"/>
          <p:nvPr/>
        </p:nvSpPr>
        <p:spPr>
          <a:xfrm>
            <a:off x="2823587" y="6037863"/>
            <a:ext cx="5616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No longer needs to enumerate multiple potential choices!</a:t>
            </a:r>
          </a:p>
        </p:txBody>
      </p:sp>
    </p:spTree>
    <p:extLst>
      <p:ext uri="{BB962C8B-B14F-4D97-AF65-F5344CB8AC3E}">
        <p14:creationId xmlns:p14="http://schemas.microsoft.com/office/powerpoint/2010/main" val="1863733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0F72-36D4-4B28-8F1F-1FA37847D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APSP via Recursion</a:t>
            </a:r>
            <a:br>
              <a:rPr lang="en-US" dirty="0"/>
            </a:br>
            <a:r>
              <a:rPr lang="en-US" dirty="0"/>
              <a:t>The Floyd-</a:t>
            </a:r>
            <a:r>
              <a:rPr lang="en-US" dirty="0" err="1"/>
              <a:t>Warshall</a:t>
            </a:r>
            <a:r>
              <a:rPr lang="en-US" dirty="0"/>
              <a:t>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54646"/>
                <a:ext cx="8515350" cy="480218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b="1" dirty="0"/>
                  <a:t>Strategy:</a:t>
                </a:r>
                <a:r>
                  <a:rPr lang="en-US" sz="2000" dirty="0"/>
                  <a:t> recuse on the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set of node</a:t>
                </a:r>
                <a:r>
                  <a:rPr lang="en-US" sz="2000" dirty="0"/>
                  <a:t> the shortest paths use.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Define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000" dirty="0"/>
                  <a:t> be length of shortest path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 err="1"/>
                  <a:t>s.t.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only nodes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0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can be </a:t>
                </a:r>
                <a:r>
                  <a:rPr lang="en-US" sz="2000" u="sng" dirty="0">
                    <a:solidFill>
                      <a:schemeClr val="accent1">
                        <a:lumMod val="75000"/>
                      </a:schemeClr>
                    </a:solidFill>
                  </a:rPr>
                  <a:t>intermediate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nodes in paths</a:t>
                </a:r>
                <a:r>
                  <a:rPr lang="en-US" sz="20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7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mr>
                          <m:mr>
                            <m:e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7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∉</m:t>
                              </m:r>
                              <m:r>
                                <a:rPr lang="en-US" sz="17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17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7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17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1700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r>
                                              <a:rPr lang="en-US" sz="1700" i="1">
                                                <a:latin typeface="Cambria Math" panose="02040503050406030204" pitchFamily="18" charset="0"/>
                                              </a:rPr>
                                              <m:t>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  <m:t>𝑢</m:t>
                                                </m:r>
                                                <m: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  <m:t>𝑣</m:t>
                                                </m:r>
                                                <m: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  <m:r>
                                                  <a:rPr lang="en-US" sz="1700" i="1"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17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𝑢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𝑟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sz="1700" b="0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17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𝑑𝑖𝑠𝑡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7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𝑟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𝑣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  <m:r>
                                                  <a:rPr lang="en-US" sz="17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func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70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7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54646"/>
                <a:ext cx="8515350" cy="4802184"/>
              </a:xfrm>
              <a:blipFill>
                <a:blip r:embed="rId2"/>
                <a:stretch>
                  <a:fillRect l="-644" t="-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4">
            <a:extLst>
              <a:ext uri="{FF2B5EF4-FFF2-40B4-BE49-F238E27FC236}">
                <a16:creationId xmlns:a16="http://schemas.microsoft.com/office/drawing/2014/main" id="{6DE7DF79-743C-47E9-A878-D90A36979919}"/>
              </a:ext>
            </a:extLst>
          </p:cNvPr>
          <p:cNvSpPr/>
          <p:nvPr/>
        </p:nvSpPr>
        <p:spPr>
          <a:xfrm>
            <a:off x="1057206" y="4061990"/>
            <a:ext cx="7029588" cy="2437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FloydWarshallAPSP</a:t>
            </a:r>
            <a:r>
              <a:rPr lang="en-GB" sz="1600" b="1" u="sng" dirty="0">
                <a:solidFill>
                  <a:schemeClr val="tx1"/>
                </a:solidFill>
              </a:rPr>
              <a:t>(G):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(every pair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V*V)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 then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[u,v,0]=w(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[u,v,0]=INF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(r=1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node u)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(each node v)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[u,v,r-1]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&gt;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[u,x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,r-1] +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[x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,v,r-1])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[u,x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,r-1] +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[x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,v,r-1]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7AE0280-D806-43D7-8D7D-DBAF71693746}"/>
                  </a:ext>
                </a:extLst>
              </p:cNvPr>
              <p:cNvSpPr/>
              <p:nvPr/>
            </p:nvSpPr>
            <p:spPr>
              <a:xfrm>
                <a:off x="5647420" y="4055738"/>
                <a:ext cx="243937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</a:rPr>
                  <a:t>Runtime is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7AE0280-D806-43D7-8D7D-DBAF716937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7420" y="4055738"/>
                <a:ext cx="2439374" cy="461665"/>
              </a:xfrm>
              <a:prstGeom prst="rect">
                <a:avLst/>
              </a:prstGeom>
              <a:blipFill>
                <a:blip r:embed="rId3"/>
                <a:stretch>
                  <a:fillRect l="-3741" t="-10526" r="-3242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351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0F72-36D4-4B28-8F1F-1FA37847D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Application of APSP</a:t>
            </a:r>
            <a:br>
              <a:rPr lang="en-US" dirty="0"/>
            </a:br>
            <a:r>
              <a:rPr lang="en-US" dirty="0"/>
              <a:t>Compute Transitive Closure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90"/>
                <a:ext cx="7886700" cy="480218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What if we don’t care exact distance, but only </a:t>
                </a: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reachability</a:t>
                </a:r>
                <a:r>
                  <a:rPr lang="en-US" sz="2000" dirty="0"/>
                  <a:t>?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Given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000" dirty="0"/>
                  <a:t>, compute </a:t>
                </a: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transitive closure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,</a:t>
                </a:r>
                <a:br>
                  <a:rPr lang="en-US" sz="2000" dirty="0"/>
                </a:br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/>
                  <a:t> if exists path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Simple, any APSP algorithm will do! (Check whether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)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>
                    <a:solidFill>
                      <a:srgbClr val="C00000"/>
                    </a:solidFill>
                  </a:rPr>
                  <a:t>But we can save a lot of space if a bit cleverer.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F6EE28-77AA-44C1-8DC9-CEF570CD9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90"/>
                <a:ext cx="7886700" cy="4802184"/>
              </a:xfrm>
              <a:blipFill>
                <a:blip r:embed="rId2"/>
                <a:stretch>
                  <a:fillRect l="-696" t="-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4">
            <a:extLst>
              <a:ext uri="{FF2B5EF4-FFF2-40B4-BE49-F238E27FC236}">
                <a16:creationId xmlns:a16="http://schemas.microsoft.com/office/drawing/2014/main" id="{6CF79B66-FFC6-4A1A-B742-30E7BC4B412F}"/>
              </a:ext>
            </a:extLst>
          </p:cNvPr>
          <p:cNvSpPr/>
          <p:nvPr/>
        </p:nvSpPr>
        <p:spPr>
          <a:xfrm>
            <a:off x="628649" y="4091782"/>
            <a:ext cx="7530611" cy="2437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FloydWarshallTransitiveClosure</a:t>
            </a:r>
            <a:r>
              <a:rPr lang="en-GB" sz="1600" b="1" u="sng" dirty="0">
                <a:solidFill>
                  <a:schemeClr val="tx1"/>
                </a:solidFill>
              </a:rPr>
              <a:t>(G):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(every pair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V*V)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 then t[u,v,0] =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 t[u,v,0] =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(r=1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node u)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(each node v)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t[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t[u,v,r-1]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(t[u,x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,r-1] 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t[x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,v,r-1])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endParaRPr lang="en-GB" sz="1600" b="1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4">
            <a:extLst>
              <a:ext uri="{FF2B5EF4-FFF2-40B4-BE49-F238E27FC236}">
                <a16:creationId xmlns:a16="http://schemas.microsoft.com/office/drawing/2014/main" id="{51829C3F-D56C-4AE6-B0D7-4C72A11172EA}"/>
              </a:ext>
            </a:extLst>
          </p:cNvPr>
          <p:cNvSpPr/>
          <p:nvPr/>
        </p:nvSpPr>
        <p:spPr>
          <a:xfrm>
            <a:off x="628650" y="1583694"/>
            <a:ext cx="7530612" cy="2437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FloydWarshallAPSP</a:t>
            </a:r>
            <a:r>
              <a:rPr lang="en-GB" sz="1600" b="1" u="sng" dirty="0">
                <a:solidFill>
                  <a:schemeClr val="tx1"/>
                </a:solidFill>
              </a:rPr>
              <a:t>(G):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(every pair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V*V)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in E) then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[u,v,0]=w(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[u,v,0]=INF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(r=1 to n)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(each node u)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(each node v)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[u,v,r-1]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(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&gt;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[u,x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,r-1] +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[x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,v,r-1])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u,v,r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[u,x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,r-1] + </a:t>
            </a: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[x</a:t>
            </a:r>
            <a:r>
              <a:rPr lang="en-US" sz="1600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,v,r-1]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F6D20A-E4F1-4E04-A047-5BB57BE50AD5}"/>
                  </a:ext>
                </a:extLst>
              </p:cNvPr>
              <p:cNvSpPr txBox="1"/>
              <p:nvPr/>
            </p:nvSpPr>
            <p:spPr>
              <a:xfrm>
                <a:off x="4564287" y="4162120"/>
                <a:ext cx="3527048" cy="509643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sup>
                      </m:sSubSup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p>
                      </m:sSubSup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sub>
                            <m:sup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sSubSup>
                            <m:sSubSup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F6D20A-E4F1-4E04-A047-5BB57BE50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287" y="4162120"/>
                <a:ext cx="3527048" cy="50964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032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GB" sz="2400" dirty="0"/>
              <a:t>[CLRS] Ch.25</a:t>
            </a: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2400" dirty="0"/>
              <a:t>[Erickson v1] Ch.9</a:t>
            </a:r>
            <a:endParaRPr lang="en-GB" sz="3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BB201A7-25BD-450C-8C46-D8644545B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602" y="4162471"/>
            <a:ext cx="1400748" cy="20144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504</TotalTime>
  <Words>2767</Words>
  <Application>Microsoft Office PowerPoint</Application>
  <PresentationFormat>On-screen Show (4:3)</PresentationFormat>
  <Paragraphs>272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Calibri Light</vt:lpstr>
      <vt:lpstr>Cambria Math</vt:lpstr>
      <vt:lpstr>Calibri</vt:lpstr>
      <vt:lpstr>Arial</vt:lpstr>
      <vt:lpstr>Courier New</vt:lpstr>
      <vt:lpstr>Office Theme</vt:lpstr>
      <vt:lpstr>Midterm Exam Statistics</vt:lpstr>
      <vt:lpstr>All-Pairs Shortest Path</vt:lpstr>
      <vt:lpstr>SSSP and APSP</vt:lpstr>
      <vt:lpstr>APSP from multiple SSSP</vt:lpstr>
      <vt:lpstr>APSP from multiple SSSP</vt:lpstr>
      <vt:lpstr>APSP from multiple SSSP</vt:lpstr>
      <vt:lpstr>APSP from multiple SSSP</vt:lpstr>
      <vt:lpstr>APSP from multiple SSSP</vt:lpstr>
      <vt:lpstr>APSP from multiple SSSP</vt:lpstr>
      <vt:lpstr>APSP from multiple SSSP</vt:lpstr>
      <vt:lpstr>APSP from multiple SSSP Johnson’s algorithm</vt:lpstr>
      <vt:lpstr>APSP via Recursion</vt:lpstr>
      <vt:lpstr>APSP via Recursion</vt:lpstr>
      <vt:lpstr>APSP via Recursion</vt:lpstr>
      <vt:lpstr>APSP via Recursion</vt:lpstr>
      <vt:lpstr>APSP via Recursion</vt:lpstr>
      <vt:lpstr>APSP via Recursion</vt:lpstr>
      <vt:lpstr>APSP via Recursion</vt:lpstr>
      <vt:lpstr>APSP via Recursion</vt:lpstr>
      <vt:lpstr>APSP via Recursion The Floyd-Warshall Algorithm</vt:lpstr>
      <vt:lpstr>Application of APSP Compute Transitive Closure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All-Pairs Shortest Path</dc:title>
  <dc:creator>ZHENG Chaodong</dc:creator>
  <cp:lastModifiedBy>ZHENG Chaodong</cp:lastModifiedBy>
  <cp:revision>60</cp:revision>
  <dcterms:created xsi:type="dcterms:W3CDTF">2019-11-27T10:41:12Z</dcterms:created>
  <dcterms:modified xsi:type="dcterms:W3CDTF">2019-11-28T01:40:18Z</dcterms:modified>
</cp:coreProperties>
</file>