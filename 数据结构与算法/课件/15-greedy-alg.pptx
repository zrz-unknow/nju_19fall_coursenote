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36"/>
  </p:notesMasterIdLst>
  <p:sldIdLst>
    <p:sldId id="257" r:id="rId2"/>
    <p:sldId id="291" r:id="rId3"/>
    <p:sldId id="292" r:id="rId4"/>
    <p:sldId id="293" r:id="rId5"/>
    <p:sldId id="294" r:id="rId6"/>
    <p:sldId id="295" r:id="rId7"/>
    <p:sldId id="296" r:id="rId8"/>
    <p:sldId id="297" r:id="rId9"/>
    <p:sldId id="298" r:id="rId10"/>
    <p:sldId id="299" r:id="rId11"/>
    <p:sldId id="300" r:id="rId12"/>
    <p:sldId id="301" r:id="rId13"/>
    <p:sldId id="302" r:id="rId14"/>
    <p:sldId id="303" r:id="rId15"/>
    <p:sldId id="304" r:id="rId16"/>
    <p:sldId id="305" r:id="rId17"/>
    <p:sldId id="306" r:id="rId18"/>
    <p:sldId id="307" r:id="rId19"/>
    <p:sldId id="308" r:id="rId20"/>
    <p:sldId id="309" r:id="rId21"/>
    <p:sldId id="310" r:id="rId22"/>
    <p:sldId id="312" r:id="rId23"/>
    <p:sldId id="313" r:id="rId24"/>
    <p:sldId id="314" r:id="rId25"/>
    <p:sldId id="315" r:id="rId26"/>
    <p:sldId id="316" r:id="rId27"/>
    <p:sldId id="317" r:id="rId28"/>
    <p:sldId id="318" r:id="rId29"/>
    <p:sldId id="319" r:id="rId30"/>
    <p:sldId id="320" r:id="rId31"/>
    <p:sldId id="321" r:id="rId32"/>
    <p:sldId id="322" r:id="rId33"/>
    <p:sldId id="323" r:id="rId34"/>
    <p:sldId id="290" r:id="rId35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37"/>
      <p:bold r:id="rId38"/>
      <p:italic r:id="rId39"/>
      <p:boldItalic r:id="rId40"/>
    </p:embeddedFont>
    <p:embeddedFont>
      <p:font typeface="Calibri Light" panose="020F0302020204030204" pitchFamily="34" charset="0"/>
      <p:regular r:id="rId41"/>
      <p:italic r:id="rId42"/>
    </p:embeddedFont>
    <p:embeddedFont>
      <p:font typeface="Cambria Math" panose="02040503050406030204" pitchFamily="18" charset="0"/>
      <p:regular r:id="rId4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1808" autoAdjust="0"/>
  </p:normalViewPr>
  <p:slideViewPr>
    <p:cSldViewPr snapToGrid="0">
      <p:cViewPr varScale="1">
        <p:scale>
          <a:sx n="94" d="100"/>
          <a:sy n="94" d="100"/>
        </p:scale>
        <p:origin x="121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6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7994AD-0E81-48C4-9016-9DDF62304B69}" type="datetimeFigureOut">
              <a:rPr lang="en-US" smtClean="0"/>
              <a:t>19/11/19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092D1B-C699-4181-8511-15E794D899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558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39F09-393E-4E6D-98AC-DC0B07A168D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6265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092D1B-C699-4181-8511-15E794D8995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4458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092D1B-C699-4181-8511-15E794D8995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4233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092D1B-C699-4181-8511-15E794D8995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9116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EED19-B77C-4AEF-A199-B6DFD61222F4}" type="datetimeFigureOut">
              <a:rPr lang="en-US" smtClean="0"/>
              <a:t>19/11/19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011D6-46BD-4875-8EE3-536D4FC16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941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EED19-B77C-4AEF-A199-B6DFD61222F4}" type="datetimeFigureOut">
              <a:rPr lang="en-US" smtClean="0"/>
              <a:t>19/11/19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011D6-46BD-4875-8EE3-536D4FC16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832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EED19-B77C-4AEF-A199-B6DFD61222F4}" type="datetimeFigureOut">
              <a:rPr lang="en-US" smtClean="0"/>
              <a:t>19/11/19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011D6-46BD-4875-8EE3-536D4FC16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196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EED19-B77C-4AEF-A199-B6DFD61222F4}" type="datetimeFigureOut">
              <a:rPr lang="en-US" smtClean="0"/>
              <a:t>19/11/19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011D6-46BD-4875-8EE3-536D4FC16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902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EED19-B77C-4AEF-A199-B6DFD61222F4}" type="datetimeFigureOut">
              <a:rPr lang="en-US" smtClean="0"/>
              <a:t>19/11/19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011D6-46BD-4875-8EE3-536D4FC16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854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EED19-B77C-4AEF-A199-B6DFD61222F4}" type="datetimeFigureOut">
              <a:rPr lang="en-US" smtClean="0"/>
              <a:t>19/11/19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011D6-46BD-4875-8EE3-536D4FC16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451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EED19-B77C-4AEF-A199-B6DFD61222F4}" type="datetimeFigureOut">
              <a:rPr lang="en-US" smtClean="0"/>
              <a:t>19/11/19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011D6-46BD-4875-8EE3-536D4FC16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119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EED19-B77C-4AEF-A199-B6DFD61222F4}" type="datetimeFigureOut">
              <a:rPr lang="en-US" smtClean="0"/>
              <a:t>19/11/19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011D6-46BD-4875-8EE3-536D4FC16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024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EED19-B77C-4AEF-A199-B6DFD61222F4}" type="datetimeFigureOut">
              <a:rPr lang="en-US" smtClean="0"/>
              <a:t>19/11/19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011D6-46BD-4875-8EE3-536D4FC16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821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EED19-B77C-4AEF-A199-B6DFD61222F4}" type="datetimeFigureOut">
              <a:rPr lang="en-US" smtClean="0"/>
              <a:t>19/11/19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011D6-46BD-4875-8EE3-536D4FC16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985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EED19-B77C-4AEF-A199-B6DFD61222F4}" type="datetimeFigureOut">
              <a:rPr lang="en-US" smtClean="0"/>
              <a:t>19/11/19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011D6-46BD-4875-8EE3-536D4FC16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056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7EED19-B77C-4AEF-A199-B6DFD61222F4}" type="datetimeFigureOut">
              <a:rPr lang="en-US" smtClean="0"/>
              <a:t>19/11/19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C011D6-46BD-4875-8EE3-536D4FC16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785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jpg"/><Relationship Id="rId4" Type="http://schemas.openxmlformats.org/officeDocument/2006/relationships/image" Target="../media/image18.jp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18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18.jp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FB974E-FDF9-47AD-B73D-2F48DADDAC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GB" b="1" dirty="0"/>
              <a:t>Greedy Algorithms</a:t>
            </a:r>
            <a:endParaRPr lang="en-US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730E9ED-4082-48C1-9706-0FA0AA4FD7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0"/>
              </a:spcAft>
            </a:pPr>
            <a:r>
              <a:rPr lang="en-GB" dirty="0"/>
              <a:t>Data Structures and Algorithms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GB" sz="2000" dirty="0">
                <a:solidFill>
                  <a:schemeClr val="bg2">
                    <a:lumMod val="50000"/>
                  </a:schemeClr>
                </a:solidFill>
              </a:rPr>
              <a:t>Nanjing University, Fall 2019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</a:rPr>
              <a:t>郑朝栋</a:t>
            </a:r>
            <a:endParaRPr lang="en-US" sz="20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2341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57A9DC-E48B-444F-BCE8-BB2DF1F23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Greedy Strategy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4E79AA-33E6-412E-91E1-BDF177BB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7674"/>
            <a:ext cx="7886700" cy="4795200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sz="2400" dirty="0"/>
              <a:t>For many games, you should </a:t>
            </a:r>
            <a:r>
              <a:rPr lang="en-US" sz="2400" i="1" dirty="0">
                <a:solidFill>
                  <a:srgbClr val="C00000"/>
                </a:solidFill>
              </a:rPr>
              <a:t>think ahead</a:t>
            </a:r>
            <a:r>
              <a:rPr lang="en-US" sz="2400" dirty="0"/>
              <a:t>, a strategy which focuses on immediate advantage could easily lead to defeat.</a:t>
            </a:r>
          </a:p>
          <a:p>
            <a:pPr lvl="1">
              <a:spcBef>
                <a:spcPts val="600"/>
              </a:spcBef>
            </a:pPr>
            <a:r>
              <a:rPr lang="en-US" sz="2000" dirty="0"/>
              <a:t>Such as playing chess.</a:t>
            </a:r>
          </a:p>
          <a:p>
            <a:pPr>
              <a:spcBef>
                <a:spcPts val="600"/>
              </a:spcBef>
            </a:pPr>
            <a:r>
              <a:rPr lang="en-US" sz="2400" dirty="0"/>
              <a:t>But for many other games, you can do quite well by simply making whichever move </a:t>
            </a:r>
            <a:r>
              <a:rPr lang="en-US" sz="2400" i="1" dirty="0">
                <a:solidFill>
                  <a:srgbClr val="C00000"/>
                </a:solidFill>
              </a:rPr>
              <a:t>seems best at the moment</a:t>
            </a:r>
            <a:r>
              <a:rPr lang="en-US" sz="2400" dirty="0"/>
              <a:t>, without worrying too much about future consequences.</a:t>
            </a:r>
          </a:p>
          <a:p>
            <a:pPr lvl="1">
              <a:spcBef>
                <a:spcPts val="600"/>
              </a:spcBef>
            </a:pPr>
            <a:r>
              <a:rPr lang="en-US" sz="2000" dirty="0"/>
              <a:t>Such as building an MST.</a:t>
            </a:r>
            <a:endParaRPr lang="en-US" sz="2400" dirty="0"/>
          </a:p>
          <a:p>
            <a:pPr>
              <a:spcBef>
                <a:spcPts val="600"/>
              </a:spcBef>
            </a:pP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The Greedy Algorithmic Strategy</a:t>
            </a:r>
            <a:r>
              <a:rPr lang="en-US" sz="2400" dirty="0"/>
              <a:t>: given a problem, build up a solution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piece by piece</a:t>
            </a:r>
            <a:r>
              <a:rPr lang="en-US" sz="2400" dirty="0"/>
              <a:t>, always choosing the next piece that offers the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most </a:t>
            </a:r>
            <a:r>
              <a:rPr lang="en-US" sz="2400" u="sng" dirty="0">
                <a:solidFill>
                  <a:schemeClr val="accent1">
                    <a:lumMod val="75000"/>
                  </a:schemeClr>
                </a:solidFill>
              </a:rPr>
              <a:t>obvious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 and </a:t>
            </a:r>
            <a:r>
              <a:rPr lang="en-US" sz="2400" u="sng" dirty="0">
                <a:solidFill>
                  <a:schemeClr val="accent1">
                    <a:lumMod val="75000"/>
                  </a:schemeClr>
                </a:solidFill>
              </a:rPr>
              <a:t>immediate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 benefit</a:t>
            </a:r>
            <a:r>
              <a:rPr lang="en-US" sz="2400" dirty="0"/>
              <a:t>.</a:t>
            </a:r>
          </a:p>
          <a:p>
            <a:pPr lvl="1">
              <a:spcBef>
                <a:spcPts val="600"/>
              </a:spcBef>
            </a:pPr>
            <a:r>
              <a:rPr lang="en-US" sz="2000" dirty="0"/>
              <a:t>Sometimes it gives optimal solution.</a:t>
            </a:r>
          </a:p>
          <a:p>
            <a:pPr lvl="1">
              <a:spcBef>
                <a:spcPts val="600"/>
              </a:spcBef>
            </a:pPr>
            <a:r>
              <a:rPr lang="en-US" sz="2000" dirty="0"/>
              <a:t>Sometimes it gives near-optimal solution.</a:t>
            </a:r>
          </a:p>
          <a:p>
            <a:pPr lvl="1">
              <a:spcBef>
                <a:spcPts val="600"/>
              </a:spcBef>
            </a:pPr>
            <a:r>
              <a:rPr lang="en-US" sz="2000" dirty="0"/>
              <a:t>Or, it simply fails…</a:t>
            </a:r>
          </a:p>
        </p:txBody>
      </p:sp>
    </p:spTree>
    <p:extLst>
      <p:ext uri="{BB962C8B-B14F-4D97-AF65-F5344CB8AC3E}">
        <p14:creationId xmlns:p14="http://schemas.microsoft.com/office/powerpoint/2010/main" val="971149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57A9DC-E48B-444F-BCE8-BB2DF1F23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Activity-Selection Problem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A4E79AA-33E6-412E-91E1-BDF177BB15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7674"/>
                <a:ext cx="7886700" cy="4795200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dirty="0"/>
                  <a:t>Assume we have </a:t>
                </a:r>
                <a:r>
                  <a:rPr lang="en-US" sz="2400" dirty="0">
                    <a:solidFill>
                      <a:schemeClr val="accent1"/>
                    </a:solidFill>
                  </a:rPr>
                  <a:t>one hall</a:t>
                </a:r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accent1"/>
                    </a:solidFill>
                  </a:rPr>
                  <a:t> activities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,⋯,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/>
                  <a:t>Each activity has a </a:t>
                </a:r>
                <a:r>
                  <a:rPr lang="en-US" sz="2400" dirty="0">
                    <a:solidFill>
                      <a:schemeClr val="accent1"/>
                    </a:solidFill>
                  </a:rPr>
                  <a:t>start time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and a </a:t>
                </a:r>
                <a:r>
                  <a:rPr lang="en-US" sz="2400" dirty="0">
                    <a:solidFill>
                      <a:schemeClr val="accent1"/>
                    </a:solidFill>
                  </a:rPr>
                  <a:t>finish time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/>
                  <a:t>Two activities cannot happen simultaneously in the hall.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rgbClr val="C00000"/>
                    </a:solidFill>
                  </a:rPr>
                  <a:t>Maximum number of activities we can schedule?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A4E79AA-33E6-412E-91E1-BDF177BB15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7674"/>
                <a:ext cx="7886700" cy="4795200"/>
              </a:xfrm>
              <a:blipFill>
                <a:blip r:embed="rId2"/>
                <a:stretch>
                  <a:fillRect l="-1005" t="-17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>
            <a:extLst>
              <a:ext uri="{FF2B5EF4-FFF2-40B4-BE49-F238E27FC236}">
                <a16:creationId xmlns:a16="http://schemas.microsoft.com/office/drawing/2014/main" id="{FA0A96C9-CE86-4D03-9145-EAC00F0FC2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1355" y="5160326"/>
            <a:ext cx="3713995" cy="131572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5C864F1-DF86-47B0-80E7-9A94830FA0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3429000"/>
            <a:ext cx="3713994" cy="131572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3D48BAF2-0B29-493B-84C4-2E06B3D9E0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1354" y="3429000"/>
            <a:ext cx="3713995" cy="131572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B4D185F3-65C2-4943-BB31-FBDD2276CB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" y="5160326"/>
            <a:ext cx="3713994" cy="131572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92419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57A9DC-E48B-444F-BCE8-BB2DF1F23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Activity-Selection Problem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A4E79AA-33E6-412E-91E1-BDF177BB15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7674"/>
                <a:ext cx="7886700" cy="4795200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dirty="0"/>
                  <a:t>Assume we have </a:t>
                </a:r>
                <a:r>
                  <a:rPr lang="en-US" sz="2400" dirty="0">
                    <a:solidFill>
                      <a:schemeClr val="accent1"/>
                    </a:solidFill>
                  </a:rPr>
                  <a:t>one hall</a:t>
                </a:r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accent1"/>
                    </a:solidFill>
                  </a:rPr>
                  <a:t> activities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,⋯,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/>
                  <a:t>Each activity has a </a:t>
                </a:r>
                <a:r>
                  <a:rPr lang="en-US" sz="2400" dirty="0">
                    <a:solidFill>
                      <a:schemeClr val="accent1"/>
                    </a:solidFill>
                  </a:rPr>
                  <a:t>start time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and a </a:t>
                </a:r>
                <a:r>
                  <a:rPr lang="en-US" sz="2400" dirty="0">
                    <a:solidFill>
                      <a:schemeClr val="accent1"/>
                    </a:solidFill>
                  </a:rPr>
                  <a:t>finish time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/>
                  <a:t>Two activities cannot happen simultaneously in the hall.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rgbClr val="C00000"/>
                    </a:solidFill>
                  </a:rPr>
                  <a:t>Maximum number of activities we can schedule?</a:t>
                </a:r>
              </a:p>
              <a:p>
                <a:pPr>
                  <a:spcBef>
                    <a:spcPts val="600"/>
                  </a:spcBef>
                </a:pPr>
                <a:endParaRPr lang="en-US" sz="2400" dirty="0">
                  <a:solidFill>
                    <a:srgbClr val="C00000"/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400" dirty="0"/>
                  <a:t>Let’s start with “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</a:rPr>
                  <a:t>divide-and-conquer</a:t>
                </a:r>
                <a:r>
                  <a:rPr lang="en-US" sz="2400" dirty="0"/>
                  <a:t>”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/>
                  <a:t>Define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to be the set of </a:t>
                </a:r>
                <a:r>
                  <a:rPr lang="en-US" sz="2400" dirty="0">
                    <a:solidFill>
                      <a:schemeClr val="accent1"/>
                    </a:solidFill>
                  </a:rPr>
                  <a:t>activities start after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accent1"/>
                    </a:solidFill>
                  </a:rPr>
                  <a:t> finishes</a:t>
                </a:r>
                <a:r>
                  <a:rPr lang="en-US" sz="2400" dirty="0"/>
                  <a:t>;</a:t>
                </a:r>
                <a:br>
                  <a:rPr lang="en-US" sz="2400" dirty="0"/>
                </a:br>
                <a:r>
                  <a:rPr lang="en-US" sz="2400" dirty="0"/>
                  <a:t>Define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to be the set of </a:t>
                </a:r>
                <a:r>
                  <a:rPr lang="en-US" sz="2400" dirty="0">
                    <a:solidFill>
                      <a:schemeClr val="accent1"/>
                    </a:solidFill>
                  </a:rPr>
                  <a:t>activities finish before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accent1"/>
                    </a:solidFill>
                  </a:rPr>
                  <a:t> starts</a:t>
                </a:r>
                <a:r>
                  <a:rPr lang="en-US" sz="2400" dirty="0"/>
                  <a:t>.</a:t>
                </a:r>
              </a:p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𝑂𝑃𝑇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4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sz="24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1≤</m:t>
                            </m:r>
                            <m:r>
                              <a:rPr lang="en-US" sz="24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sz="24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4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𝑂𝑃𝑇</m:t>
                            </m:r>
                            <m:d>
                              <m:dPr>
                                <m:ctrlPr>
                                  <a:rPr lang="en-US" sz="2400" b="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24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+1+</m:t>
                            </m:r>
                            <m:r>
                              <a:rPr lang="en-US" sz="24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𝑂𝑃𝑇</m:t>
                            </m:r>
                            <m:d>
                              <m:dPr>
                                <m:ctrlPr>
                                  <a:rPr lang="en-US" sz="2400" b="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en-US" sz="2400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A4E79AA-33E6-412E-91E1-BDF177BB15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7674"/>
                <a:ext cx="7886700" cy="4795200"/>
              </a:xfrm>
              <a:blipFill>
                <a:blip r:embed="rId2"/>
                <a:stretch>
                  <a:fillRect l="-1005" t="-17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4571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57A9DC-E48B-444F-BCE8-BB2DF1F23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Activity-Selection Problem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A4E79AA-33E6-412E-91E1-BDF177BB15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7674"/>
                <a:ext cx="7886700" cy="4795200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dirty="0"/>
                  <a:t>Assume we have </a:t>
                </a:r>
                <a:r>
                  <a:rPr lang="en-US" sz="2400" dirty="0">
                    <a:solidFill>
                      <a:schemeClr val="accent1"/>
                    </a:solidFill>
                  </a:rPr>
                  <a:t>one hall</a:t>
                </a:r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accent1"/>
                    </a:solidFill>
                  </a:rPr>
                  <a:t> activities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,⋯,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/>
                  <a:t>Each activity has a </a:t>
                </a:r>
                <a:r>
                  <a:rPr lang="en-US" sz="2400" dirty="0">
                    <a:solidFill>
                      <a:schemeClr val="accent1"/>
                    </a:solidFill>
                  </a:rPr>
                  <a:t>start time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and a </a:t>
                </a:r>
                <a:r>
                  <a:rPr lang="en-US" sz="2400" dirty="0">
                    <a:solidFill>
                      <a:schemeClr val="accent1"/>
                    </a:solidFill>
                  </a:rPr>
                  <a:t>finish time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/>
                  <a:t>Two activities cannot happen simultaneously in the hall.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rgbClr val="C00000"/>
                    </a:solidFill>
                  </a:rPr>
                  <a:t>Maximum number of activities we can schedule?</a:t>
                </a:r>
              </a:p>
              <a:p>
                <a:pPr>
                  <a:spcBef>
                    <a:spcPts val="600"/>
                  </a:spcBef>
                </a:pPr>
                <a:endParaRPr lang="en-US" sz="2400" dirty="0">
                  <a:solidFill>
                    <a:srgbClr val="C00000"/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400" dirty="0"/>
                  <a:t>Let’s start with “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</a:rPr>
                  <a:t>divide-and-conquer</a:t>
                </a:r>
                <a:r>
                  <a:rPr lang="en-US" sz="2400" dirty="0"/>
                  <a:t>”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/>
                  <a:t>Define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to be the set of </a:t>
                </a:r>
                <a:r>
                  <a:rPr lang="en-US" sz="2400" dirty="0">
                    <a:solidFill>
                      <a:schemeClr val="accent1"/>
                    </a:solidFill>
                  </a:rPr>
                  <a:t>activities start after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accent1"/>
                    </a:solidFill>
                  </a:rPr>
                  <a:t> finishes</a:t>
                </a:r>
                <a:r>
                  <a:rPr lang="en-US" sz="2400" dirty="0"/>
                  <a:t>;</a:t>
                </a:r>
                <a:br>
                  <a:rPr lang="en-US" sz="2400" dirty="0"/>
                </a:br>
                <a:r>
                  <a:rPr lang="en-US" sz="2400" dirty="0"/>
                  <a:t>Define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to be the set of </a:t>
                </a:r>
                <a:r>
                  <a:rPr lang="en-US" sz="2400" dirty="0">
                    <a:solidFill>
                      <a:schemeClr val="accent1"/>
                    </a:solidFill>
                  </a:rPr>
                  <a:t>activities finish before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accent1"/>
                    </a:solidFill>
                  </a:rPr>
                  <a:t> starts</a:t>
                </a:r>
                <a:r>
                  <a:rPr lang="en-US" sz="24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rgbClr val="C00000"/>
                    </a:solidFill>
                  </a:rPr>
                  <a:t>In any solution, some activity is the first to finish.</a:t>
                </a:r>
              </a:p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𝑂𝑃𝑇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4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sz="24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1≤</m:t>
                            </m:r>
                            <m:r>
                              <a:rPr lang="en-US" sz="24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sz="24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4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en-US" sz="24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𝑂𝑃𝑇</m:t>
                            </m:r>
                            <m:d>
                              <m:dPr>
                                <m:ctrlPr>
                                  <a:rPr lang="en-US" sz="2400" b="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en-US" sz="2400" dirty="0"/>
              </a:p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rgbClr val="C00000"/>
                    </a:solidFill>
                  </a:rPr>
                  <a:t>Observation</a:t>
                </a:r>
                <a:r>
                  <a:rPr lang="en-US" sz="2400" dirty="0">
                    <a:solidFill>
                      <a:srgbClr val="C00000"/>
                    </a:solidFill>
                  </a:rPr>
                  <a:t>: To make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𝑂𝑃𝑇</m:t>
                    </m:r>
                    <m:d>
                      <m:dPr>
                        <m:ctrlP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 as large as possible, the activity that finishes first should finish as early as possible!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A4E79AA-33E6-412E-91E1-BDF177BB15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7674"/>
                <a:ext cx="7886700" cy="4795200"/>
              </a:xfrm>
              <a:blipFill>
                <a:blip r:embed="rId2"/>
                <a:stretch>
                  <a:fillRect l="-1005" t="-1779" b="-13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2327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521" end="6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57A9DC-E48B-444F-BCE8-BB2DF1F23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Activity-Selection Problem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A4E79AA-33E6-412E-91E1-BDF177BB15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7674"/>
                <a:ext cx="7886700" cy="4795200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dirty="0"/>
                  <a:t>Assume we have </a:t>
                </a:r>
                <a:r>
                  <a:rPr lang="en-US" sz="2400" dirty="0">
                    <a:solidFill>
                      <a:schemeClr val="accent1"/>
                    </a:solidFill>
                  </a:rPr>
                  <a:t>one hall</a:t>
                </a:r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accent1"/>
                    </a:solidFill>
                  </a:rPr>
                  <a:t> activities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,⋯,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/>
                  <a:t>Each activity has a </a:t>
                </a:r>
                <a:r>
                  <a:rPr lang="en-US" sz="2400" dirty="0">
                    <a:solidFill>
                      <a:schemeClr val="accent1"/>
                    </a:solidFill>
                  </a:rPr>
                  <a:t>start time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and a </a:t>
                </a:r>
                <a:r>
                  <a:rPr lang="en-US" sz="2400" dirty="0">
                    <a:solidFill>
                      <a:schemeClr val="accent1"/>
                    </a:solidFill>
                  </a:rPr>
                  <a:t>finish time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/>
                  <a:t>Two activities cannot happen simultaneously in the hall.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rgbClr val="C00000"/>
                    </a:solidFill>
                  </a:rPr>
                  <a:t>Maximum number of activities we can schedule?</a:t>
                </a:r>
              </a:p>
              <a:p>
                <a:pPr>
                  <a:spcBef>
                    <a:spcPts val="600"/>
                  </a:spcBef>
                </a:pPr>
                <a:endParaRPr lang="en-US" sz="2400" dirty="0">
                  <a:solidFill>
                    <a:srgbClr val="C00000"/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400" dirty="0"/>
                  <a:t>The “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</a:rPr>
                  <a:t>greedy</a:t>
                </a:r>
                <a:r>
                  <a:rPr lang="en-US" sz="2400" dirty="0"/>
                  <a:t>” strategy: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1800" dirty="0"/>
                  <a:t>Let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sz="1800" dirty="0"/>
              </a:p>
              <a:p>
                <a:pPr lvl="1">
                  <a:spcBef>
                    <a:spcPts val="600"/>
                  </a:spcBef>
                </a:pPr>
                <a:r>
                  <a:rPr lang="en-US" sz="1800" dirty="0"/>
                  <a:t>Find the activity that finishes first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1800" dirty="0"/>
                  <a:t>, call it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1800" dirty="0"/>
                  <a:t>. (</a:t>
                </a:r>
                <a:r>
                  <a:rPr lang="en-US" sz="1800" b="1" dirty="0">
                    <a:solidFill>
                      <a:srgbClr val="C00000"/>
                    </a:solidFill>
                  </a:rPr>
                  <a:t>Greedy Step!</a:t>
                </a:r>
                <a:r>
                  <a:rPr lang="en-US" sz="1800" dirty="0"/>
                  <a:t>)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1800" dirty="0"/>
                  <a:t>Add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1800" dirty="0"/>
                  <a:t> to the solution, remove from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1800" dirty="0"/>
                  <a:t> the activities that overlap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1800" dirty="0"/>
                  <a:t>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1800" dirty="0"/>
                  <a:t>Repeat above two steps until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1800" dirty="0"/>
                  <a:t> is empty.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200" dirty="0"/>
                  <a:t>Complexity: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200" dirty="0"/>
                  <a:t>, implying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sz="2200" dirty="0"/>
              </a:p>
              <a:p>
                <a:pPr>
                  <a:spcBef>
                    <a:spcPts val="600"/>
                  </a:spcBef>
                </a:pPr>
                <a:r>
                  <a:rPr lang="en-US" sz="2200" dirty="0"/>
                  <a:t>But we can have a better implementation!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A4E79AA-33E6-412E-91E1-BDF177BB15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7674"/>
                <a:ext cx="7886700" cy="4795200"/>
              </a:xfrm>
              <a:blipFill>
                <a:blip r:embed="rId2"/>
                <a:stretch>
                  <a:fillRect l="-1005" t="-17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CD866477-58B6-43DE-8E38-6E0C1E72ED8F}"/>
                  </a:ext>
                </a:extLst>
              </p:cNvPr>
              <p:cNvSpPr/>
              <p:nvPr/>
            </p:nvSpPr>
            <p:spPr>
              <a:xfrm>
                <a:off x="628650" y="3753169"/>
                <a:ext cx="7621270" cy="251459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>
                  <a:spcAft>
                    <a:spcPts val="600"/>
                  </a:spcAft>
                </a:pPr>
                <a:r>
                  <a:rPr lang="en-GB" sz="2000" b="1" u="sng" dirty="0">
                    <a:solidFill>
                      <a:schemeClr val="tx1"/>
                    </a:solidFill>
                  </a:rPr>
                  <a:t>ActivitySelection(S):</a:t>
                </a:r>
              </a:p>
              <a:p>
                <a:pPr>
                  <a:lnSpc>
                    <a:spcPct val="90000"/>
                  </a:lnSpc>
                </a:pPr>
                <a:r>
                  <a:rPr lang="en-GB" sz="20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Sort S into increasing order of finish time</a:t>
                </a:r>
              </a:p>
              <a:p>
                <a:pPr>
                  <a:lnSpc>
                    <a:spcPct val="90000"/>
                  </a:lnSpc>
                </a:pPr>
                <a:r>
                  <a:rPr lang="en-GB" sz="20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SOL = {a</a:t>
                </a:r>
                <a:r>
                  <a:rPr lang="en-GB" sz="2000" baseline="-250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1</a:t>
                </a:r>
                <a:r>
                  <a:rPr lang="en-GB" sz="20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}, a’ = a</a:t>
                </a:r>
                <a:r>
                  <a:rPr lang="en-GB" sz="2000" baseline="-250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1</a:t>
                </a:r>
                <a:endParaRPr lang="en-GB" sz="2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GB" sz="20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for (</a:t>
                </a:r>
                <a:r>
                  <a:rPr lang="en-GB" sz="20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</a:t>
                </a:r>
                <a:r>
                  <a:rPr lang="en-GB" sz="20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=2 to n)</a:t>
                </a:r>
              </a:p>
              <a:p>
                <a:pPr>
                  <a:lnSpc>
                    <a:spcPct val="90000"/>
                  </a:lnSpc>
                </a:pPr>
                <a:r>
                  <a:rPr lang="en-GB" sz="20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if (</a:t>
                </a:r>
                <a:r>
                  <a:rPr lang="en-GB" sz="20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a</a:t>
                </a:r>
                <a:r>
                  <a:rPr lang="en-GB" sz="2000" baseline="-250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</a:t>
                </a:r>
                <a:r>
                  <a:rPr lang="en-GB" sz="20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.start_time</a:t>
                </a:r>
                <a:r>
                  <a:rPr lang="en-GB" sz="20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&gt; a’.</a:t>
                </a:r>
                <a:r>
                  <a:rPr lang="en-GB" sz="20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finish_time</a:t>
                </a:r>
                <a:r>
                  <a:rPr lang="en-GB" sz="20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</a:p>
              <a:p>
                <a:pPr>
                  <a:lnSpc>
                    <a:spcPct val="90000"/>
                  </a:lnSpc>
                </a:pPr>
                <a:r>
                  <a:rPr lang="en-GB" sz="20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  SOL = SOL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∪</m:t>
                    </m:r>
                  </m:oMath>
                </a14:m>
                <a:r>
                  <a:rPr lang="en-GB" sz="20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{a</a:t>
                </a:r>
                <a:r>
                  <a:rPr lang="en-GB" sz="2000" baseline="-250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</a:t>
                </a:r>
                <a:r>
                  <a:rPr lang="en-GB" sz="20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}</a:t>
                </a:r>
              </a:p>
              <a:p>
                <a:pPr>
                  <a:lnSpc>
                    <a:spcPct val="90000"/>
                  </a:lnSpc>
                </a:pPr>
                <a:r>
                  <a:rPr lang="en-GB" sz="20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  a’ = a</a:t>
                </a:r>
                <a:r>
                  <a:rPr lang="en-GB" sz="2000" baseline="-250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</a:t>
                </a:r>
                <a:endParaRPr lang="en-GB" sz="2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GB" sz="20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return SOL</a:t>
                </a:r>
              </a:p>
            </p:txBody>
          </p:sp>
        </mc:Choice>
        <mc:Fallback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CD866477-58B6-43DE-8E38-6E0C1E72ED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3753169"/>
                <a:ext cx="7621270" cy="2514599"/>
              </a:xfrm>
              <a:prstGeom prst="rect">
                <a:avLst/>
              </a:prstGeom>
              <a:blipFill>
                <a:blip r:embed="rId3"/>
                <a:stretch>
                  <a:fillRect l="-719" t="-120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9691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99D0A823-DBB3-4A9E-A5D7-D4B31B5CA8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20" y="911530"/>
            <a:ext cx="6367631" cy="564454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9EFDC112-E81E-4079-BDC9-E1EF2D6D04E4}"/>
                  </a:ext>
                </a:extLst>
              </p:cNvPr>
              <p:cNvSpPr/>
              <p:nvPr/>
            </p:nvSpPr>
            <p:spPr>
              <a:xfrm>
                <a:off x="3371850" y="166689"/>
                <a:ext cx="5548630" cy="194659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>
                  <a:spcAft>
                    <a:spcPts val="600"/>
                  </a:spcAft>
                </a:pPr>
                <a:r>
                  <a:rPr lang="en-GB" sz="1600" b="1" u="sng" dirty="0">
                    <a:solidFill>
                      <a:schemeClr val="tx1"/>
                    </a:solidFill>
                  </a:rPr>
                  <a:t>ActivitySelection(S):</a:t>
                </a:r>
              </a:p>
              <a:p>
                <a:pPr>
                  <a:lnSpc>
                    <a:spcPct val="90000"/>
                  </a:lnSpc>
                </a:pP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Sort S into increasing order of finish time</a:t>
                </a:r>
              </a:p>
              <a:p>
                <a:pPr>
                  <a:lnSpc>
                    <a:spcPct val="90000"/>
                  </a:lnSpc>
                </a:pP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SOL = {a</a:t>
                </a:r>
                <a:r>
                  <a:rPr lang="en-GB" sz="1600" baseline="-250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1</a:t>
                </a: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}, a’ = a</a:t>
                </a:r>
                <a:r>
                  <a:rPr lang="en-GB" sz="1600" baseline="-250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1</a:t>
                </a:r>
                <a:endParaRPr lang="en-GB" sz="16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for (</a:t>
                </a:r>
                <a:r>
                  <a:rPr lang="en-GB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</a:t>
                </a: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=2 to n)</a:t>
                </a:r>
              </a:p>
              <a:p>
                <a:pPr>
                  <a:lnSpc>
                    <a:spcPct val="90000"/>
                  </a:lnSpc>
                </a:pP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if (</a:t>
                </a:r>
                <a:r>
                  <a:rPr lang="en-GB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a</a:t>
                </a:r>
                <a:r>
                  <a:rPr lang="en-GB" sz="1600" baseline="-250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</a:t>
                </a:r>
                <a:r>
                  <a:rPr lang="en-GB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.start_time</a:t>
                </a: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&gt; a’.</a:t>
                </a:r>
                <a:r>
                  <a:rPr lang="en-GB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finish_time</a:t>
                </a: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</a:p>
              <a:p>
                <a:pPr>
                  <a:lnSpc>
                    <a:spcPct val="90000"/>
                  </a:lnSpc>
                </a:pP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  SOL = SOL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∪</m:t>
                    </m:r>
                  </m:oMath>
                </a14:m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{a</a:t>
                </a:r>
                <a:r>
                  <a:rPr lang="en-GB" sz="1600" baseline="-250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</a:t>
                </a: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}</a:t>
                </a:r>
              </a:p>
              <a:p>
                <a:pPr>
                  <a:lnSpc>
                    <a:spcPct val="90000"/>
                  </a:lnSpc>
                </a:pP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  a’ = a</a:t>
                </a:r>
                <a:r>
                  <a:rPr lang="en-GB" sz="1600" baseline="-250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</a:t>
                </a:r>
                <a:endParaRPr lang="en-GB" sz="16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return SOL</a:t>
                </a:r>
              </a:p>
            </p:txBody>
          </p:sp>
        </mc:Choice>
        <mc:Fallback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9EFDC112-E81E-4079-BDC9-E1EF2D6D04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1850" y="166689"/>
                <a:ext cx="5548630" cy="1946591"/>
              </a:xfrm>
              <a:prstGeom prst="rect">
                <a:avLst/>
              </a:prstGeom>
              <a:blipFill>
                <a:blip r:embed="rId3"/>
                <a:stretch>
                  <a:fillRect l="-439" t="-621" b="-403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>
            <a:extLst>
              <a:ext uri="{FF2B5EF4-FFF2-40B4-BE49-F238E27FC236}">
                <a16:creationId xmlns:a16="http://schemas.microsoft.com/office/drawing/2014/main" id="{DCEE4009-5E3E-4EC8-A9AC-C81B6E63FE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6486" y="2361095"/>
            <a:ext cx="3713994" cy="131572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58003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1AD75D-7EF5-4FC1-B41A-5B53D737C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Greedy strategy for the activity-selection problem</a:t>
            </a:r>
            <a:br>
              <a:rPr lang="en-US" dirty="0"/>
            </a:br>
            <a:r>
              <a:rPr lang="en-US" dirty="0"/>
              <a:t>Correctness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8A872A5-E940-4D80-B1F3-54970431E6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dirty="0"/>
                  <a:t>The Greedy Algorithm for the Activity-Selection Problem:</a:t>
                </a:r>
              </a:p>
              <a:p>
                <a:pPr lvl="1">
                  <a:spcBef>
                    <a:spcPts val="400"/>
                  </a:spcBef>
                </a:pPr>
                <a:r>
                  <a:rPr lang="en-US" sz="1800" dirty="0"/>
                  <a:t>Add earliest finish activity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1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/>
                  <a:t>to solution, remove ones overlapping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1800" dirty="0"/>
                  <a:t>.</a:t>
                </a:r>
              </a:p>
              <a:p>
                <a:pPr lvl="1">
                  <a:spcBef>
                    <a:spcPts val="400"/>
                  </a:spcBef>
                </a:pPr>
                <a:r>
                  <a:rPr lang="en-US" sz="1800" dirty="0"/>
                  <a:t>Repeat until all activities are processed.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rgbClr val="C00000"/>
                    </a:solidFill>
                  </a:rPr>
                  <a:t>How to formally prove this algorithm is correct?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accent6">
                        <a:lumMod val="75000"/>
                      </a:schemeClr>
                    </a:solidFill>
                  </a:rPr>
                  <a:t>Lemma 1: 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</a:rPr>
                  <a:t>let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</a:rPr>
                  <a:t> be the earliest finishing activity in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</a:rPr>
                  <a:t>,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</a:rPr>
                  <a:t> is in some optimal solution of the problem.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/>
                  <a:t>Proof: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𝑂𝑃𝑇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US" sz="2000" dirty="0"/>
                  <a:t> be an optimal solution to the problem, </a:t>
                </a:r>
                <a:br>
                  <a:rPr lang="en-US" sz="2000" dirty="0"/>
                </a:br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000" dirty="0"/>
                  <a:t> be the earliest finishing activity in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𝑂𝑃𝑇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US" sz="20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Assume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𝑂𝑃𝑇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US" sz="2000" dirty="0"/>
                  <a:t>, otherwise we are done.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Then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𝑆𝑂𝐿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𝑂𝑃𝑇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000" dirty="0"/>
                  <a:t> is also a feasible solution, </a:t>
                </a:r>
                <a:br>
                  <a:rPr lang="en-US" sz="2000" dirty="0"/>
                </a:br>
                <a:r>
                  <a:rPr lang="en-US" sz="2000" dirty="0"/>
                  <a:t>and it has same size as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𝑂𝑃𝑇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US" sz="20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So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𝑆𝑂𝐿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US" sz="2000" dirty="0"/>
                  <a:t> is also an optimal solution.</a:t>
                </a:r>
              </a:p>
              <a:p>
                <a:pPr>
                  <a:spcBef>
                    <a:spcPts val="600"/>
                  </a:spcBef>
                </a:pPr>
                <a:endParaRPr lang="en-US" sz="2200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8A872A5-E940-4D80-B1F3-54970431E6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  <a:blipFill>
                <a:blip r:embed="rId2"/>
                <a:stretch>
                  <a:fillRect l="-1005" t="-17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4182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1AD75D-7EF5-4FC1-B41A-5B53D737C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Greedy strategy for the activity-selection problem</a:t>
            </a:r>
            <a:br>
              <a:rPr lang="en-US" dirty="0"/>
            </a:br>
            <a:r>
              <a:rPr lang="en-US" dirty="0"/>
              <a:t>Correctness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8A872A5-E940-4D80-B1F3-54970431E6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dirty="0"/>
                  <a:t>The Greedy Algorithm for the Activity-Selection Problem:</a:t>
                </a:r>
              </a:p>
              <a:p>
                <a:pPr lvl="1">
                  <a:spcBef>
                    <a:spcPts val="400"/>
                  </a:spcBef>
                </a:pPr>
                <a:r>
                  <a:rPr lang="en-US" sz="1800" dirty="0"/>
                  <a:t>Add earliest finish activity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1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/>
                  <a:t>to solution, remove ones overlapping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1800" dirty="0"/>
                  <a:t>.</a:t>
                </a:r>
              </a:p>
              <a:p>
                <a:pPr lvl="1">
                  <a:spcBef>
                    <a:spcPts val="400"/>
                  </a:spcBef>
                </a:pPr>
                <a:r>
                  <a:rPr lang="en-US" sz="1800" dirty="0"/>
                  <a:t>Repeat until all activities are processed.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rgbClr val="C00000"/>
                    </a:solidFill>
                  </a:rPr>
                  <a:t>How to formally prove this algorithm is correct?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accent6">
                        <a:lumMod val="75000"/>
                      </a:schemeClr>
                    </a:solidFill>
                  </a:rPr>
                  <a:t>Lemma 2: 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</a:rPr>
                  <a:t>let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</a:rPr>
                  <a:t> be the earliest finishing activity in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</a:rPr>
                  <a:t>, let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4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</a:rPr>
                  <a:t> be the activities starting after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</a:rPr>
                  <a:t>, then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𝑂𝑃𝑇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24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</a:rPr>
                  <a:t> is an optimal solution of the problem.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/>
                  <a:t>Proof: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tx1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𝑂𝑃𝑇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be an optimal solution to the original problem, </a:t>
                </a:r>
                <a:br>
                  <a:rPr lang="en-US" sz="2000" dirty="0">
                    <a:solidFill>
                      <a:schemeClr val="tx1"/>
                    </a:solidFill>
                  </a:rPr>
                </a:br>
                <a:r>
                  <a:rPr lang="en-US" sz="2000" dirty="0">
                    <a:solidFill>
                      <a:schemeClr val="tx1"/>
                    </a:solidFill>
                  </a:rPr>
                  <a:t>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𝑂𝑃𝑇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. </a:t>
                </a:r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(Lemma 1 ensures such solution exists.)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tx1"/>
                    </a:solidFill>
                  </a:rPr>
                  <a:t>Thus,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𝑂𝑃𝑇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𝑆𝑂𝐿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tx1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𝑂𝑃𝑇</m:t>
                    </m:r>
                    <m:d>
                      <m:d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{"/>
                        <m:endChr m:val="}"/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is not an optimal solution to the original problem,</a:t>
                </a:r>
                <a:br>
                  <a:rPr lang="en-US" sz="2000" dirty="0">
                    <a:solidFill>
                      <a:schemeClr val="tx1"/>
                    </a:solidFill>
                  </a:rPr>
                </a:br>
                <a:r>
                  <a:rPr lang="en-US" sz="2000" dirty="0">
                    <a:solidFill>
                      <a:schemeClr val="tx1"/>
                    </a:solidFill>
                  </a:rPr>
                  <a:t>then it must be the case that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𝑆𝑂𝐿</m:t>
                        </m:r>
                        <m:d>
                          <m:d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p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e>
                    </m:d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d>
                      <m:dPr>
                        <m:begChr m:val="|"/>
                        <m:endChr m:val="|"/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𝑂𝑃𝑇</m:t>
                        </m:r>
                        <m:d>
                          <m:d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p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tx1"/>
                    </a:solidFill>
                  </a:rPr>
                  <a:t>But this contradicts that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𝑂𝑃𝑇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is an optimal solution for problem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8A872A5-E940-4D80-B1F3-54970431E6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  <a:blipFill>
                <a:blip r:embed="rId2"/>
                <a:stretch>
                  <a:fillRect l="-1005" t="-1777" r="-464" b="-30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2128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421" end="5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548" end="59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590" end="7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1AD75D-7EF5-4FC1-B41A-5B53D737C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Greedy strategy for the activity-selection problem</a:t>
            </a:r>
            <a:br>
              <a:rPr lang="en-US" dirty="0"/>
            </a:br>
            <a:r>
              <a:rPr lang="en-US" dirty="0"/>
              <a:t>Correctness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8A872A5-E940-4D80-B1F3-54970431E6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dirty="0"/>
                  <a:t>The Greedy Algorithm for the Activity-Selection Problem:</a:t>
                </a:r>
              </a:p>
              <a:p>
                <a:pPr lvl="1">
                  <a:spcBef>
                    <a:spcPts val="400"/>
                  </a:spcBef>
                </a:pPr>
                <a:r>
                  <a:rPr lang="en-US" sz="1800" dirty="0"/>
                  <a:t>Add earliest finish activity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1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/>
                  <a:t>to solution, remove ones overlapping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1800" dirty="0"/>
                  <a:t>.</a:t>
                </a:r>
              </a:p>
              <a:p>
                <a:pPr lvl="1">
                  <a:spcBef>
                    <a:spcPts val="400"/>
                  </a:spcBef>
                </a:pPr>
                <a:r>
                  <a:rPr lang="en-US" sz="1800" dirty="0"/>
                  <a:t>Repeat until all activities are processed.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rgbClr val="C00000"/>
                    </a:solidFill>
                  </a:rPr>
                  <a:t>How to formally prove this algorithm is correct?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Lemma 1</a:t>
                </a:r>
                <a:r>
                  <a:rPr lang="en-US" sz="2000" b="1" dirty="0">
                    <a:solidFill>
                      <a:schemeClr val="tx1"/>
                    </a:solidFill>
                  </a:rPr>
                  <a:t>: </a:t>
                </a:r>
                <a:r>
                  <a:rPr lang="en-US" sz="2000" dirty="0">
                    <a:solidFill>
                      <a:schemeClr val="tx1"/>
                    </a:solidFill>
                  </a:rPr>
                  <a:t>let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be the earliest finishing activity in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,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is in some optimal solution of the problem.</a:t>
                </a:r>
                <a:endParaRPr lang="en-US" sz="2000" b="1" dirty="0">
                  <a:solidFill>
                    <a:schemeClr val="tx1"/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Lemma 2</a:t>
                </a:r>
                <a:r>
                  <a:rPr lang="en-US" sz="2000" b="1" dirty="0">
                    <a:solidFill>
                      <a:schemeClr val="tx1"/>
                    </a:solidFill>
                  </a:rPr>
                  <a:t>: </a:t>
                </a:r>
                <a:r>
                  <a:rPr lang="en-US" sz="2000" dirty="0">
                    <a:solidFill>
                      <a:schemeClr val="tx1"/>
                    </a:solidFill>
                  </a:rPr>
                  <a:t>let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be the earliest finishing activity in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, let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be the activities starting after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, then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𝑂𝑃𝑇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is an optimal solution of the problem.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accent6">
                        <a:lumMod val="75000"/>
                      </a:schemeClr>
                    </a:solidFill>
                  </a:rPr>
                  <a:t>Theorem</a:t>
                </a:r>
                <a:r>
                  <a:rPr lang="en-US" sz="2400" b="1" dirty="0"/>
                  <a:t>: </a:t>
                </a:r>
                <a:r>
                  <a:rPr lang="en-US" sz="2400" dirty="0"/>
                  <a:t>The greedy algorithm is correct.</a:t>
                </a:r>
              </a:p>
              <a:p>
                <a:pPr>
                  <a:spcBef>
                    <a:spcPts val="0"/>
                  </a:spcBef>
                </a:pPr>
                <a:r>
                  <a:rPr lang="en-US" sz="2000" b="1" dirty="0">
                    <a:solidFill>
                      <a:schemeClr val="tx1"/>
                    </a:solidFill>
                  </a:rPr>
                  <a:t>Proof:</a:t>
                </a:r>
              </a:p>
              <a:p>
                <a:pPr>
                  <a:spcBef>
                    <a:spcPts val="0"/>
                  </a:spcBef>
                </a:pPr>
                <a:r>
                  <a:rPr lang="en-US" sz="2000" dirty="0">
                    <a:solidFill>
                      <a:schemeClr val="tx1"/>
                    </a:solidFill>
                  </a:rPr>
                  <a:t>By induction on size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</a:rPr>
                  <a:t>.</a:t>
                </a:r>
              </a:p>
              <a:p>
                <a:pPr>
                  <a:spcBef>
                    <a:spcPts val="0"/>
                  </a:spcBef>
                </a:pPr>
                <a:r>
                  <a:rPr lang="en-US" sz="1800" dirty="0"/>
                  <a:t>When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</a:rPr>
                  <a:t>, the algorithm clearly is correct.</a:t>
                </a:r>
              </a:p>
              <a:p>
                <a:pPr>
                  <a:spcBef>
                    <a:spcPts val="0"/>
                  </a:spcBef>
                </a:pPr>
                <a:r>
                  <a:rPr lang="en-US" sz="1800" dirty="0"/>
                  <a:t>When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</a:rPr>
                  <a:t>. Due to Lemma 2,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𝑂𝑃𝑇</m:t>
                    </m:r>
                    <m:d>
                      <m:d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𝑂𝑃𝑇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{"/>
                        <m:endChr m:val="}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800" dirty="0">
                    <a:solidFill>
                      <a:schemeClr val="tx1"/>
                    </a:solidFill>
                  </a:rPr>
                  <a:t>. </a:t>
                </a:r>
                <a:br>
                  <a:rPr lang="en-US" sz="1800" dirty="0">
                    <a:solidFill>
                      <a:schemeClr val="tx1"/>
                    </a:solidFill>
                  </a:rPr>
                </a:br>
                <a:r>
                  <a:rPr lang="en-US" sz="1800" dirty="0">
                    <a:solidFill>
                      <a:schemeClr val="tx1"/>
                    </a:solidFill>
                  </a:rPr>
                  <a:t>By inductive hypothesis, the algorithm correctly finds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𝑂𝑃𝑇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800" dirty="0">
                    <a:solidFill>
                      <a:schemeClr val="tx1"/>
                    </a:solidFill>
                  </a:rPr>
                  <a:t>. So we are done.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8A872A5-E940-4D80-B1F3-54970431E6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  <a:blipFill>
                <a:blip r:embed="rId2"/>
                <a:stretch>
                  <a:fillRect l="-1005" t="-1777" r="-10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9249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F001BB-97C2-4139-B4A5-47D40D51B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Elements of the Greedy Strategy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E0BD05-2B87-4541-B38F-89B1E9922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8"/>
            <a:ext cx="7886700" cy="4802185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sz="2400" dirty="0"/>
              <a:t>If an (optimization) problem has following two properties,</a:t>
            </a:r>
            <a:br>
              <a:rPr lang="en-US" sz="2400" dirty="0"/>
            </a:br>
            <a:r>
              <a:rPr lang="en-US" sz="2400" dirty="0"/>
              <a:t>then the greedy strategy usually works for it:</a:t>
            </a:r>
          </a:p>
          <a:p>
            <a:pPr>
              <a:spcBef>
                <a:spcPts val="600"/>
              </a:spcBef>
            </a:pPr>
            <a:r>
              <a:rPr lang="en-US" sz="3200" b="1" dirty="0">
                <a:solidFill>
                  <a:srgbClr val="C00000"/>
                </a:solidFill>
              </a:rPr>
              <a:t>Optimal substructure;</a:t>
            </a:r>
          </a:p>
          <a:p>
            <a:pPr>
              <a:spcBef>
                <a:spcPts val="600"/>
              </a:spcBef>
            </a:pPr>
            <a:r>
              <a:rPr lang="en-US" sz="3200" b="1" dirty="0">
                <a:solidFill>
                  <a:srgbClr val="C00000"/>
                </a:solidFill>
              </a:rPr>
              <a:t>Greedy property.</a:t>
            </a:r>
            <a:endParaRPr lang="en-US" sz="32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55170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F001BB-97C2-4139-B4A5-47D40D51B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Elements of the Greedy Strategy</a:t>
            </a:r>
            <a:br>
              <a:rPr lang="en-US" dirty="0"/>
            </a:br>
            <a:r>
              <a:rPr lang="en-US" dirty="0"/>
              <a:t>Optimal Substructure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CE0BD05-2B87-4541-B38F-89B1E9922A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altLang="zh-CN" sz="2000" dirty="0">
                    <a:solidFill>
                      <a:schemeClr val="accent1">
                        <a:lumMod val="75000"/>
                      </a:schemeClr>
                    </a:solidFill>
                  </a:rPr>
                  <a:t>A problem exhibits </a:t>
                </a:r>
                <a:r>
                  <a:rPr lang="en-US" altLang="zh-CN" sz="2000" b="1" dirty="0">
                    <a:solidFill>
                      <a:srgbClr val="C00000"/>
                    </a:solidFill>
                  </a:rPr>
                  <a:t>optimal substructure</a:t>
                </a:r>
                <a:r>
                  <a:rPr lang="en-US" altLang="zh-CN" sz="2000" dirty="0">
                    <a:solidFill>
                      <a:schemeClr val="accent1">
                        <a:lumMod val="75000"/>
                      </a:schemeClr>
                    </a:solidFill>
                  </a:rPr>
                  <a:t> if an optimal solution to the problem contains within it optimal solution(s) to subproblem(s).</a:t>
                </a:r>
              </a:p>
              <a:p>
                <a:pPr>
                  <a:spcBef>
                    <a:spcPts val="600"/>
                  </a:spcBef>
                </a:pPr>
                <a:endParaRPr lang="en-US" altLang="zh-CN" sz="2000" dirty="0"/>
              </a:p>
              <a:p>
                <a:pPr>
                  <a:spcBef>
                    <a:spcPts val="600"/>
                  </a:spcBef>
                </a:pPr>
                <a:r>
                  <a:rPr lang="en-US" altLang="zh-CN" sz="2000" dirty="0"/>
                  <a:t>Size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2000" dirty="0"/>
                  <a:t> problem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000" dirty="0"/>
                  <a:t>, and optimal solution of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dirty="0"/>
                  <a:t> </a:t>
                </a:r>
                <a:r>
                  <a:rPr lang="en-US" altLang="zh-CN" sz="2000" dirty="0"/>
                  <a:t>is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𝑂𝑃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</m:oMath>
                </a14:m>
                <a:endParaRPr lang="en-US" altLang="zh-CN" sz="2000" dirty="0"/>
              </a:p>
              <a:p>
                <a:pPr>
                  <a:spcBef>
                    <a:spcPts val="600"/>
                  </a:spcBef>
                </a:pPr>
                <a:r>
                  <a:rPr lang="en-US" altLang="zh-CN" sz="2000" dirty="0"/>
                  <a:t>Solving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000" dirty="0"/>
                  <a:t> needs to solve size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2000" dirty="0"/>
                  <a:t> subproblem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endParaRPr lang="en-US" altLang="zh-CN" sz="2000" dirty="0"/>
              </a:p>
              <a:p>
                <a:pPr>
                  <a:spcBef>
                    <a:spcPts val="600"/>
                  </a:spcBef>
                </a:pPr>
                <a:r>
                  <a:rPr lang="en-US" altLang="zh-CN" sz="2000" dirty="0"/>
                  <a:t>Optimal solution of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CN" sz="2000" dirty="0"/>
                  <a:t>: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𝑂𝑃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sub>
                    </m:sSub>
                  </m:oMath>
                </a14:m>
                <a:endParaRPr lang="en-US" altLang="zh-CN" sz="2000" dirty="0"/>
              </a:p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𝑂𝑃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</m:oMath>
                </a14:m>
                <a:r>
                  <a:rPr lang="zh-CN" altLang="en-US" sz="2000" dirty="0"/>
                  <a:t> </a:t>
                </a:r>
                <a:r>
                  <a:rPr lang="en-US" altLang="zh-CN" sz="2000" dirty="0"/>
                  <a:t>contains a solution of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CN" sz="2000" dirty="0"/>
                  <a:t>: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𝑆𝑂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sub>
                    </m:sSub>
                  </m:oMath>
                </a14:m>
                <a:endParaRPr lang="en-US" altLang="zh-CN" sz="2000" dirty="0"/>
              </a:p>
              <a:p>
                <a:pPr>
                  <a:spcBef>
                    <a:spcPts val="600"/>
                  </a:spcBef>
                </a:pPr>
                <a:r>
                  <a:rPr lang="en-US" altLang="zh-CN" sz="2000" b="1" dirty="0">
                    <a:solidFill>
                      <a:srgbClr val="C00000"/>
                    </a:solidFill>
                  </a:rPr>
                  <a:t>Optimal Substructure Property</a:t>
                </a:r>
                <a:r>
                  <a:rPr lang="en-US" altLang="zh-CN" sz="2000" dirty="0">
                    <a:solidFill>
                      <a:srgbClr val="C00000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𝑆𝑂</m:t>
                    </m:r>
                    <m:sSub>
                      <m:sSubPr>
                        <m:ctrlP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2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altLang="zh-CN" sz="2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sub>
                    </m:sSub>
                    <m:r>
                      <a:rPr lang="en-US" altLang="zh-CN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000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𝑂𝑃</m:t>
                    </m:r>
                    <m:sSub>
                      <m:sSubPr>
                        <m:ctrlP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2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altLang="zh-CN" sz="2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sub>
                    </m:sSub>
                  </m:oMath>
                </a14:m>
                <a:br>
                  <a:rPr lang="en-US" altLang="zh-CN" sz="2000" dirty="0"/>
                </a:br>
                <a:r>
                  <a:rPr lang="en-US" altLang="zh-CN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(Or these two solutions provide same “utility” under certain metric.)</a:t>
                </a:r>
              </a:p>
              <a:p>
                <a:pPr>
                  <a:spcBef>
                    <a:spcPts val="600"/>
                  </a:spcBef>
                </a:pPr>
                <a:endParaRPr lang="en-US" altLang="zh-CN" sz="2000" dirty="0">
                  <a:solidFill>
                    <a:schemeClr val="tx1"/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altLang="zh-CN" sz="1800" b="1" dirty="0"/>
                  <a:t>Example:</a:t>
                </a:r>
                <a:r>
                  <a:rPr lang="en-US" altLang="zh-CN" sz="1800" dirty="0"/>
                  <a:t> </a:t>
                </a:r>
                <a:r>
                  <a:rPr lang="en-US" altLang="zh-CN" sz="1800" dirty="0">
                    <a:solidFill>
                      <a:schemeClr val="accent6">
                        <a:lumMod val="75000"/>
                      </a:schemeClr>
                    </a:solidFill>
                  </a:rPr>
                  <a:t>Lemma 2</a:t>
                </a:r>
                <a:r>
                  <a:rPr lang="en-US" altLang="zh-CN" sz="1800" dirty="0"/>
                  <a:t> in activity selection: </a:t>
                </a:r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let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18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be the earliest finishing activity in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let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18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be the activities starting after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18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then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𝑂𝑃𝑇</m:t>
                    </m:r>
                    <m:d>
                      <m:dPr>
                        <m:ctrlPr>
                          <a:rPr lang="en-US" sz="18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8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en-US" sz="18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18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{"/>
                        <m:endChr m:val="}"/>
                        <m:ctrlPr>
                          <a:rPr lang="en-US" sz="18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8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18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is some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𝑂𝑃𝑇</m:t>
                    </m:r>
                    <m:d>
                      <m:dPr>
                        <m:ctrlPr>
                          <a:rPr lang="en-US" sz="18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US" sz="18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altLang="zh-CN" sz="2000" dirty="0">
                    <a:solidFill>
                      <a:srgbClr val="C00000"/>
                    </a:solidFill>
                  </a:rPr>
                  <a:t>There are problems that do not exhibit optimal substructure property!</a:t>
                </a:r>
                <a:endParaRPr lang="zh-CN" alt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CE0BD05-2B87-4541-B38F-89B1E9922A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  <a:blipFill>
                <a:blip r:embed="rId2"/>
                <a:stretch>
                  <a:fillRect l="-696" t="-1269" r="-3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6017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F001BB-97C2-4139-B4A5-47D40D51B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Elements of the Greedy Strategy</a:t>
            </a:r>
            <a:br>
              <a:rPr lang="en-US" dirty="0"/>
            </a:br>
            <a:r>
              <a:rPr lang="en-US" dirty="0"/>
              <a:t>Greedy-Choice Property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CE0BD05-2B87-4541-B38F-89B1E9922A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</p:spPr>
            <p:txBody>
              <a:bodyPr>
                <a:noAutofit/>
              </a:bodyPr>
              <a:lstStyle/>
              <a:p>
                <a:r>
                  <a:rPr lang="en-US" altLang="zh-CN" sz="2000" dirty="0">
                    <a:solidFill>
                      <a:schemeClr val="accent1">
                        <a:lumMod val="75000"/>
                      </a:schemeClr>
                    </a:solidFill>
                  </a:rPr>
                  <a:t>At each step when building a solution, make the choice that looks best for the </a:t>
                </a:r>
                <a:r>
                  <a:rPr lang="en-US" altLang="zh-CN" sz="2000" i="1" u="sng" dirty="0">
                    <a:solidFill>
                      <a:schemeClr val="accent1">
                        <a:lumMod val="75000"/>
                      </a:schemeClr>
                    </a:solidFill>
                  </a:rPr>
                  <a:t>current</a:t>
                </a:r>
                <a:r>
                  <a:rPr lang="en-US" altLang="zh-CN" sz="2000" dirty="0">
                    <a:solidFill>
                      <a:schemeClr val="accent1">
                        <a:lumMod val="75000"/>
                      </a:schemeClr>
                    </a:solidFill>
                  </a:rPr>
                  <a:t> problem, </a:t>
                </a:r>
                <a:r>
                  <a:rPr lang="en-US" altLang="zh-CN" sz="2000" i="1" u="sng" dirty="0">
                    <a:solidFill>
                      <a:schemeClr val="accent1">
                        <a:lumMod val="75000"/>
                      </a:schemeClr>
                    </a:solidFill>
                  </a:rPr>
                  <a:t>without</a:t>
                </a:r>
                <a:r>
                  <a:rPr lang="en-US" altLang="zh-CN" sz="2000" dirty="0">
                    <a:solidFill>
                      <a:schemeClr val="accent1">
                        <a:lumMod val="75000"/>
                      </a:schemeClr>
                    </a:solidFill>
                  </a:rPr>
                  <a:t> considering results from subproblems. That is, make local </a:t>
                </a:r>
                <a:r>
                  <a:rPr lang="en-US" altLang="zh-CN" sz="2000" b="1" dirty="0">
                    <a:solidFill>
                      <a:srgbClr val="C00000"/>
                    </a:solidFill>
                  </a:rPr>
                  <a:t>greedy choice</a:t>
                </a:r>
                <a:r>
                  <a:rPr lang="en-US" altLang="zh-CN" sz="2000" b="1" dirty="0">
                    <a:solidFill>
                      <a:schemeClr val="accent1">
                        <a:lumMod val="75000"/>
                      </a:schemeClr>
                    </a:solidFill>
                  </a:rPr>
                  <a:t> </a:t>
                </a:r>
                <a:r>
                  <a:rPr lang="en-US" altLang="zh-CN" sz="2000" dirty="0">
                    <a:solidFill>
                      <a:schemeClr val="accent1">
                        <a:lumMod val="75000"/>
                      </a:schemeClr>
                    </a:solidFill>
                  </a:rPr>
                  <a:t>at each step.</a:t>
                </a:r>
              </a:p>
              <a:p>
                <a:pPr>
                  <a:spcBef>
                    <a:spcPts val="600"/>
                  </a:spcBef>
                </a:pPr>
                <a:endParaRPr lang="en-US" altLang="zh-CN" sz="2000" dirty="0"/>
              </a:p>
              <a:p>
                <a:pPr>
                  <a:spcBef>
                    <a:spcPts val="600"/>
                  </a:spcBef>
                </a:pPr>
                <a:r>
                  <a:rPr lang="en-US" altLang="zh-CN" sz="2000" dirty="0"/>
                  <a:t>To solve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000" dirty="0"/>
                  <a:t>, currently have 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sz="2000" dirty="0"/>
                  <a:t> choices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000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CN" sz="2000" dirty="0"/>
                  <a:t>. If we choose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000" dirty="0"/>
                  <a:t>, the problem is reduced to a smaller size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000" dirty="0"/>
                  <a:t> subproblem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US" altLang="zh-CN" sz="20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0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altLang="zh-CN" sz="2000" dirty="0"/>
                  <a:t>If the problem only admits optimal structure: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altLang="zh-CN" sz="1800" dirty="0"/>
                  <a:t>Find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1800" dirty="0"/>
                  <a:t> that maximize,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1800">
                        <a:latin typeface="Cambria Math" panose="02040503050406030204" pitchFamily="18" charset="0"/>
                      </a:rPr>
                      <m:t>Utility</m:t>
                    </m:r>
                    <m:d>
                      <m:d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𝑂𝑃</m:t>
                        </m:r>
                        <m:sSub>
                          <m:sSub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p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altLang="zh-CN" sz="18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sub>
                        </m:sSub>
                      </m:e>
                    </m:d>
                  </m:oMath>
                </a14:m>
                <a:r>
                  <a:rPr lang="en-US" altLang="zh-CN" sz="1800" dirty="0"/>
                  <a:t>.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altLang="zh-CN" sz="1800" dirty="0"/>
                  <a:t>We have to compute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𝑂𝑃</m:t>
                    </m:r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sSup>
                          <m:sSup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  <m:d>
                          <m:d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sub>
                    </m:sSub>
                  </m:oMath>
                </a14:m>
                <a:r>
                  <a:rPr lang="en-US" altLang="zh-CN" sz="1800" dirty="0"/>
                  <a:t> for all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1800" dirty="0"/>
                  <a:t> first.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altLang="zh-CN" sz="2000" dirty="0"/>
                  <a:t>With </a:t>
                </a:r>
                <a:r>
                  <a:rPr lang="en-US" altLang="zh-CN" sz="2000" dirty="0">
                    <a:solidFill>
                      <a:srgbClr val="C00000"/>
                    </a:solidFill>
                  </a:rPr>
                  <a:t>greedy choice</a:t>
                </a:r>
                <a:r>
                  <a:rPr lang="en-US" altLang="zh-CN" sz="2000" dirty="0"/>
                  <a:t>: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altLang="zh-CN" sz="1800" dirty="0"/>
                  <a:t>We </a:t>
                </a:r>
                <a:r>
                  <a:rPr lang="en-US" altLang="zh-CN" sz="1800" i="1" u="sng" dirty="0"/>
                  <a:t>have a way</a:t>
                </a:r>
                <a:r>
                  <a:rPr lang="en-US" altLang="zh-CN" sz="18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sz="1800" dirty="0"/>
                  <a:t>to pick correct </a:t>
                </a:r>
                <a14:m>
                  <m:oMath xmlns:m="http://schemas.openxmlformats.org/officeDocument/2006/math">
                    <m:r>
                      <a:rPr lang="en-US" altLang="zh-CN" sz="1800" i="1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1800" dirty="0"/>
                  <a:t>, without knowing any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𝑂𝑃</m:t>
                    </m:r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sSup>
                          <m:sSup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  <m:d>
                          <m:d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sub>
                    </m:sSub>
                  </m:oMath>
                </a14:m>
                <a:r>
                  <a:rPr lang="en-US" altLang="zh-CN" sz="18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endParaRPr lang="en-US" altLang="zh-CN" sz="2000" dirty="0">
                  <a:solidFill>
                    <a:schemeClr val="tx1"/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altLang="zh-CN" sz="1800" b="1" dirty="0">
                    <a:solidFill>
                      <a:schemeClr val="tx1"/>
                    </a:solidFill>
                  </a:rPr>
                  <a:t>Example:</a:t>
                </a:r>
                <a:r>
                  <a:rPr lang="en-US" altLang="zh-CN" sz="18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800" dirty="0">
                    <a:solidFill>
                      <a:schemeClr val="accent6">
                        <a:lumMod val="75000"/>
                      </a:schemeClr>
                    </a:solidFill>
                  </a:rPr>
                  <a:t>Lemma 1</a:t>
                </a:r>
                <a:r>
                  <a:rPr lang="en-US" altLang="zh-CN" sz="1800" dirty="0">
                    <a:solidFill>
                      <a:schemeClr val="tx1"/>
                    </a:solidFill>
                  </a:rPr>
                  <a:t> in activity selection: </a:t>
                </a:r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let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18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be the earliest finishing activity in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18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is in some optimal solution of the problem</a:t>
                </a:r>
                <a:r>
                  <a:rPr lang="en-US" sz="1800" dirty="0">
                    <a:solidFill>
                      <a:schemeClr val="tx1"/>
                    </a:solidFill>
                  </a:rPr>
                  <a:t>.</a:t>
                </a:r>
                <a:endParaRPr lang="zh-CN" alt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CE0BD05-2B87-4541-B38F-89B1E9922A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  <a:blipFill>
                <a:blip r:embed="rId2"/>
                <a:stretch>
                  <a:fillRect l="-696" t="-1269" r="-3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: 圆角 3">
            <a:extLst>
              <a:ext uri="{FF2B5EF4-FFF2-40B4-BE49-F238E27FC236}">
                <a16:creationId xmlns:a16="http://schemas.microsoft.com/office/drawing/2014/main" id="{3C00E93C-FD84-4D9D-914F-10F93800D54A}"/>
              </a:ext>
            </a:extLst>
          </p:cNvPr>
          <p:cNvSpPr/>
          <p:nvPr/>
        </p:nvSpPr>
        <p:spPr>
          <a:xfrm>
            <a:off x="1723315" y="4892295"/>
            <a:ext cx="1141805" cy="275017"/>
          </a:xfrm>
          <a:prstGeom prst="roundRect">
            <a:avLst>
              <a:gd name="adj" fmla="val 20601"/>
            </a:avLst>
          </a:prstGeom>
          <a:solidFill>
            <a:schemeClr val="accent2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669B025-B58E-4925-9D09-7CBF6A69B133}"/>
              </a:ext>
            </a:extLst>
          </p:cNvPr>
          <p:cNvSpPr txBox="1"/>
          <p:nvPr/>
        </p:nvSpPr>
        <p:spPr>
          <a:xfrm>
            <a:off x="2294217" y="5167312"/>
            <a:ext cx="65462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Identifying a greedy-choice property is the challenging part!</a:t>
            </a:r>
          </a:p>
        </p:txBody>
      </p:sp>
    </p:spTree>
    <p:extLst>
      <p:ext uri="{BB962C8B-B14F-4D97-AF65-F5344CB8AC3E}">
        <p14:creationId xmlns:p14="http://schemas.microsoft.com/office/powerpoint/2010/main" val="4086793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8" name="内容占位符 17">
                <a:extLst>
                  <a:ext uri="{FF2B5EF4-FFF2-40B4-BE49-F238E27FC236}">
                    <a16:creationId xmlns:a16="http://schemas.microsoft.com/office/drawing/2014/main" id="{D3D2F160-F981-48C4-B7A9-3A90A4036D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9"/>
                <a:ext cx="7886700" cy="4802184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dirty="0"/>
                  <a:t>A thief robbing a house finds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 items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/>
                  <a:t>Item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is worth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 dollars</a:t>
                </a:r>
                <a:r>
                  <a:rPr lang="en-US" sz="2400" dirty="0"/>
                  <a:t> and weighs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 pounds</a:t>
                </a:r>
                <a:r>
                  <a:rPr lang="en-US" sz="24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/>
                  <a:t>The thief can carry at most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 pounds</a:t>
                </a:r>
                <a:r>
                  <a:rPr lang="en-US" sz="2400" dirty="0"/>
                  <a:t> in his knapsack.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/>
                  <a:t>The thief can carry </a:t>
                </a:r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fraction of items</a:t>
                </a:r>
                <a:r>
                  <a:rPr lang="en-US" sz="24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chemeClr val="accent2">
                        <a:lumMod val="75000"/>
                      </a:schemeClr>
                    </a:solidFill>
                  </a:rPr>
                  <a:t>What should the thief take to maximize his profit?</a:t>
                </a:r>
              </a:p>
              <a:p>
                <a:pPr>
                  <a:spcBef>
                    <a:spcPts val="600"/>
                  </a:spcBef>
                </a:pPr>
                <a:endParaRPr lang="en-US" sz="2400" dirty="0">
                  <a:solidFill>
                    <a:schemeClr val="tx1"/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tx1"/>
                    </a:solidFill>
                  </a:rPr>
                  <a:t>A greedy strategy: </a:t>
                </a:r>
                <a:r>
                  <a:rPr lang="en-US" sz="2400" dirty="0">
                    <a:solidFill>
                      <a:schemeClr val="tx1"/>
                    </a:solidFill>
                  </a:rPr>
                  <a:t>keep taking the most</a:t>
                </a:r>
                <a:br>
                  <a:rPr lang="en-US" sz="2400" dirty="0">
                    <a:solidFill>
                      <a:schemeClr val="tx1"/>
                    </a:solidFill>
                  </a:rPr>
                </a:br>
                <a:r>
                  <a:rPr lang="en-US" sz="2400" dirty="0">
                    <a:solidFill>
                      <a:schemeClr val="tx1"/>
                    </a:solidFill>
                  </a:rPr>
                  <a:t>cost efficient item (i.e.,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lin"/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) </a:t>
                </a:r>
                <a:br>
                  <a:rPr lang="en-US" sz="2400" dirty="0">
                    <a:solidFill>
                      <a:schemeClr val="tx1"/>
                    </a:solidFill>
                  </a:rPr>
                </a:br>
                <a:r>
                  <a:rPr lang="en-US" sz="2400" dirty="0">
                    <a:solidFill>
                      <a:schemeClr val="tx1"/>
                    </a:solidFill>
                  </a:rPr>
                  <a:t>until the knapsack is full.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rgbClr val="C00000"/>
                    </a:solidFill>
                  </a:rPr>
                  <a:t>The greedy solution is optimal!</a:t>
                </a:r>
              </a:p>
            </p:txBody>
          </p:sp>
        </mc:Choice>
        <mc:Fallback>
          <p:sp>
            <p:nvSpPr>
              <p:cNvPr id="18" name="内容占位符 17">
                <a:extLst>
                  <a:ext uri="{FF2B5EF4-FFF2-40B4-BE49-F238E27FC236}">
                    <a16:creationId xmlns:a16="http://schemas.microsoft.com/office/drawing/2014/main" id="{D3D2F160-F981-48C4-B7A9-3A90A4036D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9"/>
                <a:ext cx="7886700" cy="4802184"/>
              </a:xfrm>
              <a:blipFill>
                <a:blip r:embed="rId3"/>
                <a:stretch>
                  <a:fillRect l="-1005" t="-17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标题 4">
            <a:extLst>
              <a:ext uri="{FF2B5EF4-FFF2-40B4-BE49-F238E27FC236}">
                <a16:creationId xmlns:a16="http://schemas.microsoft.com/office/drawing/2014/main" id="{224DB253-28F7-4DAD-943A-B0F7F91DF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Fractional Knapsack Problem</a:t>
            </a: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B0362D66-42B9-4CBD-8E4D-E4E3174BCD4F}"/>
              </a:ext>
            </a:extLst>
          </p:cNvPr>
          <p:cNvGrpSpPr/>
          <p:nvPr/>
        </p:nvGrpSpPr>
        <p:grpSpPr>
          <a:xfrm>
            <a:off x="6427489" y="4368796"/>
            <a:ext cx="2087860" cy="2124077"/>
            <a:chOff x="6427489" y="4368796"/>
            <a:chExt cx="2087860" cy="2124077"/>
          </a:xfrm>
        </p:grpSpPr>
        <p:pic>
          <p:nvPicPr>
            <p:cNvPr id="9" name="内容占位符 6">
              <a:extLst>
                <a:ext uri="{FF2B5EF4-FFF2-40B4-BE49-F238E27FC236}">
                  <a16:creationId xmlns:a16="http://schemas.microsoft.com/office/drawing/2014/main" id="{F07FE70C-624B-4A51-914F-296FB1C1A6D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8053"/>
            <a:stretch/>
          </p:blipFill>
          <p:spPr>
            <a:xfrm>
              <a:off x="7155446" y="4754878"/>
              <a:ext cx="1359903" cy="1737995"/>
            </a:xfrm>
            <a:prstGeom prst="rect">
              <a:avLst/>
            </a:prstGeom>
          </p:spPr>
        </p:pic>
        <p:pic>
          <p:nvPicPr>
            <p:cNvPr id="13" name="内容占位符 11">
              <a:extLst>
                <a:ext uri="{FF2B5EF4-FFF2-40B4-BE49-F238E27FC236}">
                  <a16:creationId xmlns:a16="http://schemas.microsoft.com/office/drawing/2014/main" id="{BB43363F-BA16-4060-82CB-61B14978694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764" t="40958" r="10647" b="24767"/>
            <a:stretch/>
          </p:blipFill>
          <p:spPr>
            <a:xfrm>
              <a:off x="7893011" y="4368797"/>
              <a:ext cx="622338" cy="278505"/>
            </a:xfrm>
            <a:prstGeom prst="rect">
              <a:avLst/>
            </a:prstGeom>
          </p:spPr>
        </p:pic>
        <p:pic>
          <p:nvPicPr>
            <p:cNvPr id="14" name="内容占位符 11">
              <a:extLst>
                <a:ext uri="{FF2B5EF4-FFF2-40B4-BE49-F238E27FC236}">
                  <a16:creationId xmlns:a16="http://schemas.microsoft.com/office/drawing/2014/main" id="{E8530AF1-BDE7-4174-B40E-B1FC0AF7510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764" t="40958" r="10647" b="24767"/>
            <a:stretch/>
          </p:blipFill>
          <p:spPr>
            <a:xfrm>
              <a:off x="7161909" y="4368796"/>
              <a:ext cx="622338" cy="278505"/>
            </a:xfrm>
            <a:prstGeom prst="rect">
              <a:avLst/>
            </a:prstGeom>
          </p:spPr>
        </p:pic>
        <p:pic>
          <p:nvPicPr>
            <p:cNvPr id="15" name="内容占位符 11">
              <a:extLst>
                <a:ext uri="{FF2B5EF4-FFF2-40B4-BE49-F238E27FC236}">
                  <a16:creationId xmlns:a16="http://schemas.microsoft.com/office/drawing/2014/main" id="{DB0439D3-DC6D-493A-BA38-29B4C4206EB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764" t="40958" r="10647" b="24767"/>
            <a:stretch/>
          </p:blipFill>
          <p:spPr>
            <a:xfrm>
              <a:off x="6427489" y="4872036"/>
              <a:ext cx="622338" cy="278505"/>
            </a:xfrm>
            <a:prstGeom prst="rect">
              <a:avLst/>
            </a:prstGeom>
          </p:spPr>
        </p:pic>
        <p:pic>
          <p:nvPicPr>
            <p:cNvPr id="16" name="内容占位符 11">
              <a:extLst>
                <a:ext uri="{FF2B5EF4-FFF2-40B4-BE49-F238E27FC236}">
                  <a16:creationId xmlns:a16="http://schemas.microsoft.com/office/drawing/2014/main" id="{205F0A77-81AC-4B4C-A4C5-0D10F9EEB07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764" t="40958" r="10647" b="24767"/>
            <a:stretch/>
          </p:blipFill>
          <p:spPr>
            <a:xfrm>
              <a:off x="6427489" y="5430834"/>
              <a:ext cx="622338" cy="278505"/>
            </a:xfrm>
            <a:prstGeom prst="rect">
              <a:avLst/>
            </a:prstGeom>
          </p:spPr>
        </p:pic>
        <p:pic>
          <p:nvPicPr>
            <p:cNvPr id="17" name="内容占位符 11">
              <a:extLst>
                <a:ext uri="{FF2B5EF4-FFF2-40B4-BE49-F238E27FC236}">
                  <a16:creationId xmlns:a16="http://schemas.microsoft.com/office/drawing/2014/main" id="{740DB95A-8B9C-4648-96AC-E79BB97F51D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764" t="40958" r="10647" b="24767"/>
            <a:stretch/>
          </p:blipFill>
          <p:spPr>
            <a:xfrm>
              <a:off x="6427489" y="5989632"/>
              <a:ext cx="622338" cy="278505"/>
            </a:xfrm>
            <a:prstGeom prst="rect">
              <a:avLst/>
            </a:prstGeom>
          </p:spPr>
        </p:pic>
        <p:pic>
          <p:nvPicPr>
            <p:cNvPr id="20" name="内容占位符 11">
              <a:extLst>
                <a:ext uri="{FF2B5EF4-FFF2-40B4-BE49-F238E27FC236}">
                  <a16:creationId xmlns:a16="http://schemas.microsoft.com/office/drawing/2014/main" id="{56495598-18EA-4F8A-919D-B5A1D035D51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764" t="40958" r="10647" b="24767"/>
            <a:stretch/>
          </p:blipFill>
          <p:spPr>
            <a:xfrm>
              <a:off x="6427489" y="4368796"/>
              <a:ext cx="622338" cy="27850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545241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7A4F21-2563-4F38-B2C9-C655D6E96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>
            <a:noAutofit/>
          </a:bodyPr>
          <a:lstStyle/>
          <a:p>
            <a:r>
              <a:rPr lang="en-US" sz="2400" dirty="0"/>
              <a:t>Fractional Knapsack Problem</a:t>
            </a:r>
            <a:br>
              <a:rPr lang="en-US" dirty="0"/>
            </a:br>
            <a:r>
              <a:rPr lang="en-US" sz="4000" dirty="0"/>
              <a:t>Correctness of the greedy algorithm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CF7BE89-14D1-43E4-BE12-A943A892DE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8515350" cy="480218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000" b="1" dirty="0">
                    <a:solidFill>
                      <a:schemeClr val="accent6">
                        <a:lumMod val="75000"/>
                      </a:schemeClr>
                    </a:solidFill>
                  </a:rPr>
                  <a:t>Lemma 1</a:t>
                </a:r>
                <a:r>
                  <a:rPr lang="en-US" sz="2000" b="1" dirty="0"/>
                  <a:t> [</a:t>
                </a:r>
                <a:r>
                  <a:rPr lang="en-US" sz="2000" b="1" dirty="0">
                    <a:solidFill>
                      <a:schemeClr val="accent6">
                        <a:lumMod val="75000"/>
                      </a:schemeClr>
                    </a:solidFill>
                  </a:rPr>
                  <a:t>greedy-choice</a:t>
                </a:r>
                <a:r>
                  <a:rPr lang="en-US" sz="2000" b="1" dirty="0"/>
                  <a:t>]:</a:t>
                </a:r>
                <a:r>
                  <a:rPr lang="en-US" sz="2000" dirty="0"/>
                  <a:t> </a:t>
                </a:r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 be a most cost efficient item, then in some optimal solution, at least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sz="2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0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2000" i="1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lang="en-US" sz="20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</m:d>
                      </m:e>
                    </m:func>
                  </m:oMath>
                </a14:m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 pounds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 are taken</a:t>
                </a:r>
                <a:r>
                  <a:rPr lang="en-US" sz="20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b="1" dirty="0"/>
                  <a:t>Proof: 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Consider an optimal solution, assume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&lt;</m:t>
                    </m:r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sz="2000" dirty="0"/>
                  <a:t> pounds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2000" dirty="0"/>
                  <a:t> are taken.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Now, substitute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000" dirty="0"/>
                  <a:t> pounds of other items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2000" dirty="0"/>
                  <a:t>. 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2000" dirty="0"/>
                  <a:t> is the most cost-efficient, the new solution cannot be worse.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b="1" dirty="0">
                    <a:solidFill>
                      <a:schemeClr val="accent6">
                        <a:lumMod val="75000"/>
                      </a:schemeClr>
                    </a:solidFill>
                  </a:rPr>
                  <a:t>Lemma 2</a:t>
                </a:r>
                <a:r>
                  <a:rPr lang="en-US" sz="2000" b="1" dirty="0"/>
                  <a:t> [</a:t>
                </a:r>
                <a:r>
                  <a:rPr lang="en-US" sz="2000" b="1" dirty="0">
                    <a:solidFill>
                      <a:schemeClr val="accent6">
                        <a:lumMod val="75000"/>
                      </a:schemeClr>
                    </a:solidFill>
                  </a:rPr>
                  <a:t>optimal substructure</a:t>
                </a:r>
                <a:r>
                  <a:rPr lang="en-US" sz="2000" b="1" dirty="0"/>
                  <a:t>]:</a:t>
                </a:r>
                <a:r>
                  <a:rPr lang="en-US" sz="2000" dirty="0"/>
                  <a:t> </a:t>
                </a:r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 be a most cost efficient item in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, then “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𝑂𝑃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en-US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max</m:t>
                            </m:r>
                          </m:fName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sz="2000" i="1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chemeClr val="accent1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accent1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chemeClr val="accent1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000" i="1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</m:d>
                          </m:e>
                        </m:func>
                      </m:sub>
                    </m:sSub>
                    <m:d>
                      <m:dPr>
                        <m:ctrlP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 with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2000" i="1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lang="en-US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</m:d>
                      </m:e>
                    </m:func>
                  </m:oMath>
                </a14:m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 pounds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” is an optimal solution of the problem.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b="1" dirty="0"/>
                  <a:t>Proof: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Consider some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𝑂𝑃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 sz="2000" dirty="0"/>
                  <a:t> containing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</m:d>
                      </m:e>
                    </m:func>
                  </m:oMath>
                </a14:m>
                <a:r>
                  <a:rPr lang="en-US" sz="2000" dirty="0"/>
                  <a:t> pounds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20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If optimal substructure does not hold, then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𝑂𝑃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 sz="2000" dirty="0"/>
                  <a:t> gives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𝑆𝑂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>
                                <a:latin typeface="Cambria Math" panose="02040503050406030204" pitchFamily="18" charset="0"/>
                              </a:rPr>
                              <m:t>max</m:t>
                            </m:r>
                          </m:fName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</m:d>
                          </m:e>
                        </m:func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𝑂𝑃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>
                                <a:latin typeface="Cambria Math" panose="02040503050406030204" pitchFamily="18" charset="0"/>
                              </a:rPr>
                              <m:t>max</m:t>
                            </m:r>
                          </m:fName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</m:d>
                          </m:e>
                        </m:func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But this contradicts the optimality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𝑂𝑃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>
                                <a:latin typeface="Cambria Math" panose="02040503050406030204" pitchFamily="18" charset="0"/>
                              </a:rPr>
                              <m:t>max</m:t>
                            </m:r>
                          </m:fName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</m:d>
                          </m:e>
                        </m:func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/>
                  <a:t>.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CF7BE89-14D1-43E4-BE12-A943A892DE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8515350" cy="4802185"/>
              </a:xfrm>
              <a:blipFill>
                <a:blip r:embed="rId2"/>
                <a:stretch>
                  <a:fillRect l="-644" t="-12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9712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8" name="内容占位符 17">
                <a:extLst>
                  <a:ext uri="{FF2B5EF4-FFF2-40B4-BE49-F238E27FC236}">
                    <a16:creationId xmlns:a16="http://schemas.microsoft.com/office/drawing/2014/main" id="{D3D2F160-F981-48C4-B7A9-3A90A4036D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9"/>
                <a:ext cx="7886700" cy="4802184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dirty="0"/>
                  <a:t>A thief robbing a house finds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 items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/>
                  <a:t>Item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is worth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 dollars</a:t>
                </a:r>
                <a:r>
                  <a:rPr lang="en-US" sz="2400" dirty="0"/>
                  <a:t> and weighs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 pounds</a:t>
                </a:r>
                <a:r>
                  <a:rPr lang="en-US" sz="24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/>
                  <a:t>The thief can carry at most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 pounds</a:t>
                </a:r>
                <a:r>
                  <a:rPr lang="en-US" sz="2400" dirty="0"/>
                  <a:t> in his knapsack.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/>
                  <a:t>The thief </a:t>
                </a:r>
                <a:r>
                  <a:rPr lang="en-US" sz="2400" b="1" u="sng" dirty="0">
                    <a:solidFill>
                      <a:srgbClr val="C00000"/>
                    </a:solidFill>
                  </a:rPr>
                  <a:t>CANNOT</a:t>
                </a:r>
                <a:r>
                  <a:rPr lang="en-US" sz="2400" dirty="0"/>
                  <a:t> carry fraction of items!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chemeClr val="accent2">
                        <a:lumMod val="75000"/>
                      </a:schemeClr>
                    </a:solidFill>
                  </a:rPr>
                  <a:t>What should the thief take to maximize his profit?</a:t>
                </a:r>
              </a:p>
              <a:p>
                <a:pPr>
                  <a:spcBef>
                    <a:spcPts val="600"/>
                  </a:spcBef>
                </a:pPr>
                <a:endParaRPr lang="en-US" sz="2400" dirty="0">
                  <a:solidFill>
                    <a:schemeClr val="tx1"/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tx1"/>
                    </a:solidFill>
                  </a:rPr>
                  <a:t>A greedy strategy: </a:t>
                </a:r>
                <a:r>
                  <a:rPr lang="en-US" sz="2400" dirty="0">
                    <a:solidFill>
                      <a:schemeClr val="tx1"/>
                    </a:solidFill>
                  </a:rPr>
                  <a:t>keep taking the most</a:t>
                </a:r>
                <a:br>
                  <a:rPr lang="en-US" sz="2400" dirty="0">
                    <a:solidFill>
                      <a:schemeClr val="tx1"/>
                    </a:solidFill>
                  </a:rPr>
                </a:br>
                <a:r>
                  <a:rPr lang="en-US" sz="2400" dirty="0">
                    <a:solidFill>
                      <a:schemeClr val="tx1"/>
                    </a:solidFill>
                  </a:rPr>
                  <a:t>cost efficient item (i.e.,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lin"/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) </a:t>
                </a:r>
                <a:br>
                  <a:rPr lang="en-US" sz="2400" dirty="0">
                    <a:solidFill>
                      <a:schemeClr val="tx1"/>
                    </a:solidFill>
                  </a:rPr>
                </a:br>
                <a:r>
                  <a:rPr lang="en-US" sz="2400" dirty="0">
                    <a:solidFill>
                      <a:schemeClr val="tx1"/>
                    </a:solidFill>
                  </a:rPr>
                  <a:t>until the knapsack is full.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rgbClr val="C00000"/>
                    </a:solidFill>
                  </a:rPr>
                  <a:t>The greedy solution is </a:t>
                </a:r>
                <a:r>
                  <a:rPr lang="en-US" sz="2400" b="1" u="sng" dirty="0">
                    <a:solidFill>
                      <a:srgbClr val="C00000"/>
                    </a:solidFill>
                  </a:rPr>
                  <a:t>NOT</a:t>
                </a:r>
                <a:r>
                  <a:rPr lang="en-US" sz="2400" dirty="0">
                    <a:solidFill>
                      <a:srgbClr val="C00000"/>
                    </a:solidFill>
                  </a:rPr>
                  <a:t> optimal!</a:t>
                </a:r>
              </a:p>
            </p:txBody>
          </p:sp>
        </mc:Choice>
        <mc:Fallback>
          <p:sp>
            <p:nvSpPr>
              <p:cNvPr id="18" name="内容占位符 17">
                <a:extLst>
                  <a:ext uri="{FF2B5EF4-FFF2-40B4-BE49-F238E27FC236}">
                    <a16:creationId xmlns:a16="http://schemas.microsoft.com/office/drawing/2014/main" id="{D3D2F160-F981-48C4-B7A9-3A90A4036D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9"/>
                <a:ext cx="7886700" cy="4802184"/>
              </a:xfrm>
              <a:blipFill>
                <a:blip r:embed="rId3"/>
                <a:stretch>
                  <a:fillRect l="-1005" t="-17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标题 4">
            <a:extLst>
              <a:ext uri="{FF2B5EF4-FFF2-40B4-BE49-F238E27FC236}">
                <a16:creationId xmlns:a16="http://schemas.microsoft.com/office/drawing/2014/main" id="{224DB253-28F7-4DAD-943A-B0F7F91DF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0-1 Knapsack Problem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95227552-948D-4E71-83AD-76F87A42E5A1}"/>
              </a:ext>
            </a:extLst>
          </p:cNvPr>
          <p:cNvGrpSpPr/>
          <p:nvPr/>
        </p:nvGrpSpPr>
        <p:grpSpPr>
          <a:xfrm>
            <a:off x="6648798" y="4284527"/>
            <a:ext cx="1866551" cy="2208346"/>
            <a:chOff x="6648798" y="4284527"/>
            <a:chExt cx="1866551" cy="2208346"/>
          </a:xfrm>
        </p:grpSpPr>
        <p:pic>
          <p:nvPicPr>
            <p:cNvPr id="9" name="内容占位符 6">
              <a:extLst>
                <a:ext uri="{FF2B5EF4-FFF2-40B4-BE49-F238E27FC236}">
                  <a16:creationId xmlns:a16="http://schemas.microsoft.com/office/drawing/2014/main" id="{F07FE70C-624B-4A51-914F-296FB1C1A6D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8053"/>
            <a:stretch/>
          </p:blipFill>
          <p:spPr>
            <a:xfrm>
              <a:off x="7155446" y="4754878"/>
              <a:ext cx="1359903" cy="1737995"/>
            </a:xfrm>
            <a:prstGeom prst="rect">
              <a:avLst/>
            </a:prstGeom>
          </p:spPr>
        </p:pic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FCD57924-AB5E-4787-8D61-0E8D911DF77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48712" y="4284528"/>
              <a:ext cx="420356" cy="365127"/>
            </a:xfrm>
            <a:prstGeom prst="rect">
              <a:avLst/>
            </a:prstGeom>
          </p:spPr>
        </p:pic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6265EBC8-2980-4DD6-B276-9226716F0DE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82074" y="4284528"/>
              <a:ext cx="420356" cy="365127"/>
            </a:xfrm>
            <a:prstGeom prst="rect">
              <a:avLst/>
            </a:prstGeom>
          </p:spPr>
        </p:pic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7051F9F5-2416-4D45-A2A9-3BABAFFB6F9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15436" y="4284528"/>
              <a:ext cx="420356" cy="365127"/>
            </a:xfrm>
            <a:prstGeom prst="rect">
              <a:avLst/>
            </a:prstGeom>
          </p:spPr>
        </p:pic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E9910C18-3AB3-43E2-9833-3BAFD3D973E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48798" y="4284527"/>
              <a:ext cx="420356" cy="365127"/>
            </a:xfrm>
            <a:prstGeom prst="rect">
              <a:avLst/>
            </a:prstGeom>
          </p:spPr>
        </p:pic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05E3850F-302F-4A7D-8990-54918F3A7B5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48798" y="4754878"/>
              <a:ext cx="420356" cy="365127"/>
            </a:xfrm>
            <a:prstGeom prst="rect">
              <a:avLst/>
            </a:prstGeom>
          </p:spPr>
        </p:pic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1AB417A6-DD44-4AFB-A59F-CB29E1D8F6D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accent3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48798" y="5200698"/>
              <a:ext cx="420356" cy="36512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85572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8" name="内容占位符 17">
                <a:extLst>
                  <a:ext uri="{FF2B5EF4-FFF2-40B4-BE49-F238E27FC236}">
                    <a16:creationId xmlns:a16="http://schemas.microsoft.com/office/drawing/2014/main" id="{D3D2F160-F981-48C4-B7A9-3A90A4036D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9"/>
                <a:ext cx="7886700" cy="4802184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tx1"/>
                    </a:solidFill>
                  </a:rPr>
                  <a:t>A greedy strategy: </a:t>
                </a:r>
                <a:r>
                  <a:rPr lang="en-US" sz="2400" dirty="0">
                    <a:solidFill>
                      <a:schemeClr val="tx1"/>
                    </a:solidFill>
                  </a:rPr>
                  <a:t>keep taking the most cost efficient item (i.e.,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lin"/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) until the knapsack is full.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rgbClr val="C00000"/>
                    </a:solidFill>
                  </a:rPr>
                  <a:t>The greedy solution is </a:t>
                </a:r>
                <a:r>
                  <a:rPr lang="en-US" sz="2400" b="1" u="sng" dirty="0">
                    <a:solidFill>
                      <a:srgbClr val="C00000"/>
                    </a:solidFill>
                  </a:rPr>
                  <a:t>NOT</a:t>
                </a:r>
                <a:r>
                  <a:rPr lang="en-US" sz="2400" dirty="0">
                    <a:solidFill>
                      <a:srgbClr val="C00000"/>
                    </a:solidFill>
                  </a:rPr>
                  <a:t> optimal!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A simple counterexample: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/>
                  <a:t>There are only two items.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/>
                  <a:t>Item One has value 2 and weighs 1 pound.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/>
                  <a:t>Item Two has value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2000" dirty="0"/>
                  <a:t> and weighs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2000" dirty="0"/>
                  <a:t> pounds.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rgbClr val="C00000"/>
                    </a:solidFill>
                  </a:rPr>
                  <a:t>The greedy solution can be </a:t>
                </a:r>
                <a:r>
                  <a:rPr lang="en-US" sz="2400" b="1" dirty="0">
                    <a:solidFill>
                      <a:srgbClr val="C00000"/>
                    </a:solidFill>
                  </a:rPr>
                  <a:t>arbitrarily bad</a:t>
                </a:r>
                <a:r>
                  <a:rPr lang="en-US" sz="2400" dirty="0">
                    <a:solidFill>
                      <a:srgbClr val="C00000"/>
                    </a:solidFill>
                  </a:rPr>
                  <a:t>!</a:t>
                </a:r>
              </a:p>
            </p:txBody>
          </p:sp>
        </mc:Choice>
        <mc:Fallback>
          <p:sp>
            <p:nvSpPr>
              <p:cNvPr id="18" name="内容占位符 17">
                <a:extLst>
                  <a:ext uri="{FF2B5EF4-FFF2-40B4-BE49-F238E27FC236}">
                    <a16:creationId xmlns:a16="http://schemas.microsoft.com/office/drawing/2014/main" id="{D3D2F160-F981-48C4-B7A9-3A90A4036D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9"/>
                <a:ext cx="7886700" cy="4802184"/>
              </a:xfrm>
              <a:blipFill>
                <a:blip r:embed="rId3"/>
                <a:stretch>
                  <a:fillRect l="-1005" t="-59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标题 4">
            <a:extLst>
              <a:ext uri="{FF2B5EF4-FFF2-40B4-BE49-F238E27FC236}">
                <a16:creationId xmlns:a16="http://schemas.microsoft.com/office/drawing/2014/main" id="{224DB253-28F7-4DAD-943A-B0F7F91DF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0-1 Knapsack Problem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95227552-948D-4E71-83AD-76F87A42E5A1}"/>
              </a:ext>
            </a:extLst>
          </p:cNvPr>
          <p:cNvGrpSpPr/>
          <p:nvPr/>
        </p:nvGrpSpPr>
        <p:grpSpPr>
          <a:xfrm>
            <a:off x="6648798" y="4284527"/>
            <a:ext cx="1866551" cy="2208346"/>
            <a:chOff x="6648798" y="4284527"/>
            <a:chExt cx="1866551" cy="2208346"/>
          </a:xfrm>
        </p:grpSpPr>
        <p:pic>
          <p:nvPicPr>
            <p:cNvPr id="9" name="内容占位符 6">
              <a:extLst>
                <a:ext uri="{FF2B5EF4-FFF2-40B4-BE49-F238E27FC236}">
                  <a16:creationId xmlns:a16="http://schemas.microsoft.com/office/drawing/2014/main" id="{F07FE70C-624B-4A51-914F-296FB1C1A6D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8053"/>
            <a:stretch/>
          </p:blipFill>
          <p:spPr>
            <a:xfrm>
              <a:off x="7155446" y="4754878"/>
              <a:ext cx="1359903" cy="1737995"/>
            </a:xfrm>
            <a:prstGeom prst="rect">
              <a:avLst/>
            </a:prstGeom>
          </p:spPr>
        </p:pic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FCD57924-AB5E-4787-8D61-0E8D911DF77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48712" y="4284528"/>
              <a:ext cx="420356" cy="365127"/>
            </a:xfrm>
            <a:prstGeom prst="rect">
              <a:avLst/>
            </a:prstGeom>
          </p:spPr>
        </p:pic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6265EBC8-2980-4DD6-B276-9226716F0DE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82074" y="4284528"/>
              <a:ext cx="420356" cy="365127"/>
            </a:xfrm>
            <a:prstGeom prst="rect">
              <a:avLst/>
            </a:prstGeom>
          </p:spPr>
        </p:pic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7051F9F5-2416-4D45-A2A9-3BABAFFB6F9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15436" y="4284528"/>
              <a:ext cx="420356" cy="365127"/>
            </a:xfrm>
            <a:prstGeom prst="rect">
              <a:avLst/>
            </a:prstGeom>
          </p:spPr>
        </p:pic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E9910C18-3AB3-43E2-9833-3BAFD3D973E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48798" y="4284527"/>
              <a:ext cx="420356" cy="365127"/>
            </a:xfrm>
            <a:prstGeom prst="rect">
              <a:avLst/>
            </a:prstGeom>
          </p:spPr>
        </p:pic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05E3850F-302F-4A7D-8990-54918F3A7B5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48798" y="4754878"/>
              <a:ext cx="420356" cy="365127"/>
            </a:xfrm>
            <a:prstGeom prst="rect">
              <a:avLst/>
            </a:prstGeom>
          </p:spPr>
        </p:pic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1AB417A6-DD44-4AFB-A59F-CB29E1D8F6D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accent3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48798" y="5200698"/>
              <a:ext cx="420356" cy="36512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69723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7A4F21-2563-4F38-B2C9-C655D6E96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>
            <a:noAutofit/>
          </a:bodyPr>
          <a:lstStyle/>
          <a:p>
            <a:r>
              <a:rPr lang="en-US" sz="2400" dirty="0"/>
              <a:t>0-1 Knapsack Problem</a:t>
            </a:r>
            <a:br>
              <a:rPr lang="en-US" dirty="0"/>
            </a:br>
            <a:r>
              <a:rPr lang="en-US" sz="4000" dirty="0"/>
              <a:t>Why greedy strategy fail?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CF7BE89-14D1-43E4-BE12-A943A892DE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14310" cy="480218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000" b="1" dirty="0">
                    <a:solidFill>
                      <a:schemeClr val="accent6">
                        <a:lumMod val="75000"/>
                      </a:schemeClr>
                    </a:solidFill>
                  </a:rPr>
                  <a:t>Lemma 1</a:t>
                </a:r>
                <a:r>
                  <a:rPr lang="en-US" sz="2000" b="1" dirty="0"/>
                  <a:t> [</a:t>
                </a:r>
                <a:r>
                  <a:rPr lang="en-US" sz="2000" b="1" dirty="0">
                    <a:solidFill>
                      <a:schemeClr val="accent6">
                        <a:lumMod val="75000"/>
                      </a:schemeClr>
                    </a:solidFill>
                  </a:rPr>
                  <a:t>greedy-choice</a:t>
                </a:r>
                <a:r>
                  <a:rPr lang="en-US" sz="2000" b="1" dirty="0"/>
                  <a:t>]:</a:t>
                </a:r>
                <a:r>
                  <a:rPr lang="en-US" sz="2000" dirty="0"/>
                  <a:t> </a:t>
                </a:r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 be a most cost efficient item that can fit into the bag, then in some optimal solution, this item is taken</a:t>
                </a:r>
                <a:r>
                  <a:rPr lang="en-US" sz="20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b="1" dirty="0"/>
                  <a:t>Proof: 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Consider an optimal solution, assume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2000" dirty="0"/>
                  <a:t> is NOT taken.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Now, substitute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2000" dirty="0"/>
                  <a:t> pounds of other items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2000" dirty="0"/>
                  <a:t>. 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2000" dirty="0"/>
                  <a:t> is the most cost-efficient, the new solution cannot be worse.</a:t>
                </a:r>
              </a:p>
              <a:p>
                <a:pPr>
                  <a:spcBef>
                    <a:spcPts val="600"/>
                  </a:spcBef>
                </a:pPr>
                <a:endParaRPr lang="en-US" sz="2000" dirty="0"/>
              </a:p>
              <a:p>
                <a:pPr>
                  <a:spcBef>
                    <a:spcPts val="600"/>
                  </a:spcBef>
                </a:pPr>
                <a:r>
                  <a:rPr lang="en-US" sz="2000" dirty="0">
                    <a:solidFill>
                      <a:srgbClr val="C00000"/>
                    </a:solidFill>
                  </a:rPr>
                  <a:t>These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 pounds of items may have aggregate value larger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000" dirty="0"/>
                  <a:t> be the total value of these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000" dirty="0"/>
                  <a:t> pounds of items.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Indeed,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lin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000" dirty="0"/>
                  <a:t>; </a:t>
                </a:r>
                <a:br>
                  <a:rPr lang="en-US" sz="2000" dirty="0"/>
                </a:br>
                <a:r>
                  <a:rPr lang="en-US" sz="2000" dirty="0"/>
                  <a:t>but it could happen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2000" dirty="0"/>
                  <a:t> when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20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endParaRPr lang="en-US" sz="2000" dirty="0"/>
              </a:p>
              <a:p>
                <a:pPr>
                  <a:spcBef>
                    <a:spcPts val="600"/>
                  </a:spcBef>
                </a:pPr>
                <a:r>
                  <a:rPr lang="en-US" sz="2000" dirty="0">
                    <a:solidFill>
                      <a:srgbClr val="C00000"/>
                    </a:solidFill>
                  </a:rPr>
                  <a:t>The optimal substructure property still holds.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CF7BE89-14D1-43E4-BE12-A943A892DE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14310" cy="4802185"/>
              </a:xfrm>
              <a:blipFill>
                <a:blip r:embed="rId2"/>
                <a:stretch>
                  <a:fillRect l="-702" t="-1269" r="-7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18154D2B-2677-4E31-B632-A6669DD17332}"/>
              </a:ext>
            </a:extLst>
          </p:cNvPr>
          <p:cNvCxnSpPr>
            <a:cxnSpLocks/>
          </p:cNvCxnSpPr>
          <p:nvPr/>
        </p:nvCxnSpPr>
        <p:spPr>
          <a:xfrm>
            <a:off x="628650" y="3566160"/>
            <a:ext cx="781431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180C5BD-A8FA-432B-824B-9EBEE818BFE7}"/>
              </a:ext>
            </a:extLst>
          </p:cNvPr>
          <p:cNvCxnSpPr>
            <a:cxnSpLocks/>
          </p:cNvCxnSpPr>
          <p:nvPr/>
        </p:nvCxnSpPr>
        <p:spPr>
          <a:xfrm>
            <a:off x="664845" y="1889760"/>
            <a:ext cx="781431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0835B24D-0CD5-4945-9A28-FB9317D732FD}"/>
              </a:ext>
            </a:extLst>
          </p:cNvPr>
          <p:cNvCxnSpPr>
            <a:cxnSpLocks/>
          </p:cNvCxnSpPr>
          <p:nvPr/>
        </p:nvCxnSpPr>
        <p:spPr>
          <a:xfrm>
            <a:off x="664845" y="2153920"/>
            <a:ext cx="781431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0449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A3E899-3CEE-429A-AB61-5F52E0163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data compression problem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DC761A-0719-47BD-B8C3-E38C6AF0D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8"/>
            <a:ext cx="7886700" cy="4802185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sz="2400" dirty="0"/>
              <a:t>Assume we have a data file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containing 100k characters</a:t>
            </a:r>
            <a:r>
              <a:rPr lang="en-US" sz="2400" dirty="0"/>
              <a:t>.</a:t>
            </a:r>
          </a:p>
          <a:p>
            <a:pPr>
              <a:spcBef>
                <a:spcPts val="600"/>
              </a:spcBef>
            </a:pPr>
            <a:r>
              <a:rPr lang="en-US" sz="2400" dirty="0"/>
              <a:t>Further assume the file only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uses 6 characters</a:t>
            </a:r>
            <a:r>
              <a:rPr lang="en-US" sz="2400" dirty="0"/>
              <a:t>. (Huh?!)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solidFill>
                  <a:srgbClr val="C00000"/>
                </a:solidFill>
              </a:rPr>
              <a:t>How to store this file to save space?</a:t>
            </a:r>
          </a:p>
          <a:p>
            <a:pPr>
              <a:spcBef>
                <a:spcPts val="600"/>
              </a:spcBef>
            </a:pPr>
            <a:endParaRPr lang="en-US" sz="2400" dirty="0"/>
          </a:p>
          <a:p>
            <a:pPr>
              <a:spcBef>
                <a:spcPts val="600"/>
              </a:spcBef>
            </a:pPr>
            <a:r>
              <a:rPr lang="en-US" sz="2400" dirty="0"/>
              <a:t>Simplest way: use 3 bits to encode each char.</a:t>
            </a:r>
          </a:p>
          <a:p>
            <a:pPr lvl="1">
              <a:spcBef>
                <a:spcPts val="600"/>
              </a:spcBef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a=000,b=001,…,f=101</a:t>
            </a:r>
          </a:p>
          <a:p>
            <a:pPr>
              <a:spcBef>
                <a:spcPts val="600"/>
              </a:spcBef>
            </a:pPr>
            <a:r>
              <a:rPr lang="en-US" sz="2400" dirty="0"/>
              <a:t>This costs 300k bits in total.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solidFill>
                  <a:srgbClr val="C00000"/>
                </a:solidFill>
              </a:rPr>
              <a:t>Can we do better?</a:t>
            </a:r>
          </a:p>
        </p:txBody>
      </p:sp>
      <p:pic>
        <p:nvPicPr>
          <p:cNvPr id="3074" name="Picture 2" descr="Image result for winzip&quot;">
            <a:extLst>
              <a:ext uri="{FF2B5EF4-FFF2-40B4-BE49-F238E27FC236}">
                <a16:creationId xmlns:a16="http://schemas.microsoft.com/office/drawing/2014/main" id="{8B80B337-F93C-47CF-B18B-EC16A9B366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4298" y="4572000"/>
            <a:ext cx="1911052" cy="183843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7682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A3E899-3CEE-429A-AB61-5F52E0163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data compression problem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DC761A-0719-47BD-B8C3-E38C6AF0D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8"/>
            <a:ext cx="7886700" cy="4802185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sz="2400" dirty="0"/>
              <a:t>Assume we have a data file containing 100k characters.</a:t>
            </a:r>
          </a:p>
          <a:p>
            <a:pPr>
              <a:spcBef>
                <a:spcPts val="600"/>
              </a:spcBef>
            </a:pPr>
            <a:r>
              <a:rPr lang="en-US" sz="2400" dirty="0"/>
              <a:t>Further assume the file only uses 6 characters. (Huh?!)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solidFill>
                  <a:srgbClr val="C00000"/>
                </a:solidFill>
              </a:rPr>
              <a:t>How to store this file to save space?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Instead of using fixed-length codeword for each char,</a:t>
            </a:r>
            <a:br>
              <a:rPr lang="en-US" sz="24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we should </a:t>
            </a:r>
            <a:r>
              <a:rPr lang="en-US" sz="2400" b="1" dirty="0">
                <a:solidFill>
                  <a:srgbClr val="C00000"/>
                </a:solidFill>
              </a:rPr>
              <a:t>let frequent chars use shorter codewords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.</a:t>
            </a:r>
            <a:br>
              <a:rPr lang="en-US" sz="24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That is, use a </a:t>
            </a:r>
            <a:r>
              <a:rPr lang="en-US" sz="2400" i="1" u="sng" dirty="0">
                <a:solidFill>
                  <a:schemeClr val="accent1">
                    <a:lumMod val="75000"/>
                  </a:schemeClr>
                </a:solidFill>
              </a:rPr>
              <a:t>variable-length code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</p:txBody>
      </p:sp>
      <p:pic>
        <p:nvPicPr>
          <p:cNvPr id="3074" name="Picture 2" descr="Image result for winzip&quot;">
            <a:extLst>
              <a:ext uri="{FF2B5EF4-FFF2-40B4-BE49-F238E27FC236}">
                <a16:creationId xmlns:a16="http://schemas.microsoft.com/office/drawing/2014/main" id="{8B80B337-F93C-47CF-B18B-EC16A9B366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4298" y="4572000"/>
            <a:ext cx="1911052" cy="183843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67F8486B-EF58-43A7-B24D-59B269249D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9558456"/>
              </p:ext>
            </p:extLst>
          </p:nvPr>
        </p:nvGraphicFramePr>
        <p:xfrm>
          <a:off x="628650" y="4267834"/>
          <a:ext cx="5580000" cy="148336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692000">
                  <a:extLst>
                    <a:ext uri="{9D8B030D-6E8A-4147-A177-3AD203B41FA5}">
                      <a16:colId xmlns:a16="http://schemas.microsoft.com/office/drawing/2014/main" val="811580827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661967403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45140011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982114756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1577846832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35089442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7151295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47914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Frequency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45k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13k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12k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16k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9k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5k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203134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Fixed-length Code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859119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Var-length Code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332446610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AA714410-6660-454A-9813-50704FE7E926}"/>
              </a:ext>
            </a:extLst>
          </p:cNvPr>
          <p:cNvSpPr txBox="1"/>
          <p:nvPr/>
        </p:nvSpPr>
        <p:spPr>
          <a:xfrm>
            <a:off x="1409446" y="5891201"/>
            <a:ext cx="4018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How to decode bit string </a:t>
            </a:r>
            <a:r>
              <a:rPr lang="en-US" sz="2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000</a:t>
            </a:r>
            <a:r>
              <a:rPr lang="en-US" sz="2400" dirty="0">
                <a:solidFill>
                  <a:srgbClr val="C0000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919048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A3E899-3CEE-429A-AB61-5F52E0163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data compression problem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DC761A-0719-47BD-B8C3-E38C6AF0D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8"/>
            <a:ext cx="7886700" cy="4802185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sz="2400" dirty="0"/>
              <a:t>Assume we have a data file containing 100k characters.</a:t>
            </a:r>
          </a:p>
          <a:p>
            <a:pPr>
              <a:spcBef>
                <a:spcPts val="600"/>
              </a:spcBef>
            </a:pPr>
            <a:r>
              <a:rPr lang="en-US" sz="2400" dirty="0"/>
              <a:t>Further assume the file only uses 6 characters. (Huh?!)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solidFill>
                  <a:srgbClr val="C00000"/>
                </a:solidFill>
              </a:rPr>
              <a:t>How to store this file to save space?</a:t>
            </a:r>
          </a:p>
          <a:p>
            <a:pPr>
              <a:spcBef>
                <a:spcPts val="600"/>
              </a:spcBef>
            </a:pPr>
            <a:r>
              <a:rPr lang="en-US" sz="2400" dirty="0"/>
              <a:t>Instead of using fixed-length codeword for each char,</a:t>
            </a:r>
            <a:br>
              <a:rPr lang="en-US" sz="2400" dirty="0"/>
            </a:br>
            <a:r>
              <a:rPr lang="en-US" sz="2400" dirty="0"/>
              <a:t>we should </a:t>
            </a:r>
            <a:r>
              <a:rPr lang="en-US" sz="2400" b="1" dirty="0">
                <a:solidFill>
                  <a:srgbClr val="C00000"/>
                </a:solidFill>
              </a:rPr>
              <a:t>let frequent chars use shorter codewords</a:t>
            </a:r>
            <a:r>
              <a:rPr lang="en-US" sz="2400" dirty="0"/>
              <a:t>.</a:t>
            </a:r>
            <a:br>
              <a:rPr lang="en-US" sz="2400" dirty="0"/>
            </a:br>
            <a:r>
              <a:rPr lang="en-US" sz="2400" dirty="0"/>
              <a:t>That is, use a </a:t>
            </a:r>
            <a:r>
              <a:rPr lang="en-US" sz="2400" i="1" u="sng" dirty="0"/>
              <a:t>variable-length code</a:t>
            </a:r>
            <a:r>
              <a:rPr lang="en-US" sz="2400" dirty="0"/>
              <a:t>.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To avoid ambiguity in decoding, variable-length code should be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prefix-free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: </a:t>
            </a:r>
            <a:r>
              <a:rPr lang="en-US" sz="2400" dirty="0">
                <a:solidFill>
                  <a:srgbClr val="C00000"/>
                </a:solidFill>
              </a:rPr>
              <a:t>no codeword is also a prefix </a:t>
            </a:r>
            <a:br>
              <a:rPr lang="en-US" sz="2400" dirty="0">
                <a:solidFill>
                  <a:srgbClr val="C00000"/>
                </a:solidFill>
              </a:rPr>
            </a:br>
            <a:r>
              <a:rPr lang="en-US" sz="2400" dirty="0">
                <a:solidFill>
                  <a:srgbClr val="C00000"/>
                </a:solidFill>
              </a:rPr>
              <a:t>of some other codeword</a:t>
            </a:r>
            <a:r>
              <a:rPr lang="en-US" sz="2400" dirty="0"/>
              <a:t>.</a:t>
            </a:r>
          </a:p>
        </p:txBody>
      </p:sp>
      <p:pic>
        <p:nvPicPr>
          <p:cNvPr id="3074" name="Picture 2" descr="Image result for winzip&quot;">
            <a:extLst>
              <a:ext uri="{FF2B5EF4-FFF2-40B4-BE49-F238E27FC236}">
                <a16:creationId xmlns:a16="http://schemas.microsoft.com/office/drawing/2014/main" id="{8B80B337-F93C-47CF-B18B-EC16A9B366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4298" y="4572000"/>
            <a:ext cx="1911052" cy="183843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8638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A3E899-3CEE-429A-AB61-5F52E0163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data compression problem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DC761A-0719-47BD-B8C3-E38C6AF0D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8"/>
            <a:ext cx="7886700" cy="4802185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sz="2400" dirty="0"/>
              <a:t>Assume we have a data file containing 100k characters.</a:t>
            </a:r>
          </a:p>
          <a:p>
            <a:pPr>
              <a:spcBef>
                <a:spcPts val="600"/>
              </a:spcBef>
            </a:pPr>
            <a:r>
              <a:rPr lang="en-US" sz="2400" dirty="0"/>
              <a:t>Further assume the file only uses 6 characters. (Huh?!)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solidFill>
                  <a:srgbClr val="C00000"/>
                </a:solidFill>
              </a:rPr>
              <a:t>How to store this file to save space?</a:t>
            </a:r>
          </a:p>
          <a:p>
            <a:pPr>
              <a:spcBef>
                <a:spcPts val="600"/>
              </a:spcBef>
            </a:pP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</a:rPr>
              <a:t>Use (prefix-free) variable-length code.</a:t>
            </a:r>
          </a:p>
        </p:txBody>
      </p:sp>
      <p:pic>
        <p:nvPicPr>
          <p:cNvPr id="3074" name="Picture 2" descr="Image result for winzip&quot;">
            <a:extLst>
              <a:ext uri="{FF2B5EF4-FFF2-40B4-BE49-F238E27FC236}">
                <a16:creationId xmlns:a16="http://schemas.microsoft.com/office/drawing/2014/main" id="{8B80B337-F93C-47CF-B18B-EC16A9B366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4298" y="4572000"/>
            <a:ext cx="1911052" cy="183843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29A52897-1D7B-4DA8-82B9-220ECCCE3F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1210508"/>
              </p:ext>
            </p:extLst>
          </p:nvPr>
        </p:nvGraphicFramePr>
        <p:xfrm>
          <a:off x="628650" y="3429000"/>
          <a:ext cx="5580000" cy="148336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692000">
                  <a:extLst>
                    <a:ext uri="{9D8B030D-6E8A-4147-A177-3AD203B41FA5}">
                      <a16:colId xmlns:a16="http://schemas.microsoft.com/office/drawing/2014/main" val="811580827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661967403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45140011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982114756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1577846832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35089442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7151295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47914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Frequency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45k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13k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12k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16k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9k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5k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203134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Fixed-length Code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859119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Var-length Code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101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100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111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1101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1100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33244661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9071BE7C-D4B8-4EE2-8ECE-ECF3DE42EE35}"/>
                  </a:ext>
                </a:extLst>
              </p:cNvPr>
              <p:cNvSpPr txBox="1"/>
              <p:nvPr/>
            </p:nvSpPr>
            <p:spPr>
              <a:xfrm>
                <a:off x="628650" y="4994730"/>
                <a:ext cx="486511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Fixed-</a:t>
                </a:r>
                <a:r>
                  <a:rPr lang="en-US" sz="2000" dirty="0" err="1">
                    <a:solidFill>
                      <a:schemeClr val="accent1">
                        <a:lumMod val="75000"/>
                      </a:schemeClr>
                    </a:solidFill>
                  </a:rPr>
                  <a:t>len</a:t>
                </a:r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 code vs Var-</a:t>
                </a:r>
                <a:r>
                  <a:rPr lang="en-US" sz="2000" dirty="0" err="1">
                    <a:solidFill>
                      <a:schemeClr val="accent1">
                        <a:lumMod val="75000"/>
                      </a:schemeClr>
                    </a:solidFill>
                  </a:rPr>
                  <a:t>len</a:t>
                </a:r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 code: 300k vs 224k.</a:t>
                </a:r>
              </a:p>
              <a:p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This is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≈25%</m:t>
                    </m:r>
                  </m:oMath>
                </a14:m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 saving.</a:t>
                </a:r>
              </a:p>
            </p:txBody>
          </p:sp>
        </mc:Choice>
        <mc:Fallback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9071BE7C-D4B8-4EE2-8ECE-ECF3DE42E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4994730"/>
                <a:ext cx="4865114" cy="707886"/>
              </a:xfrm>
              <a:prstGeom prst="rect">
                <a:avLst/>
              </a:prstGeom>
              <a:blipFill>
                <a:blip r:embed="rId3"/>
                <a:stretch>
                  <a:fillRect l="-1253" t="-4310" r="-501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090A358A-A370-4F1A-B649-D515B7807068}"/>
              </a:ext>
            </a:extLst>
          </p:cNvPr>
          <p:cNvSpPr txBox="1"/>
          <p:nvPr/>
        </p:nvSpPr>
        <p:spPr>
          <a:xfrm>
            <a:off x="628650" y="5743801"/>
            <a:ext cx="5059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Given data file, how to generate optimal code?</a:t>
            </a:r>
          </a:p>
        </p:txBody>
      </p:sp>
    </p:spTree>
    <p:extLst>
      <p:ext uri="{BB962C8B-B14F-4D97-AF65-F5344CB8AC3E}">
        <p14:creationId xmlns:p14="http://schemas.microsoft.com/office/powerpoint/2010/main" val="2190080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A3E899-3CEE-429A-AB61-5F52E0163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prefix-free code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DC761A-0719-47BD-B8C3-E38C6AF0D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8"/>
            <a:ext cx="7886700" cy="4802185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Use a binary tree to visualize a prefix-free code.</a:t>
            </a:r>
          </a:p>
          <a:p>
            <a:pPr>
              <a:spcBef>
                <a:spcPts val="600"/>
              </a:spcBef>
            </a:pPr>
            <a:r>
              <a:rPr lang="en-US" sz="1800" dirty="0"/>
              <a:t>Each leaf denotes a char.</a:t>
            </a:r>
          </a:p>
          <a:p>
            <a:pPr>
              <a:spcBef>
                <a:spcPts val="600"/>
              </a:spcBef>
            </a:pPr>
            <a:r>
              <a:rPr lang="en-US" sz="1800" dirty="0"/>
              <a:t>Each internal node: left branch is 0, right branch is 1.</a:t>
            </a:r>
          </a:p>
          <a:p>
            <a:pPr>
              <a:spcBef>
                <a:spcPts val="600"/>
              </a:spcBef>
            </a:pPr>
            <a:r>
              <a:rPr lang="en-US" sz="1800" dirty="0"/>
              <a:t>Path from root to leaf is the codeword of that char.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Optimal code must be represented by </a:t>
            </a:r>
            <a:br>
              <a:rPr lang="en-US" sz="24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a </a:t>
            </a:r>
            <a:r>
              <a:rPr lang="en-US" sz="2400" i="1" u="sng" dirty="0">
                <a:solidFill>
                  <a:schemeClr val="accent1">
                    <a:lumMod val="75000"/>
                  </a:schemeClr>
                </a:solidFill>
              </a:rPr>
              <a:t>full binary tree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: a tree each node </a:t>
            </a:r>
            <a:br>
              <a:rPr lang="en-US" sz="24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having zero or two children. </a:t>
            </a:r>
            <a:r>
              <a:rPr lang="en-US" sz="2400" dirty="0"/>
              <a:t>(</a:t>
            </a:r>
            <a:r>
              <a:rPr lang="en-US" sz="2400" dirty="0">
                <a:solidFill>
                  <a:srgbClr val="C00000"/>
                </a:solidFill>
              </a:rPr>
              <a:t>WHY?</a:t>
            </a:r>
            <a:r>
              <a:rPr lang="en-US" sz="2400" dirty="0"/>
              <a:t>)</a:t>
            </a:r>
            <a:endParaRPr lang="en-US" dirty="0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66CECE46-4A73-4C03-8670-E2DB71B92E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7001541"/>
              </p:ext>
            </p:extLst>
          </p:nvPr>
        </p:nvGraphicFramePr>
        <p:xfrm>
          <a:off x="628650" y="4833896"/>
          <a:ext cx="5580000" cy="148336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692000">
                  <a:extLst>
                    <a:ext uri="{9D8B030D-6E8A-4147-A177-3AD203B41FA5}">
                      <a16:colId xmlns:a16="http://schemas.microsoft.com/office/drawing/2014/main" val="811580827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661967403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45140011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982114756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1577846832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35089442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7151295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47914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Frequency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45k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13k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12k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16k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9k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5k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203134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Fixed-length Code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859119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Var-length Code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111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1101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1100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332446610"/>
                  </a:ext>
                </a:extLst>
              </a:tr>
            </a:tbl>
          </a:graphicData>
        </a:graphic>
      </p:graphicFrame>
      <p:pic>
        <p:nvPicPr>
          <p:cNvPr id="6" name="图片 5">
            <a:extLst>
              <a:ext uri="{FF2B5EF4-FFF2-40B4-BE49-F238E27FC236}">
                <a16:creationId xmlns:a16="http://schemas.microsoft.com/office/drawing/2014/main" id="{330FBDE3-45B5-490C-A2FA-AF0206FB9D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5496" y="2263615"/>
            <a:ext cx="2539854" cy="148336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E761B69-2A05-4B5D-A1A9-4D39F1C47E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978" y="4091780"/>
            <a:ext cx="2113372" cy="222547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16308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A3E899-3CEE-429A-AB61-5F52E0163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Length of encoded message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3DC761A-0719-47BD-B8C3-E38C6AF0D90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dirty="0"/>
                  <a:t>Consider a file using a size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alphabet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/>
                  <a:t>.</a:t>
                </a:r>
                <a:br>
                  <a:rPr lang="en-US" sz="2400" dirty="0"/>
                </a:br>
                <a:r>
                  <a:rPr lang="en-US" sz="2400" dirty="0"/>
                  <a:t>For each character,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be the frequency of char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/>
                  <a:t>Let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400" dirty="0"/>
                  <a:t> be a full binary tree representing a prefix-free code.</a:t>
                </a:r>
                <a:br>
                  <a:rPr lang="en-US" sz="2400" dirty="0"/>
                </a:br>
                <a:r>
                  <a:rPr lang="en-US" sz="2400" dirty="0"/>
                  <a:t>For each character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,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d>
                      <m:dPr>
                        <m:ctrlP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 sz="2400" dirty="0"/>
                  <a:t> be the depth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in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rgbClr val="C00000"/>
                    </a:solidFill>
                  </a:rPr>
                  <a:t>Length of encoded msg is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sz="240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d>
                          <m:dPr>
                            <m:ctrlPr>
                              <a:rPr lang="en-US" sz="24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e>
                    </m:nary>
                  </m:oMath>
                </a14:m>
                <a:endParaRPr lang="en-US" sz="2400" dirty="0"/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chemeClr val="accent2">
                        <a:lumMod val="75000"/>
                      </a:schemeClr>
                    </a:solidFill>
                  </a:rPr>
                  <a:t>Alternatively, recursively (bottom-up) define each internal node’s frequency to be sum of its two children.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rgbClr val="C00000"/>
                    </a:solidFill>
                  </a:rPr>
                  <a:t>Length of encoded msg is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sz="240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  <m:brk m:alnAt="9"/>
                          </m:rPr>
                          <a:rPr lang="en-US" sz="2400" b="0" i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in</m:t>
                        </m:r>
                        <m:r>
                          <a:rPr lang="en-US" sz="2400" b="0" i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tree</m:t>
                        </m:r>
                        <m:r>
                          <a:rPr lang="en-US" sz="240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\</m:t>
                        </m:r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root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b>
                        </m:sSub>
                      </m:e>
                    </m:nary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3DC761A-0719-47BD-B8C3-E38C6AF0D9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  <a:blipFill>
                <a:blip r:embed="rId2"/>
                <a:stretch>
                  <a:fillRect l="-1005" t="-17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66CECE46-4A73-4C03-8670-E2DB71B92E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9989183"/>
              </p:ext>
            </p:extLst>
          </p:nvPr>
        </p:nvGraphicFramePr>
        <p:xfrm>
          <a:off x="628650" y="5009514"/>
          <a:ext cx="5580000" cy="148336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692000">
                  <a:extLst>
                    <a:ext uri="{9D8B030D-6E8A-4147-A177-3AD203B41FA5}">
                      <a16:colId xmlns:a16="http://schemas.microsoft.com/office/drawing/2014/main" val="811580827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661967403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45140011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982114756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1577846832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35089442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7151295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47914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Frequency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45k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13k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12k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16k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9k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5k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203134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Fixed-length Code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859119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Var-length Code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111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1101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1100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332446610"/>
                  </a:ext>
                </a:extLst>
              </a:tr>
            </a:tbl>
          </a:graphicData>
        </a:graphic>
      </p:graphicFrame>
      <p:pic>
        <p:nvPicPr>
          <p:cNvPr id="9" name="图片 8">
            <a:extLst>
              <a:ext uri="{FF2B5EF4-FFF2-40B4-BE49-F238E27FC236}">
                <a16:creationId xmlns:a16="http://schemas.microsoft.com/office/drawing/2014/main" id="{2E761B69-2A05-4B5D-A1A9-4D39F1C47E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0032" y="4317999"/>
            <a:ext cx="2065318" cy="217487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93094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A3E899-3CEE-429A-AB61-5F52E0163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Huffman Codes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3DC761A-0719-47BD-B8C3-E38C6AF0D90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8515350" cy="480218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dirty="0"/>
                  <a:t>Length of encoded msg is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sz="240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d>
                          <m:dPr>
                            <m:ctrlPr>
                              <a:rPr lang="en-US" sz="24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e>
                    </m:nary>
                  </m:oMath>
                </a14:m>
                <a:endParaRPr lang="en-US" sz="2400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400" dirty="0"/>
                  <a:t>Length of encoded msg is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sz="240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  <m:brk m:alnAt="9"/>
                          </m:rPr>
                          <a:rPr lang="en-US" sz="2400" b="0" i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in</m:t>
                        </m:r>
                        <m:r>
                          <a:rPr lang="en-US" sz="2400" b="0" i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tree</m:t>
                        </m:r>
                        <m:r>
                          <a:rPr lang="en-US" sz="240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\</m:t>
                        </m:r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root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b>
                        </m:sSub>
                      </m:e>
                    </m:nary>
                  </m:oMath>
                </a14:m>
                <a:endParaRPr lang="en-US" sz="2400" dirty="0"/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rgbClr val="C00000"/>
                    </a:solidFill>
                  </a:rPr>
                  <a:t>How to construct optimal prefix-free code?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/>
                  <a:t>Huffman Codes: </a:t>
                </a:r>
                <a:r>
                  <a:rPr lang="en-US" sz="2400" dirty="0">
                    <a:solidFill>
                      <a:schemeClr val="accent6">
                        <a:lumMod val="50000"/>
                      </a:schemeClr>
                    </a:solidFill>
                  </a:rPr>
                  <a:t>Merge the two least frequent chars and recurse</a:t>
                </a:r>
                <a:r>
                  <a:rPr lang="en-US" sz="2400" dirty="0"/>
                  <a:t>.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3DC761A-0719-47BD-B8C3-E38C6AF0D9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8515350" cy="4802185"/>
              </a:xfrm>
              <a:blipFill>
                <a:blip r:embed="rId2"/>
                <a:stretch>
                  <a:fillRect l="-931" t="-13325" r="-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86F0F7E0-7EB1-41DB-9C8C-944200B4223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8156" b="88558"/>
          <a:stretch/>
        </p:blipFill>
        <p:spPr>
          <a:xfrm>
            <a:off x="628650" y="3428999"/>
            <a:ext cx="2397760" cy="47244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3294F4E-8DE7-49A8-A91D-D31E404894A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8332" t="1" r="533" b="81176"/>
          <a:stretch/>
        </p:blipFill>
        <p:spPr>
          <a:xfrm>
            <a:off x="3393440" y="3428999"/>
            <a:ext cx="2357120" cy="77724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4B02BC8-F8E0-4A19-90FF-0E4240A0911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2" t="22014" r="58867" b="59163"/>
          <a:stretch/>
        </p:blipFill>
        <p:spPr>
          <a:xfrm>
            <a:off x="6117590" y="3428999"/>
            <a:ext cx="2357120" cy="77724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F47CA0E-8166-4C59-8F04-0A5609BAD3C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8331" t="23275" r="534" b="48329"/>
          <a:stretch/>
        </p:blipFill>
        <p:spPr>
          <a:xfrm>
            <a:off x="628650" y="4610890"/>
            <a:ext cx="2357120" cy="117253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83C5EB3D-91FC-46BD-85D6-4C891D691FA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07" t="53700" r="62746" b="8381"/>
          <a:stretch/>
        </p:blipFill>
        <p:spPr>
          <a:xfrm>
            <a:off x="3524885" y="4566679"/>
            <a:ext cx="2094230" cy="156575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2C0BF10F-ADDB-48D1-903A-C21A9649749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8888" t="53756" r="9552" b="520"/>
          <a:stretch/>
        </p:blipFill>
        <p:spPr>
          <a:xfrm>
            <a:off x="6391910" y="4566679"/>
            <a:ext cx="1808480" cy="188801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1B061F65-6EF7-43B0-9EB5-7F9211D67B7D}"/>
              </a:ext>
            </a:extLst>
          </p:cNvPr>
          <p:cNvSpPr/>
          <p:nvPr/>
        </p:nvSpPr>
        <p:spPr>
          <a:xfrm>
            <a:off x="1498282" y="3574727"/>
            <a:ext cx="6147435" cy="24409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b="1" u="sng" dirty="0">
                <a:solidFill>
                  <a:schemeClr val="tx1"/>
                </a:solidFill>
              </a:rPr>
              <a:t>Huffman(C):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Build a priority queue Q based on frequency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=1 to n-1)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Allocate new node z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x =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z.left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Q.ExtractMin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y =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z.right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Q.ExtractMin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z.frequency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x.frequency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y.frequency</a:t>
            </a:r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Q.Insert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(z)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Q.ExtractMin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GB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BB3058E-5D04-4153-8320-DAB30D363DFB}"/>
                  </a:ext>
                </a:extLst>
              </p:cNvPr>
              <p:cNvSpPr txBox="1"/>
              <p:nvPr/>
            </p:nvSpPr>
            <p:spPr>
              <a:xfrm>
                <a:off x="4442159" y="3574726"/>
                <a:ext cx="328609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solidFill>
                      <a:srgbClr val="C00000"/>
                    </a:solidFill>
                  </a:rPr>
                  <a:t>Time complexity is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BB3058E-5D04-4153-8320-DAB30D363D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2159" y="3574726"/>
                <a:ext cx="3286092" cy="400110"/>
              </a:xfrm>
              <a:prstGeom prst="rect">
                <a:avLst/>
              </a:prstGeom>
              <a:blipFill>
                <a:blip r:embed="rId4"/>
                <a:stretch>
                  <a:fillRect l="-2041"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737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A3E899-3CEE-429A-AB61-5F52E0163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Huffman Codes</a:t>
            </a:r>
            <a:br>
              <a:rPr lang="en-US" dirty="0"/>
            </a:br>
            <a:r>
              <a:rPr lang="en-US" dirty="0"/>
              <a:t>Correctness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3DC761A-0719-47BD-B8C3-E38C6AF0D90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991362"/>
                <a:ext cx="7886700" cy="4565009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000" dirty="0"/>
                  <a:t>Length of encoded msg is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d>
                          <m:dPr>
                            <m:ctrlPr>
                              <a:rPr lang="en-US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sz="200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lang="en-US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9"/>
                              </m:rPr>
                              <a:rPr lang="en-US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  <m:brk m:alnAt="9"/>
                              </m:rPr>
                              <a:rPr lang="en-US" sz="200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  <m:r>
                              <a:rPr lang="en-US" sz="200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tree</m:t>
                            </m:r>
                            <m:r>
                              <m:rPr>
                                <m:brk m:alnAt="9"/>
                              </m:rPr>
                              <a:rPr lang="en-US" sz="200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\</m:t>
                            </m:r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root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sz="2000" i="1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b>
                            </m:sSub>
                          </m:e>
                        </m:nary>
                      </m:e>
                    </m:nary>
                  </m:oMath>
                </a14:m>
                <a:endParaRPr lang="en-US" sz="2000" dirty="0"/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Huffman Codes: </a:t>
                </a:r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Merge the two least frequent chars and recurse</a:t>
                </a:r>
                <a:r>
                  <a:rPr lang="en-US" sz="20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b="1" dirty="0">
                    <a:solidFill>
                      <a:schemeClr val="accent6">
                        <a:lumMod val="75000"/>
                      </a:schemeClr>
                    </a:solidFill>
                  </a:rPr>
                  <a:t>Lemma 1</a:t>
                </a:r>
                <a:r>
                  <a:rPr lang="en-US" sz="2000" b="1" dirty="0"/>
                  <a:t> [</a:t>
                </a:r>
                <a:r>
                  <a:rPr lang="en-US" sz="2000" b="1" dirty="0">
                    <a:solidFill>
                      <a:schemeClr val="accent6">
                        <a:lumMod val="75000"/>
                      </a:schemeClr>
                    </a:solidFill>
                  </a:rPr>
                  <a:t>greedy choice</a:t>
                </a:r>
                <a:r>
                  <a:rPr lang="en-US" sz="2000" b="1" dirty="0"/>
                  <a:t>]:</a:t>
                </a:r>
                <a:r>
                  <a:rPr lang="en-US" sz="2000" dirty="0"/>
                  <a:t> L</a:t>
                </a:r>
                <a:r>
                  <a:rPr lang="en-US" sz="2000" dirty="0">
                    <a:solidFill>
                      <a:schemeClr val="tx1"/>
                    </a:solidFill>
                  </a:rPr>
                  <a:t>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be two least frequent chars, then in some optimal code tree,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are siblings and have largest depth.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b="1" dirty="0"/>
                  <a:t>Proof sketch: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000" dirty="0"/>
                  <a:t> be an optimal code tree with depth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000" dirty="0"/>
                  <a:t> be siblings with depth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000" dirty="0"/>
                  <a:t>. </a:t>
                </a:r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(Recall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is a full binary tree.)</a:t>
                </a:r>
                <a:endParaRPr lang="en-US" sz="2000" dirty="0"/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Assume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000" dirty="0"/>
                  <a:t> are </a:t>
                </a:r>
                <a:r>
                  <a:rPr lang="en-US" sz="2000" i="1" u="sng" dirty="0"/>
                  <a:t>not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. </a:t>
                </a:r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(Otherwise we are done.)</a:t>
                </a:r>
                <a:endPara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000" dirty="0"/>
                  <a:t> be the code tree obtained by swapping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𝑐𝑜𝑠𝑡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𝑐𝑜𝑠𝑡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br>
                  <a:rPr lang="en-US" sz="2000" dirty="0"/>
                </a:b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𝑐𝑜𝑠𝑡</m:t>
                    </m:r>
                    <m:d>
                      <m:dPr>
                        <m:ctrlP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en-US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𝑐𝑜𝑠𝑡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𝑐𝑜𝑠𝑡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en-US" sz="2000" dirty="0"/>
                  <a:t> 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Swapping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, obtaining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</m:oMath>
                </a14:m>
                <a:r>
                  <a:rPr lang="en-US" sz="2000" dirty="0"/>
                  <a:t>, further reduces the total cost.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So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</m:oMath>
                </a14:m>
                <a:r>
                  <a:rPr lang="en-US" sz="2000" dirty="0"/>
                  <a:t> must also be an optimal code tree.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3DC761A-0719-47BD-B8C3-E38C6AF0D9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991362"/>
                <a:ext cx="7886700" cy="4565009"/>
              </a:xfrm>
              <a:blipFill>
                <a:blip r:embed="rId2"/>
                <a:stretch>
                  <a:fillRect l="-696" t="-11348" r="-850" b="-14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>
            <a:extLst>
              <a:ext uri="{FF2B5EF4-FFF2-40B4-BE49-F238E27FC236}">
                <a16:creationId xmlns:a16="http://schemas.microsoft.com/office/drawing/2014/main" id="{264FF56D-74BC-4115-98B2-51BFCAA2F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6860" y="301628"/>
            <a:ext cx="4428490" cy="138906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14398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A3E899-3CEE-429A-AB61-5F52E0163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Huffman Codes</a:t>
            </a:r>
            <a:br>
              <a:rPr lang="en-US" dirty="0"/>
            </a:br>
            <a:r>
              <a:rPr lang="en-US" dirty="0"/>
              <a:t>Correctness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3DC761A-0719-47BD-B8C3-E38C6AF0D90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000" dirty="0"/>
                  <a:t>Length of encoded msg is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d>
                          <m:dPr>
                            <m:ctrlPr>
                              <a:rPr lang="en-US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e>
                    </m:nary>
                    <m:r>
                      <a:rPr lang="en-US" sz="200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  <m:brk m:alnAt="9"/>
                          </m:rPr>
                          <a:rPr lang="en-US" sz="200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lang="en-US" sz="200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sz="200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00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tree</m:t>
                        </m:r>
                        <m:r>
                          <m:rPr>
                            <m:brk m:alnAt="9"/>
                          </m:rPr>
                          <a:rPr lang="en-US" sz="200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\</m:t>
                        </m:r>
                        <m:r>
                          <m:rPr>
                            <m:sty m:val="p"/>
                          </m:rPr>
                          <a:rPr lang="en-US" sz="200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root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b>
                        </m:sSub>
                      </m:e>
                    </m:nary>
                  </m:oMath>
                </a14:m>
                <a:endParaRPr lang="en-US" sz="2000" dirty="0"/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Huffman Codes: </a:t>
                </a:r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Merge the two least frequent chars and recurse</a:t>
                </a:r>
                <a:r>
                  <a:rPr lang="en-US" sz="20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b="1" dirty="0">
                    <a:solidFill>
                      <a:schemeClr val="accent6">
                        <a:lumMod val="75000"/>
                      </a:schemeClr>
                    </a:solidFill>
                  </a:rPr>
                  <a:t>Lemma 2</a:t>
                </a:r>
                <a:r>
                  <a:rPr lang="en-US" sz="2000" b="1" dirty="0"/>
                  <a:t> [</a:t>
                </a:r>
                <a:r>
                  <a:rPr lang="en-US" sz="2000" b="1" dirty="0">
                    <a:solidFill>
                      <a:schemeClr val="accent6">
                        <a:lumMod val="75000"/>
                      </a:schemeClr>
                    </a:solidFill>
                  </a:rPr>
                  <a:t>optimal substructure</a:t>
                </a:r>
                <a:r>
                  <a:rPr lang="en-US" sz="2000" b="1" dirty="0"/>
                  <a:t>]:</a:t>
                </a:r>
                <a:r>
                  <a:rPr lang="en-US" sz="2000" dirty="0"/>
                  <a:t> L</a:t>
                </a:r>
                <a:r>
                  <a:rPr lang="en-US" sz="2000" dirty="0">
                    <a:solidFill>
                      <a:schemeClr val="tx1"/>
                    </a:solidFill>
                  </a:rPr>
                  <a:t>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be two least frequent chars in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.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.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be an optimal code tree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. Let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be a code </a:t>
                </a:r>
                <a:r>
                  <a:rPr lang="en-US" sz="2000" dirty="0"/>
                  <a:t>tree obtained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en-US" sz="2000" dirty="0"/>
                  <a:t> by replacing leaf node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000" dirty="0"/>
                  <a:t> with an internal node having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 as children. Then,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is an optimal code tree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b="1" dirty="0"/>
                  <a:t>Proof sketch: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000" dirty="0"/>
                  <a:t> be an optimal code tree for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000" dirty="0"/>
                  <a:t>, with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 being sibling.</a:t>
                </a:r>
              </a:p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𝑐𝑜𝑠𝑡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brk m:alnAt="9"/>
                              </m:r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brk m:alnAt="9"/>
                          </m:rPr>
                          <a:rPr lang="en-US" sz="2000" b="0" i="1" smtClean="0">
                            <a:latin typeface="Cambria Math" panose="02040503050406030204" pitchFamily="18" charset="0"/>
                          </a:rPr>
                          <m:t>\</m:t>
                        </m:r>
                        <m:r>
                          <m:rPr>
                            <m:sty m:val="p"/>
                          </m:rPr>
                          <a:rPr lang="en-US" sz="2000" b="0" i="1" smtClean="0">
                            <a:latin typeface="Cambria Math" panose="02040503050406030204" pitchFamily="18" charset="0"/>
                          </a:rPr>
                          <m:t>root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  <m:brk m:alnAt="9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and</m:t>
                        </m:r>
                        <m:r>
                          <m:rPr>
                            <m:brk m:alnAt="9"/>
                          </m:rP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∉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sub>
                      <m:sup/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b>
                        </m:sSub>
                      </m:e>
                    </m:nary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𝑐𝑜𝑠𝑡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e>
                    </m:d>
                  </m:oMath>
                </a14:m>
                <a:br>
                  <a:rPr lang="en-US" sz="2000" dirty="0"/>
                </a:b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𝑐𝑜𝑠𝑡</m:t>
                    </m:r>
                    <m:d>
                      <m:dPr>
                        <m:ctrlP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en-US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𝑐𝑜𝑠𝑡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𝑐𝑜𝑠𝑡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en-US" sz="2000" dirty="0"/>
                  <a:t> 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So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000" dirty="0"/>
                  <a:t> must be an optimal code tree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000" dirty="0"/>
                  <a:t>.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3DC761A-0719-47BD-B8C3-E38C6AF0D9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  <a:blipFill>
                <a:blip r:embed="rId2"/>
                <a:stretch>
                  <a:fillRect l="-696" t="-10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028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0D7BA2-A3F9-4DCA-9DA1-7FCC00DE0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Cover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7376374-AA29-4DDB-988F-3BAF537A71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dirty="0"/>
                  <a:t>Suppose we need to build schools for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towns.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/>
                  <a:t>Each school must be in a town,</a:t>
                </a:r>
                <a:br>
                  <a:rPr lang="en-US" sz="2400" dirty="0"/>
                </a:br>
                <a:r>
                  <a:rPr lang="en-US" sz="2400" dirty="0"/>
                  <a:t>no child should travel more than 30km to reach a school.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rgbClr val="C00000"/>
                    </a:solidFill>
                  </a:rPr>
                  <a:t>Minimum number of schools we need to build?</a:t>
                </a:r>
              </a:p>
              <a:p>
                <a:pPr>
                  <a:spcBef>
                    <a:spcPts val="600"/>
                  </a:spcBef>
                </a:pPr>
                <a:endParaRPr lang="en-US" sz="2400" dirty="0"/>
              </a:p>
              <a:p>
                <a:pPr>
                  <a:spcBef>
                    <a:spcPts val="600"/>
                  </a:spcBef>
                </a:pPr>
                <a:r>
                  <a:rPr lang="en-US" sz="2400" b="1" dirty="0"/>
                  <a:t>The </a:t>
                </a:r>
                <a:r>
                  <a:rPr lang="en-US" sz="2400" b="1" dirty="0">
                    <a:solidFill>
                      <a:schemeClr val="accent1"/>
                    </a:solidFill>
                  </a:rPr>
                  <a:t>Set Cover</a:t>
                </a:r>
                <a:r>
                  <a:rPr lang="en-US" sz="2400" b="1" dirty="0"/>
                  <a:t> Problem: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b="1" dirty="0"/>
                  <a:t>Input:</a:t>
                </a:r>
                <a:r>
                  <a:rPr lang="en-US" sz="2000" dirty="0"/>
                  <a:t> a universe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sz="2000" dirty="0"/>
                  <a:t> of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 elements; and </a:t>
                </a:r>
                <a:br>
                  <a:rPr lang="en-US" sz="2000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𝒮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/>
                  <a:t> where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b="1" dirty="0"/>
                  <a:t>Output: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𝒞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𝒮</m:t>
                    </m:r>
                  </m:oMath>
                </a14:m>
                <a:r>
                  <a:rPr lang="en-US" sz="2000" dirty="0"/>
                  <a:t> such that </a:t>
                </a:r>
                <a14:m>
                  <m:oMath xmlns:m="http://schemas.openxmlformats.org/officeDocument/2006/math">
                    <m:nary>
                      <m:naryPr>
                        <m:chr m:val="⋃"/>
                        <m:supHide m:val="on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𝒞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sz="2000" dirty="0"/>
                  <a:t>. </a:t>
                </a:r>
                <a:br>
                  <a:rPr lang="en-US" sz="2000" dirty="0"/>
                </a:br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(I.e., subsets of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𝒮</m:t>
                    </m:r>
                  </m:oMath>
                </a14:m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that “cover”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.)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b="1" dirty="0"/>
                  <a:t>Goal:</a:t>
                </a:r>
                <a:r>
                  <a:rPr lang="en-US" sz="2000" dirty="0"/>
                  <a:t> minimize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𝒞</m:t>
                        </m:r>
                      </m:e>
                    </m:d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7376374-AA29-4DDB-988F-3BAF537A71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  <a:blipFill>
                <a:blip r:embed="rId2"/>
                <a:stretch>
                  <a:fillRect l="-1005" t="-17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858DE567-B1A0-4C56-B29A-CD01700E86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4435" y="3596640"/>
            <a:ext cx="2860915" cy="289623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92581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0D7BA2-A3F9-4DCA-9DA1-7FCC00DE0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Cover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7376374-AA29-4DDB-988F-3BAF537A71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dirty="0"/>
                  <a:t>Suppose we need to build schools for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towns.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/>
                  <a:t>Each school must be in a town,</a:t>
                </a:r>
                <a:br>
                  <a:rPr lang="en-US" sz="2400" dirty="0"/>
                </a:br>
                <a:r>
                  <a:rPr lang="en-US" sz="2400" dirty="0"/>
                  <a:t>no child should travel more than 30km to reach a school.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rgbClr val="C00000"/>
                    </a:solidFill>
                  </a:rPr>
                  <a:t>Minimum number of schools we need to build?</a:t>
                </a:r>
                <a:endParaRPr lang="en-US" sz="2400" dirty="0"/>
              </a:p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accent1"/>
                    </a:solidFill>
                  </a:rPr>
                  <a:t>Simple greedy strategy: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/>
                  <a:t>Keep picking the town that covers </a:t>
                </a:r>
                <a:br>
                  <a:rPr lang="en-US" sz="2400" dirty="0"/>
                </a:br>
                <a:r>
                  <a:rPr lang="en-US" sz="2400" dirty="0"/>
                  <a:t>most remaining uncovered towns, </a:t>
                </a:r>
                <a:br>
                  <a:rPr lang="en-US" sz="2400" dirty="0"/>
                </a:br>
                <a:r>
                  <a:rPr lang="en-US" sz="2400" dirty="0"/>
                  <a:t>until we are done.</a:t>
                </a:r>
                <a:br>
                  <a:rPr lang="en-US" sz="2400" dirty="0"/>
                </a:br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(Pick the set the covers most uncovered </a:t>
                </a:r>
                <a:b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</a:br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elements, until all elements are covered.)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chemeClr val="accent2">
                        <a:lumMod val="75000"/>
                      </a:schemeClr>
                    </a:solidFill>
                  </a:rPr>
                  <a:t>Greedy solution: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endParaRPr lang="en-US" dirty="0">
                  <a:solidFill>
                    <a:schemeClr val="accent2">
                      <a:lumMod val="75000"/>
                    </a:schemeClr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rgbClr val="C00000"/>
                    </a:solidFill>
                  </a:rPr>
                  <a:t>Can we do better?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7376374-AA29-4DDB-988F-3BAF537A71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  <a:blipFill>
                <a:blip r:embed="rId2"/>
                <a:stretch>
                  <a:fillRect l="-1005" t="-17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858DE567-B1A0-4C56-B29A-CD01700E86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4435" y="3596640"/>
            <a:ext cx="2860915" cy="289623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椭圆 4">
            <a:extLst>
              <a:ext uri="{FF2B5EF4-FFF2-40B4-BE49-F238E27FC236}">
                <a16:creationId xmlns:a16="http://schemas.microsoft.com/office/drawing/2014/main" id="{2DD3D309-DB58-4F06-BC3E-ECADE9AF9980}"/>
              </a:ext>
            </a:extLst>
          </p:cNvPr>
          <p:cNvSpPr/>
          <p:nvPr/>
        </p:nvSpPr>
        <p:spPr>
          <a:xfrm>
            <a:off x="5807634" y="3952178"/>
            <a:ext cx="1995246" cy="1995246"/>
          </a:xfrm>
          <a:prstGeom prst="ellipse">
            <a:avLst/>
          </a:prstGeom>
          <a:solidFill>
            <a:schemeClr val="accent2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CE8E36EC-8D79-4AB3-B27E-F01116526A5F}"/>
              </a:ext>
            </a:extLst>
          </p:cNvPr>
          <p:cNvSpPr/>
          <p:nvPr/>
        </p:nvSpPr>
        <p:spPr>
          <a:xfrm>
            <a:off x="5492674" y="2803138"/>
            <a:ext cx="1995246" cy="1995246"/>
          </a:xfrm>
          <a:prstGeom prst="ellipse">
            <a:avLst/>
          </a:prstGeom>
          <a:solidFill>
            <a:schemeClr val="accent2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4150E44A-919D-4CFE-B717-D77B77FC3583}"/>
              </a:ext>
            </a:extLst>
          </p:cNvPr>
          <p:cNvSpPr/>
          <p:nvPr/>
        </p:nvSpPr>
        <p:spPr>
          <a:xfrm>
            <a:off x="5492674" y="5209608"/>
            <a:ext cx="1995246" cy="1995246"/>
          </a:xfrm>
          <a:prstGeom prst="ellipse">
            <a:avLst/>
          </a:prstGeom>
          <a:solidFill>
            <a:schemeClr val="accent2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2DD27C8B-5DBE-4902-AFE0-15B1A52F86D4}"/>
              </a:ext>
            </a:extLst>
          </p:cNvPr>
          <p:cNvSpPr/>
          <p:nvPr/>
        </p:nvSpPr>
        <p:spPr>
          <a:xfrm>
            <a:off x="7223251" y="3800761"/>
            <a:ext cx="1995246" cy="1995246"/>
          </a:xfrm>
          <a:prstGeom prst="ellipse">
            <a:avLst/>
          </a:prstGeom>
          <a:solidFill>
            <a:schemeClr val="accent2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621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0D7BA2-A3F9-4DCA-9DA1-7FCC00DE0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Cover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7376374-AA29-4DDB-988F-3BAF537A71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dirty="0"/>
                  <a:t>Suppose we need to build schools for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towns.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/>
                  <a:t>Each school must be in a town,</a:t>
                </a:r>
                <a:br>
                  <a:rPr lang="en-US" sz="2400" dirty="0"/>
                </a:br>
                <a:r>
                  <a:rPr lang="en-US" sz="2400" dirty="0"/>
                  <a:t>no child should travel more than 30km to reach a school.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rgbClr val="C00000"/>
                    </a:solidFill>
                  </a:rPr>
                  <a:t>Minimum number of schools we need to build?</a:t>
                </a:r>
                <a:endParaRPr lang="en-US" sz="2400" dirty="0"/>
              </a:p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accent1"/>
                    </a:solidFill>
                  </a:rPr>
                  <a:t>Simple greedy strategy: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/>
                  <a:t>Keep picking the town that covers </a:t>
                </a:r>
                <a:br>
                  <a:rPr lang="en-US" sz="2400" dirty="0"/>
                </a:br>
                <a:r>
                  <a:rPr lang="en-US" sz="2400" dirty="0"/>
                  <a:t>most remaining uncovered towns, </a:t>
                </a:r>
                <a:br>
                  <a:rPr lang="en-US" sz="2400" dirty="0"/>
                </a:br>
                <a:r>
                  <a:rPr lang="en-US" sz="2400" dirty="0"/>
                  <a:t>until we are done.</a:t>
                </a:r>
                <a:br>
                  <a:rPr lang="en-US" sz="2400" dirty="0"/>
                </a:br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(Pick the set the covers most uncovered </a:t>
                </a:r>
                <a:b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</a:br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elements, until all elements are covered.)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chemeClr val="accent2">
                        <a:lumMod val="75000"/>
                      </a:schemeClr>
                    </a:solidFill>
                  </a:rPr>
                  <a:t>Greedy solution: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endParaRPr lang="en-US" dirty="0">
                  <a:solidFill>
                    <a:schemeClr val="accent2">
                      <a:lumMod val="75000"/>
                    </a:schemeClr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chemeClr val="accent2">
                        <a:lumMod val="75000"/>
                      </a:schemeClr>
                    </a:solidFill>
                  </a:rPr>
                  <a:t>Optimal solution: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4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sz="2400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7376374-AA29-4DDB-988F-3BAF537A71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  <a:blipFill>
                <a:blip r:embed="rId2"/>
                <a:stretch>
                  <a:fillRect l="-1005" t="-17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858DE567-B1A0-4C56-B29A-CD01700E86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4435" y="3596640"/>
            <a:ext cx="2860915" cy="289623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椭圆 4">
            <a:extLst>
              <a:ext uri="{FF2B5EF4-FFF2-40B4-BE49-F238E27FC236}">
                <a16:creationId xmlns:a16="http://schemas.microsoft.com/office/drawing/2014/main" id="{2DD3D309-DB58-4F06-BC3E-ECADE9AF9980}"/>
              </a:ext>
            </a:extLst>
          </p:cNvPr>
          <p:cNvSpPr/>
          <p:nvPr/>
        </p:nvSpPr>
        <p:spPr>
          <a:xfrm>
            <a:off x="5611852" y="3323076"/>
            <a:ext cx="1995246" cy="1995246"/>
          </a:xfrm>
          <a:prstGeom prst="ellipse">
            <a:avLst/>
          </a:prstGeom>
          <a:solidFill>
            <a:schemeClr val="accent2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CE8E36EC-8D79-4AB3-B27E-F01116526A5F}"/>
              </a:ext>
            </a:extLst>
          </p:cNvPr>
          <p:cNvSpPr/>
          <p:nvPr/>
        </p:nvSpPr>
        <p:spPr>
          <a:xfrm>
            <a:off x="6567018" y="3910352"/>
            <a:ext cx="1995246" cy="1995246"/>
          </a:xfrm>
          <a:prstGeom prst="ellipse">
            <a:avLst/>
          </a:prstGeom>
          <a:solidFill>
            <a:schemeClr val="accent2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4150E44A-919D-4CFE-B717-D77B77FC3583}"/>
              </a:ext>
            </a:extLst>
          </p:cNvPr>
          <p:cNvSpPr/>
          <p:nvPr/>
        </p:nvSpPr>
        <p:spPr>
          <a:xfrm>
            <a:off x="5450096" y="4683145"/>
            <a:ext cx="1995246" cy="1995246"/>
          </a:xfrm>
          <a:prstGeom prst="ellipse">
            <a:avLst/>
          </a:prstGeom>
          <a:solidFill>
            <a:schemeClr val="accent2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523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0D7BA2-A3F9-4DCA-9DA1-7FCC00DE0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Set Cover</a:t>
            </a:r>
            <a:br>
              <a:rPr lang="en-US" dirty="0"/>
            </a:br>
            <a:r>
              <a:rPr lang="en-US" sz="4000" dirty="0"/>
              <a:t>Greedy solution is close to optimal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7376374-AA29-4DDB-988F-3BAF537A71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8515350" cy="4802185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The Set Cover Problem: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1800" dirty="0"/>
                  <a:t>Given a set </a:t>
                </a:r>
                <a14:m>
                  <m:oMath xmlns:m="http://schemas.openxmlformats.org/officeDocument/2006/math">
                    <m:r>
                      <a:rPr lang="en-US" sz="1800" b="0" i="1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sz="1800" dirty="0"/>
                  <a:t> of </a:t>
                </a:r>
                <a14:m>
                  <m:oMath xmlns:m="http://schemas.openxmlformats.org/officeDocument/2006/math">
                    <m:r>
                      <a:rPr lang="en-US" sz="1800" b="0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800" dirty="0"/>
                  <a:t> elements, and </a:t>
                </a:r>
                <a14:m>
                  <m:oMath xmlns:m="http://schemas.openxmlformats.org/officeDocument/2006/math">
                    <m:r>
                      <a:rPr lang="en-US" sz="18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𝒮</m:t>
                    </m:r>
                    <m:r>
                      <a:rPr lang="en-US" sz="18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800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800" b="0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800" b="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800" dirty="0"/>
                  <a:t> where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800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800" b="0" i="1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sz="1800" b="0" i="1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sz="1800" dirty="0"/>
                  <a:t>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1800" dirty="0"/>
                  <a:t>Output </a:t>
                </a:r>
                <a14:m>
                  <m:oMath xmlns:m="http://schemas.openxmlformats.org/officeDocument/2006/math">
                    <m:r>
                      <a:rPr lang="en-US" sz="18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𝒞</m:t>
                    </m:r>
                    <m:r>
                      <a:rPr lang="en-US" sz="18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sz="18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𝒮</m:t>
                    </m:r>
                  </m:oMath>
                </a14:m>
                <a:r>
                  <a:rPr lang="en-US" sz="1800" dirty="0"/>
                  <a:t> such that </a:t>
                </a:r>
                <a14:m>
                  <m:oMath xmlns:m="http://schemas.openxmlformats.org/officeDocument/2006/math">
                    <m:nary>
                      <m:naryPr>
                        <m:chr m:val="⋃"/>
                        <m:supHide m:val="on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800" b="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800" b="0" i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18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𝒞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800" b="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sz="1800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sz="1800" dirty="0"/>
                  <a:t>. </a:t>
                </a:r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(I.e., subsets of </a:t>
                </a:r>
                <a14:m>
                  <m:oMath xmlns:m="http://schemas.openxmlformats.org/officeDocument/2006/math">
                    <m:r>
                      <a:rPr lang="en-US" sz="1800" b="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𝒮</m:t>
                    </m:r>
                  </m:oMath>
                </a14:m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that “cover” </a:t>
                </a:r>
                <a14:m>
                  <m:oMath xmlns:m="http://schemas.openxmlformats.org/officeDocument/2006/math">
                    <m:r>
                      <a:rPr lang="en-US" sz="1800" b="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.)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1800" dirty="0"/>
                  <a:t>Goal is to minimize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𝒞</m:t>
                        </m:r>
                      </m:e>
                    </m:d>
                  </m:oMath>
                </a14:m>
                <a:r>
                  <a:rPr lang="en-US" sz="18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Simple greedy strategy</a:t>
                </a:r>
                <a:r>
                  <a:rPr lang="en-US" sz="2000" dirty="0"/>
                  <a:t>: Keep picking the set the covers most uncovered elements, until all elements are covered.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accent6">
                        <a:lumMod val="75000"/>
                      </a:schemeClr>
                    </a:solidFill>
                  </a:rPr>
                  <a:t>Theorem</a:t>
                </a:r>
                <a:r>
                  <a:rPr lang="en-US" sz="2400" b="1" dirty="0"/>
                  <a:t>:</a:t>
                </a:r>
                <a:r>
                  <a:rPr lang="en-US" sz="2400" dirty="0"/>
                  <a:t> Suppose the optimal solution uses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 sets, </a:t>
                </a:r>
                <a:br>
                  <a:rPr lang="en-US" sz="2400" dirty="0"/>
                </a:br>
                <a:r>
                  <a:rPr lang="en-US" sz="2400" dirty="0"/>
                  <a:t>then the greedy strategy will use at most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sz="2400" dirty="0"/>
                  <a:t> sets.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1800" b="1" dirty="0"/>
                  <a:t>Proof:</a:t>
                </a:r>
                <a:r>
                  <a:rPr lang="en-US" sz="1800" dirty="0"/>
                  <a:t>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800" dirty="0"/>
                  <a:t> be number of uncovered elements after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800" dirty="0"/>
                  <a:t> iterations. </a:t>
                </a:r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(Thus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8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.)</a:t>
                </a:r>
                <a:endParaRPr lang="en-US" sz="1800" dirty="0"/>
              </a:p>
              <a:p>
                <a:pPr>
                  <a:spcBef>
                    <a:spcPts val="600"/>
                  </a:spcBef>
                </a:pPr>
                <a:r>
                  <a:rPr lang="en-US" sz="1800" dirty="0"/>
                  <a:t>These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800" dirty="0"/>
                  <a:t> elements can be covered by some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800" dirty="0"/>
                  <a:t> sets. </a:t>
                </a:r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(The optimal solution will do.)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1800" dirty="0"/>
                  <a:t>So one of remaining sets will cover at least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lang="en-US" sz="1800" dirty="0"/>
                  <a:t> of these uncovered elements.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1800" b="0" dirty="0"/>
                  <a:t>Thus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lin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type m:val="lin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endParaRPr lang="en-US" sz="1800" dirty="0"/>
              </a:p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>
                              <m:fPr>
                                <m:type m:val="lin"/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lin"/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den>
                                </m:f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lin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sup>
                    </m:sSup>
                  </m:oMath>
                </a14:m>
                <a:endParaRPr lang="en-US" sz="1800" dirty="0"/>
              </a:p>
              <a:p>
                <a:pPr>
                  <a:spcBef>
                    <a:spcPts val="600"/>
                  </a:spcBef>
                </a:pPr>
                <a:r>
                  <a:rPr lang="en-US" sz="1800" dirty="0"/>
                  <a:t>With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𝑘</m:t>
                    </m:r>
                    <m:func>
                      <m:func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sz="1800" dirty="0"/>
                  <a:t> we have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US" sz="1800" dirty="0"/>
                  <a:t>, by then we must have done!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7376374-AA29-4DDB-988F-3BAF537A71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8515350" cy="4802185"/>
              </a:xfrm>
              <a:blipFill>
                <a:blip r:embed="rId2"/>
                <a:stretch>
                  <a:fillRect l="-931" t="-1269" b="-54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CFCD0F87-372C-42C7-8355-7E952CBF5B13}"/>
                  </a:ext>
                </a:extLst>
              </p:cNvPr>
              <p:cNvSpPr txBox="1"/>
              <p:nvPr/>
            </p:nvSpPr>
            <p:spPr>
              <a:xfrm>
                <a:off x="5740400" y="5775960"/>
                <a:ext cx="238719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accent2">
                        <a:lumMod val="75000"/>
                      </a:schemeClr>
                    </a:solidFill>
                  </a:rPr>
                  <a:t> when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endParaRPr lang="en-US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CFCD0F87-372C-42C7-8355-7E952CBF5B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0400" y="5775960"/>
                <a:ext cx="2387192" cy="276999"/>
              </a:xfrm>
              <a:prstGeom prst="rect">
                <a:avLst/>
              </a:prstGeom>
              <a:blipFill>
                <a:blip r:embed="rId3"/>
                <a:stretch>
                  <a:fillRect l="-3581" t="-28889" r="-2302" b="-5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1486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0D7BA2-A3F9-4DCA-9DA1-7FCC00DE0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Set Cover</a:t>
            </a:r>
            <a:br>
              <a:rPr lang="en-US" dirty="0"/>
            </a:br>
            <a:r>
              <a:rPr lang="en-US" sz="4000" dirty="0"/>
              <a:t>Greedy solution is close to optimal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7376374-AA29-4DDB-988F-3BAF537A71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8515350" cy="4802185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Simple greedy strategy</a:t>
                </a:r>
                <a:r>
                  <a:rPr lang="en-US" sz="2000" dirty="0"/>
                  <a:t>: Keep picking the set the covers most uncovered elements, until all elements are covered.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b="1" dirty="0">
                    <a:solidFill>
                      <a:schemeClr val="accent6">
                        <a:lumMod val="75000"/>
                      </a:schemeClr>
                    </a:solidFill>
                  </a:rPr>
                  <a:t>Theorem</a:t>
                </a:r>
                <a:r>
                  <a:rPr lang="en-US" sz="2000" b="1" dirty="0"/>
                  <a:t>:</a:t>
                </a:r>
                <a:r>
                  <a:rPr lang="en-US" sz="2000" dirty="0"/>
                  <a:t> Suppose the optimal solution uses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000" dirty="0"/>
                  <a:t> sets, </a:t>
                </a:r>
                <a:br>
                  <a:rPr lang="en-US" sz="2000" dirty="0"/>
                </a:br>
                <a:r>
                  <a:rPr lang="en-US" sz="2000" dirty="0"/>
                  <a:t>then the greedy strategy will use at most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  <m:func>
                      <m:funcPr>
                        <m:ctrlPr>
                          <a:rPr lang="en-US" sz="20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US" sz="20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sz="2000" dirty="0"/>
                  <a:t> sets.</a:t>
                </a:r>
              </a:p>
              <a:p>
                <a:pPr>
                  <a:spcBef>
                    <a:spcPts val="600"/>
                  </a:spcBef>
                </a:pPr>
                <a:endParaRPr lang="en-US" sz="2400" dirty="0">
                  <a:solidFill>
                    <a:schemeClr val="tx1"/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chemeClr val="tx1"/>
                    </a:solidFill>
                  </a:rPr>
                  <a:t>So the greedy strategy gives a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US" sz="24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sz="2400" dirty="0">
                    <a:solidFill>
                      <a:schemeClr val="accent2">
                        <a:lumMod val="75000"/>
                      </a:schemeClr>
                    </a:solidFill>
                  </a:rPr>
                  <a:t> approximation algorithm</a:t>
                </a:r>
                <a:r>
                  <a:rPr lang="en-US" sz="2400" dirty="0">
                    <a:solidFill>
                      <a:schemeClr val="tx1"/>
                    </a:solidFill>
                  </a:rPr>
                  <a:t>, </a:t>
                </a:r>
                <a:br>
                  <a:rPr lang="en-US" sz="2400" dirty="0">
                    <a:solidFill>
                      <a:schemeClr val="tx1"/>
                    </a:solidFill>
                  </a:rPr>
                </a:br>
                <a:r>
                  <a:rPr lang="en-US" sz="2400" dirty="0"/>
                  <a:t>and it has </a:t>
                </a:r>
                <a:r>
                  <a:rPr lang="en-US" sz="2400" dirty="0">
                    <a:solidFill>
                      <a:schemeClr val="accent2">
                        <a:lumMod val="75000"/>
                      </a:schemeClr>
                    </a:solidFill>
                  </a:rPr>
                  <a:t>efficient implementation</a:t>
                </a:r>
                <a:r>
                  <a:rPr lang="en-US" sz="2400" dirty="0"/>
                  <a:t>. </a:t>
                </a:r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(Polynomial runtime.)</a:t>
                </a:r>
                <a:endParaRPr 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  <a:p>
                <a:pPr>
                  <a:spcBef>
                    <a:spcPts val="600"/>
                  </a:spcBef>
                </a:pPr>
                <a:endParaRPr lang="en-US" sz="2400" dirty="0">
                  <a:solidFill>
                    <a:srgbClr val="C00000"/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b="1" dirty="0">
                    <a:solidFill>
                      <a:srgbClr val="C00000"/>
                    </a:solidFill>
                  </a:rPr>
                  <a:t>Can we do better?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/>
                  <a:t>Most likely,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NO</a:t>
                </a:r>
                <a:r>
                  <a:rPr lang="en-US" sz="2400" dirty="0"/>
                  <a:t>! If we only care about efficient algorithms.</a:t>
                </a:r>
                <a:br>
                  <a:rPr lang="en-US" sz="2400" dirty="0"/>
                </a:br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(</a:t>
                </a:r>
                <a:r>
                  <a:rPr lang="en-GB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[</a:t>
                </a:r>
                <a:r>
                  <a:rPr lang="en-US" sz="1800" i="1" dirty="0" err="1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Dinur</a:t>
                </a:r>
                <a:r>
                  <a:rPr lang="en-US" sz="1800" i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 &amp; </a:t>
                </a:r>
                <a:r>
                  <a:rPr lang="en-US" sz="1800" i="1" dirty="0" err="1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Steuer</a:t>
                </a:r>
                <a:r>
                  <a:rPr lang="en-US" sz="1800" i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 14</a:t>
                </a:r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] There is no poly-time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8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8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GB" sz="18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  <m:d>
                          <m:dPr>
                            <m:ctrlPr>
                              <a:rPr lang="en-GB" sz="18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8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d>
                    <m:func>
                      <m:funcPr>
                        <m:ctrlPr>
                          <a:rPr lang="en-GB" sz="18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80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US" sz="18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GB" sz="18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approx. alg. unless </a:t>
                </a:r>
                <a:r>
                  <a:rPr lang="en-US" sz="18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P </a:t>
                </a:r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= </a:t>
                </a:r>
                <a:r>
                  <a:rPr lang="en-US" sz="18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NP</a:t>
                </a:r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.)</a:t>
                </a:r>
                <a:endParaRPr lang="en-US" sz="1800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7376374-AA29-4DDB-988F-3BAF537A71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8515350" cy="4802185"/>
              </a:xfrm>
              <a:blipFill>
                <a:blip r:embed="rId2"/>
                <a:stretch>
                  <a:fillRect l="-1288" t="-12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7963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6864ED-A88B-4E94-A768-8EF0B8DDD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D43BB7-70DD-4A73-A03A-DD7D6C8E22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8"/>
            <a:ext cx="7886700" cy="4802185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Basic idea of greedy strategy</a:t>
            </a:r>
            <a:r>
              <a:rPr lang="en-US" sz="2400" b="1" dirty="0"/>
              <a:t>:</a:t>
            </a:r>
            <a:r>
              <a:rPr lang="en-US" sz="2400" dirty="0"/>
              <a:t> </a:t>
            </a:r>
            <a:r>
              <a:rPr lang="en-US" altLang="zh-CN" sz="1800" dirty="0"/>
              <a:t>At each step when building a solution, make the choice that looks best at that moment, based on some metric.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Properties that make greedy strategy work</a:t>
            </a:r>
            <a:r>
              <a:rPr lang="en-US" sz="2000" b="1" dirty="0"/>
              <a:t>:</a:t>
            </a:r>
          </a:p>
          <a:p>
            <a:pPr lvl="1">
              <a:spcBef>
                <a:spcPts val="600"/>
              </a:spcBef>
            </a:pPr>
            <a:r>
              <a:rPr lang="en-US" sz="2000" b="1" dirty="0"/>
              <a:t>Optimal substructure [</a:t>
            </a:r>
            <a:r>
              <a:rPr lang="en-US" sz="2000" dirty="0">
                <a:solidFill>
                  <a:schemeClr val="accent4">
                    <a:lumMod val="50000"/>
                  </a:schemeClr>
                </a:solidFill>
              </a:rPr>
              <a:t>usually easy to prove</a:t>
            </a:r>
            <a:r>
              <a:rPr lang="en-US" sz="2000" b="1" dirty="0"/>
              <a:t>]:</a:t>
            </a:r>
            <a:r>
              <a:rPr lang="en-US" sz="2000" dirty="0"/>
              <a:t> </a:t>
            </a:r>
            <a:r>
              <a:rPr lang="en-US" altLang="zh-CN" sz="1800" dirty="0"/>
              <a:t>optimal solution to the problem contains within it optimal solution(s) to subproblem(s).</a:t>
            </a:r>
            <a:endParaRPr lang="en-US" altLang="zh-CN" sz="2000" dirty="0"/>
          </a:p>
          <a:p>
            <a:pPr lvl="1">
              <a:spcBef>
                <a:spcPts val="600"/>
              </a:spcBef>
            </a:pPr>
            <a:r>
              <a:rPr lang="en-US" sz="2000" b="1" dirty="0"/>
              <a:t>Greedy choice</a:t>
            </a:r>
            <a:r>
              <a:rPr lang="en-US" sz="2000" dirty="0"/>
              <a:t> [</a:t>
            </a:r>
            <a:r>
              <a:rPr lang="en-US" sz="2000" dirty="0">
                <a:solidFill>
                  <a:schemeClr val="accent4">
                    <a:lumMod val="50000"/>
                  </a:schemeClr>
                </a:solidFill>
              </a:rPr>
              <a:t>could be hard to identify and prove</a:t>
            </a:r>
            <a:r>
              <a:rPr lang="en-US" sz="2000" dirty="0"/>
              <a:t>]: </a:t>
            </a:r>
            <a:r>
              <a:rPr lang="en-US" sz="1800" dirty="0"/>
              <a:t>the greedy choice is contained within some optimal solution.</a:t>
            </a:r>
          </a:p>
          <a:p>
            <a:pPr>
              <a:spcBef>
                <a:spcPts val="600"/>
              </a:spcBef>
            </a:pPr>
            <a:endParaRPr lang="en-US" sz="2000" dirty="0"/>
          </a:p>
          <a:p>
            <a:pPr>
              <a:spcBef>
                <a:spcPts val="600"/>
              </a:spcBef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Greed gives </a:t>
            </a:r>
            <a:r>
              <a:rPr lang="en-US" sz="2400" u="sng" dirty="0">
                <a:solidFill>
                  <a:schemeClr val="accent1">
                    <a:lumMod val="75000"/>
                  </a:schemeClr>
                </a:solidFill>
              </a:rPr>
              <a:t>optimal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 solutions</a:t>
            </a:r>
            <a:r>
              <a:rPr lang="en-US" sz="2400" dirty="0"/>
              <a:t>: MST, Huffman codes, …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Greed gives </a:t>
            </a:r>
            <a:r>
              <a:rPr lang="en-US" sz="2400" u="sng" dirty="0">
                <a:solidFill>
                  <a:schemeClr val="accent1">
                    <a:lumMod val="75000"/>
                  </a:schemeClr>
                </a:solidFill>
              </a:rPr>
              <a:t>near-optimal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 solutions</a:t>
            </a:r>
            <a:r>
              <a:rPr lang="en-US" sz="2400" dirty="0"/>
              <a:t>: Set cover, …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Greed gives </a:t>
            </a:r>
            <a:r>
              <a:rPr lang="en-US" sz="2400" u="sng" dirty="0">
                <a:solidFill>
                  <a:schemeClr val="accent1">
                    <a:lumMod val="75000"/>
                  </a:schemeClr>
                </a:solidFill>
              </a:rPr>
              <a:t>arbitrarily bad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 solutions</a:t>
            </a:r>
            <a:r>
              <a:rPr lang="en-US" sz="2400" dirty="0"/>
              <a:t>: 0-1 knapsack, …</a:t>
            </a:r>
          </a:p>
        </p:txBody>
      </p:sp>
    </p:spTree>
    <p:extLst>
      <p:ext uri="{BB962C8B-B14F-4D97-AF65-F5344CB8AC3E}">
        <p14:creationId xmlns:p14="http://schemas.microsoft.com/office/powerpoint/2010/main" val="421586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672A32-D3AF-46A0-B548-4CBBB23E5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Reading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1531AD-1593-46BE-9E30-047A1682D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GB" sz="2400" dirty="0"/>
              <a:t>[CLRS] Ch.16 (16.1-16.3)</a:t>
            </a:r>
          </a:p>
          <a:p>
            <a:pPr>
              <a:spcBef>
                <a:spcPts val="600"/>
              </a:spcBef>
            </a:pPr>
            <a:r>
              <a:rPr lang="en-GB" sz="2400" dirty="0"/>
              <a:t>Optional reading:</a:t>
            </a:r>
          </a:p>
          <a:p>
            <a:pPr lvl="1">
              <a:spcBef>
                <a:spcPts val="600"/>
              </a:spcBef>
            </a:pPr>
            <a:r>
              <a:rPr lang="en-GB" sz="1800" dirty="0"/>
              <a:t>Ch.35 (35.3) of [CLRS] discusses the set cover problem.</a:t>
            </a:r>
          </a:p>
          <a:p>
            <a:pPr lvl="1">
              <a:spcBef>
                <a:spcPts val="600"/>
              </a:spcBef>
            </a:pPr>
            <a:r>
              <a:rPr lang="en-GB" sz="1800" dirty="0"/>
              <a:t>[</a:t>
            </a:r>
            <a:r>
              <a:rPr lang="en-GB" sz="1800" dirty="0" err="1"/>
              <a:t>Vazirani</a:t>
            </a:r>
            <a:r>
              <a:rPr lang="en-GB" sz="1800" dirty="0"/>
              <a:t>] and [</a:t>
            </a:r>
            <a:r>
              <a:rPr lang="en-US" sz="1800" dirty="0"/>
              <a:t>Williamson &amp; </a:t>
            </a:r>
            <a:r>
              <a:rPr lang="en-US" sz="1800" dirty="0" err="1"/>
              <a:t>Shmoys</a:t>
            </a:r>
            <a:r>
              <a:rPr lang="en-GB" sz="1800" dirty="0"/>
              <a:t>] are two standard textbooks on approximation algorithms. Both of them introduce several hard problems that have efficient approximation algorithms using greedy strategy.</a:t>
            </a:r>
          </a:p>
          <a:p>
            <a:pPr lvl="1">
              <a:spcBef>
                <a:spcPts val="600"/>
              </a:spcBef>
            </a:pPr>
            <a:r>
              <a:rPr lang="en-GB" sz="1800" dirty="0"/>
              <a:t>Greedy strategy can also be used to solve non-optimization problems, such as the “stable matching” problem. See [</a:t>
            </a:r>
            <a:r>
              <a:rPr lang="en-US" sz="1800" dirty="0"/>
              <a:t>Erickson v1</a:t>
            </a:r>
            <a:r>
              <a:rPr lang="en-GB" sz="1800" dirty="0"/>
              <a:t>] Ch.4 (4.5).</a:t>
            </a:r>
            <a:endParaRPr lang="en-US" sz="16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5D95915-B94E-4837-AFA9-FCDCCF0E89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9150" y="4643120"/>
            <a:ext cx="1286200" cy="184975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D0A673F3-6737-47EF-8F24-6BBFA604D1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2921" y="4643120"/>
            <a:ext cx="1224537" cy="184975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Cover art for The Design of Approximation Algorithms">
            <a:extLst>
              <a:ext uri="{FF2B5EF4-FFF2-40B4-BE49-F238E27FC236}">
                <a16:creationId xmlns:a16="http://schemas.microsoft.com/office/drawing/2014/main" id="{8944373C-36B4-4FA3-9F71-DA4AC5C2F2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0688" y="4643120"/>
            <a:ext cx="1265232" cy="184975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5216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2435</TotalTime>
  <Words>3816</Words>
  <Application>Microsoft Office PowerPoint</Application>
  <PresentationFormat>全屏显示(4:3)</PresentationFormat>
  <Paragraphs>427</Paragraphs>
  <Slides>34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0" baseType="lpstr">
      <vt:lpstr>Calibri</vt:lpstr>
      <vt:lpstr>Arial</vt:lpstr>
      <vt:lpstr>Courier New</vt:lpstr>
      <vt:lpstr>Calibri Light</vt:lpstr>
      <vt:lpstr>Cambria Math</vt:lpstr>
      <vt:lpstr>Office 主题​​</vt:lpstr>
      <vt:lpstr>Greedy Algorithms</vt:lpstr>
      <vt:lpstr>The Greedy Strategy</vt:lpstr>
      <vt:lpstr>An Activity-Selection Problem</vt:lpstr>
      <vt:lpstr>An Activity-Selection Problem</vt:lpstr>
      <vt:lpstr>An Activity-Selection Problem</vt:lpstr>
      <vt:lpstr>An Activity-Selection Problem</vt:lpstr>
      <vt:lpstr>PowerPoint 演示文稿</vt:lpstr>
      <vt:lpstr>Greedy strategy for the activity-selection problem Correctness</vt:lpstr>
      <vt:lpstr>Greedy strategy for the activity-selection problem Correctness</vt:lpstr>
      <vt:lpstr>Greedy strategy for the activity-selection problem Correctness</vt:lpstr>
      <vt:lpstr>Elements of the Greedy Strategy</vt:lpstr>
      <vt:lpstr>Elements of the Greedy Strategy Optimal Substructure</vt:lpstr>
      <vt:lpstr>Elements of the Greedy Strategy Greedy-Choice Property</vt:lpstr>
      <vt:lpstr>Fractional Knapsack Problem</vt:lpstr>
      <vt:lpstr>Fractional Knapsack Problem Correctness of the greedy algorithm</vt:lpstr>
      <vt:lpstr>0-1 Knapsack Problem</vt:lpstr>
      <vt:lpstr>0-1 Knapsack Problem</vt:lpstr>
      <vt:lpstr>0-1 Knapsack Problem Why greedy strategy fail?</vt:lpstr>
      <vt:lpstr>A data compression problem</vt:lpstr>
      <vt:lpstr>A data compression problem</vt:lpstr>
      <vt:lpstr>A data compression problem</vt:lpstr>
      <vt:lpstr>A data compression problem</vt:lpstr>
      <vt:lpstr>Properties of prefix-free code</vt:lpstr>
      <vt:lpstr>Length of encoded message</vt:lpstr>
      <vt:lpstr>Huffman Codes</vt:lpstr>
      <vt:lpstr>Huffman Codes Correctness</vt:lpstr>
      <vt:lpstr>Huffman Codes Correctness</vt:lpstr>
      <vt:lpstr>Set Cover</vt:lpstr>
      <vt:lpstr>Set Cover</vt:lpstr>
      <vt:lpstr>Set Cover</vt:lpstr>
      <vt:lpstr>Set Cover Greedy solution is close to optimal</vt:lpstr>
      <vt:lpstr>Set Cover Greedy solution is close to optimal</vt:lpstr>
      <vt:lpstr>Summary</vt:lpstr>
      <vt:lpstr>Reading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Greedy Algorithms</dc:title>
  <dc:creator>Chaodong</dc:creator>
  <cp:lastModifiedBy>Chaodong</cp:lastModifiedBy>
  <cp:revision>87</cp:revision>
  <dcterms:created xsi:type="dcterms:W3CDTF">2019-11-19T15:16:23Z</dcterms:created>
  <dcterms:modified xsi:type="dcterms:W3CDTF">2019-11-21T07:52:09Z</dcterms:modified>
</cp:coreProperties>
</file>