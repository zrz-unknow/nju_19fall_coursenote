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91" r:id="rId14"/>
    <p:sldId id="292" r:id="rId15"/>
    <p:sldId id="293" r:id="rId16"/>
    <p:sldId id="294" r:id="rId17"/>
    <p:sldId id="295" r:id="rId18"/>
    <p:sldId id="268" r:id="rId19"/>
    <p:sldId id="296" r:id="rId20"/>
    <p:sldId id="297" r:id="rId21"/>
    <p:sldId id="298" r:id="rId22"/>
    <p:sldId id="299" r:id="rId23"/>
    <p:sldId id="300" r:id="rId24"/>
    <p:sldId id="301" r:id="rId25"/>
    <p:sldId id="302" r:id="rId26"/>
    <p:sldId id="304" r:id="rId27"/>
    <p:sldId id="303" r:id="rId28"/>
    <p:sldId id="305" r:id="rId29"/>
    <p:sldId id="306" r:id="rId30"/>
    <p:sldId id="307" r:id="rId31"/>
    <p:sldId id="308" r:id="rId32"/>
    <p:sldId id="309" r:id="rId33"/>
    <p:sldId id="310" r:id="rId34"/>
    <p:sldId id="311" r:id="rId35"/>
    <p:sldId id="290" r:id="rId36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37"/>
      <p:bold r:id="rId38"/>
      <p:italic r:id="rId39"/>
      <p:boldItalic r:id="rId40"/>
    </p:embeddedFont>
    <p:embeddedFont>
      <p:font typeface="Calibri Light" panose="020F0302020204030204" pitchFamily="34" charset="0"/>
      <p:regular r:id="rId41"/>
      <p:italic r:id="rId42"/>
    </p:embeddedFont>
    <p:embeddedFont>
      <p:font typeface="Cambria Math" panose="02040503050406030204" pitchFamily="18" charset="0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79258" autoAdjust="0"/>
  </p:normalViewPr>
  <p:slideViewPr>
    <p:cSldViewPr snapToGrid="0">
      <p:cViewPr varScale="1">
        <p:scale>
          <a:sx n="91" d="100"/>
          <a:sy n="91" d="100"/>
        </p:scale>
        <p:origin x="22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052048-50D7-4CB4-90A8-650D341A8B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516E891-D36C-4F31-86E5-48360FC338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49437C-1ACE-4D24-BFCA-0E78FFDEF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B53D-227B-4039-9FB3-FDFB3C37236B}" type="datetimeFigureOut">
              <a:rPr lang="en-US" smtClean="0"/>
              <a:t>19/09/19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37E858-EE42-45DC-A79A-CA61898CE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6047D1-1BCA-446A-BC39-56914FA94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339B-1C62-4A78-8F04-8594B379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240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F652A5-751D-427D-94CF-7E0296841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16F346-B078-4280-90B3-3BDCA01E1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8FBADB-D19A-4774-ADDB-DA6C10C1B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B53D-227B-4039-9FB3-FDFB3C37236B}" type="datetimeFigureOut">
              <a:rPr lang="en-US" smtClean="0"/>
              <a:t>19/09/19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124A44-38C3-415A-A485-2F66D46C2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3A4033-D997-4856-942D-43F5A2F6A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339B-1C62-4A78-8F04-8594B379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543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E8701E-7EED-49A0-8A43-14C9D4959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7D8F39F-8F67-494B-8A09-A433824C9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8D6E32-2031-44B7-BCC6-6222B9328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B53D-227B-4039-9FB3-FDFB3C37236B}" type="datetimeFigureOut">
              <a:rPr lang="en-US" smtClean="0"/>
              <a:t>19/09/19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48F25A-186A-456E-8DFF-FAEC7FDB6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E3477D-5199-44BC-A719-F3C264836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339B-1C62-4A78-8F04-8594B379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744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2FEEEF-1F6F-40D2-B129-984533F8D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4FEFB5-100B-451D-BD36-02C94CF04E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41C11B-EC6A-49B0-8945-8490859155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BCFD21-9886-4871-A210-AD8CCDEA1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B53D-227B-4039-9FB3-FDFB3C37236B}" type="datetimeFigureOut">
              <a:rPr lang="en-US" smtClean="0"/>
              <a:t>19/09/19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97B8CD-9401-4615-8420-54452AD61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B96051-E0AB-4700-AEFB-45102E4F6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339B-1C62-4A78-8F04-8594B379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241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E1DAA3-1F43-4093-B029-E7DB598F4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2852E7-5FFF-4285-8143-A1FF07005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CD6F3E0-1246-4651-A138-57D7B7E2F0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AE16DA8-0407-439E-9FF0-5BE69663E7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FC11095-7697-4ADE-B5E5-FF8C72BD28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87FE688-BE95-424C-A501-B1F69C813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B53D-227B-4039-9FB3-FDFB3C37236B}" type="datetimeFigureOut">
              <a:rPr lang="en-US" smtClean="0"/>
              <a:t>19/09/19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8FE4CF1-E57A-49A7-B90D-B851F6923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D33032F-A479-4833-ABF8-1D65C4AF5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339B-1C62-4A78-8F04-8594B379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983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6B4B91-CC2D-4BA2-A6A4-E01E38714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BFFB67B-A861-49B3-831A-4FDDAD63C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B53D-227B-4039-9FB3-FDFB3C37236B}" type="datetimeFigureOut">
              <a:rPr lang="en-US" smtClean="0"/>
              <a:t>19/09/19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A5D8B3-3A8D-4B09-8F89-0F8052689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E040ADD-3AA6-4664-B55C-E6A9A07A4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339B-1C62-4A78-8F04-8594B379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574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32A9F05-24F3-4A42-B785-00DBA4E69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B53D-227B-4039-9FB3-FDFB3C37236B}" type="datetimeFigureOut">
              <a:rPr lang="en-US" smtClean="0"/>
              <a:t>19/09/19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4C6AA69-A2FB-4BF2-B223-A857F235F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6F140F-CC8E-4998-8D13-B5E309F9A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339B-1C62-4A78-8F04-8594B379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604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A3A317-276D-4678-9D8C-8FA9D3238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EA1537-9581-4310-96C3-DD61AEADD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30704E-1F05-49AE-AE97-5BA7C08124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30FA99-1127-48E5-A923-E9F709BD3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B53D-227B-4039-9FB3-FDFB3C37236B}" type="datetimeFigureOut">
              <a:rPr lang="en-US" smtClean="0"/>
              <a:t>19/09/19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CF191FC-1EDA-4783-A438-4EC61AD3D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9EB690-A05B-4293-920D-A1EB2DD0E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339B-1C62-4A78-8F04-8594B379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729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FE0810-DDD5-4F7C-B9A8-54E283C3D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1E946F5-FE66-43D0-B96D-E469EC65B2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78046D-F98A-42FB-8BB7-8ECEDB2D6B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84BD34-BF12-4046-B3AE-15AB76EC7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B53D-227B-4039-9FB3-FDFB3C37236B}" type="datetimeFigureOut">
              <a:rPr lang="en-US" smtClean="0"/>
              <a:t>19/09/19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5ACA211-8006-402B-ADB0-B4BBDC5F5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68C435-4101-4021-8982-7ACD70DD6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339B-1C62-4A78-8F04-8594B379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103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8C0EA5-172C-42B5-B3F6-B35A10B66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C812FD-CF19-42CC-A5E9-5C53B6C5AB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E299EE-A70F-4FCB-A62F-C6E9AE1DC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B53D-227B-4039-9FB3-FDFB3C37236B}" type="datetimeFigureOut">
              <a:rPr lang="en-US" smtClean="0"/>
              <a:t>19/09/19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8BE2AC-EF1A-4E02-AAD8-CDDEB9FF9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0D13CA-53E4-41E4-AF2A-DE12BCEB6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339B-1C62-4A78-8F04-8594B379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913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E3CC722-19B7-4E8C-A040-ADA0BE63FC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A46BFA9-0D75-4185-AA74-3D2976F2F4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A0E15E-D4F2-4A9D-AE8D-EABEE1D9A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B53D-227B-4039-9FB3-FDFB3C37236B}" type="datetimeFigureOut">
              <a:rPr lang="en-US" smtClean="0"/>
              <a:t>19/09/19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660F8B-1FC7-4647-8F66-B63E952DE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DE989F-8686-4EE6-A988-BA5FEB49D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339B-1C62-4A78-8F04-8594B379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666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6F31793-2705-4B97-9F14-793B995C2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4B4BCF-0D37-4C33-93A8-09FAF3763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17761A-3511-4388-A71D-0DAE4B2376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0B53D-227B-4039-9FB3-FDFB3C37236B}" type="datetimeFigureOut">
              <a:rPr lang="en-US" smtClean="0"/>
              <a:t>19/09/19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9CC5A2-6AA0-4217-95F5-1CFA11A733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3D7F63-FDF8-4742-BFB9-16B0DA4305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34339B-1C62-4A78-8F04-8594B379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905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18" Type="http://schemas.openxmlformats.org/officeDocument/2006/relationships/image" Target="../media/image46.png"/><Relationship Id="rId26" Type="http://schemas.openxmlformats.org/officeDocument/2006/relationships/image" Target="../media/image54.png"/><Relationship Id="rId39" Type="http://schemas.openxmlformats.org/officeDocument/2006/relationships/image" Target="../media/image67.png"/><Relationship Id="rId3" Type="http://schemas.openxmlformats.org/officeDocument/2006/relationships/image" Target="../media/image29.png"/><Relationship Id="rId21" Type="http://schemas.openxmlformats.org/officeDocument/2006/relationships/image" Target="../media/image49.png"/><Relationship Id="rId34" Type="http://schemas.openxmlformats.org/officeDocument/2006/relationships/image" Target="../media/image62.png"/><Relationship Id="rId42" Type="http://schemas.openxmlformats.org/officeDocument/2006/relationships/image" Target="../media/image70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5" Type="http://schemas.openxmlformats.org/officeDocument/2006/relationships/image" Target="../media/image53.png"/><Relationship Id="rId33" Type="http://schemas.openxmlformats.org/officeDocument/2006/relationships/image" Target="../media/image61.png"/><Relationship Id="rId38" Type="http://schemas.openxmlformats.org/officeDocument/2006/relationships/image" Target="../media/image66.png"/><Relationship Id="rId2" Type="http://schemas.openxmlformats.org/officeDocument/2006/relationships/image" Target="../media/image30.png"/><Relationship Id="rId16" Type="http://schemas.openxmlformats.org/officeDocument/2006/relationships/image" Target="../media/image44.png"/><Relationship Id="rId20" Type="http://schemas.openxmlformats.org/officeDocument/2006/relationships/image" Target="../media/image48.png"/><Relationship Id="rId29" Type="http://schemas.openxmlformats.org/officeDocument/2006/relationships/image" Target="../media/image57.png"/><Relationship Id="rId41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24" Type="http://schemas.openxmlformats.org/officeDocument/2006/relationships/image" Target="../media/image52.png"/><Relationship Id="rId32" Type="http://schemas.openxmlformats.org/officeDocument/2006/relationships/image" Target="../media/image60.png"/><Relationship Id="rId37" Type="http://schemas.openxmlformats.org/officeDocument/2006/relationships/image" Target="../media/image65.png"/><Relationship Id="rId40" Type="http://schemas.openxmlformats.org/officeDocument/2006/relationships/image" Target="../media/image68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23" Type="http://schemas.openxmlformats.org/officeDocument/2006/relationships/image" Target="../media/image51.png"/><Relationship Id="rId28" Type="http://schemas.openxmlformats.org/officeDocument/2006/relationships/image" Target="../media/image56.png"/><Relationship Id="rId36" Type="http://schemas.openxmlformats.org/officeDocument/2006/relationships/image" Target="../media/image64.png"/><Relationship Id="rId10" Type="http://schemas.openxmlformats.org/officeDocument/2006/relationships/image" Target="../media/image38.png"/><Relationship Id="rId19" Type="http://schemas.openxmlformats.org/officeDocument/2006/relationships/image" Target="../media/image47.png"/><Relationship Id="rId31" Type="http://schemas.openxmlformats.org/officeDocument/2006/relationships/image" Target="../media/image59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Relationship Id="rId22" Type="http://schemas.openxmlformats.org/officeDocument/2006/relationships/image" Target="../media/image50.png"/><Relationship Id="rId27" Type="http://schemas.openxmlformats.org/officeDocument/2006/relationships/image" Target="../media/image55.png"/><Relationship Id="rId30" Type="http://schemas.openxmlformats.org/officeDocument/2006/relationships/image" Target="../media/image58.png"/><Relationship Id="rId35" Type="http://schemas.openxmlformats.org/officeDocument/2006/relationships/image" Target="../media/image6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0.png"/><Relationship Id="rId3" Type="http://schemas.openxmlformats.org/officeDocument/2006/relationships/image" Target="../media/image29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5" Type="http://schemas.openxmlformats.org/officeDocument/2006/relationships/image" Target="../media/image8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Relationship Id="rId14" Type="http://schemas.openxmlformats.org/officeDocument/2006/relationships/image" Target="../media/image8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94.png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12" Type="http://schemas.openxmlformats.org/officeDocument/2006/relationships/image" Target="../media/image93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11" Type="http://schemas.openxmlformats.org/officeDocument/2006/relationships/image" Target="../media/image92.png"/><Relationship Id="rId5" Type="http://schemas.openxmlformats.org/officeDocument/2006/relationships/image" Target="../media/image86.png"/><Relationship Id="rId15" Type="http://schemas.openxmlformats.org/officeDocument/2006/relationships/image" Target="../media/image95.png"/><Relationship Id="rId10" Type="http://schemas.openxmlformats.org/officeDocument/2006/relationships/image" Target="../media/image91.png"/><Relationship Id="rId4" Type="http://schemas.openxmlformats.org/officeDocument/2006/relationships/image" Target="../media/image85.png"/><Relationship Id="rId9" Type="http://schemas.openxmlformats.org/officeDocument/2006/relationships/image" Target="../media/image90.png"/><Relationship Id="rId1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jpeg"/><Relationship Id="rId2" Type="http://schemas.openxmlformats.org/officeDocument/2006/relationships/image" Target="../media/image10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FB974E-FDF9-47AD-B73D-2F48DADDA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>
            <a:normAutofit/>
          </a:bodyPr>
          <a:lstStyle/>
          <a:p>
            <a:r>
              <a:rPr lang="en-GB" b="1" dirty="0"/>
              <a:t>Sorting</a:t>
            </a:r>
            <a:endParaRPr 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30E9ED-4082-48C1-9706-0FA0AA4FD7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</a:pPr>
            <a:r>
              <a:rPr lang="en-GB" dirty="0"/>
              <a:t>Data Structures and Algorithms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2000" dirty="0">
                <a:solidFill>
                  <a:schemeClr val="bg2">
                    <a:lumMod val="50000"/>
                  </a:schemeClr>
                </a:solidFill>
              </a:rPr>
              <a:t>Nanjing University, Fall 2019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</a:rPr>
              <a:t>郑朝栋</a:t>
            </a: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341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D8D8F3-2621-4721-9932-27DBB17F5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Sorting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380802C-3948-4D49-85ED-3418512F6E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Sort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numbers into ascending order.</a:t>
                </a:r>
                <a:endParaRPr lang="en-US" sz="2000" dirty="0"/>
              </a:p>
              <a:p>
                <a:r>
                  <a:rPr lang="en-US" sz="2400" dirty="0"/>
                  <a:t>We can actually sort a collection of any type of data,</a:t>
                </a:r>
                <a:br>
                  <a:rPr lang="en-US" sz="2400" dirty="0"/>
                </a:br>
                <a:r>
                  <a:rPr lang="en-US" sz="2400" dirty="0"/>
                  <a:t>so long as a </a:t>
                </a:r>
                <a:r>
                  <a:rPr lang="en-US" sz="2400" dirty="0">
                    <a:solidFill>
                      <a:srgbClr val="C00000"/>
                    </a:solidFill>
                  </a:rPr>
                  <a:t>total order </a:t>
                </a:r>
                <a:r>
                  <a:rPr lang="en-US" sz="2400" dirty="0"/>
                  <a:t>is defined for that type of data.</a:t>
                </a:r>
              </a:p>
              <a:p>
                <a:pPr lvl="1"/>
                <a:r>
                  <a:rPr lang="en-US" sz="2000" dirty="0">
                    <a:solidFill>
                      <a:schemeClr val="accent1"/>
                    </a:solidFill>
                  </a:rPr>
                  <a:t>Example: strings, dates, …</a:t>
                </a:r>
              </a:p>
              <a:p>
                <a:r>
                  <a:rPr lang="en-US" sz="2400" dirty="0"/>
                  <a:t>That is, for data items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, we can determine:</a:t>
                </a:r>
                <a:br>
                  <a:rPr lang="en-US" sz="2400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/>
                  <a:t>, or neither, where “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400" dirty="0"/>
                  <a:t>” is a binary relation.</a:t>
                </a:r>
              </a:p>
              <a:p>
                <a:pPr lvl="1"/>
                <a:r>
                  <a:rPr lang="en-US" sz="2000" dirty="0">
                    <a:solidFill>
                      <a:schemeClr val="accent1"/>
                    </a:solidFill>
                  </a:rPr>
                  <a:t>Example: in C++, to use </a:t>
                </a:r>
                <a:r>
                  <a:rPr lang="en-US" sz="2000" dirty="0">
                    <a:solidFill>
                      <a:schemeClr val="accent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sort</a:t>
                </a:r>
                <a:r>
                  <a:rPr lang="en-US" sz="2000" dirty="0">
                    <a:solidFill>
                      <a:schemeClr val="accent1"/>
                    </a:solidFill>
                  </a:rPr>
                  <a:t> in STL for sorting, you should define </a:t>
                </a:r>
                <a:r>
                  <a:rPr lang="en-US" sz="2000" dirty="0">
                    <a:solidFill>
                      <a:schemeClr val="accent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bool compare(</a:t>
                </a:r>
                <a:r>
                  <a:rPr lang="en-US" sz="2000" dirty="0" err="1">
                    <a:solidFill>
                      <a:schemeClr val="accent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DataType</a:t>
                </a:r>
                <a:r>
                  <a:rPr lang="en-US" sz="2000" dirty="0">
                    <a:solidFill>
                      <a:schemeClr val="accent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item1, </a:t>
                </a:r>
                <a:r>
                  <a:rPr lang="en-US" sz="2000" dirty="0" err="1">
                    <a:solidFill>
                      <a:schemeClr val="accent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DataType</a:t>
                </a:r>
                <a:r>
                  <a:rPr lang="en-US" sz="2000" dirty="0">
                    <a:solidFill>
                      <a:schemeClr val="accent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item2)</a:t>
                </a:r>
              </a:p>
              <a:p>
                <a:endParaRPr lang="en-US" sz="2400" dirty="0">
                  <a:cs typeface="Courier New" panose="02070309020205020404" pitchFamily="49" charset="0"/>
                </a:endParaRPr>
              </a:p>
              <a:p>
                <a:r>
                  <a:rPr lang="en-US" sz="2400" dirty="0">
                    <a:cs typeface="Courier New" panose="02070309020205020404" pitchFamily="49" charset="0"/>
                  </a:rPr>
                  <a:t>We can also sort partially ordered items (more on this later).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380802C-3948-4D49-85ED-3418512F6E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 r="-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4359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8DBCAC-8B02-4536-A8EF-FC4B01F56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algorithms till now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90FF9D-B31C-4738-85A9-8BE7AA16E1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600" dirty="0"/>
                  <a:t>Insertion Sort: gradually increase size of sorted part.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200" dirty="0"/>
                  <a:t> time,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200" dirty="0"/>
                  <a:t> space.</a:t>
                </a:r>
              </a:p>
              <a:p>
                <a:pPr lvl="1"/>
                <a:endParaRPr lang="en-US" sz="2200" dirty="0"/>
              </a:p>
              <a:p>
                <a:r>
                  <a:rPr lang="en-US" sz="2600" dirty="0"/>
                  <a:t>Merge Sort: textbook example of divide-and-conquer.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200" dirty="0"/>
                  <a:t> time,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200" dirty="0"/>
                  <a:t> space.</a:t>
                </a:r>
              </a:p>
              <a:p>
                <a:pPr lvl="1"/>
                <a:endParaRPr lang="en-US" sz="2200" dirty="0"/>
              </a:p>
              <a:p>
                <a:r>
                  <a:rPr lang="en-US" sz="2600" dirty="0"/>
                  <a:t>Heap Sort: leverage the heap data structure.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200" dirty="0"/>
                  <a:t> time,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200" dirty="0"/>
                  <a:t> space.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90FF9D-B31C-4738-85A9-8BE7AA16E1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5161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8DBCAC-8B02-4536-A8EF-FC4B01F56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Characteristics of sorting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90FF9D-B31C-4738-85A9-8BE7AA16E1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/>
                  <a:t>In-place:</a:t>
                </a:r>
                <a:r>
                  <a:rPr lang="en-US" sz="2400" dirty="0"/>
                  <a:t> a sorting algorithm is </a:t>
                </a:r>
                <a:r>
                  <a:rPr lang="en-US" sz="2400" i="1" dirty="0"/>
                  <a:t>in-place</a:t>
                </a:r>
                <a:r>
                  <a:rPr lang="en-US" sz="2400" dirty="0"/>
                  <a:t>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sz="2400" dirty="0"/>
                  <a:t> extra space is needed beyond input.</a:t>
                </a:r>
              </a:p>
              <a:p>
                <a:r>
                  <a:rPr lang="en-US" b="1" dirty="0"/>
                  <a:t>Stability:</a:t>
                </a:r>
                <a:r>
                  <a:rPr lang="en-US" sz="2400" dirty="0"/>
                  <a:t> a sorting algorithm is </a:t>
                </a:r>
                <a:r>
                  <a:rPr lang="en-US" sz="2400" i="1" dirty="0"/>
                  <a:t>stable</a:t>
                </a:r>
                <a:r>
                  <a:rPr lang="en-US" sz="2400" dirty="0"/>
                  <a:t> if numbers with the same value (i.e., items that are “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”) appear in the output array in the same order as they do in the input array.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90FF9D-B31C-4738-85A9-8BE7AA16E1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241" r="-1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BCABB491-E6EC-4F4B-8612-8E018E3283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330"/>
          <a:stretch/>
        </p:blipFill>
        <p:spPr bwMode="auto">
          <a:xfrm>
            <a:off x="4572000" y="4134741"/>
            <a:ext cx="2713640" cy="218303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993912FE-5373-4665-BEA9-31A8B09931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311"/>
          <a:stretch/>
        </p:blipFill>
        <p:spPr bwMode="auto">
          <a:xfrm>
            <a:off x="867103" y="4083150"/>
            <a:ext cx="2713640" cy="22287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6585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8DBCAC-8B02-4536-A8EF-FC4B01F56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algorithms till now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90FF9D-B31C-4738-85A9-8BE7AA16E1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600" dirty="0"/>
                  <a:t>Insertion Sort: gradually increase size of sorted part.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200" dirty="0"/>
                  <a:t> time,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200" dirty="0"/>
                  <a:t> space.</a:t>
                </a:r>
              </a:p>
              <a:p>
                <a:pPr lvl="1"/>
                <a:r>
                  <a:rPr lang="en-US" sz="2200" dirty="0"/>
                  <a:t>In-place, and stable.</a:t>
                </a:r>
              </a:p>
              <a:p>
                <a:r>
                  <a:rPr lang="en-US" sz="2600" dirty="0"/>
                  <a:t>Merge Sort: textbook example of divide-and-conquer.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200" dirty="0"/>
                  <a:t> time,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200" dirty="0"/>
                  <a:t> space.</a:t>
                </a:r>
              </a:p>
              <a:p>
                <a:pPr lvl="1"/>
                <a:r>
                  <a:rPr lang="en-US" sz="2200" dirty="0"/>
                  <a:t>Not in-place (for typical implementation), but stable.</a:t>
                </a:r>
              </a:p>
              <a:p>
                <a:r>
                  <a:rPr lang="en-US" sz="2600" dirty="0"/>
                  <a:t>Heap Sort: leverage the heap data structure.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200" dirty="0"/>
                  <a:t> time,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200" dirty="0"/>
                  <a:t> space.</a:t>
                </a:r>
              </a:p>
              <a:p>
                <a:pPr lvl="1"/>
                <a:r>
                  <a:rPr lang="en-US" sz="2200" dirty="0"/>
                  <a:t>In-place, but not stable. (Information about relative ordering of identically values items was lost during heap creation.)</a:t>
                </a:r>
              </a:p>
              <a:p>
                <a:pPr lvl="1"/>
                <a:r>
                  <a:rPr lang="en-US" sz="2200" dirty="0"/>
                  <a:t>Counterexample for stability: &lt;2a, 2b, 1&gt;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90FF9D-B31C-4738-85A9-8BE7AA16E1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4351338"/>
              </a:xfrm>
              <a:blipFill>
                <a:blip r:embed="rId2"/>
                <a:stretch>
                  <a:fillRect l="-1159" t="-2101" b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1261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6EE30F-E779-44F0-BE7E-147636921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Selection Sort Algorithm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172093-74FA-4E41-B99D-CF2A00D09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351338"/>
          </a:xfrm>
        </p:spPr>
        <p:txBody>
          <a:bodyPr>
            <a:normAutofit/>
          </a:bodyPr>
          <a:lstStyle/>
          <a:p>
            <a:r>
              <a:rPr lang="en-US" sz="2400" b="1" dirty="0"/>
              <a:t>Basic idea:</a:t>
            </a:r>
            <a:r>
              <a:rPr lang="en-US" sz="2400" dirty="0"/>
              <a:t> pick out minimum element from input, then recursively sort remaining elements, and finally concatenate the minimum element with sorted remaining elements.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DE301B-EF3D-445F-917D-98F39F126DFC}"/>
              </a:ext>
            </a:extLst>
          </p:cNvPr>
          <p:cNvSpPr/>
          <p:nvPr/>
        </p:nvSpPr>
        <p:spPr>
          <a:xfrm>
            <a:off x="628650" y="3516523"/>
            <a:ext cx="6570936" cy="19045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SelectionSortRec</a:t>
            </a:r>
            <a:r>
              <a:rPr lang="en-GB" b="1" u="sng" dirty="0">
                <a:solidFill>
                  <a:schemeClr val="tx1"/>
                </a:solidFill>
              </a:rPr>
              <a:t>(A):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(|A|==1)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A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min =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GetMinElement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A’ =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RemoveElement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A,min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Concatenate(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min,SelectSortionRec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(A’))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D209B9-C169-4CBC-90DB-8C3D9452D535}"/>
              </a:ext>
            </a:extLst>
          </p:cNvPr>
          <p:cNvSpPr/>
          <p:nvPr/>
        </p:nvSpPr>
        <p:spPr>
          <a:xfrm>
            <a:off x="4871543" y="2895525"/>
            <a:ext cx="3643807" cy="19045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SelectionSort</a:t>
            </a:r>
            <a:r>
              <a:rPr lang="en-GB" b="1" u="sng" dirty="0">
                <a:solidFill>
                  <a:schemeClr val="tx1"/>
                </a:solidFill>
              </a:rPr>
              <a:t>(A):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 to A.length-1)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minIdx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(j=i+1 to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A.length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(A[j]&lt;A[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minIdx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minIdx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=j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Swap(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i,minIdx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5C820BA4-D933-4460-BD8F-305C72394750}"/>
              </a:ext>
            </a:extLst>
          </p:cNvPr>
          <p:cNvCxnSpPr>
            <a:cxnSpLocks/>
            <a:stCxn id="12" idx="3"/>
            <a:endCxn id="6" idx="1"/>
          </p:cNvCxnSpPr>
          <p:nvPr/>
        </p:nvCxnSpPr>
        <p:spPr>
          <a:xfrm flipV="1">
            <a:off x="3989665" y="3991710"/>
            <a:ext cx="1164672" cy="736194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228F765-3D0C-4527-835A-C7E4CF0DA65B}"/>
              </a:ext>
            </a:extLst>
          </p:cNvPr>
          <p:cNvSpPr/>
          <p:nvPr/>
        </p:nvSpPr>
        <p:spPr>
          <a:xfrm>
            <a:off x="5154337" y="3516523"/>
            <a:ext cx="3243429" cy="950374"/>
          </a:xfrm>
          <a:prstGeom prst="round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7F4BFA9-B877-4E3A-96DA-2720F4B9E7F7}"/>
              </a:ext>
            </a:extLst>
          </p:cNvPr>
          <p:cNvSpPr/>
          <p:nvPr/>
        </p:nvSpPr>
        <p:spPr>
          <a:xfrm>
            <a:off x="947077" y="4579008"/>
            <a:ext cx="3042588" cy="297792"/>
          </a:xfrm>
          <a:prstGeom prst="round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643F3581-EF64-4940-900C-FD75246ECC07}"/>
              </a:ext>
            </a:extLst>
          </p:cNvPr>
          <p:cNvCxnSpPr>
            <a:cxnSpLocks/>
            <a:stCxn id="16" idx="3"/>
            <a:endCxn id="15" idx="1"/>
          </p:cNvCxnSpPr>
          <p:nvPr/>
        </p:nvCxnSpPr>
        <p:spPr>
          <a:xfrm flipV="1">
            <a:off x="4435365" y="4606801"/>
            <a:ext cx="718972" cy="385426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35EA7AB-A826-40B9-A311-871E2AD27BA3}"/>
              </a:ext>
            </a:extLst>
          </p:cNvPr>
          <p:cNvSpPr/>
          <p:nvPr/>
        </p:nvSpPr>
        <p:spPr>
          <a:xfrm>
            <a:off x="5154337" y="4496207"/>
            <a:ext cx="3243429" cy="221187"/>
          </a:xfrm>
          <a:prstGeom prst="roundRect">
            <a:avLst/>
          </a:pr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1476B5E-3554-4322-BD3C-7A8589973365}"/>
              </a:ext>
            </a:extLst>
          </p:cNvPr>
          <p:cNvSpPr/>
          <p:nvPr/>
        </p:nvSpPr>
        <p:spPr>
          <a:xfrm>
            <a:off x="947076" y="4843331"/>
            <a:ext cx="3488289" cy="297792"/>
          </a:xfrm>
          <a:prstGeom prst="roundRect">
            <a:avLst/>
          </a:pr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554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2" grpId="0" animBg="1"/>
      <p:bldP spid="15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6EE30F-E779-44F0-BE7E-147636921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</a:t>
            </a:r>
            <a:r>
              <a:rPr lang="en-US" b="1" dirty="0" err="1"/>
              <a:t>SelectionSort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E172093-74FA-4E41-B99D-CF2A00D091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Why it is correct? (What is the loop invariant?)</a:t>
                </a:r>
              </a:p>
              <a:p>
                <a:pPr lvl="1"/>
                <a:r>
                  <a:rPr lang="en-US" sz="2000" dirty="0"/>
                  <a:t>After the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baseline="30000" dirty="0" err="1"/>
                  <a:t>th</a:t>
                </a:r>
                <a:r>
                  <a:rPr lang="en-US" sz="2000" dirty="0"/>
                  <a:t> iteration, the first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/>
                  <a:t> items are sorted, and they are the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/>
                  <a:t> smallest elements in the original array.</a:t>
                </a:r>
              </a:p>
              <a:p>
                <a:r>
                  <a:rPr lang="en-US" sz="2400" dirty="0"/>
                  <a:t>Time complexity for sorting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items?</a:t>
                </a:r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Θ</m:t>
                            </m:r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</m:d>
                      </m:e>
                    </m:nary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/>
                  <a:t> </a:t>
                </a:r>
              </a:p>
              <a:p>
                <a:r>
                  <a:rPr lang="en-US" sz="2400" dirty="0"/>
                  <a:t>Space complexity?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sz="2000" dirty="0"/>
                  <a:t> extra space, thus in-place.</a:t>
                </a:r>
              </a:p>
              <a:p>
                <a:r>
                  <a:rPr lang="en-US" sz="2400" dirty="0"/>
                  <a:t>Stability?</a:t>
                </a:r>
              </a:p>
              <a:p>
                <a:pPr lvl="1"/>
                <a:r>
                  <a:rPr lang="en-US" sz="2000" dirty="0"/>
                  <a:t>Not stable! Swap operation can</a:t>
                </a:r>
                <a:br>
                  <a:rPr lang="en-US" sz="2000" dirty="0"/>
                </a:br>
                <a:r>
                  <a:rPr lang="en-US" sz="2000" dirty="0"/>
                  <a:t>mess up relative order.</a:t>
                </a:r>
              </a:p>
              <a:p>
                <a:pPr lvl="1"/>
                <a:r>
                  <a:rPr lang="en-US" sz="2000" dirty="0"/>
                  <a:t>Example: &lt;2a, 2b, 1&gt;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E172093-74FA-4E41-B99D-CF2A00D091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4351338"/>
              </a:xfrm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41D209B9-C169-4CBC-90DB-8C3D9452D535}"/>
              </a:ext>
            </a:extLst>
          </p:cNvPr>
          <p:cNvSpPr/>
          <p:nvPr/>
        </p:nvSpPr>
        <p:spPr>
          <a:xfrm>
            <a:off x="4871543" y="3845747"/>
            <a:ext cx="3643807" cy="19045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SelectionSort</a:t>
            </a:r>
            <a:r>
              <a:rPr lang="en-GB" b="1" u="sng" dirty="0">
                <a:solidFill>
                  <a:schemeClr val="tx1"/>
                </a:solidFill>
              </a:rPr>
              <a:t>(A):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 to A.length-1)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minIdx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(j=i+1 to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A.length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(A[j]&lt;A[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minIdx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minIdx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=j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Swap(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i,minIdx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43987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6EE30F-E779-44F0-BE7E-147636921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we move on…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DE301B-EF3D-445F-917D-98F39F126DFC}"/>
              </a:ext>
            </a:extLst>
          </p:cNvPr>
          <p:cNvSpPr/>
          <p:nvPr/>
        </p:nvSpPr>
        <p:spPr>
          <a:xfrm>
            <a:off x="628650" y="2311687"/>
            <a:ext cx="6570936" cy="19045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SelectionSortRec</a:t>
            </a:r>
            <a:r>
              <a:rPr lang="en-GB" b="1" u="sng" dirty="0">
                <a:solidFill>
                  <a:schemeClr val="tx1"/>
                </a:solidFill>
              </a:rPr>
              <a:t>(A):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(|A|==1)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A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min =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GetMinElement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A’ =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RemoveElement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A,min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Concatenate(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min,SelectSortionRec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(A’))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D209B9-C169-4CBC-90DB-8C3D9452D535}"/>
              </a:ext>
            </a:extLst>
          </p:cNvPr>
          <p:cNvSpPr/>
          <p:nvPr/>
        </p:nvSpPr>
        <p:spPr>
          <a:xfrm>
            <a:off x="4871543" y="1690689"/>
            <a:ext cx="3643807" cy="19045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SelectionSort</a:t>
            </a:r>
            <a:r>
              <a:rPr lang="en-GB" b="1" u="sng" dirty="0">
                <a:solidFill>
                  <a:schemeClr val="tx1"/>
                </a:solidFill>
              </a:rPr>
              <a:t>(A):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 to A.length-1)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minIdx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(j=i+1 to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A.length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(A[j]&lt;A[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minIdx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minIdx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=j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Swap(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i,minIdx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5C820BA4-D933-4460-BD8F-305C72394750}"/>
              </a:ext>
            </a:extLst>
          </p:cNvPr>
          <p:cNvCxnSpPr>
            <a:cxnSpLocks/>
            <a:stCxn id="12" idx="3"/>
            <a:endCxn id="6" idx="1"/>
          </p:cNvCxnSpPr>
          <p:nvPr/>
        </p:nvCxnSpPr>
        <p:spPr>
          <a:xfrm flipV="1">
            <a:off x="3989665" y="2786874"/>
            <a:ext cx="1164672" cy="736194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228F765-3D0C-4527-835A-C7E4CF0DA65B}"/>
              </a:ext>
            </a:extLst>
          </p:cNvPr>
          <p:cNvSpPr/>
          <p:nvPr/>
        </p:nvSpPr>
        <p:spPr>
          <a:xfrm>
            <a:off x="5154337" y="2311687"/>
            <a:ext cx="3243429" cy="950374"/>
          </a:xfrm>
          <a:prstGeom prst="round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7F4BFA9-B877-4E3A-96DA-2720F4B9E7F7}"/>
              </a:ext>
            </a:extLst>
          </p:cNvPr>
          <p:cNvSpPr/>
          <p:nvPr/>
        </p:nvSpPr>
        <p:spPr>
          <a:xfrm>
            <a:off x="947077" y="3374172"/>
            <a:ext cx="3042588" cy="297792"/>
          </a:xfrm>
          <a:prstGeom prst="round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643F3581-EF64-4940-900C-FD75246ECC07}"/>
              </a:ext>
            </a:extLst>
          </p:cNvPr>
          <p:cNvCxnSpPr>
            <a:cxnSpLocks/>
            <a:stCxn id="16" idx="3"/>
            <a:endCxn id="15" idx="1"/>
          </p:cNvCxnSpPr>
          <p:nvPr/>
        </p:nvCxnSpPr>
        <p:spPr>
          <a:xfrm flipV="1">
            <a:off x="4435365" y="3401965"/>
            <a:ext cx="718972" cy="385426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35EA7AB-A826-40B9-A311-871E2AD27BA3}"/>
              </a:ext>
            </a:extLst>
          </p:cNvPr>
          <p:cNvSpPr/>
          <p:nvPr/>
        </p:nvSpPr>
        <p:spPr>
          <a:xfrm>
            <a:off x="5154337" y="3291371"/>
            <a:ext cx="3243429" cy="221187"/>
          </a:xfrm>
          <a:prstGeom prst="roundRect">
            <a:avLst/>
          </a:pr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1476B5E-3554-4322-BD3C-7A8589973365}"/>
              </a:ext>
            </a:extLst>
          </p:cNvPr>
          <p:cNvSpPr/>
          <p:nvPr/>
        </p:nvSpPr>
        <p:spPr>
          <a:xfrm>
            <a:off x="947076" y="3638495"/>
            <a:ext cx="3488289" cy="297792"/>
          </a:xfrm>
          <a:prstGeom prst="roundRect">
            <a:avLst/>
          </a:pr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1ABAA4F-0DB2-46ED-B725-BB4B84622FD9}"/>
              </a:ext>
            </a:extLst>
          </p:cNvPr>
          <p:cNvSpPr/>
          <p:nvPr/>
        </p:nvSpPr>
        <p:spPr>
          <a:xfrm>
            <a:off x="628650" y="4480515"/>
            <a:ext cx="6570936" cy="19045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SelectionSortRec</a:t>
            </a:r>
            <a:r>
              <a:rPr lang="en-GB" b="1" u="sng" dirty="0">
                <a:solidFill>
                  <a:schemeClr val="tx1"/>
                </a:solidFill>
              </a:rPr>
              <a:t>(A):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(|A|==1)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A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max =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GetMaxElement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A’ =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RemoveElement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A,max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Concatenate(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SelectSortionRec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(A’),max)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A7E54CB-5708-4E6C-BD3B-0A4F17B7D8BC}"/>
                  </a:ext>
                </a:extLst>
              </p:cNvPr>
              <p:cNvSpPr txBox="1"/>
              <p:nvPr/>
            </p:nvSpPr>
            <p:spPr>
              <a:xfrm>
                <a:off x="4521178" y="4587833"/>
                <a:ext cx="3655428" cy="442674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srgbClr val="FF0000"/>
                    </a:solidFill>
                  </a:rPr>
                  <a:t>What 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is organized as a heap?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A7E54CB-5708-4E6C-BD3B-0A4F17B7D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1178" y="4587833"/>
                <a:ext cx="3655428" cy="442674"/>
              </a:xfrm>
              <a:prstGeom prst="roundRect">
                <a:avLst/>
              </a:prstGeom>
              <a:blipFill>
                <a:blip r:embed="rId2"/>
                <a:stretch>
                  <a:fillRect l="-1169" t="-2778" r="-668" b="-19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>
            <a:extLst>
              <a:ext uri="{FF2B5EF4-FFF2-40B4-BE49-F238E27FC236}">
                <a16:creationId xmlns:a16="http://schemas.microsoft.com/office/drawing/2014/main" id="{1EDF6FD7-447D-4AD9-877F-1493BBFF4A3D}"/>
              </a:ext>
            </a:extLst>
          </p:cNvPr>
          <p:cNvSpPr txBox="1"/>
          <p:nvPr/>
        </p:nvSpPr>
        <p:spPr>
          <a:xfrm>
            <a:off x="4521178" y="5162668"/>
            <a:ext cx="3876588" cy="78319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This framework leads to the faster </a:t>
            </a:r>
            <a:br>
              <a:rPr lang="en-US" sz="2000" dirty="0">
                <a:solidFill>
                  <a:srgbClr val="FF0000"/>
                </a:solidFill>
              </a:rPr>
            </a:br>
            <a:r>
              <a:rPr lang="en-US" sz="2000" dirty="0" err="1">
                <a:solidFill>
                  <a:srgbClr val="FF0000"/>
                </a:solidFill>
              </a:rPr>
              <a:t>HeapSort</a:t>
            </a:r>
            <a:r>
              <a:rPr lang="en-US" sz="2000" dirty="0">
                <a:solidFill>
                  <a:srgbClr val="FF0000"/>
                </a:solidFill>
              </a:rPr>
              <a:t> algorithm.</a:t>
            </a:r>
          </a:p>
        </p:txBody>
      </p:sp>
    </p:spTree>
    <p:extLst>
      <p:ext uri="{BB962C8B-B14F-4D97-AF65-F5344CB8AC3E}">
        <p14:creationId xmlns:p14="http://schemas.microsoft.com/office/powerpoint/2010/main" val="3411366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0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6EE30F-E779-44F0-BE7E-147636921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Bubble Sort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E172093-74FA-4E41-B99D-CF2A00D091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4351338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Basic idea:</a:t>
                </a:r>
                <a:r>
                  <a:rPr lang="en-US" sz="2400" dirty="0"/>
                  <a:t> repeatedly step through the array, compare adjacent pairs and swaps them if they are in the wrong order. Thus, larger elements "bubble" to the “top”.</a:t>
                </a:r>
              </a:p>
              <a:p>
                <a:pPr>
                  <a:spcBef>
                    <a:spcPts val="600"/>
                  </a:spcBef>
                </a:pPr>
                <a:endParaRPr lang="en-US" sz="2400" dirty="0"/>
              </a:p>
              <a:p>
                <a:pPr>
                  <a:spcBef>
                    <a:spcPts val="600"/>
                  </a:spcBef>
                </a:pPr>
                <a:endParaRPr lang="en-US" sz="2400" dirty="0"/>
              </a:p>
              <a:p>
                <a:pPr>
                  <a:spcBef>
                    <a:spcPts val="600"/>
                  </a:spcBef>
                </a:pPr>
                <a:endParaRPr lang="en-US" sz="2400" dirty="0"/>
              </a:p>
              <a:p>
                <a:pPr>
                  <a:spcBef>
                    <a:spcPts val="600"/>
                  </a:spcBef>
                </a:pPr>
                <a:endParaRPr lang="en-US" sz="2400" dirty="0"/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Correctness: what is the loop invariant?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Time complexity: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2400" dirty="0"/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Space complexity: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sz="2400" dirty="0"/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Stability: stable.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E172093-74FA-4E41-B99D-CF2A00D091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4351338"/>
              </a:xfrm>
              <a:blipFill>
                <a:blip r:embed="rId2"/>
                <a:stretch>
                  <a:fillRect l="-1005" t="-1961" b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69DE301B-EF3D-445F-917D-98F39F126DFC}"/>
              </a:ext>
            </a:extLst>
          </p:cNvPr>
          <p:cNvSpPr/>
          <p:nvPr/>
        </p:nvSpPr>
        <p:spPr>
          <a:xfrm>
            <a:off x="1509963" y="2815932"/>
            <a:ext cx="3817226" cy="1409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BubbleSort</a:t>
            </a:r>
            <a:r>
              <a:rPr lang="en-GB" b="1" u="sng" dirty="0">
                <a:solidFill>
                  <a:schemeClr val="tx1"/>
                </a:solidFill>
              </a:rPr>
              <a:t>(A):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A.length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downto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2)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(j=1 to i-1)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(A[j]&gt;A[j+1])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Swap(A[j],A[j+1])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75692AE-097F-4500-8C58-1486EAFCB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8502" y="3735179"/>
            <a:ext cx="2306848" cy="23068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1446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6EE30F-E779-44F0-BE7E-147636921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Improving </a:t>
            </a:r>
            <a:r>
              <a:rPr lang="en-US" b="1" dirty="0" err="1"/>
              <a:t>BubbleSort</a:t>
            </a:r>
            <a:endParaRPr lang="en-US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DE301B-EF3D-445F-917D-98F39F126DFC}"/>
              </a:ext>
            </a:extLst>
          </p:cNvPr>
          <p:cNvSpPr/>
          <p:nvPr/>
        </p:nvSpPr>
        <p:spPr>
          <a:xfrm>
            <a:off x="628650" y="1690689"/>
            <a:ext cx="3817226" cy="1409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BubbleSort</a:t>
            </a:r>
            <a:r>
              <a:rPr lang="en-GB" b="1" u="sng" dirty="0">
                <a:solidFill>
                  <a:schemeClr val="tx1"/>
                </a:solidFill>
              </a:rPr>
              <a:t>(A):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A.length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downto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2)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(j=1 to i-1)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(A[j]&gt;A[j+1])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Swap(A[j],A[j+1])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1DFEAE7-10FA-43E7-A2F1-BEAC5C0A2759}"/>
              </a:ext>
            </a:extLst>
          </p:cNvPr>
          <p:cNvSpPr/>
          <p:nvPr/>
        </p:nvSpPr>
        <p:spPr>
          <a:xfrm>
            <a:off x="915549" y="2238115"/>
            <a:ext cx="2994300" cy="861801"/>
          </a:xfrm>
          <a:prstGeom prst="round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60F8807-FA44-4630-A299-607FA12AC623}"/>
              </a:ext>
            </a:extLst>
          </p:cNvPr>
          <p:cNvSpPr txBox="1"/>
          <p:nvPr/>
        </p:nvSpPr>
        <p:spPr>
          <a:xfrm>
            <a:off x="4698126" y="1687416"/>
            <a:ext cx="30131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What if in one iteration</a:t>
            </a:r>
            <a:br>
              <a:rPr lang="en-US" sz="2000" dirty="0">
                <a:solidFill>
                  <a:srgbClr val="C00000"/>
                </a:solidFill>
              </a:rPr>
            </a:br>
            <a:r>
              <a:rPr lang="en-US" sz="2000" dirty="0">
                <a:solidFill>
                  <a:srgbClr val="C00000"/>
                </a:solidFill>
              </a:rPr>
              <a:t>we never swap data items?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3056E38-CAFB-421C-B5EF-575672B9D8C8}"/>
                  </a:ext>
                </a:extLst>
              </p:cNvPr>
              <p:cNvSpPr txBox="1"/>
              <p:nvPr/>
            </p:nvSpPr>
            <p:spPr>
              <a:xfrm>
                <a:off x="4698126" y="2392030"/>
                <a:ext cx="280903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schemeClr val="accent1"/>
                    </a:solidFill>
                  </a:rPr>
                  <a:t>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[1…</m:t>
                    </m:r>
                    <m:r>
                      <a:rPr lang="en-US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>
                    <a:solidFill>
                      <a:schemeClr val="accent1"/>
                    </a:solidFill>
                  </a:rPr>
                  <a:t> are sorted,</a:t>
                </a:r>
                <a:br>
                  <a:rPr lang="en-US" sz="2000" dirty="0">
                    <a:solidFill>
                      <a:schemeClr val="accent1"/>
                    </a:solidFill>
                  </a:rPr>
                </a:br>
                <a:r>
                  <a:rPr lang="en-US" sz="2000" dirty="0">
                    <a:solidFill>
                      <a:schemeClr val="accent1"/>
                    </a:solidFill>
                  </a:rPr>
                  <a:t>and we are done! (Why?)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3056E38-CAFB-421C-B5EF-575672B9D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8126" y="2392030"/>
                <a:ext cx="2809039" cy="707886"/>
              </a:xfrm>
              <a:prstGeom prst="rect">
                <a:avLst/>
              </a:prstGeom>
              <a:blipFill>
                <a:blip r:embed="rId2"/>
                <a:stretch>
                  <a:fillRect l="-2391" t="-4274" r="-1739" b="-136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>
            <a:extLst>
              <a:ext uri="{FF2B5EF4-FFF2-40B4-BE49-F238E27FC236}">
                <a16:creationId xmlns:a16="http://schemas.microsoft.com/office/drawing/2014/main" id="{06058A8D-4E48-4168-90BB-11FA886CEAF5}"/>
              </a:ext>
            </a:extLst>
          </p:cNvPr>
          <p:cNvSpPr/>
          <p:nvPr/>
        </p:nvSpPr>
        <p:spPr>
          <a:xfrm>
            <a:off x="628649" y="3261986"/>
            <a:ext cx="3501917" cy="26658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BubbleSortImproved</a:t>
            </a:r>
            <a:r>
              <a:rPr lang="en-GB" b="1" u="sng" dirty="0">
                <a:solidFill>
                  <a:schemeClr val="tx1"/>
                </a:solidFill>
              </a:rPr>
              <a:t>(A):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n=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A.length</a:t>
            </a:r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repeat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swapped=false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(j=1 to n-1)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(A[j]&gt;A[j+1])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Swap(A[j],A[j+1])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swapped=true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n=n-1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until (swapped==false)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39C0F08-0856-4AC8-B32D-3A058EE59240}"/>
                  </a:ext>
                </a:extLst>
              </p:cNvPr>
              <p:cNvSpPr txBox="1"/>
              <p:nvPr/>
            </p:nvSpPr>
            <p:spPr>
              <a:xfrm>
                <a:off x="4445876" y="3261986"/>
                <a:ext cx="4069474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accent1"/>
                    </a:solidFill>
                  </a:rPr>
                  <a:t>When the input is mostly sorted,</a:t>
                </a:r>
                <a:br>
                  <a:rPr lang="en-US" sz="2000" dirty="0">
                    <a:solidFill>
                      <a:schemeClr val="accent1"/>
                    </a:solidFill>
                  </a:rPr>
                </a:br>
                <a:r>
                  <a:rPr lang="en-US" sz="2000" dirty="0">
                    <a:solidFill>
                      <a:schemeClr val="accent1"/>
                    </a:solidFill>
                  </a:rPr>
                  <a:t>this variant performs much better.</a:t>
                </a:r>
              </a:p>
              <a:p>
                <a:r>
                  <a:rPr lang="en-US" sz="2000" dirty="0">
                    <a:solidFill>
                      <a:schemeClr val="accent1"/>
                    </a:solidFill>
                  </a:rPr>
                  <a:t>Particularly, when the input is sorted,</a:t>
                </a:r>
                <a:br>
                  <a:rPr lang="en-US" sz="2000" dirty="0">
                    <a:solidFill>
                      <a:schemeClr val="accent1"/>
                    </a:solidFill>
                  </a:rPr>
                </a:br>
                <a:r>
                  <a:rPr lang="en-US" sz="2000" dirty="0">
                    <a:solidFill>
                      <a:schemeClr val="accent1"/>
                    </a:solidFill>
                  </a:rPr>
                  <a:t>this variant has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accent1"/>
                    </a:solidFill>
                  </a:rPr>
                  <a:t> runtime.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39C0F08-0856-4AC8-B32D-3A058EE592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5876" y="3261986"/>
                <a:ext cx="4069474" cy="1323439"/>
              </a:xfrm>
              <a:prstGeom prst="rect">
                <a:avLst/>
              </a:prstGeom>
              <a:blipFill>
                <a:blip r:embed="rId3"/>
                <a:stretch>
                  <a:fillRect l="-1497" t="-2304" r="-749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61A9D8B-9264-4DB5-8E09-D247698F8592}"/>
                  </a:ext>
                </a:extLst>
              </p:cNvPr>
              <p:cNvSpPr txBox="1"/>
              <p:nvPr/>
            </p:nvSpPr>
            <p:spPr>
              <a:xfrm>
                <a:off x="4445876" y="5420002"/>
                <a:ext cx="4069474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accent1"/>
                    </a:solidFill>
                  </a:rPr>
                  <a:t>Nonetheless, the worst case performance is still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>
                    <a:solidFill>
                      <a:schemeClr val="accent1"/>
                    </a:solidFill>
                  </a:rPr>
                  <a:t>.</a:t>
                </a:r>
              </a:p>
              <a:p>
                <a:r>
                  <a:rPr lang="en-US" sz="2000" dirty="0">
                    <a:solidFill>
                      <a:schemeClr val="accent1"/>
                    </a:solidFill>
                  </a:rPr>
                  <a:t>E.g., when input is reversely sorted.</a:t>
                </a: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61A9D8B-9264-4DB5-8E09-D247698F8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5876" y="5420002"/>
                <a:ext cx="4069474" cy="1015663"/>
              </a:xfrm>
              <a:prstGeom prst="rect">
                <a:avLst/>
              </a:prstGeom>
              <a:blipFill>
                <a:blip r:embed="rId4"/>
                <a:stretch>
                  <a:fillRect l="-1497" t="-2994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0A420C91-581D-4844-80B3-B34E8CC0F133}"/>
              </a:ext>
            </a:extLst>
          </p:cNvPr>
          <p:cNvSpPr txBox="1"/>
          <p:nvPr/>
        </p:nvSpPr>
        <p:spPr>
          <a:xfrm>
            <a:off x="4445876" y="4585425"/>
            <a:ext cx="40694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Q:</a:t>
            </a:r>
            <a:r>
              <a:rPr lang="en-US" sz="2000" dirty="0">
                <a:solidFill>
                  <a:schemeClr val="accent1"/>
                </a:solidFill>
              </a:rPr>
              <a:t> Other algorithms that also have this property?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FEFFF30-8228-4222-922E-AEE7459CBC76}"/>
              </a:ext>
            </a:extLst>
          </p:cNvPr>
          <p:cNvSpPr txBox="1"/>
          <p:nvPr/>
        </p:nvSpPr>
        <p:spPr>
          <a:xfrm>
            <a:off x="5976521" y="4893201"/>
            <a:ext cx="27280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A:</a:t>
            </a:r>
            <a:r>
              <a:rPr lang="en-US" sz="2000" dirty="0">
                <a:solidFill>
                  <a:schemeClr val="accent1"/>
                </a:solidFill>
              </a:rPr>
              <a:t> such as </a:t>
            </a:r>
            <a:r>
              <a:rPr lang="en-US" sz="2000" dirty="0" err="1">
                <a:solidFill>
                  <a:schemeClr val="accent1"/>
                </a:solidFill>
              </a:rPr>
              <a:t>InsertionSort</a:t>
            </a:r>
            <a:r>
              <a:rPr lang="en-US" sz="2000" dirty="0">
                <a:solidFill>
                  <a:schemeClr val="accent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3310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/>
      <p:bldP spid="10" grpId="0"/>
      <p:bldP spid="11" grpId="0" animBg="1"/>
      <p:bldP spid="12" grpId="0"/>
      <p:bldP spid="13" grpId="0"/>
      <p:bldP spid="14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6EE30F-E779-44F0-BE7E-147636921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Improving </a:t>
            </a:r>
            <a:r>
              <a:rPr lang="en-US" b="1" dirty="0" err="1"/>
              <a:t>BubbleSort</a:t>
            </a:r>
            <a:endParaRPr lang="en-US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60F8807-FA44-4630-A299-607FA12AC623}"/>
              </a:ext>
            </a:extLst>
          </p:cNvPr>
          <p:cNvSpPr txBox="1"/>
          <p:nvPr/>
        </p:nvSpPr>
        <p:spPr>
          <a:xfrm>
            <a:off x="4327386" y="1686766"/>
            <a:ext cx="20950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Can we do better?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6058A8D-4E48-4168-90BB-11FA886CEAF5}"/>
              </a:ext>
            </a:extLst>
          </p:cNvPr>
          <p:cNvSpPr/>
          <p:nvPr/>
        </p:nvSpPr>
        <p:spPr>
          <a:xfrm>
            <a:off x="628651" y="1691877"/>
            <a:ext cx="3501917" cy="23440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BubbleSortImproved</a:t>
            </a:r>
            <a:r>
              <a:rPr lang="en-GB" sz="1600" b="1" u="sng" dirty="0">
                <a:solidFill>
                  <a:schemeClr val="tx1"/>
                </a:solidFill>
              </a:rPr>
              <a:t>(A):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n=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A.length</a:t>
            </a:r>
            <a:endParaRPr lang="en-US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repeat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swapped=false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(j=1 to n-1)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(A[j]&gt;A[j+1])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Swap(A[j],A[j+1])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swapped=true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n=n-1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until (swapped==false)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1DFEAE7-10FA-43E7-A2F1-BEAC5C0A2759}"/>
              </a:ext>
            </a:extLst>
          </p:cNvPr>
          <p:cNvSpPr/>
          <p:nvPr/>
        </p:nvSpPr>
        <p:spPr>
          <a:xfrm>
            <a:off x="903479" y="3510091"/>
            <a:ext cx="719033" cy="281334"/>
          </a:xfrm>
          <a:prstGeom prst="round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514EC490-52C8-45E4-BEC3-3AFFEF7ECE6C}"/>
                  </a:ext>
                </a:extLst>
              </p:cNvPr>
              <p:cNvSpPr txBox="1"/>
              <p:nvPr/>
            </p:nvSpPr>
            <p:spPr>
              <a:xfrm>
                <a:off x="4327385" y="1994516"/>
                <a:ext cx="4187963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accent1"/>
                    </a:solidFill>
                  </a:rPr>
                  <a:t>We can be more aggressive when reducing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>
                    <a:solidFill>
                      <a:schemeClr val="accent1"/>
                    </a:solidFill>
                  </a:rPr>
                  <a:t> after each iteration: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[1…</m:t>
                    </m:r>
                    <m:r>
                      <a:rPr lang="en-US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>
                    <a:solidFill>
                      <a:schemeClr val="accent1"/>
                    </a:solidFill>
                  </a:rPr>
                  <a:t>, items after the last swap are all in correct sorted position. (Why?)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514EC490-52C8-45E4-BEC3-3AFFEF7ECE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7385" y="1994516"/>
                <a:ext cx="4187963" cy="1323439"/>
              </a:xfrm>
              <a:prstGeom prst="rect">
                <a:avLst/>
              </a:prstGeom>
              <a:blipFill>
                <a:blip r:embed="rId2"/>
                <a:stretch>
                  <a:fillRect l="-1601" t="-2304" r="-1747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" name="组合 62">
            <a:extLst>
              <a:ext uri="{FF2B5EF4-FFF2-40B4-BE49-F238E27FC236}">
                <a16:creationId xmlns:a16="http://schemas.microsoft.com/office/drawing/2014/main" id="{24C7E767-07C6-4CCF-80AC-AC0092B9DEB7}"/>
              </a:ext>
            </a:extLst>
          </p:cNvPr>
          <p:cNvGrpSpPr/>
          <p:nvPr/>
        </p:nvGrpSpPr>
        <p:grpSpPr>
          <a:xfrm>
            <a:off x="4416532" y="3401825"/>
            <a:ext cx="3125976" cy="761618"/>
            <a:chOff x="4416532" y="3401825"/>
            <a:chExt cx="3125976" cy="761618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49BC0072-6DD1-47A4-9418-5463357F3362}"/>
                </a:ext>
              </a:extLst>
            </p:cNvPr>
            <p:cNvGrpSpPr/>
            <p:nvPr/>
          </p:nvGrpSpPr>
          <p:grpSpPr>
            <a:xfrm>
              <a:off x="4416532" y="3801935"/>
              <a:ext cx="3125976" cy="361508"/>
              <a:chOff x="4416532" y="3801935"/>
              <a:chExt cx="3125976" cy="361508"/>
            </a:xfrm>
          </p:grpSpPr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E958B34A-ED8C-4E44-B55A-0A391C12D1D1}"/>
                  </a:ext>
                </a:extLst>
              </p:cNvPr>
              <p:cNvSpPr/>
              <p:nvPr/>
            </p:nvSpPr>
            <p:spPr>
              <a:xfrm>
                <a:off x="4416532" y="3801936"/>
                <a:ext cx="446568" cy="3615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E63A2EFA-A34A-418F-A48C-3DC2FEC32724}"/>
                  </a:ext>
                </a:extLst>
              </p:cNvPr>
              <p:cNvSpPr/>
              <p:nvPr/>
            </p:nvSpPr>
            <p:spPr>
              <a:xfrm>
                <a:off x="4863100" y="3801936"/>
                <a:ext cx="446568" cy="3615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FA393547-64A8-41F5-A03D-CF511A060F82}"/>
                  </a:ext>
                </a:extLst>
              </p:cNvPr>
              <p:cNvSpPr/>
              <p:nvPr/>
            </p:nvSpPr>
            <p:spPr>
              <a:xfrm>
                <a:off x="5309668" y="3801936"/>
                <a:ext cx="446568" cy="3615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900954FB-F853-4629-96D9-3BDC4509283D}"/>
                  </a:ext>
                </a:extLst>
              </p:cNvPr>
              <p:cNvSpPr/>
              <p:nvPr/>
            </p:nvSpPr>
            <p:spPr>
              <a:xfrm>
                <a:off x="5756236" y="3801936"/>
                <a:ext cx="446568" cy="3615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426DDE28-BB0D-463B-BF6A-7EF9BB0EDB1A}"/>
                  </a:ext>
                </a:extLst>
              </p:cNvPr>
              <p:cNvSpPr/>
              <p:nvPr/>
            </p:nvSpPr>
            <p:spPr>
              <a:xfrm>
                <a:off x="6202804" y="3801936"/>
                <a:ext cx="446568" cy="3615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7ADF37B8-F67C-4114-BA11-95DFEC1A3C30}"/>
                  </a:ext>
                </a:extLst>
              </p:cNvPr>
              <p:cNvSpPr/>
              <p:nvPr/>
            </p:nvSpPr>
            <p:spPr>
              <a:xfrm>
                <a:off x="6649372" y="3801936"/>
                <a:ext cx="446568" cy="361507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74483560-B9C8-4CC6-907F-AADA3EDC73B9}"/>
                  </a:ext>
                </a:extLst>
              </p:cNvPr>
              <p:cNvSpPr/>
              <p:nvPr/>
            </p:nvSpPr>
            <p:spPr>
              <a:xfrm>
                <a:off x="7095940" y="3801935"/>
                <a:ext cx="446568" cy="361507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15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7A200292-6699-486D-8F4A-6713482A4A4A}"/>
                    </a:ext>
                  </a:extLst>
                </p:cNvPr>
                <p:cNvSpPr txBox="1"/>
                <p:nvPr/>
              </p:nvSpPr>
              <p:spPr>
                <a:xfrm>
                  <a:off x="4416532" y="3401825"/>
                  <a:ext cx="871713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=5</m:t>
                        </m:r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7A200292-6699-486D-8F4A-6713482A4A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6532" y="3401825"/>
                  <a:ext cx="871713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10C8D926-292D-476C-80D3-6FC58D76A3AC}"/>
              </a:ext>
            </a:extLst>
          </p:cNvPr>
          <p:cNvGrpSpPr/>
          <p:nvPr/>
        </p:nvGrpSpPr>
        <p:grpSpPr>
          <a:xfrm>
            <a:off x="4416532" y="4228011"/>
            <a:ext cx="3969868" cy="400110"/>
            <a:chOff x="4416532" y="4228011"/>
            <a:chExt cx="3969868" cy="400110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CEE065B6-0033-4FFF-9F74-0B7E05E0A63A}"/>
                </a:ext>
              </a:extLst>
            </p:cNvPr>
            <p:cNvSpPr/>
            <p:nvPr/>
          </p:nvSpPr>
          <p:spPr>
            <a:xfrm>
              <a:off x="4416532" y="4247314"/>
              <a:ext cx="446568" cy="36150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19E730E1-BC24-4380-8BDF-FE8C5D9246AE}"/>
                </a:ext>
              </a:extLst>
            </p:cNvPr>
            <p:cNvSpPr/>
            <p:nvPr/>
          </p:nvSpPr>
          <p:spPr>
            <a:xfrm>
              <a:off x="4863100" y="4247314"/>
              <a:ext cx="446568" cy="36150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937EF57-EF5C-42C2-9F04-8E46E937F179}"/>
                </a:ext>
              </a:extLst>
            </p:cNvPr>
            <p:cNvSpPr/>
            <p:nvPr/>
          </p:nvSpPr>
          <p:spPr>
            <a:xfrm>
              <a:off x="5309668" y="4247314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EC00F41C-575E-48DB-97F2-08676A406115}"/>
                </a:ext>
              </a:extLst>
            </p:cNvPr>
            <p:cNvSpPr/>
            <p:nvPr/>
          </p:nvSpPr>
          <p:spPr>
            <a:xfrm>
              <a:off x="5756236" y="4247314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B39CEC13-D302-44D4-B863-76871E5E0AAA}"/>
                </a:ext>
              </a:extLst>
            </p:cNvPr>
            <p:cNvSpPr/>
            <p:nvPr/>
          </p:nvSpPr>
          <p:spPr>
            <a:xfrm>
              <a:off x="6202804" y="4247314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518B87FB-168B-4C00-8FB2-9570FC7D4CBF}"/>
                </a:ext>
              </a:extLst>
            </p:cNvPr>
            <p:cNvSpPr/>
            <p:nvPr/>
          </p:nvSpPr>
          <p:spPr>
            <a:xfrm>
              <a:off x="6649372" y="4247314"/>
              <a:ext cx="446568" cy="36150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7227FF0E-8A53-4BCB-8928-1C923AFD17F7}"/>
                </a:ext>
              </a:extLst>
            </p:cNvPr>
            <p:cNvSpPr/>
            <p:nvPr/>
          </p:nvSpPr>
          <p:spPr>
            <a:xfrm>
              <a:off x="7095940" y="4247313"/>
              <a:ext cx="446568" cy="36150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15</a:t>
              </a: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1F7317EE-5AC7-4F58-A2EA-EB5E04060385}"/>
                </a:ext>
              </a:extLst>
            </p:cNvPr>
            <p:cNvSpPr txBox="1"/>
            <p:nvPr/>
          </p:nvSpPr>
          <p:spPr>
            <a:xfrm>
              <a:off x="7563931" y="4228011"/>
              <a:ext cx="82246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Swap!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45F48CD3-C861-4E0E-B8B7-9C05A201D85A}"/>
              </a:ext>
            </a:extLst>
          </p:cNvPr>
          <p:cNvGrpSpPr/>
          <p:nvPr/>
        </p:nvGrpSpPr>
        <p:grpSpPr>
          <a:xfrm>
            <a:off x="4416532" y="4667111"/>
            <a:ext cx="3969868" cy="400110"/>
            <a:chOff x="4416532" y="4667111"/>
            <a:chExt cx="3969868" cy="400110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4204DDAC-0AAA-448B-9706-F9D9073B6409}"/>
                </a:ext>
              </a:extLst>
            </p:cNvPr>
            <p:cNvSpPr/>
            <p:nvPr/>
          </p:nvSpPr>
          <p:spPr>
            <a:xfrm>
              <a:off x="4416532" y="4692691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26FE972B-057C-4882-9CE0-430AC3C04D10}"/>
                </a:ext>
              </a:extLst>
            </p:cNvPr>
            <p:cNvSpPr/>
            <p:nvPr/>
          </p:nvSpPr>
          <p:spPr>
            <a:xfrm>
              <a:off x="4863100" y="4692691"/>
              <a:ext cx="446568" cy="36150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3B240936-DE67-4904-BAF8-5DF192137217}"/>
                </a:ext>
              </a:extLst>
            </p:cNvPr>
            <p:cNvSpPr/>
            <p:nvPr/>
          </p:nvSpPr>
          <p:spPr>
            <a:xfrm>
              <a:off x="5309668" y="4692691"/>
              <a:ext cx="446568" cy="36150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13EDDD3F-60E0-4BB8-A6DC-C266B0B73EA6}"/>
                </a:ext>
              </a:extLst>
            </p:cNvPr>
            <p:cNvSpPr/>
            <p:nvPr/>
          </p:nvSpPr>
          <p:spPr>
            <a:xfrm>
              <a:off x="5756236" y="4692691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6C5D9B26-3319-409D-A101-1EB44826E5F3}"/>
                </a:ext>
              </a:extLst>
            </p:cNvPr>
            <p:cNvSpPr/>
            <p:nvPr/>
          </p:nvSpPr>
          <p:spPr>
            <a:xfrm>
              <a:off x="6202804" y="4692691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3BF683C6-BB94-4B2F-89E6-D2E16DCB7ABE}"/>
                </a:ext>
              </a:extLst>
            </p:cNvPr>
            <p:cNvSpPr/>
            <p:nvPr/>
          </p:nvSpPr>
          <p:spPr>
            <a:xfrm>
              <a:off x="6649372" y="4692691"/>
              <a:ext cx="446568" cy="36150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913F35FC-9762-4B34-8DAB-45871F0483C8}"/>
                </a:ext>
              </a:extLst>
            </p:cNvPr>
            <p:cNvSpPr/>
            <p:nvPr/>
          </p:nvSpPr>
          <p:spPr>
            <a:xfrm>
              <a:off x="7095940" y="4692690"/>
              <a:ext cx="446568" cy="36150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15</a:t>
              </a: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8A7EC0F1-0C08-4CA2-ADBD-34A3FBABE2F4}"/>
                </a:ext>
              </a:extLst>
            </p:cNvPr>
            <p:cNvSpPr txBox="1"/>
            <p:nvPr/>
          </p:nvSpPr>
          <p:spPr>
            <a:xfrm>
              <a:off x="7563931" y="4667111"/>
              <a:ext cx="82246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Swap!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279F13A2-23B5-48DF-959C-31A20C7172C0}"/>
              </a:ext>
            </a:extLst>
          </p:cNvPr>
          <p:cNvGrpSpPr/>
          <p:nvPr/>
        </p:nvGrpSpPr>
        <p:grpSpPr>
          <a:xfrm>
            <a:off x="4416532" y="5138066"/>
            <a:ext cx="4310538" cy="400110"/>
            <a:chOff x="4416532" y="5138066"/>
            <a:chExt cx="4310538" cy="400110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56B6375C-C985-41FD-B1D4-71B1ABF2E124}"/>
                </a:ext>
              </a:extLst>
            </p:cNvPr>
            <p:cNvSpPr/>
            <p:nvPr/>
          </p:nvSpPr>
          <p:spPr>
            <a:xfrm>
              <a:off x="4416532" y="5163646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4EEA5DAD-8155-4AB5-ABE2-10BCEAEF5BBC}"/>
                </a:ext>
              </a:extLst>
            </p:cNvPr>
            <p:cNvSpPr/>
            <p:nvPr/>
          </p:nvSpPr>
          <p:spPr>
            <a:xfrm>
              <a:off x="4863100" y="5163646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505EE8E7-6A28-4F97-BC87-1882C0104A86}"/>
                </a:ext>
              </a:extLst>
            </p:cNvPr>
            <p:cNvSpPr/>
            <p:nvPr/>
          </p:nvSpPr>
          <p:spPr>
            <a:xfrm>
              <a:off x="5309668" y="5163646"/>
              <a:ext cx="446568" cy="36150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6D838808-668E-4EF3-A05F-345B838CF02E}"/>
                </a:ext>
              </a:extLst>
            </p:cNvPr>
            <p:cNvSpPr/>
            <p:nvPr/>
          </p:nvSpPr>
          <p:spPr>
            <a:xfrm>
              <a:off x="5756236" y="5163646"/>
              <a:ext cx="446568" cy="36150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B0A460F0-DF12-4283-AD78-CAF82005E2E2}"/>
                </a:ext>
              </a:extLst>
            </p:cNvPr>
            <p:cNvSpPr/>
            <p:nvPr/>
          </p:nvSpPr>
          <p:spPr>
            <a:xfrm>
              <a:off x="6202804" y="5163646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B84A4A0A-4FD9-449C-BAAE-0C27B1A48A83}"/>
                </a:ext>
              </a:extLst>
            </p:cNvPr>
            <p:cNvSpPr/>
            <p:nvPr/>
          </p:nvSpPr>
          <p:spPr>
            <a:xfrm>
              <a:off x="6649372" y="5163646"/>
              <a:ext cx="446568" cy="36150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0F94FB26-FA9A-40E4-846B-F4461A5F0AEE}"/>
                </a:ext>
              </a:extLst>
            </p:cNvPr>
            <p:cNvSpPr/>
            <p:nvPr/>
          </p:nvSpPr>
          <p:spPr>
            <a:xfrm>
              <a:off x="7095940" y="5163645"/>
              <a:ext cx="446568" cy="36150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15</a:t>
              </a: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CF2EB7F0-B34D-47DA-B030-705256A71B23}"/>
                </a:ext>
              </a:extLst>
            </p:cNvPr>
            <p:cNvSpPr txBox="1"/>
            <p:nvPr/>
          </p:nvSpPr>
          <p:spPr>
            <a:xfrm>
              <a:off x="7563931" y="5138066"/>
              <a:ext cx="11631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No swap!</a:t>
              </a:r>
            </a:p>
          </p:txBody>
        </p: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3D1C0745-5194-434C-BC18-7099DF6C5822}"/>
              </a:ext>
            </a:extLst>
          </p:cNvPr>
          <p:cNvGrpSpPr/>
          <p:nvPr/>
        </p:nvGrpSpPr>
        <p:grpSpPr>
          <a:xfrm>
            <a:off x="4416532" y="5609021"/>
            <a:ext cx="4310538" cy="400110"/>
            <a:chOff x="4416532" y="5609021"/>
            <a:chExt cx="4310538" cy="400110"/>
          </a:xfrm>
        </p:grpSpPr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D78A89CB-8B51-4BA2-B571-92C5FC7521A9}"/>
                </a:ext>
              </a:extLst>
            </p:cNvPr>
            <p:cNvSpPr/>
            <p:nvPr/>
          </p:nvSpPr>
          <p:spPr>
            <a:xfrm>
              <a:off x="4416532" y="5634601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08CAEA6A-07DC-4A89-A017-C9E93F35C936}"/>
                </a:ext>
              </a:extLst>
            </p:cNvPr>
            <p:cNvSpPr/>
            <p:nvPr/>
          </p:nvSpPr>
          <p:spPr>
            <a:xfrm>
              <a:off x="4863100" y="5634601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86463B80-26B9-4AA8-B47D-ED02A475045A}"/>
                </a:ext>
              </a:extLst>
            </p:cNvPr>
            <p:cNvSpPr/>
            <p:nvPr/>
          </p:nvSpPr>
          <p:spPr>
            <a:xfrm>
              <a:off x="5309668" y="5634601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355D7DD9-5094-4B2D-AA27-D62F88D12680}"/>
                </a:ext>
              </a:extLst>
            </p:cNvPr>
            <p:cNvSpPr/>
            <p:nvPr/>
          </p:nvSpPr>
          <p:spPr>
            <a:xfrm>
              <a:off x="5756236" y="5634601"/>
              <a:ext cx="446568" cy="36150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EE89B1E0-B6F8-4D60-B291-9F09973B74FF}"/>
                </a:ext>
              </a:extLst>
            </p:cNvPr>
            <p:cNvSpPr/>
            <p:nvPr/>
          </p:nvSpPr>
          <p:spPr>
            <a:xfrm>
              <a:off x="6202804" y="5634601"/>
              <a:ext cx="446568" cy="36150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34D55307-AA57-4520-A5FE-1F90B2450C72}"/>
                </a:ext>
              </a:extLst>
            </p:cNvPr>
            <p:cNvSpPr/>
            <p:nvPr/>
          </p:nvSpPr>
          <p:spPr>
            <a:xfrm>
              <a:off x="6649372" y="5634601"/>
              <a:ext cx="446568" cy="36150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9FB7DE4D-FB23-4478-B5EE-2AB15069FDDB}"/>
                </a:ext>
              </a:extLst>
            </p:cNvPr>
            <p:cNvSpPr/>
            <p:nvPr/>
          </p:nvSpPr>
          <p:spPr>
            <a:xfrm>
              <a:off x="7095940" y="5634600"/>
              <a:ext cx="446568" cy="36150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15</a:t>
              </a: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C530C85F-6AD7-458D-A29F-594464F26F2A}"/>
                </a:ext>
              </a:extLst>
            </p:cNvPr>
            <p:cNvSpPr txBox="1"/>
            <p:nvPr/>
          </p:nvSpPr>
          <p:spPr>
            <a:xfrm>
              <a:off x="7563931" y="5609021"/>
              <a:ext cx="11631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No swap!</a:t>
              </a:r>
            </a:p>
          </p:txBody>
        </p: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7C919DFF-2468-4419-8C76-63259B8AE4D4}"/>
              </a:ext>
            </a:extLst>
          </p:cNvPr>
          <p:cNvGrpSpPr/>
          <p:nvPr/>
        </p:nvGrpSpPr>
        <p:grpSpPr>
          <a:xfrm>
            <a:off x="4416532" y="6105553"/>
            <a:ext cx="3125976" cy="361508"/>
            <a:chOff x="4416532" y="6105553"/>
            <a:chExt cx="3125976" cy="361508"/>
          </a:xfrm>
        </p:grpSpPr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48F534B5-62A5-4CF7-8A37-04753A58AA45}"/>
                </a:ext>
              </a:extLst>
            </p:cNvPr>
            <p:cNvSpPr/>
            <p:nvPr/>
          </p:nvSpPr>
          <p:spPr>
            <a:xfrm>
              <a:off x="4416532" y="6105554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C67C0F16-E111-414C-B212-C1357D389861}"/>
                </a:ext>
              </a:extLst>
            </p:cNvPr>
            <p:cNvSpPr/>
            <p:nvPr/>
          </p:nvSpPr>
          <p:spPr>
            <a:xfrm>
              <a:off x="4863100" y="6105554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70C67EBE-260E-4174-AD26-6B0B01D2DCB8}"/>
                </a:ext>
              </a:extLst>
            </p:cNvPr>
            <p:cNvSpPr/>
            <p:nvPr/>
          </p:nvSpPr>
          <p:spPr>
            <a:xfrm>
              <a:off x="5309668" y="6105554"/>
              <a:ext cx="446568" cy="36150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0914DC68-4882-44C0-9C6F-C8A9D58DD298}"/>
                </a:ext>
              </a:extLst>
            </p:cNvPr>
            <p:cNvSpPr/>
            <p:nvPr/>
          </p:nvSpPr>
          <p:spPr>
            <a:xfrm>
              <a:off x="5756236" y="6105554"/>
              <a:ext cx="446568" cy="36150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BF084B6E-A576-499E-B06F-31136050C14A}"/>
                </a:ext>
              </a:extLst>
            </p:cNvPr>
            <p:cNvSpPr/>
            <p:nvPr/>
          </p:nvSpPr>
          <p:spPr>
            <a:xfrm>
              <a:off x="6202804" y="6105554"/>
              <a:ext cx="446568" cy="36150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9B3F6A6A-22B5-4448-9208-A8C81151F3DA}"/>
                </a:ext>
              </a:extLst>
            </p:cNvPr>
            <p:cNvSpPr/>
            <p:nvPr/>
          </p:nvSpPr>
          <p:spPr>
            <a:xfrm>
              <a:off x="6649372" y="6105554"/>
              <a:ext cx="446568" cy="36150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18DC321B-7268-4FD3-BECB-03C812A794C7}"/>
                </a:ext>
              </a:extLst>
            </p:cNvPr>
            <p:cNvSpPr/>
            <p:nvPr/>
          </p:nvSpPr>
          <p:spPr>
            <a:xfrm>
              <a:off x="7095940" y="6105553"/>
              <a:ext cx="446568" cy="36150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15</a:t>
              </a:r>
            </a:p>
          </p:txBody>
        </p:sp>
      </p:grp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7F9B2165-A546-4D41-93E3-F32086D5FBE3}"/>
              </a:ext>
            </a:extLst>
          </p:cNvPr>
          <p:cNvSpPr/>
          <p:nvPr/>
        </p:nvSpPr>
        <p:spPr>
          <a:xfrm>
            <a:off x="4329329" y="4645221"/>
            <a:ext cx="4057071" cy="473544"/>
          </a:xfrm>
          <a:prstGeom prst="round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C030992F-B352-45E2-94F6-4D97EF179F55}"/>
                  </a:ext>
                </a:extLst>
              </p:cNvPr>
              <p:cNvSpPr txBox="1"/>
              <p:nvPr/>
            </p:nvSpPr>
            <p:spPr>
              <a:xfrm>
                <a:off x="7563931" y="6079976"/>
                <a:ext cx="87171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C030992F-B352-45E2-94F6-4D97EF179F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931" y="6079976"/>
                <a:ext cx="871713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矩形 75">
            <a:extLst>
              <a:ext uri="{FF2B5EF4-FFF2-40B4-BE49-F238E27FC236}">
                <a16:creationId xmlns:a16="http://schemas.microsoft.com/office/drawing/2014/main" id="{BC4DD45F-62ED-4259-BCB3-FCD37873BF65}"/>
              </a:ext>
            </a:extLst>
          </p:cNvPr>
          <p:cNvSpPr/>
          <p:nvPr/>
        </p:nvSpPr>
        <p:spPr>
          <a:xfrm>
            <a:off x="628650" y="4166073"/>
            <a:ext cx="3501917" cy="23440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BubbleSortImprovedAgain</a:t>
            </a:r>
            <a:r>
              <a:rPr lang="en-GB" sz="1600" b="1" u="sng" dirty="0">
                <a:solidFill>
                  <a:schemeClr val="tx1"/>
                </a:solidFill>
              </a:rPr>
              <a:t>(A):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n=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A.length</a:t>
            </a:r>
            <a:endParaRPr lang="en-US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repeat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lastSwapIdx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=-1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(j=1 to n-1)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(A[j]&gt;A[j+1])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Swap(A[j],A[j+1])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lastSwapIdx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=j+1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n=lastSwapIdx-1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until (n&lt;=1)</a:t>
            </a:r>
          </a:p>
        </p:txBody>
      </p:sp>
    </p:spTree>
    <p:extLst>
      <p:ext uri="{BB962C8B-B14F-4D97-AF65-F5344CB8AC3E}">
        <p14:creationId xmlns:p14="http://schemas.microsoft.com/office/powerpoint/2010/main" val="3140677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/>
      <p:bldP spid="74" grpId="0" animBg="1"/>
      <p:bldP spid="75" grpId="0"/>
      <p:bldP spid="7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F2A714-2210-4432-9C10-9E21C6E4F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aseline="30000" dirty="0"/>
              <a:t>*</a:t>
            </a:r>
            <a:r>
              <a:rPr lang="en-US" dirty="0"/>
              <a:t>Shell’s method for sorting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137834-1713-4439-A15D-4E937A4AD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89212"/>
            <a:ext cx="7886700" cy="4351338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2400" dirty="0"/>
              <a:t>Let’s first see an example of </a:t>
            </a:r>
            <a:r>
              <a:rPr lang="en-US" sz="2400" b="1" dirty="0" err="1"/>
              <a:t>ShellSort</a:t>
            </a:r>
            <a:r>
              <a:rPr lang="en-US" sz="2400" dirty="0"/>
              <a:t>: sort 16 integers.</a:t>
            </a:r>
          </a:p>
          <a:p>
            <a:pPr>
              <a:spcBef>
                <a:spcPts val="600"/>
              </a:spcBef>
            </a:pPr>
            <a:r>
              <a:rPr lang="en-US" sz="2000" b="1" dirty="0"/>
              <a:t>[Pass 1]</a:t>
            </a:r>
            <a:r>
              <a:rPr lang="en-US" sz="2000" dirty="0"/>
              <a:t> Group elements of distance 8 together, end up with eight groups each of size two. Sort these groups individually.</a:t>
            </a:r>
          </a:p>
          <a:p>
            <a:pPr>
              <a:spcBef>
                <a:spcPts val="600"/>
              </a:spcBef>
            </a:pPr>
            <a:r>
              <a:rPr lang="en-US" sz="2000" b="1" dirty="0"/>
              <a:t>[Pass 2]</a:t>
            </a:r>
            <a:r>
              <a:rPr lang="en-US" sz="2000" dirty="0"/>
              <a:t> Group elements of distance 4 together, end up with four groups each of size four. Sort these groups individually.</a:t>
            </a:r>
          </a:p>
          <a:p>
            <a:pPr>
              <a:spcBef>
                <a:spcPts val="600"/>
              </a:spcBef>
            </a:pPr>
            <a:r>
              <a:rPr lang="en-US" sz="2000" b="1" dirty="0"/>
              <a:t>[Pass 3]</a:t>
            </a:r>
            <a:r>
              <a:rPr lang="en-US" sz="2000" dirty="0"/>
              <a:t> Group elements of distance 2 together, end up with two groups each of size eight. Sort these groups individually.</a:t>
            </a:r>
          </a:p>
          <a:p>
            <a:pPr>
              <a:spcBef>
                <a:spcPts val="600"/>
              </a:spcBef>
            </a:pPr>
            <a:r>
              <a:rPr lang="en-US" sz="2000" b="1" dirty="0"/>
              <a:t>[Pass 4]</a:t>
            </a:r>
            <a:r>
              <a:rPr lang="en-US" sz="2000" dirty="0"/>
              <a:t> Group </a:t>
            </a:r>
            <a:br>
              <a:rPr lang="en-US" sz="2000" dirty="0"/>
            </a:br>
            <a:r>
              <a:rPr lang="en-US" sz="2000" dirty="0"/>
              <a:t>elements of </a:t>
            </a:r>
            <a:br>
              <a:rPr lang="en-US" sz="2000" dirty="0"/>
            </a:br>
            <a:r>
              <a:rPr lang="en-US" sz="2000" dirty="0"/>
              <a:t>distance 1, </a:t>
            </a:r>
            <a:br>
              <a:rPr lang="en-US" sz="2000" dirty="0"/>
            </a:br>
            <a:r>
              <a:rPr lang="en-US" sz="2000" dirty="0"/>
              <a:t>this is just </a:t>
            </a:r>
            <a:br>
              <a:rPr lang="en-US" sz="2000" dirty="0"/>
            </a:br>
            <a:r>
              <a:rPr lang="en-US" sz="2000" dirty="0"/>
              <a:t>an ordinary </a:t>
            </a:r>
            <a:br>
              <a:rPr lang="en-US" sz="2000" dirty="0"/>
            </a:br>
            <a:r>
              <a:rPr lang="en-US" sz="2000" dirty="0"/>
              <a:t>sort on all </a:t>
            </a:r>
            <a:br>
              <a:rPr lang="en-US" sz="2000" dirty="0"/>
            </a:br>
            <a:r>
              <a:rPr lang="en-US" sz="2000" dirty="0"/>
              <a:t>elements.</a:t>
            </a:r>
          </a:p>
          <a:p>
            <a:endParaRPr lang="en-US" sz="2000" dirty="0"/>
          </a:p>
          <a:p>
            <a:endParaRPr lang="en-US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B4CB3AF-C121-4F20-AF11-A26270885F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0453"/>
          <a:stretch/>
        </p:blipFill>
        <p:spPr>
          <a:xfrm>
            <a:off x="3079531" y="4020684"/>
            <a:ext cx="5435819" cy="23600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560EF1D-3FB5-45AB-BC25-7A0ACCF6CB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548" b="73871"/>
          <a:stretch/>
        </p:blipFill>
        <p:spPr>
          <a:xfrm>
            <a:off x="3079531" y="4256690"/>
            <a:ext cx="5435819" cy="40990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BB4672C-8889-41A6-BD92-57B34DA6F7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6129" b="64943"/>
          <a:stretch/>
        </p:blipFill>
        <p:spPr>
          <a:xfrm>
            <a:off x="3079531" y="4666593"/>
            <a:ext cx="5435819" cy="22071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7377620-0B04-4C42-A2F2-540B38BC1B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5058" b="41134"/>
          <a:stretch/>
        </p:blipFill>
        <p:spPr>
          <a:xfrm>
            <a:off x="3079531" y="4887311"/>
            <a:ext cx="5435819" cy="58858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5FAEE96-24E9-4985-BA39-06C871E806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9108" b="17991"/>
          <a:stretch/>
        </p:blipFill>
        <p:spPr>
          <a:xfrm>
            <a:off x="3079531" y="5475891"/>
            <a:ext cx="5435819" cy="56613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55F285E-137F-49F7-9D6A-CAEF88FFB2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2010" b="-247"/>
          <a:stretch/>
        </p:blipFill>
        <p:spPr>
          <a:xfrm>
            <a:off x="3079531" y="6042027"/>
            <a:ext cx="5435819" cy="450848"/>
          </a:xfrm>
          <a:prstGeom prst="rect">
            <a:avLst/>
          </a:prstGeom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1A2A602-86DC-4239-AF1B-5A71EE1D6501}"/>
              </a:ext>
            </a:extLst>
          </p:cNvPr>
          <p:cNvSpPr/>
          <p:nvPr/>
        </p:nvSpPr>
        <p:spPr>
          <a:xfrm>
            <a:off x="3074850" y="4005563"/>
            <a:ext cx="341012" cy="251127"/>
          </a:xfrm>
          <a:prstGeom prst="round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24AD94B-90FA-4B63-B53D-ABE7AC76E2E7}"/>
              </a:ext>
            </a:extLst>
          </p:cNvPr>
          <p:cNvSpPr/>
          <p:nvPr/>
        </p:nvSpPr>
        <p:spPr>
          <a:xfrm>
            <a:off x="5784590" y="3999663"/>
            <a:ext cx="341012" cy="251127"/>
          </a:xfrm>
          <a:prstGeom prst="round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72F0B6E-DAF3-4CAA-9F9E-9F39AA2268F2}"/>
              </a:ext>
            </a:extLst>
          </p:cNvPr>
          <p:cNvSpPr/>
          <p:nvPr/>
        </p:nvSpPr>
        <p:spPr>
          <a:xfrm>
            <a:off x="3415864" y="4010173"/>
            <a:ext cx="341012" cy="251127"/>
          </a:xfrm>
          <a:prstGeom prst="roundRect">
            <a:avLst/>
          </a:prstGeom>
          <a:solidFill>
            <a:schemeClr val="accent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B726ABF-872D-4193-9C20-9A37CAE4F2EA}"/>
              </a:ext>
            </a:extLst>
          </p:cNvPr>
          <p:cNvSpPr/>
          <p:nvPr/>
        </p:nvSpPr>
        <p:spPr>
          <a:xfrm>
            <a:off x="6125604" y="4004273"/>
            <a:ext cx="341012" cy="251127"/>
          </a:xfrm>
          <a:prstGeom prst="roundRect">
            <a:avLst/>
          </a:prstGeom>
          <a:solidFill>
            <a:schemeClr val="accent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E0B7A71-2431-419D-91F4-6381A9B8871C}"/>
              </a:ext>
            </a:extLst>
          </p:cNvPr>
          <p:cNvSpPr/>
          <p:nvPr/>
        </p:nvSpPr>
        <p:spPr>
          <a:xfrm>
            <a:off x="3761557" y="4016072"/>
            <a:ext cx="341012" cy="251127"/>
          </a:xfrm>
          <a:prstGeom prst="roundRect">
            <a:avLst/>
          </a:prstGeom>
          <a:solidFill>
            <a:schemeClr val="accent6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0DB0036-4860-4D3E-8D66-1B8F72703739}"/>
              </a:ext>
            </a:extLst>
          </p:cNvPr>
          <p:cNvSpPr/>
          <p:nvPr/>
        </p:nvSpPr>
        <p:spPr>
          <a:xfrm>
            <a:off x="6471297" y="4010172"/>
            <a:ext cx="341012" cy="251127"/>
          </a:xfrm>
          <a:prstGeom prst="roundRect">
            <a:avLst/>
          </a:prstGeom>
          <a:solidFill>
            <a:schemeClr val="accent6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B460DC3-D539-4AF1-A93E-BA807BF98E64}"/>
              </a:ext>
            </a:extLst>
          </p:cNvPr>
          <p:cNvSpPr/>
          <p:nvPr/>
        </p:nvSpPr>
        <p:spPr>
          <a:xfrm>
            <a:off x="3074850" y="4655761"/>
            <a:ext cx="341012" cy="251127"/>
          </a:xfrm>
          <a:prstGeom prst="round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913F219-C2B5-4C6F-94B5-EB26F93928B9}"/>
              </a:ext>
            </a:extLst>
          </p:cNvPr>
          <p:cNvSpPr/>
          <p:nvPr/>
        </p:nvSpPr>
        <p:spPr>
          <a:xfrm>
            <a:off x="5784590" y="4649861"/>
            <a:ext cx="341012" cy="251127"/>
          </a:xfrm>
          <a:prstGeom prst="round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4819491-97C3-4E2E-AE23-372592BFD6E4}"/>
              </a:ext>
            </a:extLst>
          </p:cNvPr>
          <p:cNvSpPr/>
          <p:nvPr/>
        </p:nvSpPr>
        <p:spPr>
          <a:xfrm>
            <a:off x="4429720" y="4649861"/>
            <a:ext cx="341012" cy="251127"/>
          </a:xfrm>
          <a:prstGeom prst="round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9F78A73-D851-4D6D-893B-8D842E6A92F8}"/>
              </a:ext>
            </a:extLst>
          </p:cNvPr>
          <p:cNvSpPr/>
          <p:nvPr/>
        </p:nvSpPr>
        <p:spPr>
          <a:xfrm>
            <a:off x="7139460" y="4640889"/>
            <a:ext cx="341012" cy="251127"/>
          </a:xfrm>
          <a:prstGeom prst="round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639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4B6F98-8D13-4F71-B9E3-F842A5BFA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framework of </a:t>
            </a:r>
            <a:r>
              <a:rPr lang="en-US" b="1" dirty="0" err="1"/>
              <a:t>ShellSort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C0D6FE5-495E-4757-88FF-FFC47FAFD0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2559384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To sort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items, define a set of </a:t>
                </a:r>
                <a:r>
                  <a:rPr lang="en-US" sz="2400" dirty="0">
                    <a:solidFill>
                      <a:srgbClr val="C00000"/>
                    </a:solidFill>
                  </a:rPr>
                  <a:t>decreasing distances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r>
                  <a:rPr lang="en-US" sz="24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ShellSort</a:t>
                </a:r>
                <a:r>
                  <a:rPr lang="en-US" sz="2400" dirty="0"/>
                  <a:t> then go through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passes, for 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baseline="30000" dirty="0" err="1"/>
                  <a:t>th</a:t>
                </a:r>
                <a:r>
                  <a:rPr lang="en-US" sz="2400" dirty="0"/>
                  <a:t> pass:</a:t>
                </a:r>
              </a:p>
              <a:p>
                <a:pPr lvl="1"/>
                <a:r>
                  <a:rPr lang="en-US" sz="2000" dirty="0"/>
                  <a:t>Divide items into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groups each of size about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000" dirty="0"/>
                  <a:t>, and the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000" baseline="30000" dirty="0" err="1"/>
                  <a:t>th</a:t>
                </a:r>
                <a:r>
                  <a:rPr lang="en-US" sz="2000" dirty="0"/>
                  <a:t> group contains items with index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+3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,⋯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For each of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groups, sort the items in that group. (Usually uses 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InsertionSort</a:t>
                </a:r>
                <a:r>
                  <a:rPr lang="en-US" sz="2000" dirty="0"/>
                  <a:t>.)</a:t>
                </a:r>
              </a:p>
              <a:p>
                <a:pPr lvl="1"/>
                <a:endParaRPr lang="en-US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C0D6FE5-495E-4757-88FF-FFC47FAFD0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2559384"/>
              </a:xfrm>
              <a:blipFill>
                <a:blip r:embed="rId2"/>
                <a:stretch>
                  <a:fillRect l="-1005" t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组合 19">
            <a:extLst>
              <a:ext uri="{FF2B5EF4-FFF2-40B4-BE49-F238E27FC236}">
                <a16:creationId xmlns:a16="http://schemas.microsoft.com/office/drawing/2014/main" id="{C873CDBE-0A6A-44A9-85E4-F3675E487DD5}"/>
              </a:ext>
            </a:extLst>
          </p:cNvPr>
          <p:cNvGrpSpPr/>
          <p:nvPr/>
        </p:nvGrpSpPr>
        <p:grpSpPr>
          <a:xfrm>
            <a:off x="3602338" y="4250073"/>
            <a:ext cx="4913012" cy="2242801"/>
            <a:chOff x="3074850" y="4010173"/>
            <a:chExt cx="4913012" cy="2242801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97885BE8-28BD-4D25-96F7-97A032E547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" b="-8"/>
            <a:stretch/>
          </p:blipFill>
          <p:spPr>
            <a:xfrm>
              <a:off x="3079531" y="4020684"/>
              <a:ext cx="4908331" cy="2232290"/>
            </a:xfrm>
            <a:prstGeom prst="rect">
              <a:avLst/>
            </a:prstGeom>
          </p:spPr>
        </p:pic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18D4E91C-2F42-430F-BE33-A849F4EDA07C}"/>
                </a:ext>
              </a:extLst>
            </p:cNvPr>
            <p:cNvSpPr/>
            <p:nvPr/>
          </p:nvSpPr>
          <p:spPr>
            <a:xfrm>
              <a:off x="3103078" y="4010173"/>
              <a:ext cx="279879" cy="206108"/>
            </a:xfrm>
            <a:prstGeom prst="roundRect">
              <a:avLst/>
            </a:prstGeom>
            <a:solidFill>
              <a:schemeClr val="accent2">
                <a:lumMod val="7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B29F3C6F-63B4-49A4-A837-E97451FE24CD}"/>
                </a:ext>
              </a:extLst>
            </p:cNvPr>
            <p:cNvSpPr/>
            <p:nvPr/>
          </p:nvSpPr>
          <p:spPr>
            <a:xfrm>
              <a:off x="5848896" y="4012228"/>
              <a:ext cx="279879" cy="206108"/>
            </a:xfrm>
            <a:prstGeom prst="roundRect">
              <a:avLst/>
            </a:prstGeom>
            <a:solidFill>
              <a:schemeClr val="accent2">
                <a:lumMod val="7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D9A7D5CC-4107-421F-A386-D1B1DDB37E7B}"/>
                </a:ext>
              </a:extLst>
            </p:cNvPr>
            <p:cNvSpPr/>
            <p:nvPr/>
          </p:nvSpPr>
          <p:spPr>
            <a:xfrm>
              <a:off x="3406504" y="4010173"/>
              <a:ext cx="279879" cy="206108"/>
            </a:xfrm>
            <a:prstGeom prst="roundRect">
              <a:avLst/>
            </a:prstGeom>
            <a:solidFill>
              <a:schemeClr val="accent1">
                <a:lumMod val="7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36154879-4215-4F85-8A4A-10B07203DCCA}"/>
                </a:ext>
              </a:extLst>
            </p:cNvPr>
            <p:cNvSpPr/>
            <p:nvPr/>
          </p:nvSpPr>
          <p:spPr>
            <a:xfrm>
              <a:off x="6163237" y="4010173"/>
              <a:ext cx="279879" cy="206108"/>
            </a:xfrm>
            <a:prstGeom prst="roundRect">
              <a:avLst/>
            </a:prstGeom>
            <a:solidFill>
              <a:schemeClr val="accent1">
                <a:lumMod val="7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54120F1E-2A16-47AD-9ACC-E3642DB174F0}"/>
                </a:ext>
              </a:extLst>
            </p:cNvPr>
            <p:cNvSpPr/>
            <p:nvPr/>
          </p:nvSpPr>
          <p:spPr>
            <a:xfrm>
              <a:off x="3709930" y="4016157"/>
              <a:ext cx="279879" cy="206108"/>
            </a:xfrm>
            <a:prstGeom prst="roundRect">
              <a:avLst/>
            </a:prstGeom>
            <a:solidFill>
              <a:schemeClr val="accent6">
                <a:lumMod val="7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94A9C1B4-E73D-4FEC-AB7E-CBDC5EDAB9A8}"/>
                </a:ext>
              </a:extLst>
            </p:cNvPr>
            <p:cNvSpPr/>
            <p:nvPr/>
          </p:nvSpPr>
          <p:spPr>
            <a:xfrm>
              <a:off x="6466663" y="4010173"/>
              <a:ext cx="279879" cy="206108"/>
            </a:xfrm>
            <a:prstGeom prst="roundRect">
              <a:avLst/>
            </a:prstGeom>
            <a:solidFill>
              <a:schemeClr val="accent6">
                <a:lumMod val="7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C5D3B5A2-3854-46FC-A23E-B3B9456E81BC}"/>
                </a:ext>
              </a:extLst>
            </p:cNvPr>
            <p:cNvSpPr/>
            <p:nvPr/>
          </p:nvSpPr>
          <p:spPr>
            <a:xfrm>
              <a:off x="3074850" y="4603899"/>
              <a:ext cx="279879" cy="206108"/>
            </a:xfrm>
            <a:prstGeom prst="roundRect">
              <a:avLst/>
            </a:prstGeom>
            <a:solidFill>
              <a:schemeClr val="accent2">
                <a:lumMod val="7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C467F717-4F60-4C1B-8A9C-8337455D9971}"/>
                </a:ext>
              </a:extLst>
            </p:cNvPr>
            <p:cNvSpPr/>
            <p:nvPr/>
          </p:nvSpPr>
          <p:spPr>
            <a:xfrm>
              <a:off x="5542810" y="4603899"/>
              <a:ext cx="279879" cy="206108"/>
            </a:xfrm>
            <a:prstGeom prst="roundRect">
              <a:avLst/>
            </a:prstGeom>
            <a:solidFill>
              <a:schemeClr val="accent2">
                <a:lumMod val="7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95E3F49D-E720-40F5-A898-975144D872F2}"/>
                </a:ext>
              </a:extLst>
            </p:cNvPr>
            <p:cNvSpPr/>
            <p:nvPr/>
          </p:nvSpPr>
          <p:spPr>
            <a:xfrm>
              <a:off x="4308830" y="4603899"/>
              <a:ext cx="279879" cy="206108"/>
            </a:xfrm>
            <a:prstGeom prst="roundRect">
              <a:avLst/>
            </a:prstGeom>
            <a:solidFill>
              <a:schemeClr val="accent2">
                <a:lumMod val="7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999D06E8-0DD8-469A-BB1F-26BD1693DD59}"/>
                </a:ext>
              </a:extLst>
            </p:cNvPr>
            <p:cNvSpPr/>
            <p:nvPr/>
          </p:nvSpPr>
          <p:spPr>
            <a:xfrm>
              <a:off x="6739316" y="4603899"/>
              <a:ext cx="279879" cy="206108"/>
            </a:xfrm>
            <a:prstGeom prst="roundRect">
              <a:avLst/>
            </a:prstGeom>
            <a:solidFill>
              <a:schemeClr val="accent2">
                <a:lumMod val="7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1C9708D0-8A41-46EB-A095-7276DD382FCB}"/>
              </a:ext>
            </a:extLst>
          </p:cNvPr>
          <p:cNvSpPr txBox="1"/>
          <p:nvPr/>
        </p:nvSpPr>
        <p:spPr>
          <a:xfrm>
            <a:off x="517347" y="4353127"/>
            <a:ext cx="2926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Why </a:t>
            </a:r>
            <a:r>
              <a:rPr lang="en-US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ShellSort</a:t>
            </a:r>
            <a:r>
              <a:rPr lang="en-US" dirty="0">
                <a:solidFill>
                  <a:srgbClr val="C00000"/>
                </a:solidFill>
              </a:rPr>
              <a:t> is correct?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4F860591-7268-45DA-82D8-852CC7AE17BE}"/>
                  </a:ext>
                </a:extLst>
              </p:cNvPr>
              <p:cNvSpPr txBox="1"/>
              <p:nvPr/>
            </p:nvSpPr>
            <p:spPr>
              <a:xfrm>
                <a:off x="517347" y="4825513"/>
                <a:ext cx="274754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The last pass always sort all</a:t>
                </a:r>
                <a:br>
                  <a:rPr lang="en-US" dirty="0">
                    <a:solidFill>
                      <a:schemeClr val="accent1"/>
                    </a:solidFill>
                  </a:rPr>
                </a:br>
                <a:r>
                  <a:rPr lang="en-US" dirty="0">
                    <a:solidFill>
                      <a:schemeClr val="accent1"/>
                    </a:solidFill>
                  </a:rPr>
                  <a:t>items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4F860591-7268-45DA-82D8-852CC7AE1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347" y="4825513"/>
                <a:ext cx="2747547" cy="646331"/>
              </a:xfrm>
              <a:prstGeom prst="rect">
                <a:avLst/>
              </a:prstGeom>
              <a:blipFill>
                <a:blip r:embed="rId4"/>
                <a:stretch>
                  <a:fillRect l="-1996" t="-5660" r="-88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>
            <a:extLst>
              <a:ext uri="{FF2B5EF4-FFF2-40B4-BE49-F238E27FC236}">
                <a16:creationId xmlns:a16="http://schemas.microsoft.com/office/drawing/2014/main" id="{D3BF7F85-702E-43BE-BEA6-7E8C28B71075}"/>
              </a:ext>
            </a:extLst>
          </p:cNvPr>
          <p:cNvSpPr txBox="1"/>
          <p:nvPr/>
        </p:nvSpPr>
        <p:spPr>
          <a:xfrm>
            <a:off x="517347" y="5574898"/>
            <a:ext cx="21809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But then why bother 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earlier passes?!</a:t>
            </a:r>
          </a:p>
        </p:txBody>
      </p:sp>
    </p:spTree>
    <p:extLst>
      <p:ext uri="{BB962C8B-B14F-4D97-AF65-F5344CB8AC3E}">
        <p14:creationId xmlns:p14="http://schemas.microsoft.com/office/powerpoint/2010/main" val="466350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05AF3D-BE3E-408F-BFE1-F090E2C35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of </a:t>
            </a:r>
            <a:r>
              <a:rPr lang="en-US" b="1" dirty="0" err="1"/>
              <a:t>ShellSort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9CE238D-2E25-452C-B365-F82561A19B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In a sequence of items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,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/>
                  <a:t>, then the pair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call an </a:t>
                </a:r>
                <a:r>
                  <a:rPr lang="en-US" sz="2400" b="1" dirty="0">
                    <a:solidFill>
                      <a:schemeClr val="accent1"/>
                    </a:solidFill>
                  </a:rPr>
                  <a:t>inversion</a:t>
                </a:r>
                <a:r>
                  <a:rPr lang="en-US" sz="2400" dirty="0"/>
                  <a:t>.</a:t>
                </a:r>
              </a:p>
              <a:p>
                <a:r>
                  <a:rPr lang="en-US" sz="2400" dirty="0">
                    <a:solidFill>
                      <a:srgbClr val="C00000"/>
                    </a:solidFill>
                  </a:rPr>
                  <a:t>The process of sorting is to correct all inversions!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Earlier passes in </a:t>
                </a:r>
                <a:r>
                  <a:rPr lang="en-US" sz="24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ShellSort</a:t>
                </a:r>
                <a:r>
                  <a:rPr lang="en-US" sz="2400" dirty="0"/>
                  <a:t> reduce number of inversions, making the sequence “closer” to being sorted.</a:t>
                </a:r>
              </a:p>
              <a:p>
                <a:r>
                  <a:rPr lang="en-US" sz="24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InsertionSort</a:t>
                </a:r>
                <a:r>
                  <a:rPr lang="en-US" sz="2400" dirty="0"/>
                  <a:t> performs better (i.e., faster) as the input sequence becomes “closer” to being sorted.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9CE238D-2E25-452C-B365-F82561A19B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681" r="-14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9955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473389-BB96-47AD-B882-8880DC75E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Ideal versus Reality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E8B647D-0240-47F1-8AC9-081D78256C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71904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Unfortunately, </a:t>
                </a:r>
                <a:r>
                  <a:rPr lang="en-US" sz="24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ShellSort</a:t>
                </a:r>
                <a:r>
                  <a:rPr lang="en-US" sz="2400" dirty="0"/>
                  <a:t> is not that fast, at least when using Shell’s original distances…</a:t>
                </a:r>
              </a:p>
              <a:p>
                <a:r>
                  <a:rPr lang="en-US" sz="2400" dirty="0"/>
                  <a:t>Upper bound on the runtime of </a:t>
                </a:r>
                <a:r>
                  <a:rPr lang="en-US" sz="24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ShellSort</a:t>
                </a:r>
                <a:r>
                  <a:rPr lang="en-US" sz="2400" dirty="0"/>
                  <a:t>:</a:t>
                </a:r>
              </a:p>
              <a:p>
                <a:pPr lvl="1"/>
                <a:r>
                  <a:rPr lang="en-US" sz="2000" dirty="0"/>
                  <a:t>Assume we have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items where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is some power of two.</a:t>
                </a:r>
              </a:p>
              <a:p>
                <a:pPr lvl="1"/>
                <a:r>
                  <a:rPr lang="en-US" sz="2000" dirty="0"/>
                  <a:t>The distances are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li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,⋯,1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lvl="1"/>
                <a:r>
                  <a:rPr lang="en-US" sz="2000" dirty="0"/>
                  <a:t>For the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 err="1"/>
                  <a:t>th</a:t>
                </a:r>
                <a:r>
                  <a:rPr lang="en-US" sz="2000" dirty="0"/>
                  <a:t> pass, we run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000" dirty="0"/>
                  <a:t> instances of 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InsertionSort</a:t>
                </a:r>
                <a:r>
                  <a:rPr lang="en-US" sz="2000" dirty="0"/>
                  <a:t>, </a:t>
                </a:r>
                <a:br>
                  <a:rPr lang="en-US" sz="2000" dirty="0"/>
                </a:br>
                <a:r>
                  <a:rPr lang="en-US" sz="2000" dirty="0"/>
                  <a:t>each having to sort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sz="2000" dirty="0"/>
                  <a:t> items.</a:t>
                </a:r>
              </a:p>
              <a:p>
                <a:pPr lvl="1"/>
                <a:r>
                  <a:rPr lang="en-US" sz="2000" dirty="0"/>
                  <a:t>So the total runtime is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)−1</m:t>
                        </m:r>
                      </m:sup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nary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/>
                  <a:t> </a:t>
                </a:r>
              </a:p>
              <a:p>
                <a:r>
                  <a:rPr lang="en-US" sz="2400" dirty="0">
                    <a:solidFill>
                      <a:srgbClr val="C00000"/>
                    </a:solidFill>
                  </a:rPr>
                  <a:t>Will </a:t>
                </a:r>
                <a:r>
                  <a:rPr lang="en-US" sz="2400" dirty="0" err="1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ShellSort</a:t>
                </a:r>
                <a:r>
                  <a:rPr lang="en-US" sz="2400" dirty="0">
                    <a:solidFill>
                      <a:srgbClr val="C00000"/>
                    </a:solidFill>
                  </a:rPr>
                  <a:t> actually perform so poor?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E8B647D-0240-47F1-8AC9-081D78256C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719045"/>
                <a:ext cx="7886700" cy="4351338"/>
              </a:xfrm>
              <a:blipFill>
                <a:blip r:embed="rId2"/>
                <a:stretch>
                  <a:fillRect l="-1005" t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26733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AC66D0-EFA3-41CA-B77D-4562628E8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ShellSort</a:t>
            </a:r>
            <a:r>
              <a:rPr lang="en-US" dirty="0"/>
              <a:t> can be slow!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7E3EFC1-5C88-41D6-8713-67078BC1A5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When using Shell’s original distances, the runtime of </a:t>
                </a:r>
                <a:r>
                  <a:rPr lang="en-US" sz="24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ShellSort</a:t>
                </a:r>
                <a:r>
                  <a:rPr lang="en-US" sz="2400" dirty="0"/>
                  <a:t> can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/>
                  <a:t> for certain input sequences.</a:t>
                </a:r>
              </a:p>
              <a:p>
                <a:r>
                  <a:rPr lang="en-US" sz="2400" b="1" dirty="0"/>
                  <a:t>Example:</a:t>
                </a:r>
                <a:r>
                  <a:rPr lang="en-US" sz="2400" dirty="0"/>
                  <a:t> input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400" dirty="0"/>
                  <a:t>, where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dirty="0"/>
                  <a:t> are in even positions, and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\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dirty="0"/>
                  <a:t> are in odd positions.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Then, before the last pass, no pair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/>
                  <a:t> are of different parity is ever compared!</a:t>
                </a:r>
              </a:p>
              <a:p>
                <a:r>
                  <a:rPr lang="en-US" sz="2400" dirty="0"/>
                  <a:t>In the last pass,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/>
                  <a:t> work has to be done!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7E3EFC1-5C88-41D6-8713-67078BC1A5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 r="-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3C4BEB00-FB22-450E-A84E-7DED2F009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841" y="3502572"/>
            <a:ext cx="6926317" cy="6749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3087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90E3E9-FF73-48BD-A5A9-8BD9AD10D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33053"/>
          </a:xfrm>
        </p:spPr>
        <p:txBody>
          <a:bodyPr/>
          <a:lstStyle/>
          <a:p>
            <a:r>
              <a:rPr lang="en-US" dirty="0"/>
              <a:t>Choice of distances matters, a lot!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4A54053D-EFE1-445D-B732-966000F0CA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145" y="1198179"/>
            <a:ext cx="8179709" cy="5294695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2C415C70-78C5-440D-8547-6605DC3D2C61}"/>
              </a:ext>
            </a:extLst>
          </p:cNvPr>
          <p:cNvSpPr/>
          <p:nvPr/>
        </p:nvSpPr>
        <p:spPr>
          <a:xfrm>
            <a:off x="5725865" y="2883673"/>
            <a:ext cx="713036" cy="251127"/>
          </a:xfrm>
          <a:prstGeom prst="round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17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F2A714-2210-4432-9C10-9E21C6E4F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Divide-and-Conquer:</a:t>
            </a:r>
            <a:br>
              <a:rPr lang="en-US" sz="2400" dirty="0"/>
            </a:br>
            <a:r>
              <a:rPr lang="en-US" sz="4000" dirty="0"/>
              <a:t>A unified view for </a:t>
            </a:r>
            <a:r>
              <a:rPr lang="en-US" sz="4000" u="sng" dirty="0"/>
              <a:t>some</a:t>
            </a:r>
            <a:r>
              <a:rPr lang="en-US" sz="4000" dirty="0"/>
              <a:t> sorting </a:t>
            </a:r>
            <a:r>
              <a:rPr lang="en-US" sz="4000" dirty="0" err="1"/>
              <a:t>algs</a:t>
            </a:r>
            <a:r>
              <a:rPr lang="en-US" sz="40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F137834-1713-4439-A15D-4E937A4AD9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Divide the input into size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 and size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lvl="1"/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InsertionSort</a:t>
                </a:r>
                <a:r>
                  <a:rPr lang="en-US" sz="2000" dirty="0"/>
                  <a:t>, easy to divide, combine needs efforts.</a:t>
                </a:r>
              </a:p>
              <a:p>
                <a:pPr lvl="1"/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SelectionSort</a:t>
                </a:r>
                <a:r>
                  <a:rPr lang="en-US" sz="2000" dirty="0"/>
                  <a:t>, divide needs efforts, easy to combine.</a:t>
                </a:r>
              </a:p>
              <a:p>
                <a:r>
                  <a:rPr lang="en-US" sz="2400" dirty="0"/>
                  <a:t>Divide the input into two parts each of same size.</a:t>
                </a:r>
              </a:p>
              <a:p>
                <a:pPr lvl="1"/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MergeSort</a:t>
                </a:r>
                <a:r>
                  <a:rPr lang="en-US" sz="2000" dirty="0"/>
                  <a:t>, easy to divide, combine needs efforts.</a:t>
                </a:r>
              </a:p>
              <a:p>
                <a:r>
                  <a:rPr lang="en-US" sz="2400" dirty="0"/>
                  <a:t>Divide the input into two parts of </a:t>
                </a:r>
                <a:r>
                  <a:rPr lang="en-US" sz="2400" dirty="0">
                    <a:solidFill>
                      <a:srgbClr val="C00000"/>
                    </a:solidFill>
                  </a:rPr>
                  <a:t>approximately</a:t>
                </a:r>
                <a:r>
                  <a:rPr lang="en-US" sz="2400" dirty="0"/>
                  <a:t> same size.</a:t>
                </a:r>
              </a:p>
              <a:p>
                <a:pPr lvl="1"/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QuickSort</a:t>
                </a:r>
                <a:r>
                  <a:rPr lang="en-US" sz="2000" dirty="0"/>
                  <a:t>, divide needs efforts, easy to combine.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F137834-1713-4439-A15D-4E937A4AD9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89FE9B94-ACF5-42B9-A705-0E09CA1A332E}"/>
              </a:ext>
            </a:extLst>
          </p:cNvPr>
          <p:cNvSpPr/>
          <p:nvPr/>
        </p:nvSpPr>
        <p:spPr>
          <a:xfrm>
            <a:off x="3834720" y="4872841"/>
            <a:ext cx="4680630" cy="13041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US" sz="2400" b="1" u="sng" dirty="0">
                <a:solidFill>
                  <a:schemeClr val="tx1"/>
                </a:solidFill>
              </a:rPr>
              <a:t>Divide</a:t>
            </a:r>
            <a:r>
              <a:rPr lang="en-US" sz="2400" dirty="0">
                <a:solidFill>
                  <a:schemeClr val="tx1"/>
                </a:solidFill>
              </a:rPr>
              <a:t> problem into subproblems.</a:t>
            </a:r>
          </a:p>
          <a:p>
            <a:pPr>
              <a:spcAft>
                <a:spcPts val="300"/>
              </a:spcAft>
            </a:pPr>
            <a:r>
              <a:rPr lang="en-US" sz="2400" b="1" dirty="0">
                <a:solidFill>
                  <a:schemeClr val="tx1"/>
                </a:solidFill>
                <a:cs typeface="Courier New" panose="02070309020205020404" pitchFamily="49" charset="0"/>
              </a:rPr>
              <a:t>Conquer</a:t>
            </a:r>
            <a:r>
              <a:rPr lang="en-US" sz="2400" dirty="0">
                <a:solidFill>
                  <a:schemeClr val="tx1"/>
                </a:solidFill>
                <a:cs typeface="Courier New" panose="02070309020205020404" pitchFamily="49" charset="0"/>
              </a:rPr>
              <a:t> subproblems recursively.</a:t>
            </a:r>
          </a:p>
          <a:p>
            <a:pPr>
              <a:spcAft>
                <a:spcPts val="300"/>
              </a:spcAft>
            </a:pPr>
            <a:r>
              <a:rPr lang="en-US" sz="2400" b="1" u="sng" dirty="0">
                <a:solidFill>
                  <a:schemeClr val="tx1"/>
                </a:solidFill>
                <a:cs typeface="Courier New" panose="02070309020205020404" pitchFamily="49" charset="0"/>
              </a:rPr>
              <a:t>Combine</a:t>
            </a:r>
            <a:r>
              <a:rPr lang="en-US" sz="2400" dirty="0">
                <a:solidFill>
                  <a:schemeClr val="tx1"/>
                </a:solidFill>
                <a:cs typeface="Courier New" panose="02070309020205020404" pitchFamily="49" charset="0"/>
              </a:rPr>
              <a:t> solutions of subproblems.</a:t>
            </a:r>
          </a:p>
        </p:txBody>
      </p:sp>
    </p:spTree>
    <p:extLst>
      <p:ext uri="{BB962C8B-B14F-4D97-AF65-F5344CB8AC3E}">
        <p14:creationId xmlns:p14="http://schemas.microsoft.com/office/powerpoint/2010/main" val="173997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43CD61-B61C-4597-86AF-E60B2AC68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 err="1"/>
              <a:t>QuickSort</a:t>
            </a:r>
            <a:r>
              <a:rPr lang="en-US" dirty="0"/>
              <a:t>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C3781D1-1BA1-4EA1-8B71-25D0BD6669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/>
                  <a:t>Input:</a:t>
                </a:r>
                <a:r>
                  <a:rPr lang="en-US" dirty="0"/>
                  <a:t> array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items.</a:t>
                </a:r>
              </a:p>
              <a:p>
                <a:r>
                  <a:rPr lang="en-US" b="1" dirty="0"/>
                  <a:t>Algorithms:</a:t>
                </a:r>
              </a:p>
              <a:p>
                <a:pPr lvl="1"/>
                <a:r>
                  <a:rPr lang="en-US" dirty="0"/>
                  <a:t>Choose one item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as the </a:t>
                </a:r>
                <a:r>
                  <a:rPr lang="en-US" dirty="0">
                    <a:solidFill>
                      <a:srgbClr val="C00000"/>
                    </a:solidFill>
                  </a:rPr>
                  <a:t>pivot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Use the pivot to </a:t>
                </a:r>
                <a:r>
                  <a:rPr lang="en-US" dirty="0">
                    <a:solidFill>
                      <a:srgbClr val="C00000"/>
                    </a:solidFill>
                  </a:rPr>
                  <a:t>partition</a:t>
                </a:r>
                <a:r>
                  <a:rPr lang="en-US" dirty="0"/>
                  <a:t> the input into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, so that items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and items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Recursively sort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Output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C3781D1-1BA1-4EA1-8B71-25D0BD6669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241" r="-12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5F8F4F00-738C-44A6-B7DC-C77AB14CC74C}"/>
              </a:ext>
            </a:extLst>
          </p:cNvPr>
          <p:cNvSpPr/>
          <p:nvPr/>
        </p:nvSpPr>
        <p:spPr>
          <a:xfrm>
            <a:off x="4871543" y="1027907"/>
            <a:ext cx="3643807" cy="16374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QuickSortAbs</a:t>
            </a:r>
            <a:r>
              <a:rPr lang="en-GB" b="1" u="sng" dirty="0">
                <a:solidFill>
                  <a:schemeClr val="tx1"/>
                </a:solidFill>
              </a:rPr>
              <a:t>(A):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GetPivot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&lt;B,C&gt; = Partition(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A,x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QuickSortAbs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(B)</a:t>
            </a:r>
          </a:p>
          <a:p>
            <a:pPr>
              <a:lnSpc>
                <a:spcPct val="90000"/>
              </a:lnSpc>
            </a:pP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QuickSortAbs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Concatenate(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B,x,C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4A6CDC-AFFE-4335-9BBC-6BAA972AA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095" y="4192619"/>
            <a:ext cx="2300256" cy="23002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085D50E-F2BA-402F-A9D6-E559D4D84188}"/>
              </a:ext>
            </a:extLst>
          </p:cNvPr>
          <p:cNvSpPr txBox="1"/>
          <p:nvPr/>
        </p:nvSpPr>
        <p:spPr>
          <a:xfrm>
            <a:off x="1599308" y="5200212"/>
            <a:ext cx="4310987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chemeClr val="tx2"/>
                </a:solidFill>
              </a:rPr>
              <a:t>C. A. R. Hoare</a:t>
            </a:r>
          </a:p>
          <a:p>
            <a:pPr algn="r"/>
            <a:r>
              <a:rPr lang="en-US" i="1" dirty="0">
                <a:solidFill>
                  <a:schemeClr val="tx2">
                    <a:lumMod val="75000"/>
                  </a:schemeClr>
                </a:solidFill>
              </a:rPr>
              <a:t>Recipient of the Turing Award in 1980 for</a:t>
            </a:r>
            <a:br>
              <a:rPr lang="en-US" i="1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i="1" dirty="0">
                <a:solidFill>
                  <a:schemeClr val="tx2">
                    <a:lumMod val="75000"/>
                  </a:schemeClr>
                </a:solidFill>
              </a:rPr>
              <a:t>"fundamental contributions to the definition</a:t>
            </a:r>
            <a:br>
              <a:rPr lang="en-US" i="1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i="1" dirty="0">
                <a:solidFill>
                  <a:schemeClr val="tx2">
                    <a:lumMod val="75000"/>
                  </a:schemeClr>
                </a:solidFill>
              </a:rPr>
              <a:t>and design of programming languages“.</a:t>
            </a:r>
          </a:p>
        </p:txBody>
      </p:sp>
    </p:spTree>
    <p:extLst>
      <p:ext uri="{BB962C8B-B14F-4D97-AF65-F5344CB8AC3E}">
        <p14:creationId xmlns:p14="http://schemas.microsoft.com/office/powerpoint/2010/main" val="1285052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A39DA3-3720-4E7A-942F-DEADCE00B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the pivot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0A189DA-9433-4FE8-A760-60ECC78088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Ideally the pivot should partition the input into two parts of roughly same size (we’ll see why later).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[1]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[</m:t>
                    </m:r>
                    <m:f>
                      <m:fPr>
                        <m:type m:val="li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, median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[</m:t>
                    </m:r>
                    <m:f>
                      <m:fPr>
                        <m:type m:val="li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/>
                  <a:t>?</a:t>
                </a:r>
              </a:p>
              <a:p>
                <a:r>
                  <a:rPr lang="en-US" sz="2400" dirty="0"/>
                  <a:t>For every simple </a:t>
                </a:r>
                <a:r>
                  <a:rPr lang="en-US" sz="2400" i="1" dirty="0"/>
                  <a:t>deterministic</a:t>
                </a:r>
                <a:r>
                  <a:rPr lang="en-US" sz="2400" dirty="0"/>
                  <a:t> method of choosing pivot, </a:t>
                </a:r>
                <a:br>
                  <a:rPr lang="en-US" sz="2400" dirty="0"/>
                </a:br>
                <a:r>
                  <a:rPr lang="en-US" sz="2400" dirty="0"/>
                  <a:t>we can construct corresponding “</a:t>
                </a:r>
                <a:r>
                  <a:rPr lang="en-US" sz="2400" i="1" dirty="0"/>
                  <a:t>bad input</a:t>
                </a:r>
                <a:r>
                  <a:rPr lang="en-US" sz="2400" dirty="0"/>
                  <a:t>”.</a:t>
                </a:r>
              </a:p>
              <a:p>
                <a:r>
                  <a:rPr lang="en-US" sz="2400" dirty="0">
                    <a:solidFill>
                      <a:srgbClr val="C00000"/>
                    </a:solidFill>
                  </a:rPr>
                  <a:t>For now just use the last item as the pivot.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0A189DA-9433-4FE8-A760-60ECC78088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2864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A39DA3-3720-4E7A-942F-DEADCE00B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Partition</a:t>
            </a:r>
            <a:r>
              <a:rPr lang="en-US" dirty="0"/>
              <a:t> Procedure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0A189DA-9433-4FE8-A760-60ECC78088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Allocate array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 of size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Sequentially go through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[1…(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−1)]</m:t>
                    </m:r>
                  </m:oMath>
                </a14:m>
                <a:r>
                  <a:rPr lang="en-US" sz="2400" dirty="0"/>
                  <a:t>, put small items at left side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, and large items at right side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Finally put the pivot in (the only) remaining position.</a:t>
                </a: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time,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space, instable.</a:t>
                </a:r>
              </a:p>
              <a:p>
                <a:r>
                  <a:rPr lang="en-US" sz="2400" dirty="0">
                    <a:solidFill>
                      <a:srgbClr val="C00000"/>
                    </a:solidFill>
                  </a:rPr>
                  <a:t>Can we do better, and how?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0A189DA-9433-4FE8-A760-60ECC78088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407339AE-4833-47F4-B4D3-EE9CD787DF36}"/>
              </a:ext>
            </a:extLst>
          </p:cNvPr>
          <p:cNvSpPr/>
          <p:nvPr/>
        </p:nvSpPr>
        <p:spPr>
          <a:xfrm>
            <a:off x="5150069" y="3641422"/>
            <a:ext cx="3365281" cy="28514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b="1" u="sng" dirty="0">
                <a:solidFill>
                  <a:schemeClr val="tx1"/>
                </a:solidFill>
              </a:rPr>
              <a:t>Partition(A):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A[n], l = 1, r = n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 to n-1)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(A[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]&lt;=x)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B[l] = A[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l++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B[r] = A[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r--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B[l]=x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&lt;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B,l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2E069CF-87D6-440A-BB36-40DB7B66E3C8}"/>
              </a:ext>
            </a:extLst>
          </p:cNvPr>
          <p:cNvSpPr/>
          <p:nvPr/>
        </p:nvSpPr>
        <p:spPr>
          <a:xfrm>
            <a:off x="2333296" y="4001294"/>
            <a:ext cx="1450427" cy="381520"/>
          </a:xfrm>
          <a:prstGeom prst="round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678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7F8DCF-7353-49D5-B0FD-9AD8684CA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In-place </a:t>
            </a:r>
            <a:r>
              <a:rPr lang="en-US" b="1" dirty="0"/>
              <a:t>Partition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A1EA179-B637-4C40-A8A0-3ED507838D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4111516" cy="4802185"/>
              </a:xfrm>
            </p:spPr>
            <p:txBody>
              <a:bodyPr>
                <a:normAutofit/>
              </a:bodyPr>
              <a:lstStyle/>
              <a:p>
                <a:r>
                  <a:rPr lang="en-US" sz="2200" b="1" dirty="0"/>
                  <a:t>Basic Idea:</a:t>
                </a:r>
                <a:r>
                  <a:rPr lang="en-US" sz="2200" dirty="0"/>
                  <a:t> sequentially go through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200" dirty="0"/>
                  <a:t>, use </a:t>
                </a:r>
                <a:r>
                  <a:rPr lang="en-US" sz="2200" dirty="0">
                    <a:solidFill>
                      <a:srgbClr val="C00000"/>
                    </a:solidFill>
                  </a:rPr>
                  <a:t>swap</a:t>
                </a:r>
                <a:r>
                  <a:rPr lang="en-US" sz="2200" dirty="0"/>
                  <a:t> operations to move small items to the left part of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200" dirty="0"/>
                  <a:t>; thus the right part of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200" dirty="0"/>
                  <a:t> naturally contains large items.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A1EA179-B637-4C40-A8A0-3ED507838D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4111516" cy="4802185"/>
              </a:xfrm>
              <a:blipFill>
                <a:blip r:embed="rId2"/>
                <a:stretch>
                  <a:fillRect l="-1630" t="-1523" r="-10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DAE2A1F1-00A8-4229-A28C-11CDEFF6AAE8}"/>
              </a:ext>
            </a:extLst>
          </p:cNvPr>
          <p:cNvSpPr/>
          <p:nvPr/>
        </p:nvSpPr>
        <p:spPr>
          <a:xfrm>
            <a:off x="950545" y="3428999"/>
            <a:ext cx="2892316" cy="21775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InplacePartition</a:t>
            </a:r>
            <a:r>
              <a:rPr lang="en-GB" b="1" u="sng" dirty="0">
                <a:solidFill>
                  <a:schemeClr val="tx1"/>
                </a:solidFill>
              </a:rPr>
              <a:t>(A, p, r):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A[r],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=p-1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(j=p to r-1)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(A[j]&lt;=x)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=i+1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Swap(A[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],A[j])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Swap(A[i+1],A[r])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i+1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8F58DA7-0B54-4815-8F43-157EE464545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8635"/>
          <a:stretch/>
        </p:blipFill>
        <p:spPr>
          <a:xfrm>
            <a:off x="5570480" y="365126"/>
            <a:ext cx="2622975" cy="696419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97A9AEE-E967-4AEB-B278-F1FED663B2A8}"/>
              </a:ext>
            </a:extLst>
          </p:cNvPr>
          <p:cNvCxnSpPr/>
          <p:nvPr/>
        </p:nvCxnSpPr>
        <p:spPr>
          <a:xfrm flipH="1">
            <a:off x="3247696" y="4141076"/>
            <a:ext cx="399394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98AC6E7F-3231-4D89-BC66-EC2B720773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365" b="77143"/>
          <a:stretch/>
        </p:blipFill>
        <p:spPr>
          <a:xfrm>
            <a:off x="5570479" y="1061544"/>
            <a:ext cx="2622975" cy="70419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468CAEF-8A6E-4639-99CB-4604852714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2858" b="67002"/>
          <a:stretch/>
        </p:blipFill>
        <p:spPr>
          <a:xfrm>
            <a:off x="5570478" y="1765737"/>
            <a:ext cx="2622975" cy="62137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00555B3-183E-4B78-8367-4F7E7C7424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3966" b="55894"/>
          <a:stretch/>
        </p:blipFill>
        <p:spPr>
          <a:xfrm>
            <a:off x="5570478" y="2447650"/>
            <a:ext cx="2622975" cy="62137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340AF40-189A-45D2-AB74-0E032851541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4106" b="44402"/>
          <a:stretch/>
        </p:blipFill>
        <p:spPr>
          <a:xfrm>
            <a:off x="5570477" y="3069018"/>
            <a:ext cx="2622975" cy="70419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D1EEDF0-184C-4259-91A0-8FC9E05CCA2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5598" b="34261"/>
          <a:stretch/>
        </p:blipFill>
        <p:spPr>
          <a:xfrm>
            <a:off x="5570477" y="3773210"/>
            <a:ext cx="2622975" cy="62137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E6F2CD9-6E0B-45E8-B879-76BE52A92F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5610" b="23261"/>
          <a:stretch/>
        </p:blipFill>
        <p:spPr>
          <a:xfrm>
            <a:off x="5570477" y="4394579"/>
            <a:ext cx="2622975" cy="681913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A4E0C7C4-1C86-4C08-84F3-450BCBC339E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7360" b="11511"/>
          <a:stretch/>
        </p:blipFill>
        <p:spPr>
          <a:xfrm>
            <a:off x="5570476" y="5114542"/>
            <a:ext cx="2622975" cy="681914"/>
          </a:xfrm>
          <a:prstGeom prst="rect">
            <a:avLst/>
          </a:prstGeom>
        </p:spPr>
      </p:pic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4798528-90ED-4A6E-84C7-2B7B28C6DA6A}"/>
              </a:ext>
            </a:extLst>
          </p:cNvPr>
          <p:cNvCxnSpPr/>
          <p:nvPr/>
        </p:nvCxnSpPr>
        <p:spPr>
          <a:xfrm flipH="1">
            <a:off x="3400096" y="5114542"/>
            <a:ext cx="399394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>
            <a:extLst>
              <a:ext uri="{FF2B5EF4-FFF2-40B4-BE49-F238E27FC236}">
                <a16:creationId xmlns:a16="http://schemas.microsoft.com/office/drawing/2014/main" id="{A59D4C68-A8A7-4191-98C7-B098FCA12B0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7579" b="67"/>
          <a:stretch/>
        </p:blipFill>
        <p:spPr>
          <a:xfrm>
            <a:off x="5570476" y="5735909"/>
            <a:ext cx="2622975" cy="756963"/>
          </a:xfrm>
          <a:prstGeom prst="rect">
            <a:avLst/>
          </a:prstGeom>
        </p:spPr>
      </p:pic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2B58621-4CB3-4FCF-BE85-FF4911BC121A}"/>
              </a:ext>
            </a:extLst>
          </p:cNvPr>
          <p:cNvSpPr/>
          <p:nvPr/>
        </p:nvSpPr>
        <p:spPr>
          <a:xfrm>
            <a:off x="5570476" y="304582"/>
            <a:ext cx="2622975" cy="5491874"/>
          </a:xfrm>
          <a:prstGeom prst="round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FD4930C6-7B72-49D5-8271-14D3D0568A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39" y="365126"/>
            <a:ext cx="4619294" cy="109444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986699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4EEB6FF-4212-4CE9-9EC1-18AE52E346C3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634539" y="1638546"/>
                <a:ext cx="4619294" cy="1790454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400" b="1" dirty="0"/>
                  <a:t>Claim:</a:t>
                </a:r>
                <a:r>
                  <a:rPr lang="en-US" sz="2400" dirty="0"/>
                  <a:t> at the beginning of any iteration, for any index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:</a:t>
                </a:r>
              </a:p>
              <a:p>
                <a:pPr marL="540000" lvl="1" indent="-288000">
                  <a:buFont typeface="+mj-lt"/>
                  <a:buAutoNum type="arabicPeriod"/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, 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540000" lvl="1" indent="-288000">
                  <a:buFont typeface="+mj-lt"/>
                  <a:buAutoNum type="arabicPeriod"/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+1,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-US" sz="2000" dirty="0"/>
                  <a:t>, then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540000" lvl="1" indent="-288000">
                  <a:buFont typeface="+mj-lt"/>
                  <a:buAutoNum type="arabicPeriod"/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dirty="0"/>
                  <a:t>, then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dirty="0"/>
                  <a:t>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4EEB6FF-4212-4CE9-9EC1-18AE52E346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634539" y="1638546"/>
                <a:ext cx="4619294" cy="1790454"/>
              </a:xfrm>
              <a:blipFill>
                <a:blip r:embed="rId2"/>
                <a:stretch>
                  <a:fillRect l="-1979" t="-4762" b="-6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554A006E-5690-4E75-B655-3E39A3662160}"/>
              </a:ext>
            </a:extLst>
          </p:cNvPr>
          <p:cNvSpPr/>
          <p:nvPr/>
        </p:nvSpPr>
        <p:spPr>
          <a:xfrm>
            <a:off x="5617145" y="270533"/>
            <a:ext cx="2892316" cy="21775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InplacePartition</a:t>
            </a:r>
            <a:r>
              <a:rPr lang="en-GB" b="1" u="sng" dirty="0">
                <a:solidFill>
                  <a:schemeClr val="tx1"/>
                </a:solidFill>
              </a:rPr>
              <a:t>(A, p, r):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A[r],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=p-1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(j=p to r-1)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(A[j]&lt;=x)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=i+1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Swap(A[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],A[j])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Swap(A[i+1],A[r])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i+1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F4B46E3-8E4D-4E6B-8265-50A2777AE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39" y="365126"/>
            <a:ext cx="4619294" cy="109444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内容占位符 2">
                <a:extLst>
                  <a:ext uri="{FF2B5EF4-FFF2-40B4-BE49-F238E27FC236}">
                    <a16:creationId xmlns:a16="http://schemas.microsoft.com/office/drawing/2014/main" id="{56B5CBC8-F348-4196-A9B2-3AA7A0BE8D2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4539" y="3429000"/>
                <a:ext cx="7874922" cy="156885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Bef>
                    <a:spcPts val="600"/>
                  </a:spcBef>
                  <a:buFont typeface="Arial" panose="020B0604020202020204" pitchFamily="34" charset="0"/>
                  <a:buNone/>
                </a:pPr>
                <a:r>
                  <a:rPr lang="en-US" sz="2400" b="1" dirty="0"/>
                  <a:t>Proof:</a:t>
                </a:r>
                <a:r>
                  <a:rPr lang="en-US" sz="2400" dirty="0"/>
                  <a:t> we use induction.</a:t>
                </a:r>
              </a:p>
              <a:p>
                <a:pPr marL="0" indent="0">
                  <a:spcBef>
                    <a:spcPts val="600"/>
                  </a:spcBef>
                  <a:buFont typeface="Arial" panose="020B0604020202020204" pitchFamily="34" charset="0"/>
                  <a:buNone/>
                </a:pPr>
                <a:r>
                  <a:rPr lang="en-US" sz="2200" dirty="0"/>
                  <a:t>[</a:t>
                </a:r>
                <a:r>
                  <a:rPr lang="en-US" sz="2200" i="1" dirty="0"/>
                  <a:t>Basis</a:t>
                </a:r>
                <a:r>
                  <a:rPr lang="en-US" sz="2200" dirty="0"/>
                  <a:t>] Trivially holds.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sz="2200" dirty="0"/>
                  <a:t>[</a:t>
                </a:r>
                <a:r>
                  <a:rPr lang="en-US" sz="2200" i="1" dirty="0"/>
                  <a:t>Inductive step</a:t>
                </a:r>
                <a:r>
                  <a:rPr lang="en-US" sz="2200" dirty="0"/>
                  <a:t>] Assume at the beginning of some iteration we have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lang="en-US" sz="2200" dirty="0"/>
                  <a:t>, and the stated properties hold.</a:t>
                </a:r>
              </a:p>
            </p:txBody>
          </p:sp>
        </mc:Choice>
        <mc:Fallback xmlns="">
          <p:sp>
            <p:nvSpPr>
              <p:cNvPr id="12" name="内容占位符 2">
                <a:extLst>
                  <a:ext uri="{FF2B5EF4-FFF2-40B4-BE49-F238E27FC236}">
                    <a16:creationId xmlns:a16="http://schemas.microsoft.com/office/drawing/2014/main" id="{56B5CBC8-F348-4196-A9B2-3AA7A0BE8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539" y="3429000"/>
                <a:ext cx="7874922" cy="1568850"/>
              </a:xfrm>
              <a:prstGeom prst="rect">
                <a:avLst/>
              </a:prstGeom>
              <a:blipFill>
                <a:blip r:embed="rId4"/>
                <a:stretch>
                  <a:fillRect l="-1161" t="-5447" r="-774" b="-23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组合 27">
            <a:extLst>
              <a:ext uri="{FF2B5EF4-FFF2-40B4-BE49-F238E27FC236}">
                <a16:creationId xmlns:a16="http://schemas.microsoft.com/office/drawing/2014/main" id="{C52AFC50-91E1-41F8-93A0-7CA751416436}"/>
              </a:ext>
            </a:extLst>
          </p:cNvPr>
          <p:cNvGrpSpPr/>
          <p:nvPr/>
        </p:nvGrpSpPr>
        <p:grpSpPr>
          <a:xfrm>
            <a:off x="4040593" y="3254101"/>
            <a:ext cx="4465680" cy="753510"/>
            <a:chOff x="4125432" y="4945255"/>
            <a:chExt cx="4465680" cy="753510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A7912EA8-BD58-4AD6-8EFE-78D559C30BA6}"/>
                </a:ext>
              </a:extLst>
            </p:cNvPr>
            <p:cNvSpPr/>
            <p:nvPr/>
          </p:nvSpPr>
          <p:spPr>
            <a:xfrm>
              <a:off x="4572000" y="5306767"/>
              <a:ext cx="446568" cy="3615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9398B22-BB25-4DE0-8A93-3A61252D9795}"/>
                </a:ext>
              </a:extLst>
            </p:cNvPr>
            <p:cNvSpPr/>
            <p:nvPr/>
          </p:nvSpPr>
          <p:spPr>
            <a:xfrm>
              <a:off x="5018568" y="5306767"/>
              <a:ext cx="446568" cy="3615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10EA8E6F-089F-4751-BB75-A07D3D90215D}"/>
                </a:ext>
              </a:extLst>
            </p:cNvPr>
            <p:cNvSpPr/>
            <p:nvPr/>
          </p:nvSpPr>
          <p:spPr>
            <a:xfrm>
              <a:off x="5465136" y="5306767"/>
              <a:ext cx="446568" cy="3615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30ABDDB1-0653-47AD-8A75-035F3234E496}"/>
                </a:ext>
              </a:extLst>
            </p:cNvPr>
            <p:cNvSpPr/>
            <p:nvPr/>
          </p:nvSpPr>
          <p:spPr>
            <a:xfrm>
              <a:off x="5911704" y="5306767"/>
              <a:ext cx="446568" cy="3615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BA5F22DA-7621-4B67-AFC3-A4BDDA9667BA}"/>
                </a:ext>
              </a:extLst>
            </p:cNvPr>
            <p:cNvSpPr/>
            <p:nvPr/>
          </p:nvSpPr>
          <p:spPr>
            <a:xfrm>
              <a:off x="6358272" y="5306767"/>
              <a:ext cx="446568" cy="3615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EBA94129-D8DA-4655-A99D-B0C27C29587B}"/>
                </a:ext>
              </a:extLst>
            </p:cNvPr>
            <p:cNvSpPr/>
            <p:nvPr/>
          </p:nvSpPr>
          <p:spPr>
            <a:xfrm>
              <a:off x="6804840" y="5306767"/>
              <a:ext cx="446568" cy="3615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6E543685-E9C3-4D66-8AB8-435CAC7D0DA0}"/>
                </a:ext>
              </a:extLst>
            </p:cNvPr>
            <p:cNvSpPr/>
            <p:nvPr/>
          </p:nvSpPr>
          <p:spPr>
            <a:xfrm>
              <a:off x="7251408" y="5306766"/>
              <a:ext cx="446568" cy="3615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516E6505-9943-4B44-AE11-A404BB29DB79}"/>
                </a:ext>
              </a:extLst>
            </p:cNvPr>
            <p:cNvSpPr/>
            <p:nvPr/>
          </p:nvSpPr>
          <p:spPr>
            <a:xfrm>
              <a:off x="7697976" y="5306765"/>
              <a:ext cx="446568" cy="3615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FB632B9F-837C-4E45-A9D2-AC361DD552A5}"/>
                    </a:ext>
                  </a:extLst>
                </p:cNvPr>
                <p:cNvSpPr/>
                <p:nvPr/>
              </p:nvSpPr>
              <p:spPr>
                <a:xfrm>
                  <a:off x="8144544" y="5306765"/>
                  <a:ext cx="446568" cy="3615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FB632B9F-837C-4E45-A9D2-AC361DD552A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44544" y="5306765"/>
                  <a:ext cx="446568" cy="36150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B4359711-242F-4879-8CA3-AE32DFF8A508}"/>
                    </a:ext>
                  </a:extLst>
                </p:cNvPr>
                <p:cNvSpPr/>
                <p:nvPr/>
              </p:nvSpPr>
              <p:spPr>
                <a:xfrm>
                  <a:off x="4125432" y="4945258"/>
                  <a:ext cx="446568" cy="36150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B4359711-242F-4879-8CA3-AE32DFF8A50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5432" y="4945258"/>
                  <a:ext cx="446568" cy="36150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矩形 23">
                  <a:extLst>
                    <a:ext uri="{FF2B5EF4-FFF2-40B4-BE49-F238E27FC236}">
                      <a16:creationId xmlns:a16="http://schemas.microsoft.com/office/drawing/2014/main" id="{86D91B89-6492-423C-9DF4-18E00DCCA57A}"/>
                    </a:ext>
                  </a:extLst>
                </p:cNvPr>
                <p:cNvSpPr/>
                <p:nvPr/>
              </p:nvSpPr>
              <p:spPr>
                <a:xfrm>
                  <a:off x="4572000" y="4945256"/>
                  <a:ext cx="446568" cy="36150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矩形 23">
                  <a:extLst>
                    <a:ext uri="{FF2B5EF4-FFF2-40B4-BE49-F238E27FC236}">
                      <a16:creationId xmlns:a16="http://schemas.microsoft.com/office/drawing/2014/main" id="{86D91B89-6492-423C-9DF4-18E00DCCA57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0" y="4945256"/>
                  <a:ext cx="446568" cy="361507"/>
                </a:xfrm>
                <a:prstGeom prst="rect">
                  <a:avLst/>
                </a:prstGeom>
                <a:blipFill>
                  <a:blip r:embed="rId7"/>
                  <a:stretch>
                    <a:fillRect l="-8219" r="-2740" b="-1525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矩形 24">
                  <a:extLst>
                    <a:ext uri="{FF2B5EF4-FFF2-40B4-BE49-F238E27FC236}">
                      <a16:creationId xmlns:a16="http://schemas.microsoft.com/office/drawing/2014/main" id="{637D35A2-F90E-4F2B-BD5B-FFC12DB0498C}"/>
                    </a:ext>
                  </a:extLst>
                </p:cNvPr>
                <p:cNvSpPr/>
                <p:nvPr/>
              </p:nvSpPr>
              <p:spPr>
                <a:xfrm>
                  <a:off x="8144544" y="4945255"/>
                  <a:ext cx="446568" cy="36150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矩形 24">
                  <a:extLst>
                    <a:ext uri="{FF2B5EF4-FFF2-40B4-BE49-F238E27FC236}">
                      <a16:creationId xmlns:a16="http://schemas.microsoft.com/office/drawing/2014/main" id="{637D35A2-F90E-4F2B-BD5B-FFC12DB0498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44544" y="4945255"/>
                  <a:ext cx="446568" cy="36150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53ECE27F-BB31-467B-86F2-39C530133BA3}"/>
                </a:ext>
              </a:extLst>
            </p:cNvPr>
            <p:cNvSpPr/>
            <p:nvPr/>
          </p:nvSpPr>
          <p:spPr>
            <a:xfrm>
              <a:off x="4549141" y="5266390"/>
              <a:ext cx="45719" cy="43237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63A3E8F9-C9AC-4A61-96A8-E6644D5E7558}"/>
                </a:ext>
              </a:extLst>
            </p:cNvPr>
            <p:cNvSpPr/>
            <p:nvPr/>
          </p:nvSpPr>
          <p:spPr>
            <a:xfrm>
              <a:off x="8121684" y="5266390"/>
              <a:ext cx="45719" cy="43237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884D9627-38C8-4B8C-AA72-1515FD5414BC}"/>
              </a:ext>
            </a:extLst>
          </p:cNvPr>
          <p:cNvGrpSpPr/>
          <p:nvPr/>
        </p:nvGrpSpPr>
        <p:grpSpPr>
          <a:xfrm>
            <a:off x="4487161" y="3243961"/>
            <a:ext cx="4019112" cy="763650"/>
            <a:chOff x="4487161" y="5160582"/>
            <a:chExt cx="4019112" cy="763650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956BECE0-173D-4472-8AE3-1C9EA18B3E8A}"/>
                </a:ext>
              </a:extLst>
            </p:cNvPr>
            <p:cNvSpPr/>
            <p:nvPr/>
          </p:nvSpPr>
          <p:spPr>
            <a:xfrm>
              <a:off x="4487161" y="5522095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993A9E44-FF90-4CDE-9FD1-4619B56D9CAC}"/>
                </a:ext>
              </a:extLst>
            </p:cNvPr>
            <p:cNvSpPr/>
            <p:nvPr/>
          </p:nvSpPr>
          <p:spPr>
            <a:xfrm>
              <a:off x="4933729" y="5522095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072AE965-0D01-40AE-A657-03D8219A3C1F}"/>
                    </a:ext>
                  </a:extLst>
                </p:cNvPr>
                <p:cNvSpPr/>
                <p:nvPr/>
              </p:nvSpPr>
              <p:spPr>
                <a:xfrm>
                  <a:off x="5380297" y="5522095"/>
                  <a:ext cx="446568" cy="361507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072AE965-0D01-40AE-A657-03D8219A3C1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0297" y="5522095"/>
                  <a:ext cx="446568" cy="361507"/>
                </a:xfrm>
                <a:prstGeom prst="rect">
                  <a:avLst/>
                </a:prstGeom>
                <a:blipFill>
                  <a:blip r:embed="rId9"/>
                  <a:stretch>
                    <a:fillRect b="-645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34FF84B7-F95E-4CDB-ABA2-D22B386A1400}"/>
                </a:ext>
              </a:extLst>
            </p:cNvPr>
            <p:cNvSpPr/>
            <p:nvPr/>
          </p:nvSpPr>
          <p:spPr>
            <a:xfrm>
              <a:off x="5826865" y="5522095"/>
              <a:ext cx="446568" cy="36150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6F127D55-1B01-4014-A2B4-556763B9BAE2}"/>
                </a:ext>
              </a:extLst>
            </p:cNvPr>
            <p:cNvSpPr/>
            <p:nvPr/>
          </p:nvSpPr>
          <p:spPr>
            <a:xfrm>
              <a:off x="6273433" y="5522095"/>
              <a:ext cx="446568" cy="36150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74F9991A-0D55-4040-8477-7C7D665F9804}"/>
                </a:ext>
              </a:extLst>
            </p:cNvPr>
            <p:cNvSpPr/>
            <p:nvPr/>
          </p:nvSpPr>
          <p:spPr>
            <a:xfrm>
              <a:off x="6720001" y="5522095"/>
              <a:ext cx="446568" cy="3615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77356066-299E-4CE5-8FA3-F342FDFFD675}"/>
                </a:ext>
              </a:extLst>
            </p:cNvPr>
            <p:cNvSpPr/>
            <p:nvPr/>
          </p:nvSpPr>
          <p:spPr>
            <a:xfrm>
              <a:off x="7166569" y="5522094"/>
              <a:ext cx="446568" cy="3615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B3C16ACF-6607-4DA1-9B8E-C827C75FA4AF}"/>
                </a:ext>
              </a:extLst>
            </p:cNvPr>
            <p:cNvSpPr/>
            <p:nvPr/>
          </p:nvSpPr>
          <p:spPr>
            <a:xfrm>
              <a:off x="7613137" y="5522093"/>
              <a:ext cx="446568" cy="3615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DBD8B774-1121-4C45-A41E-935DAF6A7B5A}"/>
                    </a:ext>
                  </a:extLst>
                </p:cNvPr>
                <p:cNvSpPr/>
                <p:nvPr/>
              </p:nvSpPr>
              <p:spPr>
                <a:xfrm>
                  <a:off x="8059705" y="5522093"/>
                  <a:ext cx="446568" cy="3615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DBD8B774-1121-4C45-A41E-935DAF6A7B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9705" y="5522093"/>
                  <a:ext cx="446568" cy="36150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矩形 38">
                  <a:extLst>
                    <a:ext uri="{FF2B5EF4-FFF2-40B4-BE49-F238E27FC236}">
                      <a16:creationId xmlns:a16="http://schemas.microsoft.com/office/drawing/2014/main" id="{62BCA109-FF2C-4510-B79C-00924EFC9CEF}"/>
                    </a:ext>
                  </a:extLst>
                </p:cNvPr>
                <p:cNvSpPr/>
                <p:nvPr/>
              </p:nvSpPr>
              <p:spPr>
                <a:xfrm>
                  <a:off x="4933729" y="5160583"/>
                  <a:ext cx="446568" cy="36150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矩形 38">
                  <a:extLst>
                    <a:ext uri="{FF2B5EF4-FFF2-40B4-BE49-F238E27FC236}">
                      <a16:creationId xmlns:a16="http://schemas.microsoft.com/office/drawing/2014/main" id="{62BCA109-FF2C-4510-B79C-00924EFC9CE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3729" y="5160583"/>
                  <a:ext cx="446568" cy="361507"/>
                </a:xfrm>
                <a:prstGeom prst="rect">
                  <a:avLst/>
                </a:prstGeom>
                <a:blipFill>
                  <a:blip r:embed="rId11"/>
                  <a:stretch>
                    <a:fillRect t="-6780" r="-3108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DF3A5E1F-6BD5-4CE1-9113-657097B48242}"/>
                    </a:ext>
                  </a:extLst>
                </p:cNvPr>
                <p:cNvSpPr/>
                <p:nvPr/>
              </p:nvSpPr>
              <p:spPr>
                <a:xfrm>
                  <a:off x="4487161" y="5160584"/>
                  <a:ext cx="446568" cy="36150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DF3A5E1F-6BD5-4CE1-9113-657097B4824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87161" y="5160584"/>
                  <a:ext cx="446568" cy="361507"/>
                </a:xfrm>
                <a:prstGeom prst="rect">
                  <a:avLst/>
                </a:prstGeom>
                <a:blipFill>
                  <a:blip r:embed="rId12"/>
                  <a:stretch>
                    <a:fillRect b="-847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A890EF6C-80D5-46D0-8634-64D3B3D7FCDB}"/>
                    </a:ext>
                  </a:extLst>
                </p:cNvPr>
                <p:cNvSpPr/>
                <p:nvPr/>
              </p:nvSpPr>
              <p:spPr>
                <a:xfrm>
                  <a:off x="8059705" y="5160583"/>
                  <a:ext cx="446568" cy="36150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A890EF6C-80D5-46D0-8634-64D3B3D7FCD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9705" y="5160583"/>
                  <a:ext cx="446568" cy="36150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D5621256-798B-47EA-9A74-89030D8D9BAA}"/>
                </a:ext>
              </a:extLst>
            </p:cNvPr>
            <p:cNvSpPr/>
            <p:nvPr/>
          </p:nvSpPr>
          <p:spPr>
            <a:xfrm>
              <a:off x="5357600" y="5491857"/>
              <a:ext cx="45719" cy="43237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5068E13E-C8A1-4608-BA7C-EAA76C9D51B2}"/>
                </a:ext>
              </a:extLst>
            </p:cNvPr>
            <p:cNvSpPr/>
            <p:nvPr/>
          </p:nvSpPr>
          <p:spPr>
            <a:xfrm>
              <a:off x="8036845" y="5481718"/>
              <a:ext cx="45719" cy="43237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2D06ED0E-ACDF-43B4-97F7-67D923CC018C}"/>
                </a:ext>
              </a:extLst>
            </p:cNvPr>
            <p:cNvSpPr/>
            <p:nvPr/>
          </p:nvSpPr>
          <p:spPr>
            <a:xfrm>
              <a:off x="6696979" y="5483521"/>
              <a:ext cx="45719" cy="43237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44B90E57-B1D3-4A87-8942-30ACBEA11877}"/>
                    </a:ext>
                  </a:extLst>
                </p:cNvPr>
                <p:cNvSpPr/>
                <p:nvPr/>
              </p:nvSpPr>
              <p:spPr>
                <a:xfrm>
                  <a:off x="6723189" y="5160582"/>
                  <a:ext cx="446568" cy="36150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44B90E57-B1D3-4A87-8942-30ACBEA1187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3189" y="5160582"/>
                  <a:ext cx="446568" cy="361507"/>
                </a:xfrm>
                <a:prstGeom prst="rect">
                  <a:avLst/>
                </a:prstGeom>
                <a:blipFill>
                  <a:blip r:embed="rId14"/>
                  <a:stretch>
                    <a:fillRect t="-6780" r="-32877" b="-847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7" name="文本框 46">
            <a:extLst>
              <a:ext uri="{FF2B5EF4-FFF2-40B4-BE49-F238E27FC236}">
                <a16:creationId xmlns:a16="http://schemas.microsoft.com/office/drawing/2014/main" id="{1C55D873-2515-492A-850D-66C67C58635A}"/>
              </a:ext>
            </a:extLst>
          </p:cNvPr>
          <p:cNvSpPr txBox="1"/>
          <p:nvPr/>
        </p:nvSpPr>
        <p:spPr>
          <a:xfrm>
            <a:off x="6013325" y="4474127"/>
            <a:ext cx="199907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In this iteration:</a:t>
            </a: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037DC9BB-9E68-4854-986A-FEC3D08456B3}"/>
              </a:ext>
            </a:extLst>
          </p:cNvPr>
          <p:cNvGrpSpPr/>
          <p:nvPr/>
        </p:nvGrpSpPr>
        <p:grpSpPr>
          <a:xfrm>
            <a:off x="244765" y="4873504"/>
            <a:ext cx="4019112" cy="763650"/>
            <a:chOff x="4487161" y="5160582"/>
            <a:chExt cx="4019112" cy="763650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782AC703-8FE1-4AEB-9F90-4C3C92284D4C}"/>
                </a:ext>
              </a:extLst>
            </p:cNvPr>
            <p:cNvSpPr/>
            <p:nvPr/>
          </p:nvSpPr>
          <p:spPr>
            <a:xfrm>
              <a:off x="4487161" y="5522095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99895E32-8957-404E-9F62-E83D49533EFB}"/>
                </a:ext>
              </a:extLst>
            </p:cNvPr>
            <p:cNvSpPr/>
            <p:nvPr/>
          </p:nvSpPr>
          <p:spPr>
            <a:xfrm>
              <a:off x="4933729" y="5522095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矩形 50">
                  <a:extLst>
                    <a:ext uri="{FF2B5EF4-FFF2-40B4-BE49-F238E27FC236}">
                      <a16:creationId xmlns:a16="http://schemas.microsoft.com/office/drawing/2014/main" id="{F4275AA8-924F-427F-ACB9-7C2083A64D94}"/>
                    </a:ext>
                  </a:extLst>
                </p:cNvPr>
                <p:cNvSpPr/>
                <p:nvPr/>
              </p:nvSpPr>
              <p:spPr>
                <a:xfrm>
                  <a:off x="5380297" y="5522095"/>
                  <a:ext cx="446568" cy="361507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矩形 50">
                  <a:extLst>
                    <a:ext uri="{FF2B5EF4-FFF2-40B4-BE49-F238E27FC236}">
                      <a16:creationId xmlns:a16="http://schemas.microsoft.com/office/drawing/2014/main" id="{F4275AA8-924F-427F-ACB9-7C2083A64D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0297" y="5522095"/>
                  <a:ext cx="446568" cy="361507"/>
                </a:xfrm>
                <a:prstGeom prst="rect">
                  <a:avLst/>
                </a:prstGeom>
                <a:blipFill>
                  <a:blip r:embed="rId15"/>
                  <a:stretch>
                    <a:fillRect b="-655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992277D1-C90A-49CE-BC13-43C3A6823131}"/>
                </a:ext>
              </a:extLst>
            </p:cNvPr>
            <p:cNvSpPr/>
            <p:nvPr/>
          </p:nvSpPr>
          <p:spPr>
            <a:xfrm>
              <a:off x="5826865" y="5522095"/>
              <a:ext cx="446568" cy="36150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F0F3D2E0-33C3-432C-8FA4-F4622DEC4BEA}"/>
                </a:ext>
              </a:extLst>
            </p:cNvPr>
            <p:cNvSpPr/>
            <p:nvPr/>
          </p:nvSpPr>
          <p:spPr>
            <a:xfrm>
              <a:off x="6273433" y="5522095"/>
              <a:ext cx="446568" cy="36150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矩形 53">
                  <a:extLst>
                    <a:ext uri="{FF2B5EF4-FFF2-40B4-BE49-F238E27FC236}">
                      <a16:creationId xmlns:a16="http://schemas.microsoft.com/office/drawing/2014/main" id="{14D0599D-EDE3-4B33-B780-EBD04FD1112C}"/>
                    </a:ext>
                  </a:extLst>
                </p:cNvPr>
                <p:cNvSpPr/>
                <p:nvPr/>
              </p:nvSpPr>
              <p:spPr>
                <a:xfrm>
                  <a:off x="6720001" y="5522095"/>
                  <a:ext cx="446568" cy="3615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矩形 53">
                  <a:extLst>
                    <a:ext uri="{FF2B5EF4-FFF2-40B4-BE49-F238E27FC236}">
                      <a16:creationId xmlns:a16="http://schemas.microsoft.com/office/drawing/2014/main" id="{14D0599D-EDE3-4B33-B780-EBD04FD1112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0001" y="5522095"/>
                  <a:ext cx="446568" cy="36150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1FAD2321-EDB1-40E5-8F3C-5F7C18E1442A}"/>
                </a:ext>
              </a:extLst>
            </p:cNvPr>
            <p:cNvSpPr/>
            <p:nvPr/>
          </p:nvSpPr>
          <p:spPr>
            <a:xfrm>
              <a:off x="7166569" y="5522094"/>
              <a:ext cx="446568" cy="3615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38CFF4F3-A944-4D35-BB9A-45CF15C57BFC}"/>
                </a:ext>
              </a:extLst>
            </p:cNvPr>
            <p:cNvSpPr/>
            <p:nvPr/>
          </p:nvSpPr>
          <p:spPr>
            <a:xfrm>
              <a:off x="7613137" y="5522093"/>
              <a:ext cx="446568" cy="3615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EC180241-624F-4B5C-A9CD-E00B5DC4826D}"/>
                    </a:ext>
                  </a:extLst>
                </p:cNvPr>
                <p:cNvSpPr/>
                <p:nvPr/>
              </p:nvSpPr>
              <p:spPr>
                <a:xfrm>
                  <a:off x="8059705" y="5522093"/>
                  <a:ext cx="446568" cy="3615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EC180241-624F-4B5C-A9CD-E00B5DC4826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9705" y="5522093"/>
                  <a:ext cx="446568" cy="36150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矩形 57">
                  <a:extLst>
                    <a:ext uri="{FF2B5EF4-FFF2-40B4-BE49-F238E27FC236}">
                      <a16:creationId xmlns:a16="http://schemas.microsoft.com/office/drawing/2014/main" id="{1AD300A5-049A-403C-9CFE-CA02B344FF8B}"/>
                    </a:ext>
                  </a:extLst>
                </p:cNvPr>
                <p:cNvSpPr/>
                <p:nvPr/>
              </p:nvSpPr>
              <p:spPr>
                <a:xfrm>
                  <a:off x="4933729" y="5160583"/>
                  <a:ext cx="446568" cy="36150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矩形 57">
                  <a:extLst>
                    <a:ext uri="{FF2B5EF4-FFF2-40B4-BE49-F238E27FC236}">
                      <a16:creationId xmlns:a16="http://schemas.microsoft.com/office/drawing/2014/main" id="{1AD300A5-049A-403C-9CFE-CA02B344FF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3729" y="5160583"/>
                  <a:ext cx="446568" cy="361507"/>
                </a:xfrm>
                <a:prstGeom prst="rect">
                  <a:avLst/>
                </a:prstGeom>
                <a:blipFill>
                  <a:blip r:embed="rId18"/>
                  <a:stretch>
                    <a:fillRect t="-6667" r="-3108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矩形 58">
                  <a:extLst>
                    <a:ext uri="{FF2B5EF4-FFF2-40B4-BE49-F238E27FC236}">
                      <a16:creationId xmlns:a16="http://schemas.microsoft.com/office/drawing/2014/main" id="{5FBE05E2-DBEB-4A3E-A31A-1197B54AF285}"/>
                    </a:ext>
                  </a:extLst>
                </p:cNvPr>
                <p:cNvSpPr/>
                <p:nvPr/>
              </p:nvSpPr>
              <p:spPr>
                <a:xfrm>
                  <a:off x="4487161" y="5160584"/>
                  <a:ext cx="446568" cy="36150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矩形 58">
                  <a:extLst>
                    <a:ext uri="{FF2B5EF4-FFF2-40B4-BE49-F238E27FC236}">
                      <a16:creationId xmlns:a16="http://schemas.microsoft.com/office/drawing/2014/main" id="{5FBE05E2-DBEB-4A3E-A31A-1197B54AF28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87161" y="5160584"/>
                  <a:ext cx="446568" cy="361507"/>
                </a:xfrm>
                <a:prstGeom prst="rect">
                  <a:avLst/>
                </a:prstGeom>
                <a:blipFill>
                  <a:blip r:embed="rId19"/>
                  <a:stretch>
                    <a:fillRect b="-8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矩形 59">
                  <a:extLst>
                    <a:ext uri="{FF2B5EF4-FFF2-40B4-BE49-F238E27FC236}">
                      <a16:creationId xmlns:a16="http://schemas.microsoft.com/office/drawing/2014/main" id="{F2588217-9981-460B-8AB3-84CBE6B807BE}"/>
                    </a:ext>
                  </a:extLst>
                </p:cNvPr>
                <p:cNvSpPr/>
                <p:nvPr/>
              </p:nvSpPr>
              <p:spPr>
                <a:xfrm>
                  <a:off x="8059705" y="5160583"/>
                  <a:ext cx="446568" cy="36150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矩形 59">
                  <a:extLst>
                    <a:ext uri="{FF2B5EF4-FFF2-40B4-BE49-F238E27FC236}">
                      <a16:creationId xmlns:a16="http://schemas.microsoft.com/office/drawing/2014/main" id="{F2588217-9981-460B-8AB3-84CBE6B807B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9705" y="5160583"/>
                  <a:ext cx="446568" cy="361507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6DE32B5F-4D87-4168-A8AF-93706F80ABFD}"/>
                </a:ext>
              </a:extLst>
            </p:cNvPr>
            <p:cNvSpPr/>
            <p:nvPr/>
          </p:nvSpPr>
          <p:spPr>
            <a:xfrm>
              <a:off x="5357600" y="5491857"/>
              <a:ext cx="45719" cy="43237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EA7E738A-6C09-4654-96FC-1D6EE06C93AD}"/>
                </a:ext>
              </a:extLst>
            </p:cNvPr>
            <p:cNvSpPr/>
            <p:nvPr/>
          </p:nvSpPr>
          <p:spPr>
            <a:xfrm>
              <a:off x="8036845" y="5481718"/>
              <a:ext cx="45719" cy="43237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6CA883A3-1E4F-4D29-A70A-A011A08B20B0}"/>
                </a:ext>
              </a:extLst>
            </p:cNvPr>
            <p:cNvSpPr/>
            <p:nvPr/>
          </p:nvSpPr>
          <p:spPr>
            <a:xfrm>
              <a:off x="6696979" y="5483521"/>
              <a:ext cx="45719" cy="43237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矩形 63">
                  <a:extLst>
                    <a:ext uri="{FF2B5EF4-FFF2-40B4-BE49-F238E27FC236}">
                      <a16:creationId xmlns:a16="http://schemas.microsoft.com/office/drawing/2014/main" id="{5CBE7925-5F11-47FF-93BA-43DFE5AEED28}"/>
                    </a:ext>
                  </a:extLst>
                </p:cNvPr>
                <p:cNvSpPr/>
                <p:nvPr/>
              </p:nvSpPr>
              <p:spPr>
                <a:xfrm>
                  <a:off x="6723189" y="5160582"/>
                  <a:ext cx="446568" cy="36150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矩形 63">
                  <a:extLst>
                    <a:ext uri="{FF2B5EF4-FFF2-40B4-BE49-F238E27FC236}">
                      <a16:creationId xmlns:a16="http://schemas.microsoft.com/office/drawing/2014/main" id="{5CBE7925-5F11-47FF-93BA-43DFE5AEED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3189" y="5160582"/>
                  <a:ext cx="446568" cy="361507"/>
                </a:xfrm>
                <a:prstGeom prst="rect">
                  <a:avLst/>
                </a:prstGeom>
                <a:blipFill>
                  <a:blip r:embed="rId21"/>
                  <a:stretch>
                    <a:fillRect t="-6667" r="-32877" b="-8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EB5D16C5-3208-46A4-810D-50CB74CA73FB}"/>
              </a:ext>
            </a:extLst>
          </p:cNvPr>
          <p:cNvGrpSpPr/>
          <p:nvPr/>
        </p:nvGrpSpPr>
        <p:grpSpPr>
          <a:xfrm>
            <a:off x="4880125" y="4853186"/>
            <a:ext cx="4019112" cy="763650"/>
            <a:chOff x="4487161" y="5160582"/>
            <a:chExt cx="4019112" cy="763650"/>
          </a:xfrm>
        </p:grpSpPr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00EF62AF-DFB9-4FF6-9EAD-1A69BDD81142}"/>
                </a:ext>
              </a:extLst>
            </p:cNvPr>
            <p:cNvSpPr/>
            <p:nvPr/>
          </p:nvSpPr>
          <p:spPr>
            <a:xfrm>
              <a:off x="4487161" y="5522095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CACECED4-C17B-41D2-9A85-A6BDF909FAB4}"/>
                </a:ext>
              </a:extLst>
            </p:cNvPr>
            <p:cNvSpPr/>
            <p:nvPr/>
          </p:nvSpPr>
          <p:spPr>
            <a:xfrm>
              <a:off x="4933729" y="5522095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矩形 67">
                  <a:extLst>
                    <a:ext uri="{FF2B5EF4-FFF2-40B4-BE49-F238E27FC236}">
                      <a16:creationId xmlns:a16="http://schemas.microsoft.com/office/drawing/2014/main" id="{A988A24F-6248-4DDD-8004-0286D135DAD9}"/>
                    </a:ext>
                  </a:extLst>
                </p:cNvPr>
                <p:cNvSpPr/>
                <p:nvPr/>
              </p:nvSpPr>
              <p:spPr>
                <a:xfrm>
                  <a:off x="5380297" y="5522095"/>
                  <a:ext cx="446568" cy="361507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矩形 67">
                  <a:extLst>
                    <a:ext uri="{FF2B5EF4-FFF2-40B4-BE49-F238E27FC236}">
                      <a16:creationId xmlns:a16="http://schemas.microsoft.com/office/drawing/2014/main" id="{A988A24F-6248-4DDD-8004-0286D135DAD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0297" y="5522095"/>
                  <a:ext cx="446568" cy="361507"/>
                </a:xfrm>
                <a:prstGeom prst="rect">
                  <a:avLst/>
                </a:prstGeom>
                <a:blipFill>
                  <a:blip r:embed="rId22"/>
                  <a:stretch>
                    <a:fillRect b="-645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19A4E092-4C2E-4B8B-AEB4-C8728774BB7E}"/>
                </a:ext>
              </a:extLst>
            </p:cNvPr>
            <p:cNvSpPr/>
            <p:nvPr/>
          </p:nvSpPr>
          <p:spPr>
            <a:xfrm>
              <a:off x="5826865" y="5522095"/>
              <a:ext cx="446568" cy="36150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77C3AE95-FA09-4FC4-936C-9D888D637C52}"/>
                </a:ext>
              </a:extLst>
            </p:cNvPr>
            <p:cNvSpPr/>
            <p:nvPr/>
          </p:nvSpPr>
          <p:spPr>
            <a:xfrm>
              <a:off x="6273433" y="5522095"/>
              <a:ext cx="446568" cy="36150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矩形 70">
                  <a:extLst>
                    <a:ext uri="{FF2B5EF4-FFF2-40B4-BE49-F238E27FC236}">
                      <a16:creationId xmlns:a16="http://schemas.microsoft.com/office/drawing/2014/main" id="{4B180A02-C715-4D97-86A6-65BF929B53C8}"/>
                    </a:ext>
                  </a:extLst>
                </p:cNvPr>
                <p:cNvSpPr/>
                <p:nvPr/>
              </p:nvSpPr>
              <p:spPr>
                <a:xfrm>
                  <a:off x="6720001" y="5522095"/>
                  <a:ext cx="446568" cy="3615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1" name="矩形 70">
                  <a:extLst>
                    <a:ext uri="{FF2B5EF4-FFF2-40B4-BE49-F238E27FC236}">
                      <a16:creationId xmlns:a16="http://schemas.microsoft.com/office/drawing/2014/main" id="{4B180A02-C715-4D97-86A6-65BF929B53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0001" y="5522095"/>
                  <a:ext cx="446568" cy="361507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4E45E7E9-7513-43BC-857D-AA702994E850}"/>
                </a:ext>
              </a:extLst>
            </p:cNvPr>
            <p:cNvSpPr/>
            <p:nvPr/>
          </p:nvSpPr>
          <p:spPr>
            <a:xfrm>
              <a:off x="7166569" y="5522094"/>
              <a:ext cx="446568" cy="3615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25F81A65-E18F-4289-9FE3-CA216600BEF7}"/>
                </a:ext>
              </a:extLst>
            </p:cNvPr>
            <p:cNvSpPr/>
            <p:nvPr/>
          </p:nvSpPr>
          <p:spPr>
            <a:xfrm>
              <a:off x="7613137" y="5522093"/>
              <a:ext cx="446568" cy="3615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矩形 73">
                  <a:extLst>
                    <a:ext uri="{FF2B5EF4-FFF2-40B4-BE49-F238E27FC236}">
                      <a16:creationId xmlns:a16="http://schemas.microsoft.com/office/drawing/2014/main" id="{21F8C21D-A528-4DFA-9568-88EB85B81855}"/>
                    </a:ext>
                  </a:extLst>
                </p:cNvPr>
                <p:cNvSpPr/>
                <p:nvPr/>
              </p:nvSpPr>
              <p:spPr>
                <a:xfrm>
                  <a:off x="8059705" y="5522093"/>
                  <a:ext cx="446568" cy="3615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4" name="矩形 73">
                  <a:extLst>
                    <a:ext uri="{FF2B5EF4-FFF2-40B4-BE49-F238E27FC236}">
                      <a16:creationId xmlns:a16="http://schemas.microsoft.com/office/drawing/2014/main" id="{21F8C21D-A528-4DFA-9568-88EB85B8185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9705" y="5522093"/>
                  <a:ext cx="446568" cy="361507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矩形 74">
                  <a:extLst>
                    <a:ext uri="{FF2B5EF4-FFF2-40B4-BE49-F238E27FC236}">
                      <a16:creationId xmlns:a16="http://schemas.microsoft.com/office/drawing/2014/main" id="{C442F369-4D88-4E28-9269-DDDAFE30D629}"/>
                    </a:ext>
                  </a:extLst>
                </p:cNvPr>
                <p:cNvSpPr/>
                <p:nvPr/>
              </p:nvSpPr>
              <p:spPr>
                <a:xfrm>
                  <a:off x="4933729" y="5160583"/>
                  <a:ext cx="446568" cy="36150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5" name="矩形 74">
                  <a:extLst>
                    <a:ext uri="{FF2B5EF4-FFF2-40B4-BE49-F238E27FC236}">
                      <a16:creationId xmlns:a16="http://schemas.microsoft.com/office/drawing/2014/main" id="{C442F369-4D88-4E28-9269-DDDAFE30D6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3729" y="5160583"/>
                  <a:ext cx="446568" cy="361507"/>
                </a:xfrm>
                <a:prstGeom prst="rect">
                  <a:avLst/>
                </a:prstGeom>
                <a:blipFill>
                  <a:blip r:embed="rId25"/>
                  <a:stretch>
                    <a:fillRect t="-6780" r="-3150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矩形 75">
                  <a:extLst>
                    <a:ext uri="{FF2B5EF4-FFF2-40B4-BE49-F238E27FC236}">
                      <a16:creationId xmlns:a16="http://schemas.microsoft.com/office/drawing/2014/main" id="{5100F62A-C015-4E1A-B247-256B0368C1F0}"/>
                    </a:ext>
                  </a:extLst>
                </p:cNvPr>
                <p:cNvSpPr/>
                <p:nvPr/>
              </p:nvSpPr>
              <p:spPr>
                <a:xfrm>
                  <a:off x="4487161" y="5160584"/>
                  <a:ext cx="446568" cy="36150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6" name="矩形 75">
                  <a:extLst>
                    <a:ext uri="{FF2B5EF4-FFF2-40B4-BE49-F238E27FC236}">
                      <a16:creationId xmlns:a16="http://schemas.microsoft.com/office/drawing/2014/main" id="{5100F62A-C015-4E1A-B247-256B0368C1F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87161" y="5160584"/>
                  <a:ext cx="446568" cy="361507"/>
                </a:xfrm>
                <a:prstGeom prst="rect">
                  <a:avLst/>
                </a:prstGeom>
                <a:blipFill>
                  <a:blip r:embed="rId26"/>
                  <a:stretch>
                    <a:fillRect b="-847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矩形 76">
                  <a:extLst>
                    <a:ext uri="{FF2B5EF4-FFF2-40B4-BE49-F238E27FC236}">
                      <a16:creationId xmlns:a16="http://schemas.microsoft.com/office/drawing/2014/main" id="{0B0AEA15-2EA3-4CF0-9270-4E397EF11457}"/>
                    </a:ext>
                  </a:extLst>
                </p:cNvPr>
                <p:cNvSpPr/>
                <p:nvPr/>
              </p:nvSpPr>
              <p:spPr>
                <a:xfrm>
                  <a:off x="8059705" y="5160583"/>
                  <a:ext cx="446568" cy="36150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7" name="矩形 76">
                  <a:extLst>
                    <a:ext uri="{FF2B5EF4-FFF2-40B4-BE49-F238E27FC236}">
                      <a16:creationId xmlns:a16="http://schemas.microsoft.com/office/drawing/2014/main" id="{0B0AEA15-2EA3-4CF0-9270-4E397EF1145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9705" y="5160583"/>
                  <a:ext cx="446568" cy="361507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DE932B95-9E07-4174-8653-30339151023C}"/>
                </a:ext>
              </a:extLst>
            </p:cNvPr>
            <p:cNvSpPr/>
            <p:nvPr/>
          </p:nvSpPr>
          <p:spPr>
            <a:xfrm>
              <a:off x="5357600" y="5491857"/>
              <a:ext cx="45719" cy="43237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A8649114-6B88-460F-9EBF-32DBF3C29BB1}"/>
                </a:ext>
              </a:extLst>
            </p:cNvPr>
            <p:cNvSpPr/>
            <p:nvPr/>
          </p:nvSpPr>
          <p:spPr>
            <a:xfrm>
              <a:off x="8036845" y="5481718"/>
              <a:ext cx="45719" cy="43237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13827098-F6B4-462C-B2D6-D33CAA5D33BD}"/>
                </a:ext>
              </a:extLst>
            </p:cNvPr>
            <p:cNvSpPr/>
            <p:nvPr/>
          </p:nvSpPr>
          <p:spPr>
            <a:xfrm>
              <a:off x="6696979" y="5483521"/>
              <a:ext cx="45719" cy="43237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矩形 80">
                  <a:extLst>
                    <a:ext uri="{FF2B5EF4-FFF2-40B4-BE49-F238E27FC236}">
                      <a16:creationId xmlns:a16="http://schemas.microsoft.com/office/drawing/2014/main" id="{FDD8547B-A47C-4CA1-AD08-3B9068AC2BF2}"/>
                    </a:ext>
                  </a:extLst>
                </p:cNvPr>
                <p:cNvSpPr/>
                <p:nvPr/>
              </p:nvSpPr>
              <p:spPr>
                <a:xfrm>
                  <a:off x="6723189" y="5160582"/>
                  <a:ext cx="446568" cy="36150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1" name="矩形 80">
                  <a:extLst>
                    <a:ext uri="{FF2B5EF4-FFF2-40B4-BE49-F238E27FC236}">
                      <a16:creationId xmlns:a16="http://schemas.microsoft.com/office/drawing/2014/main" id="{FDD8547B-A47C-4CA1-AD08-3B9068AC2BF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3189" y="5160582"/>
                  <a:ext cx="446568" cy="361507"/>
                </a:xfrm>
                <a:prstGeom prst="rect">
                  <a:avLst/>
                </a:prstGeom>
                <a:blipFill>
                  <a:blip r:embed="rId28"/>
                  <a:stretch>
                    <a:fillRect t="-6780" r="-32432" b="-847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2" name="文本框 81">
            <a:extLst>
              <a:ext uri="{FF2B5EF4-FFF2-40B4-BE49-F238E27FC236}">
                <a16:creationId xmlns:a16="http://schemas.microsoft.com/office/drawing/2014/main" id="{E13DE6A9-7D7F-4194-BCDB-D56D018678FE}"/>
              </a:ext>
            </a:extLst>
          </p:cNvPr>
          <p:cNvSpPr txBox="1"/>
          <p:nvPr/>
        </p:nvSpPr>
        <p:spPr>
          <a:xfrm>
            <a:off x="4355058" y="5184461"/>
            <a:ext cx="4315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or</a:t>
            </a:r>
          </a:p>
        </p:txBody>
      </p: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69A5E423-CE80-4EAF-A819-CF77C5619CE4}"/>
              </a:ext>
            </a:extLst>
          </p:cNvPr>
          <p:cNvGrpSpPr/>
          <p:nvPr/>
        </p:nvGrpSpPr>
        <p:grpSpPr>
          <a:xfrm>
            <a:off x="244763" y="5904120"/>
            <a:ext cx="4019112" cy="753511"/>
            <a:chOff x="244763" y="5904120"/>
            <a:chExt cx="4019112" cy="753511"/>
          </a:xfrm>
        </p:grpSpPr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C6C54516-2FB5-4B98-9CF1-0EC7C687C04E}"/>
                </a:ext>
              </a:extLst>
            </p:cNvPr>
            <p:cNvSpPr/>
            <p:nvPr/>
          </p:nvSpPr>
          <p:spPr>
            <a:xfrm>
              <a:off x="244763" y="6265633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93954C29-8831-4B5D-BC45-B28F8F189910}"/>
                </a:ext>
              </a:extLst>
            </p:cNvPr>
            <p:cNvSpPr/>
            <p:nvPr/>
          </p:nvSpPr>
          <p:spPr>
            <a:xfrm>
              <a:off x="691331" y="6265633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矩形 85">
                  <a:extLst>
                    <a:ext uri="{FF2B5EF4-FFF2-40B4-BE49-F238E27FC236}">
                      <a16:creationId xmlns:a16="http://schemas.microsoft.com/office/drawing/2014/main" id="{CDD62DF1-4BDD-4EDD-9F84-4CA38DE23C95}"/>
                    </a:ext>
                  </a:extLst>
                </p:cNvPr>
                <p:cNvSpPr/>
                <p:nvPr/>
              </p:nvSpPr>
              <p:spPr>
                <a:xfrm>
                  <a:off x="1137899" y="6265633"/>
                  <a:ext cx="446568" cy="361507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6" name="矩形 85">
                  <a:extLst>
                    <a:ext uri="{FF2B5EF4-FFF2-40B4-BE49-F238E27FC236}">
                      <a16:creationId xmlns:a16="http://schemas.microsoft.com/office/drawing/2014/main" id="{CDD62DF1-4BDD-4EDD-9F84-4CA38DE23C9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7899" y="6265633"/>
                  <a:ext cx="446568" cy="361507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6F242C9A-5CA7-44EB-9707-E3808BD56108}"/>
                </a:ext>
              </a:extLst>
            </p:cNvPr>
            <p:cNvSpPr/>
            <p:nvPr/>
          </p:nvSpPr>
          <p:spPr>
            <a:xfrm>
              <a:off x="1584467" y="6265633"/>
              <a:ext cx="446568" cy="36150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F97B17D5-6A2F-4085-B365-1C087CEBEEF3}"/>
                </a:ext>
              </a:extLst>
            </p:cNvPr>
            <p:cNvSpPr/>
            <p:nvPr/>
          </p:nvSpPr>
          <p:spPr>
            <a:xfrm>
              <a:off x="2031035" y="6265633"/>
              <a:ext cx="446568" cy="36150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矩形 88">
                  <a:extLst>
                    <a:ext uri="{FF2B5EF4-FFF2-40B4-BE49-F238E27FC236}">
                      <a16:creationId xmlns:a16="http://schemas.microsoft.com/office/drawing/2014/main" id="{EFE271C5-82BB-4AC6-96AD-1524F66A479F}"/>
                    </a:ext>
                  </a:extLst>
                </p:cNvPr>
                <p:cNvSpPr/>
                <p:nvPr/>
              </p:nvSpPr>
              <p:spPr>
                <a:xfrm>
                  <a:off x="2477603" y="6265633"/>
                  <a:ext cx="446568" cy="361507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9" name="矩形 88">
                  <a:extLst>
                    <a:ext uri="{FF2B5EF4-FFF2-40B4-BE49-F238E27FC236}">
                      <a16:creationId xmlns:a16="http://schemas.microsoft.com/office/drawing/2014/main" id="{EFE271C5-82BB-4AC6-96AD-1524F66A479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7603" y="6265633"/>
                  <a:ext cx="446568" cy="361507"/>
                </a:xfrm>
                <a:prstGeom prst="rect">
                  <a:avLst/>
                </a:prstGeom>
                <a:blipFill>
                  <a:blip r:embed="rId30"/>
                  <a:stretch>
                    <a:fillRect b="-655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483319A9-BCE5-4350-BB1F-4B6275B38769}"/>
                </a:ext>
              </a:extLst>
            </p:cNvPr>
            <p:cNvSpPr/>
            <p:nvPr/>
          </p:nvSpPr>
          <p:spPr>
            <a:xfrm>
              <a:off x="2924171" y="6265632"/>
              <a:ext cx="446568" cy="3615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3DD9BEE1-62E9-4B82-A676-E1239DAF0750}"/>
                </a:ext>
              </a:extLst>
            </p:cNvPr>
            <p:cNvSpPr/>
            <p:nvPr/>
          </p:nvSpPr>
          <p:spPr>
            <a:xfrm>
              <a:off x="3370739" y="6265631"/>
              <a:ext cx="446568" cy="3615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矩形 91">
                  <a:extLst>
                    <a:ext uri="{FF2B5EF4-FFF2-40B4-BE49-F238E27FC236}">
                      <a16:creationId xmlns:a16="http://schemas.microsoft.com/office/drawing/2014/main" id="{98547B4D-C82F-4F4F-AB7E-2CA27B247765}"/>
                    </a:ext>
                  </a:extLst>
                </p:cNvPr>
                <p:cNvSpPr/>
                <p:nvPr/>
              </p:nvSpPr>
              <p:spPr>
                <a:xfrm>
                  <a:off x="3817307" y="6265631"/>
                  <a:ext cx="446568" cy="3615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2" name="矩形 91">
                  <a:extLst>
                    <a:ext uri="{FF2B5EF4-FFF2-40B4-BE49-F238E27FC236}">
                      <a16:creationId xmlns:a16="http://schemas.microsoft.com/office/drawing/2014/main" id="{98547B4D-C82F-4F4F-AB7E-2CA27B24776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7307" y="6265631"/>
                  <a:ext cx="446568" cy="361507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矩形 92">
                  <a:extLst>
                    <a:ext uri="{FF2B5EF4-FFF2-40B4-BE49-F238E27FC236}">
                      <a16:creationId xmlns:a16="http://schemas.microsoft.com/office/drawing/2014/main" id="{0AACE331-644C-454E-ABD8-E19488FD1E40}"/>
                    </a:ext>
                  </a:extLst>
                </p:cNvPr>
                <p:cNvSpPr/>
                <p:nvPr/>
              </p:nvSpPr>
              <p:spPr>
                <a:xfrm>
                  <a:off x="1123997" y="5904120"/>
                  <a:ext cx="446568" cy="36150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3" name="矩形 92">
                  <a:extLst>
                    <a:ext uri="{FF2B5EF4-FFF2-40B4-BE49-F238E27FC236}">
                      <a16:creationId xmlns:a16="http://schemas.microsoft.com/office/drawing/2014/main" id="{0AACE331-644C-454E-ABD8-E19488FD1E4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3997" y="5904120"/>
                  <a:ext cx="446568" cy="361507"/>
                </a:xfrm>
                <a:prstGeom prst="rect">
                  <a:avLst/>
                </a:prstGeom>
                <a:blipFill>
                  <a:blip r:embed="rId32"/>
                  <a:stretch>
                    <a:fillRect t="-8475" r="-3108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矩形 93">
                  <a:extLst>
                    <a:ext uri="{FF2B5EF4-FFF2-40B4-BE49-F238E27FC236}">
                      <a16:creationId xmlns:a16="http://schemas.microsoft.com/office/drawing/2014/main" id="{6936124D-F5F9-4D55-B83E-BCB45D0903E1}"/>
                    </a:ext>
                  </a:extLst>
                </p:cNvPr>
                <p:cNvSpPr/>
                <p:nvPr/>
              </p:nvSpPr>
              <p:spPr>
                <a:xfrm>
                  <a:off x="244763" y="5904122"/>
                  <a:ext cx="446568" cy="36150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4" name="矩形 93">
                  <a:extLst>
                    <a:ext uri="{FF2B5EF4-FFF2-40B4-BE49-F238E27FC236}">
                      <a16:creationId xmlns:a16="http://schemas.microsoft.com/office/drawing/2014/main" id="{6936124D-F5F9-4D55-B83E-BCB45D0903E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763" y="5904122"/>
                  <a:ext cx="446568" cy="361507"/>
                </a:xfrm>
                <a:prstGeom prst="rect">
                  <a:avLst/>
                </a:prstGeom>
                <a:blipFill>
                  <a:blip r:embed="rId33"/>
                  <a:stretch>
                    <a:fillRect b="-847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矩形 94">
                  <a:extLst>
                    <a:ext uri="{FF2B5EF4-FFF2-40B4-BE49-F238E27FC236}">
                      <a16:creationId xmlns:a16="http://schemas.microsoft.com/office/drawing/2014/main" id="{28580C45-C118-4EE9-89B9-3CF598E68E67}"/>
                    </a:ext>
                  </a:extLst>
                </p:cNvPr>
                <p:cNvSpPr/>
                <p:nvPr/>
              </p:nvSpPr>
              <p:spPr>
                <a:xfrm>
                  <a:off x="3817307" y="5904121"/>
                  <a:ext cx="446568" cy="36150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5" name="矩形 94">
                  <a:extLst>
                    <a:ext uri="{FF2B5EF4-FFF2-40B4-BE49-F238E27FC236}">
                      <a16:creationId xmlns:a16="http://schemas.microsoft.com/office/drawing/2014/main" id="{28580C45-C118-4EE9-89B9-3CF598E68E6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7307" y="5904121"/>
                  <a:ext cx="446568" cy="361507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855D238D-3615-41A6-990F-CF2C4E8E2C8B}"/>
                </a:ext>
              </a:extLst>
            </p:cNvPr>
            <p:cNvSpPr/>
            <p:nvPr/>
          </p:nvSpPr>
          <p:spPr>
            <a:xfrm>
              <a:off x="1566228" y="6225256"/>
              <a:ext cx="45719" cy="43237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13F04639-31C9-4714-B023-A3D1B4D7E48C}"/>
                </a:ext>
              </a:extLst>
            </p:cNvPr>
            <p:cNvSpPr/>
            <p:nvPr/>
          </p:nvSpPr>
          <p:spPr>
            <a:xfrm>
              <a:off x="3794447" y="6225256"/>
              <a:ext cx="45719" cy="43237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7BD6CE9B-E388-4456-A647-5BA77CBDD230}"/>
                </a:ext>
              </a:extLst>
            </p:cNvPr>
            <p:cNvSpPr/>
            <p:nvPr/>
          </p:nvSpPr>
          <p:spPr>
            <a:xfrm>
              <a:off x="2896366" y="6225255"/>
              <a:ext cx="45719" cy="43237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矩形 98">
                  <a:extLst>
                    <a:ext uri="{FF2B5EF4-FFF2-40B4-BE49-F238E27FC236}">
                      <a16:creationId xmlns:a16="http://schemas.microsoft.com/office/drawing/2014/main" id="{5D480030-7994-495B-806C-8161408FE300}"/>
                    </a:ext>
                  </a:extLst>
                </p:cNvPr>
                <p:cNvSpPr/>
                <p:nvPr/>
              </p:nvSpPr>
              <p:spPr>
                <a:xfrm>
                  <a:off x="2923846" y="5904120"/>
                  <a:ext cx="446568" cy="36150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9" name="矩形 98">
                  <a:extLst>
                    <a:ext uri="{FF2B5EF4-FFF2-40B4-BE49-F238E27FC236}">
                      <a16:creationId xmlns:a16="http://schemas.microsoft.com/office/drawing/2014/main" id="{5D480030-7994-495B-806C-8161408FE30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3846" y="5904120"/>
                  <a:ext cx="446568" cy="361507"/>
                </a:xfrm>
                <a:prstGeom prst="rect">
                  <a:avLst/>
                </a:prstGeom>
                <a:blipFill>
                  <a:blip r:embed="rId35"/>
                  <a:stretch>
                    <a:fillRect t="-8475" r="-32877" b="-847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E9FE2D5E-FB76-49AD-9C0B-855A14857489}"/>
              </a:ext>
            </a:extLst>
          </p:cNvPr>
          <p:cNvGrpSpPr/>
          <p:nvPr/>
        </p:nvGrpSpPr>
        <p:grpSpPr>
          <a:xfrm>
            <a:off x="4880125" y="5884375"/>
            <a:ext cx="4019112" cy="763650"/>
            <a:chOff x="4487161" y="5160582"/>
            <a:chExt cx="4019112" cy="763650"/>
          </a:xfrm>
        </p:grpSpPr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BE16F69C-8520-400F-8DD2-010CBA6B9D78}"/>
                </a:ext>
              </a:extLst>
            </p:cNvPr>
            <p:cNvSpPr/>
            <p:nvPr/>
          </p:nvSpPr>
          <p:spPr>
            <a:xfrm>
              <a:off x="4487161" y="5522095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A340B5A8-F53B-4CD8-BAC2-30F1F58E78A3}"/>
                </a:ext>
              </a:extLst>
            </p:cNvPr>
            <p:cNvSpPr/>
            <p:nvPr/>
          </p:nvSpPr>
          <p:spPr>
            <a:xfrm>
              <a:off x="4933729" y="5522095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矩形 103">
                  <a:extLst>
                    <a:ext uri="{FF2B5EF4-FFF2-40B4-BE49-F238E27FC236}">
                      <a16:creationId xmlns:a16="http://schemas.microsoft.com/office/drawing/2014/main" id="{0667607A-6195-4BE8-A652-09E59B3442E0}"/>
                    </a:ext>
                  </a:extLst>
                </p:cNvPr>
                <p:cNvSpPr/>
                <p:nvPr/>
              </p:nvSpPr>
              <p:spPr>
                <a:xfrm>
                  <a:off x="5380297" y="5522095"/>
                  <a:ext cx="446568" cy="361507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矩形 103">
                  <a:extLst>
                    <a:ext uri="{FF2B5EF4-FFF2-40B4-BE49-F238E27FC236}">
                      <a16:creationId xmlns:a16="http://schemas.microsoft.com/office/drawing/2014/main" id="{0667607A-6195-4BE8-A652-09E59B3442E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0297" y="5522095"/>
                  <a:ext cx="446568" cy="361507"/>
                </a:xfrm>
                <a:prstGeom prst="rect">
                  <a:avLst/>
                </a:prstGeom>
                <a:blipFill>
                  <a:blip r:embed="rId36"/>
                  <a:stretch>
                    <a:fillRect b="-655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EF27592A-6F0B-4B71-B565-BF57A76F1415}"/>
                </a:ext>
              </a:extLst>
            </p:cNvPr>
            <p:cNvSpPr/>
            <p:nvPr/>
          </p:nvSpPr>
          <p:spPr>
            <a:xfrm>
              <a:off x="5826865" y="5522095"/>
              <a:ext cx="446568" cy="36150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419DBB7D-E87D-4C26-9B90-7BA737C1C9C8}"/>
                </a:ext>
              </a:extLst>
            </p:cNvPr>
            <p:cNvSpPr/>
            <p:nvPr/>
          </p:nvSpPr>
          <p:spPr>
            <a:xfrm>
              <a:off x="6273433" y="5522095"/>
              <a:ext cx="446568" cy="36150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矩形 106">
                  <a:extLst>
                    <a:ext uri="{FF2B5EF4-FFF2-40B4-BE49-F238E27FC236}">
                      <a16:creationId xmlns:a16="http://schemas.microsoft.com/office/drawing/2014/main" id="{106AB177-058C-44AF-803A-10BDE34F2EED}"/>
                    </a:ext>
                  </a:extLst>
                </p:cNvPr>
                <p:cNvSpPr/>
                <p:nvPr/>
              </p:nvSpPr>
              <p:spPr>
                <a:xfrm>
                  <a:off x="6720001" y="5522095"/>
                  <a:ext cx="446568" cy="361507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7" name="矩形 106">
                  <a:extLst>
                    <a:ext uri="{FF2B5EF4-FFF2-40B4-BE49-F238E27FC236}">
                      <a16:creationId xmlns:a16="http://schemas.microsoft.com/office/drawing/2014/main" id="{106AB177-058C-44AF-803A-10BDE34F2EE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0001" y="5522095"/>
                  <a:ext cx="446568" cy="361507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7C9437AD-BFBD-49A3-9BB2-B7194626991A}"/>
                </a:ext>
              </a:extLst>
            </p:cNvPr>
            <p:cNvSpPr/>
            <p:nvPr/>
          </p:nvSpPr>
          <p:spPr>
            <a:xfrm>
              <a:off x="7166569" y="5522094"/>
              <a:ext cx="446568" cy="3615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8A1626C3-4CA8-438B-AC6E-88D8389D507D}"/>
                </a:ext>
              </a:extLst>
            </p:cNvPr>
            <p:cNvSpPr/>
            <p:nvPr/>
          </p:nvSpPr>
          <p:spPr>
            <a:xfrm>
              <a:off x="7613137" y="5522093"/>
              <a:ext cx="446568" cy="3615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矩形 109">
                  <a:extLst>
                    <a:ext uri="{FF2B5EF4-FFF2-40B4-BE49-F238E27FC236}">
                      <a16:creationId xmlns:a16="http://schemas.microsoft.com/office/drawing/2014/main" id="{C0B539AB-9B4C-4EFB-A633-06C15372B85B}"/>
                    </a:ext>
                  </a:extLst>
                </p:cNvPr>
                <p:cNvSpPr/>
                <p:nvPr/>
              </p:nvSpPr>
              <p:spPr>
                <a:xfrm>
                  <a:off x="8059705" y="5522093"/>
                  <a:ext cx="446568" cy="3615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0" name="矩形 109">
                  <a:extLst>
                    <a:ext uri="{FF2B5EF4-FFF2-40B4-BE49-F238E27FC236}">
                      <a16:creationId xmlns:a16="http://schemas.microsoft.com/office/drawing/2014/main" id="{C0B539AB-9B4C-4EFB-A633-06C15372B85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9705" y="5522093"/>
                  <a:ext cx="446568" cy="361507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矩形 110">
                  <a:extLst>
                    <a:ext uri="{FF2B5EF4-FFF2-40B4-BE49-F238E27FC236}">
                      <a16:creationId xmlns:a16="http://schemas.microsoft.com/office/drawing/2014/main" id="{7632712C-E225-4E18-A463-07C6E1A8D2F1}"/>
                    </a:ext>
                  </a:extLst>
                </p:cNvPr>
                <p:cNvSpPr/>
                <p:nvPr/>
              </p:nvSpPr>
              <p:spPr>
                <a:xfrm>
                  <a:off x="4933729" y="5160583"/>
                  <a:ext cx="446568" cy="36150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1" name="矩形 110">
                  <a:extLst>
                    <a:ext uri="{FF2B5EF4-FFF2-40B4-BE49-F238E27FC236}">
                      <a16:creationId xmlns:a16="http://schemas.microsoft.com/office/drawing/2014/main" id="{7632712C-E225-4E18-A463-07C6E1A8D2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3729" y="5160583"/>
                  <a:ext cx="446568" cy="361507"/>
                </a:xfrm>
                <a:prstGeom prst="rect">
                  <a:avLst/>
                </a:prstGeom>
                <a:blipFill>
                  <a:blip r:embed="rId39"/>
                  <a:stretch>
                    <a:fillRect t="-6667" r="-3150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矩形 111">
                  <a:extLst>
                    <a:ext uri="{FF2B5EF4-FFF2-40B4-BE49-F238E27FC236}">
                      <a16:creationId xmlns:a16="http://schemas.microsoft.com/office/drawing/2014/main" id="{3D20EA27-94EA-4FCD-85A3-0E7C53AF3C80}"/>
                    </a:ext>
                  </a:extLst>
                </p:cNvPr>
                <p:cNvSpPr/>
                <p:nvPr/>
              </p:nvSpPr>
              <p:spPr>
                <a:xfrm>
                  <a:off x="4487161" y="5160584"/>
                  <a:ext cx="446568" cy="36150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2" name="矩形 111">
                  <a:extLst>
                    <a:ext uri="{FF2B5EF4-FFF2-40B4-BE49-F238E27FC236}">
                      <a16:creationId xmlns:a16="http://schemas.microsoft.com/office/drawing/2014/main" id="{3D20EA27-94EA-4FCD-85A3-0E7C53AF3C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87161" y="5160584"/>
                  <a:ext cx="446568" cy="361507"/>
                </a:xfrm>
                <a:prstGeom prst="rect">
                  <a:avLst/>
                </a:prstGeom>
                <a:blipFill>
                  <a:blip r:embed="rId40"/>
                  <a:stretch>
                    <a:fillRect b="-66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矩形 112">
                  <a:extLst>
                    <a:ext uri="{FF2B5EF4-FFF2-40B4-BE49-F238E27FC236}">
                      <a16:creationId xmlns:a16="http://schemas.microsoft.com/office/drawing/2014/main" id="{1E85B5DD-3E68-455B-B626-D5DFADC883E9}"/>
                    </a:ext>
                  </a:extLst>
                </p:cNvPr>
                <p:cNvSpPr/>
                <p:nvPr/>
              </p:nvSpPr>
              <p:spPr>
                <a:xfrm>
                  <a:off x="8059705" y="5160583"/>
                  <a:ext cx="446568" cy="36150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3" name="矩形 112">
                  <a:extLst>
                    <a:ext uri="{FF2B5EF4-FFF2-40B4-BE49-F238E27FC236}">
                      <a16:creationId xmlns:a16="http://schemas.microsoft.com/office/drawing/2014/main" id="{1E85B5DD-3E68-455B-B626-D5DFADC883E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9705" y="5160583"/>
                  <a:ext cx="446568" cy="361507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B2B8E787-1740-4585-9AA6-5044652A2884}"/>
                </a:ext>
              </a:extLst>
            </p:cNvPr>
            <p:cNvSpPr/>
            <p:nvPr/>
          </p:nvSpPr>
          <p:spPr>
            <a:xfrm>
              <a:off x="5357600" y="5491857"/>
              <a:ext cx="45719" cy="43237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EF3BD82E-C828-4338-B59F-C82553DEE024}"/>
                </a:ext>
              </a:extLst>
            </p:cNvPr>
            <p:cNvSpPr/>
            <p:nvPr/>
          </p:nvSpPr>
          <p:spPr>
            <a:xfrm>
              <a:off x="8036845" y="5481718"/>
              <a:ext cx="45719" cy="43237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81689631-7A59-4374-A362-4BD337A19E84}"/>
                </a:ext>
              </a:extLst>
            </p:cNvPr>
            <p:cNvSpPr/>
            <p:nvPr/>
          </p:nvSpPr>
          <p:spPr>
            <a:xfrm>
              <a:off x="7128173" y="5491857"/>
              <a:ext cx="45719" cy="43237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矩形 116">
                  <a:extLst>
                    <a:ext uri="{FF2B5EF4-FFF2-40B4-BE49-F238E27FC236}">
                      <a16:creationId xmlns:a16="http://schemas.microsoft.com/office/drawing/2014/main" id="{70E7A4DE-5860-49DB-A2CF-9684E7EF4E1F}"/>
                    </a:ext>
                  </a:extLst>
                </p:cNvPr>
                <p:cNvSpPr/>
                <p:nvPr/>
              </p:nvSpPr>
              <p:spPr>
                <a:xfrm>
                  <a:off x="7166244" y="5160582"/>
                  <a:ext cx="446568" cy="36150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7" name="矩形 116">
                  <a:extLst>
                    <a:ext uri="{FF2B5EF4-FFF2-40B4-BE49-F238E27FC236}">
                      <a16:creationId xmlns:a16="http://schemas.microsoft.com/office/drawing/2014/main" id="{70E7A4DE-5860-49DB-A2CF-9684E7EF4E1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6244" y="5160582"/>
                  <a:ext cx="446568" cy="361507"/>
                </a:xfrm>
                <a:prstGeom prst="rect">
                  <a:avLst/>
                </a:prstGeom>
                <a:blipFill>
                  <a:blip r:embed="rId42"/>
                  <a:stretch>
                    <a:fillRect t="-6667" r="-32877" b="-66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8" name="箭头: 下 117">
            <a:extLst>
              <a:ext uri="{FF2B5EF4-FFF2-40B4-BE49-F238E27FC236}">
                <a16:creationId xmlns:a16="http://schemas.microsoft.com/office/drawing/2014/main" id="{6DB802BF-F0F2-4197-87D0-1DE0A5F35498}"/>
              </a:ext>
            </a:extLst>
          </p:cNvPr>
          <p:cNvSpPr/>
          <p:nvPr/>
        </p:nvSpPr>
        <p:spPr>
          <a:xfrm>
            <a:off x="2034258" y="5759669"/>
            <a:ext cx="446568" cy="361507"/>
          </a:xfrm>
          <a:prstGeom prst="down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箭头: 下 118">
            <a:extLst>
              <a:ext uri="{FF2B5EF4-FFF2-40B4-BE49-F238E27FC236}">
                <a16:creationId xmlns:a16="http://schemas.microsoft.com/office/drawing/2014/main" id="{89F5E84F-D601-498C-B69A-3881289FDA5C}"/>
              </a:ext>
            </a:extLst>
          </p:cNvPr>
          <p:cNvSpPr/>
          <p:nvPr/>
        </p:nvSpPr>
        <p:spPr>
          <a:xfrm>
            <a:off x="6663174" y="5759668"/>
            <a:ext cx="446568" cy="361507"/>
          </a:xfrm>
          <a:prstGeom prst="down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01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82" grpId="0"/>
      <p:bldP spid="118" grpId="0" animBg="1"/>
      <p:bldP spid="11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4EEB6FF-4212-4CE9-9EC1-18AE52E346C3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634539" y="1638546"/>
                <a:ext cx="4619294" cy="1790454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400" b="1" dirty="0"/>
                  <a:t>Claim:</a:t>
                </a:r>
                <a:r>
                  <a:rPr lang="en-US" sz="2400" dirty="0"/>
                  <a:t> at the beginning of any iteration, for any index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:</a:t>
                </a:r>
              </a:p>
              <a:p>
                <a:pPr marL="540000" lvl="1" indent="-288000">
                  <a:buFont typeface="+mj-lt"/>
                  <a:buAutoNum type="arabicPeriod"/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, 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540000" lvl="1" indent="-288000">
                  <a:buFont typeface="+mj-lt"/>
                  <a:buAutoNum type="arabicPeriod"/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+1,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-US" sz="2000" dirty="0"/>
                  <a:t>, then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540000" lvl="1" indent="-288000">
                  <a:buFont typeface="+mj-lt"/>
                  <a:buAutoNum type="arabicPeriod"/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dirty="0"/>
                  <a:t>, then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dirty="0"/>
                  <a:t>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4EEB6FF-4212-4CE9-9EC1-18AE52E346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634539" y="1638546"/>
                <a:ext cx="4619294" cy="1790454"/>
              </a:xfrm>
              <a:blipFill>
                <a:blip r:embed="rId2"/>
                <a:stretch>
                  <a:fillRect l="-1979" t="-4762" b="-6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554A006E-5690-4E75-B655-3E39A3662160}"/>
              </a:ext>
            </a:extLst>
          </p:cNvPr>
          <p:cNvSpPr/>
          <p:nvPr/>
        </p:nvSpPr>
        <p:spPr>
          <a:xfrm>
            <a:off x="5617145" y="270533"/>
            <a:ext cx="2892316" cy="21775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InplacePartition</a:t>
            </a:r>
            <a:r>
              <a:rPr lang="en-GB" b="1" u="sng" dirty="0">
                <a:solidFill>
                  <a:schemeClr val="tx1"/>
                </a:solidFill>
              </a:rPr>
              <a:t>(A, p, r):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A[r],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=p-1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(j=p to r-1)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(A[j]&lt;=x)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=i+1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Swap(A[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],A[j])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Swap(A[i+1],A[r])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i+1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F4B46E3-8E4D-4E6B-8265-50A2777AE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39" y="365126"/>
            <a:ext cx="4619294" cy="109444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内容占位符 2">
                <a:extLst>
                  <a:ext uri="{FF2B5EF4-FFF2-40B4-BE49-F238E27FC236}">
                    <a16:creationId xmlns:a16="http://schemas.microsoft.com/office/drawing/2014/main" id="{038E5F26-7C49-4E08-8133-535505FB8B3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4540" y="3544124"/>
                <a:ext cx="3572545" cy="5334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Bef>
                    <a:spcPts val="600"/>
                  </a:spcBef>
                  <a:buFont typeface="Arial" panose="020B0604020202020204" pitchFamily="34" charset="0"/>
                  <a:buNone/>
                </a:pPr>
                <a:r>
                  <a:rPr lang="en-US" sz="2400" dirty="0"/>
                  <a:t>Eventually, when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200" dirty="0"/>
                  <a:t>:</a:t>
                </a:r>
              </a:p>
            </p:txBody>
          </p:sp>
        </mc:Choice>
        <mc:Fallback xmlns="">
          <p:sp>
            <p:nvSpPr>
              <p:cNvPr id="120" name="内容占位符 2">
                <a:extLst>
                  <a:ext uri="{FF2B5EF4-FFF2-40B4-BE49-F238E27FC236}">
                    <a16:creationId xmlns:a16="http://schemas.microsoft.com/office/drawing/2014/main" id="{038E5F26-7C49-4E08-8133-535505FB8B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540" y="3544124"/>
                <a:ext cx="3572545" cy="533400"/>
              </a:xfrm>
              <a:prstGeom prst="rect">
                <a:avLst/>
              </a:prstGeom>
              <a:blipFill>
                <a:blip r:embed="rId4"/>
                <a:stretch>
                  <a:fillRect l="-2560" t="-4545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7A04F8DD-4111-4E28-AECA-66C333E858A8}"/>
              </a:ext>
            </a:extLst>
          </p:cNvPr>
          <p:cNvGrpSpPr/>
          <p:nvPr/>
        </p:nvGrpSpPr>
        <p:grpSpPr>
          <a:xfrm>
            <a:off x="4490350" y="3429000"/>
            <a:ext cx="4019112" cy="763649"/>
            <a:chOff x="4490349" y="3226156"/>
            <a:chExt cx="4019112" cy="763649"/>
          </a:xfrm>
        </p:grpSpPr>
        <p:sp>
          <p:nvSpPr>
            <p:cNvPr id="173" name="矩形 172">
              <a:extLst>
                <a:ext uri="{FF2B5EF4-FFF2-40B4-BE49-F238E27FC236}">
                  <a16:creationId xmlns:a16="http://schemas.microsoft.com/office/drawing/2014/main" id="{B466FC88-7E39-4406-9336-5D616E33B7C4}"/>
                </a:ext>
              </a:extLst>
            </p:cNvPr>
            <p:cNvSpPr/>
            <p:nvPr/>
          </p:nvSpPr>
          <p:spPr>
            <a:xfrm>
              <a:off x="4490349" y="3587668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4" name="矩形 173">
              <a:extLst>
                <a:ext uri="{FF2B5EF4-FFF2-40B4-BE49-F238E27FC236}">
                  <a16:creationId xmlns:a16="http://schemas.microsoft.com/office/drawing/2014/main" id="{892F50BE-D0A7-4F85-8614-CD1185910DD7}"/>
                </a:ext>
              </a:extLst>
            </p:cNvPr>
            <p:cNvSpPr/>
            <p:nvPr/>
          </p:nvSpPr>
          <p:spPr>
            <a:xfrm>
              <a:off x="4936917" y="3587668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5" name="矩形 174">
                  <a:extLst>
                    <a:ext uri="{FF2B5EF4-FFF2-40B4-BE49-F238E27FC236}">
                      <a16:creationId xmlns:a16="http://schemas.microsoft.com/office/drawing/2014/main" id="{1E8139F2-6AD5-45C7-AABA-17C96823ECD9}"/>
                    </a:ext>
                  </a:extLst>
                </p:cNvPr>
                <p:cNvSpPr/>
                <p:nvPr/>
              </p:nvSpPr>
              <p:spPr>
                <a:xfrm>
                  <a:off x="5383485" y="3587668"/>
                  <a:ext cx="446568" cy="361507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5" name="矩形 174">
                  <a:extLst>
                    <a:ext uri="{FF2B5EF4-FFF2-40B4-BE49-F238E27FC236}">
                      <a16:creationId xmlns:a16="http://schemas.microsoft.com/office/drawing/2014/main" id="{1E8139F2-6AD5-45C7-AABA-17C96823ECD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3485" y="3587668"/>
                  <a:ext cx="446568" cy="361507"/>
                </a:xfrm>
                <a:prstGeom prst="rect">
                  <a:avLst/>
                </a:prstGeom>
                <a:blipFill>
                  <a:blip r:embed="rId5"/>
                  <a:stretch>
                    <a:fillRect b="-655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6" name="矩形 175">
              <a:extLst>
                <a:ext uri="{FF2B5EF4-FFF2-40B4-BE49-F238E27FC236}">
                  <a16:creationId xmlns:a16="http://schemas.microsoft.com/office/drawing/2014/main" id="{997B5E8F-D9BB-4B49-860E-7516E5C42725}"/>
                </a:ext>
              </a:extLst>
            </p:cNvPr>
            <p:cNvSpPr/>
            <p:nvPr/>
          </p:nvSpPr>
          <p:spPr>
            <a:xfrm>
              <a:off x="5830053" y="3587668"/>
              <a:ext cx="446568" cy="36150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7" name="矩形 176">
              <a:extLst>
                <a:ext uri="{FF2B5EF4-FFF2-40B4-BE49-F238E27FC236}">
                  <a16:creationId xmlns:a16="http://schemas.microsoft.com/office/drawing/2014/main" id="{B0F59B88-F385-47EB-9D77-8CF2424A3359}"/>
                </a:ext>
              </a:extLst>
            </p:cNvPr>
            <p:cNvSpPr/>
            <p:nvPr/>
          </p:nvSpPr>
          <p:spPr>
            <a:xfrm>
              <a:off x="6276621" y="3587668"/>
              <a:ext cx="446568" cy="36150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8" name="矩形 177">
              <a:extLst>
                <a:ext uri="{FF2B5EF4-FFF2-40B4-BE49-F238E27FC236}">
                  <a16:creationId xmlns:a16="http://schemas.microsoft.com/office/drawing/2014/main" id="{80101CDA-D21A-4943-BE7B-FCA41A68090A}"/>
                </a:ext>
              </a:extLst>
            </p:cNvPr>
            <p:cNvSpPr/>
            <p:nvPr/>
          </p:nvSpPr>
          <p:spPr>
            <a:xfrm>
              <a:off x="6723189" y="3587668"/>
              <a:ext cx="446568" cy="36150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9" name="矩形 178">
              <a:extLst>
                <a:ext uri="{FF2B5EF4-FFF2-40B4-BE49-F238E27FC236}">
                  <a16:creationId xmlns:a16="http://schemas.microsoft.com/office/drawing/2014/main" id="{44B1704C-C7AA-4D86-BF3E-7834EA4E1DCE}"/>
                </a:ext>
              </a:extLst>
            </p:cNvPr>
            <p:cNvSpPr/>
            <p:nvPr/>
          </p:nvSpPr>
          <p:spPr>
            <a:xfrm>
              <a:off x="7169757" y="3587667"/>
              <a:ext cx="446568" cy="36150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80" name="矩形 179">
              <a:extLst>
                <a:ext uri="{FF2B5EF4-FFF2-40B4-BE49-F238E27FC236}">
                  <a16:creationId xmlns:a16="http://schemas.microsoft.com/office/drawing/2014/main" id="{8E011FAA-A8C5-4086-990D-1209157D9045}"/>
                </a:ext>
              </a:extLst>
            </p:cNvPr>
            <p:cNvSpPr/>
            <p:nvPr/>
          </p:nvSpPr>
          <p:spPr>
            <a:xfrm>
              <a:off x="7616325" y="3587666"/>
              <a:ext cx="446568" cy="36150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矩形 180">
                  <a:extLst>
                    <a:ext uri="{FF2B5EF4-FFF2-40B4-BE49-F238E27FC236}">
                      <a16:creationId xmlns:a16="http://schemas.microsoft.com/office/drawing/2014/main" id="{9A82A498-28A5-40AC-ACBA-10C7E3F5148A}"/>
                    </a:ext>
                  </a:extLst>
                </p:cNvPr>
                <p:cNvSpPr/>
                <p:nvPr/>
              </p:nvSpPr>
              <p:spPr>
                <a:xfrm>
                  <a:off x="8062893" y="3587666"/>
                  <a:ext cx="446568" cy="3615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1" name="矩形 180">
                  <a:extLst>
                    <a:ext uri="{FF2B5EF4-FFF2-40B4-BE49-F238E27FC236}">
                      <a16:creationId xmlns:a16="http://schemas.microsoft.com/office/drawing/2014/main" id="{9A82A498-28A5-40AC-ACBA-10C7E3F5148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62893" y="3587666"/>
                  <a:ext cx="446568" cy="36150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矩形 181">
                  <a:extLst>
                    <a:ext uri="{FF2B5EF4-FFF2-40B4-BE49-F238E27FC236}">
                      <a16:creationId xmlns:a16="http://schemas.microsoft.com/office/drawing/2014/main" id="{CBE2D239-EF14-4D60-AD28-95A809F087FB}"/>
                    </a:ext>
                  </a:extLst>
                </p:cNvPr>
                <p:cNvSpPr/>
                <p:nvPr/>
              </p:nvSpPr>
              <p:spPr>
                <a:xfrm>
                  <a:off x="4936917" y="3226156"/>
                  <a:ext cx="446568" cy="36150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矩形 181">
                  <a:extLst>
                    <a:ext uri="{FF2B5EF4-FFF2-40B4-BE49-F238E27FC236}">
                      <a16:creationId xmlns:a16="http://schemas.microsoft.com/office/drawing/2014/main" id="{CBE2D239-EF14-4D60-AD28-95A809F087F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6917" y="3226156"/>
                  <a:ext cx="446568" cy="36150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矩形 182">
                  <a:extLst>
                    <a:ext uri="{FF2B5EF4-FFF2-40B4-BE49-F238E27FC236}">
                      <a16:creationId xmlns:a16="http://schemas.microsoft.com/office/drawing/2014/main" id="{BC01A364-9ADB-4F4A-B275-F72F6E32F9BD}"/>
                    </a:ext>
                  </a:extLst>
                </p:cNvPr>
                <p:cNvSpPr/>
                <p:nvPr/>
              </p:nvSpPr>
              <p:spPr>
                <a:xfrm>
                  <a:off x="4490349" y="3226157"/>
                  <a:ext cx="446568" cy="36150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3" name="矩形 182">
                  <a:extLst>
                    <a:ext uri="{FF2B5EF4-FFF2-40B4-BE49-F238E27FC236}">
                      <a16:creationId xmlns:a16="http://schemas.microsoft.com/office/drawing/2014/main" id="{BC01A364-9ADB-4F4A-B275-F72F6E32F9B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0349" y="3226157"/>
                  <a:ext cx="446568" cy="361507"/>
                </a:xfrm>
                <a:prstGeom prst="rect">
                  <a:avLst/>
                </a:prstGeom>
                <a:blipFill>
                  <a:blip r:embed="rId8"/>
                  <a:stretch>
                    <a:fillRect b="-847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" name="矩形 183">
                  <a:extLst>
                    <a:ext uri="{FF2B5EF4-FFF2-40B4-BE49-F238E27FC236}">
                      <a16:creationId xmlns:a16="http://schemas.microsoft.com/office/drawing/2014/main" id="{AD948231-F74C-4F5D-95BF-AF94C47D7F13}"/>
                    </a:ext>
                  </a:extLst>
                </p:cNvPr>
                <p:cNvSpPr/>
                <p:nvPr/>
              </p:nvSpPr>
              <p:spPr>
                <a:xfrm>
                  <a:off x="8062893" y="3226156"/>
                  <a:ext cx="446568" cy="36150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4" name="矩形 183">
                  <a:extLst>
                    <a:ext uri="{FF2B5EF4-FFF2-40B4-BE49-F238E27FC236}">
                      <a16:creationId xmlns:a16="http://schemas.microsoft.com/office/drawing/2014/main" id="{AD948231-F74C-4F5D-95BF-AF94C47D7F1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62893" y="3226156"/>
                  <a:ext cx="446568" cy="361507"/>
                </a:xfrm>
                <a:prstGeom prst="rect">
                  <a:avLst/>
                </a:prstGeom>
                <a:blipFill>
                  <a:blip r:embed="rId9"/>
                  <a:stretch>
                    <a:fillRect l="-12329" b="-1525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5" name="矩形 184">
              <a:extLst>
                <a:ext uri="{FF2B5EF4-FFF2-40B4-BE49-F238E27FC236}">
                  <a16:creationId xmlns:a16="http://schemas.microsoft.com/office/drawing/2014/main" id="{D1334384-115E-49E8-84CA-3CACA68B32D4}"/>
                </a:ext>
              </a:extLst>
            </p:cNvPr>
            <p:cNvSpPr/>
            <p:nvPr/>
          </p:nvSpPr>
          <p:spPr>
            <a:xfrm>
              <a:off x="5360788" y="3557430"/>
              <a:ext cx="45719" cy="43237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矩形 185">
              <a:extLst>
                <a:ext uri="{FF2B5EF4-FFF2-40B4-BE49-F238E27FC236}">
                  <a16:creationId xmlns:a16="http://schemas.microsoft.com/office/drawing/2014/main" id="{59BAF126-ED24-41AF-AACD-0FD2A1E9621D}"/>
                </a:ext>
              </a:extLst>
            </p:cNvPr>
            <p:cNvSpPr/>
            <p:nvPr/>
          </p:nvSpPr>
          <p:spPr>
            <a:xfrm>
              <a:off x="8040033" y="3547291"/>
              <a:ext cx="45719" cy="43237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内容占位符 2">
                <a:extLst>
                  <a:ext uri="{FF2B5EF4-FFF2-40B4-BE49-F238E27FC236}">
                    <a16:creationId xmlns:a16="http://schemas.microsoft.com/office/drawing/2014/main" id="{6E000661-14D4-4206-A32D-4E975424A45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4540" y="4639562"/>
                <a:ext cx="3572545" cy="5334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sz="2400" dirty="0"/>
                  <a:t>Swap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+1]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:</a:t>
                </a:r>
              </a:p>
            </p:txBody>
          </p:sp>
        </mc:Choice>
        <mc:Fallback xmlns="">
          <p:sp>
            <p:nvSpPr>
              <p:cNvPr id="189" name="内容占位符 2">
                <a:extLst>
                  <a:ext uri="{FF2B5EF4-FFF2-40B4-BE49-F238E27FC236}">
                    <a16:creationId xmlns:a16="http://schemas.microsoft.com/office/drawing/2014/main" id="{6E000661-14D4-4206-A32D-4E975424A4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540" y="4639562"/>
                <a:ext cx="3572545" cy="533400"/>
              </a:xfrm>
              <a:prstGeom prst="rect">
                <a:avLst/>
              </a:prstGeom>
              <a:blipFill>
                <a:blip r:embed="rId10"/>
                <a:stretch>
                  <a:fillRect l="-2560" t="-5682" b="-147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0" name="组合 189">
            <a:extLst>
              <a:ext uri="{FF2B5EF4-FFF2-40B4-BE49-F238E27FC236}">
                <a16:creationId xmlns:a16="http://schemas.microsoft.com/office/drawing/2014/main" id="{791F9D56-3045-4979-AE78-27736CE43735}"/>
              </a:ext>
            </a:extLst>
          </p:cNvPr>
          <p:cNvGrpSpPr/>
          <p:nvPr/>
        </p:nvGrpSpPr>
        <p:grpSpPr>
          <a:xfrm>
            <a:off x="4490351" y="4524438"/>
            <a:ext cx="4019112" cy="723019"/>
            <a:chOff x="4490349" y="3226156"/>
            <a:chExt cx="4019112" cy="723019"/>
          </a:xfrm>
        </p:grpSpPr>
        <p:sp>
          <p:nvSpPr>
            <p:cNvPr id="191" name="矩形 190">
              <a:extLst>
                <a:ext uri="{FF2B5EF4-FFF2-40B4-BE49-F238E27FC236}">
                  <a16:creationId xmlns:a16="http://schemas.microsoft.com/office/drawing/2014/main" id="{E80A818F-F24E-44FC-BECA-AF7FD5EE219A}"/>
                </a:ext>
              </a:extLst>
            </p:cNvPr>
            <p:cNvSpPr/>
            <p:nvPr/>
          </p:nvSpPr>
          <p:spPr>
            <a:xfrm>
              <a:off x="4490349" y="3587668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2" name="矩形 191">
              <a:extLst>
                <a:ext uri="{FF2B5EF4-FFF2-40B4-BE49-F238E27FC236}">
                  <a16:creationId xmlns:a16="http://schemas.microsoft.com/office/drawing/2014/main" id="{B113C1FE-8836-499A-887E-476FB8082E2F}"/>
                </a:ext>
              </a:extLst>
            </p:cNvPr>
            <p:cNvSpPr/>
            <p:nvPr/>
          </p:nvSpPr>
          <p:spPr>
            <a:xfrm>
              <a:off x="4936917" y="3587668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3" name="矩形 192">
                  <a:extLst>
                    <a:ext uri="{FF2B5EF4-FFF2-40B4-BE49-F238E27FC236}">
                      <a16:creationId xmlns:a16="http://schemas.microsoft.com/office/drawing/2014/main" id="{00470CD0-8F4D-4ADB-9396-F16AF899DC90}"/>
                    </a:ext>
                  </a:extLst>
                </p:cNvPr>
                <p:cNvSpPr/>
                <p:nvPr/>
              </p:nvSpPr>
              <p:spPr>
                <a:xfrm>
                  <a:off x="5383485" y="3587668"/>
                  <a:ext cx="446568" cy="3615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3" name="矩形 192">
                  <a:extLst>
                    <a:ext uri="{FF2B5EF4-FFF2-40B4-BE49-F238E27FC236}">
                      <a16:creationId xmlns:a16="http://schemas.microsoft.com/office/drawing/2014/main" id="{00470CD0-8F4D-4ADB-9396-F16AF899DC9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3485" y="3587668"/>
                  <a:ext cx="446568" cy="36150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4" name="矩形 193">
              <a:extLst>
                <a:ext uri="{FF2B5EF4-FFF2-40B4-BE49-F238E27FC236}">
                  <a16:creationId xmlns:a16="http://schemas.microsoft.com/office/drawing/2014/main" id="{E082DDF6-A6FD-439B-A868-B492A0415226}"/>
                </a:ext>
              </a:extLst>
            </p:cNvPr>
            <p:cNvSpPr/>
            <p:nvPr/>
          </p:nvSpPr>
          <p:spPr>
            <a:xfrm>
              <a:off x="5830053" y="3587668"/>
              <a:ext cx="446568" cy="36150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5" name="矩形 194">
              <a:extLst>
                <a:ext uri="{FF2B5EF4-FFF2-40B4-BE49-F238E27FC236}">
                  <a16:creationId xmlns:a16="http://schemas.microsoft.com/office/drawing/2014/main" id="{797B1FCB-E02C-4CD0-9E74-DEB0044B698A}"/>
                </a:ext>
              </a:extLst>
            </p:cNvPr>
            <p:cNvSpPr/>
            <p:nvPr/>
          </p:nvSpPr>
          <p:spPr>
            <a:xfrm>
              <a:off x="6276621" y="3587668"/>
              <a:ext cx="446568" cy="36150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6" name="矩形 195">
              <a:extLst>
                <a:ext uri="{FF2B5EF4-FFF2-40B4-BE49-F238E27FC236}">
                  <a16:creationId xmlns:a16="http://schemas.microsoft.com/office/drawing/2014/main" id="{17DC1B64-C751-4E4A-B6D2-E16D00E90F0B}"/>
                </a:ext>
              </a:extLst>
            </p:cNvPr>
            <p:cNvSpPr/>
            <p:nvPr/>
          </p:nvSpPr>
          <p:spPr>
            <a:xfrm>
              <a:off x="6723189" y="3587668"/>
              <a:ext cx="446568" cy="36150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7" name="矩形 196">
              <a:extLst>
                <a:ext uri="{FF2B5EF4-FFF2-40B4-BE49-F238E27FC236}">
                  <a16:creationId xmlns:a16="http://schemas.microsoft.com/office/drawing/2014/main" id="{B520CDA1-7225-451B-98C3-A6DFC2C93E80}"/>
                </a:ext>
              </a:extLst>
            </p:cNvPr>
            <p:cNvSpPr/>
            <p:nvPr/>
          </p:nvSpPr>
          <p:spPr>
            <a:xfrm>
              <a:off x="7169757" y="3587667"/>
              <a:ext cx="446568" cy="36150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8" name="矩形 197">
              <a:extLst>
                <a:ext uri="{FF2B5EF4-FFF2-40B4-BE49-F238E27FC236}">
                  <a16:creationId xmlns:a16="http://schemas.microsoft.com/office/drawing/2014/main" id="{2136759A-C8A4-430F-A7AA-4D6D8FAB9881}"/>
                </a:ext>
              </a:extLst>
            </p:cNvPr>
            <p:cNvSpPr/>
            <p:nvPr/>
          </p:nvSpPr>
          <p:spPr>
            <a:xfrm>
              <a:off x="7616325" y="3587666"/>
              <a:ext cx="446568" cy="36150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矩形 198">
                  <a:extLst>
                    <a:ext uri="{FF2B5EF4-FFF2-40B4-BE49-F238E27FC236}">
                      <a16:creationId xmlns:a16="http://schemas.microsoft.com/office/drawing/2014/main" id="{40BE8F2A-4B41-419B-AB16-3552CDF68271}"/>
                    </a:ext>
                  </a:extLst>
                </p:cNvPr>
                <p:cNvSpPr/>
                <p:nvPr/>
              </p:nvSpPr>
              <p:spPr>
                <a:xfrm>
                  <a:off x="8062893" y="3587666"/>
                  <a:ext cx="446568" cy="361507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9" name="矩形 198">
                  <a:extLst>
                    <a:ext uri="{FF2B5EF4-FFF2-40B4-BE49-F238E27FC236}">
                      <a16:creationId xmlns:a16="http://schemas.microsoft.com/office/drawing/2014/main" id="{40BE8F2A-4B41-419B-AB16-3552CDF682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62893" y="3587666"/>
                  <a:ext cx="446568" cy="361507"/>
                </a:xfrm>
                <a:prstGeom prst="rect">
                  <a:avLst/>
                </a:prstGeom>
                <a:blipFill>
                  <a:blip r:embed="rId12"/>
                  <a:stretch>
                    <a:fillRect b="-655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矩形 199">
                  <a:extLst>
                    <a:ext uri="{FF2B5EF4-FFF2-40B4-BE49-F238E27FC236}">
                      <a16:creationId xmlns:a16="http://schemas.microsoft.com/office/drawing/2014/main" id="{6BBA2689-495F-4CEA-AAE9-BFF046569510}"/>
                    </a:ext>
                  </a:extLst>
                </p:cNvPr>
                <p:cNvSpPr/>
                <p:nvPr/>
              </p:nvSpPr>
              <p:spPr>
                <a:xfrm>
                  <a:off x="4936917" y="3226156"/>
                  <a:ext cx="446568" cy="36150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0" name="矩形 199">
                  <a:extLst>
                    <a:ext uri="{FF2B5EF4-FFF2-40B4-BE49-F238E27FC236}">
                      <a16:creationId xmlns:a16="http://schemas.microsoft.com/office/drawing/2014/main" id="{6BBA2689-495F-4CEA-AAE9-BFF04656951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6917" y="3226156"/>
                  <a:ext cx="446568" cy="36150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1" name="矩形 200">
                  <a:extLst>
                    <a:ext uri="{FF2B5EF4-FFF2-40B4-BE49-F238E27FC236}">
                      <a16:creationId xmlns:a16="http://schemas.microsoft.com/office/drawing/2014/main" id="{D723DCA8-454D-498F-9ABB-4FC9ADB998F2}"/>
                    </a:ext>
                  </a:extLst>
                </p:cNvPr>
                <p:cNvSpPr/>
                <p:nvPr/>
              </p:nvSpPr>
              <p:spPr>
                <a:xfrm>
                  <a:off x="4490349" y="3226157"/>
                  <a:ext cx="446568" cy="36150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1" name="矩形 200">
                  <a:extLst>
                    <a:ext uri="{FF2B5EF4-FFF2-40B4-BE49-F238E27FC236}">
                      <a16:creationId xmlns:a16="http://schemas.microsoft.com/office/drawing/2014/main" id="{D723DCA8-454D-498F-9ABB-4FC9ADB998F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0349" y="3226157"/>
                  <a:ext cx="446568" cy="361507"/>
                </a:xfrm>
                <a:prstGeom prst="rect">
                  <a:avLst/>
                </a:prstGeom>
                <a:blipFill>
                  <a:blip r:embed="rId14"/>
                  <a:stretch>
                    <a:fillRect b="-66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2" name="矩形 201">
                  <a:extLst>
                    <a:ext uri="{FF2B5EF4-FFF2-40B4-BE49-F238E27FC236}">
                      <a16:creationId xmlns:a16="http://schemas.microsoft.com/office/drawing/2014/main" id="{9387B632-C6D2-4137-B7BD-A6931FFF60D7}"/>
                    </a:ext>
                  </a:extLst>
                </p:cNvPr>
                <p:cNvSpPr/>
                <p:nvPr/>
              </p:nvSpPr>
              <p:spPr>
                <a:xfrm>
                  <a:off x="8062893" y="3226156"/>
                  <a:ext cx="446568" cy="36150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2" name="矩形 201">
                  <a:extLst>
                    <a:ext uri="{FF2B5EF4-FFF2-40B4-BE49-F238E27FC236}">
                      <a16:creationId xmlns:a16="http://schemas.microsoft.com/office/drawing/2014/main" id="{9387B632-C6D2-4137-B7BD-A6931FFF60D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62893" y="3226156"/>
                  <a:ext cx="446568" cy="361507"/>
                </a:xfrm>
                <a:prstGeom prst="rect">
                  <a:avLst/>
                </a:prstGeom>
                <a:blipFill>
                  <a:blip r:embed="rId15"/>
                  <a:stretch>
                    <a:fillRect l="-12329" b="-1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5" name="内容占位符 2">
            <a:extLst>
              <a:ext uri="{FF2B5EF4-FFF2-40B4-BE49-F238E27FC236}">
                <a16:creationId xmlns:a16="http://schemas.microsoft.com/office/drawing/2014/main" id="{AE9FF6AD-7105-442B-A0DF-A2101D18FB9C}"/>
              </a:ext>
            </a:extLst>
          </p:cNvPr>
          <p:cNvSpPr txBox="1">
            <a:spLocks/>
          </p:cNvSpPr>
          <p:nvPr/>
        </p:nvSpPr>
        <p:spPr>
          <a:xfrm>
            <a:off x="634539" y="5579246"/>
            <a:ext cx="7874922" cy="8524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/>
              <a:t>During execution, we only swap items, no addition/deletion.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/>
              <a:t>So </a:t>
            </a:r>
            <a:r>
              <a:rPr lang="en-US" sz="2400" b="1" dirty="0" err="1"/>
              <a:t>InplacePartition</a:t>
            </a:r>
            <a:r>
              <a:rPr lang="en-US" sz="2400" dirty="0"/>
              <a:t> correctly partitions the input array.</a:t>
            </a:r>
          </a:p>
        </p:txBody>
      </p:sp>
    </p:spTree>
    <p:extLst>
      <p:ext uri="{BB962C8B-B14F-4D97-AF65-F5344CB8AC3E}">
        <p14:creationId xmlns:p14="http://schemas.microsoft.com/office/powerpoint/2010/main" val="2429947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/>
      <p:bldP spid="189" grpId="0"/>
      <p:bldP spid="20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43CD61-B61C-4597-86AF-E60B2AC68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 err="1"/>
              <a:t>QuickSort</a:t>
            </a:r>
            <a:r>
              <a:rPr lang="en-US" dirty="0"/>
              <a:t> Algorithm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F8F4F00-738C-44A6-B7DC-C77AB14CC74C}"/>
              </a:ext>
            </a:extLst>
          </p:cNvPr>
          <p:cNvSpPr/>
          <p:nvPr/>
        </p:nvSpPr>
        <p:spPr>
          <a:xfrm>
            <a:off x="4871543" y="1690689"/>
            <a:ext cx="3643807" cy="16374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QuickSortAbs</a:t>
            </a:r>
            <a:r>
              <a:rPr lang="en-GB" b="1" u="sng" dirty="0">
                <a:solidFill>
                  <a:schemeClr val="tx1"/>
                </a:solidFill>
              </a:rPr>
              <a:t>(A):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GetPivot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&lt;B,C&gt; = Partition(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A,x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QuickSortAbs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(B)</a:t>
            </a:r>
          </a:p>
          <a:p>
            <a:pPr>
              <a:lnSpc>
                <a:spcPct val="90000"/>
              </a:lnSpc>
            </a:pP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QuickSortAbs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Concatenate(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B,x,C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D4AF9EA-D409-4016-BE28-E40071C698FD}"/>
              </a:ext>
            </a:extLst>
          </p:cNvPr>
          <p:cNvSpPr/>
          <p:nvPr/>
        </p:nvSpPr>
        <p:spPr>
          <a:xfrm>
            <a:off x="628650" y="1690689"/>
            <a:ext cx="2892316" cy="21775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InplacePartition</a:t>
            </a:r>
            <a:r>
              <a:rPr lang="en-GB" b="1" u="sng" dirty="0">
                <a:solidFill>
                  <a:schemeClr val="tx1"/>
                </a:solidFill>
              </a:rPr>
              <a:t>(A, p, r):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A[r],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=p-1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(j=p to r-1)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(A[j]&lt;=x)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=i+1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Swap(A[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],A[j])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Swap(A[i+1],A[r])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i+1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CBAA2C5-22A5-4397-82AD-A38CE54EAC70}"/>
              </a:ext>
            </a:extLst>
          </p:cNvPr>
          <p:cNvSpPr/>
          <p:nvPr/>
        </p:nvSpPr>
        <p:spPr>
          <a:xfrm>
            <a:off x="4356536" y="1690689"/>
            <a:ext cx="4158814" cy="14781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QuickSort</a:t>
            </a:r>
            <a:r>
              <a:rPr lang="en-GB" b="1" u="sng" dirty="0">
                <a:solidFill>
                  <a:schemeClr val="tx1"/>
                </a:solidFill>
              </a:rPr>
              <a:t>(A, p, r):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(p&lt;r)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q =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InplacePartition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A,p,r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QuickSort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(A,p,q-1)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QuickSort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(A,q+1,r)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9DA3968-51E5-41DD-B583-011EFACB2DA3}"/>
                  </a:ext>
                </a:extLst>
              </p:cNvPr>
              <p:cNvSpPr txBox="1"/>
              <p:nvPr/>
            </p:nvSpPr>
            <p:spPr>
              <a:xfrm>
                <a:off x="628650" y="4078933"/>
                <a:ext cx="718029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Performance of </a:t>
                </a:r>
                <a:r>
                  <a:rPr lang="en-US" sz="24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InplacePartition</a:t>
                </a:r>
                <a:r>
                  <a:rPr lang="en-US" sz="2400" dirty="0"/>
                  <a:t>: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(|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|)</m:t>
                    </m:r>
                  </m:oMath>
                </a14:m>
                <a:r>
                  <a:rPr lang="en-US" sz="2400" dirty="0"/>
                  <a:t> time (i.e., linear time);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sz="2400" dirty="0"/>
                  <a:t> space; unstable.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9DA3968-51E5-41DD-B583-011EFACB2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4078933"/>
                <a:ext cx="7180299" cy="830997"/>
              </a:xfrm>
              <a:prstGeom prst="rect">
                <a:avLst/>
              </a:prstGeom>
              <a:blipFill>
                <a:blip r:embed="rId2"/>
                <a:stretch>
                  <a:fillRect l="-1273" t="-7353" r="-340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2537EEBB-4A99-4275-AB44-E4CA1E205C16}"/>
              </a:ext>
            </a:extLst>
          </p:cNvPr>
          <p:cNvSpPr txBox="1"/>
          <p:nvPr/>
        </p:nvSpPr>
        <p:spPr>
          <a:xfrm>
            <a:off x="628650" y="5120643"/>
            <a:ext cx="39903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Performance of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QuickSort</a:t>
            </a:r>
            <a:r>
              <a:rPr lang="en-US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773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8" grpId="0"/>
      <p:bldP spid="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976A8840-E986-4104-A204-BACE5B3DE1D6}"/>
              </a:ext>
            </a:extLst>
          </p:cNvPr>
          <p:cNvGrpSpPr/>
          <p:nvPr/>
        </p:nvGrpSpPr>
        <p:grpSpPr>
          <a:xfrm>
            <a:off x="224940" y="212094"/>
            <a:ext cx="7754995" cy="2726474"/>
            <a:chOff x="224940" y="212094"/>
            <a:chExt cx="7754995" cy="27264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763C68DB-D47C-4B8C-86DE-BD473C08279A}"/>
                    </a:ext>
                  </a:extLst>
                </p:cNvPr>
                <p:cNvSpPr txBox="1"/>
                <p:nvPr/>
              </p:nvSpPr>
              <p:spPr>
                <a:xfrm>
                  <a:off x="3128535" y="212094"/>
                  <a:ext cx="224420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763C68DB-D47C-4B8C-86DE-BD473C0827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8535" y="212094"/>
                  <a:ext cx="224420" cy="307777"/>
                </a:xfrm>
                <a:prstGeom prst="rect">
                  <a:avLst/>
                </a:prstGeom>
                <a:blipFill>
                  <a:blip r:embed="rId2"/>
                  <a:stretch>
                    <a:fillRect l="-12821" r="-1282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4FA86E30-9D73-4510-B6EF-C781869BAEC8}"/>
                    </a:ext>
                  </a:extLst>
                </p:cNvPr>
                <p:cNvSpPr txBox="1"/>
                <p:nvPr/>
              </p:nvSpPr>
              <p:spPr>
                <a:xfrm>
                  <a:off x="1130245" y="932439"/>
                  <a:ext cx="497957" cy="32117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20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000" b="1" dirty="0">
                    <a:solidFill>
                      <a:schemeClr val="accent1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4FA86E30-9D73-4510-B6EF-C781869BAE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0245" y="932439"/>
                  <a:ext cx="497957" cy="321178"/>
                </a:xfrm>
                <a:prstGeom prst="rect">
                  <a:avLst/>
                </a:prstGeom>
                <a:blipFill>
                  <a:blip r:embed="rId3"/>
                  <a:stretch>
                    <a:fillRect l="-5952" r="-4762" b="-1090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292B9FF5-BEF9-4C1A-A00B-878FE5E9AFC4}"/>
                    </a:ext>
                  </a:extLst>
                </p:cNvPr>
                <p:cNvSpPr txBox="1"/>
                <p:nvPr/>
              </p:nvSpPr>
              <p:spPr>
                <a:xfrm>
                  <a:off x="4173091" y="932439"/>
                  <a:ext cx="2361544" cy="32117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20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292B9FF5-BEF9-4C1A-A00B-878FE5E9AF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3091" y="932439"/>
                  <a:ext cx="2361544" cy="321178"/>
                </a:xfrm>
                <a:prstGeom prst="rect">
                  <a:avLst/>
                </a:prstGeom>
                <a:blipFill>
                  <a:blip r:embed="rId4"/>
                  <a:stretch>
                    <a:fillRect r="-771" b="-1090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AD9EEC9C-2289-4527-89BB-3ACB047BAD91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 flipH="1">
              <a:off x="1379224" y="519871"/>
              <a:ext cx="1861521" cy="41256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4780EA6A-1901-41FD-B38E-6286CB37FD01}"/>
                </a:ext>
              </a:extLst>
            </p:cNvPr>
            <p:cNvCxnSpPr>
              <a:cxnSpLocks/>
              <a:stCxn id="4" idx="2"/>
              <a:endCxn id="6" idx="0"/>
            </p:cNvCxnSpPr>
            <p:nvPr/>
          </p:nvCxnSpPr>
          <p:spPr>
            <a:xfrm>
              <a:off x="3240745" y="519871"/>
              <a:ext cx="2113118" cy="41256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A3D1F6D5-D11F-4EFB-B93B-A05195C1A095}"/>
                    </a:ext>
                  </a:extLst>
                </p:cNvPr>
                <p:cNvSpPr txBox="1"/>
                <p:nvPr/>
              </p:nvSpPr>
              <p:spPr>
                <a:xfrm>
                  <a:off x="1317206" y="1660781"/>
                  <a:ext cx="2641877" cy="34740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1,1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2,1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sz="20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A3D1F6D5-D11F-4EFB-B93B-A05195C1A0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7206" y="1660781"/>
                  <a:ext cx="2641877" cy="347403"/>
                </a:xfrm>
                <a:prstGeom prst="rect">
                  <a:avLst/>
                </a:prstGeom>
                <a:blipFill>
                  <a:blip r:embed="rId5"/>
                  <a:stretch>
                    <a:fillRect r="-690" b="-8475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9B128780-5622-4E2A-A63C-811A3DF5D69D}"/>
                    </a:ext>
                  </a:extLst>
                </p:cNvPr>
                <p:cNvSpPr txBox="1"/>
                <p:nvPr/>
              </p:nvSpPr>
              <p:spPr>
                <a:xfrm>
                  <a:off x="4216774" y="1665685"/>
                  <a:ext cx="497957" cy="32117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sz="20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000" b="1" dirty="0">
                    <a:solidFill>
                      <a:schemeClr val="accent1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9B128780-5622-4E2A-A63C-811A3DF5D6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6774" y="1665685"/>
                  <a:ext cx="497957" cy="321178"/>
                </a:xfrm>
                <a:prstGeom prst="rect">
                  <a:avLst/>
                </a:prstGeom>
                <a:blipFill>
                  <a:blip r:embed="rId6"/>
                  <a:stretch>
                    <a:fillRect l="-6024" r="-6024" b="-1090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0D5004E6-0142-4C2D-BC01-1AB12C166744}"/>
                    </a:ext>
                  </a:extLst>
                </p:cNvPr>
                <p:cNvSpPr txBox="1"/>
                <p:nvPr/>
              </p:nvSpPr>
              <p:spPr>
                <a:xfrm>
                  <a:off x="224940" y="1665684"/>
                  <a:ext cx="497957" cy="32117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sz="20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000" b="1" dirty="0">
                    <a:solidFill>
                      <a:schemeClr val="accent1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0D5004E6-0142-4C2D-BC01-1AB12C1667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940" y="1665684"/>
                  <a:ext cx="497957" cy="321178"/>
                </a:xfrm>
                <a:prstGeom prst="rect">
                  <a:avLst/>
                </a:prstGeom>
                <a:blipFill>
                  <a:blip r:embed="rId7"/>
                  <a:stretch>
                    <a:fillRect l="-5952" r="-4762" b="-1090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44A93C1B-8F0D-41D2-8125-FD56D975B7CB}"/>
                    </a:ext>
                  </a:extLst>
                </p:cNvPr>
                <p:cNvSpPr txBox="1"/>
                <p:nvPr/>
              </p:nvSpPr>
              <p:spPr>
                <a:xfrm>
                  <a:off x="5338058" y="1665683"/>
                  <a:ext cx="2641877" cy="34740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1,2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2,3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sz="20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44A93C1B-8F0D-41D2-8125-FD56D975B7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8058" y="1665683"/>
                  <a:ext cx="2641877" cy="347403"/>
                </a:xfrm>
                <a:prstGeom prst="rect">
                  <a:avLst/>
                </a:prstGeom>
                <a:blipFill>
                  <a:blip r:embed="rId8"/>
                  <a:stretch>
                    <a:fillRect r="-690" b="-8475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F94AB9F-28EA-4F4D-9EC1-8EA5ADD2669A}"/>
                </a:ext>
              </a:extLst>
            </p:cNvPr>
            <p:cNvCxnSpPr>
              <a:cxnSpLocks/>
              <a:stCxn id="5" idx="2"/>
              <a:endCxn id="11" idx="0"/>
            </p:cNvCxnSpPr>
            <p:nvPr/>
          </p:nvCxnSpPr>
          <p:spPr>
            <a:xfrm flipH="1">
              <a:off x="473919" y="1253617"/>
              <a:ext cx="905305" cy="41206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157D4C0D-12AF-4C22-9D9A-FBB987AA3CF6}"/>
                </a:ext>
              </a:extLst>
            </p:cNvPr>
            <p:cNvCxnSpPr>
              <a:cxnSpLocks/>
              <a:stCxn id="5" idx="2"/>
              <a:endCxn id="9" idx="0"/>
            </p:cNvCxnSpPr>
            <p:nvPr/>
          </p:nvCxnSpPr>
          <p:spPr>
            <a:xfrm>
              <a:off x="1379224" y="1253617"/>
              <a:ext cx="1258921" cy="40716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A468873C-0F82-49DF-8D49-7A973B7BB588}"/>
                </a:ext>
              </a:extLst>
            </p:cNvPr>
            <p:cNvCxnSpPr>
              <a:cxnSpLocks/>
              <a:stCxn id="6" idx="2"/>
              <a:endCxn id="10" idx="0"/>
            </p:cNvCxnSpPr>
            <p:nvPr/>
          </p:nvCxnSpPr>
          <p:spPr>
            <a:xfrm flipH="1">
              <a:off x="4465753" y="1253617"/>
              <a:ext cx="888110" cy="41206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68C2AA38-5996-4807-8281-94E1E1DD9340}"/>
                </a:ext>
              </a:extLst>
            </p:cNvPr>
            <p:cNvCxnSpPr>
              <a:cxnSpLocks/>
              <a:stCxn id="6" idx="2"/>
              <a:endCxn id="12" idx="0"/>
            </p:cNvCxnSpPr>
            <p:nvPr/>
          </p:nvCxnSpPr>
          <p:spPr>
            <a:xfrm>
              <a:off x="5353863" y="1253617"/>
              <a:ext cx="1305134" cy="4120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D9D63AD4-5DD1-431D-94E3-AC29FC854F0D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 flipH="1">
              <a:off x="224943" y="1986862"/>
              <a:ext cx="248976" cy="500765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D4D29244-1BCF-4AEB-9899-B4F4CA046949}"/>
                </a:ext>
              </a:extLst>
            </p:cNvPr>
            <p:cNvCxnSpPr>
              <a:cxnSpLocks/>
              <a:endCxn id="11" idx="2"/>
            </p:cNvCxnSpPr>
            <p:nvPr/>
          </p:nvCxnSpPr>
          <p:spPr>
            <a:xfrm flipH="1" flipV="1">
              <a:off x="473919" y="1986862"/>
              <a:ext cx="181398" cy="49063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04ADB585-76B7-4E03-9735-CFBB1AF140A4}"/>
                </a:ext>
              </a:extLst>
            </p:cNvPr>
            <p:cNvSpPr txBox="1"/>
            <p:nvPr/>
          </p:nvSpPr>
          <p:spPr>
            <a:xfrm>
              <a:off x="3829324" y="2415348"/>
              <a:ext cx="69442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800" b="1" dirty="0"/>
                <a:t>……</a:t>
              </a:r>
              <a:endParaRPr lang="en-US" sz="2800" b="1" dirty="0"/>
            </a:p>
          </p:txBody>
        </p: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BBB8779F-EE4B-4A90-9B5F-F9363463B4B8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 flipH="1">
              <a:off x="2394389" y="2008184"/>
              <a:ext cx="243756" cy="487005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C14CF815-3E6C-48BB-B244-E81D76B2CA67}"/>
                </a:ext>
              </a:extLst>
            </p:cNvPr>
            <p:cNvCxnSpPr>
              <a:cxnSpLocks/>
              <a:stCxn id="10" idx="2"/>
            </p:cNvCxnSpPr>
            <p:nvPr/>
          </p:nvCxnSpPr>
          <p:spPr>
            <a:xfrm flipH="1">
              <a:off x="4216775" y="1986863"/>
              <a:ext cx="248978" cy="49569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28142E13-3F1A-405E-916F-7870BD405CF3}"/>
                </a:ext>
              </a:extLst>
            </p:cNvPr>
            <p:cNvCxnSpPr>
              <a:cxnSpLocks/>
              <a:stCxn id="12" idx="2"/>
            </p:cNvCxnSpPr>
            <p:nvPr/>
          </p:nvCxnSpPr>
          <p:spPr>
            <a:xfrm flipH="1">
              <a:off x="6410021" y="2013086"/>
              <a:ext cx="248976" cy="548325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39C0CF6A-6DB8-4854-80D8-D248C9070E75}"/>
                </a:ext>
              </a:extLst>
            </p:cNvPr>
            <p:cNvCxnSpPr>
              <a:cxnSpLocks/>
              <a:endCxn id="9" idx="2"/>
            </p:cNvCxnSpPr>
            <p:nvPr/>
          </p:nvCxnSpPr>
          <p:spPr>
            <a:xfrm flipH="1" flipV="1">
              <a:off x="2638145" y="2008184"/>
              <a:ext cx="168486" cy="48700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D097959D-B213-4CC9-B900-E7B22943F0AA}"/>
                </a:ext>
              </a:extLst>
            </p:cNvPr>
            <p:cNvCxnSpPr>
              <a:cxnSpLocks/>
              <a:endCxn id="10" idx="2"/>
            </p:cNvCxnSpPr>
            <p:nvPr/>
          </p:nvCxnSpPr>
          <p:spPr>
            <a:xfrm flipH="1" flipV="1">
              <a:off x="4465753" y="1986863"/>
              <a:ext cx="181398" cy="48269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F70841B8-0625-4041-81C7-2806DEF07D2B}"/>
                </a:ext>
              </a:extLst>
            </p:cNvPr>
            <p:cNvCxnSpPr>
              <a:cxnSpLocks/>
              <a:endCxn id="12" idx="2"/>
            </p:cNvCxnSpPr>
            <p:nvPr/>
          </p:nvCxnSpPr>
          <p:spPr>
            <a:xfrm flipH="1" flipV="1">
              <a:off x="6658997" y="2013086"/>
              <a:ext cx="181398" cy="523298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560AEFF3-B45F-4047-BC84-ED6252BE3180}"/>
              </a:ext>
            </a:extLst>
          </p:cNvPr>
          <p:cNvGrpSpPr/>
          <p:nvPr/>
        </p:nvGrpSpPr>
        <p:grpSpPr>
          <a:xfrm>
            <a:off x="3829324" y="162965"/>
            <a:ext cx="5225983" cy="1860127"/>
            <a:chOff x="3829324" y="162965"/>
            <a:chExt cx="5225983" cy="1860127"/>
          </a:xfrm>
        </p:grpSpPr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72CFEB05-FBCE-4711-8E06-E87346CC1C1B}"/>
                </a:ext>
              </a:extLst>
            </p:cNvPr>
            <p:cNvCxnSpPr>
              <a:cxnSpLocks/>
            </p:cNvCxnSpPr>
            <p:nvPr/>
          </p:nvCxnSpPr>
          <p:spPr>
            <a:xfrm>
              <a:off x="3829324" y="365982"/>
              <a:ext cx="4428088" cy="0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箭头连接符 94">
              <a:extLst>
                <a:ext uri="{FF2B5EF4-FFF2-40B4-BE49-F238E27FC236}">
                  <a16:creationId xmlns:a16="http://schemas.microsoft.com/office/drawing/2014/main" id="{812BB134-A0BA-4AE6-A21D-81C152C242AA}"/>
                </a:ext>
              </a:extLst>
            </p:cNvPr>
            <p:cNvCxnSpPr>
              <a:cxnSpLocks/>
            </p:cNvCxnSpPr>
            <p:nvPr/>
          </p:nvCxnSpPr>
          <p:spPr>
            <a:xfrm>
              <a:off x="6749696" y="1093028"/>
              <a:ext cx="1513616" cy="0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箭头连接符 96">
              <a:extLst>
                <a:ext uri="{FF2B5EF4-FFF2-40B4-BE49-F238E27FC236}">
                  <a16:creationId xmlns:a16="http://schemas.microsoft.com/office/drawing/2014/main" id="{7FD725EA-6666-4728-A9F2-5E7B2D6748B6}"/>
                </a:ext>
              </a:extLst>
            </p:cNvPr>
            <p:cNvCxnSpPr>
              <a:cxnSpLocks/>
            </p:cNvCxnSpPr>
            <p:nvPr/>
          </p:nvCxnSpPr>
          <p:spPr>
            <a:xfrm>
              <a:off x="8074126" y="1834482"/>
              <a:ext cx="189186" cy="0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矩形 98">
                  <a:extLst>
                    <a:ext uri="{FF2B5EF4-FFF2-40B4-BE49-F238E27FC236}">
                      <a16:creationId xmlns:a16="http://schemas.microsoft.com/office/drawing/2014/main" id="{BEFA1FFF-DFD9-4758-9AB6-7828A1EA712E}"/>
                    </a:ext>
                  </a:extLst>
                </p:cNvPr>
                <p:cNvSpPr/>
                <p:nvPr/>
              </p:nvSpPr>
              <p:spPr>
                <a:xfrm>
                  <a:off x="8168719" y="162965"/>
                  <a:ext cx="886588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≈</m:t>
                        </m:r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en-US" sz="20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99" name="矩形 98">
                  <a:extLst>
                    <a:ext uri="{FF2B5EF4-FFF2-40B4-BE49-F238E27FC236}">
                      <a16:creationId xmlns:a16="http://schemas.microsoft.com/office/drawing/2014/main" id="{BEFA1FFF-DFD9-4758-9AB6-7828A1EA71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8719" y="162965"/>
                  <a:ext cx="886588" cy="400110"/>
                </a:xfrm>
                <a:prstGeom prst="rect">
                  <a:avLst/>
                </a:prstGeom>
                <a:blipFill>
                  <a:blip r:embed="rId9"/>
                  <a:stretch>
                    <a:fillRect b="-15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矩形 103">
                  <a:extLst>
                    <a:ext uri="{FF2B5EF4-FFF2-40B4-BE49-F238E27FC236}">
                      <a16:creationId xmlns:a16="http://schemas.microsoft.com/office/drawing/2014/main" id="{163BD58A-697C-428D-8A50-C1C83B0E2DE2}"/>
                    </a:ext>
                  </a:extLst>
                </p:cNvPr>
                <p:cNvSpPr/>
                <p:nvPr/>
              </p:nvSpPr>
              <p:spPr>
                <a:xfrm>
                  <a:off x="8168719" y="853507"/>
                  <a:ext cx="886588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≈</m:t>
                        </m:r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en-US" sz="20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矩形 103">
                  <a:extLst>
                    <a:ext uri="{FF2B5EF4-FFF2-40B4-BE49-F238E27FC236}">
                      <a16:creationId xmlns:a16="http://schemas.microsoft.com/office/drawing/2014/main" id="{163BD58A-697C-428D-8A50-C1C83B0E2DE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8719" y="853507"/>
                  <a:ext cx="886588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矩形 104">
                  <a:extLst>
                    <a:ext uri="{FF2B5EF4-FFF2-40B4-BE49-F238E27FC236}">
                      <a16:creationId xmlns:a16="http://schemas.microsoft.com/office/drawing/2014/main" id="{E0488AB2-6E56-4D25-9947-295DB7678685}"/>
                    </a:ext>
                  </a:extLst>
                </p:cNvPr>
                <p:cNvSpPr/>
                <p:nvPr/>
              </p:nvSpPr>
              <p:spPr>
                <a:xfrm>
                  <a:off x="8168719" y="1622982"/>
                  <a:ext cx="886588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≈</m:t>
                        </m:r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en-US" sz="20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5" name="矩形 104">
                  <a:extLst>
                    <a:ext uri="{FF2B5EF4-FFF2-40B4-BE49-F238E27FC236}">
                      <a16:creationId xmlns:a16="http://schemas.microsoft.com/office/drawing/2014/main" id="{E0488AB2-6E56-4D25-9947-295DB767868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8719" y="1622982"/>
                  <a:ext cx="886588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1BEE9CF8-A066-4E07-9B96-868D940E640B}"/>
                  </a:ext>
                </a:extLst>
              </p:cNvPr>
              <p:cNvSpPr txBox="1"/>
              <p:nvPr/>
            </p:nvSpPr>
            <p:spPr>
              <a:xfrm>
                <a:off x="224940" y="2989896"/>
                <a:ext cx="596464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Cost at each level is: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br>
                  <a:rPr lang="en-US" sz="2000" dirty="0"/>
                </a:br>
                <a:r>
                  <a:rPr lang="en-US" sz="2000" dirty="0"/>
                  <a:t>where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/>
                  <a:t> is # of pivots removed in earlier 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Partition</a:t>
                </a:r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1BEE9CF8-A066-4E07-9B96-868D940E6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940" y="2989896"/>
                <a:ext cx="5964646" cy="707886"/>
              </a:xfrm>
              <a:prstGeom prst="rect">
                <a:avLst/>
              </a:prstGeom>
              <a:blipFill>
                <a:blip r:embed="rId12"/>
                <a:stretch>
                  <a:fillRect l="-1125" t="-4274" r="-204" b="-145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6D891066-3658-4DC6-8E16-981A40660DB8}"/>
                  </a:ext>
                </a:extLst>
              </p:cNvPr>
              <p:cNvSpPr txBox="1"/>
              <p:nvPr/>
            </p:nvSpPr>
            <p:spPr>
              <a:xfrm>
                <a:off x="247561" y="3697782"/>
                <a:ext cx="641143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C00000"/>
                    </a:solidFill>
                  </a:rPr>
                  <a:t>If the partition is “balanced”, then there will be few levels.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C00000"/>
                    </a:solidFill>
                  </a:rPr>
                  <a:t>If the partition is “balanced”, then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will increase rapidly.</a:t>
                </a:r>
              </a:p>
            </p:txBody>
          </p:sp>
        </mc:Choice>
        <mc:Fallback xmlns="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6D891066-3658-4DC6-8E16-981A40660D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61" y="3697782"/>
                <a:ext cx="6411435" cy="707886"/>
              </a:xfrm>
              <a:prstGeom prst="rect">
                <a:avLst/>
              </a:prstGeom>
              <a:blipFill>
                <a:blip r:embed="rId13"/>
                <a:stretch>
                  <a:fillRect l="-856" t="-5172" r="-190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EA3EFE46-0061-4462-8998-B7222FCCADAA}"/>
              </a:ext>
            </a:extLst>
          </p:cNvPr>
          <p:cNvGrpSpPr/>
          <p:nvPr/>
        </p:nvGrpSpPr>
        <p:grpSpPr>
          <a:xfrm>
            <a:off x="722897" y="2993618"/>
            <a:ext cx="3290773" cy="3609239"/>
            <a:chOff x="722897" y="2993618"/>
            <a:chExt cx="3290773" cy="3609239"/>
          </a:xfrm>
        </p:grpSpPr>
        <p:pic>
          <p:nvPicPr>
            <p:cNvPr id="110" name="图片 109">
              <a:extLst>
                <a:ext uri="{FF2B5EF4-FFF2-40B4-BE49-F238E27FC236}">
                  <a16:creationId xmlns:a16="http://schemas.microsoft.com/office/drawing/2014/main" id="{C2739375-B19D-4027-B787-3DF16EA555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22897" y="3015533"/>
              <a:ext cx="3290773" cy="3587324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B9326A44-81D9-4E43-8D9F-7F8AE4EADD86}"/>
                </a:ext>
              </a:extLst>
            </p:cNvPr>
            <p:cNvSpPr txBox="1"/>
            <p:nvPr/>
          </p:nvSpPr>
          <p:spPr>
            <a:xfrm>
              <a:off x="2638144" y="2993618"/>
              <a:ext cx="13740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2000" b="1" dirty="0">
                  <a:solidFill>
                    <a:srgbClr val="C00000"/>
                  </a:solidFill>
                </a:rPr>
                <a:t>Worst Case</a:t>
              </a:r>
            </a:p>
          </p:txBody>
        </p:sp>
      </p:grp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FF8F92B7-E8CE-4638-8D68-8C488B9CE2A0}"/>
              </a:ext>
            </a:extLst>
          </p:cNvPr>
          <p:cNvGrpSpPr/>
          <p:nvPr/>
        </p:nvGrpSpPr>
        <p:grpSpPr>
          <a:xfrm>
            <a:off x="4420983" y="3197683"/>
            <a:ext cx="4191030" cy="3223023"/>
            <a:chOff x="4420983" y="3197683"/>
            <a:chExt cx="4191030" cy="3223023"/>
          </a:xfrm>
        </p:grpSpPr>
        <p:pic>
          <p:nvPicPr>
            <p:cNvPr id="111" name="图片 110">
              <a:extLst>
                <a:ext uri="{FF2B5EF4-FFF2-40B4-BE49-F238E27FC236}">
                  <a16:creationId xmlns:a16="http://schemas.microsoft.com/office/drawing/2014/main" id="{7CFBD068-F84D-487C-A447-FABE9F4361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420983" y="3197683"/>
              <a:ext cx="4191030" cy="3223023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1D063B74-DE90-4E55-8337-78A0AD23F167}"/>
                </a:ext>
              </a:extLst>
            </p:cNvPr>
            <p:cNvSpPr txBox="1"/>
            <p:nvPr/>
          </p:nvSpPr>
          <p:spPr>
            <a:xfrm>
              <a:off x="7381694" y="3197683"/>
              <a:ext cx="11964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2000" b="1" dirty="0">
                  <a:solidFill>
                    <a:srgbClr val="C00000"/>
                  </a:solidFill>
                </a:rPr>
                <a:t>Best Case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2785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  <p:bldP spid="10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6D02F8-D667-4007-9A4F-16C1552B5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of </a:t>
            </a:r>
            <a:r>
              <a:rPr lang="en-US" b="1" dirty="0" err="1"/>
              <a:t>QuickSort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948A6C5-1471-4F43-B356-4D6F912301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b="0" dirty="0"/>
                  <a:t>Recurrence for the worse-case runtime of </a:t>
                </a:r>
                <a:r>
                  <a:rPr lang="en-US" sz="2400" b="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QuickSort</a:t>
                </a:r>
                <a:r>
                  <a:rPr lang="en-US" sz="2400" b="0" dirty="0"/>
                  <a:t>:</a:t>
                </a:r>
                <a:br>
                  <a:rPr lang="en-US" sz="2400" b="0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0≤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d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dirty="0"/>
                  <a:t>Guess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, and we now verify:</a:t>
                </a:r>
                <a:br>
                  <a:rPr lang="en-US" sz="2400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0≤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</a:t>
                </a:r>
                <a:br>
                  <a:rPr lang="en-US" sz="2400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0≤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</a:t>
                </a:r>
                <a:br>
                  <a:rPr lang="en-US" sz="2400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</a:t>
                </a:r>
                <a:br>
                  <a:rPr lang="en-US" sz="2400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948A6C5-1471-4F43-B356-4D6F912301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93AA57D2-E85D-4ED8-A827-A9A226BCAE76}"/>
              </a:ext>
            </a:extLst>
          </p:cNvPr>
          <p:cNvSpPr/>
          <p:nvPr/>
        </p:nvSpPr>
        <p:spPr>
          <a:xfrm>
            <a:off x="4572000" y="5019949"/>
            <a:ext cx="4158814" cy="14781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QuickSort</a:t>
            </a:r>
            <a:r>
              <a:rPr lang="en-GB" b="1" u="sng" dirty="0">
                <a:solidFill>
                  <a:schemeClr val="tx1"/>
                </a:solidFill>
              </a:rPr>
              <a:t>(A, p, r):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(p&lt;r)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q =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InplacePartition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A,p,r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QuickSort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(A,p,q-1)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QuickSort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(A,q+1,r)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EE67C62-610B-47B3-B051-591F935A20F6}"/>
                  </a:ext>
                </a:extLst>
              </p:cNvPr>
              <p:cNvSpPr txBox="1"/>
              <p:nvPr/>
            </p:nvSpPr>
            <p:spPr>
              <a:xfrm>
                <a:off x="7512848" y="4052452"/>
                <a:ext cx="163115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</a:rPr>
                  <a:t>when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</a:rPr>
                  <a:t> or </a:t>
                </a:r>
                <a:br>
                  <a:rPr lang="en-US" dirty="0">
                    <a:solidFill>
                      <a:schemeClr val="accent2">
                        <a:lumMod val="75000"/>
                      </a:schemeClr>
                    </a:solidFill>
                  </a:rPr>
                </a:b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EE67C62-610B-47B3-B051-591F935A2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2848" y="4052452"/>
                <a:ext cx="1631152" cy="646331"/>
              </a:xfrm>
              <a:prstGeom prst="rect">
                <a:avLst/>
              </a:prstGeom>
              <a:blipFill>
                <a:blip r:embed="rId3"/>
                <a:stretch>
                  <a:fillRect l="-2985" t="-5660" r="-2239" b="-2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34102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6D02F8-D667-4007-9A4F-16C1552B5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of </a:t>
            </a:r>
            <a:r>
              <a:rPr lang="en-US" b="1" dirty="0" err="1"/>
              <a:t>QuickSort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948A6C5-1471-4F43-B356-4D6F912301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200" dirty="0"/>
                  <a:t>“Balanced” partition gives best case performance.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implies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endParaRPr lang="en-US" sz="2200" dirty="0"/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Partition</a:t>
                </a:r>
                <a:r>
                  <a:rPr lang="en-US" sz="2200" dirty="0"/>
                  <a:t> does not need to be perfectly balanced, we only need each split to be </a:t>
                </a:r>
                <a:r>
                  <a:rPr lang="en-US" sz="2200" b="1" dirty="0">
                    <a:solidFill>
                      <a:srgbClr val="C00000"/>
                    </a:solidFill>
                  </a:rPr>
                  <a:t>constant</a:t>
                </a:r>
                <a:r>
                  <a:rPr lang="en-US" sz="2200" dirty="0"/>
                  <a:t> proportionality.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𝑑𝑛</m:t>
                        </m:r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20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where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sz="2200" dirty="0"/>
                  <a:t>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948A6C5-1471-4F43-B356-4D6F912301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850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93AA57D2-E85D-4ED8-A827-A9A226BCAE76}"/>
              </a:ext>
            </a:extLst>
          </p:cNvPr>
          <p:cNvSpPr/>
          <p:nvPr/>
        </p:nvSpPr>
        <p:spPr>
          <a:xfrm>
            <a:off x="4572000" y="5019949"/>
            <a:ext cx="4158814" cy="14781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QuickSort</a:t>
            </a:r>
            <a:r>
              <a:rPr lang="en-GB" b="1" u="sng" dirty="0">
                <a:solidFill>
                  <a:schemeClr val="tx1"/>
                </a:solidFill>
              </a:rPr>
              <a:t>(A, p, r):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(p&lt;r)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q =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InplacePartition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A,p,r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QuickSort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(A,p,q-1)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QuickSort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(A,q+1,r)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77314B3-2D32-42BF-BA69-A60C594EE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978" y="1536219"/>
            <a:ext cx="7260043" cy="49301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5375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6D02F8-D667-4007-9A4F-16C1552B5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of </a:t>
            </a:r>
            <a:r>
              <a:rPr lang="en-US" b="1" dirty="0" err="1"/>
              <a:t>QuickSort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948A6C5-1471-4F43-B356-4D6F912301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000" dirty="0"/>
                  <a:t>The best-case performance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The worst-case performance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endParaRPr lang="en-US" sz="2000" dirty="0"/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Average-case analysis:</a:t>
                </a:r>
                <a:r>
                  <a:rPr lang="en-US" sz="2400" dirty="0"/>
                  <a:t> given a set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distinct numbers, assume each of 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sz="2400" dirty="0"/>
                  <a:t> permutations is </a:t>
                </a:r>
                <a:r>
                  <a:rPr lang="en-US" sz="2400" i="1" dirty="0">
                    <a:solidFill>
                      <a:srgbClr val="C00000"/>
                    </a:solidFill>
                  </a:rPr>
                  <a:t>equally</a:t>
                </a:r>
                <a:r>
                  <a:rPr lang="en-US" sz="2400" dirty="0"/>
                  <a:t> likely to be the input, what is the </a:t>
                </a:r>
                <a:r>
                  <a:rPr lang="en-US" sz="2400" i="1" dirty="0">
                    <a:solidFill>
                      <a:srgbClr val="C00000"/>
                    </a:solidFill>
                  </a:rPr>
                  <a:t>expected</a:t>
                </a:r>
                <a:r>
                  <a:rPr lang="en-US" sz="2400" dirty="0"/>
                  <a:t> runtime of </a:t>
                </a:r>
                <a:r>
                  <a:rPr lang="en-US" sz="24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QuickSort</a:t>
                </a:r>
                <a:r>
                  <a:rPr lang="en-US" sz="2400" dirty="0"/>
                  <a:t>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Each call to 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Partition</a:t>
                </a:r>
                <a:r>
                  <a:rPr lang="en-US" sz="2000" dirty="0"/>
                  <a:t> is quite likely to be reasonably balanced</a:t>
                </a:r>
                <a:br>
                  <a:rPr lang="en-US" sz="2000" dirty="0"/>
                </a:br>
                <a:r>
                  <a:rPr lang="en-US" sz="2000" dirty="0"/>
                  <a:t>(i.e., each split is of constant proportionality).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So there cannot have too many “bad” 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Partition</a:t>
                </a:r>
                <a:r>
                  <a:rPr lang="en-US" sz="2000" dirty="0"/>
                  <a:t> between two “good” 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Partition</a:t>
                </a:r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The cost of “bad” 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Partition</a:t>
                </a:r>
                <a:r>
                  <a:rPr lang="en-US" sz="2000" dirty="0">
                    <a:cs typeface="Courier New" panose="02070309020205020404" pitchFamily="49" charset="0"/>
                  </a:rPr>
                  <a:t> </a:t>
                </a:r>
                <a:r>
                  <a:rPr lang="en-US" sz="2000" dirty="0"/>
                  <a:t>can be absorbed by recent “good” 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Partition</a:t>
                </a:r>
                <a:r>
                  <a:rPr lang="en-US" sz="2000" dirty="0"/>
                  <a:t>, without affecting time complexity asymptotically.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The average runtime of </a:t>
                </a:r>
                <a:r>
                  <a:rPr lang="en-US" sz="2400" dirty="0" err="1">
                    <a:solidFill>
                      <a:srgbClr val="C00000"/>
                    </a:solidFill>
                  </a:rPr>
                  <a:t>QuickSort</a:t>
                </a:r>
                <a:r>
                  <a:rPr lang="en-US" sz="2400" dirty="0">
                    <a:solidFill>
                      <a:srgbClr val="C00000"/>
                    </a:solidFill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948A6C5-1471-4F43-B356-4D6F912301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2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20786BE1-C89C-4113-9E9A-15F34138DC5E}"/>
              </a:ext>
            </a:extLst>
          </p:cNvPr>
          <p:cNvSpPr txBox="1"/>
          <p:nvPr/>
        </p:nvSpPr>
        <p:spPr>
          <a:xfrm>
            <a:off x="5404287" y="1690687"/>
            <a:ext cx="31110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So how well does </a:t>
            </a:r>
            <a:r>
              <a:rPr lang="en-US" sz="2000" dirty="0" err="1">
                <a:solidFill>
                  <a:srgbClr val="C00000"/>
                </a:solidFill>
              </a:rPr>
              <a:t>QuickSort</a:t>
            </a:r>
            <a:br>
              <a:rPr lang="en-US" sz="2000" dirty="0">
                <a:solidFill>
                  <a:srgbClr val="C00000"/>
                </a:solidFill>
              </a:rPr>
            </a:br>
            <a:r>
              <a:rPr lang="en-US" sz="2000" dirty="0">
                <a:solidFill>
                  <a:srgbClr val="C00000"/>
                </a:solidFill>
              </a:rPr>
              <a:t>perform in general?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CF33118-8DEB-46A1-A9A3-76910F33B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5" y="787426"/>
            <a:ext cx="8515350" cy="180652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48593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F7208B-C562-4AC3-A378-5966DF393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Randomized </a:t>
            </a:r>
            <a:r>
              <a:rPr lang="en-US" b="1" dirty="0" err="1"/>
              <a:t>QuickSort</a:t>
            </a:r>
            <a:endParaRPr 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A10C7A-0BD3-4773-AA30-EF0520611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7886700" cy="4802185"/>
          </a:xfrm>
        </p:spPr>
        <p:txBody>
          <a:bodyPr>
            <a:normAutofit/>
          </a:bodyPr>
          <a:lstStyle/>
          <a:p>
            <a:r>
              <a:rPr lang="en-US" sz="2400" dirty="0"/>
              <a:t>Picking “good” pivot is important for the performance,</a:t>
            </a:r>
            <a:br>
              <a:rPr lang="en-US" sz="2400" dirty="0"/>
            </a:br>
            <a:r>
              <a:rPr lang="en-US" sz="2400" dirty="0"/>
              <a:t>but how do we do it?</a:t>
            </a:r>
          </a:p>
          <a:p>
            <a:r>
              <a:rPr lang="en-US" sz="2400" dirty="0"/>
              <a:t>On choosing pivot: first, last, medium of three, …?</a:t>
            </a:r>
          </a:p>
          <a:p>
            <a:r>
              <a:rPr lang="en-US" sz="2400" dirty="0"/>
              <a:t>Any simple </a:t>
            </a:r>
            <a:r>
              <a:rPr lang="en-US" sz="2400" dirty="0">
                <a:solidFill>
                  <a:srgbClr val="C00000"/>
                </a:solidFill>
              </a:rPr>
              <a:t>deterministic</a:t>
            </a:r>
            <a:r>
              <a:rPr lang="en-US" sz="2400" dirty="0"/>
              <a:t> mechanism could fail!</a:t>
            </a:r>
            <a:br>
              <a:rPr lang="en-US" sz="2400" dirty="0"/>
            </a:br>
            <a:r>
              <a:rPr lang="en-US" sz="2000" dirty="0"/>
              <a:t>(If the input is given by an “adversary” that knows the algorithm.)</a:t>
            </a:r>
            <a:endParaRPr lang="en-US" sz="2400" dirty="0"/>
          </a:p>
          <a:p>
            <a:r>
              <a:rPr lang="en-US" sz="2400" dirty="0"/>
              <a:t>Choose pivot (uniformly) </a:t>
            </a:r>
            <a:r>
              <a:rPr lang="en-US" sz="2400" b="1" dirty="0">
                <a:solidFill>
                  <a:srgbClr val="C00000"/>
                </a:solidFill>
              </a:rPr>
              <a:t>at random</a:t>
            </a:r>
            <a:r>
              <a:rPr lang="en-US" sz="2400" dirty="0"/>
              <a:t>!</a:t>
            </a:r>
          </a:p>
          <a:p>
            <a:r>
              <a:rPr lang="en-US" sz="2400" dirty="0"/>
              <a:t>Since the choice is randomly made, there is a good chance (constant probability) that we choose a “good” pivot.</a:t>
            </a:r>
          </a:p>
          <a:p>
            <a:r>
              <a:rPr lang="en-US" sz="2000" dirty="0"/>
              <a:t>The above claim holds even if the input is given by an “adversary” that knows the algorithm (but not the random bits the algorithm uses).</a:t>
            </a:r>
            <a:endParaRPr lang="en-US" sz="24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F3C3AD3-F3E4-49B5-B2F2-6CBEE6AC7C12}"/>
              </a:ext>
            </a:extLst>
          </p:cNvPr>
          <p:cNvSpPr/>
          <p:nvPr/>
        </p:nvSpPr>
        <p:spPr>
          <a:xfrm>
            <a:off x="628650" y="1690687"/>
            <a:ext cx="4158814" cy="18748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RndQuickSort</a:t>
            </a:r>
            <a:r>
              <a:rPr lang="en-GB" b="1" u="sng" dirty="0">
                <a:solidFill>
                  <a:schemeClr val="tx1"/>
                </a:solidFill>
              </a:rPr>
              <a:t>(A, p, r):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(p&lt;r)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Random(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p,r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Swap(A[r],A[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q =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InplacePartition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A,p,r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RndQuickSort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(A,p,q-1)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RndQuickSort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(A,q+1,r)</a:t>
            </a:r>
          </a:p>
        </p:txBody>
      </p:sp>
    </p:spTree>
    <p:extLst>
      <p:ext uri="{BB962C8B-B14F-4D97-AF65-F5344CB8AC3E}">
        <p14:creationId xmlns:p14="http://schemas.microsoft.com/office/powerpoint/2010/main" val="2578114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0694F3-F2A6-46AF-A173-1D78A835E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of </a:t>
            </a:r>
            <a:r>
              <a:rPr lang="en-US" b="1" dirty="0" err="1"/>
              <a:t>RndQuickSort</a:t>
            </a:r>
            <a:endParaRPr lang="en-US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3A38E72-9710-4A9E-8E61-706A02402A9F}"/>
              </a:ext>
            </a:extLst>
          </p:cNvPr>
          <p:cNvSpPr/>
          <p:nvPr/>
        </p:nvSpPr>
        <p:spPr>
          <a:xfrm>
            <a:off x="628650" y="1690689"/>
            <a:ext cx="4158814" cy="18748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RndQuickSort</a:t>
            </a:r>
            <a:r>
              <a:rPr lang="en-GB" b="1" u="sng" dirty="0">
                <a:solidFill>
                  <a:schemeClr val="tx1"/>
                </a:solidFill>
              </a:rPr>
              <a:t>(A, p, r):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(p&lt;r)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Random(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p,r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Swap(A[r],A[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q =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InplacePartition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A,p,r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RndQuickSort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(A,p,q-1)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RndQuickSort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(A,q+1,r)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5493A4D-C2E9-4A00-884B-DB5AF9BAD1BE}"/>
                  </a:ext>
                </a:extLst>
              </p:cNvPr>
              <p:cNvSpPr txBox="1"/>
              <p:nvPr/>
            </p:nvSpPr>
            <p:spPr>
              <a:xfrm>
                <a:off x="628650" y="3791396"/>
                <a:ext cx="7886700" cy="493752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300" dirty="0">
                    <a:solidFill>
                      <a:schemeClr val="tx1"/>
                    </a:solidFill>
                  </a:rPr>
                  <a:t>The expected runtime is </a:t>
                </a:r>
                <a14:m>
                  <m:oMath xmlns:m="http://schemas.openxmlformats.org/officeDocument/2006/math"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23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3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3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300" dirty="0">
                    <a:solidFill>
                      <a:schemeClr val="tx1"/>
                    </a:solidFill>
                  </a:rPr>
                  <a:t>, for </a:t>
                </a:r>
                <a:r>
                  <a:rPr lang="en-US" sz="2300" b="1" i="1" dirty="0">
                    <a:solidFill>
                      <a:srgbClr val="C00000"/>
                    </a:solidFill>
                  </a:rPr>
                  <a:t>any</a:t>
                </a:r>
                <a:r>
                  <a:rPr lang="en-US" sz="2300" dirty="0">
                    <a:solidFill>
                      <a:schemeClr val="tx1"/>
                    </a:solidFill>
                  </a:rPr>
                  <a:t> input distribution.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5493A4D-C2E9-4A00-884B-DB5AF9BAD1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791396"/>
                <a:ext cx="7886700" cy="493752"/>
              </a:xfrm>
              <a:prstGeom prst="roundRect">
                <a:avLst/>
              </a:prstGeom>
              <a:blipFill>
                <a:blip r:embed="rId2"/>
                <a:stretch>
                  <a:fillRect t="-4938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E65C23E0-1B46-4E2F-AD8D-EA31573AD176}"/>
              </a:ext>
            </a:extLst>
          </p:cNvPr>
          <p:cNvSpPr/>
          <p:nvPr/>
        </p:nvSpPr>
        <p:spPr>
          <a:xfrm>
            <a:off x="5623034" y="1539341"/>
            <a:ext cx="2892316" cy="21775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InplacePartition</a:t>
            </a:r>
            <a:r>
              <a:rPr lang="en-GB" b="1" u="sng" dirty="0">
                <a:solidFill>
                  <a:schemeClr val="tx1"/>
                </a:solidFill>
              </a:rPr>
              <a:t>(A, p, r):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A[r],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=p-1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(j=p to r-1)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(A[j]&lt;=x)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=i+1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Swap(A[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],A[j])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Swap(A[i+1],A[r])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i+1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B67EF95-45DC-40D9-AF1F-8254ECBB2552}"/>
                  </a:ext>
                </a:extLst>
              </p:cNvPr>
              <p:cNvSpPr txBox="1"/>
              <p:nvPr/>
            </p:nvSpPr>
            <p:spPr>
              <a:xfrm>
                <a:off x="628650" y="4477027"/>
                <a:ext cx="3748655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Cost of a call to 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RndQuickSort</a:t>
                </a:r>
                <a:r>
                  <a:rPr lang="en-US" sz="2000" dirty="0"/>
                  <a:t>: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Choose a pivot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sz="2000" dirty="0"/>
                  <a:t> time;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Run 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InplacePartition</a:t>
                </a:r>
                <a:r>
                  <a:rPr lang="en-US" sz="2000" dirty="0"/>
                  <a:t>;</a:t>
                </a:r>
                <a:endParaRPr lang="en-US" sz="2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Recursive 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RndQuickSort</a:t>
                </a:r>
                <a:r>
                  <a:rPr lang="en-US" sz="2000" dirty="0"/>
                  <a:t>.</a:t>
                </a:r>
                <a:endParaRPr lang="en-US" sz="2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B67EF95-45DC-40D9-AF1F-8254ECBB25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4477027"/>
                <a:ext cx="3748655" cy="1323439"/>
              </a:xfrm>
              <a:prstGeom prst="rect">
                <a:avLst/>
              </a:prstGeom>
              <a:blipFill>
                <a:blip r:embed="rId3"/>
                <a:stretch>
                  <a:fillRect l="-1626" t="-3211" r="-813" b="-7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2F15707E-1C5A-47DE-904B-626F44157840}"/>
              </a:ext>
            </a:extLst>
          </p:cNvPr>
          <p:cNvSpPr txBox="1"/>
          <p:nvPr/>
        </p:nvSpPr>
        <p:spPr>
          <a:xfrm>
            <a:off x="628650" y="5792290"/>
            <a:ext cx="4086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Each node can be pivot at most once!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F5E76439-A5D2-4A6C-AC77-D4E7A27051B2}"/>
                  </a:ext>
                </a:extLst>
              </p:cNvPr>
              <p:cNvSpPr txBox="1"/>
              <p:nvPr/>
            </p:nvSpPr>
            <p:spPr>
              <a:xfrm>
                <a:off x="4787464" y="4477026"/>
                <a:ext cx="400192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Total cost of 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RndQuickSort</a:t>
                </a:r>
                <a:r>
                  <a:rPr lang="en-US" sz="2000" dirty="0"/>
                  <a:t>: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time for choosing pivots;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All calls to 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InplacePartition</a:t>
                </a:r>
                <a:r>
                  <a:rPr lang="en-US" sz="2000" dirty="0"/>
                  <a:t>.</a:t>
                </a:r>
                <a:endParaRPr lang="en-US" sz="2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F5E76439-A5D2-4A6C-AC77-D4E7A2705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7464" y="4477026"/>
                <a:ext cx="4001929" cy="1015663"/>
              </a:xfrm>
              <a:prstGeom prst="rect">
                <a:avLst/>
              </a:prstGeom>
              <a:blipFill>
                <a:blip r:embed="rId4"/>
                <a:stretch>
                  <a:fillRect l="-1522" t="-4192" r="-609" b="-10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C10C8AD-96ED-4382-989F-A1223C66B37A}"/>
                  </a:ext>
                </a:extLst>
              </p:cNvPr>
              <p:cNvSpPr txBox="1"/>
              <p:nvPr/>
            </p:nvSpPr>
            <p:spPr>
              <a:xfrm>
                <a:off x="4787464" y="5524021"/>
                <a:ext cx="371896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For each 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InplacePartition</a:t>
                </a:r>
                <a:r>
                  <a:rPr lang="en-US" sz="2000" dirty="0"/>
                  <a:t>, </a:t>
                </a:r>
                <a:br>
                  <a:rPr lang="en-US" sz="2000" dirty="0"/>
                </a:br>
                <a:r>
                  <a:rPr lang="en-US" sz="2000" dirty="0"/>
                  <a:t>cost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(#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𝑐𝑜𝑚𝑝𝑎𝑟𝑖𝑠𝑜𝑛𝑠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C10C8AD-96ED-4382-989F-A1223C66B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7464" y="5524021"/>
                <a:ext cx="3718967" cy="707886"/>
              </a:xfrm>
              <a:prstGeom prst="rect">
                <a:avLst/>
              </a:prstGeom>
              <a:blipFill>
                <a:blip r:embed="rId5"/>
                <a:stretch>
                  <a:fillRect l="-1639" t="-6034" r="-820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605B40C-7FBC-4F6B-9209-B76A65DF71E8}"/>
                  </a:ext>
                </a:extLst>
              </p:cNvPr>
              <p:cNvSpPr txBox="1"/>
              <p:nvPr/>
            </p:nvSpPr>
            <p:spPr>
              <a:xfrm>
                <a:off x="619731" y="4542182"/>
                <a:ext cx="7886700" cy="885349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300" dirty="0">
                    <a:solidFill>
                      <a:schemeClr val="tx1"/>
                    </a:solidFill>
                  </a:rPr>
                  <a:t>In an execution of </a:t>
                </a:r>
                <a:r>
                  <a:rPr lang="en-US" sz="23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RndQuickSort</a:t>
                </a:r>
                <a:r>
                  <a:rPr lang="en-US" sz="2300" dirty="0">
                    <a:solidFill>
                      <a:schemeClr val="tx1"/>
                    </a:solidFill>
                  </a:rPr>
                  <a:t>, the cost is</a:t>
                </a:r>
                <a:br>
                  <a:rPr lang="en-US" sz="2300" dirty="0">
                    <a:solidFill>
                      <a:schemeClr val="tx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3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𝑡𝑜𝑡𝑎𝑙</m:t>
                    </m:r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# </m:t>
                    </m:r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𝑐𝑜𝑚𝑝𝑎𝑟𝑖𝑠𝑜𝑛𝑠</m:t>
                    </m:r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3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605B40C-7FBC-4F6B-9209-B76A65DF7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731" y="4542182"/>
                <a:ext cx="7886700" cy="885349"/>
              </a:xfrm>
              <a:prstGeom prst="roundRect">
                <a:avLst/>
              </a:prstGeom>
              <a:blipFill>
                <a:blip r:embed="rId6"/>
                <a:stretch>
                  <a:fillRect l="-619" t="-1379"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CB9D42F-9CE5-4021-BE49-4F92356F2611}"/>
              </a:ext>
            </a:extLst>
          </p:cNvPr>
          <p:cNvSpPr/>
          <p:nvPr/>
        </p:nvSpPr>
        <p:spPr>
          <a:xfrm>
            <a:off x="5962650" y="2380974"/>
            <a:ext cx="1654175" cy="246612"/>
          </a:xfrm>
          <a:prstGeom prst="round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671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/>
      <p:bldP spid="13" grpId="0"/>
      <p:bldP spid="14" grpId="0"/>
      <p:bldP spid="15" grpId="0" animBg="1"/>
      <p:bldP spid="1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C5CD48F-3F72-494B-95CD-533D2CCDAA75}"/>
                  </a:ext>
                </a:extLst>
              </p:cNvPr>
              <p:cNvSpPr txBox="1"/>
              <p:nvPr/>
            </p:nvSpPr>
            <p:spPr>
              <a:xfrm>
                <a:off x="341397" y="338044"/>
                <a:ext cx="8461206" cy="783193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tx1"/>
                    </a:solidFill>
                  </a:rPr>
                  <a:t>Cost of </a:t>
                </a:r>
                <a:r>
                  <a:rPr lang="en-US" sz="20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RndQuickSort</a:t>
                </a:r>
                <a:r>
                  <a:rPr lang="en-US" sz="2000" dirty="0">
                    <a:solidFill>
                      <a:schemeClr val="tx1"/>
                    </a:solidFill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a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r.v.</a:t>
                </a:r>
                <a:r>
                  <a:rPr lang="en-US" sz="2000" dirty="0">
                    <a:solidFill>
                      <a:schemeClr val="tx1"/>
                    </a:solidFill>
                  </a:rPr>
                  <a:t> denoting the number of comparisons happened in </a:t>
                </a:r>
                <a:r>
                  <a:rPr lang="en-US" sz="20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Inplace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Partition</a:t>
                </a:r>
                <a:r>
                  <a:rPr lang="en-US" sz="2000" dirty="0">
                    <a:solidFill>
                      <a:schemeClr val="tx1"/>
                    </a:solidFill>
                  </a:rPr>
                  <a:t> throughout entire execution.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C5CD48F-3F72-494B-95CD-533D2CCDAA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397" y="338044"/>
                <a:ext cx="8461206" cy="783193"/>
              </a:xfrm>
              <a:prstGeom prst="roundRect">
                <a:avLst/>
              </a:prstGeom>
              <a:blipFill>
                <a:blip r:embed="rId2"/>
                <a:stretch>
                  <a:fillRect l="-288" t="-775" r="-360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51CB3A4-E213-408A-B8C2-9795754475BF}"/>
                  </a:ext>
                </a:extLst>
              </p:cNvPr>
              <p:cNvSpPr txBox="1"/>
              <p:nvPr/>
            </p:nvSpPr>
            <p:spPr>
              <a:xfrm>
                <a:off x="341397" y="1981182"/>
                <a:ext cx="8645315" cy="4247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𝑒𝑣𝑒𝑟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𝑐𝑜𝑚𝑝𝑎𝑟𝑒𝑑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𝑡𝑜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is the item with rank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/>
                  <a:t> in input.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51CB3A4-E213-408A-B8C2-9795754475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397" y="1981182"/>
                <a:ext cx="8645315" cy="424796"/>
              </a:xfrm>
              <a:prstGeom prst="rect">
                <a:avLst/>
              </a:prstGeom>
              <a:blipFill>
                <a:blip r:embed="rId3"/>
                <a:stretch>
                  <a:fillRect l="-705" t="-7143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8D3B0A1-D46B-4A3A-BF14-82B398A079AD}"/>
                  </a:ext>
                </a:extLst>
              </p:cNvPr>
              <p:cNvSpPr txBox="1"/>
              <p:nvPr/>
            </p:nvSpPr>
            <p:spPr>
              <a:xfrm>
                <a:off x="341397" y="2456664"/>
                <a:ext cx="7469224" cy="10705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0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Pr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=1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8D3B0A1-D46B-4A3A-BF14-82B398A07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397" y="2456664"/>
                <a:ext cx="7469224" cy="10705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16F652C9-6D67-4455-AB60-AF4FA490FD57}"/>
              </a:ext>
            </a:extLst>
          </p:cNvPr>
          <p:cNvSpPr txBox="1"/>
          <p:nvPr/>
        </p:nvSpPr>
        <p:spPr>
          <a:xfrm>
            <a:off x="341397" y="1222610"/>
            <a:ext cx="84612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Each of pair of items is compared at most once!</a:t>
            </a:r>
          </a:p>
          <a:p>
            <a:r>
              <a:rPr lang="en-US" sz="2000" dirty="0"/>
              <a:t>(Items only compare with pivots, and each item can be the pivot at most once.)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C1E00D4-F3C2-419C-8999-CC66B9963A6E}"/>
              </a:ext>
            </a:extLst>
          </p:cNvPr>
          <p:cNvSpPr/>
          <p:nvPr/>
        </p:nvSpPr>
        <p:spPr>
          <a:xfrm>
            <a:off x="6263865" y="2745325"/>
            <a:ext cx="1427854" cy="520597"/>
          </a:xfrm>
          <a:prstGeom prst="round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B713A28-B82A-4E28-93C5-E452F553CFCC}"/>
                  </a:ext>
                </a:extLst>
              </p:cNvPr>
              <p:cNvSpPr txBox="1"/>
              <p:nvPr/>
            </p:nvSpPr>
            <p:spPr>
              <a:xfrm>
                <a:off x="341397" y="3577899"/>
                <a:ext cx="8461206" cy="10897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 where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000" dirty="0"/>
                  <a:t>, let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/>
                  <a:t> be the first item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000" dirty="0"/>
                  <a:t> that is chosen as a pivot. Then,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/>
                  <a:t> are compared </a:t>
                </a:r>
                <a:r>
                  <a:rPr lang="en-US" sz="2000" dirty="0" err="1"/>
                  <a:t>iff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ac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sz="2000" dirty="0"/>
                  <a:t>(Items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000" dirty="0"/>
                  <a:t> stay in same split until some pivot is chosen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000" dirty="0"/>
                  <a:t>.)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B713A28-B82A-4E28-93C5-E452F553CF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397" y="3577899"/>
                <a:ext cx="8461206" cy="1089722"/>
              </a:xfrm>
              <a:prstGeom prst="rect">
                <a:avLst/>
              </a:prstGeom>
              <a:blipFill>
                <a:blip r:embed="rId5"/>
                <a:stretch>
                  <a:fillRect l="-720" t="-2793" b="-7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3A80EE0D-D01C-4321-B4F0-B4D4652FCA31}"/>
                  </a:ext>
                </a:extLst>
              </p:cNvPr>
              <p:cNvSpPr txBox="1"/>
              <p:nvPr/>
            </p:nvSpPr>
            <p:spPr>
              <a:xfrm>
                <a:off x="341397" y="4718307"/>
                <a:ext cx="6054991" cy="7244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</m:e>
                      </m:func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3A80EE0D-D01C-4321-B4F0-B4D4652FCA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397" y="4718307"/>
                <a:ext cx="6054991" cy="7244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0DE091E-0AE9-4586-AD1C-6C8EC92B3553}"/>
                  </a:ext>
                </a:extLst>
              </p:cNvPr>
              <p:cNvSpPr txBox="1"/>
              <p:nvPr/>
            </p:nvSpPr>
            <p:spPr>
              <a:xfrm>
                <a:off x="341397" y="5493487"/>
                <a:ext cx="825674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, thus expected runtime of 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RndQuickSort</a:t>
                </a:r>
                <a:r>
                  <a:rPr lang="en-US" sz="2000" dirty="0"/>
                  <a:t>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0DE091E-0AE9-4586-AD1C-6C8EC92B35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397" y="5493487"/>
                <a:ext cx="8256747" cy="400110"/>
              </a:xfrm>
              <a:prstGeom prst="rect">
                <a:avLst/>
              </a:prstGeom>
              <a:blipFill>
                <a:blip r:embed="rId7"/>
                <a:stretch>
                  <a:fillRect t="-10606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86D4AFF-4C3E-49CD-AF2C-F207E706CF83}"/>
                  </a:ext>
                </a:extLst>
              </p:cNvPr>
              <p:cNvSpPr txBox="1"/>
              <p:nvPr/>
            </p:nvSpPr>
            <p:spPr>
              <a:xfrm>
                <a:off x="341397" y="5944283"/>
                <a:ext cx="76429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In fact, runtime of 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RndQuickSort</a:t>
                </a:r>
                <a:r>
                  <a:rPr lang="en-US" sz="2000" dirty="0"/>
                  <a:t>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with high probability!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86D4AFF-4C3E-49CD-AF2C-F207E706CF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397" y="5944283"/>
                <a:ext cx="7642990" cy="400110"/>
              </a:xfrm>
              <a:prstGeom prst="rect">
                <a:avLst/>
              </a:prstGeom>
              <a:blipFill>
                <a:blip r:embed="rId8"/>
                <a:stretch>
                  <a:fillRect l="-797" t="-10606" r="-239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8677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animBg="1"/>
      <p:bldP spid="8" grpId="0"/>
      <p:bldP spid="9" grpId="0"/>
      <p:bldP spid="10" grpId="0"/>
      <p:bldP spid="1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284D87-35D4-40BE-AA69-721697B2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bit more on Quick Sort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2740B7-0520-4437-A41B-FBC6A6D1D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802184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sz="2400" dirty="0"/>
              <a:t>What if there are many duplicates?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Maintain four regions as we go through the array.</a:t>
            </a:r>
          </a:p>
          <a:p>
            <a:pPr lvl="1">
              <a:spcBef>
                <a:spcPts val="0"/>
              </a:spcBef>
            </a:pPr>
            <a:endParaRPr lang="en-US" sz="2000" dirty="0"/>
          </a:p>
          <a:p>
            <a:pPr lvl="1">
              <a:spcBef>
                <a:spcPts val="0"/>
              </a:spcBef>
            </a:pPr>
            <a:endParaRPr lang="en-US" sz="2000" dirty="0"/>
          </a:p>
          <a:p>
            <a:pPr lvl="1">
              <a:spcBef>
                <a:spcPts val="0"/>
              </a:spcBef>
            </a:pPr>
            <a:r>
              <a:rPr lang="en-US" sz="2000" dirty="0"/>
              <a:t>End up with three regions (“&lt;”, “=”, and “&gt;”), and only recurse into two of them (“&lt;” and “&gt;”). </a:t>
            </a:r>
            <a:r>
              <a:rPr lang="en-US" sz="2000" i="1" dirty="0"/>
              <a:t>Wow! Worst-cast becomes best-case!</a:t>
            </a:r>
          </a:p>
          <a:p>
            <a:pPr>
              <a:spcBef>
                <a:spcPts val="1200"/>
              </a:spcBef>
            </a:pPr>
            <a:r>
              <a:rPr lang="en-US" sz="2400" dirty="0"/>
              <a:t>Stop recursion once the array is too small.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Recursion has overhead,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QuickSort</a:t>
            </a:r>
            <a:r>
              <a:rPr lang="en-US" sz="2000" dirty="0"/>
              <a:t> is slow on small arrays.</a:t>
            </a:r>
          </a:p>
          <a:p>
            <a:pPr>
              <a:spcBef>
                <a:spcPts val="1200"/>
              </a:spcBef>
            </a:pPr>
            <a:r>
              <a:rPr lang="en-US" sz="2400" dirty="0"/>
              <a:t>Multiple pivots?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Early studies do not give promising results…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Dual-Pivot variant proposed by </a:t>
            </a:r>
            <a:r>
              <a:rPr lang="en-US" sz="2000" dirty="0" err="1"/>
              <a:t>Yaroslavskiy</a:t>
            </a:r>
            <a:r>
              <a:rPr lang="en-US" sz="2000" dirty="0"/>
              <a:t> in 2009 seems faster.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This variant is used in Java for sorting. (Since Java 7.)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“Average Case Analysis of Java 7's Dual Pivot Quicksort”.</a:t>
            </a:r>
            <a:br>
              <a:rPr lang="en-US" sz="2000" dirty="0"/>
            </a:br>
            <a:r>
              <a:rPr lang="en-US" sz="2000" dirty="0"/>
              <a:t>(Best Paper of ESA 2012)</a:t>
            </a:r>
          </a:p>
          <a:p>
            <a:pPr lvl="1">
              <a:spcBef>
                <a:spcPts val="0"/>
              </a:spcBef>
            </a:pPr>
            <a:endParaRPr lang="en-US" sz="2000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73153334-263C-4813-BBD6-BFDB87610B4C}"/>
              </a:ext>
            </a:extLst>
          </p:cNvPr>
          <p:cNvGrpSpPr/>
          <p:nvPr/>
        </p:nvGrpSpPr>
        <p:grpSpPr>
          <a:xfrm>
            <a:off x="1408386" y="2406868"/>
            <a:ext cx="5717628" cy="357353"/>
            <a:chOff x="1345324" y="2753709"/>
            <a:chExt cx="5717628" cy="357353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63F7D69-0CC6-4FA7-BE7F-C2A92433966C}"/>
                </a:ext>
              </a:extLst>
            </p:cNvPr>
            <p:cNvSpPr/>
            <p:nvPr/>
          </p:nvSpPr>
          <p:spPr>
            <a:xfrm>
              <a:off x="1345324" y="2753710"/>
              <a:ext cx="1429407" cy="35735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&lt; pivot</a:t>
              </a: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7DE77E80-C8AD-4ADB-8DD3-02BD538E63BA}"/>
                </a:ext>
              </a:extLst>
            </p:cNvPr>
            <p:cNvSpPr/>
            <p:nvPr/>
          </p:nvSpPr>
          <p:spPr>
            <a:xfrm>
              <a:off x="2774731" y="2753710"/>
              <a:ext cx="1429407" cy="35735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= pivot</a:t>
              </a: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1EB700F4-4661-41F0-813F-DBADDFF21027}"/>
                </a:ext>
              </a:extLst>
            </p:cNvPr>
            <p:cNvSpPr/>
            <p:nvPr/>
          </p:nvSpPr>
          <p:spPr>
            <a:xfrm>
              <a:off x="4204138" y="2753709"/>
              <a:ext cx="1429407" cy="35735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C00000"/>
                  </a:solidFill>
                </a:rPr>
                <a:t>In Progress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EB6C847-83AC-4E70-A809-E733B9231A4E}"/>
                </a:ext>
              </a:extLst>
            </p:cNvPr>
            <p:cNvSpPr/>
            <p:nvPr/>
          </p:nvSpPr>
          <p:spPr>
            <a:xfrm>
              <a:off x="5633545" y="2753709"/>
              <a:ext cx="1429407" cy="35735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&gt; pivot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753C19E-4F37-4CB1-A4F3-440DCA65B912}"/>
                </a:ext>
              </a:extLst>
            </p:cNvPr>
            <p:cNvSpPr/>
            <p:nvPr/>
          </p:nvSpPr>
          <p:spPr>
            <a:xfrm>
              <a:off x="4204138" y="2753709"/>
              <a:ext cx="109538" cy="357352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431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310DFA-7198-427D-AC11-96B4A84E2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on Quick Sort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991023-1B71-4E10-9BB0-5ED88DE48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8515350" cy="480218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b="1" dirty="0">
                <a:solidFill>
                  <a:srgbClr val="C00000"/>
                </a:solidFill>
              </a:rPr>
              <a:t>A widely-used efficient sorting algorithm.</a:t>
            </a:r>
          </a:p>
          <a:p>
            <a:pPr>
              <a:spcBef>
                <a:spcPts val="1200"/>
              </a:spcBef>
            </a:pPr>
            <a:endParaRPr lang="en-US" dirty="0"/>
          </a:p>
          <a:p>
            <a:pPr>
              <a:spcBef>
                <a:spcPts val="1200"/>
              </a:spcBef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Easy</a:t>
            </a:r>
            <a:r>
              <a:rPr lang="en-US" dirty="0"/>
              <a:t> to understand! </a:t>
            </a:r>
            <a:r>
              <a:rPr lang="en-US" sz="2400" dirty="0"/>
              <a:t>(divide-and-conquer…)</a:t>
            </a:r>
            <a:endParaRPr lang="en-US" dirty="0"/>
          </a:p>
          <a:p>
            <a:pPr>
              <a:spcBef>
                <a:spcPts val="1200"/>
              </a:spcBef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Moderately hard</a:t>
            </a:r>
            <a:r>
              <a:rPr lang="en-US" dirty="0"/>
              <a:t> to implement correctly. </a:t>
            </a:r>
            <a:r>
              <a:rPr lang="en-US" sz="2400" dirty="0"/>
              <a:t>(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Partition</a:t>
            </a:r>
            <a:r>
              <a:rPr lang="en-US" sz="2400" dirty="0"/>
              <a:t>)</a:t>
            </a:r>
            <a:endParaRPr lang="en-US" dirty="0"/>
          </a:p>
          <a:p>
            <a:pPr>
              <a:spcBef>
                <a:spcPts val="1200"/>
              </a:spcBef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Harder</a:t>
            </a:r>
            <a:r>
              <a:rPr lang="en-US" dirty="0"/>
              <a:t> to analyze. </a:t>
            </a:r>
            <a:r>
              <a:rPr lang="en-US" sz="2400" dirty="0"/>
              <a:t>(randomization…)</a:t>
            </a:r>
            <a:endParaRPr lang="en-US" dirty="0"/>
          </a:p>
          <a:p>
            <a:pPr>
              <a:spcBef>
                <a:spcPts val="1200"/>
              </a:spcBef>
            </a:pPr>
            <a:r>
              <a:rPr lang="en-US" dirty="0">
                <a:solidFill>
                  <a:srgbClr val="FF0000"/>
                </a:solidFill>
              </a:rPr>
              <a:t>Challenging</a:t>
            </a:r>
            <a:r>
              <a:rPr lang="en-US" dirty="0"/>
              <a:t> to optimize. </a:t>
            </a:r>
            <a:r>
              <a:rPr lang="en-US" sz="2400" dirty="0"/>
              <a:t>(theory and practice…)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8789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672A32-D3AF-46A0-B548-4CBBB23E5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1531AD-1593-46BE-9E30-047A1682D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[CLRS</a:t>
            </a:r>
            <a:r>
              <a:rPr lang="en-GB" sz="2400"/>
              <a:t>] Ch</a:t>
            </a:r>
            <a:r>
              <a:rPr lang="en-GB" sz="2400" dirty="0"/>
              <a:t>.7</a:t>
            </a:r>
          </a:p>
          <a:p>
            <a:r>
              <a:rPr lang="en-GB" sz="2400" baseline="30000" dirty="0"/>
              <a:t>*</a:t>
            </a:r>
            <a:r>
              <a:rPr lang="en-GB" sz="2400" dirty="0"/>
              <a:t>On </a:t>
            </a:r>
            <a:r>
              <a:rPr lang="en-GB" sz="2400" b="1" dirty="0" err="1"/>
              <a:t>ShellSort</a:t>
            </a:r>
            <a:r>
              <a:rPr lang="en-GB" sz="2400" dirty="0"/>
              <a:t>:</a:t>
            </a:r>
          </a:p>
          <a:p>
            <a:r>
              <a:rPr lang="en-GB" sz="2000" dirty="0"/>
              <a:t>[Weiss] Ch.7 (7.4)</a:t>
            </a:r>
          </a:p>
          <a:p>
            <a:r>
              <a:rPr lang="en-GB" sz="2000" dirty="0"/>
              <a:t>[Deng] Ch.12 (12.3)</a:t>
            </a:r>
          </a:p>
          <a:p>
            <a:r>
              <a:rPr lang="en-GB" sz="2000" dirty="0"/>
              <a:t>[TAOCP] Ch.5 (5.2.1 on vol.3)</a:t>
            </a:r>
            <a:endParaRPr lang="en-US" sz="2000" dirty="0"/>
          </a:p>
        </p:txBody>
      </p:sp>
      <p:pic>
        <p:nvPicPr>
          <p:cNvPr id="4" name="Picture 6" descr="https://img1.doubanio.com/view/subject/l/public/s28388499.jpg">
            <a:extLst>
              <a:ext uri="{FF2B5EF4-FFF2-40B4-BE49-F238E27FC236}">
                <a16:creationId xmlns:a16="http://schemas.microsoft.com/office/drawing/2014/main" id="{7C4D926E-565A-445E-857E-611D7D3E2A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5345" y="4317256"/>
            <a:ext cx="1546841" cy="217312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https://images-na.ssl-images-amazon.com/images/I/41oGuEd4krL._SX378_BO1,204,203,200_.jpg">
            <a:extLst>
              <a:ext uri="{FF2B5EF4-FFF2-40B4-BE49-F238E27FC236}">
                <a16:creationId xmlns:a16="http://schemas.microsoft.com/office/drawing/2014/main" id="{EC9EBFDC-A92F-4178-BF5A-D9E680CB7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0006" y="4317256"/>
            <a:ext cx="1654883" cy="217312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8DEB002-5102-4C28-9DA0-8CF9B27243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2709" y="4317256"/>
            <a:ext cx="1682641" cy="21756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5216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4919</TotalTime>
  <Words>3701</Words>
  <Application>Microsoft Office PowerPoint</Application>
  <PresentationFormat>全屏显示(4:3)</PresentationFormat>
  <Paragraphs>528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1" baseType="lpstr">
      <vt:lpstr>Calibri</vt:lpstr>
      <vt:lpstr>Courier New</vt:lpstr>
      <vt:lpstr>Cambria Math</vt:lpstr>
      <vt:lpstr>Arial</vt:lpstr>
      <vt:lpstr>Calibri Light</vt:lpstr>
      <vt:lpstr>Office 主题​​</vt:lpstr>
      <vt:lpstr>Sorting</vt:lpstr>
      <vt:lpstr>The Sorting Problem</vt:lpstr>
      <vt:lpstr>Sorting algorithms till now</vt:lpstr>
      <vt:lpstr>Characteristics of sorting algorithms</vt:lpstr>
      <vt:lpstr>Sorting algorithms till now</vt:lpstr>
      <vt:lpstr>The Selection Sort Algorithm</vt:lpstr>
      <vt:lpstr>Analysis of SelectionSort</vt:lpstr>
      <vt:lpstr>Before we move on…</vt:lpstr>
      <vt:lpstr>The Bubble Sort Algorithm</vt:lpstr>
      <vt:lpstr>Improving BubbleSort</vt:lpstr>
      <vt:lpstr>Improving BubbleSort</vt:lpstr>
      <vt:lpstr>*Shell’s method for sorting</vt:lpstr>
      <vt:lpstr>General framework of ShellSort</vt:lpstr>
      <vt:lpstr>Motivation of ShellSort</vt:lpstr>
      <vt:lpstr>Ideal versus Reality</vt:lpstr>
      <vt:lpstr>ShellSort can be slow!</vt:lpstr>
      <vt:lpstr>Choice of distances matters, a lot!</vt:lpstr>
      <vt:lpstr>Divide-and-Conquer: A unified view for some sorting algs.</vt:lpstr>
      <vt:lpstr>The QuickSort Algorithm</vt:lpstr>
      <vt:lpstr>Choosing the pivot</vt:lpstr>
      <vt:lpstr>The Partition Procedure</vt:lpstr>
      <vt:lpstr>In-place Partition</vt:lpstr>
      <vt:lpstr>PowerPoint 演示文稿</vt:lpstr>
      <vt:lpstr>PowerPoint 演示文稿</vt:lpstr>
      <vt:lpstr>The QuickSort Algorithm</vt:lpstr>
      <vt:lpstr>PowerPoint 演示文稿</vt:lpstr>
      <vt:lpstr>Performance of QuickSort</vt:lpstr>
      <vt:lpstr>Performance of QuickSort</vt:lpstr>
      <vt:lpstr>Performance of QuickSort</vt:lpstr>
      <vt:lpstr>Randomized QuickSort</vt:lpstr>
      <vt:lpstr>Performance of RndQuickSort</vt:lpstr>
      <vt:lpstr>PowerPoint 演示文稿</vt:lpstr>
      <vt:lpstr>A bit more on Quick Sort</vt:lpstr>
      <vt:lpstr>Summary on Quick Sort</vt:lpstr>
      <vt:lpstr>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Sorting</dc:title>
  <dc:creator>Chaodong ZHENG</dc:creator>
  <cp:lastModifiedBy>Chaodong</cp:lastModifiedBy>
  <cp:revision>127</cp:revision>
  <dcterms:created xsi:type="dcterms:W3CDTF">2019-07-10T14:12:37Z</dcterms:created>
  <dcterms:modified xsi:type="dcterms:W3CDTF">2019-09-19T13:08:45Z</dcterms:modified>
</cp:coreProperties>
</file>