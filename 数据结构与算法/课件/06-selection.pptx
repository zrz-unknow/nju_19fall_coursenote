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300" r:id="rId11"/>
    <p:sldId id="301" r:id="rId12"/>
    <p:sldId id="302" r:id="rId13"/>
    <p:sldId id="303" r:id="rId14"/>
    <p:sldId id="304" r:id="rId15"/>
    <p:sldId id="299" r:id="rId16"/>
    <p:sldId id="290" r:id="rId17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alibri Light" panose="020F0302020204030204" pitchFamily="34" charset="0"/>
      <p:regular r:id="rId22"/>
      <p:italic r:id="rId23"/>
    </p:embeddedFont>
    <p:embeddedFont>
      <p:font typeface="Cambria Math" panose="02040503050406030204" pitchFamily="18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39" autoAdjust="0"/>
    <p:restoredTop sz="79258" autoAdjust="0"/>
  </p:normalViewPr>
  <p:slideViewPr>
    <p:cSldViewPr snapToGrid="0">
      <p:cViewPr varScale="1">
        <p:scale>
          <a:sx n="91" d="100"/>
          <a:sy n="91" d="100"/>
        </p:scale>
        <p:origin x="13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052048-50D7-4CB4-90A8-650D341A8B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516E891-D36C-4F31-86E5-48360FC338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49437C-1ACE-4D24-BFCA-0E78FFDEF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B53D-227B-4039-9FB3-FDFB3C37236B}" type="datetimeFigureOut">
              <a:rPr lang="en-US" smtClean="0"/>
              <a:t>19/09/29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37E858-EE42-45DC-A79A-CA61898CE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6047D1-1BCA-446A-BC39-56914FA94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339B-1C62-4A78-8F04-8594B379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240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F652A5-751D-427D-94CF-7E0296841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16F346-B078-4280-90B3-3BDCA01E1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8FBADB-D19A-4774-ADDB-DA6C10C1B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B53D-227B-4039-9FB3-FDFB3C37236B}" type="datetimeFigureOut">
              <a:rPr lang="en-US" smtClean="0"/>
              <a:t>19/09/29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124A44-38C3-415A-A485-2F66D46C2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3A4033-D997-4856-942D-43F5A2F6A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339B-1C62-4A78-8F04-8594B379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543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E8701E-7EED-49A0-8A43-14C9D4959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7D8F39F-8F67-494B-8A09-A433824C9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8D6E32-2031-44B7-BCC6-6222B9328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B53D-227B-4039-9FB3-FDFB3C37236B}" type="datetimeFigureOut">
              <a:rPr lang="en-US" smtClean="0"/>
              <a:t>19/09/29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48F25A-186A-456E-8DFF-FAEC7FDB6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E3477D-5199-44BC-A719-F3C264836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339B-1C62-4A78-8F04-8594B379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744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2FEEEF-1F6F-40D2-B129-984533F8D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4FEFB5-100B-451D-BD36-02C94CF04E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41C11B-EC6A-49B0-8945-8490859155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BCFD21-9886-4871-A210-AD8CCDEA1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B53D-227B-4039-9FB3-FDFB3C37236B}" type="datetimeFigureOut">
              <a:rPr lang="en-US" smtClean="0"/>
              <a:t>19/09/29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97B8CD-9401-4615-8420-54452AD61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B96051-E0AB-4700-AEFB-45102E4F6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339B-1C62-4A78-8F04-8594B379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241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E1DAA3-1F43-4093-B029-E7DB598F4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2852E7-5FFF-4285-8143-A1FF07005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CD6F3E0-1246-4651-A138-57D7B7E2F0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AE16DA8-0407-439E-9FF0-5BE69663E7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FC11095-7697-4ADE-B5E5-FF8C72BD28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7FE688-BE95-424C-A501-B1F69C813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B53D-227B-4039-9FB3-FDFB3C37236B}" type="datetimeFigureOut">
              <a:rPr lang="en-US" smtClean="0"/>
              <a:t>19/09/29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8FE4CF1-E57A-49A7-B90D-B851F6923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D33032F-A479-4833-ABF8-1D65C4AF5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339B-1C62-4A78-8F04-8594B379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983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6B4B91-CC2D-4BA2-A6A4-E01E38714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BFFB67B-A861-49B3-831A-4FDDAD63C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B53D-227B-4039-9FB3-FDFB3C37236B}" type="datetimeFigureOut">
              <a:rPr lang="en-US" smtClean="0"/>
              <a:t>19/09/29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A5D8B3-3A8D-4B09-8F89-0F8052689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E040ADD-3AA6-4664-B55C-E6A9A07A4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339B-1C62-4A78-8F04-8594B379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574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32A9F05-24F3-4A42-B785-00DBA4E69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B53D-227B-4039-9FB3-FDFB3C37236B}" type="datetimeFigureOut">
              <a:rPr lang="en-US" smtClean="0"/>
              <a:t>19/09/29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4C6AA69-A2FB-4BF2-B223-A857F235F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6F140F-CC8E-4998-8D13-B5E309F9A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339B-1C62-4A78-8F04-8594B379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604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A3A317-276D-4678-9D8C-8FA9D3238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EA1537-9581-4310-96C3-DD61AEADD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30704E-1F05-49AE-AE97-5BA7C08124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30FA99-1127-48E5-A923-E9F709BD3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B53D-227B-4039-9FB3-FDFB3C37236B}" type="datetimeFigureOut">
              <a:rPr lang="en-US" smtClean="0"/>
              <a:t>19/09/29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CF191FC-1EDA-4783-A438-4EC61AD3D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9EB690-A05B-4293-920D-A1EB2DD0E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339B-1C62-4A78-8F04-8594B379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729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FE0810-DDD5-4F7C-B9A8-54E283C3D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1E946F5-FE66-43D0-B96D-E469EC65B2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78046D-F98A-42FB-8BB7-8ECEDB2D6B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84BD34-BF12-4046-B3AE-15AB76EC7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B53D-227B-4039-9FB3-FDFB3C37236B}" type="datetimeFigureOut">
              <a:rPr lang="en-US" smtClean="0"/>
              <a:t>19/09/29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5ACA211-8006-402B-ADB0-B4BBDC5F5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68C435-4101-4021-8982-7ACD70DD6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339B-1C62-4A78-8F04-8594B379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103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8C0EA5-172C-42B5-B3F6-B35A10B66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C812FD-CF19-42CC-A5E9-5C53B6C5AB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E299EE-A70F-4FCB-A62F-C6E9AE1DC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B53D-227B-4039-9FB3-FDFB3C37236B}" type="datetimeFigureOut">
              <a:rPr lang="en-US" smtClean="0"/>
              <a:t>19/09/29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8BE2AC-EF1A-4E02-AAD8-CDDEB9FF9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0D13CA-53E4-41E4-AF2A-DE12BCEB6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339B-1C62-4A78-8F04-8594B379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913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E3CC722-19B7-4E8C-A040-ADA0BE63FC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A46BFA9-0D75-4185-AA74-3D2976F2F4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A0E15E-D4F2-4A9D-AE8D-EABEE1D9A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B53D-227B-4039-9FB3-FDFB3C37236B}" type="datetimeFigureOut">
              <a:rPr lang="en-US" smtClean="0"/>
              <a:t>19/09/29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660F8B-1FC7-4647-8F66-B63E952DE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DE989F-8686-4EE6-A988-BA5FEB49D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339B-1C62-4A78-8F04-8594B379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666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6F31793-2705-4B97-9F14-793B995C2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4B4BCF-0D37-4C33-93A8-09FAF3763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17761A-3511-4388-A71D-0DAE4B2376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0B53D-227B-4039-9FB3-FDFB3C37236B}" type="datetimeFigureOut">
              <a:rPr lang="en-US" smtClean="0"/>
              <a:t>19/09/29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9CC5A2-6AA0-4217-95F5-1CFA11A733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3D7F63-FDF8-4742-BFB9-16B0DA4305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34339B-1C62-4A78-8F04-8594B379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905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microsoft.com/office/2007/relationships/hdphoto" Target="../media/hdphoto1.wdp"/><Relationship Id="rId7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26" Type="http://schemas.openxmlformats.org/officeDocument/2006/relationships/image" Target="../media/image56.png"/><Relationship Id="rId39" Type="http://schemas.openxmlformats.org/officeDocument/2006/relationships/image" Target="../media/image69.png"/><Relationship Id="rId3" Type="http://schemas.openxmlformats.org/officeDocument/2006/relationships/image" Target="../media/image33.png"/><Relationship Id="rId21" Type="http://schemas.openxmlformats.org/officeDocument/2006/relationships/image" Target="../media/image51.png"/><Relationship Id="rId34" Type="http://schemas.openxmlformats.org/officeDocument/2006/relationships/image" Target="../media/image64.png"/><Relationship Id="rId42" Type="http://schemas.openxmlformats.org/officeDocument/2006/relationships/image" Target="../media/image72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5" Type="http://schemas.openxmlformats.org/officeDocument/2006/relationships/image" Target="../media/image55.png"/><Relationship Id="rId33" Type="http://schemas.openxmlformats.org/officeDocument/2006/relationships/image" Target="../media/image63.png"/><Relationship Id="rId38" Type="http://schemas.openxmlformats.org/officeDocument/2006/relationships/image" Target="../media/image68.png"/><Relationship Id="rId46" Type="http://schemas.openxmlformats.org/officeDocument/2006/relationships/image" Target="../media/image76.png"/><Relationship Id="rId2" Type="http://schemas.openxmlformats.org/officeDocument/2006/relationships/image" Target="../media/image32.png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29" Type="http://schemas.openxmlformats.org/officeDocument/2006/relationships/image" Target="../media/image59.png"/><Relationship Id="rId41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24" Type="http://schemas.openxmlformats.org/officeDocument/2006/relationships/image" Target="../media/image54.png"/><Relationship Id="rId32" Type="http://schemas.openxmlformats.org/officeDocument/2006/relationships/image" Target="../media/image62.png"/><Relationship Id="rId37" Type="http://schemas.openxmlformats.org/officeDocument/2006/relationships/image" Target="../media/image67.png"/><Relationship Id="rId40" Type="http://schemas.openxmlformats.org/officeDocument/2006/relationships/image" Target="../media/image70.png"/><Relationship Id="rId45" Type="http://schemas.openxmlformats.org/officeDocument/2006/relationships/image" Target="../media/image75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23" Type="http://schemas.openxmlformats.org/officeDocument/2006/relationships/image" Target="../media/image53.png"/><Relationship Id="rId28" Type="http://schemas.openxmlformats.org/officeDocument/2006/relationships/image" Target="../media/image58.png"/><Relationship Id="rId36" Type="http://schemas.openxmlformats.org/officeDocument/2006/relationships/image" Target="../media/image66.png"/><Relationship Id="rId10" Type="http://schemas.openxmlformats.org/officeDocument/2006/relationships/image" Target="../media/image40.png"/><Relationship Id="rId19" Type="http://schemas.openxmlformats.org/officeDocument/2006/relationships/image" Target="../media/image49.png"/><Relationship Id="rId31" Type="http://schemas.openxmlformats.org/officeDocument/2006/relationships/image" Target="../media/image61.png"/><Relationship Id="rId44" Type="http://schemas.openxmlformats.org/officeDocument/2006/relationships/image" Target="../media/image74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Relationship Id="rId22" Type="http://schemas.openxmlformats.org/officeDocument/2006/relationships/image" Target="../media/image52.png"/><Relationship Id="rId27" Type="http://schemas.openxmlformats.org/officeDocument/2006/relationships/image" Target="../media/image57.png"/><Relationship Id="rId30" Type="http://schemas.openxmlformats.org/officeDocument/2006/relationships/image" Target="../media/image60.png"/><Relationship Id="rId35" Type="http://schemas.openxmlformats.org/officeDocument/2006/relationships/image" Target="../media/image65.png"/><Relationship Id="rId43" Type="http://schemas.openxmlformats.org/officeDocument/2006/relationships/image" Target="../media/image7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FB974E-FDF9-47AD-B73D-2F48DADDA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>
            <a:normAutofit/>
          </a:bodyPr>
          <a:lstStyle/>
          <a:p>
            <a:r>
              <a:rPr lang="en-GB" b="1" dirty="0"/>
              <a:t>Selection</a:t>
            </a:r>
            <a:endParaRPr 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30E9ED-4082-48C1-9706-0FA0AA4FD7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</a:pPr>
            <a:r>
              <a:rPr lang="en-GB" dirty="0"/>
              <a:t>Data Structures and Algorithms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2000" dirty="0">
                <a:solidFill>
                  <a:schemeClr val="bg2">
                    <a:lumMod val="50000"/>
                  </a:schemeClr>
                </a:solidFill>
              </a:rPr>
              <a:t>Nanjing University, Fall 2019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</a:rPr>
              <a:t>郑朝栋</a:t>
            </a: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341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7010EB-86BF-4146-977A-47BE07EF9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Statistics and Selection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7DA5ACC-8BEA-4079-90CB-76ABCFB99D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Given a set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items, the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baseline="30000" dirty="0" err="1"/>
                  <a:t>th</a:t>
                </a:r>
                <a:r>
                  <a:rPr lang="en-US" sz="2400" dirty="0"/>
                  <a:t>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order statistic</a:t>
                </a:r>
                <a:r>
                  <a:rPr lang="en-US" sz="2400" dirty="0"/>
                  <a:t> of it the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baseline="30000" dirty="0" err="1"/>
                  <a:t>th</a:t>
                </a:r>
                <a:r>
                  <a:rPr lang="en-US" sz="2400" dirty="0"/>
                  <a:t> smallest element of it.</a:t>
                </a:r>
              </a:p>
              <a:p>
                <a:r>
                  <a:rPr lang="en-US" sz="2400" dirty="0"/>
                  <a:t>Minimum, maximum, median, …</a:t>
                </a:r>
              </a:p>
              <a:p>
                <a:endParaRPr lang="en-US" sz="2400" dirty="0"/>
              </a:p>
              <a:p>
                <a:r>
                  <a:rPr lang="en-US" sz="2400" b="1" dirty="0"/>
                  <a:t>The Selection Problem:</a:t>
                </a:r>
                <a:r>
                  <a:rPr lang="en-US" sz="2400" dirty="0"/>
                  <a:t> given a set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of n </a:t>
                </a:r>
                <a:r>
                  <a:rPr lang="en-US" sz="2400" i="1" dirty="0"/>
                  <a:t>distinct</a:t>
                </a:r>
                <a:r>
                  <a:rPr lang="en-US" sz="2400" dirty="0"/>
                  <a:t> numbers and an integer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, find the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baseline="30000" dirty="0" err="1"/>
                  <a:t>th</a:t>
                </a:r>
                <a:r>
                  <a:rPr lang="en-US" sz="2400" dirty="0"/>
                  <a:t> order statistic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7DA5ACC-8BEA-4079-90CB-76ABCFB99D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1718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B5B82B-03ED-483C-8317-90B46298E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Min/Max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0623D6A-E41C-4D1B-8B25-948987E782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So easy, sequential scan and keep min/max till now… 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Make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400" dirty="0"/>
                  <a:t> comparisons, but is this the best we can do?</a:t>
                </a:r>
              </a:p>
              <a:p>
                <a:r>
                  <a:rPr lang="en-US" sz="2400" dirty="0"/>
                  <a:t>Yes! Otherwise at least two elements could be minimum.</a:t>
                </a:r>
              </a:p>
              <a:p>
                <a:pPr lvl="1"/>
                <a:r>
                  <a:rPr lang="en-US" sz="2000" dirty="0"/>
                  <a:t>Initially each element could be the minimum.</a:t>
                </a:r>
              </a:p>
              <a:p>
                <a:pPr lvl="1"/>
                <a:r>
                  <a:rPr lang="en-US" sz="2000" dirty="0"/>
                  <a:t>Each comparison removes at most one element.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0623D6A-E41C-4D1B-8B25-948987E782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4351338"/>
              </a:xfrm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32302A05-5FFC-4BB6-A247-976B6F8A9DD4}"/>
              </a:ext>
            </a:extLst>
          </p:cNvPr>
          <p:cNvSpPr/>
          <p:nvPr/>
        </p:nvSpPr>
        <p:spPr>
          <a:xfrm>
            <a:off x="921383" y="2206535"/>
            <a:ext cx="3167141" cy="16194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FindMin</a:t>
            </a:r>
            <a:r>
              <a:rPr lang="en-GB" b="1" u="sng" dirty="0">
                <a:solidFill>
                  <a:schemeClr val="tx1"/>
                </a:solidFill>
              </a:rPr>
              <a:t>(A):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 = A[1]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=2 to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A.length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(A[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]&lt;min)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min = A[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min</a:t>
            </a:r>
          </a:p>
        </p:txBody>
      </p:sp>
    </p:spTree>
    <p:extLst>
      <p:ext uri="{BB962C8B-B14F-4D97-AF65-F5344CB8AC3E}">
        <p14:creationId xmlns:p14="http://schemas.microsoft.com/office/powerpoint/2010/main" val="3383679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0C79F8-90F5-4733-8BC7-B4F267DFA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we want min </a:t>
            </a:r>
            <a:r>
              <a:rPr lang="en-US" i="1" dirty="0"/>
              <a:t>and</a:t>
            </a:r>
            <a:r>
              <a:rPr lang="en-US" dirty="0"/>
              <a:t> max?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A33D602-8A84-462F-8406-E203EA74F5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4802185"/>
              </a:xfrm>
            </p:spPr>
            <p:txBody>
              <a:bodyPr>
                <a:noAutofit/>
              </a:bodyPr>
              <a:lstStyle/>
              <a:p>
                <a:r>
                  <a:rPr lang="en-US" sz="2400" dirty="0"/>
                  <a:t>Go through the list twice, one for min and another for max.</a:t>
                </a:r>
              </a:p>
              <a:p>
                <a:r>
                  <a:rPr lang="en-US" sz="2400" dirty="0"/>
                  <a:t>Can we do better? Surprisingly, yes!</a:t>
                </a:r>
              </a:p>
              <a:p>
                <a:pPr lvl="1"/>
                <a:r>
                  <a:rPr lang="en-US" sz="2000" dirty="0"/>
                  <a:t>Group items into pairs. (The first item becomes a “pair” 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is odd.)</a:t>
                </a:r>
              </a:p>
              <a:p>
                <a:pPr lvl="1"/>
                <a:r>
                  <a:rPr lang="en-US" sz="2000" dirty="0"/>
                  <a:t>For each of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000" dirty="0"/>
                  <a:t> pairs, find “local” min and max.</a:t>
                </a:r>
              </a:p>
              <a:p>
                <a:pPr lvl="1"/>
                <a:r>
                  <a:rPr lang="en-US" sz="2000" dirty="0"/>
                  <a:t>Among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000" dirty="0"/>
                  <a:t> “local” min, find global min; similarly find global max.</a:t>
                </a:r>
              </a:p>
              <a:p>
                <a:pPr lvl="1"/>
                <a:r>
                  <a:rPr lang="en-US" sz="2000" dirty="0">
                    <a:solidFill>
                      <a:srgbClr val="C00000"/>
                    </a:solidFill>
                  </a:rPr>
                  <a:t>Total # of comparisons is at most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⌊"/>
                        <m:endChr m:val="⌋"/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000" b="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.</a:t>
                </a: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Is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3⋅</m:t>
                    </m:r>
                    <m:d>
                      <m:dPr>
                        <m:begChr m:val="⌊"/>
                        <m:endChr m:val="⌋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the best we can do? Surprisingly, yes!</a:t>
                </a:r>
              </a:p>
              <a:p>
                <a:pPr lvl="1"/>
                <a:r>
                  <a:rPr lang="en-US" sz="2000" dirty="0">
                    <a:solidFill>
                      <a:schemeClr val="tx1"/>
                    </a:solidFill>
                  </a:rPr>
                  <a:t>An item that can be max has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mark, that can be min has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000" dirty="0"/>
                  <a:t> mark.</a:t>
                </a:r>
                <a:endParaRPr lang="en-US" sz="20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sz="2000" dirty="0"/>
                  <a:t>Initially each item has both </a:t>
                </a:r>
                <a14:m>
                  <m:oMath xmlns:m="http://schemas.openxmlformats.org/officeDocument/2006/math">
                    <m:r>
                      <a:rPr lang="en-US" sz="2000" b="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lvl="1"/>
                <a:r>
                  <a:rPr lang="en-US" sz="2000" dirty="0"/>
                  <a:t>At most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000" dirty="0"/>
                  <a:t> comparisons each removes two marks.</a:t>
                </a:r>
                <a:br>
                  <a:rPr lang="en-US" sz="2000" dirty="0"/>
                </a:br>
                <a:r>
                  <a:rPr lang="en-US" sz="2000" dirty="0"/>
                  <a:t>Other comparisons each removes at most one mark.</a:t>
                </a:r>
              </a:p>
              <a:p>
                <a:pPr lvl="1"/>
                <a:r>
                  <a:rPr lang="en-US" sz="2000" dirty="0"/>
                  <a:t>In total need to remove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sz="2000" dirty="0"/>
                  <a:t> marks.</a:t>
                </a:r>
              </a:p>
              <a:p>
                <a:pPr lvl="1"/>
                <a:r>
                  <a:rPr lang="en-US" sz="2000" dirty="0">
                    <a:solidFill>
                      <a:srgbClr val="C00000"/>
                    </a:solidFill>
                  </a:rPr>
                  <a:t>So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−2−</m:t>
                    </m:r>
                    <m:d>
                      <m:dPr>
                        <m:begChr m:val="⌊"/>
                        <m:endChr m:val="⌋"/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comparisons needed, which can be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3⋅</m:t>
                    </m:r>
                    <m:d>
                      <m:dPr>
                        <m:begChr m:val="⌊"/>
                        <m:endChr m:val="⌋"/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A33D602-8A84-462F-8406-E203EA74F5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4802185"/>
              </a:xfrm>
              <a:blipFill>
                <a:blip r:embed="rId2"/>
                <a:stretch>
                  <a:fillRect l="-1005" t="-1777" r="-4560" b="-118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>
            <a:extLst>
              <a:ext uri="{FF2B5EF4-FFF2-40B4-BE49-F238E27FC236}">
                <a16:creationId xmlns:a16="http://schemas.microsoft.com/office/drawing/2014/main" id="{045084E1-A31A-4748-844D-3BF01A4CAF3A}"/>
              </a:ext>
            </a:extLst>
          </p:cNvPr>
          <p:cNvGrpSpPr/>
          <p:nvPr/>
        </p:nvGrpSpPr>
        <p:grpSpPr>
          <a:xfrm>
            <a:off x="6581990" y="2848303"/>
            <a:ext cx="2562010" cy="400110"/>
            <a:chOff x="6581990" y="2837793"/>
            <a:chExt cx="2562010" cy="400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2B672295-49B2-4EF6-B213-38EB88871ECB}"/>
                    </a:ext>
                  </a:extLst>
                </p:cNvPr>
                <p:cNvSpPr txBox="1"/>
                <p:nvPr/>
              </p:nvSpPr>
              <p:spPr>
                <a:xfrm>
                  <a:off x="6907810" y="2837793"/>
                  <a:ext cx="223619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</m:oMath>
                  </a14:m>
                  <a:r>
                    <a:rPr lang="en-US" sz="2000" b="1" dirty="0">
                      <a:solidFill>
                        <a:srgbClr val="C00000"/>
                      </a:solidFill>
                    </a:rPr>
                    <a:t> comparisons</a:t>
                  </a:r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2B672295-49B2-4EF6-B213-38EB88871E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07810" y="2837793"/>
                  <a:ext cx="2236190" cy="400110"/>
                </a:xfrm>
                <a:prstGeom prst="rect">
                  <a:avLst/>
                </a:prstGeom>
                <a:blipFill>
                  <a:blip r:embed="rId3"/>
                  <a:stretch>
                    <a:fillRect l="-4632" t="-116667" r="-2725" b="-17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箭头: 右 4">
              <a:extLst>
                <a:ext uri="{FF2B5EF4-FFF2-40B4-BE49-F238E27FC236}">
                  <a16:creationId xmlns:a16="http://schemas.microsoft.com/office/drawing/2014/main" id="{E1ED203F-8216-4AD9-B183-5BB3F676A4EA}"/>
                </a:ext>
              </a:extLst>
            </p:cNvPr>
            <p:cNvSpPr/>
            <p:nvPr/>
          </p:nvSpPr>
          <p:spPr>
            <a:xfrm rot="10800000">
              <a:off x="6581990" y="2970406"/>
              <a:ext cx="399393" cy="134883"/>
            </a:xfrm>
            <a:prstGeom prst="right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35C2BD61-3AE0-483C-ABD1-E60769EFB95C}"/>
              </a:ext>
            </a:extLst>
          </p:cNvPr>
          <p:cNvGrpSpPr/>
          <p:nvPr/>
        </p:nvGrpSpPr>
        <p:grpSpPr>
          <a:xfrm>
            <a:off x="5942524" y="3542147"/>
            <a:ext cx="3201476" cy="400110"/>
            <a:chOff x="6546150" y="2837793"/>
            <a:chExt cx="3201476" cy="400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DE7F251E-70B0-4261-8645-8AB7379E6F23}"/>
                    </a:ext>
                  </a:extLst>
                </p:cNvPr>
                <p:cNvSpPr txBox="1"/>
                <p:nvPr/>
              </p:nvSpPr>
              <p:spPr>
                <a:xfrm>
                  <a:off x="6907810" y="2837793"/>
                  <a:ext cx="283981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</m:oMath>
                  </a14:m>
                  <a:r>
                    <a:rPr lang="en-US" sz="2000" b="1" dirty="0">
                      <a:solidFill>
                        <a:srgbClr val="C00000"/>
                      </a:solidFill>
                    </a:rPr>
                    <a:t> comparisons</a:t>
                  </a:r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DE7F251E-70B0-4261-8645-8AB7379E6F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07810" y="2837793"/>
                  <a:ext cx="2839816" cy="400110"/>
                </a:xfrm>
                <a:prstGeom prst="rect">
                  <a:avLst/>
                </a:prstGeom>
                <a:blipFill>
                  <a:blip r:embed="rId4"/>
                  <a:stretch>
                    <a:fillRect t="-116667" r="-1931" b="-17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箭头: 右 8">
              <a:extLst>
                <a:ext uri="{FF2B5EF4-FFF2-40B4-BE49-F238E27FC236}">
                  <a16:creationId xmlns:a16="http://schemas.microsoft.com/office/drawing/2014/main" id="{3EAE0589-89B6-4115-BF88-8305146A14F5}"/>
                </a:ext>
              </a:extLst>
            </p:cNvPr>
            <p:cNvSpPr/>
            <p:nvPr/>
          </p:nvSpPr>
          <p:spPr>
            <a:xfrm rot="12611957">
              <a:off x="6546150" y="2895052"/>
              <a:ext cx="399393" cy="134883"/>
            </a:xfrm>
            <a:prstGeom prst="right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79110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607383-81D6-4C11-937E-D95EFDB57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Selection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4A481A0-F902-4BE0-B9C7-288A635CD6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/>
                  <a:t>Find </a:t>
                </a:r>
                <a14:m>
                  <m:oMath xmlns:m="http://schemas.openxmlformats.org/officeDocument/2006/math">
                    <m:r>
                      <a:rPr lang="en-US" sz="2400" b="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baseline="30000" dirty="0" err="1"/>
                  <a:t>th</a:t>
                </a:r>
                <a:r>
                  <a:rPr lang="en-US" sz="2400" dirty="0"/>
                  <a:t> smallest element (i.e., </a:t>
                </a:r>
                <a14:m>
                  <m:oMath xmlns:m="http://schemas.openxmlformats.org/officeDocument/2006/math">
                    <m:r>
                      <a:rPr lang="en-US" sz="2400" b="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baseline="30000" dirty="0" err="1"/>
                  <a:t>th</a:t>
                </a:r>
                <a:r>
                  <a:rPr lang="en-US" sz="2400" dirty="0"/>
                  <a:t> order statistic)?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Err… Sort them then return the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baseline="30000" dirty="0" err="1"/>
                  <a:t>th</a:t>
                </a:r>
                <a:r>
                  <a:rPr lang="en-US" sz="2400" dirty="0"/>
                  <a:t> entry?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Sure but this takes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time…</a:t>
                </a:r>
              </a:p>
              <a:p>
                <a:pPr>
                  <a:spcBef>
                    <a:spcPts val="600"/>
                  </a:spcBef>
                  <a:spcAft>
                    <a:spcPts val="1800"/>
                  </a:spcAft>
                </a:pPr>
                <a:r>
                  <a:rPr lang="en-US" sz="2400" dirty="0"/>
                  <a:t>Can we be faster? YES!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What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dirty="0"/>
                  <a:t>?</a:t>
                </a:r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sz="2000" dirty="0"/>
                  <a:t> is what we need.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What if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dirty="0"/>
                  <a:t>?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Find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baseline="30000" dirty="0" err="1"/>
                  <a:t>th</a:t>
                </a:r>
                <a:r>
                  <a:rPr lang="en-US" sz="2000" dirty="0"/>
                  <a:t> order statistic in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1…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What if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dirty="0"/>
                  <a:t>?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Find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sz="2000" baseline="30000" dirty="0" err="1"/>
                  <a:t>th</a:t>
                </a:r>
                <a:r>
                  <a:rPr lang="en-US" sz="2000" dirty="0"/>
                  <a:t> order statistic in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4A481A0-F902-4BE0-B9C7-288A635CD6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7068C8A6-F913-47D5-BF84-D43D94496FD5}"/>
              </a:ext>
            </a:extLst>
          </p:cNvPr>
          <p:cNvSpPr/>
          <p:nvPr/>
        </p:nvSpPr>
        <p:spPr>
          <a:xfrm>
            <a:off x="4719145" y="3192169"/>
            <a:ext cx="3796205" cy="14066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RndQuickSort</a:t>
            </a:r>
            <a:r>
              <a:rPr lang="en-GB" b="1" u="sng" dirty="0">
                <a:solidFill>
                  <a:schemeClr val="tx1"/>
                </a:solidFill>
              </a:rPr>
              <a:t>(A):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A.size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&gt;1)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q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RandomPartition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RndQuickSort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(A[1…(q-1)])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RndQuickSort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(A[(q+1)…n])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CE8370B-176D-48D4-A130-B7C10393210D}"/>
              </a:ext>
            </a:extLst>
          </p:cNvPr>
          <p:cNvSpPr/>
          <p:nvPr/>
        </p:nvSpPr>
        <p:spPr>
          <a:xfrm>
            <a:off x="5015626" y="3786296"/>
            <a:ext cx="3069020" cy="269273"/>
          </a:xfrm>
          <a:prstGeom prst="round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5239A10-1F27-48FD-AAD9-DD613647C947}"/>
              </a:ext>
            </a:extLst>
          </p:cNvPr>
          <p:cNvSpPr txBox="1"/>
          <p:nvPr/>
        </p:nvSpPr>
        <p:spPr>
          <a:xfrm>
            <a:off x="4805680" y="5568359"/>
            <a:ext cx="37096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This is Divide-and-Conquer!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FDA90A3-4DB2-40D0-B6D3-392F20F8F576}"/>
                  </a:ext>
                </a:extLst>
              </p:cNvPr>
              <p:cNvSpPr txBox="1"/>
              <p:nvPr/>
            </p:nvSpPr>
            <p:spPr>
              <a:xfrm>
                <a:off x="4719145" y="4598775"/>
                <a:ext cx="389420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Notice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1…(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e>
                    </m:d>
                  </m:oMath>
                </a14:m>
                <a:r>
                  <a:rPr lang="en-US" sz="2000" dirty="0"/>
                  <a:t> contains the </a:t>
                </a:r>
                <a:br>
                  <a:rPr lang="en-US" sz="2000" dirty="0"/>
                </a:br>
                <a:r>
                  <a:rPr lang="en-US" sz="2000" dirty="0"/>
                  <a:t>smallest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000" dirty="0"/>
                  <a:t> elements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FDA90A3-4DB2-40D0-B6D3-392F20F8F5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9145" y="4598775"/>
                <a:ext cx="3894208" cy="707886"/>
              </a:xfrm>
              <a:prstGeom prst="rect">
                <a:avLst/>
              </a:prstGeom>
              <a:blipFill>
                <a:blip r:embed="rId3"/>
                <a:stretch>
                  <a:fillRect l="-1565" t="-4274" r="-626" b="-136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3504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3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2" dur="indefinite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4" dur="indefinite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3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6" dur="indefinite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3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8" dur="indefinite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/>
      <p:bldP spid="9" grpId="0"/>
      <p:bldP spid="9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F5CE5C-B807-4E5D-99C8-8B416B1C7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Randomized Selection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D09722A-C29C-43EB-8908-B8D11BF35F1E}"/>
              </a:ext>
            </a:extLst>
          </p:cNvPr>
          <p:cNvSpPr/>
          <p:nvPr/>
        </p:nvSpPr>
        <p:spPr>
          <a:xfrm>
            <a:off x="628650" y="1690689"/>
            <a:ext cx="5845723" cy="28602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RndSelect</a:t>
            </a:r>
            <a:r>
              <a:rPr lang="en-GB" b="1" u="sng" dirty="0">
                <a:solidFill>
                  <a:schemeClr val="tx1"/>
                </a:solidFill>
              </a:rPr>
              <a:t>(A, </a:t>
            </a:r>
            <a:r>
              <a:rPr lang="en-GB" b="1" u="sng" dirty="0" err="1">
                <a:solidFill>
                  <a:schemeClr val="tx1"/>
                </a:solidFill>
              </a:rPr>
              <a:t>i</a:t>
            </a:r>
            <a:r>
              <a:rPr lang="en-GB" b="1" u="sng" dirty="0">
                <a:solidFill>
                  <a:schemeClr val="tx1"/>
                </a:solidFill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A.size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A[1]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q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RandomPartition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==q)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A[q]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elseif 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&lt;q)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RndSelect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(A[1…(q-1)],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RndSelect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(A[(q+1)…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A.size,i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-q])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E898AEF-8986-41B5-9411-31926226C22B}"/>
              </a:ext>
            </a:extLst>
          </p:cNvPr>
          <p:cNvSpPr txBox="1"/>
          <p:nvPr/>
        </p:nvSpPr>
        <p:spPr>
          <a:xfrm>
            <a:off x="628650" y="4709388"/>
            <a:ext cx="67774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Best-case runtime?</a:t>
            </a:r>
          </a:p>
          <a:p>
            <a:r>
              <a:rPr lang="en-US" sz="2000" dirty="0"/>
              <a:t>Choose the answer as the pivot in first call (unlikely to happen).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1D900D1-951E-426B-9915-DA3988CFA3FC}"/>
              </a:ext>
            </a:extLst>
          </p:cNvPr>
          <p:cNvSpPr txBox="1"/>
          <p:nvPr/>
        </p:nvSpPr>
        <p:spPr>
          <a:xfrm>
            <a:off x="628650" y="5575684"/>
            <a:ext cx="70520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Worst-case runtime?</a:t>
            </a:r>
          </a:p>
          <a:p>
            <a:r>
              <a:rPr lang="en-US" sz="2000" dirty="0"/>
              <a:t>Partition reduces array size by one each time (unlikely to happen).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55FCF3E-5BAE-4543-BE86-03A09DA68B2D}"/>
                  </a:ext>
                </a:extLst>
              </p:cNvPr>
              <p:cNvSpPr txBox="1"/>
              <p:nvPr/>
            </p:nvSpPr>
            <p:spPr>
              <a:xfrm>
                <a:off x="2828621" y="4693999"/>
                <a:ext cx="70737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55FCF3E-5BAE-4543-BE86-03A09DA68B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8621" y="4693999"/>
                <a:ext cx="707373" cy="369332"/>
              </a:xfrm>
              <a:prstGeom prst="rect">
                <a:avLst/>
              </a:prstGeom>
              <a:blipFill>
                <a:blip r:embed="rId2"/>
                <a:stretch>
                  <a:fillRect l="-14655" r="-10345" b="-34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88FFB45-7084-4059-9E8D-DB255DACDC2C}"/>
                  </a:ext>
                </a:extLst>
              </p:cNvPr>
              <p:cNvSpPr txBox="1"/>
              <p:nvPr/>
            </p:nvSpPr>
            <p:spPr>
              <a:xfrm>
                <a:off x="2991531" y="5561394"/>
                <a:ext cx="493205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𝑐𝑛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88FFB45-7084-4059-9E8D-DB255DACDC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1531" y="5561394"/>
                <a:ext cx="4932056" cy="369332"/>
              </a:xfrm>
              <a:prstGeom prst="rect">
                <a:avLst/>
              </a:prstGeom>
              <a:blipFill>
                <a:blip r:embed="rId3"/>
                <a:stretch>
                  <a:fillRect l="-2225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CD6491F9-EBC2-4947-B605-4B1935792728}"/>
              </a:ext>
            </a:extLst>
          </p:cNvPr>
          <p:cNvSpPr txBox="1"/>
          <p:nvPr/>
        </p:nvSpPr>
        <p:spPr>
          <a:xfrm>
            <a:off x="6629465" y="2967335"/>
            <a:ext cx="25145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Average Runtime?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6B0D2D8-322B-449F-B6BF-64401B7F4037}"/>
              </a:ext>
            </a:extLst>
          </p:cNvPr>
          <p:cNvSpPr txBox="1"/>
          <p:nvPr/>
        </p:nvSpPr>
        <p:spPr>
          <a:xfrm>
            <a:off x="3465216" y="1690689"/>
            <a:ext cx="30091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A Divide-and-Conquer Alg.</a:t>
            </a:r>
          </a:p>
        </p:txBody>
      </p:sp>
    </p:spTree>
    <p:extLst>
      <p:ext uri="{BB962C8B-B14F-4D97-AF65-F5344CB8AC3E}">
        <p14:creationId xmlns:p14="http://schemas.microsoft.com/office/powerpoint/2010/main" val="1172451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77D6471-87AC-4181-89B7-C0873114090A}"/>
              </a:ext>
            </a:extLst>
          </p:cNvPr>
          <p:cNvSpPr/>
          <p:nvPr/>
        </p:nvSpPr>
        <p:spPr>
          <a:xfrm>
            <a:off x="3815255" y="156179"/>
            <a:ext cx="5225612" cy="25870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RndSelect</a:t>
            </a:r>
            <a:r>
              <a:rPr lang="en-GB" sz="1600" b="1" u="sng" dirty="0">
                <a:solidFill>
                  <a:schemeClr val="tx1"/>
                </a:solidFill>
              </a:rPr>
              <a:t>(A, </a:t>
            </a:r>
            <a:r>
              <a:rPr lang="en-GB" sz="1600" b="1" u="sng" dirty="0" err="1">
                <a:solidFill>
                  <a:schemeClr val="tx1"/>
                </a:solidFill>
              </a:rPr>
              <a:t>i</a:t>
            </a:r>
            <a:r>
              <a:rPr lang="en-GB" sz="1600" b="1" u="sng" dirty="0">
                <a:solidFill>
                  <a:schemeClr val="tx1"/>
                </a:solidFill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A.size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A[1]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q =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RandomPartition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==q)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A[q]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elseif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&lt;q)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RndSelect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(A[1…(q-1)],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RndSelect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(A[(q+1)…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A.size,i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-q])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DF8796F-222B-4D05-B1BF-A6C59DF3B457}"/>
              </a:ext>
            </a:extLst>
          </p:cNvPr>
          <p:cNvSpPr txBox="1"/>
          <p:nvPr/>
        </p:nvSpPr>
        <p:spPr>
          <a:xfrm>
            <a:off x="103133" y="156179"/>
            <a:ext cx="37059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Best-case: chooses the answer as </a:t>
            </a:r>
            <a:br>
              <a:rPr lang="en-US" sz="2000" dirty="0"/>
            </a:br>
            <a:r>
              <a:rPr lang="en-US" sz="2000" dirty="0"/>
              <a:t>the pivot right away.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2D45027-468B-40E2-8F0A-7D075E254E7E}"/>
              </a:ext>
            </a:extLst>
          </p:cNvPr>
          <p:cNvSpPr txBox="1"/>
          <p:nvPr/>
        </p:nvSpPr>
        <p:spPr>
          <a:xfrm>
            <a:off x="6031710" y="156179"/>
            <a:ext cx="30091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A Divide-and-Conquer Alg.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FB818FE-00E1-4EE6-9762-B401D8C28D65}"/>
              </a:ext>
            </a:extLst>
          </p:cNvPr>
          <p:cNvSpPr txBox="1"/>
          <p:nvPr/>
        </p:nvSpPr>
        <p:spPr>
          <a:xfrm>
            <a:off x="103133" y="969621"/>
            <a:ext cx="37912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Worst-case: partition process only </a:t>
            </a:r>
            <a:br>
              <a:rPr lang="en-US" sz="2000" dirty="0"/>
            </a:br>
            <a:r>
              <a:rPr lang="en-US" sz="2000" dirty="0"/>
              <a:t>reduces problem size by one.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72FF017-54D6-4186-ACDA-D4845F604CE9}"/>
              </a:ext>
            </a:extLst>
          </p:cNvPr>
          <p:cNvSpPr txBox="1"/>
          <p:nvPr/>
        </p:nvSpPr>
        <p:spPr>
          <a:xfrm>
            <a:off x="103133" y="1783063"/>
            <a:ext cx="371864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What’s likely to happen: partition </a:t>
            </a:r>
            <a:br>
              <a:rPr lang="en-US" sz="2000" dirty="0">
                <a:solidFill>
                  <a:srgbClr val="C00000"/>
                </a:solidFill>
              </a:rPr>
            </a:br>
            <a:r>
              <a:rPr lang="en-US" sz="2000" dirty="0">
                <a:solidFill>
                  <a:srgbClr val="C00000"/>
                </a:solidFill>
              </a:rPr>
              <a:t>process reduces problem size by</a:t>
            </a:r>
            <a:br>
              <a:rPr lang="en-US" sz="2000" dirty="0">
                <a:solidFill>
                  <a:srgbClr val="C00000"/>
                </a:solidFill>
              </a:rPr>
            </a:br>
            <a:r>
              <a:rPr lang="en-US" sz="2000" dirty="0">
                <a:solidFill>
                  <a:srgbClr val="C00000"/>
                </a:solidFill>
              </a:rPr>
              <a:t>a </a:t>
            </a:r>
            <a:r>
              <a:rPr lang="en-US" sz="2000" i="1" dirty="0">
                <a:solidFill>
                  <a:srgbClr val="C00000"/>
                </a:solidFill>
              </a:rPr>
              <a:t>constant</a:t>
            </a:r>
            <a:r>
              <a:rPr lang="en-US" sz="2000" dirty="0">
                <a:solidFill>
                  <a:srgbClr val="C00000"/>
                </a:solidFill>
              </a:rPr>
              <a:t> factor.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07F2B89-2759-4220-8620-5CAA4ADF56DF}"/>
                  </a:ext>
                </a:extLst>
              </p:cNvPr>
              <p:cNvSpPr/>
              <p:nvPr/>
            </p:nvSpPr>
            <p:spPr>
              <a:xfrm>
                <a:off x="5739633" y="2994515"/>
                <a:ext cx="1376856" cy="43448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sz="1600" dirty="0">
                    <a:solidFill>
                      <a:schemeClr val="tx1"/>
                    </a:solidFill>
                  </a:rPr>
                  <a:t>find some </a:t>
                </a:r>
                <a:r>
                  <a:rPr lang="en-US" sz="1600" dirty="0" err="1">
                    <a:solidFill>
                      <a:schemeClr val="tx1"/>
                    </a:solidFill>
                  </a:rPr>
                  <a:t>o.s.</a:t>
                </a:r>
                <a:br>
                  <a:rPr lang="en-US" sz="1600" dirty="0">
                    <a:solidFill>
                      <a:schemeClr val="tx1"/>
                    </a:solidFill>
                  </a:rPr>
                </a:br>
                <a:r>
                  <a:rPr lang="en-US" sz="1600" dirty="0">
                    <a:solidFill>
                      <a:schemeClr val="tx1"/>
                    </a:solidFill>
                  </a:rPr>
                  <a:t>in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items.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07F2B89-2759-4220-8620-5CAA4ADF56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9633" y="2994515"/>
                <a:ext cx="1376856" cy="434485"/>
              </a:xfrm>
              <a:prstGeom prst="rect">
                <a:avLst/>
              </a:prstGeom>
              <a:blipFill>
                <a:blip r:embed="rId2"/>
                <a:stretch>
                  <a:fillRect l="-439" t="-18667" b="-24000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1" name="组合 70">
            <a:extLst>
              <a:ext uri="{FF2B5EF4-FFF2-40B4-BE49-F238E27FC236}">
                <a16:creationId xmlns:a16="http://schemas.microsoft.com/office/drawing/2014/main" id="{B99F6157-CB60-4118-B773-2E9482A78319}"/>
              </a:ext>
            </a:extLst>
          </p:cNvPr>
          <p:cNvGrpSpPr/>
          <p:nvPr/>
        </p:nvGrpSpPr>
        <p:grpSpPr>
          <a:xfrm>
            <a:off x="5629767" y="3429000"/>
            <a:ext cx="1596588" cy="651727"/>
            <a:chOff x="5629767" y="3429000"/>
            <a:chExt cx="1596588" cy="6517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CAAB70D5-CB64-4116-B856-9DBE2959C2A1}"/>
                    </a:ext>
                  </a:extLst>
                </p:cNvPr>
                <p:cNvSpPr/>
                <p:nvPr/>
              </p:nvSpPr>
              <p:spPr>
                <a:xfrm>
                  <a:off x="5629767" y="3646242"/>
                  <a:ext cx="1596588" cy="434485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sz="1600" dirty="0">
                      <a:solidFill>
                        <a:schemeClr val="tx1"/>
                      </a:solidFill>
                    </a:rPr>
                    <a:t>find some </a:t>
                  </a:r>
                  <a:r>
                    <a:rPr lang="en-US" sz="1600" dirty="0" err="1">
                      <a:solidFill>
                        <a:schemeClr val="tx1"/>
                      </a:solidFill>
                    </a:rPr>
                    <a:t>o.s.</a:t>
                  </a:r>
                  <a:br>
                    <a:rPr lang="en-US" sz="1600" dirty="0">
                      <a:solidFill>
                        <a:schemeClr val="tx1"/>
                      </a:solidFill>
                    </a:rPr>
                  </a:br>
                  <a:r>
                    <a:rPr lang="en-US" sz="1600" dirty="0">
                      <a:solidFill>
                        <a:schemeClr val="tx1"/>
                      </a:solidFill>
                    </a:rPr>
                    <a:t>in </a:t>
                  </a:r>
                  <a14:m>
                    <m:oMath xmlns:m="http://schemas.openxmlformats.org/officeDocument/2006/math"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0.8</m:t>
                      </m:r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US" sz="1600" dirty="0">
                      <a:solidFill>
                        <a:schemeClr val="tx1"/>
                      </a:solidFill>
                    </a:rPr>
                    <a:t> items.</a:t>
                  </a:r>
                </a:p>
              </p:txBody>
            </p:sp>
          </mc:Choice>
          <mc:Fallback xmlns="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CAAB70D5-CB64-4116-B856-9DBE2959C2A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9767" y="3646242"/>
                  <a:ext cx="1596588" cy="434485"/>
                </a:xfrm>
                <a:prstGeom prst="rect">
                  <a:avLst/>
                </a:prstGeom>
                <a:blipFill>
                  <a:blip r:embed="rId3"/>
                  <a:stretch>
                    <a:fillRect t="-18919" b="-25676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285A72B0-FE5C-4518-A6E5-C155EEEAB730}"/>
                </a:ext>
              </a:extLst>
            </p:cNvPr>
            <p:cNvCxnSpPr>
              <a:cxnSpLocks/>
              <a:stCxn id="8" idx="2"/>
              <a:endCxn id="10" idx="0"/>
            </p:cNvCxnSpPr>
            <p:nvPr/>
          </p:nvCxnSpPr>
          <p:spPr>
            <a:xfrm>
              <a:off x="6428061" y="3429000"/>
              <a:ext cx="0" cy="21724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0786846E-8620-44A9-BB9F-87E4F86434C1}"/>
              </a:ext>
            </a:extLst>
          </p:cNvPr>
          <p:cNvGrpSpPr/>
          <p:nvPr/>
        </p:nvGrpSpPr>
        <p:grpSpPr>
          <a:xfrm>
            <a:off x="5569579" y="4080727"/>
            <a:ext cx="1716964" cy="651727"/>
            <a:chOff x="5569579" y="4080727"/>
            <a:chExt cx="1716964" cy="6517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9C3C86D8-B731-4537-9ACB-8051E82B7EDE}"/>
                    </a:ext>
                  </a:extLst>
                </p:cNvPr>
                <p:cNvSpPr/>
                <p:nvPr/>
              </p:nvSpPr>
              <p:spPr>
                <a:xfrm>
                  <a:off x="5569579" y="4297969"/>
                  <a:ext cx="1716964" cy="434485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sz="1600" dirty="0">
                      <a:solidFill>
                        <a:schemeClr val="tx1"/>
                      </a:solidFill>
                    </a:rPr>
                    <a:t>find some </a:t>
                  </a:r>
                  <a:r>
                    <a:rPr lang="en-US" sz="1600" dirty="0" err="1">
                      <a:solidFill>
                        <a:schemeClr val="tx1"/>
                      </a:solidFill>
                    </a:rPr>
                    <a:t>o.s.</a:t>
                  </a:r>
                  <a:br>
                    <a:rPr lang="en-US" sz="1600" dirty="0">
                      <a:solidFill>
                        <a:schemeClr val="tx1"/>
                      </a:solidFill>
                    </a:rPr>
                  </a:br>
                  <a:r>
                    <a:rPr lang="en-US" sz="1600" dirty="0">
                      <a:solidFill>
                        <a:schemeClr val="tx1"/>
                      </a:solidFill>
                    </a:rPr>
                    <a:t>in </a:t>
                  </a:r>
                  <a14:m>
                    <m:oMath xmlns:m="http://schemas.openxmlformats.org/officeDocument/2006/math"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0.8</m:t>
                      </m:r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a14:m>
                  <a:r>
                    <a:rPr lang="en-US" sz="1600" dirty="0">
                      <a:solidFill>
                        <a:schemeClr val="tx1"/>
                      </a:solidFill>
                    </a:rPr>
                    <a:t> items.</a:t>
                  </a:r>
                </a:p>
              </p:txBody>
            </p:sp>
          </mc:Choice>
          <mc:Fallback xmlns="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9C3C86D8-B731-4537-9ACB-8051E82B7ED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9579" y="4297969"/>
                  <a:ext cx="1716964" cy="434485"/>
                </a:xfrm>
                <a:prstGeom prst="rect">
                  <a:avLst/>
                </a:prstGeom>
                <a:blipFill>
                  <a:blip r:embed="rId4"/>
                  <a:stretch>
                    <a:fillRect l="-352" t="-18919" b="-25676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6AFC2727-EA7D-4FAD-A199-932642A78715}"/>
                </a:ext>
              </a:extLst>
            </p:cNvPr>
            <p:cNvCxnSpPr>
              <a:cxnSpLocks/>
              <a:stCxn id="10" idx="2"/>
              <a:endCxn id="17" idx="0"/>
            </p:cNvCxnSpPr>
            <p:nvPr/>
          </p:nvCxnSpPr>
          <p:spPr>
            <a:xfrm>
              <a:off x="6428061" y="4080727"/>
              <a:ext cx="0" cy="21724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9A7A0AEA-2CD6-43DD-AA5E-760A25E13BEB}"/>
              </a:ext>
            </a:extLst>
          </p:cNvPr>
          <p:cNvGrpSpPr/>
          <p:nvPr/>
        </p:nvGrpSpPr>
        <p:grpSpPr>
          <a:xfrm>
            <a:off x="5339788" y="4732454"/>
            <a:ext cx="2176545" cy="651727"/>
            <a:chOff x="5339788" y="4732454"/>
            <a:chExt cx="2176545" cy="6517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137BCBEF-A3CF-42DE-9FDF-3EAEDDBEA038}"/>
                    </a:ext>
                  </a:extLst>
                </p:cNvPr>
                <p:cNvSpPr/>
                <p:nvPr/>
              </p:nvSpPr>
              <p:spPr>
                <a:xfrm>
                  <a:off x="5339788" y="4949696"/>
                  <a:ext cx="2176545" cy="434485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sz="1600" dirty="0">
                      <a:solidFill>
                        <a:schemeClr val="tx1"/>
                      </a:solidFill>
                    </a:rPr>
                    <a:t>find some </a:t>
                  </a:r>
                  <a:r>
                    <a:rPr lang="en-US" sz="1600" dirty="0" err="1">
                      <a:solidFill>
                        <a:schemeClr val="tx1"/>
                      </a:solidFill>
                    </a:rPr>
                    <a:t>o.s.</a:t>
                  </a:r>
                  <a:br>
                    <a:rPr lang="en-US" sz="1600" dirty="0">
                      <a:solidFill>
                        <a:schemeClr val="tx1"/>
                      </a:solidFill>
                    </a:rPr>
                  </a:br>
                  <a:r>
                    <a:rPr lang="en-US" sz="1600" dirty="0">
                      <a:solidFill>
                        <a:schemeClr val="tx1"/>
                      </a:solidFill>
                    </a:rPr>
                    <a:t>in </a:t>
                  </a:r>
                  <a14:m>
                    <m:oMath xmlns:m="http://schemas.openxmlformats.org/officeDocument/2006/math">
                      <m:r>
                        <a:rPr lang="en-US" sz="16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0.8</m:t>
                      </m:r>
                      <m:d>
                        <m:d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0.8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a14:m>
                  <a:r>
                    <a:rPr lang="en-US" sz="1600" dirty="0">
                      <a:solidFill>
                        <a:schemeClr val="tx1"/>
                      </a:solidFill>
                    </a:rPr>
                    <a:t> items.</a:t>
                  </a:r>
                </a:p>
              </p:txBody>
            </p:sp>
          </mc:Choice>
          <mc:Fallback xmlns="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137BCBEF-A3CF-42DE-9FDF-3EAEDDBEA03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9788" y="4949696"/>
                  <a:ext cx="2176545" cy="434485"/>
                </a:xfrm>
                <a:prstGeom prst="rect">
                  <a:avLst/>
                </a:prstGeom>
                <a:blipFill>
                  <a:blip r:embed="rId5"/>
                  <a:stretch>
                    <a:fillRect t="-18919" b="-25676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52A46F1C-9438-4F00-B7B6-3E6351091E2A}"/>
                </a:ext>
              </a:extLst>
            </p:cNvPr>
            <p:cNvCxnSpPr>
              <a:cxnSpLocks/>
              <a:stCxn id="17" idx="2"/>
              <a:endCxn id="23" idx="0"/>
            </p:cNvCxnSpPr>
            <p:nvPr/>
          </p:nvCxnSpPr>
          <p:spPr>
            <a:xfrm>
              <a:off x="6428061" y="4732454"/>
              <a:ext cx="0" cy="21724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593B3865-BAB4-4ACC-A662-7482456554B8}"/>
              </a:ext>
            </a:extLst>
          </p:cNvPr>
          <p:cNvGrpSpPr/>
          <p:nvPr/>
        </p:nvGrpSpPr>
        <p:grpSpPr>
          <a:xfrm>
            <a:off x="5783848" y="5384181"/>
            <a:ext cx="1288421" cy="965503"/>
            <a:chOff x="5783848" y="5384181"/>
            <a:chExt cx="1288421" cy="965503"/>
          </a:xfrm>
        </p:grpSpPr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653C61E9-E781-4159-808E-C795A70888EF}"/>
                </a:ext>
              </a:extLst>
            </p:cNvPr>
            <p:cNvCxnSpPr>
              <a:cxnSpLocks/>
              <a:stCxn id="23" idx="2"/>
            </p:cNvCxnSpPr>
            <p:nvPr/>
          </p:nvCxnSpPr>
          <p:spPr>
            <a:xfrm>
              <a:off x="6428061" y="5384181"/>
              <a:ext cx="0" cy="2503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5B28A44F-410F-4678-A635-FC96F9F3C60E}"/>
                </a:ext>
              </a:extLst>
            </p:cNvPr>
            <p:cNvSpPr/>
            <p:nvPr/>
          </p:nvSpPr>
          <p:spPr>
            <a:xfrm>
              <a:off x="6264858" y="5538226"/>
              <a:ext cx="326397" cy="251315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2800" dirty="0">
                  <a:solidFill>
                    <a:schemeClr val="tx1"/>
                  </a:solidFill>
                </a:rPr>
                <a:t>…</a:t>
              </a:r>
            </a:p>
          </p:txBody>
        </p: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CD23030A-3260-4D1A-B39F-91F8CA1B2849}"/>
                </a:ext>
              </a:extLst>
            </p:cNvPr>
            <p:cNvCxnSpPr>
              <a:cxnSpLocks/>
              <a:endCxn id="44" idx="0"/>
            </p:cNvCxnSpPr>
            <p:nvPr/>
          </p:nvCxnSpPr>
          <p:spPr>
            <a:xfrm>
              <a:off x="6428057" y="5862776"/>
              <a:ext cx="2" cy="23559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24C6D276-FBC1-45AE-9097-66FE551B99DB}"/>
                </a:ext>
              </a:extLst>
            </p:cNvPr>
            <p:cNvSpPr/>
            <p:nvPr/>
          </p:nvSpPr>
          <p:spPr>
            <a:xfrm>
              <a:off x="5783848" y="6098369"/>
              <a:ext cx="1288421" cy="25131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1600" dirty="0">
                  <a:solidFill>
                    <a:schemeClr val="tx1"/>
                  </a:solidFill>
                </a:rPr>
                <a:t>we are done.</a:t>
              </a:r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20A9EF63-0372-4DC4-A7CF-D2C3A445DF92}"/>
              </a:ext>
            </a:extLst>
          </p:cNvPr>
          <p:cNvSpPr txBox="1"/>
          <p:nvPr/>
        </p:nvSpPr>
        <p:spPr>
          <a:xfrm>
            <a:off x="103133" y="2848756"/>
            <a:ext cx="45261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Call a partition </a:t>
            </a:r>
            <a:r>
              <a:rPr lang="en-US" sz="2000" b="1" i="1" dirty="0">
                <a:solidFill>
                  <a:srgbClr val="C00000"/>
                </a:solidFill>
              </a:rPr>
              <a:t>good</a:t>
            </a:r>
            <a:r>
              <a:rPr lang="en-US" sz="2000" dirty="0"/>
              <a:t> if it reduces problem</a:t>
            </a:r>
            <a:br>
              <a:rPr lang="en-US" sz="2000" dirty="0"/>
            </a:br>
            <a:r>
              <a:rPr lang="en-US" sz="2000" dirty="0"/>
              <a:t>size to at most 0.8*</a:t>
            </a:r>
            <a:r>
              <a:rPr lang="en-US" sz="2000" dirty="0" err="1"/>
              <a:t>input_size</a:t>
            </a:r>
            <a:r>
              <a:rPr lang="en-US" sz="2000" dirty="0"/>
              <a:t>.</a:t>
            </a:r>
          </a:p>
        </p:txBody>
      </p: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712BA8B1-21EC-4A04-B35E-C81CA0EA04D0}"/>
              </a:ext>
            </a:extLst>
          </p:cNvPr>
          <p:cNvCxnSpPr>
            <a:cxnSpLocks/>
          </p:cNvCxnSpPr>
          <p:nvPr/>
        </p:nvCxnSpPr>
        <p:spPr>
          <a:xfrm flipH="1">
            <a:off x="6591256" y="3537621"/>
            <a:ext cx="2321516" cy="0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6E76ADEB-FEAE-41B7-BDA0-EAD8FA1E9A32}"/>
              </a:ext>
            </a:extLst>
          </p:cNvPr>
          <p:cNvCxnSpPr>
            <a:cxnSpLocks/>
          </p:cNvCxnSpPr>
          <p:nvPr/>
        </p:nvCxnSpPr>
        <p:spPr>
          <a:xfrm flipH="1">
            <a:off x="6591255" y="4841075"/>
            <a:ext cx="2321516" cy="0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D36AF6B8-0860-4AE9-A1B9-D291BC1D059B}"/>
                  </a:ext>
                </a:extLst>
              </p:cNvPr>
              <p:cNvSpPr txBox="1"/>
              <p:nvPr/>
            </p:nvSpPr>
            <p:spPr>
              <a:xfrm>
                <a:off x="103133" y="3537621"/>
                <a:ext cx="430643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Let </a:t>
                </a:r>
                <a:r>
                  <a:rPr lang="en-US" sz="2000" dirty="0" err="1"/>
                  <a:t>r.v.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be the cost since the last </a:t>
                </a:r>
                <a:br>
                  <a:rPr lang="en-US" sz="2000" dirty="0"/>
                </a:br>
                <a:r>
                  <a:rPr lang="en-US" sz="2000" dirty="0"/>
                  <a:t>good partition to the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baseline="30000" dirty="0" err="1"/>
                  <a:t>th</a:t>
                </a:r>
                <a:r>
                  <a:rPr lang="en-US" sz="2000" dirty="0"/>
                  <a:t> good partition.</a:t>
                </a:r>
              </a:p>
            </p:txBody>
          </p:sp>
        </mc:Choice>
        <mc:Fallback xmlns="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D36AF6B8-0860-4AE9-A1B9-D291BC1D0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33" y="3537621"/>
                <a:ext cx="4306435" cy="707886"/>
              </a:xfrm>
              <a:prstGeom prst="rect">
                <a:avLst/>
              </a:prstGeom>
              <a:blipFill>
                <a:blip r:embed="rId6"/>
                <a:stretch>
                  <a:fillRect l="-1558" t="-4310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3" name="组合 82">
            <a:extLst>
              <a:ext uri="{FF2B5EF4-FFF2-40B4-BE49-F238E27FC236}">
                <a16:creationId xmlns:a16="http://schemas.microsoft.com/office/drawing/2014/main" id="{DE4090C2-F140-4399-A2AE-137C11053833}"/>
              </a:ext>
            </a:extLst>
          </p:cNvPr>
          <p:cNvGrpSpPr/>
          <p:nvPr/>
        </p:nvGrpSpPr>
        <p:grpSpPr>
          <a:xfrm>
            <a:off x="7645338" y="2934144"/>
            <a:ext cx="690905" cy="549164"/>
            <a:chOff x="7645338" y="2934144"/>
            <a:chExt cx="690905" cy="549164"/>
          </a:xfrm>
        </p:grpSpPr>
        <p:sp>
          <p:nvSpPr>
            <p:cNvPr id="81" name="箭头: 上下 80">
              <a:extLst>
                <a:ext uri="{FF2B5EF4-FFF2-40B4-BE49-F238E27FC236}">
                  <a16:creationId xmlns:a16="http://schemas.microsoft.com/office/drawing/2014/main" id="{991C7B48-9A71-424B-AC83-47749D09EAB9}"/>
                </a:ext>
              </a:extLst>
            </p:cNvPr>
            <p:cNvSpPr/>
            <p:nvPr/>
          </p:nvSpPr>
          <p:spPr>
            <a:xfrm>
              <a:off x="7645338" y="2934144"/>
              <a:ext cx="162770" cy="549164"/>
            </a:xfrm>
            <a:prstGeom prst="upDown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矩形 81">
                  <a:extLst>
                    <a:ext uri="{FF2B5EF4-FFF2-40B4-BE49-F238E27FC236}">
                      <a16:creationId xmlns:a16="http://schemas.microsoft.com/office/drawing/2014/main" id="{8597E04D-E69E-45A9-A9DE-04B861E0D471}"/>
                    </a:ext>
                  </a:extLst>
                </p:cNvPr>
                <p:cNvSpPr/>
                <p:nvPr/>
              </p:nvSpPr>
              <p:spPr>
                <a:xfrm>
                  <a:off x="7780835" y="2977893"/>
                  <a:ext cx="55540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2" name="矩形 81">
                  <a:extLst>
                    <a:ext uri="{FF2B5EF4-FFF2-40B4-BE49-F238E27FC236}">
                      <a16:creationId xmlns:a16="http://schemas.microsoft.com/office/drawing/2014/main" id="{8597E04D-E69E-45A9-A9DE-04B861E0D4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0835" y="2977893"/>
                  <a:ext cx="555408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BE4A3440-7168-4E81-927B-5B75575ACEA4}"/>
              </a:ext>
            </a:extLst>
          </p:cNvPr>
          <p:cNvGrpSpPr/>
          <p:nvPr/>
        </p:nvGrpSpPr>
        <p:grpSpPr>
          <a:xfrm>
            <a:off x="7645338" y="3928036"/>
            <a:ext cx="698023" cy="549164"/>
            <a:chOff x="7645338" y="2934144"/>
            <a:chExt cx="698023" cy="549164"/>
          </a:xfrm>
        </p:grpSpPr>
        <p:sp>
          <p:nvSpPr>
            <p:cNvPr id="85" name="箭头: 上下 84">
              <a:extLst>
                <a:ext uri="{FF2B5EF4-FFF2-40B4-BE49-F238E27FC236}">
                  <a16:creationId xmlns:a16="http://schemas.microsoft.com/office/drawing/2014/main" id="{05E5746F-9619-49BD-8D45-930B74C83F4B}"/>
                </a:ext>
              </a:extLst>
            </p:cNvPr>
            <p:cNvSpPr/>
            <p:nvPr/>
          </p:nvSpPr>
          <p:spPr>
            <a:xfrm>
              <a:off x="7645338" y="2934144"/>
              <a:ext cx="162770" cy="549164"/>
            </a:xfrm>
            <a:prstGeom prst="upDown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矩形 85">
                  <a:extLst>
                    <a:ext uri="{FF2B5EF4-FFF2-40B4-BE49-F238E27FC236}">
                      <a16:creationId xmlns:a16="http://schemas.microsoft.com/office/drawing/2014/main" id="{6FE6FBD7-7288-4D40-A908-CEB42A2CFE96}"/>
                    </a:ext>
                  </a:extLst>
                </p:cNvPr>
                <p:cNvSpPr/>
                <p:nvPr/>
              </p:nvSpPr>
              <p:spPr>
                <a:xfrm>
                  <a:off x="7780835" y="2977893"/>
                  <a:ext cx="562526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6" name="矩形 85">
                  <a:extLst>
                    <a:ext uri="{FF2B5EF4-FFF2-40B4-BE49-F238E27FC236}">
                      <a16:creationId xmlns:a16="http://schemas.microsoft.com/office/drawing/2014/main" id="{6FE6FBD7-7288-4D40-A908-CEB42A2CFE9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0835" y="2977893"/>
                  <a:ext cx="562526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1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2F46B2CB-C7B2-4EBB-B5E5-F3B74590AB0C}"/>
                  </a:ext>
                </a:extLst>
              </p:cNvPr>
              <p:cNvSpPr txBox="1"/>
              <p:nvPr/>
            </p:nvSpPr>
            <p:spPr>
              <a:xfrm>
                <a:off x="103133" y="4245507"/>
                <a:ext cx="470385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At most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1.25</m:t>
                            </m:r>
                          </m:sub>
                        </m:sSub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sz="2000" dirty="0"/>
                  <a:t> good partitions can occur.</a:t>
                </a:r>
              </a:p>
            </p:txBody>
          </p:sp>
        </mc:Choice>
        <mc:Fallback xmlns="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2F46B2CB-C7B2-4EBB-B5E5-F3B74590A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33" y="4245507"/>
                <a:ext cx="4703852" cy="400110"/>
              </a:xfrm>
              <a:prstGeom prst="rect">
                <a:avLst/>
              </a:prstGeom>
              <a:blipFill>
                <a:blip r:embed="rId9"/>
                <a:stretch>
                  <a:fillRect l="-1425" t="-7576" r="-518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A45FE5C6-9A4C-42C8-BAB3-CF117C044A91}"/>
                  </a:ext>
                </a:extLst>
              </p:cNvPr>
              <p:cNvSpPr txBox="1"/>
              <p:nvPr/>
            </p:nvSpPr>
            <p:spPr>
              <a:xfrm>
                <a:off x="231229" y="4717702"/>
                <a:ext cx="2972480" cy="3812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0.8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A45FE5C6-9A4C-42C8-BAB3-CF117C044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229" y="4717702"/>
                <a:ext cx="2972480" cy="381258"/>
              </a:xfrm>
              <a:prstGeom prst="rect">
                <a:avLst/>
              </a:prstGeom>
              <a:blipFill>
                <a:blip r:embed="rId10"/>
                <a:stretch>
                  <a:fillRect l="-3689" t="-1613"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EEB90990-C996-41F1-B078-B8C29FF15747}"/>
                  </a:ext>
                </a:extLst>
              </p:cNvPr>
              <p:cNvSpPr txBox="1"/>
              <p:nvPr/>
            </p:nvSpPr>
            <p:spPr>
              <a:xfrm>
                <a:off x="226255" y="5201011"/>
                <a:ext cx="7091840" cy="90932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func>
                                <m:func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1.25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</m:sup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func>
                            <m:func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1.25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EEB90990-C996-41F1-B078-B8C29FF157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255" y="5201011"/>
                <a:ext cx="7091840" cy="909327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1050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75" grpId="0"/>
      <p:bldP spid="80" grpId="0"/>
      <p:bldP spid="87" grpId="0"/>
      <p:bldP spid="88" grpId="0"/>
      <p:bldP spid="9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77D6471-87AC-4181-89B7-C0873114090A}"/>
              </a:ext>
            </a:extLst>
          </p:cNvPr>
          <p:cNvSpPr/>
          <p:nvPr/>
        </p:nvSpPr>
        <p:spPr>
          <a:xfrm>
            <a:off x="3815255" y="156179"/>
            <a:ext cx="5225612" cy="25870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RndSelect</a:t>
            </a:r>
            <a:r>
              <a:rPr lang="en-GB" sz="1600" b="1" u="sng" dirty="0">
                <a:solidFill>
                  <a:schemeClr val="tx1"/>
                </a:solidFill>
              </a:rPr>
              <a:t>(A, </a:t>
            </a:r>
            <a:r>
              <a:rPr lang="en-GB" sz="1600" b="1" u="sng" dirty="0" err="1">
                <a:solidFill>
                  <a:schemeClr val="tx1"/>
                </a:solidFill>
              </a:rPr>
              <a:t>i</a:t>
            </a:r>
            <a:r>
              <a:rPr lang="en-GB" sz="1600" b="1" u="sng" dirty="0">
                <a:solidFill>
                  <a:schemeClr val="tx1"/>
                </a:solidFill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A.size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A[1]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q =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RandomPartition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==q)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A[q]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elseif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&lt;q)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RndSelect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(A[1…(q-1)],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RndSelect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(A[(q+1)…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A.size,i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-q])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DF8796F-222B-4D05-B1BF-A6C59DF3B457}"/>
              </a:ext>
            </a:extLst>
          </p:cNvPr>
          <p:cNvSpPr txBox="1"/>
          <p:nvPr/>
        </p:nvSpPr>
        <p:spPr>
          <a:xfrm>
            <a:off x="103133" y="156179"/>
            <a:ext cx="37059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Best-case: chooses the answer as </a:t>
            </a:r>
            <a:br>
              <a:rPr lang="en-US" sz="2000" dirty="0"/>
            </a:br>
            <a:r>
              <a:rPr lang="en-US" sz="2000" dirty="0"/>
              <a:t>the pivot right away.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2D45027-468B-40E2-8F0A-7D075E254E7E}"/>
              </a:ext>
            </a:extLst>
          </p:cNvPr>
          <p:cNvSpPr txBox="1"/>
          <p:nvPr/>
        </p:nvSpPr>
        <p:spPr>
          <a:xfrm>
            <a:off x="6031710" y="156179"/>
            <a:ext cx="30091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A Divide-and-Conquer Alg.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FB818FE-00E1-4EE6-9762-B401D8C28D65}"/>
              </a:ext>
            </a:extLst>
          </p:cNvPr>
          <p:cNvSpPr txBox="1"/>
          <p:nvPr/>
        </p:nvSpPr>
        <p:spPr>
          <a:xfrm>
            <a:off x="103133" y="969621"/>
            <a:ext cx="37912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Worst-case: partition process only </a:t>
            </a:r>
            <a:br>
              <a:rPr lang="en-US" sz="2000" dirty="0"/>
            </a:br>
            <a:r>
              <a:rPr lang="en-US" sz="2000" dirty="0"/>
              <a:t>reduces problem size by one.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72FF017-54D6-4186-ACDA-D4845F604CE9}"/>
              </a:ext>
            </a:extLst>
          </p:cNvPr>
          <p:cNvSpPr txBox="1"/>
          <p:nvPr/>
        </p:nvSpPr>
        <p:spPr>
          <a:xfrm>
            <a:off x="103133" y="1783063"/>
            <a:ext cx="371864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What’s likely to happen: partition </a:t>
            </a:r>
            <a:br>
              <a:rPr lang="en-US" sz="2000" dirty="0">
                <a:solidFill>
                  <a:srgbClr val="C00000"/>
                </a:solidFill>
              </a:rPr>
            </a:br>
            <a:r>
              <a:rPr lang="en-US" sz="2000" dirty="0">
                <a:solidFill>
                  <a:srgbClr val="C00000"/>
                </a:solidFill>
              </a:rPr>
              <a:t>process reduces problem size by</a:t>
            </a:r>
            <a:br>
              <a:rPr lang="en-US" sz="2000" dirty="0">
                <a:solidFill>
                  <a:srgbClr val="C00000"/>
                </a:solidFill>
              </a:rPr>
            </a:br>
            <a:r>
              <a:rPr lang="en-US" sz="2000" dirty="0">
                <a:solidFill>
                  <a:srgbClr val="C00000"/>
                </a:solidFill>
              </a:rPr>
              <a:t>a </a:t>
            </a:r>
            <a:r>
              <a:rPr lang="en-US" sz="2000" i="1" dirty="0">
                <a:solidFill>
                  <a:srgbClr val="C00000"/>
                </a:solidFill>
              </a:rPr>
              <a:t>constant</a:t>
            </a:r>
            <a:r>
              <a:rPr lang="en-US" sz="2000" dirty="0">
                <a:solidFill>
                  <a:srgbClr val="C00000"/>
                </a:solidFill>
              </a:rPr>
              <a:t> factor.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4AB8274-205B-4D12-ADF7-EF5B8450B506}"/>
                  </a:ext>
                </a:extLst>
              </p:cNvPr>
              <p:cNvSpPr txBox="1"/>
              <p:nvPr/>
            </p:nvSpPr>
            <p:spPr>
              <a:xfrm>
                <a:off x="103133" y="3075057"/>
                <a:ext cx="754757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Cost on an input of size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b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</a:b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(cost on an input of size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0.8</m:t>
                    </m:r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) + (cost to reduce input to size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≤0.8</m:t>
                    </m:r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4AB8274-205B-4D12-ADF7-EF5B8450B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33" y="3075057"/>
                <a:ext cx="7547579" cy="707886"/>
              </a:xfrm>
              <a:prstGeom prst="rect">
                <a:avLst/>
              </a:prstGeom>
              <a:blipFill>
                <a:blip r:embed="rId2"/>
                <a:stretch>
                  <a:fillRect l="-889" t="-4274" b="-136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8DA3E8B0-764A-45EA-9458-F2AEBB6DB8B5}"/>
                  </a:ext>
                </a:extLst>
              </p:cNvPr>
              <p:cNvSpPr txBox="1"/>
              <p:nvPr/>
            </p:nvSpPr>
            <p:spPr>
              <a:xfrm>
                <a:off x="217250" y="4059274"/>
                <a:ext cx="870950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0.8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𝑐𝑜𝑠𝑡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𝑡𝑜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𝑟𝑒𝑑𝑢𝑐𝑒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𝑠𝑖𝑧𝑒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𝑖𝑛𝑝𝑢𝑡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𝑡𝑜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≤0.8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8DA3E8B0-764A-45EA-9458-F2AEBB6DB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250" y="4059274"/>
                <a:ext cx="8709500" cy="369332"/>
              </a:xfrm>
              <a:prstGeom prst="rect">
                <a:avLst/>
              </a:prstGeom>
              <a:blipFill>
                <a:blip r:embed="rId3"/>
                <a:stretch>
                  <a:fillRect l="-1261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F1802F45-C7E8-43F1-9715-812EC8C92CBF}"/>
                  </a:ext>
                </a:extLst>
              </p:cNvPr>
              <p:cNvSpPr txBox="1"/>
              <p:nvPr/>
            </p:nvSpPr>
            <p:spPr>
              <a:xfrm>
                <a:off x="217250" y="4520271"/>
                <a:ext cx="39681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0.8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F1802F45-C7E8-43F1-9715-812EC8C92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250" y="4520271"/>
                <a:ext cx="3968138" cy="369332"/>
              </a:xfrm>
              <a:prstGeom prst="rect">
                <a:avLst/>
              </a:prstGeom>
              <a:blipFill>
                <a:blip r:embed="rId4"/>
                <a:stretch>
                  <a:fillRect l="-2765" r="-922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1E62F4E6-7600-437C-8D85-BC5F82B4DE76}"/>
                  </a:ext>
                </a:extLst>
              </p:cNvPr>
              <p:cNvSpPr txBox="1"/>
              <p:nvPr/>
            </p:nvSpPr>
            <p:spPr>
              <a:xfrm>
                <a:off x="3116898" y="5199850"/>
                <a:ext cx="2910203" cy="54483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1E62F4E6-7600-437C-8D85-BC5F82B4D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6898" y="5199850"/>
                <a:ext cx="2910203" cy="54483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5963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9" grpId="0"/>
      <p:bldP spid="4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807B36-3C46-4D2B-8D69-3E842E234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05" y="165429"/>
            <a:ext cx="7886700" cy="769991"/>
          </a:xfrm>
        </p:spPr>
        <p:txBody>
          <a:bodyPr/>
          <a:lstStyle/>
          <a:p>
            <a:r>
              <a:rPr lang="en-US" b="1" dirty="0" err="1"/>
              <a:t>RndQuickSort</a:t>
            </a:r>
            <a:r>
              <a:rPr lang="en-US" dirty="0"/>
              <a:t> vs </a:t>
            </a:r>
            <a:r>
              <a:rPr lang="en-US" b="1" dirty="0" err="1"/>
              <a:t>RndSelect</a:t>
            </a:r>
            <a:endParaRPr lang="en-US" b="1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D27B3F2-0AF3-4BA3-B6B3-FBC733D82C52}"/>
              </a:ext>
            </a:extLst>
          </p:cNvPr>
          <p:cNvSpPr/>
          <p:nvPr/>
        </p:nvSpPr>
        <p:spPr>
          <a:xfrm>
            <a:off x="3741683" y="935420"/>
            <a:ext cx="5225612" cy="25870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RndSelect</a:t>
            </a:r>
            <a:r>
              <a:rPr lang="en-GB" sz="1600" b="1" u="sng" dirty="0">
                <a:solidFill>
                  <a:schemeClr val="tx1"/>
                </a:solidFill>
              </a:rPr>
              <a:t>(A, </a:t>
            </a:r>
            <a:r>
              <a:rPr lang="en-GB" sz="1600" b="1" u="sng" dirty="0" err="1">
                <a:solidFill>
                  <a:schemeClr val="tx1"/>
                </a:solidFill>
              </a:rPr>
              <a:t>i</a:t>
            </a:r>
            <a:r>
              <a:rPr lang="en-GB" sz="1600" b="1" u="sng" dirty="0">
                <a:solidFill>
                  <a:schemeClr val="tx1"/>
                </a:solidFill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A.size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A[1]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q =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RandomPartition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==q)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A[q]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elseif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&lt;q)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RndSelect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(A[1…(q-1)],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RndSelect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(A[(q+1)…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A.size,i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-q])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7A747DD-C1B9-490B-B66B-BF9F91F0C2B1}"/>
              </a:ext>
            </a:extLst>
          </p:cNvPr>
          <p:cNvSpPr/>
          <p:nvPr/>
        </p:nvSpPr>
        <p:spPr>
          <a:xfrm>
            <a:off x="176705" y="1597940"/>
            <a:ext cx="3426372" cy="126197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RndQuickSort</a:t>
            </a:r>
            <a:r>
              <a:rPr lang="en-GB" sz="1600" b="1" u="sng" dirty="0">
                <a:solidFill>
                  <a:schemeClr val="tx1"/>
                </a:solidFill>
              </a:rPr>
              <a:t>(A):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A.size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&gt;1)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q =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RandomPartition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RndQuickSort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(A[1…(q-1)])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RndQuickSort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(A[(q+1)…n])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FE93FE7-7FCD-4CB1-8B4A-137F243DCF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2811" y="3655123"/>
            <a:ext cx="4359189" cy="29602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D86EE4F-4F86-44A7-AF88-C090C50ACD12}"/>
                  </a:ext>
                </a:extLst>
              </p:cNvPr>
              <p:cNvSpPr/>
              <p:nvPr/>
            </p:nvSpPr>
            <p:spPr>
              <a:xfrm>
                <a:off x="5078795" y="3715494"/>
                <a:ext cx="1376856" cy="43448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sz="1600" dirty="0">
                    <a:solidFill>
                      <a:schemeClr val="tx1"/>
                    </a:solidFill>
                  </a:rPr>
                  <a:t>find some </a:t>
                </a:r>
                <a:r>
                  <a:rPr lang="en-US" sz="1600" dirty="0" err="1">
                    <a:solidFill>
                      <a:schemeClr val="tx1"/>
                    </a:solidFill>
                  </a:rPr>
                  <a:t>o.s.</a:t>
                </a:r>
                <a:br>
                  <a:rPr lang="en-US" sz="1600" dirty="0">
                    <a:solidFill>
                      <a:schemeClr val="tx1"/>
                    </a:solidFill>
                  </a:rPr>
                </a:br>
                <a:r>
                  <a:rPr lang="en-US" sz="1600" dirty="0">
                    <a:solidFill>
                      <a:schemeClr val="tx1"/>
                    </a:solidFill>
                  </a:rPr>
                  <a:t>in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items.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D86EE4F-4F86-44A7-AF88-C090C50ACD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8795" y="3715494"/>
                <a:ext cx="1376856" cy="434485"/>
              </a:xfrm>
              <a:prstGeom prst="rect">
                <a:avLst/>
              </a:prstGeom>
              <a:blipFill>
                <a:blip r:embed="rId4"/>
                <a:stretch>
                  <a:fillRect t="-17333" b="-25333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3E01C5A6-3D93-4A48-8EC0-B616F6F6CADF}"/>
                  </a:ext>
                </a:extLst>
              </p:cNvPr>
              <p:cNvSpPr/>
              <p:nvPr/>
            </p:nvSpPr>
            <p:spPr>
              <a:xfrm>
                <a:off x="4968929" y="4367221"/>
                <a:ext cx="1596588" cy="43448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sz="1600" dirty="0">
                    <a:solidFill>
                      <a:schemeClr val="tx1"/>
                    </a:solidFill>
                  </a:rPr>
                  <a:t>find some </a:t>
                </a:r>
                <a:r>
                  <a:rPr lang="en-US" sz="1600" dirty="0" err="1">
                    <a:solidFill>
                      <a:schemeClr val="tx1"/>
                    </a:solidFill>
                  </a:rPr>
                  <a:t>o.s.</a:t>
                </a:r>
                <a:br>
                  <a:rPr lang="en-US" sz="1600" dirty="0">
                    <a:solidFill>
                      <a:schemeClr val="tx1"/>
                    </a:solidFill>
                  </a:rPr>
                </a:br>
                <a:r>
                  <a:rPr lang="en-US" sz="1600" dirty="0">
                    <a:solidFill>
                      <a:schemeClr val="tx1"/>
                    </a:solidFill>
                  </a:rPr>
                  <a:t>in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0.8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items.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3E01C5A6-3D93-4A48-8EC0-B616F6F6CA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8929" y="4367221"/>
                <a:ext cx="1596588" cy="434485"/>
              </a:xfrm>
              <a:prstGeom prst="rect">
                <a:avLst/>
              </a:prstGeom>
              <a:blipFill>
                <a:blip r:embed="rId5"/>
                <a:stretch>
                  <a:fillRect t="-17333" b="-25333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7AC26F2-F467-46FE-95C9-DB36571C342E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5767223" y="4149979"/>
            <a:ext cx="0" cy="21724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A177C53C-7B3A-4047-A48F-1FC83F39B115}"/>
                  </a:ext>
                </a:extLst>
              </p:cNvPr>
              <p:cNvSpPr/>
              <p:nvPr/>
            </p:nvSpPr>
            <p:spPr>
              <a:xfrm>
                <a:off x="4908741" y="5018948"/>
                <a:ext cx="1716964" cy="43448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sz="1600" dirty="0">
                    <a:solidFill>
                      <a:schemeClr val="tx1"/>
                    </a:solidFill>
                  </a:rPr>
                  <a:t>find some </a:t>
                </a:r>
                <a:r>
                  <a:rPr lang="en-US" sz="1600" dirty="0" err="1">
                    <a:solidFill>
                      <a:schemeClr val="tx1"/>
                    </a:solidFill>
                  </a:rPr>
                  <a:t>o.s.</a:t>
                </a:r>
                <a:br>
                  <a:rPr lang="en-US" sz="1600" dirty="0">
                    <a:solidFill>
                      <a:schemeClr val="tx1"/>
                    </a:solidFill>
                  </a:rPr>
                </a:br>
                <a:r>
                  <a:rPr lang="en-US" sz="1600" dirty="0">
                    <a:solidFill>
                      <a:schemeClr val="tx1"/>
                    </a:solidFill>
                  </a:rPr>
                  <a:t>in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0.8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items.</a:t>
                </a: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A177C53C-7B3A-4047-A48F-1FC83F39B1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8741" y="5018948"/>
                <a:ext cx="1716964" cy="434485"/>
              </a:xfrm>
              <a:prstGeom prst="rect">
                <a:avLst/>
              </a:prstGeom>
              <a:blipFill>
                <a:blip r:embed="rId6"/>
                <a:stretch>
                  <a:fillRect t="-18667" b="-24000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8F0126B6-B0E4-4238-B262-E2D749DAE29F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5767223" y="4801706"/>
            <a:ext cx="0" cy="21724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1795C5D-72DD-4766-9BB8-12F4F337BE2B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5767223" y="5453433"/>
            <a:ext cx="0" cy="21724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4C169E92-AD8A-4B05-BFFF-8AA325D6E183}"/>
              </a:ext>
            </a:extLst>
          </p:cNvPr>
          <p:cNvSpPr/>
          <p:nvPr/>
        </p:nvSpPr>
        <p:spPr>
          <a:xfrm>
            <a:off x="5604020" y="5543160"/>
            <a:ext cx="326397" cy="251315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122BB749-E207-4390-97B5-D99793BE6471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5767219" y="5867710"/>
            <a:ext cx="2" cy="23559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E03A3A22-E951-455A-A89D-0D0AF504EDDA}"/>
              </a:ext>
            </a:extLst>
          </p:cNvPr>
          <p:cNvSpPr/>
          <p:nvPr/>
        </p:nvSpPr>
        <p:spPr>
          <a:xfrm>
            <a:off x="5123010" y="6103303"/>
            <a:ext cx="1288421" cy="25131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</a:rPr>
              <a:t>we are done.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734B2AF2-FC74-4720-8F49-E03EBA1FCDF1}"/>
              </a:ext>
            </a:extLst>
          </p:cNvPr>
          <p:cNvCxnSpPr>
            <a:cxnSpLocks/>
          </p:cNvCxnSpPr>
          <p:nvPr/>
        </p:nvCxnSpPr>
        <p:spPr>
          <a:xfrm flipH="1">
            <a:off x="5930418" y="4258600"/>
            <a:ext cx="2321516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34625A7A-F56A-4EB6-A870-95A35148814F}"/>
              </a:ext>
            </a:extLst>
          </p:cNvPr>
          <p:cNvCxnSpPr>
            <a:cxnSpLocks/>
          </p:cNvCxnSpPr>
          <p:nvPr/>
        </p:nvCxnSpPr>
        <p:spPr>
          <a:xfrm flipH="1">
            <a:off x="5930417" y="5562054"/>
            <a:ext cx="2321516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箭头: 上下 23">
            <a:extLst>
              <a:ext uri="{FF2B5EF4-FFF2-40B4-BE49-F238E27FC236}">
                <a16:creationId xmlns:a16="http://schemas.microsoft.com/office/drawing/2014/main" id="{279096AA-E563-44B4-AF85-A519732FBE82}"/>
              </a:ext>
            </a:extLst>
          </p:cNvPr>
          <p:cNvSpPr/>
          <p:nvPr/>
        </p:nvSpPr>
        <p:spPr>
          <a:xfrm>
            <a:off x="6706796" y="3655123"/>
            <a:ext cx="162770" cy="549164"/>
          </a:xfrm>
          <a:prstGeom prst="up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C1F9163E-FA8B-43AF-B413-313294F42DA8}"/>
                  </a:ext>
                </a:extLst>
              </p:cNvPr>
              <p:cNvSpPr/>
              <p:nvPr/>
            </p:nvSpPr>
            <p:spPr>
              <a:xfrm>
                <a:off x="6783034" y="3732035"/>
                <a:ext cx="109863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𝑐𝑛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C1F9163E-FA8B-43AF-B413-313294F42D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3034" y="3732035"/>
                <a:ext cx="1098634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箭头: 上下 26">
            <a:extLst>
              <a:ext uri="{FF2B5EF4-FFF2-40B4-BE49-F238E27FC236}">
                <a16:creationId xmlns:a16="http://schemas.microsoft.com/office/drawing/2014/main" id="{97AFD2F8-3565-41EA-A0F9-83D1B0FF90AC}"/>
              </a:ext>
            </a:extLst>
          </p:cNvPr>
          <p:cNvSpPr/>
          <p:nvPr/>
        </p:nvSpPr>
        <p:spPr>
          <a:xfrm>
            <a:off x="6701649" y="4649015"/>
            <a:ext cx="162770" cy="549164"/>
          </a:xfrm>
          <a:prstGeom prst="up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C2960764-3C7D-4D16-9A00-1700BC41D658}"/>
                  </a:ext>
                </a:extLst>
              </p:cNvPr>
              <p:cNvSpPr/>
              <p:nvPr/>
            </p:nvSpPr>
            <p:spPr>
              <a:xfrm>
                <a:off x="6730351" y="4722125"/>
                <a:ext cx="163711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⋅0.8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C2960764-3C7D-4D16-9A00-1700BC41D6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0351" y="4722125"/>
                <a:ext cx="1637115" cy="400110"/>
              </a:xfrm>
              <a:prstGeom prst="rect">
                <a:avLst/>
              </a:prstGeom>
              <a:blipFill>
                <a:blip r:embed="rId8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1025B55C-5898-49E7-AE57-7968900EC711}"/>
                  </a:ext>
                </a:extLst>
              </p:cNvPr>
              <p:cNvSpPr txBox="1"/>
              <p:nvPr/>
            </p:nvSpPr>
            <p:spPr>
              <a:xfrm>
                <a:off x="6456963" y="5892953"/>
                <a:ext cx="241252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accent2">
                        <a:lumMod val="75000"/>
                      </a:schemeClr>
                    </a:solidFill>
                  </a:rPr>
                  <a:t>Total cost is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400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en-US" sz="2400" b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1025B55C-5898-49E7-AE57-7968900EC7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963" y="5892953"/>
                <a:ext cx="2412520" cy="461665"/>
              </a:xfrm>
              <a:prstGeom prst="rect">
                <a:avLst/>
              </a:prstGeom>
              <a:blipFill>
                <a:blip r:embed="rId9"/>
                <a:stretch>
                  <a:fillRect l="-3788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831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02118E8-6718-47E9-B52E-610740480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are not done with selection…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51456711-435B-4FEB-B76C-40592558C7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r>
                  <a:rPr lang="en-US" sz="2200" dirty="0"/>
                  <a:t>Can we guarantee </a:t>
                </a:r>
                <a:r>
                  <a:rPr lang="en-US" sz="2200" b="1" dirty="0"/>
                  <a:t>worst-case</a:t>
                </a:r>
                <a:r>
                  <a:rPr lang="en-US" sz="2200" dirty="0"/>
                  <a:t> runtime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200" dirty="0"/>
                  <a:t>?</a:t>
                </a:r>
              </a:p>
              <a:p>
                <a:r>
                  <a:rPr lang="en-US" sz="2200" dirty="0"/>
                  <a:t>The reason that </a:t>
                </a:r>
                <a:r>
                  <a:rPr lang="en-US" sz="2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RndSelect</a:t>
                </a:r>
                <a:r>
                  <a:rPr lang="en-US" sz="2200" dirty="0"/>
                  <a:t> could be slow is that </a:t>
                </a:r>
                <a:r>
                  <a:rPr lang="en-US" sz="2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RandomPartition</a:t>
                </a:r>
                <a:r>
                  <a:rPr lang="en-US" sz="2200" dirty="0"/>
                  <a:t> might return a </a:t>
                </a:r>
                <a:r>
                  <a:rPr lang="en-US" sz="2200" i="1" dirty="0"/>
                  <a:t>unbalanced</a:t>
                </a:r>
                <a:r>
                  <a:rPr lang="en-US" sz="2200" dirty="0"/>
                  <a:t> partition.</a:t>
                </a:r>
              </a:p>
              <a:p>
                <a:r>
                  <a:rPr lang="en-US" sz="2200" dirty="0"/>
                  <a:t>Needs a partition procedure that guarantees to be </a:t>
                </a:r>
                <a:r>
                  <a:rPr lang="en-US" sz="2200" i="1" dirty="0"/>
                  <a:t>balanced</a:t>
                </a:r>
                <a:r>
                  <a:rPr lang="en-US" sz="2200" dirty="0"/>
                  <a:t>. (without using too much time;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time to be specific)</a:t>
                </a:r>
              </a:p>
            </p:txBody>
          </p:sp>
        </mc:Choice>
        <mc:Fallback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51456711-435B-4FEB-B76C-40592558C7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850" t="-1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8038EB97-FEFC-4AC1-B47C-877259A587AC}"/>
              </a:ext>
            </a:extLst>
          </p:cNvPr>
          <p:cNvSpPr/>
          <p:nvPr/>
        </p:nvSpPr>
        <p:spPr>
          <a:xfrm>
            <a:off x="3289738" y="3905853"/>
            <a:ext cx="5225612" cy="25870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RndSelect</a:t>
            </a:r>
            <a:r>
              <a:rPr lang="en-GB" sz="1600" b="1" u="sng" dirty="0">
                <a:solidFill>
                  <a:schemeClr val="tx1"/>
                </a:solidFill>
              </a:rPr>
              <a:t>(A, </a:t>
            </a:r>
            <a:r>
              <a:rPr lang="en-GB" sz="1600" b="1" u="sng" dirty="0" err="1">
                <a:solidFill>
                  <a:schemeClr val="tx1"/>
                </a:solidFill>
              </a:rPr>
              <a:t>i</a:t>
            </a:r>
            <a:r>
              <a:rPr lang="en-GB" sz="1600" b="1" u="sng" dirty="0">
                <a:solidFill>
                  <a:schemeClr val="tx1"/>
                </a:solidFill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A.size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A[1]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q =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RandomPartition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==q)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A[q]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elseif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&lt;q)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RndSelect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(A[1…(q-1)],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RndSelect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(A[(q+1)…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A.size,i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-q])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300FDA7-6F5A-4326-857B-5709A462797E}"/>
              </a:ext>
            </a:extLst>
          </p:cNvPr>
          <p:cNvSpPr/>
          <p:nvPr/>
        </p:nvSpPr>
        <p:spPr>
          <a:xfrm>
            <a:off x="3595744" y="4881562"/>
            <a:ext cx="2752669" cy="235551"/>
          </a:xfrm>
          <a:prstGeom prst="round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609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矩形: 圆角 123">
            <a:extLst>
              <a:ext uri="{FF2B5EF4-FFF2-40B4-BE49-F238E27FC236}">
                <a16:creationId xmlns:a16="http://schemas.microsoft.com/office/drawing/2014/main" id="{774DDDDB-5982-4C2E-8BCD-68A1684A46B3}"/>
              </a:ext>
            </a:extLst>
          </p:cNvPr>
          <p:cNvSpPr/>
          <p:nvPr/>
        </p:nvSpPr>
        <p:spPr>
          <a:xfrm>
            <a:off x="2054919" y="4485414"/>
            <a:ext cx="2922825" cy="155245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矩形: 圆角 119">
            <a:extLst>
              <a:ext uri="{FF2B5EF4-FFF2-40B4-BE49-F238E27FC236}">
                <a16:creationId xmlns:a16="http://schemas.microsoft.com/office/drawing/2014/main" id="{606BEE22-B051-41CD-901C-1574A5BAFB1E}"/>
              </a:ext>
            </a:extLst>
          </p:cNvPr>
          <p:cNvSpPr/>
          <p:nvPr/>
        </p:nvSpPr>
        <p:spPr>
          <a:xfrm>
            <a:off x="4517582" y="3285632"/>
            <a:ext cx="2551423" cy="155245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椭圆 117">
            <a:extLst>
              <a:ext uri="{FF2B5EF4-FFF2-40B4-BE49-F238E27FC236}">
                <a16:creationId xmlns:a16="http://schemas.microsoft.com/office/drawing/2014/main" id="{903EEDC1-CC47-49A1-AECF-921FF15ECB53}"/>
              </a:ext>
            </a:extLst>
          </p:cNvPr>
          <p:cNvSpPr/>
          <p:nvPr/>
        </p:nvSpPr>
        <p:spPr>
          <a:xfrm>
            <a:off x="4501314" y="4440772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BB902E9-2608-42FB-B95B-2F2006929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Median of medians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C2D5988-004F-4046-810B-A506E09B9C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90"/>
                <a:ext cx="7886700" cy="1325564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000" dirty="0"/>
                  <a:t>Divide elements into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000" dirty="0"/>
                  <a:t> groups, each containing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2000" dirty="0"/>
                  <a:t> elements, call these groups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f>
                          <m:fPr>
                            <m:type m:val="lin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sub>
                    </m:sSub>
                  </m:oMath>
                </a14:m>
                <a:r>
                  <a:rPr lang="en-US" sz="2000" b="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Find the medians of these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000" dirty="0"/>
                  <a:t> groups, 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b="0" dirty="0"/>
                  <a:t> be this set of medians.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Find the median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b="0" dirty="0"/>
                  <a:t>, call it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b="0" dirty="0"/>
                  <a:t>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C2D5988-004F-4046-810B-A506E09B9C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90"/>
                <a:ext cx="7886700" cy="1325564"/>
              </a:xfrm>
              <a:blipFill>
                <a:blip r:embed="rId2"/>
                <a:stretch>
                  <a:fillRect l="-696" t="-37615" r="-1082" b="-302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2" name="组合 91">
            <a:extLst>
              <a:ext uri="{FF2B5EF4-FFF2-40B4-BE49-F238E27FC236}">
                <a16:creationId xmlns:a16="http://schemas.microsoft.com/office/drawing/2014/main" id="{97E0E485-6312-407D-AD42-222140ADC8BA}"/>
              </a:ext>
            </a:extLst>
          </p:cNvPr>
          <p:cNvGrpSpPr/>
          <p:nvPr/>
        </p:nvGrpSpPr>
        <p:grpSpPr>
          <a:xfrm>
            <a:off x="2184509" y="3429000"/>
            <a:ext cx="4772938" cy="168166"/>
            <a:chOff x="2184509" y="3429000"/>
            <a:chExt cx="4772938" cy="168166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F8666A7E-A66B-409D-96B6-19C0A627580F}"/>
                </a:ext>
              </a:extLst>
            </p:cNvPr>
            <p:cNvSpPr/>
            <p:nvPr/>
          </p:nvSpPr>
          <p:spPr>
            <a:xfrm>
              <a:off x="2184509" y="3429000"/>
              <a:ext cx="168166" cy="16816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2CF286CA-396C-432A-AB64-D0EF5D3A80E1}"/>
                </a:ext>
              </a:extLst>
            </p:cNvPr>
            <p:cNvSpPr/>
            <p:nvPr/>
          </p:nvSpPr>
          <p:spPr>
            <a:xfrm>
              <a:off x="3060809" y="3429000"/>
              <a:ext cx="168166" cy="16816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66F01FE9-BC01-4A4B-A7E7-E75E4A4A4125}"/>
                </a:ext>
              </a:extLst>
            </p:cNvPr>
            <p:cNvSpPr/>
            <p:nvPr/>
          </p:nvSpPr>
          <p:spPr>
            <a:xfrm>
              <a:off x="3882690" y="3429000"/>
              <a:ext cx="168166" cy="16816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B3056C23-CC0E-428B-AFD6-BB5568A71FAC}"/>
                </a:ext>
              </a:extLst>
            </p:cNvPr>
            <p:cNvSpPr/>
            <p:nvPr/>
          </p:nvSpPr>
          <p:spPr>
            <a:xfrm>
              <a:off x="4650152" y="3429000"/>
              <a:ext cx="168166" cy="16816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A173F29D-467F-4FC6-BA33-E02EF8A3269E}"/>
                </a:ext>
              </a:extLst>
            </p:cNvPr>
            <p:cNvSpPr/>
            <p:nvPr/>
          </p:nvSpPr>
          <p:spPr>
            <a:xfrm>
              <a:off x="5363195" y="3429000"/>
              <a:ext cx="168166" cy="16816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A130153E-6C3D-4629-9588-E6D21F6158E5}"/>
                </a:ext>
              </a:extLst>
            </p:cNvPr>
            <p:cNvSpPr/>
            <p:nvPr/>
          </p:nvSpPr>
          <p:spPr>
            <a:xfrm>
              <a:off x="6076238" y="3429000"/>
              <a:ext cx="168166" cy="16816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AE3D1637-E06A-4F2B-81F1-87599A756F3A}"/>
                </a:ext>
              </a:extLst>
            </p:cNvPr>
            <p:cNvSpPr/>
            <p:nvPr/>
          </p:nvSpPr>
          <p:spPr>
            <a:xfrm>
              <a:off x="6789281" y="3429000"/>
              <a:ext cx="168166" cy="16816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6E10158F-B35B-4D51-98EA-C4DAAEFB4F34}"/>
              </a:ext>
            </a:extLst>
          </p:cNvPr>
          <p:cNvGrpSpPr/>
          <p:nvPr/>
        </p:nvGrpSpPr>
        <p:grpSpPr>
          <a:xfrm>
            <a:off x="2184509" y="4007698"/>
            <a:ext cx="4772938" cy="168166"/>
            <a:chOff x="2184509" y="4007698"/>
            <a:chExt cx="4772938" cy="168166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55651F37-6677-4423-9DF4-8AAFC692F0A3}"/>
                </a:ext>
              </a:extLst>
            </p:cNvPr>
            <p:cNvSpPr/>
            <p:nvPr/>
          </p:nvSpPr>
          <p:spPr>
            <a:xfrm>
              <a:off x="2184509" y="4007698"/>
              <a:ext cx="168166" cy="16816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9B23D185-7708-4B66-99F7-34C16207F22B}"/>
                </a:ext>
              </a:extLst>
            </p:cNvPr>
            <p:cNvSpPr/>
            <p:nvPr/>
          </p:nvSpPr>
          <p:spPr>
            <a:xfrm>
              <a:off x="3060809" y="4007698"/>
              <a:ext cx="168166" cy="16816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977175AB-0F13-4319-AB4D-EE5C537A472B}"/>
                </a:ext>
              </a:extLst>
            </p:cNvPr>
            <p:cNvSpPr/>
            <p:nvPr/>
          </p:nvSpPr>
          <p:spPr>
            <a:xfrm>
              <a:off x="3882690" y="4007698"/>
              <a:ext cx="168166" cy="16816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9648DD63-1249-413C-8974-542953C84564}"/>
                </a:ext>
              </a:extLst>
            </p:cNvPr>
            <p:cNvSpPr/>
            <p:nvPr/>
          </p:nvSpPr>
          <p:spPr>
            <a:xfrm>
              <a:off x="4650152" y="4007698"/>
              <a:ext cx="168166" cy="16816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E0A738CC-751C-437C-A247-3CD629445F37}"/>
                </a:ext>
              </a:extLst>
            </p:cNvPr>
            <p:cNvSpPr/>
            <p:nvPr/>
          </p:nvSpPr>
          <p:spPr>
            <a:xfrm>
              <a:off x="5363195" y="4007698"/>
              <a:ext cx="168166" cy="16816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92FFF0A5-61FA-44D7-9AA4-AED3AD80BB6B}"/>
                </a:ext>
              </a:extLst>
            </p:cNvPr>
            <p:cNvSpPr/>
            <p:nvPr/>
          </p:nvSpPr>
          <p:spPr>
            <a:xfrm>
              <a:off x="6076238" y="4007698"/>
              <a:ext cx="168166" cy="16816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0AE8978D-50DC-4366-A318-A66212888401}"/>
                </a:ext>
              </a:extLst>
            </p:cNvPr>
            <p:cNvSpPr/>
            <p:nvPr/>
          </p:nvSpPr>
          <p:spPr>
            <a:xfrm>
              <a:off x="6789281" y="4007698"/>
              <a:ext cx="168166" cy="16816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4A24F6FD-59E1-4185-84A1-470017BA1648}"/>
              </a:ext>
            </a:extLst>
          </p:cNvPr>
          <p:cNvGrpSpPr/>
          <p:nvPr/>
        </p:nvGrpSpPr>
        <p:grpSpPr>
          <a:xfrm>
            <a:off x="2184509" y="4586396"/>
            <a:ext cx="4772938" cy="168166"/>
            <a:chOff x="2184509" y="4586396"/>
            <a:chExt cx="4772938" cy="168166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C3E771D3-1ED1-4338-A733-58D90FD14EE8}"/>
                </a:ext>
              </a:extLst>
            </p:cNvPr>
            <p:cNvSpPr/>
            <p:nvPr/>
          </p:nvSpPr>
          <p:spPr>
            <a:xfrm>
              <a:off x="2184509" y="4586396"/>
              <a:ext cx="168166" cy="16816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68F1303B-2F4F-46EE-B636-C4CAC596E972}"/>
                </a:ext>
              </a:extLst>
            </p:cNvPr>
            <p:cNvSpPr/>
            <p:nvPr/>
          </p:nvSpPr>
          <p:spPr>
            <a:xfrm>
              <a:off x="3060809" y="4586396"/>
              <a:ext cx="168166" cy="16816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B3294383-5AC2-45A2-839A-2FD6E6945DB9}"/>
                </a:ext>
              </a:extLst>
            </p:cNvPr>
            <p:cNvSpPr/>
            <p:nvPr/>
          </p:nvSpPr>
          <p:spPr>
            <a:xfrm>
              <a:off x="3882690" y="4586396"/>
              <a:ext cx="168166" cy="16816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6FFCCC2C-21A0-4A94-870E-BC8B1400CE60}"/>
                </a:ext>
              </a:extLst>
            </p:cNvPr>
            <p:cNvSpPr/>
            <p:nvPr/>
          </p:nvSpPr>
          <p:spPr>
            <a:xfrm>
              <a:off x="4650152" y="4586396"/>
              <a:ext cx="168166" cy="16816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F0C6E4A3-B187-4F04-A6F4-4F4D95F10CBC}"/>
                </a:ext>
              </a:extLst>
            </p:cNvPr>
            <p:cNvSpPr/>
            <p:nvPr/>
          </p:nvSpPr>
          <p:spPr>
            <a:xfrm>
              <a:off x="5363195" y="4586396"/>
              <a:ext cx="168166" cy="16816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B47A56AA-154B-4D60-9680-6BB101964127}"/>
                </a:ext>
              </a:extLst>
            </p:cNvPr>
            <p:cNvSpPr/>
            <p:nvPr/>
          </p:nvSpPr>
          <p:spPr>
            <a:xfrm>
              <a:off x="6076238" y="4586396"/>
              <a:ext cx="168166" cy="16816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46244FD6-3A42-42D1-9804-ECB1E6312BC9}"/>
                </a:ext>
              </a:extLst>
            </p:cNvPr>
            <p:cNvSpPr/>
            <p:nvPr/>
          </p:nvSpPr>
          <p:spPr>
            <a:xfrm>
              <a:off x="6789281" y="4586396"/>
              <a:ext cx="168166" cy="16816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2439C5CE-ADFD-4EE4-8F1E-EF8D86D68878}"/>
              </a:ext>
            </a:extLst>
          </p:cNvPr>
          <p:cNvGrpSpPr/>
          <p:nvPr/>
        </p:nvGrpSpPr>
        <p:grpSpPr>
          <a:xfrm>
            <a:off x="2184509" y="5167311"/>
            <a:ext cx="4772938" cy="168166"/>
            <a:chOff x="2184509" y="5167311"/>
            <a:chExt cx="4772938" cy="168166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065F762D-2781-4F3C-8F58-BF42278F024D}"/>
                </a:ext>
              </a:extLst>
            </p:cNvPr>
            <p:cNvSpPr/>
            <p:nvPr/>
          </p:nvSpPr>
          <p:spPr>
            <a:xfrm>
              <a:off x="2184509" y="5167311"/>
              <a:ext cx="168166" cy="16816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78FFBFD3-4367-44B0-9934-C1CA8DAD4B3B}"/>
                </a:ext>
              </a:extLst>
            </p:cNvPr>
            <p:cNvSpPr/>
            <p:nvPr/>
          </p:nvSpPr>
          <p:spPr>
            <a:xfrm>
              <a:off x="3060809" y="5167311"/>
              <a:ext cx="168166" cy="16816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7C365E07-9BB6-4220-BC17-8928AC5282B0}"/>
                </a:ext>
              </a:extLst>
            </p:cNvPr>
            <p:cNvSpPr/>
            <p:nvPr/>
          </p:nvSpPr>
          <p:spPr>
            <a:xfrm>
              <a:off x="3882690" y="5167311"/>
              <a:ext cx="168166" cy="16816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83911178-39F8-4B48-9A32-FE85E317B765}"/>
                </a:ext>
              </a:extLst>
            </p:cNvPr>
            <p:cNvSpPr/>
            <p:nvPr/>
          </p:nvSpPr>
          <p:spPr>
            <a:xfrm>
              <a:off x="4650152" y="5167311"/>
              <a:ext cx="168166" cy="16816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E8900FAD-B10D-423E-8FDE-E7582C12C2F9}"/>
                </a:ext>
              </a:extLst>
            </p:cNvPr>
            <p:cNvSpPr/>
            <p:nvPr/>
          </p:nvSpPr>
          <p:spPr>
            <a:xfrm>
              <a:off x="5363195" y="5167311"/>
              <a:ext cx="168166" cy="16816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57027B4F-B64E-4E10-BE62-B5A484693CF2}"/>
                </a:ext>
              </a:extLst>
            </p:cNvPr>
            <p:cNvSpPr/>
            <p:nvPr/>
          </p:nvSpPr>
          <p:spPr>
            <a:xfrm>
              <a:off x="6076238" y="5167311"/>
              <a:ext cx="168166" cy="16816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0979F8BD-6387-411F-AEFE-737FE44C7328}"/>
                </a:ext>
              </a:extLst>
            </p:cNvPr>
            <p:cNvSpPr/>
            <p:nvPr/>
          </p:nvSpPr>
          <p:spPr>
            <a:xfrm>
              <a:off x="6789281" y="5167311"/>
              <a:ext cx="168166" cy="16816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3FF74942-A326-4710-B73A-C93CB51EB49B}"/>
              </a:ext>
            </a:extLst>
          </p:cNvPr>
          <p:cNvGrpSpPr/>
          <p:nvPr/>
        </p:nvGrpSpPr>
        <p:grpSpPr>
          <a:xfrm>
            <a:off x="2184509" y="5748226"/>
            <a:ext cx="4772938" cy="168166"/>
            <a:chOff x="2184509" y="5748226"/>
            <a:chExt cx="4772938" cy="168166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320F9C5-3555-4514-8460-6CC278EF952D}"/>
                </a:ext>
              </a:extLst>
            </p:cNvPr>
            <p:cNvSpPr/>
            <p:nvPr/>
          </p:nvSpPr>
          <p:spPr>
            <a:xfrm>
              <a:off x="2184509" y="5748226"/>
              <a:ext cx="168166" cy="16816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F694868C-57AD-4C0A-B9AB-519DD328BD07}"/>
                </a:ext>
              </a:extLst>
            </p:cNvPr>
            <p:cNvSpPr/>
            <p:nvPr/>
          </p:nvSpPr>
          <p:spPr>
            <a:xfrm>
              <a:off x="3060809" y="5748226"/>
              <a:ext cx="168166" cy="16816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4B042312-ED2C-474B-8B78-C2E6B73F4839}"/>
                </a:ext>
              </a:extLst>
            </p:cNvPr>
            <p:cNvSpPr/>
            <p:nvPr/>
          </p:nvSpPr>
          <p:spPr>
            <a:xfrm>
              <a:off x="3882690" y="5748226"/>
              <a:ext cx="168166" cy="16816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D06F823B-3F12-4187-98D5-92FE5343E0DA}"/>
                </a:ext>
              </a:extLst>
            </p:cNvPr>
            <p:cNvSpPr/>
            <p:nvPr/>
          </p:nvSpPr>
          <p:spPr>
            <a:xfrm>
              <a:off x="4650152" y="5748226"/>
              <a:ext cx="168166" cy="16816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D5693BF0-9CFB-4D81-A4F4-A1BCE3F2C871}"/>
                </a:ext>
              </a:extLst>
            </p:cNvPr>
            <p:cNvSpPr/>
            <p:nvPr/>
          </p:nvSpPr>
          <p:spPr>
            <a:xfrm>
              <a:off x="5363195" y="5748226"/>
              <a:ext cx="168166" cy="16816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EDEA76E0-DE75-42A3-8DA8-D65293AA85A1}"/>
                </a:ext>
              </a:extLst>
            </p:cNvPr>
            <p:cNvSpPr/>
            <p:nvPr/>
          </p:nvSpPr>
          <p:spPr>
            <a:xfrm>
              <a:off x="6076238" y="5748226"/>
              <a:ext cx="168166" cy="16816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6C77F34F-9640-4784-B707-F25E8324415B}"/>
                </a:ext>
              </a:extLst>
            </p:cNvPr>
            <p:cNvSpPr/>
            <p:nvPr/>
          </p:nvSpPr>
          <p:spPr>
            <a:xfrm>
              <a:off x="6789281" y="5748226"/>
              <a:ext cx="168166" cy="16816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BE8E71F8-D638-4F38-8DA4-06449FF2A6BE}"/>
              </a:ext>
            </a:extLst>
          </p:cNvPr>
          <p:cNvGrpSpPr/>
          <p:nvPr/>
        </p:nvGrpSpPr>
        <p:grpSpPr>
          <a:xfrm>
            <a:off x="2130091" y="3688312"/>
            <a:ext cx="4881771" cy="226024"/>
            <a:chOff x="2130091" y="3688312"/>
            <a:chExt cx="4881771" cy="2260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8893E225-1BCF-4C27-8D56-2BBAA7056FBD}"/>
                    </a:ext>
                  </a:extLst>
                </p:cNvPr>
                <p:cNvSpPr txBox="1"/>
                <p:nvPr/>
              </p:nvSpPr>
              <p:spPr>
                <a:xfrm rot="5400000">
                  <a:off x="2155579" y="3662824"/>
                  <a:ext cx="2260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8893E225-1BCF-4C27-8D56-2BBAA7056F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155579" y="3662824"/>
                  <a:ext cx="226024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4348" t="-21622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E30AC4F5-B963-4674-B63D-2B52E2ED0CFB}"/>
                    </a:ext>
                  </a:extLst>
                </p:cNvPr>
                <p:cNvSpPr txBox="1"/>
                <p:nvPr/>
              </p:nvSpPr>
              <p:spPr>
                <a:xfrm rot="5400000">
                  <a:off x="3031879" y="3662824"/>
                  <a:ext cx="2260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E30AC4F5-B963-4674-B63D-2B52E2ED0C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3031879" y="3662824"/>
                  <a:ext cx="226024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4348" t="-21622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FEA509FF-FF94-4308-8443-D184A2A7B569}"/>
                    </a:ext>
                  </a:extLst>
                </p:cNvPr>
                <p:cNvSpPr txBox="1"/>
                <p:nvPr/>
              </p:nvSpPr>
              <p:spPr>
                <a:xfrm rot="5400000">
                  <a:off x="3853760" y="3662824"/>
                  <a:ext cx="2260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FEA509FF-FF94-4308-8443-D184A2A7B5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3853760" y="3662824"/>
                  <a:ext cx="226024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6667" t="-21622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6241884A-3CEA-4ABD-AF8E-E65A4C99A977}"/>
                    </a:ext>
                  </a:extLst>
                </p:cNvPr>
                <p:cNvSpPr txBox="1"/>
                <p:nvPr/>
              </p:nvSpPr>
              <p:spPr>
                <a:xfrm rot="5400000">
                  <a:off x="4621222" y="3662824"/>
                  <a:ext cx="2260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6241884A-3CEA-4ABD-AF8E-E65A4C99A9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4621222" y="3662824"/>
                  <a:ext cx="226024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6667" t="-21622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CDBB672A-9184-4E8D-92F1-AD3BDAE3123B}"/>
                    </a:ext>
                  </a:extLst>
                </p:cNvPr>
                <p:cNvSpPr txBox="1"/>
                <p:nvPr/>
              </p:nvSpPr>
              <p:spPr>
                <a:xfrm rot="5400000">
                  <a:off x="5334265" y="3662824"/>
                  <a:ext cx="2260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CDBB672A-9184-4E8D-92F1-AD3BDAE312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334265" y="3662824"/>
                  <a:ext cx="226024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6667" t="-21622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F17ABAE0-B592-454F-B6D1-5AD70449FC4E}"/>
                    </a:ext>
                  </a:extLst>
                </p:cNvPr>
                <p:cNvSpPr txBox="1"/>
                <p:nvPr/>
              </p:nvSpPr>
              <p:spPr>
                <a:xfrm rot="5400000">
                  <a:off x="6047308" y="3662824"/>
                  <a:ext cx="2260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F17ABAE0-B592-454F-B6D1-5AD70449FC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6047308" y="3662824"/>
                  <a:ext cx="226024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6667" t="-21622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77F13FA4-48E8-4E7F-9645-EC02AF832F52}"/>
                    </a:ext>
                  </a:extLst>
                </p:cNvPr>
                <p:cNvSpPr txBox="1"/>
                <p:nvPr/>
              </p:nvSpPr>
              <p:spPr>
                <a:xfrm rot="5400000">
                  <a:off x="6760351" y="3662824"/>
                  <a:ext cx="2260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77F13FA4-48E8-4E7F-9645-EC02AF832F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6760351" y="3662824"/>
                  <a:ext cx="226024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6667" t="-21622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35CF3B1A-223A-4104-9AEF-72F7DDE2B88C}"/>
              </a:ext>
            </a:extLst>
          </p:cNvPr>
          <p:cNvGrpSpPr/>
          <p:nvPr/>
        </p:nvGrpSpPr>
        <p:grpSpPr>
          <a:xfrm>
            <a:off x="2130091" y="4267011"/>
            <a:ext cx="4881771" cy="226024"/>
            <a:chOff x="2130091" y="4267011"/>
            <a:chExt cx="4881771" cy="2260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0C5E6E2D-46BB-469E-A6D2-F229DD682E95}"/>
                    </a:ext>
                  </a:extLst>
                </p:cNvPr>
                <p:cNvSpPr txBox="1"/>
                <p:nvPr/>
              </p:nvSpPr>
              <p:spPr>
                <a:xfrm rot="5400000">
                  <a:off x="2155579" y="4241523"/>
                  <a:ext cx="2260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0C5E6E2D-46BB-469E-A6D2-F229DD682E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155579" y="4241523"/>
                  <a:ext cx="226024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4348" t="-21622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39661FAB-01DA-41F1-B24C-EE1DD6D63123}"/>
                    </a:ext>
                  </a:extLst>
                </p:cNvPr>
                <p:cNvSpPr txBox="1"/>
                <p:nvPr/>
              </p:nvSpPr>
              <p:spPr>
                <a:xfrm rot="5400000">
                  <a:off x="3031879" y="4241523"/>
                  <a:ext cx="2260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39661FAB-01DA-41F1-B24C-EE1DD6D631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3031879" y="4241523"/>
                  <a:ext cx="226024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4348" t="-21622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E51F6C54-7269-43DF-B354-DD0B5D57734C}"/>
                    </a:ext>
                  </a:extLst>
                </p:cNvPr>
                <p:cNvSpPr txBox="1"/>
                <p:nvPr/>
              </p:nvSpPr>
              <p:spPr>
                <a:xfrm rot="5400000">
                  <a:off x="3853760" y="4241523"/>
                  <a:ext cx="2260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E51F6C54-7269-43DF-B354-DD0B5D5773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3853760" y="4241523"/>
                  <a:ext cx="226024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6667" t="-21622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806B5810-6809-4A84-8BEA-799C7DD9720E}"/>
                    </a:ext>
                  </a:extLst>
                </p:cNvPr>
                <p:cNvSpPr txBox="1"/>
                <p:nvPr/>
              </p:nvSpPr>
              <p:spPr>
                <a:xfrm rot="5400000">
                  <a:off x="4621222" y="4241523"/>
                  <a:ext cx="2260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806B5810-6809-4A84-8BEA-799C7DD972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4621222" y="4241523"/>
                  <a:ext cx="226024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6667" t="-21622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D4FFE892-22A7-4783-9058-E6AD2B8A8863}"/>
                    </a:ext>
                  </a:extLst>
                </p:cNvPr>
                <p:cNvSpPr txBox="1"/>
                <p:nvPr/>
              </p:nvSpPr>
              <p:spPr>
                <a:xfrm rot="5400000">
                  <a:off x="5334265" y="4241523"/>
                  <a:ext cx="2260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D4FFE892-22A7-4783-9058-E6AD2B8A88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334265" y="4241523"/>
                  <a:ext cx="226024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6667" t="-21622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43477556-9E1F-459E-9A83-6C6D5F8EF06C}"/>
                    </a:ext>
                  </a:extLst>
                </p:cNvPr>
                <p:cNvSpPr txBox="1"/>
                <p:nvPr/>
              </p:nvSpPr>
              <p:spPr>
                <a:xfrm rot="5400000">
                  <a:off x="6047308" y="4241523"/>
                  <a:ext cx="2260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43477556-9E1F-459E-9A83-6C6D5F8EF0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6047308" y="4241523"/>
                  <a:ext cx="226024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6667" t="-21622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E1C127CA-9497-4263-B5CC-C04C6C966646}"/>
                    </a:ext>
                  </a:extLst>
                </p:cNvPr>
                <p:cNvSpPr txBox="1"/>
                <p:nvPr/>
              </p:nvSpPr>
              <p:spPr>
                <a:xfrm rot="5400000">
                  <a:off x="6760351" y="4241523"/>
                  <a:ext cx="2260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E1C127CA-9497-4263-B5CC-C04C6C9666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6760351" y="4241523"/>
                  <a:ext cx="226024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6667" t="-21622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B8950BD5-54BE-4E2C-9009-387784CE672A}"/>
              </a:ext>
            </a:extLst>
          </p:cNvPr>
          <p:cNvGrpSpPr/>
          <p:nvPr/>
        </p:nvGrpSpPr>
        <p:grpSpPr>
          <a:xfrm>
            <a:off x="2130090" y="4845710"/>
            <a:ext cx="4881771" cy="226024"/>
            <a:chOff x="2130090" y="4845710"/>
            <a:chExt cx="4881771" cy="2260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21E88BDB-429F-4E1F-985F-D551EFBFBE93}"/>
                    </a:ext>
                  </a:extLst>
                </p:cNvPr>
                <p:cNvSpPr txBox="1"/>
                <p:nvPr/>
              </p:nvSpPr>
              <p:spPr>
                <a:xfrm rot="5400000">
                  <a:off x="2155578" y="4820222"/>
                  <a:ext cx="2260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21E88BDB-429F-4E1F-985F-D551EFBFBE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155578" y="4820222"/>
                  <a:ext cx="226024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4348" t="-21622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88516C84-0641-4D20-AA2A-E3CBD8A41B80}"/>
                    </a:ext>
                  </a:extLst>
                </p:cNvPr>
                <p:cNvSpPr txBox="1"/>
                <p:nvPr/>
              </p:nvSpPr>
              <p:spPr>
                <a:xfrm rot="5400000">
                  <a:off x="3031878" y="4820222"/>
                  <a:ext cx="2260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88516C84-0641-4D20-AA2A-E3CBD8A41B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3031878" y="4820222"/>
                  <a:ext cx="226024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4348" t="-21622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1A0516A0-BD4B-43A6-8154-A5FE666778C7}"/>
                    </a:ext>
                  </a:extLst>
                </p:cNvPr>
                <p:cNvSpPr txBox="1"/>
                <p:nvPr/>
              </p:nvSpPr>
              <p:spPr>
                <a:xfrm rot="5400000">
                  <a:off x="3853759" y="4820222"/>
                  <a:ext cx="2260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1A0516A0-BD4B-43A6-8154-A5FE666778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3853759" y="4820222"/>
                  <a:ext cx="226024" cy="276999"/>
                </a:xfrm>
                <a:prstGeom prst="rect">
                  <a:avLst/>
                </a:prstGeom>
                <a:blipFill>
                  <a:blip r:embed="rId19"/>
                  <a:stretch>
                    <a:fillRect l="-6667" t="-21622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AE3398A9-6D23-4E21-9881-A8F58D29533E}"/>
                    </a:ext>
                  </a:extLst>
                </p:cNvPr>
                <p:cNvSpPr txBox="1"/>
                <p:nvPr/>
              </p:nvSpPr>
              <p:spPr>
                <a:xfrm rot="5400000">
                  <a:off x="4621221" y="4820222"/>
                  <a:ext cx="2260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AE3398A9-6D23-4E21-9881-A8F58D2953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4621221" y="4820222"/>
                  <a:ext cx="226024" cy="276999"/>
                </a:xfrm>
                <a:prstGeom prst="rect">
                  <a:avLst/>
                </a:prstGeom>
                <a:blipFill>
                  <a:blip r:embed="rId20"/>
                  <a:stretch>
                    <a:fillRect l="-6667" t="-21622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C40FADDB-C518-418A-AE1F-F9CBD199DAD3}"/>
                    </a:ext>
                  </a:extLst>
                </p:cNvPr>
                <p:cNvSpPr txBox="1"/>
                <p:nvPr/>
              </p:nvSpPr>
              <p:spPr>
                <a:xfrm rot="5400000">
                  <a:off x="5334264" y="4820222"/>
                  <a:ext cx="2260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C40FADDB-C518-418A-AE1F-F9CBD199DA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334264" y="4820222"/>
                  <a:ext cx="226024" cy="276999"/>
                </a:xfrm>
                <a:prstGeom prst="rect">
                  <a:avLst/>
                </a:prstGeom>
                <a:blipFill>
                  <a:blip r:embed="rId21"/>
                  <a:stretch>
                    <a:fillRect l="-6667" t="-21622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435F8E04-E3A0-48F1-99FF-560CC850645C}"/>
                    </a:ext>
                  </a:extLst>
                </p:cNvPr>
                <p:cNvSpPr txBox="1"/>
                <p:nvPr/>
              </p:nvSpPr>
              <p:spPr>
                <a:xfrm rot="5400000">
                  <a:off x="6047307" y="4820222"/>
                  <a:ext cx="2260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435F8E04-E3A0-48F1-99FF-560CC85064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6047307" y="4820222"/>
                  <a:ext cx="226024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6667" t="-21622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F2052D80-1CA9-41C6-A4D3-8083464A4827}"/>
                    </a:ext>
                  </a:extLst>
                </p:cNvPr>
                <p:cNvSpPr txBox="1"/>
                <p:nvPr/>
              </p:nvSpPr>
              <p:spPr>
                <a:xfrm rot="5400000">
                  <a:off x="6760350" y="4820222"/>
                  <a:ext cx="2260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F2052D80-1CA9-41C6-A4D3-8083464A48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6760350" y="4820222"/>
                  <a:ext cx="226024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6667" t="-21622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40072E20-1BBA-4F49-9DCF-687CD6660BF8}"/>
              </a:ext>
            </a:extLst>
          </p:cNvPr>
          <p:cNvGrpSpPr/>
          <p:nvPr/>
        </p:nvGrpSpPr>
        <p:grpSpPr>
          <a:xfrm>
            <a:off x="2130090" y="5424409"/>
            <a:ext cx="4881771" cy="226024"/>
            <a:chOff x="2130090" y="5424409"/>
            <a:chExt cx="4881771" cy="2260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815ED585-D3B3-4B7D-ACCF-4ADD936B9E01}"/>
                    </a:ext>
                  </a:extLst>
                </p:cNvPr>
                <p:cNvSpPr txBox="1"/>
                <p:nvPr/>
              </p:nvSpPr>
              <p:spPr>
                <a:xfrm rot="5400000">
                  <a:off x="2155578" y="5398921"/>
                  <a:ext cx="2260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815ED585-D3B3-4B7D-ACCF-4ADD936B9E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155578" y="5398921"/>
                  <a:ext cx="226024" cy="276999"/>
                </a:xfrm>
                <a:prstGeom prst="rect">
                  <a:avLst/>
                </a:prstGeom>
                <a:blipFill>
                  <a:blip r:embed="rId24"/>
                  <a:stretch>
                    <a:fillRect l="-4348" t="-21622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D86F53AD-C720-4103-BABC-278803045987}"/>
                    </a:ext>
                  </a:extLst>
                </p:cNvPr>
                <p:cNvSpPr txBox="1"/>
                <p:nvPr/>
              </p:nvSpPr>
              <p:spPr>
                <a:xfrm rot="5400000">
                  <a:off x="3031878" y="5398921"/>
                  <a:ext cx="2260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D86F53AD-C720-4103-BABC-2788030459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3031878" y="5398921"/>
                  <a:ext cx="226024" cy="276999"/>
                </a:xfrm>
                <a:prstGeom prst="rect">
                  <a:avLst/>
                </a:prstGeom>
                <a:blipFill>
                  <a:blip r:embed="rId25"/>
                  <a:stretch>
                    <a:fillRect l="-4348" t="-21622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0BCCC59D-F27F-400B-AE44-6ABEBE16D31B}"/>
                    </a:ext>
                  </a:extLst>
                </p:cNvPr>
                <p:cNvSpPr txBox="1"/>
                <p:nvPr/>
              </p:nvSpPr>
              <p:spPr>
                <a:xfrm rot="5400000">
                  <a:off x="3853759" y="5398921"/>
                  <a:ext cx="2260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0BCCC59D-F27F-400B-AE44-6ABEBE16D3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3853759" y="5398921"/>
                  <a:ext cx="226024" cy="276999"/>
                </a:xfrm>
                <a:prstGeom prst="rect">
                  <a:avLst/>
                </a:prstGeom>
                <a:blipFill>
                  <a:blip r:embed="rId26"/>
                  <a:stretch>
                    <a:fillRect l="-6667" t="-21622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62EC4A07-5134-49B2-A2C7-E88F6EA8113B}"/>
                    </a:ext>
                  </a:extLst>
                </p:cNvPr>
                <p:cNvSpPr txBox="1"/>
                <p:nvPr/>
              </p:nvSpPr>
              <p:spPr>
                <a:xfrm rot="5400000">
                  <a:off x="4621221" y="5398921"/>
                  <a:ext cx="2260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62EC4A07-5134-49B2-A2C7-E88F6EA811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4621221" y="5398921"/>
                  <a:ext cx="226024" cy="276999"/>
                </a:xfrm>
                <a:prstGeom prst="rect">
                  <a:avLst/>
                </a:prstGeom>
                <a:blipFill>
                  <a:blip r:embed="rId27"/>
                  <a:stretch>
                    <a:fillRect l="-6667" t="-21622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3F6C84B0-BA59-489B-BE99-A8797DD9F1FF}"/>
                    </a:ext>
                  </a:extLst>
                </p:cNvPr>
                <p:cNvSpPr txBox="1"/>
                <p:nvPr/>
              </p:nvSpPr>
              <p:spPr>
                <a:xfrm rot="5400000">
                  <a:off x="5334264" y="5398921"/>
                  <a:ext cx="2260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3F6C84B0-BA59-489B-BE99-A8797DD9F1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334264" y="5398921"/>
                  <a:ext cx="226024" cy="276999"/>
                </a:xfrm>
                <a:prstGeom prst="rect">
                  <a:avLst/>
                </a:prstGeom>
                <a:blipFill>
                  <a:blip r:embed="rId28"/>
                  <a:stretch>
                    <a:fillRect l="-6667" t="-21622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9DF59BBB-61DC-4507-8544-6EC9951F55DE}"/>
                    </a:ext>
                  </a:extLst>
                </p:cNvPr>
                <p:cNvSpPr txBox="1"/>
                <p:nvPr/>
              </p:nvSpPr>
              <p:spPr>
                <a:xfrm rot="5400000">
                  <a:off x="6047307" y="5398921"/>
                  <a:ext cx="2260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9DF59BBB-61DC-4507-8544-6EC9951F55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6047307" y="5398921"/>
                  <a:ext cx="226024" cy="276999"/>
                </a:xfrm>
                <a:prstGeom prst="rect">
                  <a:avLst/>
                </a:prstGeom>
                <a:blipFill>
                  <a:blip r:embed="rId29"/>
                  <a:stretch>
                    <a:fillRect l="-6667" t="-21622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312D330A-947E-40F2-8206-E9D9E7020E95}"/>
                    </a:ext>
                  </a:extLst>
                </p:cNvPr>
                <p:cNvSpPr txBox="1"/>
                <p:nvPr/>
              </p:nvSpPr>
              <p:spPr>
                <a:xfrm rot="5400000">
                  <a:off x="6760350" y="5398921"/>
                  <a:ext cx="2260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312D330A-947E-40F2-8206-E9D9E7020E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6760350" y="5398921"/>
                  <a:ext cx="226024" cy="276999"/>
                </a:xfrm>
                <a:prstGeom prst="rect">
                  <a:avLst/>
                </a:prstGeom>
                <a:blipFill>
                  <a:blip r:embed="rId30"/>
                  <a:stretch>
                    <a:fillRect l="-6667" t="-21622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8F4DC886-BDCD-4C91-B0D6-472C178DC31B}"/>
              </a:ext>
            </a:extLst>
          </p:cNvPr>
          <p:cNvGrpSpPr/>
          <p:nvPr/>
        </p:nvGrpSpPr>
        <p:grpSpPr>
          <a:xfrm>
            <a:off x="2113035" y="6045491"/>
            <a:ext cx="4898827" cy="301878"/>
            <a:chOff x="2113035" y="6045491"/>
            <a:chExt cx="4898827" cy="3018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1B9987F8-E385-471D-9D27-5B1A142BBFF1}"/>
                    </a:ext>
                  </a:extLst>
                </p:cNvPr>
                <p:cNvSpPr txBox="1"/>
                <p:nvPr/>
              </p:nvSpPr>
              <p:spPr>
                <a:xfrm>
                  <a:off x="2113035" y="6045491"/>
                  <a:ext cx="29405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1B9987F8-E385-471D-9D27-5B1A142BBF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035" y="6045491"/>
                  <a:ext cx="294055" cy="276999"/>
                </a:xfrm>
                <a:prstGeom prst="rect">
                  <a:avLst/>
                </a:prstGeom>
                <a:blipFill>
                  <a:blip r:embed="rId31"/>
                  <a:stretch>
                    <a:fillRect l="-18750" r="-8333" b="-1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144FD4D9-1478-4401-AB86-847F7C8BC9BA}"/>
                    </a:ext>
                  </a:extLst>
                </p:cNvPr>
                <p:cNvSpPr txBox="1"/>
                <p:nvPr/>
              </p:nvSpPr>
              <p:spPr>
                <a:xfrm>
                  <a:off x="2989335" y="6045491"/>
                  <a:ext cx="2993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144FD4D9-1478-4401-AB86-847F7C8BC9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9335" y="6045491"/>
                  <a:ext cx="299377" cy="276999"/>
                </a:xfrm>
                <a:prstGeom prst="rect">
                  <a:avLst/>
                </a:prstGeom>
                <a:blipFill>
                  <a:blip r:embed="rId32"/>
                  <a:stretch>
                    <a:fillRect l="-18367" r="-8163" b="-1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2CD0F262-39FA-419F-A009-7BA1970622E7}"/>
                    </a:ext>
                  </a:extLst>
                </p:cNvPr>
                <p:cNvSpPr txBox="1"/>
                <p:nvPr/>
              </p:nvSpPr>
              <p:spPr>
                <a:xfrm>
                  <a:off x="3811216" y="6045491"/>
                  <a:ext cx="2993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2CD0F262-39FA-419F-A009-7BA1970622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1216" y="6045491"/>
                  <a:ext cx="299377" cy="276999"/>
                </a:xfrm>
                <a:prstGeom prst="rect">
                  <a:avLst/>
                </a:prstGeom>
                <a:blipFill>
                  <a:blip r:embed="rId33"/>
                  <a:stretch>
                    <a:fillRect l="-18367" r="-8163" b="-1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6AB03A7D-3F53-4845-864A-177047CE870E}"/>
                    </a:ext>
                  </a:extLst>
                </p:cNvPr>
                <p:cNvSpPr txBox="1"/>
                <p:nvPr/>
              </p:nvSpPr>
              <p:spPr>
                <a:xfrm>
                  <a:off x="6717807" y="6045491"/>
                  <a:ext cx="294055" cy="30187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f>
                              <m:fPr>
                                <m:type m:val="li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6AB03A7D-3F53-4845-864A-177047CE87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7807" y="6045491"/>
                  <a:ext cx="294055" cy="301878"/>
                </a:xfrm>
                <a:prstGeom prst="rect">
                  <a:avLst/>
                </a:prstGeom>
                <a:blipFill>
                  <a:blip r:embed="rId34"/>
                  <a:stretch>
                    <a:fillRect l="-27083" t="-79592" r="-191667" b="-1795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0B9F2B4D-E07B-4C09-BBF5-F453D1C56839}"/>
                    </a:ext>
                  </a:extLst>
                </p:cNvPr>
                <p:cNvSpPr txBox="1"/>
                <p:nvPr/>
              </p:nvSpPr>
              <p:spPr>
                <a:xfrm>
                  <a:off x="5204421" y="6070370"/>
                  <a:ext cx="48571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⋯⋯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0B9F2B4D-E07B-4C09-BBF5-F453D1C568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4421" y="6070370"/>
                  <a:ext cx="485710" cy="276999"/>
                </a:xfrm>
                <a:prstGeom prst="rect">
                  <a:avLst/>
                </a:prstGeom>
                <a:blipFill>
                  <a:blip r:embed="rId35"/>
                  <a:stretch>
                    <a:fillRect l="-2532" r="-50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C2EEEBEF-C85F-4CF4-B359-9BF6FA0ADAB2}"/>
              </a:ext>
            </a:extLst>
          </p:cNvPr>
          <p:cNvGrpSpPr/>
          <p:nvPr/>
        </p:nvGrpSpPr>
        <p:grpSpPr>
          <a:xfrm>
            <a:off x="2028825" y="4493035"/>
            <a:ext cx="5386165" cy="352674"/>
            <a:chOff x="2028825" y="4493035"/>
            <a:chExt cx="5386165" cy="352674"/>
          </a:xfrm>
        </p:grpSpPr>
        <p:sp>
          <p:nvSpPr>
            <p:cNvPr id="108" name="矩形: 圆角 107">
              <a:extLst>
                <a:ext uri="{FF2B5EF4-FFF2-40B4-BE49-F238E27FC236}">
                  <a16:creationId xmlns:a16="http://schemas.microsoft.com/office/drawing/2014/main" id="{0C8D7622-65BA-41D8-901A-6E2F18B2D749}"/>
                </a:ext>
              </a:extLst>
            </p:cNvPr>
            <p:cNvSpPr/>
            <p:nvPr/>
          </p:nvSpPr>
          <p:spPr>
            <a:xfrm>
              <a:off x="2028825" y="4493035"/>
              <a:ext cx="5086350" cy="352674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90C91F90-3E9E-408D-8239-371E6331FCD1}"/>
                    </a:ext>
                  </a:extLst>
                </p:cNvPr>
                <p:cNvSpPr txBox="1"/>
                <p:nvPr/>
              </p:nvSpPr>
              <p:spPr>
                <a:xfrm>
                  <a:off x="7212524" y="4526903"/>
                  <a:ext cx="202466" cy="28493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90C91F90-3E9E-408D-8239-371E6331FC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2524" y="4526903"/>
                  <a:ext cx="202466" cy="284937"/>
                </a:xfrm>
                <a:prstGeom prst="rect">
                  <a:avLst/>
                </a:prstGeom>
                <a:blipFill>
                  <a:blip r:embed="rId36"/>
                  <a:stretch>
                    <a:fillRect l="-39394" r="-39394" b="-43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41B47F37-BBDB-4406-AA69-65E9BFE441B0}"/>
              </a:ext>
            </a:extLst>
          </p:cNvPr>
          <p:cNvGrpSpPr/>
          <p:nvPr/>
        </p:nvGrpSpPr>
        <p:grpSpPr>
          <a:xfrm>
            <a:off x="2593730" y="4526900"/>
            <a:ext cx="4031345" cy="282720"/>
            <a:chOff x="2593730" y="4526900"/>
            <a:chExt cx="4031345" cy="2827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47DEBC79-76D7-43B7-BED1-89D38AEA499D}"/>
                    </a:ext>
                  </a:extLst>
                </p:cNvPr>
                <p:cNvSpPr txBox="1"/>
                <p:nvPr/>
              </p:nvSpPr>
              <p:spPr>
                <a:xfrm>
                  <a:off x="2593730" y="4526903"/>
                  <a:ext cx="2260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47DEBC79-76D7-43B7-BED1-89D38AEA49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3730" y="4526903"/>
                  <a:ext cx="226024" cy="276999"/>
                </a:xfrm>
                <a:prstGeom prst="rect">
                  <a:avLst/>
                </a:prstGeom>
                <a:blipFill>
                  <a:blip r:embed="rId37"/>
                  <a:stretch>
                    <a:fillRect l="-21053" r="-15789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20CE82FA-BF4A-46BC-B336-A9B9A76E4306}"/>
                    </a:ext>
                  </a:extLst>
                </p:cNvPr>
                <p:cNvSpPr txBox="1"/>
                <p:nvPr/>
              </p:nvSpPr>
              <p:spPr>
                <a:xfrm>
                  <a:off x="3440510" y="4526902"/>
                  <a:ext cx="2260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20CE82FA-BF4A-46BC-B336-A9B9A76E43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0510" y="4526902"/>
                  <a:ext cx="226024" cy="276999"/>
                </a:xfrm>
                <a:prstGeom prst="rect">
                  <a:avLst/>
                </a:prstGeom>
                <a:blipFill>
                  <a:blip r:embed="rId38"/>
                  <a:stretch>
                    <a:fillRect l="-21622" r="-18919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B8583F0B-72EF-4E8C-8409-1D9C7BBF2824}"/>
                    </a:ext>
                  </a:extLst>
                </p:cNvPr>
                <p:cNvSpPr txBox="1"/>
                <p:nvPr/>
              </p:nvSpPr>
              <p:spPr>
                <a:xfrm>
                  <a:off x="4262442" y="4526901"/>
                  <a:ext cx="2260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B8583F0B-72EF-4E8C-8409-1D9C7BBF28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2442" y="4526901"/>
                  <a:ext cx="226024" cy="276999"/>
                </a:xfrm>
                <a:prstGeom prst="rect">
                  <a:avLst/>
                </a:prstGeom>
                <a:blipFill>
                  <a:blip r:embed="rId39"/>
                  <a:stretch>
                    <a:fillRect l="-21622" r="-18919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57275378-17D4-49BC-B2DF-99D656F7F987}"/>
                    </a:ext>
                  </a:extLst>
                </p:cNvPr>
                <p:cNvSpPr txBox="1"/>
                <p:nvPr/>
              </p:nvSpPr>
              <p:spPr>
                <a:xfrm>
                  <a:off x="4977744" y="4526901"/>
                  <a:ext cx="2260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57275378-17D4-49BC-B2DF-99D656F7F9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7744" y="4526901"/>
                  <a:ext cx="226024" cy="276999"/>
                </a:xfrm>
                <a:prstGeom prst="rect">
                  <a:avLst/>
                </a:prstGeom>
                <a:blipFill>
                  <a:blip r:embed="rId40"/>
                  <a:stretch>
                    <a:fillRect l="-21622" r="-18919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3D052933-7A2D-4391-85EC-BD5846622AE9}"/>
                    </a:ext>
                  </a:extLst>
                </p:cNvPr>
                <p:cNvSpPr txBox="1"/>
                <p:nvPr/>
              </p:nvSpPr>
              <p:spPr>
                <a:xfrm>
                  <a:off x="5690131" y="4526900"/>
                  <a:ext cx="2260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3D052933-7A2D-4391-85EC-BD5846622A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0131" y="4526900"/>
                  <a:ext cx="226024" cy="276999"/>
                </a:xfrm>
                <a:prstGeom prst="rect">
                  <a:avLst/>
                </a:prstGeom>
                <a:blipFill>
                  <a:blip r:embed="rId41"/>
                  <a:stretch>
                    <a:fillRect l="-21622" r="-18919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70F8D7A4-BA65-4EC9-8C49-6527D3193500}"/>
                    </a:ext>
                  </a:extLst>
                </p:cNvPr>
                <p:cNvSpPr txBox="1"/>
                <p:nvPr/>
              </p:nvSpPr>
              <p:spPr>
                <a:xfrm>
                  <a:off x="6399051" y="4532621"/>
                  <a:ext cx="2260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70F8D7A4-BA65-4EC9-8C49-6527D31935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9051" y="4532621"/>
                  <a:ext cx="226024" cy="276999"/>
                </a:xfrm>
                <a:prstGeom prst="rect">
                  <a:avLst/>
                </a:prstGeom>
                <a:blipFill>
                  <a:blip r:embed="rId42"/>
                  <a:stretch>
                    <a:fillRect l="-21622" r="-18919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92B1C19B-EFEA-4FF4-8316-C3432E3D557F}"/>
                  </a:ext>
                </a:extLst>
              </p:cNvPr>
              <p:cNvSpPr txBox="1"/>
              <p:nvPr/>
            </p:nvSpPr>
            <p:spPr>
              <a:xfrm>
                <a:off x="4345801" y="4208093"/>
                <a:ext cx="20246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92B1C19B-EFEA-4FF4-8316-C3432E3D5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5801" y="4208093"/>
                <a:ext cx="202466" cy="276999"/>
              </a:xfrm>
              <a:prstGeom prst="rect">
                <a:avLst/>
              </a:prstGeom>
              <a:blipFill>
                <a:blip r:embed="rId43"/>
                <a:stretch>
                  <a:fillRect l="-30303" r="-696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8017DD69-529C-4E58-901D-915473FDC182}"/>
                  </a:ext>
                </a:extLst>
              </p:cNvPr>
              <p:cNvSpPr txBox="1"/>
              <p:nvPr/>
            </p:nvSpPr>
            <p:spPr>
              <a:xfrm>
                <a:off x="7147157" y="3289389"/>
                <a:ext cx="1866601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000" b="0" dirty="0">
                    <a:solidFill>
                      <a:schemeClr val="accent5">
                        <a:lumMod val="50000"/>
                      </a:schemeClr>
                    </a:solidFill>
                  </a:rPr>
                  <a:t>Bigger than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chemeClr val="accent5">
                        <a:lumMod val="50000"/>
                      </a:schemeClr>
                    </a:solidFill>
                  </a:rPr>
                  <a:t>,</a:t>
                </a:r>
                <a:br>
                  <a:rPr lang="en-US" sz="2000" dirty="0">
                    <a:solidFill>
                      <a:schemeClr val="accent5">
                        <a:lumMod val="50000"/>
                      </a:schemeClr>
                    </a:solidFill>
                  </a:rPr>
                </a:br>
                <a:r>
                  <a:rPr lang="en-US" sz="2000" dirty="0">
                    <a:solidFill>
                      <a:schemeClr val="accent5">
                        <a:lumMod val="50000"/>
                      </a:schemeClr>
                    </a:solidFill>
                  </a:rPr>
                  <a:t>has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2000" i="1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0.3</m:t>
                    </m:r>
                    <m:r>
                      <a:rPr lang="en-US" sz="2000" i="1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chemeClr val="accent5">
                        <a:lumMod val="50000"/>
                      </a:schemeClr>
                    </a:solidFill>
                  </a:rPr>
                  <a:t> items.</a:t>
                </a:r>
              </a:p>
            </p:txBody>
          </p:sp>
        </mc:Choice>
        <mc:Fallback xmlns="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8017DD69-529C-4E58-901D-915473FDC1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7157" y="3289389"/>
                <a:ext cx="1866601" cy="615553"/>
              </a:xfrm>
              <a:prstGeom prst="rect">
                <a:avLst/>
              </a:prstGeom>
              <a:blipFill>
                <a:blip r:embed="rId44"/>
                <a:stretch>
                  <a:fillRect l="-8143" t="-12871" r="-7818" b="-23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4434C435-7A0D-417A-A2B1-1E7C3DA5DB19}"/>
                  </a:ext>
                </a:extLst>
              </p:cNvPr>
              <p:cNvSpPr txBox="1"/>
              <p:nvPr/>
            </p:nvSpPr>
            <p:spPr>
              <a:xfrm>
                <a:off x="162786" y="5422317"/>
                <a:ext cx="1866601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000" b="0" dirty="0">
                    <a:solidFill>
                      <a:schemeClr val="accent6">
                        <a:lumMod val="50000"/>
                      </a:schemeClr>
                    </a:solidFill>
                  </a:rPr>
                  <a:t>Smaller than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chemeClr val="accent6">
                        <a:lumMod val="50000"/>
                      </a:schemeClr>
                    </a:solidFill>
                  </a:rPr>
                  <a:t>,</a:t>
                </a:r>
                <a:br>
                  <a:rPr lang="en-US" sz="2000" dirty="0">
                    <a:solidFill>
                      <a:schemeClr val="accent6">
                        <a:lumMod val="50000"/>
                      </a:schemeClr>
                    </a:solidFill>
                  </a:rPr>
                </a:br>
                <a:r>
                  <a:rPr lang="en-US" sz="2000" dirty="0">
                    <a:solidFill>
                      <a:schemeClr val="accent6">
                        <a:lumMod val="50000"/>
                      </a:schemeClr>
                    </a:solidFill>
                  </a:rPr>
                  <a:t>has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2000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0.3</m:t>
                    </m:r>
                    <m:r>
                      <a:rPr lang="en-US" sz="2000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50000"/>
                      </a:schemeClr>
                    </a:solidFill>
                  </a:rPr>
                  <a:t> items.</a:t>
                </a:r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4434C435-7A0D-417A-A2B1-1E7C3DA5D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786" y="5422317"/>
                <a:ext cx="1866601" cy="615553"/>
              </a:xfrm>
              <a:prstGeom prst="rect">
                <a:avLst/>
              </a:prstGeom>
              <a:blipFill>
                <a:blip r:embed="rId45"/>
                <a:stretch>
                  <a:fillRect l="-8497" t="-12871" r="-7843" b="-24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D2B4B190-8124-4FD8-990E-19E7F9146B28}"/>
                  </a:ext>
                </a:extLst>
              </p:cNvPr>
              <p:cNvSpPr txBox="1"/>
              <p:nvPr/>
            </p:nvSpPr>
            <p:spPr>
              <a:xfrm>
                <a:off x="4345801" y="2586636"/>
                <a:ext cx="380642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srgbClr val="C00000"/>
                    </a:solidFill>
                  </a:rPr>
                  <a:t>Partition using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as pivot is good:</a:t>
                </a:r>
                <a:br>
                  <a:rPr lang="en-US" sz="2000" dirty="0">
                    <a:solidFill>
                      <a:srgbClr val="C00000"/>
                    </a:solidFill>
                  </a:rPr>
                </a:br>
                <a:r>
                  <a:rPr lang="en-US" sz="2000" dirty="0">
                    <a:solidFill>
                      <a:srgbClr val="C00000"/>
                    </a:solidFill>
                  </a:rPr>
                  <a:t>the smaller split has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≥0.3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items.</a:t>
                </a:r>
              </a:p>
            </p:txBody>
          </p:sp>
        </mc:Choice>
        <mc:Fallback xmlns="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D2B4B190-8124-4FD8-990E-19E7F9146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5801" y="2586636"/>
                <a:ext cx="3806427" cy="707886"/>
              </a:xfrm>
              <a:prstGeom prst="rect">
                <a:avLst/>
              </a:prstGeom>
              <a:blipFill>
                <a:blip r:embed="rId46"/>
                <a:stretch>
                  <a:fillRect l="-1763" t="-4310" r="-801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1776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 animBg="1"/>
      <p:bldP spid="120" grpId="0" animBg="1"/>
      <p:bldP spid="118" grpId="0" animBg="1"/>
      <p:bldP spid="119" grpId="0"/>
      <p:bldP spid="122" grpId="0"/>
      <p:bldP spid="125" grpId="0"/>
      <p:bldP spid="1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D61280C-6809-4867-85BB-EF2930B07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median of medians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91D3EF-D445-4929-8EEE-B85B95B75103}"/>
              </a:ext>
            </a:extLst>
          </p:cNvPr>
          <p:cNvSpPr/>
          <p:nvPr/>
        </p:nvSpPr>
        <p:spPr>
          <a:xfrm>
            <a:off x="628650" y="3414494"/>
            <a:ext cx="5477860" cy="27762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QuickSelect</a:t>
            </a:r>
            <a:r>
              <a:rPr lang="en-GB" sz="1600" b="1" u="sng" dirty="0">
                <a:solidFill>
                  <a:schemeClr val="tx1"/>
                </a:solidFill>
              </a:rPr>
              <a:t>(A, </a:t>
            </a:r>
            <a:r>
              <a:rPr lang="en-GB" sz="1600" b="1" u="sng" dirty="0" err="1">
                <a:solidFill>
                  <a:schemeClr val="tx1"/>
                </a:solidFill>
              </a:rPr>
              <a:t>i</a:t>
            </a:r>
            <a:r>
              <a:rPr lang="en-GB" sz="1600" b="1" u="sng" dirty="0">
                <a:solidFill>
                  <a:schemeClr val="tx1"/>
                </a:solidFill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A.size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A[1]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m =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MedianOfMedians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q =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PartitionWithPivot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A,m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==q)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A[q]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elseif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&lt;q)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QuickSelect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(A[1…(q-1)],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QuickSelect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(A[(q+1)…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A.size,i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-q])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9C7682B-4D0E-464B-AB07-6FA806AB939C}"/>
              </a:ext>
            </a:extLst>
          </p:cNvPr>
          <p:cNvSpPr/>
          <p:nvPr/>
        </p:nvSpPr>
        <p:spPr>
          <a:xfrm>
            <a:off x="908874" y="4379199"/>
            <a:ext cx="2752669" cy="235551"/>
          </a:xfrm>
          <a:prstGeom prst="round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F4CB90E8-9B92-483D-87B0-702FC412CBB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650" y="1690689"/>
                <a:ext cx="7886700" cy="132556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600"/>
                  </a:spcBef>
                </a:pPr>
                <a:r>
                  <a:rPr lang="en-US" sz="2000" dirty="0"/>
                  <a:t>Divide elements into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000" dirty="0"/>
                  <a:t> groups, each containing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2000" dirty="0"/>
                  <a:t> elements, call these groups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f>
                          <m:fPr>
                            <m:type m:val="lin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00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Find the medians of these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000" dirty="0"/>
                  <a:t> groups, let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be this set of medians.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Find the median of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, call it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F4CB90E8-9B92-483D-87B0-702FC412C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690689"/>
                <a:ext cx="7886700" cy="1325564"/>
              </a:xfrm>
              <a:prstGeom prst="rect">
                <a:avLst/>
              </a:prstGeom>
              <a:blipFill>
                <a:blip r:embed="rId2"/>
                <a:stretch>
                  <a:fillRect l="-696" t="-37615" r="-1082" b="-302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5218681-E769-4E83-9B9C-CC5D57D7F80A}"/>
                  </a:ext>
                </a:extLst>
              </p:cNvPr>
              <p:cNvSpPr txBox="1"/>
              <p:nvPr/>
            </p:nvSpPr>
            <p:spPr>
              <a:xfrm>
                <a:off x="3241456" y="3732868"/>
                <a:ext cx="235237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How much time?</a:t>
                </a:r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(Can only afford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.)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5218681-E769-4E83-9B9C-CC5D57D7F8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1456" y="3732868"/>
                <a:ext cx="2352375" cy="646331"/>
              </a:xfrm>
              <a:prstGeom prst="rect">
                <a:avLst/>
              </a:prstGeom>
              <a:blipFill>
                <a:blip r:embed="rId3"/>
                <a:stretch>
                  <a:fillRect l="-2332" t="-4717" r="-1554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A0D7E35-D969-46BA-B3A3-A8E562E188F3}"/>
                  </a:ext>
                </a:extLst>
              </p:cNvPr>
              <p:cNvSpPr txBox="1"/>
              <p:nvPr/>
            </p:nvSpPr>
            <p:spPr>
              <a:xfrm>
                <a:off x="3456919" y="2009063"/>
                <a:ext cx="18775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Trivial,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 time.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A0D7E35-D969-46BA-B3A3-A8E562E18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919" y="2009063"/>
                <a:ext cx="1877565" cy="369332"/>
              </a:xfrm>
              <a:prstGeom prst="rect">
                <a:avLst/>
              </a:prstGeom>
              <a:blipFill>
                <a:blip r:embed="rId4"/>
                <a:stretch>
                  <a:fillRect l="-2597" t="-10000" r="-292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>
            <a:extLst>
              <a:ext uri="{FF2B5EF4-FFF2-40B4-BE49-F238E27FC236}">
                <a16:creationId xmlns:a16="http://schemas.microsoft.com/office/drawing/2014/main" id="{841A2779-983B-427A-811E-2D32B6FBF9CE}"/>
              </a:ext>
            </a:extLst>
          </p:cNvPr>
          <p:cNvGrpSpPr/>
          <p:nvPr/>
        </p:nvGrpSpPr>
        <p:grpSpPr>
          <a:xfrm>
            <a:off x="4572000" y="2637815"/>
            <a:ext cx="4063689" cy="646331"/>
            <a:chOff x="4820357" y="2637815"/>
            <a:chExt cx="4063689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C6BB441A-759B-48C5-9F49-560B4739132F}"/>
                    </a:ext>
                  </a:extLst>
                </p:cNvPr>
                <p:cNvSpPr txBox="1"/>
                <p:nvPr/>
              </p:nvSpPr>
              <p:spPr>
                <a:xfrm>
                  <a:off x="4971308" y="2637815"/>
                  <a:ext cx="3912738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Sort each group, then find the medians.</a:t>
                  </a:r>
                  <a:br>
                    <a:rPr lang="en-US" dirty="0">
                      <a:solidFill>
                        <a:schemeClr val="accent1">
                          <a:lumMod val="75000"/>
                        </a:schemeClr>
                      </a:solidFill>
                    </a:rPr>
                  </a:br>
                  <a:r>
                    <a:rPr lang="en-US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Cost is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C6BB441A-759B-48C5-9F49-560B473913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1308" y="2637815"/>
                  <a:ext cx="3912738" cy="646331"/>
                </a:xfrm>
                <a:prstGeom prst="rect">
                  <a:avLst/>
                </a:prstGeom>
                <a:blipFill>
                  <a:blip r:embed="rId5"/>
                  <a:stretch>
                    <a:fillRect l="-1402" t="-24528" r="-623" b="-1009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箭头: 右 10">
              <a:extLst>
                <a:ext uri="{FF2B5EF4-FFF2-40B4-BE49-F238E27FC236}">
                  <a16:creationId xmlns:a16="http://schemas.microsoft.com/office/drawing/2014/main" id="{3F0DE46A-A4B1-4258-9981-8655C6B16CC9}"/>
                </a:ext>
              </a:extLst>
            </p:cNvPr>
            <p:cNvSpPr/>
            <p:nvPr/>
          </p:nvSpPr>
          <p:spPr>
            <a:xfrm rot="14079069">
              <a:off x="4688102" y="2784067"/>
              <a:ext cx="399393" cy="134883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622F9DA-FFBD-40C2-9109-654748CC16D1}"/>
              </a:ext>
            </a:extLst>
          </p:cNvPr>
          <p:cNvSpPr/>
          <p:nvPr/>
        </p:nvSpPr>
        <p:spPr>
          <a:xfrm>
            <a:off x="908873" y="2698147"/>
            <a:ext cx="3439686" cy="318105"/>
          </a:xfrm>
          <a:prstGeom prst="round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25222E5-3372-42BF-A5DC-EF549408D9F2}"/>
              </a:ext>
            </a:extLst>
          </p:cNvPr>
          <p:cNvSpPr txBox="1"/>
          <p:nvPr/>
        </p:nvSpPr>
        <p:spPr>
          <a:xfrm>
            <a:off x="889854" y="3016521"/>
            <a:ext cx="3426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Use </a:t>
            </a:r>
            <a:r>
              <a:rPr lang="en-US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QuickSelect</a:t>
            </a:r>
            <a:r>
              <a:rPr lang="en-US" dirty="0">
                <a:solidFill>
                  <a:srgbClr val="C00000"/>
                </a:solidFill>
              </a:rPr>
              <a:t>, recursively!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0E9E38E-92DB-45BF-A8EB-0F6235CA27A0}"/>
              </a:ext>
            </a:extLst>
          </p:cNvPr>
          <p:cNvSpPr/>
          <p:nvPr/>
        </p:nvSpPr>
        <p:spPr>
          <a:xfrm>
            <a:off x="3132083" y="4850191"/>
            <a:ext cx="5383267" cy="14975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MedianOfMedians</a:t>
            </a:r>
            <a:r>
              <a:rPr lang="en-GB" sz="1600" b="1" u="sng" dirty="0">
                <a:solidFill>
                  <a:schemeClr val="tx1"/>
                </a:solidFill>
              </a:rPr>
              <a:t>(A):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&lt;G</a:t>
            </a:r>
            <a:r>
              <a:rPr lang="en-US" sz="16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,G</a:t>
            </a:r>
            <a:r>
              <a:rPr lang="en-US" sz="16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,…,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sz="1600" baseline="-25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sz="16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/5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=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CreateGroups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 to n/5)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Sort(G</a:t>
            </a:r>
            <a:r>
              <a:rPr lang="en-US" sz="16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 =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GetMediansFromSortedGroups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(G</a:t>
            </a:r>
            <a:r>
              <a:rPr lang="en-US" sz="16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,G</a:t>
            </a:r>
            <a:r>
              <a:rPr lang="en-US" sz="16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,…,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sz="1600" baseline="-25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sz="16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/5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QuickSelect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(M,(n/5)/2)</a:t>
            </a:r>
          </a:p>
        </p:txBody>
      </p:sp>
    </p:spTree>
    <p:extLst>
      <p:ext uri="{BB962C8B-B14F-4D97-AF65-F5344CB8AC3E}">
        <p14:creationId xmlns:p14="http://schemas.microsoft.com/office/powerpoint/2010/main" val="3718709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9" grpId="0"/>
      <p:bldP spid="13" grpId="0" animBg="1"/>
      <p:bldP spid="14" grpId="0"/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C737371A-74C3-4DBA-A057-4F16E2727C26}"/>
              </a:ext>
            </a:extLst>
          </p:cNvPr>
          <p:cNvSpPr/>
          <p:nvPr/>
        </p:nvSpPr>
        <p:spPr>
          <a:xfrm>
            <a:off x="628650" y="798944"/>
            <a:ext cx="5467350" cy="27762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QuickSelect</a:t>
            </a:r>
            <a:r>
              <a:rPr lang="en-GB" sz="1600" b="1" u="sng" dirty="0">
                <a:solidFill>
                  <a:schemeClr val="tx1"/>
                </a:solidFill>
              </a:rPr>
              <a:t>(A, </a:t>
            </a:r>
            <a:r>
              <a:rPr lang="en-GB" sz="1600" b="1" u="sng" dirty="0" err="1">
                <a:solidFill>
                  <a:schemeClr val="tx1"/>
                </a:solidFill>
              </a:rPr>
              <a:t>i</a:t>
            </a:r>
            <a:r>
              <a:rPr lang="en-GB" sz="1600" b="1" u="sng" dirty="0">
                <a:solidFill>
                  <a:schemeClr val="tx1"/>
                </a:solidFill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A.size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A[1]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m = </a:t>
            </a:r>
            <a:r>
              <a:rPr lang="en-US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MedianOfMedians</a:t>
            </a:r>
            <a:r>
              <a:rPr 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q =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PartitionWithPivot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A,m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==q)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A[q]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elseif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&lt;q)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QuickSelect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(A[1…(q-1)],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QuickSelect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(A[(q+1)…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A.size,i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-q])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46F300B-718B-47AF-ABCB-8868692424F0}"/>
              </a:ext>
            </a:extLst>
          </p:cNvPr>
          <p:cNvSpPr/>
          <p:nvPr/>
        </p:nvSpPr>
        <p:spPr>
          <a:xfrm>
            <a:off x="3162628" y="250772"/>
            <a:ext cx="5383267" cy="14975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MedianOfMedians</a:t>
            </a:r>
            <a:r>
              <a:rPr lang="en-GB" sz="1600" b="1" u="sng" dirty="0">
                <a:solidFill>
                  <a:schemeClr val="tx1"/>
                </a:solidFill>
              </a:rPr>
              <a:t>(A):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&lt;G</a:t>
            </a:r>
            <a:r>
              <a:rPr lang="en-US" sz="16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,G</a:t>
            </a:r>
            <a:r>
              <a:rPr lang="en-US" sz="16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,…,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sz="1600" baseline="-25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sz="16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/5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=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CreateGroups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 to n/5)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Sort(G</a:t>
            </a:r>
            <a:r>
              <a:rPr lang="en-US" sz="16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 =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GetMediansFromSortedGroups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(G</a:t>
            </a:r>
            <a:r>
              <a:rPr lang="en-US" sz="16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,G</a:t>
            </a:r>
            <a:r>
              <a:rPr lang="en-US" sz="16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,…,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sz="1600" baseline="-25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sz="16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/5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QuickSelect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(M,(n/5)/2)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F862F16-DACD-44E1-B310-CA445791B449}"/>
              </a:ext>
            </a:extLst>
          </p:cNvPr>
          <p:cNvSpPr txBox="1"/>
          <p:nvPr/>
        </p:nvSpPr>
        <p:spPr>
          <a:xfrm>
            <a:off x="628650" y="250772"/>
            <a:ext cx="23783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Time complexity?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3C8AE80-1808-4B01-A8ED-40E947C48C3E}"/>
                  </a:ext>
                </a:extLst>
              </p:cNvPr>
              <p:cNvSpPr txBox="1"/>
              <p:nvPr/>
            </p:nvSpPr>
            <p:spPr>
              <a:xfrm>
                <a:off x="628650" y="3993558"/>
                <a:ext cx="530574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0.7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0.2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3C8AE80-1808-4B01-A8ED-40E947C48C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993558"/>
                <a:ext cx="5305748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: 圆角 8">
            <a:extLst>
              <a:ext uri="{FF2B5EF4-FFF2-40B4-BE49-F238E27FC236}">
                <a16:creationId xmlns:a16="http://schemas.microsoft.com/office/drawing/2014/main" id="{1B24B5D6-0D69-43CB-906A-8400B8ABE199}"/>
              </a:ext>
            </a:extLst>
          </p:cNvPr>
          <p:cNvSpPr/>
          <p:nvPr/>
        </p:nvSpPr>
        <p:spPr>
          <a:xfrm>
            <a:off x="1817821" y="3993558"/>
            <a:ext cx="1344807" cy="430887"/>
          </a:xfrm>
          <a:prstGeom prst="round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1BB950D-2724-42FC-8077-0E62FF5CFE5B}"/>
              </a:ext>
            </a:extLst>
          </p:cNvPr>
          <p:cNvSpPr/>
          <p:nvPr/>
        </p:nvSpPr>
        <p:spPr>
          <a:xfrm>
            <a:off x="898165" y="2187048"/>
            <a:ext cx="5197835" cy="1388104"/>
          </a:xfrm>
          <a:prstGeom prst="round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AEBCFC7-7771-4310-B686-188414B7DFD9}"/>
              </a:ext>
            </a:extLst>
          </p:cNvPr>
          <p:cNvSpPr/>
          <p:nvPr/>
        </p:nvSpPr>
        <p:spPr>
          <a:xfrm>
            <a:off x="3451225" y="3993557"/>
            <a:ext cx="1279525" cy="430887"/>
          </a:xfrm>
          <a:prstGeom prst="round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3B44B43-71E2-4A12-882B-B2017286A7C4}"/>
              </a:ext>
            </a:extLst>
          </p:cNvPr>
          <p:cNvSpPr/>
          <p:nvPr/>
        </p:nvSpPr>
        <p:spPr>
          <a:xfrm>
            <a:off x="3207079" y="1439321"/>
            <a:ext cx="3622346" cy="241350"/>
          </a:xfrm>
          <a:prstGeom prst="round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8ADD600-B71D-495D-A85B-088564FDA6E2}"/>
              </a:ext>
            </a:extLst>
          </p:cNvPr>
          <p:cNvSpPr/>
          <p:nvPr/>
        </p:nvSpPr>
        <p:spPr>
          <a:xfrm>
            <a:off x="5073649" y="3993556"/>
            <a:ext cx="860749" cy="430887"/>
          </a:xfrm>
          <a:prstGeom prst="roundRect">
            <a:avLst/>
          </a:prstGeom>
          <a:solidFill>
            <a:schemeClr val="accent6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E5AFDD3-EAC1-42F6-A1EE-5D74840E390B}"/>
              </a:ext>
            </a:extLst>
          </p:cNvPr>
          <p:cNvSpPr/>
          <p:nvPr/>
        </p:nvSpPr>
        <p:spPr>
          <a:xfrm>
            <a:off x="898165" y="1987389"/>
            <a:ext cx="3407135" cy="241350"/>
          </a:xfrm>
          <a:prstGeom prst="roundRect">
            <a:avLst/>
          </a:prstGeom>
          <a:solidFill>
            <a:schemeClr val="accent6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91A6C58-428D-4009-BA80-F7A9966EE7A3}"/>
              </a:ext>
            </a:extLst>
          </p:cNvPr>
          <p:cNvSpPr/>
          <p:nvPr/>
        </p:nvSpPr>
        <p:spPr>
          <a:xfrm>
            <a:off x="3207079" y="563139"/>
            <a:ext cx="5222218" cy="876179"/>
          </a:xfrm>
          <a:prstGeom prst="roundRect">
            <a:avLst/>
          </a:prstGeom>
          <a:solidFill>
            <a:schemeClr val="accent6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57D6659-0ADF-46B4-991D-941379E884DF}"/>
              </a:ext>
            </a:extLst>
          </p:cNvPr>
          <p:cNvSpPr/>
          <p:nvPr/>
        </p:nvSpPr>
        <p:spPr>
          <a:xfrm>
            <a:off x="628650" y="3617991"/>
            <a:ext cx="8136978" cy="2833314"/>
          </a:xfrm>
          <a:prstGeom prst="roundRect">
            <a:avLst>
              <a:gd name="adj" fmla="val 54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D89D194E-D2F6-4A59-AEE8-A1D16085940F}"/>
                  </a:ext>
                </a:extLst>
              </p:cNvPr>
              <p:cNvSpPr/>
              <p:nvPr/>
            </p:nvSpPr>
            <p:spPr>
              <a:xfrm>
                <a:off x="4656412" y="3776313"/>
                <a:ext cx="1376856" cy="43448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sz="1600" dirty="0">
                    <a:solidFill>
                      <a:schemeClr val="tx1"/>
                    </a:solidFill>
                  </a:rPr>
                  <a:t>find some </a:t>
                </a:r>
                <a:r>
                  <a:rPr lang="en-US" sz="1600" dirty="0" err="1">
                    <a:solidFill>
                      <a:schemeClr val="tx1"/>
                    </a:solidFill>
                  </a:rPr>
                  <a:t>o.s.</a:t>
                </a:r>
                <a:br>
                  <a:rPr lang="en-US" sz="1600" dirty="0">
                    <a:solidFill>
                      <a:schemeClr val="tx1"/>
                    </a:solidFill>
                  </a:rPr>
                </a:br>
                <a:r>
                  <a:rPr lang="en-US" sz="1600" dirty="0">
                    <a:solidFill>
                      <a:schemeClr val="tx1"/>
                    </a:solidFill>
                  </a:rPr>
                  <a:t>in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items.</a:t>
                </a:r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D89D194E-D2F6-4A59-AEE8-A1D1608594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6412" y="3776313"/>
                <a:ext cx="1376856" cy="434485"/>
              </a:xfrm>
              <a:prstGeom prst="rect">
                <a:avLst/>
              </a:prstGeom>
              <a:blipFill>
                <a:blip r:embed="rId3"/>
                <a:stretch>
                  <a:fillRect l="-437" t="-17333" b="-25333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4" name="组合 53">
            <a:extLst>
              <a:ext uri="{FF2B5EF4-FFF2-40B4-BE49-F238E27FC236}">
                <a16:creationId xmlns:a16="http://schemas.microsoft.com/office/drawing/2014/main" id="{2A0174F2-5858-493D-9C42-256BD48029AE}"/>
              </a:ext>
            </a:extLst>
          </p:cNvPr>
          <p:cNvGrpSpPr/>
          <p:nvPr/>
        </p:nvGrpSpPr>
        <p:grpSpPr>
          <a:xfrm>
            <a:off x="3929664" y="4210798"/>
            <a:ext cx="3018989" cy="806452"/>
            <a:chOff x="3929664" y="4210798"/>
            <a:chExt cx="3018989" cy="8064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4D99D37A-7054-46B5-8D78-76429E3B651F}"/>
                    </a:ext>
                  </a:extLst>
                </p:cNvPr>
                <p:cNvSpPr/>
                <p:nvPr/>
              </p:nvSpPr>
              <p:spPr>
                <a:xfrm>
                  <a:off x="3929664" y="4582765"/>
                  <a:ext cx="1376856" cy="434485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sz="1600" dirty="0">
                      <a:solidFill>
                        <a:schemeClr val="tx1"/>
                      </a:solidFill>
                    </a:rPr>
                    <a:t>find some </a:t>
                  </a:r>
                  <a:r>
                    <a:rPr lang="en-US" sz="1600" dirty="0" err="1">
                      <a:solidFill>
                        <a:schemeClr val="tx1"/>
                      </a:solidFill>
                    </a:rPr>
                    <a:t>o.s.</a:t>
                  </a:r>
                  <a:br>
                    <a:rPr lang="en-US" sz="1600" dirty="0">
                      <a:solidFill>
                        <a:schemeClr val="tx1"/>
                      </a:solidFill>
                    </a:rPr>
                  </a:br>
                  <a:r>
                    <a:rPr lang="en-US" sz="1600" dirty="0">
                      <a:solidFill>
                        <a:schemeClr val="tx1"/>
                      </a:solidFill>
                    </a:rPr>
                    <a:t>in </a:t>
                  </a:r>
                  <a14:m>
                    <m:oMath xmlns:m="http://schemas.openxmlformats.org/officeDocument/2006/math">
                      <m:r>
                        <a:rPr lang="en-US" sz="16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0.7</m:t>
                      </m:r>
                      <m:r>
                        <a:rPr lang="en-US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US" sz="1600" dirty="0">
                      <a:solidFill>
                        <a:schemeClr val="tx1"/>
                      </a:solidFill>
                    </a:rPr>
                    <a:t> items.</a:t>
                  </a:r>
                </a:p>
              </p:txBody>
            </p:sp>
          </mc:Choice>
          <mc:Fallback xmlns=""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4D99D37A-7054-46B5-8D78-76429E3B651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9664" y="4582765"/>
                  <a:ext cx="1376856" cy="434485"/>
                </a:xfrm>
                <a:prstGeom prst="rect">
                  <a:avLst/>
                </a:prstGeom>
                <a:blipFill>
                  <a:blip r:embed="rId4"/>
                  <a:stretch>
                    <a:fillRect l="-439" t="-18919" b="-25676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70B3BBC6-2384-40D9-BCE6-8F4B144B55EA}"/>
                    </a:ext>
                  </a:extLst>
                </p:cNvPr>
                <p:cNvSpPr/>
                <p:nvPr/>
              </p:nvSpPr>
              <p:spPr>
                <a:xfrm>
                  <a:off x="5571797" y="4582765"/>
                  <a:ext cx="1376856" cy="434485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sz="1600" dirty="0">
                      <a:solidFill>
                        <a:schemeClr val="tx1"/>
                      </a:solidFill>
                    </a:rPr>
                    <a:t>find some </a:t>
                  </a:r>
                  <a:r>
                    <a:rPr lang="en-US" sz="1600" dirty="0" err="1">
                      <a:solidFill>
                        <a:schemeClr val="tx1"/>
                      </a:solidFill>
                    </a:rPr>
                    <a:t>o.s.</a:t>
                  </a:r>
                  <a:br>
                    <a:rPr lang="en-US" sz="1600" dirty="0">
                      <a:solidFill>
                        <a:schemeClr val="tx1"/>
                      </a:solidFill>
                    </a:rPr>
                  </a:br>
                  <a:r>
                    <a:rPr lang="en-US" sz="1600" dirty="0">
                      <a:solidFill>
                        <a:schemeClr val="tx1"/>
                      </a:solidFill>
                    </a:rPr>
                    <a:t>in </a:t>
                  </a:r>
                  <a14:m>
                    <m:oMath xmlns:m="http://schemas.openxmlformats.org/officeDocument/2006/math">
                      <m:r>
                        <a:rPr lang="en-US" sz="16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0.2</m:t>
                      </m:r>
                      <m:r>
                        <a:rPr lang="en-US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US" sz="1600" dirty="0">
                      <a:solidFill>
                        <a:schemeClr val="tx1"/>
                      </a:solidFill>
                    </a:rPr>
                    <a:t> items.</a:t>
                  </a:r>
                </a:p>
              </p:txBody>
            </p:sp>
          </mc:Choice>
          <mc:Fallback xmlns="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70B3BBC6-2384-40D9-BCE6-8F4B144B55E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1797" y="4582765"/>
                  <a:ext cx="1376856" cy="434485"/>
                </a:xfrm>
                <a:prstGeom prst="rect">
                  <a:avLst/>
                </a:prstGeom>
                <a:blipFill>
                  <a:blip r:embed="rId5"/>
                  <a:stretch>
                    <a:fillRect t="-18919" b="-25676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C6FD8E96-5ABD-47D2-8A01-9A83F4B642AC}"/>
                </a:ext>
              </a:extLst>
            </p:cNvPr>
            <p:cNvCxnSpPr>
              <a:endCxn id="19" idx="0"/>
            </p:cNvCxnSpPr>
            <p:nvPr/>
          </p:nvCxnSpPr>
          <p:spPr>
            <a:xfrm flipH="1">
              <a:off x="4618092" y="4215526"/>
              <a:ext cx="688428" cy="3672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FEA7A8FC-3E38-4440-836F-3441979F4088}"/>
                </a:ext>
              </a:extLst>
            </p:cNvPr>
            <p:cNvCxnSpPr>
              <a:cxnSpLocks/>
              <a:stCxn id="18" idx="2"/>
              <a:endCxn id="20" idx="0"/>
            </p:cNvCxnSpPr>
            <p:nvPr/>
          </p:nvCxnSpPr>
          <p:spPr>
            <a:xfrm>
              <a:off x="5344840" y="4210798"/>
              <a:ext cx="915385" cy="3719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2E961DED-6FC3-44A2-A57F-AC0BEC0E7F17}"/>
              </a:ext>
            </a:extLst>
          </p:cNvPr>
          <p:cNvGrpSpPr/>
          <p:nvPr/>
        </p:nvGrpSpPr>
        <p:grpSpPr>
          <a:xfrm>
            <a:off x="2263121" y="5017250"/>
            <a:ext cx="6352075" cy="806452"/>
            <a:chOff x="2263121" y="5017250"/>
            <a:chExt cx="6352075" cy="8064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56730D91-BEF7-407F-BAC7-3C7130D50541}"/>
                    </a:ext>
                  </a:extLst>
                </p:cNvPr>
                <p:cNvSpPr/>
                <p:nvPr/>
              </p:nvSpPr>
              <p:spPr>
                <a:xfrm>
                  <a:off x="2263121" y="5389217"/>
                  <a:ext cx="1469040" cy="434485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sz="1600" dirty="0">
                      <a:solidFill>
                        <a:schemeClr val="tx1"/>
                      </a:solidFill>
                    </a:rPr>
                    <a:t>find some </a:t>
                  </a:r>
                  <a:r>
                    <a:rPr lang="en-US" sz="1600" dirty="0" err="1">
                      <a:solidFill>
                        <a:schemeClr val="tx1"/>
                      </a:solidFill>
                    </a:rPr>
                    <a:t>o.s.</a:t>
                  </a:r>
                  <a:br>
                    <a:rPr lang="en-US" sz="1600" dirty="0">
                      <a:solidFill>
                        <a:schemeClr val="tx1"/>
                      </a:solidFill>
                    </a:rPr>
                  </a:br>
                  <a:r>
                    <a:rPr lang="en-US" sz="1600" dirty="0">
                      <a:solidFill>
                        <a:schemeClr val="tx1"/>
                      </a:solidFill>
                    </a:rPr>
                    <a:t>in </a:t>
                  </a:r>
                  <a14:m>
                    <m:oMath xmlns:m="http://schemas.openxmlformats.org/officeDocument/2006/math">
                      <m:r>
                        <a:rPr lang="en-US" sz="16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49</m:t>
                      </m:r>
                      <m:r>
                        <a:rPr lang="en-US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US" sz="1600" dirty="0">
                      <a:solidFill>
                        <a:schemeClr val="tx1"/>
                      </a:solidFill>
                    </a:rPr>
                    <a:t> items.</a:t>
                  </a:r>
                </a:p>
              </p:txBody>
            </p:sp>
          </mc:Choice>
          <mc:Fallback xmlns=""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56730D91-BEF7-407F-BAC7-3C7130D5054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3121" y="5389217"/>
                  <a:ext cx="1469040" cy="434485"/>
                </a:xfrm>
                <a:prstGeom prst="rect">
                  <a:avLst/>
                </a:prstGeom>
                <a:blipFill>
                  <a:blip r:embed="rId6"/>
                  <a:stretch>
                    <a:fillRect l="-410" t="-18919" b="-25676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0A824C09-3C3E-4E9C-ACF5-01118F17CD74}"/>
                    </a:ext>
                  </a:extLst>
                </p:cNvPr>
                <p:cNvSpPr/>
                <p:nvPr/>
              </p:nvSpPr>
              <p:spPr>
                <a:xfrm>
                  <a:off x="3837480" y="5389217"/>
                  <a:ext cx="1469040" cy="434485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sz="1600" dirty="0">
                      <a:solidFill>
                        <a:schemeClr val="tx1"/>
                      </a:solidFill>
                    </a:rPr>
                    <a:t>find some </a:t>
                  </a:r>
                  <a:r>
                    <a:rPr lang="en-US" sz="1600" dirty="0" err="1">
                      <a:solidFill>
                        <a:schemeClr val="tx1"/>
                      </a:solidFill>
                    </a:rPr>
                    <a:t>o.s.</a:t>
                  </a:r>
                  <a:br>
                    <a:rPr lang="en-US" sz="1600" dirty="0">
                      <a:solidFill>
                        <a:schemeClr val="tx1"/>
                      </a:solidFill>
                    </a:rPr>
                  </a:br>
                  <a:r>
                    <a:rPr lang="en-US" sz="1600" dirty="0">
                      <a:solidFill>
                        <a:schemeClr val="tx1"/>
                      </a:solidFill>
                    </a:rPr>
                    <a:t>in </a:t>
                  </a:r>
                  <a14:m>
                    <m:oMath xmlns:m="http://schemas.openxmlformats.org/officeDocument/2006/math">
                      <m:r>
                        <a:rPr lang="en-US" sz="16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US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US" sz="1600" dirty="0">
                      <a:solidFill>
                        <a:schemeClr val="tx1"/>
                      </a:solidFill>
                    </a:rPr>
                    <a:t> items.</a:t>
                  </a:r>
                </a:p>
              </p:txBody>
            </p:sp>
          </mc:Choice>
          <mc:Fallback xmlns=""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0A824C09-3C3E-4E9C-ACF5-01118F17CD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7480" y="5389217"/>
                  <a:ext cx="1469040" cy="434485"/>
                </a:xfrm>
                <a:prstGeom prst="rect">
                  <a:avLst/>
                </a:prstGeom>
                <a:blipFill>
                  <a:blip r:embed="rId7"/>
                  <a:stretch>
                    <a:fillRect l="-823" t="-18919" b="-25676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矩形 23">
                  <a:extLst>
                    <a:ext uri="{FF2B5EF4-FFF2-40B4-BE49-F238E27FC236}">
                      <a16:creationId xmlns:a16="http://schemas.microsoft.com/office/drawing/2014/main" id="{03455ECF-53FC-469B-B4BB-1EBF69FFF4BE}"/>
                    </a:ext>
                  </a:extLst>
                </p:cNvPr>
                <p:cNvSpPr/>
                <p:nvPr/>
              </p:nvSpPr>
              <p:spPr>
                <a:xfrm>
                  <a:off x="5571797" y="5389217"/>
                  <a:ext cx="1469040" cy="434485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sz="1600" dirty="0">
                      <a:solidFill>
                        <a:schemeClr val="tx1"/>
                      </a:solidFill>
                    </a:rPr>
                    <a:t>find some </a:t>
                  </a:r>
                  <a:r>
                    <a:rPr lang="en-US" sz="1600" dirty="0" err="1">
                      <a:solidFill>
                        <a:schemeClr val="tx1"/>
                      </a:solidFill>
                    </a:rPr>
                    <a:t>o.s.</a:t>
                  </a:r>
                  <a:br>
                    <a:rPr lang="en-US" sz="1600" dirty="0">
                      <a:solidFill>
                        <a:schemeClr val="tx1"/>
                      </a:solidFill>
                    </a:rPr>
                  </a:br>
                  <a:r>
                    <a:rPr lang="en-US" sz="1600" dirty="0">
                      <a:solidFill>
                        <a:schemeClr val="tx1"/>
                      </a:solidFill>
                    </a:rPr>
                    <a:t>in </a:t>
                  </a:r>
                  <a14:m>
                    <m:oMath xmlns:m="http://schemas.openxmlformats.org/officeDocument/2006/math">
                      <m:r>
                        <a:rPr lang="en-US" sz="16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US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US" sz="1600" dirty="0">
                      <a:solidFill>
                        <a:schemeClr val="tx1"/>
                      </a:solidFill>
                    </a:rPr>
                    <a:t> items.</a:t>
                  </a:r>
                </a:p>
              </p:txBody>
            </p:sp>
          </mc:Choice>
          <mc:Fallback xmlns="">
            <p:sp>
              <p:nvSpPr>
                <p:cNvPr id="24" name="矩形 23">
                  <a:extLst>
                    <a:ext uri="{FF2B5EF4-FFF2-40B4-BE49-F238E27FC236}">
                      <a16:creationId xmlns:a16="http://schemas.microsoft.com/office/drawing/2014/main" id="{03455ECF-53FC-469B-B4BB-1EBF69FFF4B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1797" y="5389217"/>
                  <a:ext cx="1469040" cy="434485"/>
                </a:xfrm>
                <a:prstGeom prst="rect">
                  <a:avLst/>
                </a:prstGeom>
                <a:blipFill>
                  <a:blip r:embed="rId8"/>
                  <a:stretch>
                    <a:fillRect l="-410" t="-18919" b="-25676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矩形 24">
                  <a:extLst>
                    <a:ext uri="{FF2B5EF4-FFF2-40B4-BE49-F238E27FC236}">
                      <a16:creationId xmlns:a16="http://schemas.microsoft.com/office/drawing/2014/main" id="{4BC70FA9-3927-4B15-8996-3AFD2774F203}"/>
                    </a:ext>
                  </a:extLst>
                </p:cNvPr>
                <p:cNvSpPr/>
                <p:nvPr/>
              </p:nvSpPr>
              <p:spPr>
                <a:xfrm>
                  <a:off x="7146156" y="5389217"/>
                  <a:ext cx="1469040" cy="434485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sz="1600" dirty="0">
                      <a:solidFill>
                        <a:schemeClr val="tx1"/>
                      </a:solidFill>
                    </a:rPr>
                    <a:t>find some </a:t>
                  </a:r>
                  <a:r>
                    <a:rPr lang="en-US" sz="1600" dirty="0" err="1">
                      <a:solidFill>
                        <a:schemeClr val="tx1"/>
                      </a:solidFill>
                    </a:rPr>
                    <a:t>o.s.</a:t>
                  </a:r>
                  <a:br>
                    <a:rPr lang="en-US" sz="1600" dirty="0">
                      <a:solidFill>
                        <a:schemeClr val="tx1"/>
                      </a:solidFill>
                    </a:rPr>
                  </a:br>
                  <a:r>
                    <a:rPr lang="en-US" sz="1600" dirty="0">
                      <a:solidFill>
                        <a:schemeClr val="tx1"/>
                      </a:solidFill>
                    </a:rPr>
                    <a:t>in </a:t>
                  </a:r>
                  <a14:m>
                    <m:oMath xmlns:m="http://schemas.openxmlformats.org/officeDocument/2006/math">
                      <m:r>
                        <a:rPr lang="en-US" sz="16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04</m:t>
                      </m:r>
                      <m:r>
                        <a:rPr lang="en-US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US" sz="1600" dirty="0">
                      <a:solidFill>
                        <a:schemeClr val="tx1"/>
                      </a:solidFill>
                    </a:rPr>
                    <a:t> items.</a:t>
                  </a:r>
                </a:p>
              </p:txBody>
            </p:sp>
          </mc:Choice>
          <mc:Fallback xmlns="">
            <p:sp>
              <p:nvSpPr>
                <p:cNvPr id="25" name="矩形 24">
                  <a:extLst>
                    <a:ext uri="{FF2B5EF4-FFF2-40B4-BE49-F238E27FC236}">
                      <a16:creationId xmlns:a16="http://schemas.microsoft.com/office/drawing/2014/main" id="{4BC70FA9-3927-4B15-8996-3AFD2774F20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6156" y="5389217"/>
                  <a:ext cx="1469040" cy="434485"/>
                </a:xfrm>
                <a:prstGeom prst="rect">
                  <a:avLst/>
                </a:prstGeom>
                <a:blipFill>
                  <a:blip r:embed="rId9"/>
                  <a:stretch>
                    <a:fillRect l="-410" t="-18919" b="-25676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D2DC7F29-7E3F-49F4-9040-D393D8AC7C39}"/>
                </a:ext>
              </a:extLst>
            </p:cNvPr>
            <p:cNvCxnSpPr>
              <a:cxnSpLocks/>
              <a:stCxn id="19" idx="2"/>
              <a:endCxn id="21" idx="0"/>
            </p:cNvCxnSpPr>
            <p:nvPr/>
          </p:nvCxnSpPr>
          <p:spPr>
            <a:xfrm flipH="1">
              <a:off x="2997641" y="5017250"/>
              <a:ext cx="1620451" cy="3719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FDDA4E9F-0345-4D67-A312-B118454FCD0D}"/>
                </a:ext>
              </a:extLst>
            </p:cNvPr>
            <p:cNvCxnSpPr>
              <a:cxnSpLocks/>
              <a:endCxn id="22" idx="0"/>
            </p:cNvCxnSpPr>
            <p:nvPr/>
          </p:nvCxnSpPr>
          <p:spPr>
            <a:xfrm flipH="1">
              <a:off x="4572000" y="5017250"/>
              <a:ext cx="46092" cy="3719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DABCEBBE-E2A6-4DF1-968B-BF6046C51904}"/>
                </a:ext>
              </a:extLst>
            </p:cNvPr>
            <p:cNvCxnSpPr>
              <a:cxnSpLocks/>
              <a:endCxn id="24" idx="0"/>
            </p:cNvCxnSpPr>
            <p:nvPr/>
          </p:nvCxnSpPr>
          <p:spPr>
            <a:xfrm>
              <a:off x="6260225" y="5017250"/>
              <a:ext cx="46092" cy="3719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EA043CC9-D412-49B7-9EB2-51ECBB9C80EF}"/>
                </a:ext>
              </a:extLst>
            </p:cNvPr>
            <p:cNvCxnSpPr>
              <a:cxnSpLocks/>
              <a:stCxn id="20" idx="2"/>
              <a:endCxn id="25" idx="0"/>
            </p:cNvCxnSpPr>
            <p:nvPr/>
          </p:nvCxnSpPr>
          <p:spPr>
            <a:xfrm>
              <a:off x="6260225" y="5017250"/>
              <a:ext cx="1620451" cy="3719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5BB2A69C-7785-48B1-BCAD-10D2E76E045B}"/>
              </a:ext>
            </a:extLst>
          </p:cNvPr>
          <p:cNvGrpSpPr/>
          <p:nvPr/>
        </p:nvGrpSpPr>
        <p:grpSpPr>
          <a:xfrm>
            <a:off x="2997641" y="5823702"/>
            <a:ext cx="4883035" cy="479527"/>
            <a:chOff x="2997641" y="5823702"/>
            <a:chExt cx="4883035" cy="479527"/>
          </a:xfrm>
        </p:grpSpPr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3827339-EE3C-4F72-8412-8B3C23678724}"/>
                </a:ext>
              </a:extLst>
            </p:cNvPr>
            <p:cNvCxnSpPr>
              <a:cxnSpLocks/>
              <a:stCxn id="21" idx="2"/>
            </p:cNvCxnSpPr>
            <p:nvPr/>
          </p:nvCxnSpPr>
          <p:spPr>
            <a:xfrm>
              <a:off x="2997641" y="5823702"/>
              <a:ext cx="9352" cy="479527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80E480CC-0C5C-41A4-8BAD-34CB13350A1F}"/>
                </a:ext>
              </a:extLst>
            </p:cNvPr>
            <p:cNvCxnSpPr>
              <a:cxnSpLocks/>
              <a:stCxn id="22" idx="2"/>
            </p:cNvCxnSpPr>
            <p:nvPr/>
          </p:nvCxnSpPr>
          <p:spPr>
            <a:xfrm>
              <a:off x="4572000" y="5823702"/>
              <a:ext cx="0" cy="479527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8CDD407B-4782-401F-82E4-6633C1A5C8A4}"/>
                </a:ext>
              </a:extLst>
            </p:cNvPr>
            <p:cNvCxnSpPr>
              <a:cxnSpLocks/>
              <a:stCxn id="24" idx="2"/>
            </p:cNvCxnSpPr>
            <p:nvPr/>
          </p:nvCxnSpPr>
          <p:spPr>
            <a:xfrm>
              <a:off x="6306317" y="5823702"/>
              <a:ext cx="0" cy="479527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F5FE4171-3EA4-43C6-B403-CA0A1CCE22AB}"/>
                </a:ext>
              </a:extLst>
            </p:cNvPr>
            <p:cNvCxnSpPr>
              <a:cxnSpLocks/>
            </p:cNvCxnSpPr>
            <p:nvPr/>
          </p:nvCxnSpPr>
          <p:spPr>
            <a:xfrm>
              <a:off x="7880676" y="5823702"/>
              <a:ext cx="0" cy="464126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B4F353E2-AA6B-4715-8230-96D1C7691EBB}"/>
                  </a:ext>
                </a:extLst>
              </p:cNvPr>
              <p:cNvSpPr txBox="1"/>
              <p:nvPr/>
            </p:nvSpPr>
            <p:spPr>
              <a:xfrm>
                <a:off x="4096008" y="3808890"/>
                <a:ext cx="39158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𝑐𝑛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B4F353E2-AA6B-4715-8230-96D1C7691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6008" y="3808890"/>
                <a:ext cx="391581" cy="369332"/>
              </a:xfrm>
              <a:prstGeom prst="rect">
                <a:avLst/>
              </a:prstGeom>
              <a:blipFill>
                <a:blip r:embed="rId10"/>
                <a:stretch>
                  <a:fillRect l="-10938" r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672EEE2A-A6A4-4FB9-9943-67296E4BC051}"/>
                  </a:ext>
                </a:extLst>
              </p:cNvPr>
              <p:cNvSpPr txBox="1"/>
              <p:nvPr/>
            </p:nvSpPr>
            <p:spPr>
              <a:xfrm>
                <a:off x="717655" y="4615342"/>
                <a:ext cx="313432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0.7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+0.2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=0.9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𝑐𝑛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672EEE2A-A6A4-4FB9-9943-67296E4BC0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655" y="4615342"/>
                <a:ext cx="3134320" cy="369332"/>
              </a:xfrm>
              <a:prstGeom prst="rect">
                <a:avLst/>
              </a:prstGeom>
              <a:blipFill>
                <a:blip r:embed="rId11"/>
                <a:stretch>
                  <a:fillRect l="-973" r="-1751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1B6E4485-D1DF-4649-9547-9D34EC5AEE60}"/>
                  </a:ext>
                </a:extLst>
              </p:cNvPr>
              <p:cNvSpPr txBox="1"/>
              <p:nvPr/>
            </p:nvSpPr>
            <p:spPr>
              <a:xfrm>
                <a:off x="1139309" y="5421793"/>
                <a:ext cx="96385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0.81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𝑐𝑛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1B6E4485-D1DF-4649-9547-9D34EC5AEE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309" y="5421793"/>
                <a:ext cx="963854" cy="369332"/>
              </a:xfrm>
              <a:prstGeom prst="rect">
                <a:avLst/>
              </a:prstGeom>
              <a:blipFill>
                <a:blip r:embed="rId12"/>
                <a:stretch>
                  <a:fillRect l="-7595" r="-6962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1A62DF1E-A7B6-418D-BCE7-7212AED01FB2}"/>
                  </a:ext>
                </a:extLst>
              </p:cNvPr>
              <p:cNvSpPr txBox="1"/>
              <p:nvPr/>
            </p:nvSpPr>
            <p:spPr>
              <a:xfrm>
                <a:off x="819958" y="5952837"/>
                <a:ext cx="160255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in total</a:t>
                </a:r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1A62DF1E-A7B6-418D-BCE7-7212AED01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958" y="5952837"/>
                <a:ext cx="1602555" cy="369332"/>
              </a:xfrm>
              <a:prstGeom prst="rect">
                <a:avLst/>
              </a:prstGeom>
              <a:blipFill>
                <a:blip r:embed="rId13"/>
                <a:stretch>
                  <a:fillRect l="-6870" t="-26667" r="-10687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5744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23" grpId="0" animBg="1"/>
      <p:bldP spid="18" grpId="0" animBg="1"/>
      <p:bldP spid="57" grpId="0"/>
      <p:bldP spid="58" grpId="0"/>
      <p:bldP spid="59" grpId="0"/>
      <p:bldP spid="6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C737371A-74C3-4DBA-A057-4F16E2727C26}"/>
              </a:ext>
            </a:extLst>
          </p:cNvPr>
          <p:cNvSpPr/>
          <p:nvPr/>
        </p:nvSpPr>
        <p:spPr>
          <a:xfrm>
            <a:off x="628650" y="956017"/>
            <a:ext cx="5467350" cy="27762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QuickSelect</a:t>
            </a:r>
            <a:r>
              <a:rPr lang="en-GB" sz="1600" b="1" u="sng" dirty="0">
                <a:solidFill>
                  <a:schemeClr val="tx1"/>
                </a:solidFill>
              </a:rPr>
              <a:t>(A, </a:t>
            </a:r>
            <a:r>
              <a:rPr lang="en-GB" sz="1600" b="1" u="sng" dirty="0" err="1">
                <a:solidFill>
                  <a:schemeClr val="tx1"/>
                </a:solidFill>
              </a:rPr>
              <a:t>i</a:t>
            </a:r>
            <a:r>
              <a:rPr lang="en-GB" sz="1600" b="1" u="sng" dirty="0">
                <a:solidFill>
                  <a:schemeClr val="tx1"/>
                </a:solidFill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A.size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A[1]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m = </a:t>
            </a:r>
            <a:r>
              <a:rPr lang="en-US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MedianOfMedians</a:t>
            </a:r>
            <a:r>
              <a:rPr 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q =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PartitionWithPivot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A,m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==q)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A[q]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elseif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&lt;q)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QuickSelect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(A[1…(q-1)],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QuickSelect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(A[(q+1)…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A.size,i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-q])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46F300B-718B-47AF-ABCB-8868692424F0}"/>
              </a:ext>
            </a:extLst>
          </p:cNvPr>
          <p:cNvSpPr/>
          <p:nvPr/>
        </p:nvSpPr>
        <p:spPr>
          <a:xfrm>
            <a:off x="3162628" y="250772"/>
            <a:ext cx="5383267" cy="14975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MedianOfMedians</a:t>
            </a:r>
            <a:r>
              <a:rPr lang="en-GB" sz="1600" b="1" u="sng" dirty="0">
                <a:solidFill>
                  <a:schemeClr val="tx1"/>
                </a:solidFill>
              </a:rPr>
              <a:t>(A):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&lt;G</a:t>
            </a:r>
            <a:r>
              <a:rPr lang="en-US" sz="16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,G</a:t>
            </a:r>
            <a:r>
              <a:rPr lang="en-US" sz="16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,…,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sz="1600" baseline="-25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sz="16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/5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=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CreateGroups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 to n/5)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Sort(G</a:t>
            </a:r>
            <a:r>
              <a:rPr lang="en-US" sz="16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 =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GetMediansFromSortedGroups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(G</a:t>
            </a:r>
            <a:r>
              <a:rPr lang="en-US" sz="16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,G</a:t>
            </a:r>
            <a:r>
              <a:rPr lang="en-US" sz="16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,…,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sz="1600" baseline="-25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sz="16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/5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QuickSelect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(M,(n/5)/2)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F862F16-DACD-44E1-B310-CA445791B449}"/>
              </a:ext>
            </a:extLst>
          </p:cNvPr>
          <p:cNvSpPr txBox="1"/>
          <p:nvPr/>
        </p:nvSpPr>
        <p:spPr>
          <a:xfrm>
            <a:off x="628650" y="250772"/>
            <a:ext cx="23783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Time complexity?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3C8AE80-1808-4B01-A8ED-40E947C48C3E}"/>
                  </a:ext>
                </a:extLst>
              </p:cNvPr>
              <p:cNvSpPr txBox="1"/>
              <p:nvPr/>
            </p:nvSpPr>
            <p:spPr>
              <a:xfrm>
                <a:off x="628650" y="3993558"/>
                <a:ext cx="530574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0.7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0.2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3C8AE80-1808-4B01-A8ED-40E947C48C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993558"/>
                <a:ext cx="5305748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1C190639-A46E-4C1D-B75C-1859365028C7}"/>
                  </a:ext>
                </a:extLst>
              </p:cNvPr>
              <p:cNvSpPr txBox="1"/>
              <p:nvPr/>
            </p:nvSpPr>
            <p:spPr>
              <a:xfrm>
                <a:off x="628650" y="4685778"/>
                <a:ext cx="204299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1C190639-A46E-4C1D-B75C-185936502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4685778"/>
                <a:ext cx="204299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1AF6663-5BD0-4371-A546-D802B3766F33}"/>
                  </a:ext>
                </a:extLst>
              </p:cNvPr>
              <p:cNvSpPr txBox="1"/>
              <p:nvPr/>
            </p:nvSpPr>
            <p:spPr>
              <a:xfrm>
                <a:off x="628650" y="5376125"/>
                <a:ext cx="503009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You can verify this by the </a:t>
                </a:r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substitution method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.</a:t>
                </a:r>
              </a:p>
              <a:p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(I.e., assume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𝑐𝑛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and then verify.)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1AF6663-5BD0-4371-A546-D802B3766F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5376125"/>
                <a:ext cx="5030095" cy="707886"/>
              </a:xfrm>
              <a:prstGeom prst="rect">
                <a:avLst/>
              </a:prstGeom>
              <a:blipFill>
                <a:blip r:embed="rId4"/>
                <a:stretch>
                  <a:fillRect l="-1212" t="-5172" r="-1697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7548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99408-FBE0-4566-9059-B20BDF02F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of general selection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7DD89F5-34F6-4105-8C06-CFBB05A426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QuickSelect</a:t>
                </a:r>
                <a:r>
                  <a:rPr lang="en-US" sz="2400" dirty="0"/>
                  <a:t> uses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400" dirty="0"/>
                  <a:t> time/comparisons.</a:t>
                </a:r>
              </a:p>
              <a:p>
                <a:r>
                  <a:rPr lang="en-US" sz="2400" dirty="0"/>
                  <a:t>Solving general selection needs at least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400" dirty="0"/>
                  <a:t> comparisons.</a:t>
                </a:r>
              </a:p>
              <a:p>
                <a:pPr lvl="1"/>
                <a:r>
                  <a:rPr lang="en-US" sz="2000" dirty="0"/>
                  <a:t>Since finding min/max needs at least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000" dirty="0"/>
                  <a:t> comparisons.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So the lower and upper bounds match </a:t>
                </a:r>
                <a:r>
                  <a:rPr lang="en-US" sz="2400" i="1" dirty="0"/>
                  <a:t>asymptotically</a:t>
                </a:r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But if we care about constants, needs (much) more efforts.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7DD89F5-34F6-4105-8C06-CFBB05A426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120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672A32-D3AF-46A0-B548-4CBBB23E5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1531AD-1593-46BE-9E30-047A1682D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[CLRS] Ch.9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25216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14751</TotalTime>
  <Words>1976</Words>
  <Application>Microsoft Office PowerPoint</Application>
  <PresentationFormat>全屏显示(4:3)</PresentationFormat>
  <Paragraphs>303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Calibri Light</vt:lpstr>
      <vt:lpstr>Calibri</vt:lpstr>
      <vt:lpstr>Courier New</vt:lpstr>
      <vt:lpstr>Cambria Math</vt:lpstr>
      <vt:lpstr>Arial</vt:lpstr>
      <vt:lpstr>Office 主题​​</vt:lpstr>
      <vt:lpstr>Selection</vt:lpstr>
      <vt:lpstr>Order Statistics and Selection</vt:lpstr>
      <vt:lpstr>Find Min/Max</vt:lpstr>
      <vt:lpstr>What if we want min and max?</vt:lpstr>
      <vt:lpstr>General Selection Problem</vt:lpstr>
      <vt:lpstr>Randomized Selection</vt:lpstr>
      <vt:lpstr>PowerPoint 演示文稿</vt:lpstr>
      <vt:lpstr>PowerPoint 演示文稿</vt:lpstr>
      <vt:lpstr>RndQuickSort vs RndSelect</vt:lpstr>
      <vt:lpstr>We are not done with selection…</vt:lpstr>
      <vt:lpstr>Median of medians</vt:lpstr>
      <vt:lpstr>Finding median of medians</vt:lpstr>
      <vt:lpstr>PowerPoint 演示文稿</vt:lpstr>
      <vt:lpstr>PowerPoint 演示文稿</vt:lpstr>
      <vt:lpstr>Complexity of general selection</vt:lpstr>
      <vt:lpstr>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Selection</dc:title>
  <dc:creator>Chaodong ZHENG</dc:creator>
  <cp:lastModifiedBy>Chaodong</cp:lastModifiedBy>
  <cp:revision>219</cp:revision>
  <dcterms:created xsi:type="dcterms:W3CDTF">2019-07-10T14:12:37Z</dcterms:created>
  <dcterms:modified xsi:type="dcterms:W3CDTF">2019-09-30T03:03:50Z</dcterms:modified>
</cp:coreProperties>
</file>