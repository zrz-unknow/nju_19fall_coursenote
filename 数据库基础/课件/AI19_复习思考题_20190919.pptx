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
  </p:handoutMasterIdLst>
  <p:sldIdLst>
    <p:sldId id="1486" r:id="rId3"/>
    <p:sldId id="1488" r:id="rId4"/>
    <p:sldId id="1487" r:id="rId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a:srgbClr val="0000CC"/>
    <a:srgbClr val="FF33CC"/>
    <a:srgbClr val="FFCC99"/>
    <a:srgbClr val="CCFF33"/>
    <a:srgbClr val="99FF33"/>
    <a:srgbClr val="FFFF99"/>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073"/>
        <p:guide pos="286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p:cNvSpPr>
          <p:nvPr>
            <p:ph type="hdr" sz="quarter"/>
          </p:nvPr>
        </p:nvSpPr>
        <p:spPr>
          <a:xfrm>
            <a:off x="0" y="0"/>
            <a:ext cx="2971800" cy="457200"/>
          </a:xfrm>
          <a:prstGeom prst="rect">
            <a:avLst/>
          </a:prstGeom>
          <a:noFill/>
          <a:ln w="9525">
            <a:noFill/>
            <a:miter/>
          </a:ln>
        </p:spPr>
        <p:txBody>
          <a:bodyPr/>
          <a:p>
            <a:pPr lvl="0" eaLnBrk="1" fontAlgn="base" hangingPunct="1"/>
            <a:endParaRPr lang="zh-CN" altLang="en-US" sz="1200" strike="noStrike" noProof="1" dirty="0">
              <a:ea typeface="宋体" panose="02010600030101010101" pitchFamily="2" charset="-122"/>
            </a:endParaRPr>
          </a:p>
        </p:txBody>
      </p:sp>
      <p:sp>
        <p:nvSpPr>
          <p:cNvPr id="2051" name="Rectangle 3"/>
          <p:cNvSpPr>
            <a:spLocks noGrp="1"/>
          </p:cNvSpPr>
          <p:nvPr>
            <p:ph type="dt" idx="1"/>
          </p:nvPr>
        </p:nvSpPr>
        <p:spPr>
          <a:xfrm>
            <a:off x="3886200" y="0"/>
            <a:ext cx="2971800" cy="457200"/>
          </a:xfrm>
          <a:prstGeom prst="rect">
            <a:avLst/>
          </a:prstGeom>
          <a:noFill/>
          <a:ln w="9525">
            <a:noFill/>
            <a:miter/>
          </a:ln>
        </p:spPr>
        <p:txBody>
          <a:bodyPr/>
          <a:p>
            <a:pPr lvl="0" algn="r" eaLnBrk="1" fontAlgn="base" hangingPunct="1"/>
            <a:endParaRPr lang="en-US" altLang="x-none" sz="1200" strike="noStrike" noProof="1" dirty="0">
              <a:ea typeface="宋体" panose="02010600030101010101" pitchFamily="2" charset="-122"/>
            </a:endParaRPr>
          </a:p>
        </p:txBody>
      </p:sp>
      <p:sp>
        <p:nvSpPr>
          <p:cNvPr id="2052" name="Rectangle 4"/>
          <p:cNvSpPr>
            <a:spLocks noGrp="1"/>
          </p:cNvSpPr>
          <p:nvPr>
            <p:ph type="sldImg"/>
          </p:nvPr>
        </p:nvSpPr>
        <p:spPr>
          <a:xfrm>
            <a:off x="1143000" y="685800"/>
            <a:ext cx="4572000" cy="3429000"/>
          </a:xfrm>
          <a:prstGeom prst="rect">
            <a:avLst/>
          </a:prstGeom>
          <a:noFill/>
          <a:ln w="9525">
            <a:noFill/>
          </a:ln>
        </p:spPr>
      </p:sp>
      <p:sp>
        <p:nvSpPr>
          <p:cNvPr id="2053" name="Rectangle 5"/>
          <p:cNvSpPr>
            <a:spLocks noGrp="1"/>
          </p:cNvSpPr>
          <p:nvPr>
            <p:ph type="body" sz="quarter"/>
          </p:nvPr>
        </p:nvSpPr>
        <p:spPr>
          <a:xfrm>
            <a:off x="914400" y="4343400"/>
            <a:ext cx="5029200" cy="4114800"/>
          </a:xfrm>
          <a:prstGeom prst="rect">
            <a:avLst/>
          </a:prstGeom>
          <a:noFill/>
          <a:ln w="9525">
            <a:noFill/>
          </a:ln>
        </p:spPr>
        <p:txBody>
          <a:bodyPr anchor="ctr"/>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2054" name="Rectangle 6"/>
          <p:cNvSpPr>
            <a:spLocks noGrp="1"/>
          </p:cNvSpPr>
          <p:nvPr>
            <p:ph type="ftr" sz="quarter" idx="4"/>
          </p:nvPr>
        </p:nvSpPr>
        <p:spPr>
          <a:xfrm>
            <a:off x="0" y="8686800"/>
            <a:ext cx="2971800" cy="457200"/>
          </a:xfrm>
          <a:prstGeom prst="rect">
            <a:avLst/>
          </a:prstGeom>
          <a:noFill/>
          <a:ln w="9525">
            <a:noFill/>
            <a:miter/>
          </a:ln>
        </p:spPr>
        <p:txBody>
          <a:bodyPr anchor="b"/>
          <a:p>
            <a:pPr lvl="0" eaLnBrk="1" fontAlgn="base" hangingPunct="1"/>
            <a:endParaRPr lang="en-US" altLang="x-none" sz="1200" strike="noStrike" noProof="1" dirty="0">
              <a:ea typeface="宋体" panose="02010600030101010101" pitchFamily="2" charset="-122"/>
            </a:endParaRPr>
          </a:p>
        </p:txBody>
      </p:sp>
      <p:sp>
        <p:nvSpPr>
          <p:cNvPr id="2055" name="Rectangle 7"/>
          <p:cNvSpPr>
            <a:spLocks noGrp="1"/>
          </p:cNvSpPr>
          <p:nvPr>
            <p:ph type="sldNum" sz="quarter" idx="5"/>
          </p:nvPr>
        </p:nvSpPr>
        <p:spPr>
          <a:xfrm>
            <a:off x="3886200" y="8686800"/>
            <a:ext cx="2971800" cy="457200"/>
          </a:xfrm>
          <a:prstGeom prst="rect">
            <a:avLst/>
          </a:prstGeom>
          <a:noFill/>
          <a:ln w="9525">
            <a:noFill/>
            <a:miter/>
          </a:ln>
        </p:spPr>
        <p:txBody>
          <a:bodyPr anchor="b"/>
          <a:p>
            <a:pPr lvl="0" algn="r" eaLnBrk="1" fontAlgn="base" hangingPunct="1"/>
            <a:fld id="{9A0DB2DC-4C9A-4742-B13C-FB6460FD3503}" type="slidenum">
              <a:rPr lang="zh-CN" altLang="en-US" sz="1200" strike="noStrike" noProof="1" dirty="0">
                <a:latin typeface="Times New Roman" panose="02020603050405020304" pitchFamily="2" charset="0"/>
                <a:ea typeface="宋体" panose="02010600030101010101" pitchFamily="2" charset="-122"/>
                <a:cs typeface="+mn-ea"/>
              </a:rPr>
            </a:fld>
            <a:endParaRPr lang="en-US" altLang="x-none"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066800"/>
            <a:ext cx="3808476" cy="51054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066800"/>
            <a:ext cx="3808476" cy="51054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8" name="页脚占位符 7"/>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4" name="页脚占位符 3"/>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3" name="页脚占位符 2"/>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228600"/>
            <a:ext cx="5716657"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85800" y="228600"/>
            <a:ext cx="7772400" cy="533400"/>
          </a:xfrm>
          <a:prstGeom prst="rect">
            <a:avLst/>
          </a:prstGeom>
          <a:solidFill>
            <a:srgbClr val="DDDDDD">
              <a:alpha val="50000"/>
            </a:srgbClr>
          </a:solidFill>
          <a:ln w="9525">
            <a:noFill/>
          </a:ln>
        </p:spPr>
        <p:txBody>
          <a:bodyPr anchor="ctr"/>
          <a:p>
            <a:pPr lvl="0" indent="0"/>
            <a:r>
              <a:rPr lang="zh-CN" altLang="en-US"/>
              <a:t>单击此处编辑母版标题样式</a:t>
            </a:r>
            <a:endParaRPr lang="zh-CN" altLang="en-US"/>
          </a:p>
        </p:txBody>
      </p:sp>
      <p:sp>
        <p:nvSpPr>
          <p:cNvPr id="1027" name="Rectangle 3"/>
          <p:cNvSpPr>
            <a:spLocks noGrp="1"/>
          </p:cNvSpPr>
          <p:nvPr>
            <p:ph type="body"/>
          </p:nvPr>
        </p:nvSpPr>
        <p:spPr>
          <a:xfrm>
            <a:off x="685800" y="1066800"/>
            <a:ext cx="7772400" cy="5105400"/>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381000" y="6477000"/>
            <a:ext cx="1905000" cy="304800"/>
          </a:xfrm>
          <a:prstGeom prst="rect">
            <a:avLst/>
          </a:prstGeom>
          <a:noFill/>
          <a:ln w="9525">
            <a:noFill/>
            <a:miter/>
          </a:ln>
        </p:spPr>
        <p:txBody>
          <a:bodyPr/>
          <a:lstStyle>
            <a:lvl1pPr>
              <a:defRPr sz="1400" b="1" i="1">
                <a:ea typeface="宋体" panose="02010600030101010101" pitchFamily="2" charset="-122"/>
              </a:defRPr>
            </a:lvl1p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latin typeface="Times New Roman" panose="02020603050405020304" pitchFamily="2" charset="0"/>
              <a:ea typeface="宋体" panose="02010600030101010101" pitchFamily="2" charset="-122"/>
              <a:cs typeface="+mn-ea"/>
            </a:endParaRPr>
          </a:p>
        </p:txBody>
      </p:sp>
      <p:sp>
        <p:nvSpPr>
          <p:cNvPr id="1029" name="Rectangle 5"/>
          <p:cNvSpPr>
            <a:spLocks noGrp="1"/>
          </p:cNvSpPr>
          <p:nvPr>
            <p:ph type="ftr" sz="quarter" idx="3"/>
          </p:nvPr>
        </p:nvSpPr>
        <p:spPr>
          <a:xfrm>
            <a:off x="2590800" y="6477000"/>
            <a:ext cx="3962400" cy="304800"/>
          </a:xfrm>
          <a:prstGeom prst="rect">
            <a:avLst/>
          </a:prstGeom>
          <a:noFill/>
          <a:ln w="9525">
            <a:noFill/>
            <a:miter/>
          </a:ln>
        </p:spPr>
        <p:txBody>
          <a:bodyPr/>
          <a:lstStyle>
            <a:lvl1pPr algn="ctr">
              <a:defRPr sz="1400" b="1" i="1">
                <a:ea typeface="宋体" panose="02010600030101010101" pitchFamily="2" charset="-122"/>
              </a:defRPr>
            </a:lvl1pPr>
          </a:lstStyle>
          <a:p>
            <a:pPr lvl="0" eaLnBrk="1" fontAlgn="base" hangingPunct="1"/>
            <a:r>
              <a:rPr lang="zh-CN" altLang="en-US" strike="noStrike" noProof="1" dirty="0">
                <a:latin typeface="Times New Roman" panose="02020603050405020304" pitchFamily="2" charset="0"/>
                <a:ea typeface="宋体" panose="02010600030101010101" pitchFamily="2" charset="-122"/>
                <a:cs typeface="+mn-ea"/>
              </a:rPr>
              <a:t>Database Principles &amp; Programming</a:t>
            </a:r>
            <a:endParaRPr lang="en-US" altLang="x-none" sz="1400" b="1" i="1" strike="noStrike" noProof="1" dirty="0">
              <a:ea typeface="宋体" panose="02010600030101010101" pitchFamily="2" charset="-122"/>
            </a:endParaRPr>
          </a:p>
        </p:txBody>
      </p:sp>
      <p:sp>
        <p:nvSpPr>
          <p:cNvPr id="1030" name="Rectangle 6"/>
          <p:cNvSpPr>
            <a:spLocks noGrp="1"/>
          </p:cNvSpPr>
          <p:nvPr>
            <p:ph type="sldNum" sz="quarter" idx="4"/>
          </p:nvPr>
        </p:nvSpPr>
        <p:spPr>
          <a:xfrm>
            <a:off x="6858000" y="6477000"/>
            <a:ext cx="1905000" cy="304800"/>
          </a:xfrm>
          <a:prstGeom prst="rect">
            <a:avLst/>
          </a:prstGeom>
          <a:noFill/>
          <a:ln w="9525">
            <a:noFill/>
            <a:miter/>
          </a:ln>
        </p:spPr>
        <p:txBody>
          <a:bodyPr/>
          <a:lstStyle>
            <a:lvl1pPr algn="r">
              <a:defRPr sz="1400" b="1" i="1">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marL="0" lvl="0" indent="0" algn="ctr" defTabSz="914400" eaLnBrk="0" fontAlgn="base" latinLnBrk="0" hangingPunct="0">
        <a:spcBef>
          <a:spcPct val="0"/>
        </a:spcBef>
        <a:spcAft>
          <a:spcPct val="0"/>
        </a:spcAft>
        <a:buNone/>
        <a:defRPr sz="3200" b="1" u="none" kern="1200" baseline="0">
          <a:solidFill>
            <a:schemeClr val="tx2"/>
          </a:solidFill>
          <a:latin typeface="+mj-lt"/>
          <a:ea typeface="+mj-ea"/>
          <a:cs typeface="+mj-cs"/>
        </a:defRPr>
      </a:lvl1pPr>
    </p:titleStyle>
    <p:body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3"/>
          <p:cNvSpPr>
            <a:spLocks noGrp="1"/>
          </p:cNvSpPr>
          <p:nvPr>
            <p:ph type="body"/>
          </p:nvPr>
        </p:nvSpPr>
        <p:spPr>
          <a:xfrm>
            <a:off x="73025" y="52388"/>
            <a:ext cx="8890000" cy="2399665"/>
          </a:xfrm>
        </p:spPr>
        <p:txBody>
          <a:bodyPr wrap="square" anchor="t">
            <a:spAutoFit/>
          </a:bodyPr>
          <a:p>
            <a:pPr marL="595630" lvl="0" indent="-595630" eaLnBrk="1" fontAlgn="base" hangingPunct="1">
              <a:lnSpc>
                <a:spcPct val="125000"/>
              </a:lnSpc>
              <a:spcBef>
                <a:spcPts val="20"/>
              </a:spcBef>
              <a:spcAft>
                <a:spcPts val="0"/>
              </a:spcAft>
              <a:buNone/>
            </a:pPr>
            <a:r>
              <a:rPr lang="zh-CN" altLang="en-US" b="0" strike="noStrike" noProof="1" dirty="0"/>
              <a:t>一、Assume that the tables of this exercise are like Example 2.4.1, in that they have all the rows they are ever going to have, so that we can figure out the intentions of the designer regarding keys for the table by merely looking at the contents of the rows.</a:t>
            </a:r>
            <a:endParaRPr lang="zh-CN" altLang="en-US" b="0" strike="noStrike" noProof="1" dirty="0">
              <a:solidFill>
                <a:schemeClr val="tx1"/>
              </a:solidFill>
            </a:endParaRPr>
          </a:p>
        </p:txBody>
      </p:sp>
      <p:graphicFrame>
        <p:nvGraphicFramePr>
          <p:cNvPr id="2" name="表格 1"/>
          <p:cNvGraphicFramePr/>
          <p:nvPr/>
        </p:nvGraphicFramePr>
        <p:xfrm>
          <a:off x="1962150" y="2721610"/>
          <a:ext cx="4986020" cy="1978025"/>
        </p:xfrm>
        <a:graphic>
          <a:graphicData uri="http://schemas.openxmlformats.org/drawingml/2006/table">
            <a:tbl>
              <a:tblPr firstRow="1" bandRow="1">
                <a:tableStyleId>{5940675A-B579-460E-94D1-54222C63F5DA}</a:tableStyleId>
              </a:tblPr>
              <a:tblGrid>
                <a:gridCol w="1246505"/>
                <a:gridCol w="1246505"/>
                <a:gridCol w="1246505"/>
                <a:gridCol w="1246505"/>
              </a:tblGrid>
              <a:tr h="395605">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A</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B</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C</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1">
                          <a:solidFill>
                            <a:srgbClr val="FF0000"/>
                          </a:solidFill>
                          <a:latin typeface="Arial" panose="020B0604020202020204" pitchFamily="34" charset="0"/>
                          <a:ea typeface="宋体" panose="02010600030101010101" pitchFamily="2" charset="-122"/>
                          <a:cs typeface="Arial" panose="020B0604020202020204" pitchFamily="34" charset="0"/>
                        </a:rPr>
                        <a:t>D</a:t>
                      </a:r>
                      <a:endPar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b3</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a3</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b4</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a4</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Rectangle 3"/>
          <p:cNvSpPr>
            <a:spLocks noGrp="1"/>
          </p:cNvSpPr>
          <p:nvPr/>
        </p:nvSpPr>
        <p:spPr>
          <a:xfrm>
            <a:off x="200025" y="4915218"/>
            <a:ext cx="8890000" cy="1198880"/>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50000"/>
              </a:lnSpc>
              <a:buFont typeface="+mj-lt"/>
              <a:buAutoNum type="arabicPeriod"/>
            </a:pPr>
            <a:r>
              <a:rPr lang="zh-CN" altLang="en-US" b="0" strike="noStrike" noProof="1" dirty="0">
                <a:solidFill>
                  <a:schemeClr val="tx1"/>
                </a:solidFill>
              </a:rPr>
              <a:t>Consider the table T1, above. Find the three candidate keys for this table. One of the keys has two columns.</a:t>
            </a:r>
            <a:endParaRPr lang="zh-CN" altLang="en-US" b="0" strike="noStrike" noProof="1" dirty="0">
              <a:solidFill>
                <a:schemeClr val="tx1"/>
              </a:solidFill>
            </a:endParaRPr>
          </a:p>
        </p:txBody>
      </p:sp>
      <p:sp>
        <p:nvSpPr>
          <p:cNvPr id="4" name="文本框 3"/>
          <p:cNvSpPr txBox="1"/>
          <p:nvPr/>
        </p:nvSpPr>
        <p:spPr>
          <a:xfrm>
            <a:off x="1275715" y="2752090"/>
            <a:ext cx="614045" cy="460375"/>
          </a:xfrm>
          <a:prstGeom prst="rect">
            <a:avLst/>
          </a:prstGeom>
          <a:noFill/>
        </p:spPr>
        <p:txBody>
          <a:bodyPr wrap="square" rtlCol="0">
            <a:spAutoFit/>
          </a:bodyPr>
          <a:p>
            <a:r>
              <a:rPr lang="en-US" altLang="zh-CN" b="1">
                <a:latin typeface="Arial" panose="020B0604020202020204" pitchFamily="34" charset="0"/>
                <a:cs typeface="Arial" panose="020B0604020202020204" pitchFamily="34" charset="0"/>
              </a:rPr>
              <a:t>T1</a:t>
            </a:r>
            <a:endParaRPr lang="en-US" altLang="zh-CN" b="1">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nvGraphicFramePr>
        <p:xfrm>
          <a:off x="1962150" y="66675"/>
          <a:ext cx="4986020" cy="1978025"/>
        </p:xfrm>
        <a:graphic>
          <a:graphicData uri="http://schemas.openxmlformats.org/drawingml/2006/table">
            <a:tbl>
              <a:tblPr firstRow="1" bandRow="1">
                <a:tableStyleId>{5940675A-B579-460E-94D1-54222C63F5DA}</a:tableStyleId>
              </a:tblPr>
              <a:tblGrid>
                <a:gridCol w="997204"/>
                <a:gridCol w="997204"/>
                <a:gridCol w="997204"/>
                <a:gridCol w="997204"/>
                <a:gridCol w="997204"/>
              </a:tblGrid>
              <a:tr h="395605">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A</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B</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C</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D</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c>
                  <a:txBody>
                    <a:bodyPr/>
                    <a:p>
                      <a:pPr algn="ctr">
                        <a:buNone/>
                      </a:pPr>
                      <a:r>
                        <a:rPr lang="en-US" sz="2400" b="0">
                          <a:solidFill>
                            <a:srgbClr val="FF0000"/>
                          </a:solidFill>
                          <a:latin typeface="Arial" panose="020B0604020202020204" pitchFamily="34" charset="0"/>
                          <a:ea typeface="宋体" panose="02010600030101010101" pitchFamily="2" charset="-122"/>
                          <a:cs typeface="Arial" panose="020B0604020202020204" pitchFamily="34" charset="0"/>
                        </a:rPr>
                        <a:t>E</a:t>
                      </a:r>
                      <a:endParaRPr lang="en-US" altLang="en-US" sz="2400" b="0">
                        <a:solidFill>
                          <a:srgbClr val="FF0000"/>
                        </a:solidFill>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E0E0E0"/>
                    </a:solid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a3</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a4</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b2</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c1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d1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lgn="ctr">
                        <a:buNone/>
                      </a:pPr>
                      <a:r>
                        <a:rPr lang="en-US" sz="2400" b="0">
                          <a:latin typeface="Arial" panose="020B0604020202020204" pitchFamily="34" charset="0"/>
                          <a:ea typeface="宋体" panose="02010600030101010101" pitchFamily="2" charset="-122"/>
                          <a:cs typeface="Arial" panose="020B0604020202020204" pitchFamily="34" charset="0"/>
                        </a:rPr>
                        <a:t>e1</a:t>
                      </a:r>
                      <a:endParaRPr lang="en-US" altLang="en-US" sz="2400" b="0">
                        <a:latin typeface="Arial" panose="020B0604020202020204" pitchFamily="34" charset="0"/>
                        <a:ea typeface="宋体" panose="02010600030101010101" pitchFamily="2" charset="-122"/>
                        <a:cs typeface="Arial" panose="020B0604020202020204" pitchFamily="3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Rectangle 3"/>
          <p:cNvSpPr>
            <a:spLocks noGrp="1"/>
          </p:cNvSpPr>
          <p:nvPr/>
        </p:nvSpPr>
        <p:spPr>
          <a:xfrm>
            <a:off x="200025" y="2116773"/>
            <a:ext cx="8890000" cy="829945"/>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00000"/>
              </a:lnSpc>
              <a:buFont typeface="+mj-lt"/>
              <a:buAutoNum type="arabicPeriod" startAt="2"/>
            </a:pPr>
            <a:r>
              <a:rPr lang="zh-CN" altLang="en-US" b="0" strike="noStrike" noProof="1" dirty="0">
                <a:solidFill>
                  <a:schemeClr val="tx1"/>
                </a:solidFill>
              </a:rPr>
              <a:t>Consider the table T2, above. Find the two candidate keys for this table.</a:t>
            </a:r>
            <a:endParaRPr lang="zh-CN" altLang="en-US" b="0" strike="noStrike" noProof="1" dirty="0">
              <a:solidFill>
                <a:schemeClr val="tx1"/>
              </a:solidFill>
            </a:endParaRPr>
          </a:p>
        </p:txBody>
      </p:sp>
      <p:sp>
        <p:nvSpPr>
          <p:cNvPr id="4" name="文本框 3"/>
          <p:cNvSpPr txBox="1"/>
          <p:nvPr/>
        </p:nvSpPr>
        <p:spPr>
          <a:xfrm>
            <a:off x="1275715" y="97155"/>
            <a:ext cx="614045" cy="460375"/>
          </a:xfrm>
          <a:prstGeom prst="rect">
            <a:avLst/>
          </a:prstGeom>
          <a:noFill/>
        </p:spPr>
        <p:txBody>
          <a:bodyPr wrap="square" rtlCol="0">
            <a:spAutoFit/>
          </a:bodyPr>
          <a:p>
            <a:r>
              <a:rPr lang="en-US" altLang="zh-CN" b="1">
                <a:latin typeface="Arial" panose="020B0604020202020204" pitchFamily="34" charset="0"/>
                <a:cs typeface="Arial" panose="020B0604020202020204" pitchFamily="34" charset="0"/>
              </a:rPr>
              <a:t>T2</a:t>
            </a:r>
            <a:endParaRPr lang="en-US" altLang="zh-CN" b="1">
              <a:latin typeface="Arial" panose="020B0604020202020204" pitchFamily="34" charset="0"/>
              <a:cs typeface="Arial" panose="020B0604020202020204" pitchFamily="34" charset="0"/>
            </a:endParaRPr>
          </a:p>
        </p:txBody>
      </p:sp>
      <p:sp>
        <p:nvSpPr>
          <p:cNvPr id="6" name="Rectangle 3"/>
          <p:cNvSpPr>
            <a:spLocks noGrp="1"/>
          </p:cNvSpPr>
          <p:nvPr/>
        </p:nvSpPr>
        <p:spPr>
          <a:xfrm>
            <a:off x="200025" y="3073083"/>
            <a:ext cx="8890000" cy="3488690"/>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514350" lvl="0" indent="-514350" eaLnBrk="1" fontAlgn="base" hangingPunct="1">
              <a:lnSpc>
                <a:spcPct val="100000"/>
              </a:lnSpc>
              <a:buFont typeface="+mj-lt"/>
              <a:buAutoNum type="arabicPeriod" startAt="3"/>
            </a:pPr>
            <a:r>
              <a:rPr lang="zh-CN" altLang="en-US" b="0" strike="noStrike" noProof="1" dirty="0">
                <a:solidFill>
                  <a:schemeClr val="tx1"/>
                </a:solidFill>
              </a:rPr>
              <a:t>Create an example of a table as in exercise </a:t>
            </a:r>
            <a:r>
              <a:rPr lang="en-US" altLang="zh-CN" b="0" strike="noStrike" noProof="1" dirty="0">
                <a:solidFill>
                  <a:schemeClr val="tx1"/>
                </a:solidFill>
              </a:rPr>
              <a:t>1</a:t>
            </a:r>
            <a:r>
              <a:rPr lang="zh-CN" altLang="en-US" b="0" strike="noStrike" noProof="1" dirty="0">
                <a:solidFill>
                  <a:schemeClr val="tx1"/>
                </a:solidFill>
              </a:rPr>
              <a:t> that has four columns and only four rows, but has only one candidate key, consisting of the first three columns. Be careful that no pair of the first three columns distinguishes all rows.</a:t>
            </a:r>
            <a:endParaRPr lang="zh-CN" altLang="en-US" b="0" strike="noStrike" noProof="1" dirty="0">
              <a:solidFill>
                <a:schemeClr val="tx1"/>
              </a:solidFill>
            </a:endParaRPr>
          </a:p>
          <a:p>
            <a:pPr marL="514350" lvl="0" indent="-514350" eaLnBrk="1" fontAlgn="base" hangingPunct="1">
              <a:lnSpc>
                <a:spcPct val="100000"/>
              </a:lnSpc>
              <a:buFont typeface="+mj-lt"/>
              <a:buAutoNum type="arabicPeriod" startAt="3"/>
            </a:pPr>
            <a:r>
              <a:rPr lang="zh-CN" altLang="en-US" b="0" strike="noStrike" noProof="1" dirty="0">
                <a:solidFill>
                  <a:schemeClr val="tx1"/>
                </a:solidFill>
              </a:rPr>
              <a:t>Create an example of a table as in exercise </a:t>
            </a:r>
            <a:r>
              <a:rPr lang="en-US" altLang="zh-CN" b="0" strike="noStrike" noProof="1" dirty="0">
                <a:solidFill>
                  <a:schemeClr val="tx1"/>
                </a:solidFill>
              </a:rPr>
              <a:t>2</a:t>
            </a:r>
            <a:r>
              <a:rPr lang="zh-CN" altLang="en-US" b="0" strike="noStrike" noProof="1" dirty="0">
                <a:solidFill>
                  <a:schemeClr val="tx1"/>
                </a:solidFill>
              </a:rPr>
              <a:t> that has five columns, A B C D E, and only five rows, with only one candidate key consisting of the first four columns. Give an informal argument why no other set of columns in this table forms a key.</a:t>
            </a:r>
            <a:endParaRPr lang="zh-CN" altLang="en-US" b="0" strike="noStrike" noProof="1" dirty="0">
              <a:solidFill>
                <a:schemeClr val="tx1"/>
              </a:solidFill>
            </a:endParaRPr>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3"/>
          <p:cNvSpPr>
            <a:spLocks noGrp="1"/>
          </p:cNvSpPr>
          <p:nvPr/>
        </p:nvSpPr>
        <p:spPr>
          <a:xfrm>
            <a:off x="87313" y="302895"/>
            <a:ext cx="8890000" cy="996950"/>
          </a:xfrm>
          <a:prstGeom prst="rect">
            <a:avLst/>
          </a:prstGeom>
          <a:noFill/>
          <a:ln w="9525">
            <a:noFill/>
          </a:ln>
        </p:spPr>
        <p:txBody>
          <a:bodyPr wrap="square" anchor="t"/>
          <a:p>
            <a:pPr>
              <a:spcBef>
                <a:spcPct val="20000"/>
              </a:spcBef>
              <a:buClr>
                <a:srgbClr val="CC9900"/>
              </a:buClr>
              <a:buFont typeface="Wingdings" panose="05000000000000000000" pitchFamily="2" charset="2"/>
              <a:buNone/>
            </a:pPr>
            <a:r>
              <a:rPr lang="zh-CN" altLang="zh-CN" b="1" dirty="0">
                <a:solidFill>
                  <a:schemeClr val="accent2"/>
                </a:solidFill>
                <a:latin typeface="Arial" panose="020B0604020202020204" pitchFamily="34" charset="0"/>
              </a:rPr>
              <a:t>二、复习思考题</a:t>
            </a:r>
            <a:endParaRPr lang="zh-CN" altLang="zh-CN" b="1" dirty="0">
              <a:solidFill>
                <a:schemeClr val="accent2"/>
              </a:solidFill>
              <a:latin typeface="Times New Roman" panose="02020603050405020304" pitchFamily="2" charset="0"/>
            </a:endParaRPr>
          </a:p>
          <a:p>
            <a:pPr indent="467995">
              <a:spcBef>
                <a:spcPct val="20000"/>
              </a:spcBef>
              <a:buClr>
                <a:srgbClr val="CC9900"/>
              </a:buClr>
              <a:buFont typeface="Wingdings" panose="05000000000000000000" pitchFamily="2" charset="2"/>
              <a:buNone/>
            </a:pPr>
            <a:r>
              <a:rPr lang="zh-CN" altLang="en-US" b="1" dirty="0">
                <a:solidFill>
                  <a:schemeClr val="accent2"/>
                </a:solidFill>
                <a:latin typeface="Arial" panose="020B0604020202020204" pitchFamily="34" charset="0"/>
              </a:rPr>
              <a:t>设有如下所示的关系模式</a:t>
            </a:r>
            <a:r>
              <a:rPr lang="en-US" altLang="zh-CN" b="1" dirty="0">
                <a:solidFill>
                  <a:schemeClr val="accent2"/>
                </a:solidFill>
                <a:latin typeface="Arial" panose="020B0604020202020204" pitchFamily="34" charset="0"/>
              </a:rPr>
              <a:t>,</a:t>
            </a:r>
            <a:r>
              <a:rPr lang="zh-CN" altLang="en-US" b="1" dirty="0">
                <a:solidFill>
                  <a:schemeClr val="accent2"/>
                </a:solidFill>
                <a:latin typeface="Arial" panose="020B0604020202020204" pitchFamily="34" charset="0"/>
              </a:rPr>
              <a:t>请用关系代数表示下述查询</a:t>
            </a:r>
            <a:r>
              <a:rPr lang="en-US" altLang="zh-CN" b="1" dirty="0">
                <a:solidFill>
                  <a:schemeClr val="accent2"/>
                </a:solidFill>
                <a:latin typeface="Arial" panose="020B0604020202020204" pitchFamily="34" charset="0"/>
              </a:rPr>
              <a:t>.</a:t>
            </a:r>
            <a:endParaRPr lang="en-US" altLang="x-none" b="1" u="none" baseline="0" dirty="0">
              <a:solidFill>
                <a:srgbClr val="FF0000"/>
              </a:solidFill>
              <a:latin typeface="Arial" panose="020B0604020202020204" pitchFamily="34" charset="0"/>
              <a:ea typeface="Times New Roman" panose="02020603050405020304" pitchFamily="2" charset="0"/>
            </a:endParaRPr>
          </a:p>
        </p:txBody>
      </p:sp>
      <p:sp>
        <p:nvSpPr>
          <p:cNvPr id="161799" name="Text Box 9"/>
          <p:cNvSpPr txBox="1"/>
          <p:nvPr/>
        </p:nvSpPr>
        <p:spPr>
          <a:xfrm>
            <a:off x="233680" y="1299528"/>
            <a:ext cx="8675688" cy="1789430"/>
          </a:xfrm>
          <a:prstGeom prst="rect">
            <a:avLst/>
          </a:prstGeom>
          <a:noFill/>
          <a:ln w="12700" cap="flat" cmpd="sng">
            <a:solidFill>
              <a:schemeClr val="tx1"/>
            </a:solidFill>
            <a:prstDash val="solid"/>
            <a:miter/>
            <a:headEnd type="none" w="med" len="med"/>
            <a:tailEnd type="none" w="med" len="med"/>
          </a:ln>
        </p:spPr>
        <p:txBody>
          <a:bodyPr anchor="t">
            <a:spAutoFit/>
          </a:bodyPr>
          <a:p>
            <a:pPr lvl="1">
              <a:spcBef>
                <a:spcPct val="20000"/>
              </a:spcBef>
            </a:pPr>
            <a:r>
              <a:rPr lang="en-US" altLang="x-none" sz="2400" b="1" i="1" u="sng" dirty="0">
                <a:solidFill>
                  <a:srgbClr val="0000CC"/>
                </a:solidFill>
                <a:latin typeface="Arial" panose="020B0604020202020204" pitchFamily="34" charset="0"/>
              </a:rPr>
              <a:t>Customers</a:t>
            </a:r>
            <a:r>
              <a:rPr lang="en-US" altLang="x-none" sz="2400" b="1" dirty="0">
                <a:solidFill>
                  <a:srgbClr val="0000CC"/>
                </a:solidFill>
                <a:latin typeface="Arial" panose="020B0604020202020204" pitchFamily="34" charset="0"/>
              </a:rPr>
              <a:t>:  C(cid, cname, city, discnt)</a:t>
            </a:r>
            <a:endParaRPr lang="en-US" altLang="x-none" sz="2400" b="1" dirty="0">
              <a:solidFill>
                <a:srgbClr val="0000CC"/>
              </a:solidFill>
              <a:latin typeface="Arial" panose="020B0604020202020204" pitchFamily="34" charset="0"/>
            </a:endParaRPr>
          </a:p>
          <a:p>
            <a:pPr lvl="1">
              <a:spcBef>
                <a:spcPct val="20000"/>
              </a:spcBef>
            </a:pPr>
            <a:r>
              <a:rPr lang="en-US" altLang="x-none" sz="2400" b="1" i="1" u="sng" dirty="0">
                <a:solidFill>
                  <a:srgbClr val="0000CC"/>
                </a:solidFill>
                <a:latin typeface="Arial" panose="020B0604020202020204" pitchFamily="34" charset="0"/>
              </a:rPr>
              <a:t>Agents</a:t>
            </a:r>
            <a:r>
              <a:rPr lang="en-US" altLang="x-none" sz="2400" b="1" dirty="0">
                <a:solidFill>
                  <a:srgbClr val="0000CC"/>
                </a:solidFill>
                <a:latin typeface="Arial" panose="020B0604020202020204" pitchFamily="34" charset="0"/>
              </a:rPr>
              <a:t>:         A(aid, aname, city, percent)</a:t>
            </a:r>
            <a:endParaRPr lang="en-US" altLang="x-none" sz="2400" b="1" dirty="0">
              <a:solidFill>
                <a:srgbClr val="0000CC"/>
              </a:solidFill>
              <a:latin typeface="Arial" panose="020B0604020202020204" pitchFamily="34" charset="0"/>
            </a:endParaRPr>
          </a:p>
          <a:p>
            <a:pPr lvl="1">
              <a:spcBef>
                <a:spcPct val="20000"/>
              </a:spcBef>
            </a:pPr>
            <a:r>
              <a:rPr lang="en-US" altLang="x-none" sz="2400" b="1" i="1" u="sng" dirty="0">
                <a:solidFill>
                  <a:srgbClr val="0000CC"/>
                </a:solidFill>
                <a:latin typeface="Arial" panose="020B0604020202020204" pitchFamily="34" charset="0"/>
              </a:rPr>
              <a:t>Products</a:t>
            </a:r>
            <a:r>
              <a:rPr lang="en-US" altLang="x-none" sz="2400" b="1" dirty="0">
                <a:solidFill>
                  <a:srgbClr val="0000CC"/>
                </a:solidFill>
                <a:latin typeface="Arial" panose="020B0604020202020204" pitchFamily="34" charset="0"/>
              </a:rPr>
              <a:t>:     P(pid, pname, city, qty, price)</a:t>
            </a:r>
            <a:endParaRPr lang="en-US" altLang="x-none" sz="2400" b="1" dirty="0">
              <a:solidFill>
                <a:srgbClr val="0000CC"/>
              </a:solidFill>
              <a:latin typeface="Arial" panose="020B0604020202020204" pitchFamily="34" charset="0"/>
            </a:endParaRPr>
          </a:p>
          <a:p>
            <a:pPr lvl="1">
              <a:spcBef>
                <a:spcPct val="20000"/>
              </a:spcBef>
            </a:pPr>
            <a:r>
              <a:rPr lang="en-US" altLang="x-none" sz="2400" b="1" i="1" u="sng" dirty="0">
                <a:solidFill>
                  <a:srgbClr val="0000CC"/>
                </a:solidFill>
                <a:latin typeface="Arial" panose="020B0604020202020204" pitchFamily="34" charset="0"/>
              </a:rPr>
              <a:t>Orders</a:t>
            </a:r>
            <a:r>
              <a:rPr lang="en-US" altLang="x-none" sz="2400" b="1" dirty="0">
                <a:solidFill>
                  <a:srgbClr val="0000CC"/>
                </a:solidFill>
                <a:latin typeface="Arial" panose="020B0604020202020204" pitchFamily="34" charset="0"/>
              </a:rPr>
              <a:t>:         O(ordno, month, cid, aid, pid, qty, dols)</a:t>
            </a:r>
            <a:endParaRPr lang="en-US" altLang="x-none" sz="2400" b="1" dirty="0">
              <a:solidFill>
                <a:srgbClr val="0000CC"/>
              </a:solidFill>
              <a:latin typeface="Arial" panose="020B0604020202020204" pitchFamily="34" charset="0"/>
            </a:endParaRPr>
          </a:p>
        </p:txBody>
      </p:sp>
      <p:sp>
        <p:nvSpPr>
          <p:cNvPr id="145413" name="Rectangle 3"/>
          <p:cNvSpPr>
            <a:spLocks noGrp="1"/>
          </p:cNvSpPr>
          <p:nvPr/>
        </p:nvSpPr>
        <p:spPr>
          <a:xfrm>
            <a:off x="5156" y="3201323"/>
            <a:ext cx="9085263" cy="497205"/>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lvl="0" indent="-514350" eaLnBrk="1" hangingPunct="1">
              <a:lnSpc>
                <a:spcPct val="110000"/>
              </a:lnSpc>
              <a:buFont typeface="+mj-lt"/>
              <a:buAutoNum type="arabicPeriod"/>
            </a:pPr>
            <a:r>
              <a:rPr lang="zh-CN" altLang="en-US" sz="2400" b="1" dirty="0">
                <a:solidFill>
                  <a:srgbClr val="0000CC"/>
                </a:solidFill>
                <a:latin typeface="Arial" panose="020B0604020202020204" pitchFamily="34" charset="0"/>
                <a:ea typeface="宋体" panose="02010600030101010101" pitchFamily="2" charset="-122"/>
                <a:cs typeface="Arial" panose="020B0604020202020204" pitchFamily="34" charset="0"/>
              </a:rPr>
              <a:t>只购买过</a:t>
            </a:r>
            <a:r>
              <a:rPr lang="en-US" altLang="zh-CN" sz="2400" b="1" dirty="0">
                <a:solidFill>
                  <a:srgbClr val="0000CC"/>
                </a:solidFill>
                <a:latin typeface="Arial" panose="020B0604020202020204" pitchFamily="34" charset="0"/>
                <a:ea typeface="宋体" panose="02010600030101010101" pitchFamily="2" charset="-122"/>
                <a:cs typeface="Arial" panose="020B0604020202020204" pitchFamily="34" charset="0"/>
              </a:rPr>
              <a:t>p01</a:t>
            </a:r>
            <a:r>
              <a:rPr lang="zh-CN" altLang="en-US" sz="2400" b="1" dirty="0">
                <a:solidFill>
                  <a:srgbClr val="0000CC"/>
                </a:solidFill>
                <a:latin typeface="Arial" panose="020B0604020202020204" pitchFamily="34" charset="0"/>
                <a:ea typeface="宋体" panose="02010600030101010101" pitchFamily="2" charset="-122"/>
                <a:cs typeface="Arial" panose="020B0604020202020204" pitchFamily="34" charset="0"/>
              </a:rPr>
              <a:t>和</a:t>
            </a:r>
            <a:r>
              <a:rPr lang="en-US" altLang="zh-CN" sz="2400" b="1" dirty="0">
                <a:solidFill>
                  <a:srgbClr val="0000CC"/>
                </a:solidFill>
                <a:latin typeface="Arial" panose="020B0604020202020204" pitchFamily="34" charset="0"/>
                <a:ea typeface="宋体" panose="02010600030101010101" pitchFamily="2" charset="-122"/>
                <a:cs typeface="Arial" panose="020B0604020202020204" pitchFamily="34" charset="0"/>
              </a:rPr>
              <a:t>p02</a:t>
            </a:r>
            <a:r>
              <a:rPr lang="zh-CN" altLang="en-US" sz="2400" b="1" dirty="0">
                <a:solidFill>
                  <a:srgbClr val="0000CC"/>
                </a:solidFill>
                <a:latin typeface="Arial" panose="020B0604020202020204" pitchFamily="34" charset="0"/>
                <a:ea typeface="宋体" panose="02010600030101010101" pitchFamily="2" charset="-122"/>
                <a:cs typeface="Arial" panose="020B0604020202020204" pitchFamily="34" charset="0"/>
              </a:rPr>
              <a:t>号两种商品的顾客编号</a:t>
            </a:r>
            <a:endParaRPr lang="zh-CN" altLang="en-US" sz="2400" b="1" dirty="0">
              <a:solidFill>
                <a:srgbClr val="0000CC"/>
              </a:solidFill>
              <a:latin typeface="Arial" panose="020B0604020202020204" pitchFamily="34" charset="0"/>
              <a:ea typeface="宋体" panose="02010600030101010101" pitchFamily="2" charset="-122"/>
              <a:cs typeface="Arial" panose="020B0604020202020204" pitchFamily="34" charset="0"/>
            </a:endParaRPr>
          </a:p>
        </p:txBody>
      </p:sp>
      <p:sp>
        <p:nvSpPr>
          <p:cNvPr id="15367" name="Rectangle 4"/>
          <p:cNvSpPr/>
          <p:nvPr/>
        </p:nvSpPr>
        <p:spPr>
          <a:xfrm>
            <a:off x="5156" y="3813327"/>
            <a:ext cx="9085263" cy="497205"/>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2"/>
            </a:pPr>
            <a:r>
              <a:rPr lang="en-US" altLang="zh-CN"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a:t>
            </a:r>
            <a:r>
              <a:rPr lang="zh-CN" altLang="en-US"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只购买</a:t>
            </a:r>
            <a:r>
              <a:rPr lang="en-US" altLang="zh-CN"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p01”</a:t>
            </a:r>
            <a:r>
              <a:rPr lang="zh-CN" altLang="zh-CN"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或者</a:t>
            </a:r>
            <a:r>
              <a:rPr lang="en-US" altLang="zh-CN"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a:t>
            </a:r>
            <a:r>
              <a:rPr lang="zh-CN" altLang="zh-CN"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只购买</a:t>
            </a:r>
            <a:r>
              <a:rPr lang="en-US" altLang="zh-CN"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p02”</a:t>
            </a:r>
            <a:r>
              <a:rPr lang="zh-CN" altLang="en-US" b="1" dirty="0">
                <a:solidFill>
                  <a:srgbClr val="0000CC"/>
                </a:solidFill>
                <a:latin typeface="Arial" panose="020B0604020202020204" pitchFamily="34" charset="0"/>
                <a:ea typeface="宋体" panose="02010600030101010101" pitchFamily="2" charset="-122"/>
                <a:cs typeface="Arial" panose="020B0604020202020204" pitchFamily="34" charset="0"/>
                <a:sym typeface="+mn-ea"/>
              </a:rPr>
              <a:t>号商品的顾客编号</a:t>
            </a:r>
            <a:endParaRPr lang="zh-CN" altLang="x-none" b="1" dirty="0">
              <a:solidFill>
                <a:srgbClr val="0000CC"/>
              </a:solidFill>
              <a:latin typeface="Arial" panose="020B0604020202020204" pitchFamily="34" charset="0"/>
              <a:ea typeface="宋体" panose="02010600030101010101" pitchFamily="2" charset="-122"/>
              <a:cs typeface="Arial" panose="020B0604020202020204" pitchFamily="34" charset="0"/>
            </a:endParaRPr>
          </a:p>
        </p:txBody>
      </p:sp>
      <p:sp>
        <p:nvSpPr>
          <p:cNvPr id="5" name="Rectangle 4"/>
          <p:cNvSpPr/>
          <p:nvPr/>
        </p:nvSpPr>
        <p:spPr>
          <a:xfrm>
            <a:off x="5080" y="5649595"/>
            <a:ext cx="9086215" cy="902970"/>
          </a:xfrm>
          <a:prstGeom prst="rect">
            <a:avLst/>
          </a:prstGeom>
          <a:noFill/>
          <a:ln w="9525">
            <a:noFill/>
          </a:ln>
        </p:spPr>
        <p:txBody>
          <a:bodyPr wrap="square" anchor="t">
            <a:spAutoFit/>
          </a:bodyPr>
          <a:p>
            <a:pPr marL="514350" lvl="0" indent="-514350">
              <a:lnSpc>
                <a:spcPct val="110000"/>
              </a:lnSpc>
              <a:spcBef>
                <a:spcPct val="20000"/>
              </a:spcBef>
              <a:buClr>
                <a:srgbClr val="0000CC"/>
              </a:buClr>
              <a:buFont typeface="+mj-lt"/>
              <a:buAutoNum type="arabicPeriod" startAt="5"/>
            </a:pPr>
            <a:r>
              <a:rPr lang="zh-CN" altLang="en-US" b="1" dirty="0">
                <a:solidFill>
                  <a:srgbClr val="0000CC"/>
                </a:solidFill>
                <a:latin typeface="Arial" panose="020B0604020202020204" pitchFamily="34" charset="0"/>
                <a:ea typeface="宋体" panose="02010600030101010101" pitchFamily="2" charset="-122"/>
                <a:cs typeface="Arial" panose="020B0604020202020204" pitchFamily="34" charset="0"/>
              </a:rPr>
              <a:t>针对</a:t>
            </a:r>
            <a:r>
              <a:rPr lang="zh-CN" altLang="zh-CN" b="1" dirty="0">
                <a:solidFill>
                  <a:srgbClr val="0000CC"/>
                </a:solidFill>
                <a:latin typeface="Arial" panose="020B0604020202020204" pitchFamily="34" charset="0"/>
                <a:ea typeface="宋体" panose="02010600030101010101" pitchFamily="2" charset="-122"/>
                <a:cs typeface="Arial" panose="020B0604020202020204" pitchFamily="34" charset="0"/>
              </a:rPr>
              <a:t>每一个供应商查询其销售金额</a:t>
            </a:r>
            <a:r>
              <a:rPr lang="en-US" altLang="zh-CN" b="1" dirty="0">
                <a:solidFill>
                  <a:srgbClr val="0000CC"/>
                </a:solidFill>
                <a:latin typeface="Arial" panose="020B0604020202020204" pitchFamily="34" charset="0"/>
                <a:ea typeface="宋体" panose="02010600030101010101" pitchFamily="2" charset="-122"/>
                <a:cs typeface="Arial" panose="020B0604020202020204" pitchFamily="34" charset="0"/>
              </a:rPr>
              <a:t>dols</a:t>
            </a:r>
            <a:r>
              <a:rPr lang="zh-CN" altLang="zh-CN" b="1" dirty="0">
                <a:solidFill>
                  <a:srgbClr val="0000CC"/>
                </a:solidFill>
                <a:latin typeface="Arial" panose="020B0604020202020204" pitchFamily="34" charset="0"/>
                <a:ea typeface="宋体" panose="02010600030101010101" pitchFamily="2" charset="-122"/>
                <a:cs typeface="Arial" panose="020B0604020202020204" pitchFamily="34" charset="0"/>
              </a:rPr>
              <a:t>最高的订单，结果返回供应商编号、销售金额最高的订单的编号和销售金额</a:t>
            </a:r>
            <a:endParaRPr lang="zh-CN" altLang="zh-CN" b="1" dirty="0">
              <a:solidFill>
                <a:srgbClr val="0000CC"/>
              </a:solidFill>
              <a:latin typeface="Arial" panose="020B0604020202020204" pitchFamily="34" charset="0"/>
              <a:ea typeface="宋体" panose="02010600030101010101" pitchFamily="2" charset="-122"/>
              <a:cs typeface="Arial" panose="020B0604020202020204" pitchFamily="34" charset="0"/>
            </a:endParaRPr>
          </a:p>
        </p:txBody>
      </p:sp>
      <p:sp>
        <p:nvSpPr>
          <p:cNvPr id="6" name="Rectangle 4"/>
          <p:cNvSpPr/>
          <p:nvPr/>
        </p:nvSpPr>
        <p:spPr>
          <a:xfrm>
            <a:off x="5156" y="4425332"/>
            <a:ext cx="9085263" cy="497205"/>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3"/>
            </a:pPr>
            <a:r>
              <a:rPr lang="zh-CN" altLang="en-US" b="1" dirty="0">
                <a:solidFill>
                  <a:srgbClr val="0000CC"/>
                </a:solidFill>
                <a:latin typeface="Arial" panose="020B0604020202020204" pitchFamily="34" charset="0"/>
                <a:ea typeface="宋体" panose="02010600030101010101" pitchFamily="2" charset="-122"/>
                <a:sym typeface="+mn-ea"/>
              </a:rPr>
              <a:t>只购买过一种商品的顾客编号</a:t>
            </a:r>
            <a:endParaRPr lang="zh-CN" altLang="en-US" b="1" dirty="0">
              <a:solidFill>
                <a:srgbClr val="0000CC"/>
              </a:solidFill>
              <a:latin typeface="Arial" panose="020B0604020202020204" pitchFamily="34" charset="0"/>
              <a:ea typeface="宋体" panose="02010600030101010101" pitchFamily="2" charset="-122"/>
              <a:sym typeface="+mn-ea"/>
            </a:endParaRPr>
          </a:p>
        </p:txBody>
      </p:sp>
      <p:sp>
        <p:nvSpPr>
          <p:cNvPr id="7" name="Rectangle 4"/>
          <p:cNvSpPr/>
          <p:nvPr/>
        </p:nvSpPr>
        <p:spPr>
          <a:xfrm>
            <a:off x="5156" y="5037336"/>
            <a:ext cx="9085263" cy="497205"/>
          </a:xfrm>
          <a:prstGeom prst="rect">
            <a:avLst/>
          </a:prstGeom>
          <a:noFill/>
          <a:ln w="9525">
            <a:noFill/>
          </a:ln>
        </p:spPr>
        <p:txBody>
          <a:bodyPr anchor="t">
            <a:spAutoFit/>
          </a:bodyPr>
          <a:p>
            <a:pPr marL="514350" lvl="0" indent="-514350">
              <a:lnSpc>
                <a:spcPct val="110000"/>
              </a:lnSpc>
              <a:spcBef>
                <a:spcPct val="20000"/>
              </a:spcBef>
              <a:buClr>
                <a:srgbClr val="0000CC"/>
              </a:buClr>
              <a:buFont typeface="+mj-lt"/>
              <a:buAutoNum type="arabicPeriod" startAt="4"/>
            </a:pPr>
            <a:r>
              <a:rPr lang="zh-CN" altLang="en-US" b="1" dirty="0">
                <a:solidFill>
                  <a:srgbClr val="0000CC"/>
                </a:solidFill>
                <a:latin typeface="Arial" panose="020B0604020202020204" pitchFamily="34" charset="0"/>
                <a:ea typeface="宋体" panose="02010600030101010101" pitchFamily="2" charset="-122"/>
                <a:sym typeface="+mn-ea"/>
              </a:rPr>
              <a:t>只</a:t>
            </a:r>
            <a:r>
              <a:rPr lang="zh-CN" altLang="x-none" b="1" dirty="0">
                <a:solidFill>
                  <a:srgbClr val="0000CC"/>
                </a:solidFill>
                <a:latin typeface="Arial" panose="020B0604020202020204" pitchFamily="34" charset="0"/>
                <a:ea typeface="宋体" panose="02010600030101010101" pitchFamily="2" charset="-122"/>
                <a:sym typeface="+mn-ea"/>
              </a:rPr>
              <a:t>向自己所在城市中的客户销售过商品的供应商编号</a:t>
            </a:r>
            <a:endParaRPr lang="zh-CN" altLang="x-none" b="1" dirty="0">
              <a:solidFill>
                <a:srgbClr val="0000CC"/>
              </a:solidFill>
              <a:latin typeface="Arial" panose="020B0604020202020204" pitchFamily="34" charset="0"/>
              <a:ea typeface="宋体" panose="02010600030101010101" pitchFamily="2" charset="-122"/>
              <a:sym typeface="+mn-ea"/>
            </a:endParaRPr>
          </a:p>
        </p:txBody>
      </p:sp>
    </p:spTree>
  </p:cSld>
  <p:clrMapOvr>
    <a:overrideClrMapping bg1="lt1" tx1="dk1" bg2="lt2" tx2="dk2" accent1="accent1" accent2="accent2" accent3="accent3" accent4="accent4" accent5="accent5" accent6="accent6" hlink="hlink" folHlink="folHlink"/>
  </p:clrMapOvr>
  <p:transition advClick="0"/>
  <p:timing>
    <p:tnLst>
      <p:par>
        <p:cTn id="1" dur="indefinite" restart="never" nodeType="tmRoot"/>
      </p:par>
    </p:tnLst>
  </p:timing>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1355</Words>
  <Application>WPS 演示</Application>
  <PresentationFormat/>
  <Paragraphs>121</Paragraphs>
  <Slides>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vt:i4>
      </vt:variant>
    </vt:vector>
  </HeadingPairs>
  <TitlesOfParts>
    <vt:vector size="14" baseType="lpstr">
      <vt:lpstr>Arial</vt:lpstr>
      <vt:lpstr>宋体</vt:lpstr>
      <vt:lpstr>Wingdings</vt:lpstr>
      <vt:lpstr>Times New Roman</vt:lpstr>
      <vt:lpstr>微软雅黑</vt:lpstr>
      <vt:lpstr>Arial Unicode MS</vt:lpstr>
      <vt:lpstr>Calibri</vt:lpstr>
      <vt:lpstr>华文中宋</vt:lpstr>
      <vt:lpstr>黑体</vt:lpstr>
      <vt:lpstr>仿宋</vt:lpstr>
      <vt:lpstr>默认设计模板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百老汇</cp:lastModifiedBy>
  <cp:revision>473</cp:revision>
  <dcterms:created xsi:type="dcterms:W3CDTF">2014-02-16T15:20:00Z</dcterms:created>
  <dcterms:modified xsi:type="dcterms:W3CDTF">2019-09-19T08:40:19Z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