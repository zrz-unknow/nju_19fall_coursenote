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9"/>
  </p:notesMasterIdLst>
  <p:sldIdLst>
    <p:sldId id="256" r:id="rId2"/>
    <p:sldId id="257" r:id="rId3"/>
    <p:sldId id="315" r:id="rId4"/>
    <p:sldId id="258" r:id="rId5"/>
    <p:sldId id="373" r:id="rId6"/>
    <p:sldId id="261" r:id="rId7"/>
    <p:sldId id="433" r:id="rId8"/>
    <p:sldId id="259" r:id="rId9"/>
    <p:sldId id="260" r:id="rId10"/>
    <p:sldId id="262" r:id="rId11"/>
    <p:sldId id="303" r:id="rId12"/>
    <p:sldId id="263" r:id="rId13"/>
    <p:sldId id="264" r:id="rId14"/>
    <p:sldId id="266" r:id="rId15"/>
    <p:sldId id="267" r:id="rId16"/>
    <p:sldId id="265" r:id="rId17"/>
    <p:sldId id="268" r:id="rId18"/>
    <p:sldId id="307" r:id="rId19"/>
    <p:sldId id="269" r:id="rId20"/>
    <p:sldId id="309" r:id="rId21"/>
    <p:sldId id="310" r:id="rId22"/>
    <p:sldId id="311" r:id="rId23"/>
    <p:sldId id="312" r:id="rId24"/>
    <p:sldId id="270" r:id="rId25"/>
    <p:sldId id="271" r:id="rId26"/>
    <p:sldId id="374" r:id="rId27"/>
    <p:sldId id="272" r:id="rId28"/>
    <p:sldId id="308" r:id="rId29"/>
    <p:sldId id="316" r:id="rId30"/>
    <p:sldId id="375" r:id="rId31"/>
    <p:sldId id="273" r:id="rId32"/>
    <p:sldId id="274" r:id="rId33"/>
    <p:sldId id="277" r:id="rId34"/>
    <p:sldId id="278" r:id="rId35"/>
    <p:sldId id="317" r:id="rId36"/>
    <p:sldId id="279" r:id="rId37"/>
    <p:sldId id="280" r:id="rId38"/>
    <p:sldId id="319" r:id="rId39"/>
    <p:sldId id="320" r:id="rId40"/>
    <p:sldId id="281" r:id="rId41"/>
    <p:sldId id="282" r:id="rId42"/>
    <p:sldId id="283" r:id="rId43"/>
    <p:sldId id="321" r:id="rId44"/>
    <p:sldId id="284" r:id="rId45"/>
    <p:sldId id="285" r:id="rId46"/>
    <p:sldId id="286" r:id="rId47"/>
    <p:sldId id="287" r:id="rId48"/>
    <p:sldId id="288" r:id="rId49"/>
    <p:sldId id="289" r:id="rId50"/>
    <p:sldId id="290" r:id="rId51"/>
    <p:sldId id="291" r:id="rId52"/>
    <p:sldId id="292" r:id="rId53"/>
    <p:sldId id="293" r:id="rId54"/>
    <p:sldId id="294" r:id="rId55"/>
    <p:sldId id="314" r:id="rId56"/>
    <p:sldId id="313" r:id="rId57"/>
    <p:sldId id="295" r:id="rId58"/>
    <p:sldId id="296" r:id="rId59"/>
    <p:sldId id="297" r:id="rId60"/>
    <p:sldId id="298" r:id="rId61"/>
    <p:sldId id="299" r:id="rId62"/>
    <p:sldId id="300" r:id="rId63"/>
    <p:sldId id="301" r:id="rId64"/>
    <p:sldId id="493" r:id="rId65"/>
    <p:sldId id="302" r:id="rId66"/>
    <p:sldId id="494" r:id="rId67"/>
    <p:sldId id="495" r:id="rId68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u="none" kern="1200" baseline="0">
        <a:solidFill>
          <a:schemeClr val="tx1"/>
        </a:solidFill>
        <a:latin typeface="Times New Roman" panose="02020603050405020304" pitchFamily="2" charset="0"/>
        <a:ea typeface="+mn-ea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u="none" kern="1200" baseline="0">
        <a:solidFill>
          <a:schemeClr val="tx1"/>
        </a:solidFill>
        <a:latin typeface="Times New Roman" panose="02020603050405020304" pitchFamily="2" charset="0"/>
        <a:ea typeface="+mn-ea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u="none" kern="1200" baseline="0">
        <a:solidFill>
          <a:schemeClr val="tx1"/>
        </a:solidFill>
        <a:latin typeface="Times New Roman" panose="02020603050405020304" pitchFamily="2" charset="0"/>
        <a:ea typeface="+mn-ea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u="none" kern="1200" baseline="0">
        <a:solidFill>
          <a:schemeClr val="tx1"/>
        </a:solidFill>
        <a:latin typeface="Times New Roman" panose="02020603050405020304" pitchFamily="2" charset="0"/>
        <a:ea typeface="+mn-ea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u="none" kern="1200" baseline="0">
        <a:solidFill>
          <a:schemeClr val="tx1"/>
        </a:solidFill>
        <a:latin typeface="Times New Roman" panose="02020603050405020304" pitchFamily="2" charset="0"/>
        <a:ea typeface="+mn-ea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u="none" kern="1200" baseline="0">
        <a:solidFill>
          <a:schemeClr val="tx1"/>
        </a:solidFill>
        <a:latin typeface="Times New Roman" panose="02020603050405020304" pitchFamily="2" charset="0"/>
        <a:ea typeface="+mn-ea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u="none" kern="1200" baseline="0">
        <a:solidFill>
          <a:schemeClr val="tx1"/>
        </a:solidFill>
        <a:latin typeface="Times New Roman" panose="02020603050405020304" pitchFamily="2" charset="0"/>
        <a:ea typeface="+mn-ea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u="none" kern="1200" baseline="0">
        <a:solidFill>
          <a:schemeClr val="tx1"/>
        </a:solidFill>
        <a:latin typeface="Times New Roman" panose="02020603050405020304" pitchFamily="2" charset="0"/>
        <a:ea typeface="+mn-ea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u="none" kern="1200" baseline="0">
        <a:solidFill>
          <a:schemeClr val="tx1"/>
        </a:solidFill>
        <a:latin typeface="Times New Roman" panose="02020603050405020304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1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FF0066"/>
    <a:srgbClr val="CCFFFF"/>
    <a:srgbClr val="66FFFF"/>
    <a:srgbClr val="CCFF33"/>
    <a:srgbClr val="EAEAEA"/>
    <a:srgbClr val="FFFF00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3" autoAdjust="0"/>
    <p:restoredTop sz="94660"/>
  </p:normalViewPr>
  <p:slideViewPr>
    <p:cSldViewPr showGuides="1">
      <p:cViewPr varScale="1">
        <p:scale>
          <a:sx n="55" d="100"/>
          <a:sy n="55" d="100"/>
        </p:scale>
        <p:origin x="48" y="734"/>
      </p:cViewPr>
      <p:guideLst>
        <p:guide orient="horz" pos="2160"/>
        <p:guide pos="29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l" eaLnBrk="1" fontAlgn="base" hangingPunct="1"/>
            <a:endParaRPr lang="zh-CN" altLang="en-US" sz="1200" strike="noStrike" noProof="1">
              <a:ea typeface="宋体" panose="02010600030101010101" pitchFamily="2" charset="-122"/>
            </a:endParaRPr>
          </a:p>
        </p:txBody>
      </p:sp>
      <p:sp>
        <p:nvSpPr>
          <p:cNvPr id="2051" name="Rectangle 3"/>
          <p:cNvSpPr>
            <a:spLocks noGrp="1"/>
          </p:cNvSpPr>
          <p:nvPr>
            <p:ph type="dt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fontAlgn="base" hangingPunct="1"/>
            <a:endParaRPr lang="en-US" altLang="x-none" sz="1200" strike="noStrike" noProof="1">
              <a:ea typeface="宋体" panose="02010600030101010101" pitchFamily="2" charset="-122"/>
            </a:endParaRPr>
          </a:p>
        </p:txBody>
      </p:sp>
      <p:sp>
        <p:nvSpPr>
          <p:cNvPr id="2052" name="Rectangle 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053" name="Rectangle 5"/>
          <p:cNvSpPr>
            <a:spLocks noGrp="1"/>
          </p:cNvSpPr>
          <p:nvPr>
            <p:ph type="body" sz="quarter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 indent="0"/>
            <a:r>
              <a:rPr lang="zh-CN" altLang="en-US" dirty="0"/>
              <a:t>单击此处编辑母版文本样式</a:t>
            </a:r>
          </a:p>
          <a:p>
            <a:pPr lvl="1" indent="0"/>
            <a:r>
              <a:rPr lang="zh-CN" altLang="en-US" dirty="0"/>
              <a:t>第二级</a:t>
            </a:r>
          </a:p>
          <a:p>
            <a:pPr lvl="2" indent="0"/>
            <a:r>
              <a:rPr lang="zh-CN" altLang="en-US" dirty="0"/>
              <a:t>第三级</a:t>
            </a:r>
          </a:p>
          <a:p>
            <a:pPr lvl="3" indent="0"/>
            <a:r>
              <a:rPr lang="zh-CN" altLang="en-US" dirty="0"/>
              <a:t>第四级</a:t>
            </a:r>
          </a:p>
          <a:p>
            <a:pPr lvl="4" indent="0"/>
            <a:r>
              <a:rPr lang="zh-CN" altLang="en-US" dirty="0"/>
              <a:t>第五级</a:t>
            </a:r>
          </a:p>
        </p:txBody>
      </p:sp>
      <p:sp>
        <p:nvSpPr>
          <p:cNvPr id="2054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l" eaLnBrk="1" fontAlgn="base" hangingPunct="1"/>
            <a:endParaRPr lang="en-US" altLang="x-none" sz="1200" strike="noStrike" noProof="1">
              <a:ea typeface="宋体" panose="02010600030101010101" pitchFamily="2" charset="-122"/>
            </a:endParaRPr>
          </a:p>
        </p:txBody>
      </p:sp>
      <p:sp>
        <p:nvSpPr>
          <p:cNvPr id="2055" name="Rectangle 7"/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z="1200" strike="noStrike" noProof="1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u="none" kern="1200" baseline="0">
        <a:solidFill>
          <a:schemeClr val="tx1"/>
        </a:solidFill>
        <a:latin typeface="+mn-lt"/>
        <a:ea typeface="+mn-ea"/>
        <a:cs typeface="+mn-cs"/>
      </a:defRPr>
    </a:lvl1pPr>
    <a:lvl2pPr marL="457200" lvl="1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u="none" kern="1200" baseline="0">
        <a:solidFill>
          <a:schemeClr val="tx1"/>
        </a:solidFill>
        <a:latin typeface="+mn-lt"/>
        <a:ea typeface="+mn-ea"/>
        <a:cs typeface="+mn-cs"/>
      </a:defRPr>
    </a:lvl2pPr>
    <a:lvl3pPr marL="914400" lvl="2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u="none" kern="1200" baseline="0">
        <a:solidFill>
          <a:schemeClr val="tx1"/>
        </a:solidFill>
        <a:latin typeface="+mn-lt"/>
        <a:ea typeface="+mn-ea"/>
        <a:cs typeface="+mn-cs"/>
      </a:defRPr>
    </a:lvl3pPr>
    <a:lvl4pPr marL="1371600" lvl="3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u="none" kern="1200" baseline="0">
        <a:solidFill>
          <a:schemeClr val="tx1"/>
        </a:solidFill>
        <a:latin typeface="+mn-lt"/>
        <a:ea typeface="+mn-ea"/>
        <a:cs typeface="+mn-cs"/>
      </a:defRPr>
    </a:lvl4pPr>
    <a:lvl5pPr marL="1828800" lvl="4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u="none" kern="1200" baseline="0">
        <a:solidFill>
          <a:schemeClr val="tx1"/>
        </a:solidFill>
        <a:latin typeface="+mn-lt"/>
        <a:ea typeface="+mn-ea"/>
        <a:cs typeface="+mn-cs"/>
      </a:defRPr>
    </a:lvl5pPr>
    <a:lvl6pPr marL="2286000" lvl="5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u="none" kern="1200" baseline="0">
        <a:solidFill>
          <a:schemeClr val="tx1"/>
        </a:solidFill>
        <a:latin typeface="+mn-lt"/>
        <a:ea typeface="+mn-ea"/>
        <a:cs typeface="+mn-cs"/>
      </a:defRPr>
    </a:lvl6pPr>
    <a:lvl7pPr marL="2743200" lvl="6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u="none" kern="1200" baseline="0">
        <a:solidFill>
          <a:schemeClr val="tx1"/>
        </a:solidFill>
        <a:latin typeface="+mn-lt"/>
        <a:ea typeface="+mn-ea"/>
        <a:cs typeface="+mn-cs"/>
      </a:defRPr>
    </a:lvl7pPr>
    <a:lvl8pPr marL="3200400" lvl="7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u="none" kern="1200" baseline="0">
        <a:solidFill>
          <a:schemeClr val="tx1"/>
        </a:solidFill>
        <a:latin typeface="+mn-lt"/>
        <a:ea typeface="+mn-ea"/>
        <a:cs typeface="+mn-cs"/>
      </a:defRPr>
    </a:lvl8pPr>
    <a:lvl9pPr marL="3657600" lvl="8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u="none" kern="1200" baseline="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fld id="{BB962C8B-B14F-4D97-AF65-F5344CB8AC3E}" type="datetime1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  <a:t>2019/12/31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r>
              <a:rPr lang="zh-CN" altLang="en-US" strike="noStrike" noProof="1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  <a:t>Integrity,Views,Security,and Catalogs</a:t>
            </a:r>
            <a:endParaRPr lang="en-US" altLang="x-none" sz="1200" b="1" i="1" strike="noStrike" noProof="1"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fld id="{BB962C8B-B14F-4D97-AF65-F5344CB8AC3E}" type="datetime1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  <a:t>2019/12/31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r>
              <a:rPr lang="zh-CN" altLang="en-US" strike="noStrike" noProof="1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  <a:t>Integrity,Views,Security,and Catalogs</a:t>
            </a:r>
            <a:endParaRPr lang="en-US" altLang="x-none" sz="1200" b="1" i="1" strike="noStrike" noProof="1"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fld id="{BB962C8B-B14F-4D97-AF65-F5344CB8AC3E}" type="datetime1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  <a:t>2019/12/31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r>
              <a:rPr lang="zh-CN" altLang="en-US" strike="noStrike" noProof="1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  <a:t>Integrity,Views,Security,and Catalogs</a:t>
            </a:r>
            <a:endParaRPr lang="en-US" altLang="x-none" sz="1200" b="1" i="1" strike="noStrike" noProof="1"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2504" cy="5257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990600"/>
            <a:ext cx="4032504" cy="5257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fld id="{BB962C8B-B14F-4D97-AF65-F5344CB8AC3E}" type="datetime1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  <a:t>2019/12/31</a:t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r>
              <a:rPr lang="zh-CN" altLang="en-US" strike="noStrike" noProof="1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  <a:t>Integrity,Views,Security,and Catalogs</a:t>
            </a:r>
            <a:endParaRPr lang="en-US" altLang="x-none" sz="1200" b="1" i="1" strike="noStrike" noProof="1"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fld id="{BB962C8B-B14F-4D97-AF65-F5344CB8AC3E}" type="datetime1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  <a:t>2019/12/31</a:t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r>
              <a:rPr lang="zh-CN" altLang="en-US" strike="noStrike" noProof="1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  <a:t>Integrity,Views,Security,and Catalogs</a:t>
            </a:r>
            <a:endParaRPr lang="en-US" altLang="x-none" sz="1200" b="1" i="1" strike="noStrike" noProof="1">
              <a:ea typeface="宋体" panose="02010600030101010101" pitchFamily="2" charset="-122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fld id="{BB962C8B-B14F-4D97-AF65-F5344CB8AC3E}" type="datetime1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  <a:t>2019/12/31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r>
              <a:rPr lang="zh-CN" altLang="en-US" strike="noStrike" noProof="1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  <a:t>Integrity,Views,Security,and Catalogs</a:t>
            </a:r>
            <a:endParaRPr lang="en-US" altLang="x-none" sz="1200" b="1" i="1" strike="noStrike" noProof="1">
              <a:ea typeface="宋体" panose="02010600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fld id="{BB962C8B-B14F-4D97-AF65-F5344CB8AC3E}" type="datetime1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  <a:t>2019/12/31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r>
              <a:rPr lang="zh-CN" altLang="en-US" strike="noStrike" noProof="1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  <a:t>Integrity,Views,Security,and Catalogs</a:t>
            </a:r>
            <a:endParaRPr lang="en-US" altLang="x-none" sz="1200" b="1" i="1" strike="noStrike" noProof="1"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fld id="{BB962C8B-B14F-4D97-AF65-F5344CB8AC3E}" type="datetime1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  <a:t>2019/12/31</a:t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r>
              <a:rPr lang="zh-CN" altLang="en-US" strike="noStrike" noProof="1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  <a:t>Integrity,Views,Security,and Catalogs</a:t>
            </a:r>
            <a:endParaRPr lang="en-US" altLang="x-none" sz="1200" b="1" i="1" strike="noStrike" noProof="1"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fld id="{BB962C8B-B14F-4D97-AF65-F5344CB8AC3E}" type="datetime1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  <a:t>2019/12/31</a:t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r>
              <a:rPr lang="zh-CN" altLang="en-US" strike="noStrike" noProof="1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  <a:t>Integrity,Views,Security,and Catalogs</a:t>
            </a:r>
            <a:endParaRPr lang="en-US" altLang="x-none" sz="1200" b="1" i="1" strike="noStrike" noProof="1"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fld id="{BB962C8B-B14F-4D97-AF65-F5344CB8AC3E}" type="datetime1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  <a:t>2019/12/31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r>
              <a:rPr lang="zh-CN" altLang="en-US" strike="noStrike" noProof="1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  <a:t>Integrity,Views,Security,and Catalogs</a:t>
            </a:r>
            <a:endParaRPr lang="en-US" altLang="x-none" sz="1200" b="1" i="1" strike="noStrike" noProof="1"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2484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25478" cy="62484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fld id="{BB962C8B-B14F-4D97-AF65-F5344CB8AC3E}" type="datetime1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  <a:t>2019/12/31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r>
              <a:rPr lang="zh-CN" altLang="en-US" strike="noStrike" noProof="1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  <a:t>Integrity,Views,Security,and Catalogs</a:t>
            </a:r>
            <a:endParaRPr lang="en-US" altLang="x-none" sz="1200" b="1" i="1" strike="noStrike" noProof="1"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DDDDDD">
              <a:alpha val="50000"/>
            </a:srgbClr>
          </a:solidFill>
          <a:ln w="9525">
            <a:noFill/>
          </a:ln>
        </p:spPr>
        <p:txBody>
          <a:bodyPr anchor="ctr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457200" y="990600"/>
            <a:ext cx="8229600" cy="52578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dt" sz="half" idx="2"/>
          </p:nvPr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l">
              <a:defRPr sz="1200" b="1" i="1">
                <a:ea typeface="宋体" panose="02010600030101010101" pitchFamily="2" charset="-122"/>
              </a:defRPr>
            </a:lvl1pPr>
          </a:lstStyle>
          <a:p>
            <a:pPr lvl="0" eaLnBrk="1" fontAlgn="base" hangingPunct="1"/>
            <a:fld id="{BB962C8B-B14F-4D97-AF65-F5344CB8AC3E}" type="datetime1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  <a:t>2019/12/31</a:t>
            </a:fld>
            <a:endParaRPr lang="zh-CN" altLang="en-US" strike="noStrike" noProof="1"/>
          </a:p>
        </p:txBody>
      </p:sp>
      <p:sp>
        <p:nvSpPr>
          <p:cNvPr id="1029" name="Rectangle 5"/>
          <p:cNvSpPr>
            <a:spLocks noGrp="1"/>
          </p:cNvSpPr>
          <p:nvPr>
            <p:ph type="ftr" sz="quarter" idx="3"/>
          </p:nvPr>
        </p:nvSpPr>
        <p:spPr>
          <a:xfrm>
            <a:off x="2590800" y="6553200"/>
            <a:ext cx="3962400" cy="2286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200" b="1" i="1">
                <a:ea typeface="宋体" panose="02010600030101010101" pitchFamily="2" charset="-122"/>
              </a:defRPr>
            </a:lvl1pPr>
          </a:lstStyle>
          <a:p>
            <a:pPr lvl="0" eaLnBrk="1" fontAlgn="base" hangingPunct="1"/>
            <a:r>
              <a:rPr lang="zh-CN" altLang="en-US" strike="noStrike" noProof="1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  <a:t>Integrity,Views,Security,and Catalogs</a:t>
            </a:r>
            <a:endParaRPr lang="en-US" altLang="x-none" sz="1200" b="1" i="1" strike="noStrike" noProof="1">
              <a:ea typeface="宋体" panose="02010600030101010101" pitchFamily="2" charset="-122"/>
            </a:endParaRPr>
          </a:p>
        </p:txBody>
      </p:sp>
      <p:sp>
        <p:nvSpPr>
          <p:cNvPr id="1030" name="Rectangle 6"/>
          <p:cNvSpPr>
            <a:spLocks noGrp="1"/>
          </p:cNvSpPr>
          <p:nvPr>
            <p:ph type="sldNum" sz="quarter" idx="4"/>
          </p:nvPr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200" b="1" i="1">
                <a:ea typeface="宋体" panose="02010600030101010101" pitchFamily="2" charset="-122"/>
              </a:defRPr>
            </a:lvl1pPr>
          </a:lstStyle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3200" b="1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q"/>
        <a:defRPr sz="2400" b="1" u="none" kern="1200" baseline="0">
          <a:solidFill>
            <a:srgbClr val="FF0000"/>
          </a:solidFill>
          <a:latin typeface="+mn-lt"/>
          <a:ea typeface="+mn-ea"/>
          <a:cs typeface="+mn-cs"/>
        </a:defRPr>
      </a:lvl1pPr>
      <a:lvl2pPr marL="742950" lvl="1" indent="-28575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–"/>
        <a:defRPr sz="2400" b="1" u="none" kern="1200" baseline="0">
          <a:solidFill>
            <a:schemeClr val="accent2"/>
          </a:solidFill>
          <a:latin typeface="+mn-lt"/>
          <a:ea typeface="+mn-ea"/>
          <a:cs typeface="+mn-cs"/>
        </a:defRPr>
      </a:lvl2pPr>
      <a:lvl3pPr marL="1143000" lvl="2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§"/>
        <a:defRPr sz="2400" b="1" u="none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1600200" lvl="3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Ø"/>
        <a:defRPr sz="2400" b="1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»"/>
        <a:defRPr sz="2400" b="1" u="none" kern="1200" baseline="0">
          <a:solidFill>
            <a:schemeClr val="accent2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»"/>
        <a:defRPr sz="2400" b="1" u="none" kern="1200" baseline="0">
          <a:solidFill>
            <a:schemeClr val="accent2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»"/>
        <a:defRPr sz="2400" b="1" u="none" kern="1200" baseline="0">
          <a:solidFill>
            <a:schemeClr val="accent2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»"/>
        <a:defRPr sz="2400" b="1" u="none" kern="1200" baseline="0">
          <a:solidFill>
            <a:schemeClr val="accent2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»"/>
        <a:defRPr sz="2400" b="1" u="none" kern="1200" baseline="0">
          <a:solidFill>
            <a:schemeClr val="accent2"/>
          </a:solidFill>
          <a:latin typeface="+mn-lt"/>
          <a:ea typeface="+mn-ea"/>
          <a:cs typeface="+mn-cs"/>
        </a:defRPr>
      </a:lvl9pPr>
    </p:bodyStyle>
    <p:otherStyle>
      <a:lvl1pPr marL="0" lvl="0" indent="0" algn="ctr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2"/>
          <p:cNvSpPr>
            <a:spLocks noGrp="1"/>
          </p:cNvSpPr>
          <p:nvPr>
            <p:ph type="ctrTitle" idx="4294967295"/>
          </p:nvPr>
        </p:nvSpPr>
        <p:spPr>
          <a:xfrm>
            <a:off x="381000" y="762000"/>
            <a:ext cx="8382000" cy="4114800"/>
          </a:xfrm>
          <a:ln/>
        </p:spPr>
        <p:txBody>
          <a:bodyPr wrap="square" anchor="ctr"/>
          <a:lstStyle>
            <a:lvl1pPr lvl="0">
              <a:buClrTx/>
              <a:buSzTx/>
              <a:buFontTx/>
              <a:defRPr/>
            </a:lvl1pPr>
          </a:lstStyle>
          <a:p>
            <a:pPr lvl="0" indent="0" eaLnBrk="1" hangingPunct="1">
              <a:lnSpc>
                <a:spcPct val="150000"/>
              </a:lnSpc>
            </a:pPr>
            <a:r>
              <a:rPr lang="en-US" altLang="zh-CN" sz="40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Chapter 7</a:t>
            </a:r>
            <a:br>
              <a:rPr lang="en-US" altLang="zh-CN" sz="40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40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4000" dirty="0">
                <a:solidFill>
                  <a:srgbClr val="FF0066"/>
                </a:solidFill>
                <a:ea typeface="宋体" panose="02010600030101010101" pitchFamily="2" charset="-122"/>
              </a:rPr>
              <a:t>Integrity, Views, Security, and Catalogs</a:t>
            </a:r>
            <a:endParaRPr lang="en-US" altLang="zh-CN" sz="4000" dirty="0">
              <a:solidFill>
                <a:schemeClr val="accent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日期占位符 3"/>
          <p:cNvSpPr txBox="1">
            <a:spLocks noGrp="1"/>
          </p:cNvSpPr>
          <p:nvPr/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BB962C8B-B14F-4D97-AF65-F5344CB8AC3E}" type="datetime1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098" name="页脚占位符 4"/>
          <p:cNvSpPr txBox="1">
            <a:spLocks noGrp="1"/>
          </p:cNvSpPr>
          <p:nvPr/>
        </p:nvSpPr>
        <p:spPr>
          <a:xfrm>
            <a:off x="2590800" y="6553200"/>
            <a:ext cx="39624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Integrity,Views,Security,and Catalogs</a:t>
            </a:r>
            <a:endParaRPr lang="en-US" altLang="zh-CN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099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100" name="Rectangle 2"/>
          <p:cNvSpPr>
            <a:spLocks noGrp="1"/>
          </p:cNvSpPr>
          <p:nvPr>
            <p:ph type="title" idx="4294967295"/>
          </p:nvPr>
        </p:nvSpPr>
        <p:spPr>
          <a:ln/>
        </p:spPr>
        <p:txBody>
          <a:bodyPr wrap="square" anchor="ctr"/>
          <a:lstStyle/>
          <a:p>
            <a:pPr eaLnBrk="1" hangingPunct="1"/>
            <a:endParaRPr lang="en-US" altLang="en-US">
              <a:ea typeface="宋体" panose="02010600030101010101" pitchFamily="2" charset="-122"/>
            </a:endParaRPr>
          </a:p>
        </p:txBody>
      </p:sp>
      <p:sp>
        <p:nvSpPr>
          <p:cNvPr id="4101" name="Rectangle 3"/>
          <p:cNvSpPr>
            <a:spLocks noGrp="1"/>
          </p:cNvSpPr>
          <p:nvPr>
            <p:ph type="body" idx="4294967295"/>
          </p:nvPr>
        </p:nvSpPr>
        <p:spPr>
          <a:ln/>
        </p:spPr>
        <p:txBody>
          <a:bodyPr wrap="square" anchor="t"/>
          <a:lstStyle/>
          <a:p>
            <a:pPr eaLnBrk="1" hangingPunct="1">
              <a:spcBef>
                <a:spcPts val="600"/>
              </a:spcBef>
            </a:pPr>
            <a:r>
              <a:rPr lang="en-US" altLang="zh-CN" sz="3200" dirty="0">
                <a:solidFill>
                  <a:schemeClr val="tx1"/>
                </a:solidFill>
                <a:ea typeface="宋体" panose="02010600030101010101" pitchFamily="2" charset="-122"/>
              </a:rPr>
              <a:t>from</a:t>
            </a:r>
            <a:r>
              <a:rPr lang="en-US" altLang="zh-CN" sz="3200" dirty="0">
                <a:ea typeface="宋体" panose="02010600030101010101" pitchFamily="2" charset="-122"/>
              </a:rPr>
              <a:t> Database Design </a:t>
            </a:r>
            <a:r>
              <a:rPr lang="en-US" altLang="zh-CN" sz="3200" dirty="0">
                <a:solidFill>
                  <a:schemeClr val="tx1"/>
                </a:solidFill>
                <a:ea typeface="宋体" panose="02010600030101010101" pitchFamily="2" charset="-122"/>
              </a:rPr>
              <a:t>to</a:t>
            </a:r>
            <a:r>
              <a:rPr lang="en-US" altLang="zh-CN" sz="3200" dirty="0">
                <a:ea typeface="宋体" panose="02010600030101010101" pitchFamily="2" charset="-122"/>
              </a:rPr>
              <a:t> Physical Form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CN" sz="3200" dirty="0">
                <a:ea typeface="宋体" panose="02010600030101010101" pitchFamily="2" charset="-122"/>
              </a:rPr>
              <a:t>CREATE TABLE</a:t>
            </a:r>
          </a:p>
          <a:p>
            <a:pPr lvl="2" eaLnBrk="1" hangingPunct="1">
              <a:spcBef>
                <a:spcPts val="600"/>
              </a:spcBef>
            </a:pPr>
            <a:r>
              <a:rPr lang="en-US" altLang="zh-CN" sz="3200" dirty="0">
                <a:solidFill>
                  <a:schemeClr val="tx1"/>
                </a:solidFill>
                <a:ea typeface="宋体" panose="02010600030101010101" pitchFamily="2" charset="-122"/>
              </a:rPr>
              <a:t>integrity constraints (</a:t>
            </a:r>
            <a:r>
              <a:rPr lang="zh-CN" altLang="en-US" sz="3200" dirty="0">
                <a:solidFill>
                  <a:schemeClr val="tx1"/>
                </a:solidFill>
                <a:ea typeface="宋体" panose="02010600030101010101" pitchFamily="2" charset="-122"/>
              </a:rPr>
              <a:t>完整性约束)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CN" sz="3200" dirty="0">
                <a:ea typeface="宋体" panose="02010600030101010101" pitchFamily="2" charset="-122"/>
              </a:rPr>
              <a:t>CREATE VIEW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CN" sz="3200" dirty="0">
                <a:ea typeface="宋体" panose="02010600030101010101" pitchFamily="2" charset="-122"/>
              </a:rPr>
              <a:t>Security</a:t>
            </a:r>
          </a:p>
          <a:p>
            <a:pPr lvl="2" eaLnBrk="1" hangingPunct="1">
              <a:spcBef>
                <a:spcPts val="600"/>
              </a:spcBef>
            </a:pPr>
            <a:r>
              <a:rPr lang="en-US" altLang="zh-CN" sz="3200" dirty="0">
                <a:solidFill>
                  <a:schemeClr val="tx1"/>
                </a:solidFill>
                <a:ea typeface="宋体" panose="02010600030101010101" pitchFamily="2" charset="-122"/>
              </a:rPr>
              <a:t>The GRANT &amp; REVOKE statements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CN" sz="3200" dirty="0">
                <a:ea typeface="宋体" panose="02010600030101010101" pitchFamily="2" charset="-122"/>
              </a:rPr>
              <a:t>Catalogs</a:t>
            </a:r>
          </a:p>
          <a:p>
            <a:pPr lvl="2" eaLnBrk="1" hangingPunct="1">
              <a:spcBef>
                <a:spcPts val="600"/>
              </a:spcBef>
            </a:pPr>
            <a:r>
              <a:rPr lang="en-US" altLang="zh-CN" sz="3200" dirty="0">
                <a:solidFill>
                  <a:schemeClr val="tx1"/>
                </a:solidFill>
                <a:ea typeface="宋体" panose="02010600030101010101" pitchFamily="2" charset="-122"/>
              </a:rPr>
              <a:t>Schemas</a:t>
            </a:r>
          </a:p>
        </p:txBody>
      </p:sp>
      <p:sp>
        <p:nvSpPr>
          <p:cNvPr id="4102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/>
          <p:cNvSpPr>
            <a:spLocks noGrp="1"/>
          </p:cNvSpPr>
          <p:nvPr>
            <p:ph type="title" idx="4294967295"/>
          </p:nvPr>
        </p:nvSpPr>
        <p:spPr>
          <a:ln/>
        </p:spPr>
        <p:txBody>
          <a:bodyPr wrap="square" anchor="ctr"/>
          <a:lstStyle/>
          <a:p>
            <a:r>
              <a:rPr lang="zh-CN" altLang="en-US" dirty="0">
                <a:ea typeface="宋体" panose="02010600030101010101" pitchFamily="2" charset="-122"/>
              </a:rPr>
              <a:t>7.1 </a:t>
            </a:r>
            <a:r>
              <a:rPr lang="en-US" altLang="zh-CN" dirty="0">
                <a:ea typeface="宋体" panose="02010600030101010101" pitchFamily="2" charset="-122"/>
              </a:rPr>
              <a:t>Integrity Constraints</a:t>
            </a:r>
            <a:endParaRPr lang="zh-CN" altLang="en-US" dirty="0"/>
          </a:p>
        </p:txBody>
      </p:sp>
      <p:sp>
        <p:nvSpPr>
          <p:cNvPr id="5122" name="内容占位符 2"/>
          <p:cNvSpPr>
            <a:spLocks noGrp="1"/>
          </p:cNvSpPr>
          <p:nvPr>
            <p:ph idx="4294967295"/>
          </p:nvPr>
        </p:nvSpPr>
        <p:spPr>
          <a:ln/>
        </p:spPr>
        <p:txBody>
          <a:bodyPr wrap="square" anchor="t"/>
          <a:lstStyle/>
          <a:p>
            <a:r>
              <a:rPr lang="en-US" altLang="zh-CN" sz="3200" dirty="0"/>
              <a:t>CREATE  TABLE</a:t>
            </a:r>
          </a:p>
          <a:p>
            <a:pPr lvl="1"/>
            <a:r>
              <a:rPr lang="en-US" altLang="zh-CN" sz="3200" dirty="0"/>
              <a:t>Create Table Statement</a:t>
            </a:r>
          </a:p>
          <a:p>
            <a:pPr lvl="1"/>
            <a:r>
              <a:rPr lang="en-US" altLang="zh-CN" sz="3200" dirty="0"/>
              <a:t>Integrity</a:t>
            </a:r>
          </a:p>
          <a:p>
            <a:pPr lvl="2"/>
            <a:r>
              <a:rPr lang="en-US" altLang="zh-CN" sz="3200" dirty="0">
                <a:solidFill>
                  <a:schemeClr val="tx1"/>
                </a:solidFill>
              </a:rPr>
              <a:t>Column Constraints</a:t>
            </a:r>
          </a:p>
          <a:p>
            <a:pPr lvl="2"/>
            <a:r>
              <a:rPr lang="en-US" altLang="zh-CN" sz="3200" dirty="0">
                <a:solidFill>
                  <a:schemeClr val="tx1"/>
                </a:solidFill>
              </a:rPr>
              <a:t>Table Constraints</a:t>
            </a:r>
          </a:p>
          <a:p>
            <a:pPr lvl="1"/>
            <a:r>
              <a:rPr lang="en-US" altLang="zh-CN" sz="3200" dirty="0"/>
              <a:t>Referential Integrity</a:t>
            </a:r>
            <a:r>
              <a:rPr lang="en-US" altLang="zh-CN" sz="3200" dirty="0">
                <a:solidFill>
                  <a:schemeClr val="tx1"/>
                </a:solidFill>
              </a:rPr>
              <a:t>: Foreign Key</a:t>
            </a:r>
          </a:p>
          <a:p>
            <a:pPr lvl="1"/>
            <a:r>
              <a:rPr lang="en-US" altLang="zh-CN" sz="3200" dirty="0"/>
              <a:t>Trigger</a:t>
            </a:r>
          </a:p>
          <a:p>
            <a:r>
              <a:rPr lang="en-US" altLang="zh-CN" sz="3200" dirty="0"/>
              <a:t>ALTER  TABLE</a:t>
            </a:r>
          </a:p>
          <a:p>
            <a:r>
              <a:rPr lang="en-US" altLang="zh-CN" sz="3200" dirty="0"/>
              <a:t>DROP  TABLE</a:t>
            </a:r>
            <a:endParaRPr lang="zh-CN" altLang="en-US" sz="3200" dirty="0"/>
          </a:p>
        </p:txBody>
      </p:sp>
      <p:sp>
        <p:nvSpPr>
          <p:cNvPr id="5123" name="日期占位符 3"/>
          <p:cNvSpPr txBox="1">
            <a:spLocks noGrp="1"/>
          </p:cNvSpPr>
          <p:nvPr/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BB962C8B-B14F-4D97-AF65-F5344CB8AC3E}" type="datetime1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5124" name="页脚占位符 4"/>
          <p:cNvSpPr txBox="1">
            <a:spLocks noGrp="1"/>
          </p:cNvSpPr>
          <p:nvPr/>
        </p:nvSpPr>
        <p:spPr>
          <a:xfrm>
            <a:off x="2590800" y="6553200"/>
            <a:ext cx="39624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Integrity,Views,Security,and Catalogs</a:t>
            </a:r>
            <a:endParaRPr lang="en-US" altLang="zh-CN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5125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3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5126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日期占位符 3"/>
          <p:cNvSpPr txBox="1">
            <a:spLocks noGrp="1"/>
          </p:cNvSpPr>
          <p:nvPr/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BB962C8B-B14F-4D97-AF65-F5344CB8AC3E}" type="datetime1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6146" name="页脚占位符 4"/>
          <p:cNvSpPr txBox="1">
            <a:spLocks noGrp="1"/>
          </p:cNvSpPr>
          <p:nvPr/>
        </p:nvSpPr>
        <p:spPr>
          <a:xfrm>
            <a:off x="2590800" y="6553200"/>
            <a:ext cx="39624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Integrity,Views,Security,and Catalogs</a:t>
            </a:r>
            <a:endParaRPr lang="en-US" altLang="zh-CN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6147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4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6148" name="Rectangle 3"/>
          <p:cNvSpPr>
            <a:spLocks noGrp="1"/>
          </p:cNvSpPr>
          <p:nvPr>
            <p:ph type="body" idx="4294967295"/>
          </p:nvPr>
        </p:nvSpPr>
        <p:spPr>
          <a:xfrm>
            <a:off x="457200" y="44450"/>
            <a:ext cx="8229600" cy="539750"/>
          </a:xfrm>
          <a:ln/>
        </p:spPr>
        <p:txBody>
          <a:bodyPr wrap="square" anchor="t"/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Example: CREATE TABLE statement</a:t>
            </a:r>
          </a:p>
        </p:txBody>
      </p:sp>
      <p:sp>
        <p:nvSpPr>
          <p:cNvPr id="6149" name="Text Box 4"/>
          <p:cNvSpPr txBox="1"/>
          <p:nvPr/>
        </p:nvSpPr>
        <p:spPr>
          <a:xfrm>
            <a:off x="1331913" y="549275"/>
            <a:ext cx="6840537" cy="267652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>
            <a:spAutoFit/>
          </a:bodyPr>
          <a:lstStyle/>
          <a:p>
            <a:pPr lvl="1" indent="0" algn="l" eaLnBrk="1" hangingPunct="1"/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CREATE  TABLE  customers (</a:t>
            </a:r>
          </a:p>
          <a:p>
            <a:pPr lvl="3" indent="0" algn="l" eaLnBrk="1" hangingPunct="1"/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cid  char(4)  not  null,</a:t>
            </a:r>
          </a:p>
          <a:p>
            <a:pPr lvl="3" indent="0" algn="l" eaLnBrk="1" hangingPunct="1"/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cname  varchar(13),</a:t>
            </a:r>
          </a:p>
          <a:p>
            <a:pPr lvl="3" indent="0" algn="l" eaLnBrk="1" hangingPunct="1"/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city  varchar(20),</a:t>
            </a:r>
          </a:p>
          <a:p>
            <a:pPr lvl="3" indent="0" algn="l" eaLnBrk="1" hangingPunct="1"/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discnt  real,</a:t>
            </a:r>
          </a:p>
          <a:p>
            <a:pPr lvl="3" indent="0" algn="l" eaLnBrk="1" hangingPunct="1"/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primary  key(cid) );</a:t>
            </a:r>
          </a:p>
        </p:txBody>
      </p:sp>
      <p:sp>
        <p:nvSpPr>
          <p:cNvPr id="6151" name="Rectangle 5"/>
          <p:cNvSpPr/>
          <p:nvPr/>
        </p:nvSpPr>
        <p:spPr>
          <a:xfrm>
            <a:off x="457200" y="3260725"/>
            <a:ext cx="8229600" cy="359727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Integrity Constraints</a:t>
            </a:r>
          </a:p>
          <a:p>
            <a:pPr marL="1143000" lvl="2" indent="-228600" algn="l" eaLnBrk="1" hangingPunct="1">
              <a:buClr>
                <a:schemeClr val="accent1"/>
              </a:buClr>
              <a:buFont typeface="Arial" panose="020B0604020202020204" pitchFamily="34" charset="0"/>
              <a:buChar char="–"/>
            </a:pP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cid</a:t>
            </a:r>
          </a:p>
          <a:p>
            <a:pPr marL="1600200" lvl="3" indent="-228600" algn="l" eaLnBrk="1" hangingPunct="1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primary key attribute</a:t>
            </a:r>
          </a:p>
          <a:p>
            <a:pPr marL="1600200" lvl="3" indent="-228600" algn="l" eaLnBrk="1" hangingPunct="1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min-card is 1</a:t>
            </a:r>
          </a:p>
          <a:p>
            <a:pPr marL="1143000" lvl="2" indent="-228600" algn="l" eaLnBrk="1" hangingPunct="1">
              <a:buClr>
                <a:schemeClr val="accent1"/>
              </a:buClr>
              <a:buFont typeface="Arial" panose="020B0604020202020204" pitchFamily="34" charset="0"/>
              <a:buChar char="–"/>
            </a:pP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cname, city, discnt</a:t>
            </a:r>
          </a:p>
          <a:p>
            <a:pPr marL="1600200" lvl="3" indent="-228600" algn="l" eaLnBrk="1" hangingPunct="1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min-card is 0, so can enter a tuple with no value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50"/>
                                        <p:tgtEl>
                                          <p:spTgt spid="61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250"/>
                                        <p:tgtEl>
                                          <p:spTgt spid="61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250"/>
                                        <p:tgtEl>
                                          <p:spTgt spid="61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>
                                            <p:txEl>
                                              <p:charRg st="62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250"/>
                                        <p:tgtEl>
                                          <p:spTgt spid="6151">
                                            <p:txEl>
                                              <p:charRg st="62" end="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>
                                            <p:txEl>
                                              <p:charRg st="69" end="1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250"/>
                                        <p:tgtEl>
                                          <p:spTgt spid="6151">
                                            <p:txEl>
                                              <p:charRg st="69" end="1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3"/>
          <p:cNvSpPr>
            <a:spLocks noGrp="1"/>
          </p:cNvSpPr>
          <p:nvPr/>
        </p:nvSpPr>
        <p:spPr>
          <a:xfrm>
            <a:off x="457200" y="117475"/>
            <a:ext cx="8229600" cy="504825"/>
          </a:xfrm>
          <a:prstGeom prst="rect">
            <a:avLst/>
          </a:prstGeom>
          <a:noFill/>
          <a:ln w="9525">
            <a:noFill/>
          </a:ln>
        </p:spPr>
        <p:txBody>
          <a:bodyPr wrap="square" anchor="t"/>
          <a:lstStyle/>
          <a:p>
            <a:pPr marL="342900" indent="-3429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</a:pP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Figure 7.1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: Basic SQL Syntax for </a:t>
            </a:r>
            <a:r>
              <a:rPr lang="zh-CN" altLang="en-US" sz="2800" b="1" dirty="0">
                <a:solidFill>
                  <a:srgbClr val="FF0066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Create Table</a:t>
            </a:r>
            <a:endParaRPr lang="en-US" altLang="zh-CN" sz="28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70" name="Rectangle 3"/>
          <p:cNvSpPr>
            <a:spLocks noGrp="1"/>
          </p:cNvSpPr>
          <p:nvPr/>
        </p:nvSpPr>
        <p:spPr>
          <a:xfrm>
            <a:off x="512763" y="819150"/>
            <a:ext cx="8229600" cy="1100138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800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90170" tIns="46990" rIns="90170" bIns="46990" anchor="t">
            <a:spAutoFit/>
          </a:bodyPr>
          <a:lstStyle/>
          <a:p>
            <a:pPr marL="742950" lvl="1" indent="-285750" algn="l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3000" b="1" u="none" baseline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CREATE TABLE [schema.]table</a:t>
            </a:r>
          </a:p>
          <a:p>
            <a:pPr marL="742950" lvl="1" indent="-285750" algn="l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3000" b="1" u="none" baseline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(relational_properties);</a:t>
            </a:r>
          </a:p>
        </p:txBody>
      </p:sp>
      <p:sp>
        <p:nvSpPr>
          <p:cNvPr id="7172" name="Rectangle 3"/>
          <p:cNvSpPr>
            <a:spLocks noGrp="1"/>
          </p:cNvSpPr>
          <p:nvPr/>
        </p:nvSpPr>
        <p:spPr>
          <a:xfrm>
            <a:off x="539750" y="2924175"/>
            <a:ext cx="8229600" cy="256222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800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90170" tIns="46990" rIns="90170" bIns="46990" anchor="t">
            <a:spAutoFit/>
          </a:bodyPr>
          <a:lstStyle/>
          <a:p>
            <a:pPr marL="342900" indent="-3429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</a:pPr>
            <a:r>
              <a:rPr lang="en-US" altLang="zh-CN" sz="3000" b="1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{ column datatype [DEFAULT expr] </a:t>
            </a:r>
          </a:p>
          <a:p>
            <a:pPr marL="742950" lvl="1" indent="-285750" algn="l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3000" b="1" u="none" baseline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[ col_constraint { , col_constraint } ]  }</a:t>
            </a:r>
          </a:p>
          <a:p>
            <a:pPr marL="742950" lvl="1" indent="-285750" algn="l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endParaRPr lang="en-US" altLang="zh-CN" sz="1000" b="1" u="none" baseline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</a:pPr>
            <a:r>
              <a:rPr lang="en-US" altLang="zh-CN" sz="3000" b="1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|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</a:pPr>
            <a:endParaRPr lang="en-US" altLang="zh-CN" sz="1000" b="1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</a:pPr>
            <a:r>
              <a:rPr lang="en-US" altLang="zh-CN" sz="3000" b="1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table_constraint { , table_constraint } ] </a:t>
            </a:r>
          </a:p>
        </p:txBody>
      </p:sp>
      <p:sp>
        <p:nvSpPr>
          <p:cNvPr id="7173" name="文本框 7172"/>
          <p:cNvSpPr txBox="1"/>
          <p:nvPr/>
        </p:nvSpPr>
        <p:spPr>
          <a:xfrm>
            <a:off x="493713" y="2314575"/>
            <a:ext cx="4079875" cy="57943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3200" u="sng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relational_properties: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7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7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 build="p" animBg="1"/>
      <p:bldP spid="717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日期占位符 3"/>
          <p:cNvSpPr txBox="1">
            <a:spLocks noGrp="1"/>
          </p:cNvSpPr>
          <p:nvPr/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BB962C8B-B14F-4D97-AF65-F5344CB8AC3E}" type="datetime1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8194" name="页脚占位符 4"/>
          <p:cNvSpPr txBox="1">
            <a:spLocks noGrp="1"/>
          </p:cNvSpPr>
          <p:nvPr/>
        </p:nvSpPr>
        <p:spPr>
          <a:xfrm>
            <a:off x="2590800" y="6553200"/>
            <a:ext cx="39624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Integrity,Views,Security,and Catalogs</a:t>
            </a:r>
            <a:endParaRPr lang="en-US" altLang="zh-CN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8195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6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8196" name="Rectangle 3"/>
          <p:cNvSpPr>
            <a:spLocks noGrp="1"/>
          </p:cNvSpPr>
          <p:nvPr>
            <p:ph type="body" idx="4294967295"/>
          </p:nvPr>
        </p:nvSpPr>
        <p:spPr>
          <a:xfrm>
            <a:off x="0" y="263525"/>
            <a:ext cx="9144000" cy="4610100"/>
          </a:xfrm>
          <a:solidFill>
            <a:schemeClr val="bg1"/>
          </a:solidFill>
          <a:ln/>
        </p:spPr>
        <p:txBody>
          <a:bodyPr wrap="square" lIns="90170" tIns="46990" rIns="90170" bIns="46990" anchor="t"/>
          <a:lstStyle/>
          <a:p>
            <a:pPr eaLnBrk="1" hangingPunct="1">
              <a:lnSpc>
                <a:spcPct val="110000"/>
              </a:lnSpc>
              <a:spcBef>
                <a:spcPts val="60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Def.7.1.1  Clauses of the Create Table Command (Figure 7.1)</a:t>
            </a:r>
          </a:p>
          <a:p>
            <a:pPr lvl="2" eaLnBrk="1" hangingPunct="1">
              <a:lnSpc>
                <a:spcPct val="110000"/>
              </a:lnSpc>
              <a:spcBef>
                <a:spcPts val="600"/>
              </a:spcBef>
            </a:pPr>
            <a:r>
              <a:rPr lang="en-US" altLang="zh-CN" sz="3000" dirty="0">
                <a:solidFill>
                  <a:schemeClr val="accent2"/>
                </a:solidFill>
                <a:ea typeface="宋体" panose="02010600030101010101" pitchFamily="2" charset="-122"/>
              </a:rPr>
              <a:t>schema name  &amp;  table name</a:t>
            </a:r>
            <a:endParaRPr lang="en-US" altLang="zh-CN" sz="3000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110000"/>
              </a:lnSpc>
              <a:spcBef>
                <a:spcPts val="600"/>
              </a:spcBef>
            </a:pPr>
            <a:r>
              <a:rPr lang="en-US" altLang="zh-CN" sz="3000" dirty="0">
                <a:solidFill>
                  <a:schemeClr val="accent2"/>
                </a:solidFill>
                <a:ea typeface="宋体" panose="02010600030101010101" pitchFamily="2" charset="-122"/>
              </a:rPr>
              <a:t>column defintion</a:t>
            </a:r>
          </a:p>
          <a:p>
            <a:pPr lvl="2" eaLnBrk="1" hangingPunct="1">
              <a:lnSpc>
                <a:spcPct val="110000"/>
              </a:lnSpc>
              <a:spcBef>
                <a:spcPts val="600"/>
              </a:spcBef>
            </a:pPr>
            <a:r>
              <a:rPr lang="en-US" altLang="zh-CN" sz="3000" dirty="0">
                <a:solidFill>
                  <a:schemeClr val="accent2"/>
                </a:solidFill>
                <a:ea typeface="宋体" panose="02010600030101010101" pitchFamily="2" charset="-122"/>
              </a:rPr>
              <a:t>table constraints</a:t>
            </a:r>
          </a:p>
        </p:txBody>
      </p:sp>
      <p:sp>
        <p:nvSpPr>
          <p:cNvPr id="8197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  <p:sp>
        <p:nvSpPr>
          <p:cNvPr id="3" name="Rectangle 3"/>
          <p:cNvSpPr>
            <a:spLocks noGrp="1"/>
          </p:cNvSpPr>
          <p:nvPr/>
        </p:nvSpPr>
        <p:spPr>
          <a:xfrm>
            <a:off x="-36512" y="4076700"/>
            <a:ext cx="9144000" cy="2268538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square" lIns="90170" tIns="46990" rIns="90170" bIns="46990" anchor="t"/>
          <a:lstStyle/>
          <a:p>
            <a:pPr marL="1371600" lvl="2" indent="-457200" algn="l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charset="0"/>
              <a:buChar char="n"/>
            </a:pPr>
            <a:r>
              <a:rPr lang="en-US" altLang="zh-CN" sz="2800" b="1" u="none" baseline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column name &amp; data type</a:t>
            </a:r>
          </a:p>
          <a:p>
            <a:pPr marL="1371600" lvl="2" indent="-457200" algn="l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charset="0"/>
              <a:buChar char="n"/>
            </a:pPr>
            <a:r>
              <a:rPr lang="en-US" altLang="zh-CN" sz="2800" b="1" u="none" baseline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an optional DEFAULT clause</a:t>
            </a:r>
          </a:p>
          <a:p>
            <a:pPr marL="1828800" lvl="3" indent="-457200" algn="l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zh-CN" sz="2800" b="1" u="none" baseline="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DEFAULT </a:t>
            </a:r>
            <a:r>
              <a:rPr lang="en-US" altLang="zh-CN" sz="2800" b="1" u="none" baseline="0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{</a:t>
            </a:r>
            <a:r>
              <a:rPr lang="en-US" altLang="zh-CN" sz="2800" b="1" u="none" baseline="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default_constant </a:t>
            </a:r>
            <a:r>
              <a:rPr lang="en-US" altLang="zh-CN" sz="2800" b="1" u="none" baseline="0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|</a:t>
            </a:r>
            <a:r>
              <a:rPr lang="en-US" altLang="zh-CN" sz="2800" b="1" u="none" baseline="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800" b="1" u="sng" baseline="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NULL</a:t>
            </a:r>
            <a:r>
              <a:rPr lang="en-US" altLang="zh-CN" sz="2800" b="1" u="none" baseline="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800" b="1" u="none" baseline="0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}</a:t>
            </a:r>
          </a:p>
          <a:p>
            <a:pPr marL="1371600" lvl="2" indent="-457200" algn="l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charset="0"/>
              <a:buChar char="n"/>
            </a:pPr>
            <a:r>
              <a:rPr lang="en-US" altLang="zh-CN" sz="2800" b="1" u="none" baseline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column constraints (in a single column)</a:t>
            </a:r>
            <a:endParaRPr lang="en-US" altLang="zh-CN" sz="2800" b="1" u="none" baseline="0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7950" y="3429000"/>
            <a:ext cx="5010150" cy="5492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457200" indent="-457200">
              <a:buFont typeface="Wingdings" panose="05000000000000000000" charset="0"/>
              <a:buChar char="u"/>
            </a:pPr>
            <a:r>
              <a:rPr lang="en-US" altLang="zh-CN" sz="30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column definition: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87" end="1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charRg st="87" end="10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日期占位符 3"/>
          <p:cNvSpPr txBox="1">
            <a:spLocks noGrp="1"/>
          </p:cNvSpPr>
          <p:nvPr/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BB962C8B-B14F-4D97-AF65-F5344CB8AC3E}" type="datetime1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9218" name="页脚占位符 4"/>
          <p:cNvSpPr txBox="1">
            <a:spLocks noGrp="1"/>
          </p:cNvSpPr>
          <p:nvPr/>
        </p:nvSpPr>
        <p:spPr>
          <a:xfrm>
            <a:off x="2590800" y="6553200"/>
            <a:ext cx="39624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Integrity,Views,Security,and Catalogs</a:t>
            </a:r>
            <a:endParaRPr lang="en-US" altLang="zh-CN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9219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7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9220" name="Rectangle 3"/>
          <p:cNvSpPr>
            <a:spLocks noGrp="1"/>
          </p:cNvSpPr>
          <p:nvPr>
            <p:ph type="body" idx="4294967295"/>
          </p:nvPr>
        </p:nvSpPr>
        <p:spPr>
          <a:xfrm>
            <a:off x="0" y="263525"/>
            <a:ext cx="9144000" cy="563563"/>
          </a:xfrm>
          <a:solidFill>
            <a:schemeClr val="bg1"/>
          </a:solidFill>
          <a:ln/>
        </p:spPr>
        <p:txBody>
          <a:bodyPr wrap="square" lIns="90170" tIns="46990" rIns="90170" bIns="46990" anchor="t">
            <a:spAutoFit/>
          </a:bodyPr>
          <a:lstStyle/>
          <a:p>
            <a:pPr eaLnBrk="1" hangingPunct="1">
              <a:lnSpc>
                <a:spcPct val="110000"/>
              </a:lnSpc>
              <a:spcBef>
                <a:spcPts val="60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Def.7.1.1  Clauses of the Create Table Command</a:t>
            </a:r>
            <a:endParaRPr lang="en-US" altLang="zh-CN" dirty="0">
              <a:solidFill>
                <a:schemeClr val="accent2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9221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  <p:sp>
        <p:nvSpPr>
          <p:cNvPr id="9222" name="Rectangle 3"/>
          <p:cNvSpPr>
            <a:spLocks noGrp="1"/>
          </p:cNvSpPr>
          <p:nvPr/>
        </p:nvSpPr>
        <p:spPr>
          <a:xfrm>
            <a:off x="71438" y="1428750"/>
            <a:ext cx="4391025" cy="316388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lIns="90170" tIns="46990" rIns="90170" bIns="46990" anchor="t">
            <a:spAutoFit/>
          </a:bodyPr>
          <a:lstStyle/>
          <a:p>
            <a:pPr marL="303530" indent="-246380">
              <a:lnSpc>
                <a:spcPct val="110000"/>
              </a:lnSpc>
              <a:spcBef>
                <a:spcPts val="600"/>
              </a:spcBef>
              <a:buClr>
                <a:schemeClr val="tx1"/>
              </a:buClr>
              <a:buChar char="•"/>
            </a:pP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schema name  &amp;  table name</a:t>
            </a:r>
          </a:p>
          <a:p>
            <a:pPr marL="303530" indent="-246380">
              <a:lnSpc>
                <a:spcPct val="110000"/>
              </a:lnSpc>
              <a:spcBef>
                <a:spcPts val="600"/>
              </a:spcBef>
              <a:buClr>
                <a:schemeClr val="tx1"/>
              </a:buClr>
              <a:buChar char="•"/>
            </a:pPr>
            <a:endParaRPr lang="en-US" altLang="zh-CN" b="1" dirty="0">
              <a:solidFill>
                <a:srgbClr val="FF0000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marL="303530" indent="-246380">
              <a:lnSpc>
                <a:spcPct val="110000"/>
              </a:lnSpc>
              <a:spcBef>
                <a:spcPts val="600"/>
              </a:spcBef>
              <a:buClr>
                <a:schemeClr val="tx1"/>
              </a:buClr>
              <a:buChar char="•"/>
            </a:pPr>
            <a:endParaRPr lang="en-US" altLang="zh-CN" b="1" dirty="0">
              <a:solidFill>
                <a:srgbClr val="FF0000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marL="303530" indent="-246380">
              <a:lnSpc>
                <a:spcPct val="110000"/>
              </a:lnSpc>
              <a:spcBef>
                <a:spcPts val="600"/>
              </a:spcBef>
              <a:buClr>
                <a:schemeClr val="tx1"/>
              </a:buClr>
              <a:buChar char="•"/>
            </a:pP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column defintion</a:t>
            </a:r>
          </a:p>
          <a:p>
            <a:pPr marL="303530" indent="-246380">
              <a:lnSpc>
                <a:spcPct val="110000"/>
              </a:lnSpc>
              <a:spcBef>
                <a:spcPts val="600"/>
              </a:spcBef>
              <a:buClr>
                <a:schemeClr val="tx1"/>
              </a:buClr>
              <a:buChar char="•"/>
            </a:pPr>
            <a:endParaRPr lang="en-US" altLang="zh-CN" sz="1800" b="1" dirty="0">
              <a:solidFill>
                <a:schemeClr val="accent2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marL="303530" indent="-246380">
              <a:lnSpc>
                <a:spcPct val="110000"/>
              </a:lnSpc>
              <a:spcBef>
                <a:spcPts val="600"/>
              </a:spcBef>
              <a:buClr>
                <a:schemeClr val="tx1"/>
              </a:buClr>
              <a:buChar char="•"/>
            </a:pPr>
            <a:endParaRPr lang="en-US" altLang="zh-CN" sz="1800" b="1" dirty="0">
              <a:solidFill>
                <a:schemeClr val="accent2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marL="303530" indent="-246380">
              <a:lnSpc>
                <a:spcPct val="110000"/>
              </a:lnSpc>
              <a:spcBef>
                <a:spcPts val="600"/>
              </a:spcBef>
              <a:buClr>
                <a:schemeClr val="tx1"/>
              </a:buClr>
              <a:buChar char="•"/>
            </a:pP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table  constraints</a:t>
            </a:r>
          </a:p>
        </p:txBody>
      </p:sp>
      <p:sp>
        <p:nvSpPr>
          <p:cNvPr id="3" name="Rectangle 3"/>
          <p:cNvSpPr>
            <a:spLocks noGrp="1"/>
          </p:cNvSpPr>
          <p:nvPr/>
        </p:nvSpPr>
        <p:spPr>
          <a:xfrm>
            <a:off x="3606800" y="2581275"/>
            <a:ext cx="5461000" cy="97472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square" lIns="90170" tIns="46990" rIns="90170" bIns="46990" anchor="t">
            <a:sp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buClr>
                <a:schemeClr val="tx1"/>
              </a:buClr>
              <a:buSzPct val="60000"/>
            </a:pPr>
            <a:r>
              <a:rPr lang="en-US" altLang="zh-CN" b="1" dirty="0">
                <a:solidFill>
                  <a:srgbClr val="0000CC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column name &amp; data type</a:t>
            </a:r>
          </a:p>
          <a:p>
            <a:pPr>
              <a:lnSpc>
                <a:spcPct val="110000"/>
              </a:lnSpc>
              <a:spcBef>
                <a:spcPts val="600"/>
              </a:spcBef>
              <a:buClr>
                <a:schemeClr val="tx1"/>
              </a:buClr>
              <a:buSzPct val="60000"/>
            </a:pPr>
            <a:r>
              <a:rPr lang="en-US" altLang="zh-CN" b="1" dirty="0">
                <a:solidFill>
                  <a:srgbClr val="0000CC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an optional DEFAULT clause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2771775" y="2927350"/>
            <a:ext cx="790575" cy="1008063"/>
            <a:chOff x="4365" y="5400"/>
            <a:chExt cx="1246" cy="1588"/>
          </a:xfrm>
        </p:grpSpPr>
        <p:cxnSp>
          <p:nvCxnSpPr>
            <p:cNvPr id="7" name="直接箭头连接符 6"/>
            <p:cNvCxnSpPr/>
            <p:nvPr/>
          </p:nvCxnSpPr>
          <p:spPr>
            <a:xfrm flipV="1">
              <a:off x="4365" y="5400"/>
              <a:ext cx="1247" cy="326"/>
            </a:xfrm>
            <a:prstGeom prst="straightConnector1">
              <a:avLst/>
            </a:prstGeom>
            <a:ln w="22225">
              <a:solidFill>
                <a:srgbClr val="FF0066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箭头连接符 7"/>
            <p:cNvCxnSpPr/>
            <p:nvPr/>
          </p:nvCxnSpPr>
          <p:spPr>
            <a:xfrm>
              <a:off x="4365" y="5740"/>
              <a:ext cx="1247" cy="340"/>
            </a:xfrm>
            <a:prstGeom prst="straightConnector1">
              <a:avLst/>
            </a:prstGeom>
            <a:ln w="22225">
              <a:solidFill>
                <a:srgbClr val="FF0066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箭头连接符 8"/>
            <p:cNvCxnSpPr/>
            <p:nvPr/>
          </p:nvCxnSpPr>
          <p:spPr>
            <a:xfrm>
              <a:off x="4365" y="5740"/>
              <a:ext cx="1247" cy="1248"/>
            </a:xfrm>
            <a:prstGeom prst="straightConnector1">
              <a:avLst/>
            </a:prstGeom>
            <a:ln w="22225">
              <a:solidFill>
                <a:srgbClr val="FF0066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/>
        </p:nvGrpSpPr>
        <p:grpSpPr>
          <a:xfrm>
            <a:off x="2771775" y="4151313"/>
            <a:ext cx="792163" cy="430212"/>
            <a:chOff x="4365" y="7329"/>
            <a:chExt cx="1248" cy="677"/>
          </a:xfrm>
        </p:grpSpPr>
        <p:cxnSp>
          <p:nvCxnSpPr>
            <p:cNvPr id="10" name="直接箭头连接符 9"/>
            <p:cNvCxnSpPr/>
            <p:nvPr/>
          </p:nvCxnSpPr>
          <p:spPr>
            <a:xfrm flipV="1">
              <a:off x="4365" y="7329"/>
              <a:ext cx="1247" cy="337"/>
            </a:xfrm>
            <a:prstGeom prst="straightConnector1">
              <a:avLst/>
            </a:prstGeom>
            <a:ln w="22225">
              <a:solidFill>
                <a:srgbClr val="FF0066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/>
            <p:cNvCxnSpPr/>
            <p:nvPr/>
          </p:nvCxnSpPr>
          <p:spPr>
            <a:xfrm>
              <a:off x="4365" y="7666"/>
              <a:ext cx="1248" cy="341"/>
            </a:xfrm>
            <a:prstGeom prst="straightConnector1">
              <a:avLst/>
            </a:prstGeom>
            <a:ln w="22225">
              <a:solidFill>
                <a:srgbClr val="FF0066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3"/>
          <p:cNvSpPr>
            <a:spLocks noGrp="1"/>
          </p:cNvSpPr>
          <p:nvPr/>
        </p:nvSpPr>
        <p:spPr>
          <a:xfrm>
            <a:off x="3606800" y="3811588"/>
            <a:ext cx="5461000" cy="97472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square" lIns="90170" tIns="46990" rIns="0" bIns="46990" anchor="t">
            <a:sp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buClr>
                <a:schemeClr val="tx1"/>
              </a:buClr>
              <a:buSzPct val="60000"/>
            </a:pPr>
            <a:r>
              <a:rPr lang="en-US" altLang="zh-CN" b="1" dirty="0">
                <a:solidFill>
                  <a:srgbClr val="0000CC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integrity constraint in a single column</a:t>
            </a:r>
          </a:p>
          <a:p>
            <a:pPr>
              <a:lnSpc>
                <a:spcPct val="110000"/>
              </a:lnSpc>
              <a:spcBef>
                <a:spcPts val="600"/>
              </a:spcBef>
              <a:buClr>
                <a:schemeClr val="tx1"/>
              </a:buClr>
              <a:buSzPct val="60000"/>
            </a:pPr>
            <a:r>
              <a:rPr lang="en-US" altLang="zh-CN" b="1" dirty="0">
                <a:solidFill>
                  <a:srgbClr val="0000CC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integrity constraints in multiple columns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日期占位符 3"/>
          <p:cNvSpPr txBox="1">
            <a:spLocks noGrp="1"/>
          </p:cNvSpPr>
          <p:nvPr/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BB962C8B-B14F-4D97-AF65-F5344CB8AC3E}" type="datetime1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10242" name="页脚占位符 4"/>
          <p:cNvSpPr txBox="1">
            <a:spLocks noGrp="1"/>
          </p:cNvSpPr>
          <p:nvPr/>
        </p:nvSpPr>
        <p:spPr>
          <a:xfrm>
            <a:off x="2590800" y="6553200"/>
            <a:ext cx="39624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Integrity,Views,Security,and Catalogs</a:t>
            </a:r>
            <a:endParaRPr lang="en-US" altLang="zh-CN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10243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8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10244" name="Rectangle 3"/>
          <p:cNvSpPr>
            <a:spLocks noGrp="1"/>
          </p:cNvSpPr>
          <p:nvPr>
            <p:ph type="body" idx="4294967295"/>
          </p:nvPr>
        </p:nvSpPr>
        <p:spPr>
          <a:xfrm>
            <a:off x="457200" y="44450"/>
            <a:ext cx="8229600" cy="1030288"/>
          </a:xfrm>
          <a:ln/>
        </p:spPr>
        <p:txBody>
          <a:bodyPr wrap="square" anchor="t">
            <a:spAutoFit/>
          </a:bodyPr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Integrity Constraint </a:t>
            </a:r>
            <a:r>
              <a:rPr lang="en-US" altLang="zh-CN" sz="2800" dirty="0">
                <a:solidFill>
                  <a:schemeClr val="accent2"/>
                </a:solidFill>
                <a:ea typeface="宋体" panose="02010600030101010101" pitchFamily="2" charset="-122"/>
              </a:rPr>
              <a:t>(Figure 7.1, pg. 411)</a:t>
            </a:r>
          </a:p>
          <a:p>
            <a:pPr lvl="1" eaLnBrk="1" hangingPunct="1"/>
            <a:r>
              <a:rPr lang="en-US" altLang="zh-CN" sz="2800" dirty="0">
                <a:ea typeface="宋体" panose="02010600030101010101" pitchFamily="2" charset="-122"/>
              </a:rPr>
              <a:t>Integrity Constraints in a single column</a:t>
            </a:r>
          </a:p>
        </p:txBody>
      </p:sp>
      <p:sp>
        <p:nvSpPr>
          <p:cNvPr id="9222" name="Text Box 4"/>
          <p:cNvSpPr txBox="1"/>
          <p:nvPr/>
        </p:nvSpPr>
        <p:spPr>
          <a:xfrm>
            <a:off x="142875" y="1268413"/>
            <a:ext cx="8820150" cy="1184275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170" tIns="46990" rIns="90170" bIns="46990" anchor="t">
            <a:sp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NOT NULL   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|</a:t>
            </a:r>
            <a:endParaRPr lang="en-US" altLang="zh-CN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CONSTRAINT 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constraint_name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] </a:t>
            </a:r>
            <a:r>
              <a:rPr lang="en-US" altLang="zh-CN" sz="2800" b="1" dirty="0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&lt;constraint&gt;</a:t>
            </a:r>
            <a:endParaRPr lang="en-US" altLang="zh-CN" sz="2800" b="1" dirty="0">
              <a:solidFill>
                <a:srgbClr val="FF0066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46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  <p:sp>
        <p:nvSpPr>
          <p:cNvPr id="3" name="Text Box 4"/>
          <p:cNvSpPr txBox="1"/>
          <p:nvPr/>
        </p:nvSpPr>
        <p:spPr>
          <a:xfrm>
            <a:off x="142875" y="3117850"/>
            <a:ext cx="8820150" cy="3290888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170" tIns="46990" rIns="90170" bIns="46990" anchor="t">
            <a:sp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sz="2800" b="1" noProof="1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 </a:t>
            </a:r>
            <a:r>
              <a:rPr lang="zh-CN" altLang="en-US" sz="2800" b="1" noProof="1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 </a:t>
            </a:r>
            <a:r>
              <a:rPr lang="en-US" altLang="x-none" sz="2800" b="1" noProof="1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 </a:t>
            </a:r>
            <a:r>
              <a:rPr lang="en-US" altLang="x-none" sz="2800" b="1" noProof="1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UNIQUE</a:t>
            </a:r>
            <a:endParaRPr lang="en-US" altLang="x-none" sz="2800" b="1" noProof="1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285750" indent="-285750">
              <a:lnSpc>
                <a:spcPct val="110000"/>
              </a:lnSpc>
              <a:spcBef>
                <a:spcPts val="600"/>
              </a:spcBef>
              <a:buClr>
                <a:srgbClr val="FF0066"/>
              </a:buClr>
              <a:buFont typeface="Wingdings" panose="05000000000000000000" pitchFamily="2" charset="2"/>
            </a:pPr>
            <a:r>
              <a:rPr lang="en-US" altLang="x-none" sz="2800" b="1" noProof="1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 |</a:t>
            </a:r>
            <a:r>
              <a:rPr lang="en-US" altLang="x-none" sz="2800" b="1" noProof="1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 PRIMARY KEY</a:t>
            </a:r>
            <a:endParaRPr lang="en-US" altLang="x-none" sz="2800" b="1" noProof="1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285750" indent="-285750">
              <a:lnSpc>
                <a:spcPct val="110000"/>
              </a:lnSpc>
              <a:spcBef>
                <a:spcPts val="600"/>
              </a:spcBef>
              <a:buClr>
                <a:srgbClr val="FF0066"/>
              </a:buClr>
              <a:buFont typeface="Wingdings" panose="05000000000000000000" pitchFamily="2" charset="2"/>
            </a:pPr>
            <a:r>
              <a:rPr lang="en-US" altLang="x-none" sz="2800" b="1" noProof="1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 |</a:t>
            </a:r>
            <a:r>
              <a:rPr lang="en-US" altLang="x-none" sz="2800" b="1" noProof="1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 CHECK ( </a:t>
            </a:r>
            <a:r>
              <a:rPr lang="en-US" altLang="x-none" sz="2800" b="1" noProof="1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search_condition</a:t>
            </a:r>
            <a:r>
              <a:rPr lang="en-US" altLang="x-none" sz="2800" b="1" noProof="1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 )</a:t>
            </a:r>
            <a:endParaRPr lang="en-US" altLang="x-none" sz="2800" b="1" noProof="1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285750" indent="-285750">
              <a:lnSpc>
                <a:spcPct val="110000"/>
              </a:lnSpc>
              <a:spcBef>
                <a:spcPts val="600"/>
              </a:spcBef>
              <a:buClr>
                <a:srgbClr val="FF0066"/>
              </a:buClr>
              <a:buFont typeface="Wingdings" panose="05000000000000000000" pitchFamily="2" charset="2"/>
            </a:pPr>
            <a:r>
              <a:rPr lang="en-US" altLang="x-none" sz="2800" b="1" noProof="1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 |</a:t>
            </a:r>
            <a:r>
              <a:rPr lang="en-US" altLang="x-none" sz="2800" b="1" noProof="1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 REFERENCES </a:t>
            </a:r>
            <a:r>
              <a:rPr lang="en-US" altLang="x-none" sz="2800" b="1" noProof="1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table_name</a:t>
            </a:r>
            <a:r>
              <a:rPr lang="en-US" altLang="x-none" sz="2800" b="1" noProof="1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 </a:t>
            </a:r>
            <a:r>
              <a:rPr lang="en-US" altLang="x-none" sz="2800" b="1" noProof="1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[</a:t>
            </a:r>
            <a:r>
              <a:rPr lang="en-US" altLang="x-none" sz="2800" b="1" noProof="1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 ( </a:t>
            </a:r>
            <a:r>
              <a:rPr lang="en-US" altLang="x-none" sz="2800" b="1" noProof="1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column_name</a:t>
            </a:r>
            <a:r>
              <a:rPr lang="en-US" altLang="x-none" sz="2800" b="1" noProof="1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 ) </a:t>
            </a:r>
            <a:r>
              <a:rPr lang="en-US" altLang="x-none" sz="2800" b="1" noProof="1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]</a:t>
            </a:r>
            <a:endParaRPr lang="en-US" altLang="x-none" sz="2800" b="1" noProof="1">
              <a:solidFill>
                <a:srgbClr val="FF0066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685800" lvl="1" indent="-228600" algn="l" eaLnBrk="1" fontAlgn="base" hangingPunct="1">
              <a:lnSpc>
                <a:spcPct val="110000"/>
              </a:lnSpc>
              <a:spcBef>
                <a:spcPts val="600"/>
              </a:spcBef>
              <a:buClr>
                <a:srgbClr val="FF0066"/>
              </a:buClr>
              <a:buFont typeface="Wingdings" panose="05000000000000000000" pitchFamily="2" charset="2"/>
              <a:buNone/>
            </a:pPr>
            <a:r>
              <a:rPr lang="en-US" altLang="x-none" sz="2800" b="1" strike="noStrike" noProof="1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[</a:t>
            </a:r>
            <a:r>
              <a:rPr lang="en-US" altLang="x-none" sz="2800" b="1" strike="noStrike" noProof="1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ON DELETE CASCADE</a:t>
            </a:r>
            <a:r>
              <a:rPr lang="en-US" altLang="x-none" sz="2800" b="1" strike="noStrike" noProof="1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|</a:t>
            </a:r>
            <a:r>
              <a:rPr lang="en-US" altLang="x-none" sz="2800" b="1" strike="noStrike" noProof="1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RESTRICT</a:t>
            </a:r>
            <a:r>
              <a:rPr lang="en-US" altLang="x-none" sz="2800" b="1" strike="noStrike" noProof="1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|</a:t>
            </a:r>
            <a:r>
              <a:rPr lang="en-US" altLang="x-none" sz="2800" b="1" strike="noStrike" noProof="1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SET NULL</a:t>
            </a:r>
            <a:r>
              <a:rPr lang="en-US" altLang="x-none" sz="2800" b="1" strike="noStrike" noProof="1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]</a:t>
            </a:r>
            <a:endParaRPr lang="en-US" altLang="x-none" sz="2800" b="1" strike="noStrike" noProof="1">
              <a:solidFill>
                <a:srgbClr val="FF0066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685800" lvl="1" indent="-228600" algn="l" eaLnBrk="1" fontAlgn="base" hangingPunct="1">
              <a:lnSpc>
                <a:spcPct val="110000"/>
              </a:lnSpc>
              <a:spcBef>
                <a:spcPts val="600"/>
              </a:spcBef>
              <a:buClr>
                <a:srgbClr val="FF0066"/>
              </a:buClr>
              <a:buFont typeface="Wingdings" panose="05000000000000000000" pitchFamily="2" charset="2"/>
              <a:buNone/>
            </a:pPr>
            <a:r>
              <a:rPr lang="en-US" altLang="x-none" sz="2800" b="1" strike="noStrike" noProof="1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[</a:t>
            </a:r>
            <a:r>
              <a:rPr lang="en-US" altLang="x-none" sz="2800" b="1" strike="noStrike" noProof="1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ON UPDATE CASCADE</a:t>
            </a:r>
            <a:r>
              <a:rPr lang="en-US" altLang="x-none" sz="2800" b="1" strike="noStrike" noProof="1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|</a:t>
            </a:r>
            <a:r>
              <a:rPr lang="en-US" altLang="x-none" sz="2800" b="1" strike="noStrike" noProof="1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RESTRICT</a:t>
            </a:r>
            <a:r>
              <a:rPr lang="en-US" altLang="x-none" sz="2800" b="1" strike="noStrike" noProof="1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|</a:t>
            </a:r>
            <a:r>
              <a:rPr lang="en-US" altLang="x-none" sz="2800" b="1" strike="noStrike" noProof="1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SET NULL</a:t>
            </a:r>
            <a:r>
              <a:rPr lang="en-US" altLang="x-none" sz="2800" b="1" strike="noStrike" noProof="1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]</a:t>
            </a:r>
            <a:endParaRPr lang="en-US" altLang="x-none" sz="2800" b="1" strike="noStrike" noProof="1">
              <a:solidFill>
                <a:srgbClr val="FF0066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50813" y="2606675"/>
            <a:ext cx="27114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800" b="1">
                <a:solidFill>
                  <a:srgbClr val="0000CC"/>
                </a:solidFill>
                <a:latin typeface="Arial" panose="020B0604020202020204" pitchFamily="34" charset="0"/>
              </a:rPr>
              <a:t>&lt;constraint&gt; is</a:t>
            </a:r>
            <a:endParaRPr lang="en-US" altLang="zh-CN" sz="2800" b="1">
              <a:solidFill>
                <a:srgbClr val="0000CC"/>
              </a:solidFill>
              <a:latin typeface="Arial" panose="020B0604020202020204" pitchFamily="34" charset="0"/>
              <a:ea typeface="Times New Roman" panose="020206030504050203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2" grpId="0" animBg="1"/>
      <p:bldP spid="3" grpId="0" build="p" animBg="1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日期占位符 3"/>
          <p:cNvSpPr txBox="1">
            <a:spLocks noGrp="1"/>
          </p:cNvSpPr>
          <p:nvPr/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BB962C8B-B14F-4D97-AF65-F5344CB8AC3E}" type="datetime1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11266" name="页脚占位符 4"/>
          <p:cNvSpPr txBox="1">
            <a:spLocks noGrp="1"/>
          </p:cNvSpPr>
          <p:nvPr/>
        </p:nvSpPr>
        <p:spPr>
          <a:xfrm>
            <a:off x="2590800" y="6553200"/>
            <a:ext cx="39624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Integrity,Views,Security,and Catalogs</a:t>
            </a:r>
            <a:endParaRPr lang="en-US" altLang="zh-CN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11267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9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11268" name="Rectangle 3"/>
          <p:cNvSpPr>
            <a:spLocks noGrp="1"/>
          </p:cNvSpPr>
          <p:nvPr>
            <p:ph type="body" idx="4294967295"/>
          </p:nvPr>
        </p:nvSpPr>
        <p:spPr>
          <a:xfrm>
            <a:off x="34925" y="115888"/>
            <a:ext cx="8229600" cy="944562"/>
          </a:xfrm>
          <a:ln/>
        </p:spPr>
        <p:txBody>
          <a:bodyPr wrap="square" anchor="t">
            <a:spAutoFit/>
          </a:bodyPr>
          <a:lstStyle/>
          <a:p>
            <a:pPr indent="-285750" eaLnBrk="1" hangingPunct="1"/>
            <a:r>
              <a:rPr lang="en-US" altLang="zh-CN" sz="2800" dirty="0">
                <a:solidFill>
                  <a:srgbClr val="0000CC"/>
                </a:solidFill>
                <a:ea typeface="宋体" panose="02010600030101010101" pitchFamily="2" charset="-122"/>
              </a:rPr>
              <a:t>Integrity Constraints in multiple columns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 (table constraints)</a:t>
            </a:r>
          </a:p>
        </p:txBody>
      </p:sp>
      <p:sp>
        <p:nvSpPr>
          <p:cNvPr id="11269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42875" y="1171575"/>
            <a:ext cx="8820150" cy="4656138"/>
            <a:chOff x="226" y="1846"/>
            <a:chExt cx="13890" cy="7332"/>
          </a:xfrm>
        </p:grpSpPr>
        <p:sp>
          <p:nvSpPr>
            <p:cNvPr id="10246" name="Text Box 4"/>
            <p:cNvSpPr txBox="1"/>
            <p:nvPr/>
          </p:nvSpPr>
          <p:spPr>
            <a:xfrm>
              <a:off x="226" y="2672"/>
              <a:ext cx="13889" cy="6506"/>
            </a:xfrm>
            <a:prstGeom prst="rect">
              <a:avLst/>
            </a:prstGeom>
            <a:noFill/>
            <a:ln w="2540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 lvl="1" fontAlgn="base">
                <a:lnSpc>
                  <a:spcPct val="120000"/>
                </a:lnSpc>
                <a:spcBef>
                  <a:spcPts val="600"/>
                </a:spcBef>
                <a:buClr>
                  <a:srgbClr val="FF0066"/>
                </a:buClr>
                <a:buFont typeface="Wingdings" panose="05000000000000000000" pitchFamily="2" charset="2"/>
                <a:buNone/>
              </a:pPr>
              <a:r>
                <a:rPr lang="en-US" altLang="x-none" sz="2800" b="1" strike="noStrike" noProof="1">
                  <a:latin typeface="Arial" panose="020B0604020202020204" pitchFamily="34" charset="0"/>
                  <a:ea typeface="宋体" panose="02010600030101010101" pitchFamily="2" charset="-122"/>
                  <a:cs typeface="+mn-ea"/>
                </a:rPr>
                <a:t>UNIQUE ( colname { , colname ... } )</a:t>
              </a:r>
              <a:endParaRPr lang="en-US" altLang="x-none" sz="2800" b="1" strike="noStrike" noProof="1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marL="186055" lvl="1" indent="0" algn="l" eaLnBrk="1" fontAlgn="base" hangingPunct="1">
                <a:lnSpc>
                  <a:spcPct val="120000"/>
                </a:lnSpc>
                <a:spcBef>
                  <a:spcPts val="600"/>
                </a:spcBef>
                <a:buClr>
                  <a:srgbClr val="FF0066"/>
                </a:buClr>
                <a:buFont typeface="Wingdings" panose="05000000000000000000" pitchFamily="2" charset="2"/>
                <a:buNone/>
              </a:pPr>
              <a:r>
                <a:rPr lang="en-US" altLang="x-none" sz="2800" b="1" strike="noStrike" noProof="1">
                  <a:solidFill>
                    <a:srgbClr val="FF0066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ea"/>
                </a:rPr>
                <a:t>|</a:t>
              </a:r>
              <a:r>
                <a:rPr lang="en-US" altLang="x-none" sz="2800" b="1" strike="noStrike" noProof="1">
                  <a:latin typeface="Arial" panose="020B0604020202020204" pitchFamily="34" charset="0"/>
                  <a:ea typeface="宋体" panose="02010600030101010101" pitchFamily="2" charset="-122"/>
                  <a:cs typeface="+mn-ea"/>
                </a:rPr>
                <a:t> PRIMARY KEY ( colname { , colname ... } )</a:t>
              </a:r>
              <a:endParaRPr lang="en-US" altLang="x-none" sz="2800" b="1" strike="noStrike" noProof="1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marL="186055" lvl="1" indent="0" algn="l" eaLnBrk="1" fontAlgn="base" hangingPunct="1">
                <a:lnSpc>
                  <a:spcPct val="120000"/>
                </a:lnSpc>
                <a:spcBef>
                  <a:spcPts val="600"/>
                </a:spcBef>
                <a:buClr>
                  <a:srgbClr val="FF0066"/>
                </a:buClr>
                <a:buFont typeface="Wingdings" panose="05000000000000000000" pitchFamily="2" charset="2"/>
                <a:buNone/>
              </a:pPr>
              <a:r>
                <a:rPr lang="en-US" altLang="x-none" sz="2800" b="1" strike="noStrike" noProof="1">
                  <a:solidFill>
                    <a:srgbClr val="FF0066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ea"/>
                </a:rPr>
                <a:t>|</a:t>
              </a:r>
              <a:r>
                <a:rPr lang="en-US" altLang="x-none" sz="2800" b="1" strike="noStrike" noProof="1">
                  <a:latin typeface="Arial" panose="020B0604020202020204" pitchFamily="34" charset="0"/>
                  <a:ea typeface="宋体" panose="02010600030101010101" pitchFamily="2" charset="-122"/>
                  <a:cs typeface="+mn-ea"/>
                </a:rPr>
                <a:t> CHECK ( </a:t>
              </a:r>
              <a:r>
                <a:rPr lang="en-US" altLang="x-none" sz="2800" b="1" strike="noStrike" noProof="1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ea"/>
                </a:rPr>
                <a:t>search_condition</a:t>
              </a:r>
              <a:r>
                <a:rPr lang="en-US" altLang="x-none" sz="2800" b="1" strike="noStrike" noProof="1">
                  <a:latin typeface="Arial" panose="020B0604020202020204" pitchFamily="34" charset="0"/>
                  <a:ea typeface="宋体" panose="02010600030101010101" pitchFamily="2" charset="-122"/>
                  <a:cs typeface="+mn-ea"/>
                </a:rPr>
                <a:t> )</a:t>
              </a:r>
              <a:endParaRPr lang="en-US" altLang="x-none" sz="2800" b="1" strike="noStrike" noProof="1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marL="186055" lvl="1" indent="0" algn="l" eaLnBrk="1" fontAlgn="base" hangingPunct="1">
                <a:lnSpc>
                  <a:spcPct val="120000"/>
                </a:lnSpc>
                <a:spcBef>
                  <a:spcPts val="600"/>
                </a:spcBef>
                <a:buClr>
                  <a:srgbClr val="FF0066"/>
                </a:buClr>
                <a:buFont typeface="Wingdings" panose="05000000000000000000" pitchFamily="2" charset="2"/>
                <a:buNone/>
              </a:pPr>
              <a:r>
                <a:rPr lang="en-US" altLang="x-none" sz="2800" b="1" strike="noStrike" noProof="1">
                  <a:solidFill>
                    <a:srgbClr val="FF0066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ea"/>
                </a:rPr>
                <a:t>|</a:t>
              </a:r>
              <a:r>
                <a:rPr lang="en-US" altLang="x-none" sz="2800" b="1" strike="noStrike" noProof="1">
                  <a:latin typeface="Arial" panose="020B0604020202020204" pitchFamily="34" charset="0"/>
                  <a:ea typeface="宋体" panose="02010600030101010101" pitchFamily="2" charset="-122"/>
                  <a:cs typeface="+mn-ea"/>
                </a:rPr>
                <a:t> FOREIGN KEY ( colname { , colname ... } )</a:t>
              </a:r>
              <a:endParaRPr lang="en-US" altLang="x-none" sz="2800" b="1" strike="noStrike" noProof="1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marL="186055" lvl="1" indent="0" algn="l" eaLnBrk="1" fontAlgn="base" hangingPunct="1">
                <a:lnSpc>
                  <a:spcPct val="120000"/>
                </a:lnSpc>
                <a:spcBef>
                  <a:spcPts val="600"/>
                </a:spcBef>
                <a:buClr>
                  <a:srgbClr val="FF0066"/>
                </a:buClr>
                <a:buFont typeface="Wingdings" panose="05000000000000000000" pitchFamily="2" charset="2"/>
                <a:buNone/>
              </a:pPr>
              <a:r>
                <a:rPr lang="en-US" altLang="x-none" sz="2800" b="1" strike="noStrike" noProof="1">
                  <a:latin typeface="Arial" panose="020B0604020202020204" pitchFamily="34" charset="0"/>
                  <a:ea typeface="宋体" panose="02010600030101010101" pitchFamily="2" charset="-122"/>
                  <a:cs typeface="+mn-ea"/>
                </a:rPr>
                <a:t>  REFERENCES </a:t>
              </a:r>
              <a:r>
                <a:rPr lang="en-US" altLang="x-none" sz="2800" b="1" strike="noStrike" noProof="1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ea"/>
                </a:rPr>
                <a:t>tab_name</a:t>
              </a:r>
              <a:r>
                <a:rPr lang="en-US" altLang="x-none" sz="2800" b="1" strike="noStrike" noProof="1">
                  <a:latin typeface="Arial" panose="020B0604020202020204" pitchFamily="34" charset="0"/>
                  <a:ea typeface="宋体" panose="02010600030101010101" pitchFamily="2" charset="-122"/>
                  <a:cs typeface="+mn-ea"/>
                </a:rPr>
                <a:t> </a:t>
              </a:r>
              <a:r>
                <a:rPr lang="en-US" altLang="x-none" sz="2800" b="1" strike="noStrike" noProof="1">
                  <a:solidFill>
                    <a:srgbClr val="FF0066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ea"/>
                </a:rPr>
                <a:t>[</a:t>
              </a:r>
              <a:r>
                <a:rPr lang="en-US" altLang="x-none" sz="2800" b="1" strike="noStrike" noProof="1">
                  <a:latin typeface="Arial" panose="020B0604020202020204" pitchFamily="34" charset="0"/>
                  <a:ea typeface="宋体" panose="02010600030101010101" pitchFamily="2" charset="-122"/>
                  <a:cs typeface="+mn-ea"/>
                </a:rPr>
                <a:t> (colname {, ...}) </a:t>
              </a:r>
              <a:r>
                <a:rPr lang="en-US" altLang="x-none" sz="2800" b="1" strike="noStrike" noProof="1">
                  <a:solidFill>
                    <a:srgbClr val="FF0066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ea"/>
                </a:rPr>
                <a:t>]</a:t>
              </a:r>
              <a:endParaRPr lang="en-US" altLang="x-none" sz="2800" b="1" strike="noStrike" noProof="1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marL="186055" lvl="1" indent="0" algn="l" eaLnBrk="1" fontAlgn="base" hangingPunct="1">
                <a:lnSpc>
                  <a:spcPct val="120000"/>
                </a:lnSpc>
                <a:spcBef>
                  <a:spcPts val="600"/>
                </a:spcBef>
                <a:buClr>
                  <a:srgbClr val="FF0066"/>
                </a:buClr>
                <a:buFont typeface="Wingdings" panose="05000000000000000000" pitchFamily="2" charset="2"/>
                <a:buNone/>
              </a:pPr>
              <a:r>
                <a:rPr lang="en-US" altLang="x-none" sz="2800" b="1" strike="noStrike" noProof="1">
                  <a:solidFill>
                    <a:srgbClr val="FF0066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ea"/>
                </a:rPr>
                <a:t>  [</a:t>
              </a:r>
              <a:r>
                <a:rPr lang="en-US" altLang="x-none" sz="2800" b="1" strike="noStrike" noProof="1">
                  <a:latin typeface="Arial" panose="020B0604020202020204" pitchFamily="34" charset="0"/>
                  <a:ea typeface="宋体" panose="02010600030101010101" pitchFamily="2" charset="-122"/>
                  <a:cs typeface="+mn-ea"/>
                </a:rPr>
                <a:t>ON DELETE CASCADE</a:t>
              </a:r>
              <a:r>
                <a:rPr lang="en-US" altLang="x-none" sz="2800" b="1" strike="noStrike" noProof="1">
                  <a:solidFill>
                    <a:srgbClr val="FF0066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ea"/>
                </a:rPr>
                <a:t>|</a:t>
              </a:r>
              <a:r>
                <a:rPr lang="en-US" altLang="x-none" sz="2800" b="1" u="sng" strike="noStrike" noProof="1">
                  <a:latin typeface="Arial" panose="020B0604020202020204" pitchFamily="34" charset="0"/>
                  <a:ea typeface="宋体" panose="02010600030101010101" pitchFamily="2" charset="-122"/>
                  <a:cs typeface="+mn-ea"/>
                </a:rPr>
                <a:t>RESTRICT</a:t>
              </a:r>
              <a:r>
                <a:rPr lang="en-US" altLang="x-none" sz="2800" b="1" strike="noStrike" noProof="1">
                  <a:solidFill>
                    <a:srgbClr val="FF0066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ea"/>
                </a:rPr>
                <a:t>|</a:t>
              </a:r>
              <a:r>
                <a:rPr lang="en-US" altLang="x-none" sz="2800" b="1" strike="noStrike" noProof="1">
                  <a:latin typeface="Arial" panose="020B0604020202020204" pitchFamily="34" charset="0"/>
                  <a:ea typeface="宋体" panose="02010600030101010101" pitchFamily="2" charset="-122"/>
                  <a:cs typeface="+mn-ea"/>
                </a:rPr>
                <a:t>SET NULL</a:t>
              </a:r>
              <a:r>
                <a:rPr lang="en-US" altLang="x-none" sz="2800" b="1" strike="noStrike" noProof="1">
                  <a:solidFill>
                    <a:srgbClr val="FF0066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ea"/>
                </a:rPr>
                <a:t>]</a:t>
              </a:r>
              <a:endParaRPr lang="en-US" altLang="x-none" sz="2800" b="1" strike="noStrike" noProof="1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marL="186055" lvl="1" indent="0" algn="l" eaLnBrk="1" fontAlgn="base" hangingPunct="1">
                <a:lnSpc>
                  <a:spcPct val="120000"/>
                </a:lnSpc>
                <a:spcBef>
                  <a:spcPts val="600"/>
                </a:spcBef>
                <a:buClr>
                  <a:srgbClr val="FF0066"/>
                </a:buClr>
                <a:buFont typeface="Wingdings" panose="05000000000000000000" pitchFamily="2" charset="2"/>
                <a:buNone/>
              </a:pPr>
              <a:r>
                <a:rPr lang="en-US" altLang="x-none" sz="2800" b="1" strike="noStrike" noProof="1">
                  <a:solidFill>
                    <a:srgbClr val="FF0066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ea"/>
                </a:rPr>
                <a:t>  [</a:t>
              </a:r>
              <a:r>
                <a:rPr lang="en-US" altLang="x-none" sz="2800" b="1" strike="noStrike" noProof="1">
                  <a:latin typeface="Arial" panose="020B0604020202020204" pitchFamily="34" charset="0"/>
                  <a:ea typeface="宋体" panose="02010600030101010101" pitchFamily="2" charset="-122"/>
                  <a:cs typeface="+mn-ea"/>
                </a:rPr>
                <a:t>ON UPDATE CASCADE</a:t>
              </a:r>
              <a:r>
                <a:rPr lang="en-US" altLang="x-none" sz="2800" b="1" strike="noStrike" noProof="1">
                  <a:solidFill>
                    <a:srgbClr val="FF0066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ea"/>
                </a:rPr>
                <a:t>|</a:t>
              </a:r>
              <a:r>
                <a:rPr lang="en-US" altLang="x-none" sz="2800" b="1" u="sng" strike="noStrike" noProof="1">
                  <a:latin typeface="Arial" panose="020B0604020202020204" pitchFamily="34" charset="0"/>
                  <a:ea typeface="宋体" panose="02010600030101010101" pitchFamily="2" charset="-122"/>
                  <a:cs typeface="+mn-ea"/>
                </a:rPr>
                <a:t>RESTRICT</a:t>
              </a:r>
              <a:r>
                <a:rPr lang="en-US" altLang="x-none" sz="2800" b="1" strike="noStrike" noProof="1">
                  <a:solidFill>
                    <a:srgbClr val="FF0066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ea"/>
                </a:rPr>
                <a:t>|</a:t>
              </a:r>
              <a:r>
                <a:rPr lang="en-US" altLang="x-none" sz="2800" b="1" strike="noStrike" noProof="1">
                  <a:latin typeface="Arial" panose="020B0604020202020204" pitchFamily="34" charset="0"/>
                  <a:ea typeface="宋体" panose="02010600030101010101" pitchFamily="2" charset="-122"/>
                  <a:cs typeface="+mn-ea"/>
                </a:rPr>
                <a:t>SET NULL</a:t>
              </a:r>
              <a:r>
                <a:rPr lang="en-US" altLang="x-none" sz="2800" b="1" strike="noStrike" noProof="1">
                  <a:solidFill>
                    <a:srgbClr val="FF0066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ea"/>
                </a:rPr>
                <a:t>]</a:t>
              </a:r>
              <a:endParaRPr lang="en-US" altLang="x-none" sz="2800" b="1" strike="noStrike" noProof="1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72" name="文本框 3"/>
            <p:cNvSpPr txBox="1"/>
            <p:nvPr/>
          </p:nvSpPr>
          <p:spPr>
            <a:xfrm>
              <a:off x="237" y="1846"/>
              <a:ext cx="6043" cy="81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2800" b="1">
                  <a:solidFill>
                    <a:srgbClr val="0000CC"/>
                  </a:solidFill>
                  <a:latin typeface="Arial" panose="020B0604020202020204" pitchFamily="34" charset="0"/>
                </a:rPr>
                <a:t>&lt;table constraints&gt; is</a:t>
              </a:r>
              <a:endParaRPr lang="en-US" altLang="zh-CN" sz="2800" b="1">
                <a:solidFill>
                  <a:srgbClr val="0000CC"/>
                </a:solidFill>
                <a:latin typeface="Arial" panose="020B0604020202020204" pitchFamily="34" charset="0"/>
                <a:ea typeface="Times New Roman" panose="02020603050405020304" pitchFamily="2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日期占位符 3"/>
          <p:cNvSpPr txBox="1">
            <a:spLocks noGrp="1"/>
          </p:cNvSpPr>
          <p:nvPr/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BB962C8B-B14F-4D97-AF65-F5344CB8AC3E}" type="datetime1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12290" name="页脚占位符 4"/>
          <p:cNvSpPr txBox="1">
            <a:spLocks noGrp="1"/>
          </p:cNvSpPr>
          <p:nvPr/>
        </p:nvSpPr>
        <p:spPr>
          <a:xfrm>
            <a:off x="2590800" y="6553200"/>
            <a:ext cx="39624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Integrity,Views,Security,and Catalogs</a:t>
            </a:r>
            <a:endParaRPr lang="en-US" altLang="zh-CN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12291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10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12292" name="Rectangle 2"/>
          <p:cNvSpPr>
            <a:spLocks noGrp="1"/>
          </p:cNvSpPr>
          <p:nvPr>
            <p:ph type="title" idx="4294967295"/>
          </p:nvPr>
        </p:nvSpPr>
        <p:spPr>
          <a:ln/>
        </p:spPr>
        <p:txBody>
          <a:bodyPr wrap="square" anchor="ctr"/>
          <a:lstStyle/>
          <a:p>
            <a:pPr algn="l" eaLnBrk="1" hangingPunct="1"/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Def.7.1.2  Column Constraints</a:t>
            </a:r>
          </a:p>
        </p:txBody>
      </p:sp>
      <p:sp>
        <p:nvSpPr>
          <p:cNvPr id="11270" name="Rectangle 3"/>
          <p:cNvSpPr>
            <a:spLocks noGrp="1"/>
          </p:cNvSpPr>
          <p:nvPr>
            <p:ph type="body" idx="4294967295"/>
          </p:nvPr>
        </p:nvSpPr>
        <p:spPr>
          <a:xfrm>
            <a:off x="98425" y="622300"/>
            <a:ext cx="8732838" cy="5686425"/>
          </a:xfrm>
        </p:spPr>
        <p:txBody>
          <a:bodyPr wrap="square" anchor="t"/>
          <a:lstStyle/>
          <a:p>
            <a:pPr marL="514350" lvl="0" indent="-514350" eaLnBrk="1" fontAlgn="base" hangingPunct="1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AutoNum type="arabicPeriod"/>
            </a:pPr>
            <a:r>
              <a:rPr lang="en-US" altLang="x-none" sz="2800" strike="noStrike" noProof="1">
                <a:ea typeface="宋体" panose="02010600030101010101" pitchFamily="2" charset="-122"/>
              </a:rPr>
              <a:t>NOT NULL  </a:t>
            </a:r>
            <a:r>
              <a:rPr lang="en-US" altLang="x-none" sz="2800" strike="noStrike" noProof="1">
                <a:solidFill>
                  <a:srgbClr val="FF0066"/>
                </a:solidFill>
                <a:ea typeface="宋体" panose="02010600030101010101" pitchFamily="2" charset="-122"/>
              </a:rPr>
              <a:t>vs.</a:t>
            </a:r>
            <a:r>
              <a:rPr lang="en-US" altLang="x-none" sz="2800" strike="noStrike" noProof="1">
                <a:ea typeface="宋体" panose="02010600030101010101" pitchFamily="2" charset="-122"/>
              </a:rPr>
              <a:t>  DEFAULT NULL</a:t>
            </a:r>
          </a:p>
          <a:p>
            <a:pPr marL="914400" lvl="1" indent="-457200" eaLnBrk="1" fontAlgn="base" hangingPunct="1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AutoNum type="arabicPeriod"/>
            </a:pPr>
            <a:endParaRPr lang="en-US" altLang="x-none" sz="1400" strike="noStrike" noProof="1">
              <a:ea typeface="宋体" panose="02010600030101010101" pitchFamily="2" charset="-122"/>
            </a:endParaRPr>
          </a:p>
          <a:p>
            <a:pPr marL="914400" lvl="1" indent="-457200" eaLnBrk="1" fontAlgn="base" hangingPunct="1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AutoNum type="arabicPeriod"/>
            </a:pPr>
            <a:endParaRPr lang="en-US" altLang="x-none" sz="1400" strike="noStrike" noProof="1">
              <a:ea typeface="宋体" panose="02010600030101010101" pitchFamily="2" charset="-122"/>
            </a:endParaRPr>
          </a:p>
          <a:p>
            <a:pPr marL="914400" lvl="1" indent="-457200" eaLnBrk="1" fontAlgn="base" hangingPunct="1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AutoNum type="arabicPeriod"/>
            </a:pPr>
            <a:endParaRPr lang="en-US" altLang="x-none" sz="1400" strike="noStrike" noProof="1">
              <a:ea typeface="宋体" panose="02010600030101010101" pitchFamily="2" charset="-122"/>
            </a:endParaRPr>
          </a:p>
          <a:p>
            <a:pPr marL="914400" lvl="1" indent="-457200" eaLnBrk="1" fontAlgn="base" hangingPunct="1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AutoNum type="arabicPeriod"/>
            </a:pPr>
            <a:endParaRPr lang="en-US" altLang="x-none" sz="1400" strike="noStrike" noProof="1">
              <a:ea typeface="宋体" panose="02010600030101010101" pitchFamily="2" charset="-122"/>
            </a:endParaRPr>
          </a:p>
          <a:p>
            <a:pPr marL="457200" lvl="0" indent="-457200" eaLnBrk="1" fontAlgn="base" hangingPunct="1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AutoNum type="arabicPeriod"/>
            </a:pPr>
            <a:r>
              <a:rPr lang="en-US" altLang="x-none" sz="2800" strike="noStrike" noProof="1">
                <a:ea typeface="宋体" panose="02010600030101010101" pitchFamily="2" charset="-122"/>
              </a:rPr>
              <a:t>Constraint name</a:t>
            </a:r>
          </a:p>
          <a:p>
            <a:pPr marL="914400" lvl="1" indent="-457200" eaLnBrk="1" fontAlgn="base" hangingPunct="1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x-none" sz="2800" strike="noStrike" noProof="1">
                <a:solidFill>
                  <a:schemeClr val="tx1"/>
                </a:solidFill>
                <a:ea typeface="宋体" panose="02010600030101010101" pitchFamily="2" charset="-122"/>
              </a:rPr>
              <a:t>optional</a:t>
            </a:r>
            <a:r>
              <a:rPr lang="zh-CN" altLang="en-US" sz="2800" strike="noStrike" noProof="1">
                <a:solidFill>
                  <a:schemeClr val="tx1"/>
                </a:solidFill>
                <a:ea typeface="宋体" panose="02010600030101010101" pitchFamily="2" charset="-122"/>
              </a:rPr>
              <a:t>，</a:t>
            </a:r>
            <a:r>
              <a:rPr lang="en-US" altLang="x-none" sz="2800" strike="noStrike" noProof="1">
                <a:solidFill>
                  <a:schemeClr val="tx1"/>
                </a:solidFill>
                <a:ea typeface="宋体" panose="02010600030101010101" pitchFamily="2" charset="-122"/>
              </a:rPr>
              <a:t>we can later drop the constraint with an ALTER TABLE command</a:t>
            </a:r>
          </a:p>
          <a:p>
            <a:pPr marL="457200" lvl="0" indent="-457200" eaLnBrk="1" fontAlgn="base" hangingPunct="1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x-none" sz="2800" strike="noStrike" noProof="1">
                <a:ea typeface="宋体" panose="02010600030101010101" pitchFamily="2" charset="-122"/>
              </a:rPr>
              <a:t>UNIQUE  </a:t>
            </a:r>
            <a:r>
              <a:rPr lang="en-US" altLang="x-none" sz="2800" strike="noStrike" noProof="1">
                <a:solidFill>
                  <a:srgbClr val="FF0066"/>
                </a:solidFill>
                <a:ea typeface="宋体" panose="02010600030101010101" pitchFamily="2" charset="-122"/>
              </a:rPr>
              <a:t>vs.</a:t>
            </a:r>
            <a:r>
              <a:rPr lang="en-US" altLang="x-none" sz="2800" strike="noStrike" noProof="1">
                <a:ea typeface="宋体" panose="02010600030101010101" pitchFamily="2" charset="-122"/>
              </a:rPr>
              <a:t>  NOT NULL</a:t>
            </a:r>
          </a:p>
          <a:p>
            <a:pPr marL="914400" lvl="1" indent="-457200" eaLnBrk="1" fontAlgn="base" hangingPunct="1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x-none" sz="2800" strike="noStrike" noProof="1">
                <a:solidFill>
                  <a:srgbClr val="FF0000"/>
                </a:solidFill>
                <a:ea typeface="宋体" panose="02010600030101010101" pitchFamily="2" charset="-122"/>
              </a:rPr>
              <a:t>candidate key</a:t>
            </a:r>
            <a:r>
              <a:rPr lang="en-US" altLang="x-none" sz="2800" strike="noStrike" noProof="1">
                <a:solidFill>
                  <a:schemeClr val="tx1"/>
                </a:solidFill>
                <a:ea typeface="宋体" panose="02010600030101010101" pitchFamily="2" charset="-122"/>
              </a:rPr>
              <a:t>: UNIQUE and NOT NULL</a:t>
            </a:r>
          </a:p>
        </p:txBody>
      </p:sp>
      <p:sp>
        <p:nvSpPr>
          <p:cNvPr id="12294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03238" y="1193800"/>
            <a:ext cx="8564562" cy="1187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342900" indent="-342900">
              <a:buChar char="•"/>
            </a:pPr>
            <a:r>
              <a:rPr lang="zh-CN" altLang="zh-CN" b="1">
                <a:solidFill>
                  <a:schemeClr val="accent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不使用</a:t>
            </a:r>
            <a:r>
              <a:rPr lang="en-US" altLang="zh-CN" b="1">
                <a:solidFill>
                  <a:schemeClr val="accent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DEFAULT</a:t>
            </a:r>
            <a:r>
              <a:rPr lang="zh-CN" altLang="en-US" b="1">
                <a:solidFill>
                  <a:schemeClr val="accent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定义成分，属性的缺省值为</a:t>
            </a:r>
            <a:r>
              <a:rPr lang="en-US" altLang="zh-CN" b="1">
                <a:solidFill>
                  <a:schemeClr val="accent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NULL</a:t>
            </a:r>
            <a:r>
              <a:rPr lang="zh-CN" altLang="en-US" b="1">
                <a:solidFill>
                  <a:schemeClr val="accent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。</a:t>
            </a:r>
          </a:p>
          <a:p>
            <a:pPr marL="342900" indent="-342900">
              <a:buChar char="•"/>
            </a:pPr>
            <a:r>
              <a:rPr lang="en-US" altLang="zh-CN" b="1">
                <a:solidFill>
                  <a:schemeClr val="accent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NOT NULL</a:t>
            </a:r>
            <a:r>
              <a:rPr lang="zh-CN" altLang="en-US" b="1">
                <a:solidFill>
                  <a:schemeClr val="accent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和</a:t>
            </a:r>
            <a:r>
              <a:rPr lang="en-US" altLang="zh-CN" b="1">
                <a:solidFill>
                  <a:schemeClr val="accent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DEFAULT NULL</a:t>
            </a:r>
            <a:r>
              <a:rPr lang="zh-CN" altLang="en-US" b="1">
                <a:solidFill>
                  <a:schemeClr val="accent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是一对矛盾的定义，不能用于同一个属性的定义。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03238" y="5249863"/>
            <a:ext cx="8564562" cy="118903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342900" indent="-342900">
              <a:buChar char="•"/>
            </a:pPr>
            <a:r>
              <a:rPr lang="zh-CN" altLang="en-US" b="1">
                <a:solidFill>
                  <a:schemeClr val="accent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只有当属性值不是</a:t>
            </a:r>
            <a:r>
              <a:rPr lang="en-US" altLang="zh-CN" b="1">
                <a:solidFill>
                  <a:schemeClr val="accent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NULL</a:t>
            </a:r>
            <a:r>
              <a:rPr lang="zh-CN" altLang="en-US" b="1">
                <a:solidFill>
                  <a:schemeClr val="accent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时，</a:t>
            </a:r>
            <a:r>
              <a:rPr lang="en-US" altLang="zh-CN" b="1">
                <a:solidFill>
                  <a:schemeClr val="accent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UNIQUE</a:t>
            </a:r>
            <a:r>
              <a:rPr lang="zh-CN" altLang="en-US" b="1">
                <a:solidFill>
                  <a:schemeClr val="accent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才保证其属性值在表中的唯一性。</a:t>
            </a:r>
          </a:p>
          <a:p>
            <a:pPr marL="342900" indent="-342900">
              <a:buChar char="•"/>
            </a:pPr>
            <a:r>
              <a:rPr lang="zh-CN" altLang="en-US" b="1">
                <a:solidFill>
                  <a:schemeClr val="accent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因此，</a:t>
            </a:r>
            <a:r>
              <a:rPr lang="en-US" altLang="zh-CN" b="1">
                <a:solidFill>
                  <a:schemeClr val="accent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UNIQUE+NOT NULL</a:t>
            </a:r>
            <a:r>
              <a:rPr lang="zh-CN" altLang="en-US" b="1">
                <a:solidFill>
                  <a:schemeClr val="accent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才能实现候选关键字的定义。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2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12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12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12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11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13314" name="Rectangle 2"/>
          <p:cNvSpPr>
            <a:spLocks noGrp="1"/>
          </p:cNvSpPr>
          <p:nvPr>
            <p:ph type="title" idx="4294967295"/>
          </p:nvPr>
        </p:nvSpPr>
        <p:spPr>
          <a:ln/>
        </p:spPr>
        <p:txBody>
          <a:bodyPr wrap="square" anchor="ctr"/>
          <a:lstStyle/>
          <a:p>
            <a:pPr algn="l" eaLnBrk="1" hangingPunct="1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Def.7.1.2  Column Constraints (cont.)</a:t>
            </a:r>
          </a:p>
        </p:txBody>
      </p:sp>
      <p:sp>
        <p:nvSpPr>
          <p:cNvPr id="12294" name="Rectangle 3"/>
          <p:cNvSpPr>
            <a:spLocks noGrp="1"/>
          </p:cNvSpPr>
          <p:nvPr>
            <p:ph type="body" idx="4294967295"/>
          </p:nvPr>
        </p:nvSpPr>
        <p:spPr>
          <a:xfrm>
            <a:off x="76200" y="836613"/>
            <a:ext cx="8916988" cy="519112"/>
          </a:xfrm>
          <a:ln/>
        </p:spPr>
        <p:txBody>
          <a:bodyPr wrap="square" anchor="t">
            <a:spAutoFit/>
          </a:bodyPr>
          <a:lstStyle/>
          <a:p>
            <a:pPr marL="457200" indent="-457200" eaLnBrk="1" hangingPunct="1">
              <a:spcBef>
                <a:spcPts val="600"/>
              </a:spcBef>
              <a:buAutoNum type="arabicPeriod" startAt="4"/>
            </a:pPr>
            <a:r>
              <a:rPr lang="en-US" altLang="zh-CN" sz="2800" dirty="0">
                <a:ea typeface="宋体" panose="02010600030101010101" pitchFamily="2" charset="-122"/>
              </a:rPr>
              <a:t>PRIMARY KEY  </a:t>
            </a:r>
            <a:r>
              <a:rPr lang="en-US" altLang="zh-CN" sz="2800" dirty="0">
                <a:solidFill>
                  <a:srgbClr val="FF0066"/>
                </a:solidFill>
                <a:ea typeface="宋体" panose="02010600030101010101" pitchFamily="2" charset="-122"/>
              </a:rPr>
              <a:t>vs.</a:t>
            </a:r>
            <a:r>
              <a:rPr lang="en-US" altLang="zh-CN" sz="2800" dirty="0">
                <a:ea typeface="宋体" panose="02010600030101010101" pitchFamily="2" charset="-122"/>
              </a:rPr>
              <a:t>  NOT NULL</a:t>
            </a:r>
          </a:p>
        </p:txBody>
      </p:sp>
      <p:sp>
        <p:nvSpPr>
          <p:cNvPr id="3" name="Rectangle 3"/>
          <p:cNvSpPr>
            <a:spLocks noGrp="1"/>
          </p:cNvSpPr>
          <p:nvPr/>
        </p:nvSpPr>
        <p:spPr>
          <a:xfrm>
            <a:off x="76200" y="1984375"/>
            <a:ext cx="8916988" cy="202723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514350" indent="-514350">
              <a:spcBef>
                <a:spcPts val="600"/>
              </a:spcBef>
              <a:buClr>
                <a:schemeClr val="tx1"/>
              </a:buClr>
              <a:buFont typeface="宋体" panose="02010600030101010101" pitchFamily="2" charset="-122"/>
              <a:buAutoNum type="arabicPeriod" startAt="5"/>
            </a:pP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REFERENCES</a:t>
            </a:r>
          </a:p>
          <a:p>
            <a:pPr marL="914400" lvl="1" indent="-457200" algn="l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–"/>
            </a:pPr>
            <a:r>
              <a:rPr lang="en-US" altLang="zh-CN" sz="2800" b="1" u="none" baseline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FOREIGN KEY</a:t>
            </a:r>
            <a:r>
              <a:rPr lang="en-US" altLang="zh-CN" sz="2800" b="1" u="none" baseline="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lang="en-US" altLang="zh-CN" sz="2800" b="1" u="none" baseline="0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vs.</a:t>
            </a:r>
            <a:r>
              <a:rPr lang="en-US" altLang="zh-CN" sz="2800" b="1" u="none" baseline="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800" b="1" u="none" baseline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PRIMARY KEY</a:t>
            </a:r>
          </a:p>
          <a:p>
            <a:pPr marL="914400" lvl="1" indent="-457200" algn="l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–"/>
            </a:pPr>
            <a:r>
              <a:rPr lang="zh-CN" altLang="en-US" sz="2800" b="1" u="none" baseline="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v</a:t>
            </a:r>
            <a:r>
              <a:rPr lang="en-US" altLang="zh-CN" sz="2800" b="1" u="none" baseline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alues of foreign key</a:t>
            </a:r>
          </a:p>
          <a:p>
            <a:pPr marL="914400" lvl="1" indent="-457200" algn="l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–"/>
            </a:pPr>
            <a:r>
              <a:rPr lang="en-US" altLang="zh-CN" sz="2800" b="1" u="none" baseline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CASCADE | </a:t>
            </a:r>
            <a:r>
              <a:rPr lang="en-US" altLang="zh-CN" sz="2800" b="1" u="sng" baseline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RESTRICT</a:t>
            </a:r>
            <a:r>
              <a:rPr lang="en-US" altLang="zh-CN" sz="2800" b="1" u="none" baseline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| SET NULL</a:t>
            </a:r>
            <a:endParaRPr lang="en-US" altLang="zh-CN" sz="2800" b="1" u="none" baseline="0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76200" y="5661025"/>
            <a:ext cx="8916988" cy="51752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514350" indent="-514350">
              <a:spcBef>
                <a:spcPts val="600"/>
              </a:spcBef>
              <a:buClr>
                <a:schemeClr val="tx1"/>
              </a:buClr>
              <a:buFont typeface="宋体" panose="02010600030101010101" pitchFamily="2" charset="-122"/>
              <a:buAutoNum type="arabicPeriod" startAt="6"/>
            </a:pP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CHECK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03238" y="1336675"/>
            <a:ext cx="8564562" cy="4572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342900" indent="-342900">
              <a:buChar char="•"/>
            </a:pPr>
            <a:r>
              <a:rPr lang="en-US" altLang="en-US" b="1">
                <a:solidFill>
                  <a:schemeClr val="accent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PRIMARY KEY</a:t>
            </a:r>
            <a:r>
              <a:rPr lang="zh-CN" altLang="en-US" b="1">
                <a:solidFill>
                  <a:schemeClr val="accent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定义中自动隐含着</a:t>
            </a:r>
            <a:r>
              <a:rPr lang="en-US" altLang="zh-CN" b="1">
                <a:solidFill>
                  <a:schemeClr val="accent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NOT NULL</a:t>
            </a:r>
            <a:r>
              <a:rPr lang="zh-CN" altLang="en-US" b="1">
                <a:solidFill>
                  <a:schemeClr val="accent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约束！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03238" y="4030663"/>
            <a:ext cx="8564562" cy="155416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342900" indent="-342900">
              <a:buChar char="•"/>
            </a:pPr>
            <a:r>
              <a:rPr lang="zh-CN" altLang="en-US" b="1">
                <a:solidFill>
                  <a:schemeClr val="accent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外关键键的取值必须来自被引用表中的主关键字。</a:t>
            </a:r>
          </a:p>
          <a:p>
            <a:pPr marL="342900" indent="-342900">
              <a:buChar char="•"/>
            </a:pPr>
            <a:r>
              <a:rPr lang="zh-CN" altLang="zh-CN" b="1">
                <a:solidFill>
                  <a:schemeClr val="accent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可以在外键的定义中使用</a:t>
            </a:r>
            <a:r>
              <a:rPr lang="en-US" altLang="zh-CN" b="1">
                <a:solidFill>
                  <a:schemeClr val="accent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ON DELETE</a:t>
            </a:r>
            <a:r>
              <a:rPr lang="zh-CN" altLang="en-US" b="1">
                <a:solidFill>
                  <a:schemeClr val="accent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或</a:t>
            </a:r>
            <a:r>
              <a:rPr lang="en-US" altLang="zh-CN" b="1">
                <a:solidFill>
                  <a:schemeClr val="accent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ON UPDATE</a:t>
            </a:r>
            <a:r>
              <a:rPr lang="zh-CN" altLang="en-US" b="1">
                <a:solidFill>
                  <a:schemeClr val="accent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子句，以便在下述情况下确保外键取值的正确性：当被引用表中的某个元组被删除或者其主关键字值被修改时。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01650" y="6107113"/>
            <a:ext cx="8566150" cy="4572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342900" indent="-342900">
              <a:buChar char="•"/>
            </a:pPr>
            <a:r>
              <a:rPr lang="zh-CN" altLang="zh-CN" b="1">
                <a:solidFill>
                  <a:schemeClr val="accent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可以通过一个逻辑表达式来定义该属性的取值约束！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4" grpId="0" build="p"/>
      <p:bldP spid="3" grpId="0" uiExpand="1" build="p"/>
      <p:bldP spid="4" grpId="0" build="p"/>
      <p:bldP spid="5" grpId="0"/>
      <p:bldP spid="6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日期占位符 3"/>
          <p:cNvSpPr txBox="1">
            <a:spLocks noGrp="1"/>
          </p:cNvSpPr>
          <p:nvPr/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BB962C8B-B14F-4D97-AF65-F5344CB8AC3E}" type="datetime1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14338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12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13317" name="Rectangle 3"/>
          <p:cNvSpPr>
            <a:spLocks noGrp="1"/>
          </p:cNvSpPr>
          <p:nvPr>
            <p:ph type="body" idx="4294967295"/>
          </p:nvPr>
        </p:nvSpPr>
        <p:spPr>
          <a:xfrm>
            <a:off x="0" y="0"/>
            <a:ext cx="9144000" cy="6597650"/>
          </a:xfrm>
          <a:ln/>
        </p:spPr>
        <p:txBody>
          <a:bodyPr wrap="square" anchor="t"/>
          <a:lstStyle/>
          <a:p>
            <a:pPr marL="457200" indent="-457200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Def.7.1.3  Table Constraints</a:t>
            </a:r>
          </a:p>
          <a:p>
            <a:pPr marL="914400" lvl="1" indent="-457200" eaLnBrk="1" hangingPunct="1">
              <a:lnSpc>
                <a:spcPct val="120000"/>
              </a:lnSpc>
              <a:spcBef>
                <a:spcPts val="600"/>
              </a:spcBef>
              <a:buAutoNum type="arabicPeriod"/>
            </a:pPr>
            <a:r>
              <a:rPr lang="en-US" altLang="zh-CN" sz="2800" dirty="0">
                <a:ea typeface="宋体" panose="02010600030101010101" pitchFamily="2" charset="-122"/>
              </a:rPr>
              <a:t>Constraint name</a:t>
            </a:r>
          </a:p>
          <a:p>
            <a:pPr marL="914400" lvl="1" indent="-457200" eaLnBrk="1" hangingPunct="1">
              <a:lnSpc>
                <a:spcPct val="120000"/>
              </a:lnSpc>
              <a:spcBef>
                <a:spcPts val="600"/>
              </a:spcBef>
              <a:buAutoNum type="arabicPeriod"/>
            </a:pPr>
            <a:r>
              <a:rPr lang="en-US" altLang="zh-CN" sz="2800" dirty="0">
                <a:ea typeface="宋体" panose="02010600030101010101" pitchFamily="2" charset="-122"/>
              </a:rPr>
              <a:t>UNIQUE  </a:t>
            </a:r>
            <a:r>
              <a:rPr lang="en-US" altLang="zh-CN" sz="2800" dirty="0">
                <a:solidFill>
                  <a:srgbClr val="FF0066"/>
                </a:solidFill>
                <a:ea typeface="宋体" panose="02010600030101010101" pitchFamily="2" charset="-122"/>
              </a:rPr>
              <a:t>vs.</a:t>
            </a:r>
            <a:r>
              <a:rPr lang="en-US" altLang="zh-CN" sz="2800" dirty="0">
                <a:ea typeface="宋体" panose="02010600030101010101" pitchFamily="2" charset="-122"/>
              </a:rPr>
              <a:t>  NOT NULL</a:t>
            </a:r>
          </a:p>
          <a:p>
            <a:pPr marL="1371600" lvl="2" indent="-457200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candidate key</a:t>
            </a:r>
            <a:r>
              <a:rPr lang="en-US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: </a:t>
            </a:r>
            <a:r>
              <a:rPr lang="en-US" altLang="zh-CN" sz="2800" dirty="0">
                <a:solidFill>
                  <a:srgbClr val="0000CC"/>
                </a:solidFill>
                <a:ea typeface="宋体" panose="02010600030101010101" pitchFamily="2" charset="-122"/>
              </a:rPr>
              <a:t>UNIQUE and all attributes is NOT NULL</a:t>
            </a:r>
          </a:p>
          <a:p>
            <a:pPr marL="914400" lvl="1" indent="-457200" eaLnBrk="1" hangingPunct="1">
              <a:lnSpc>
                <a:spcPct val="120000"/>
              </a:lnSpc>
              <a:spcBef>
                <a:spcPts val="600"/>
              </a:spcBef>
              <a:buAutoNum type="arabicPeriod"/>
            </a:pPr>
            <a:r>
              <a:rPr lang="en-US" altLang="zh-CN" sz="2800" dirty="0">
                <a:ea typeface="宋体" panose="02010600030101010101" pitchFamily="2" charset="-122"/>
              </a:rPr>
              <a:t>PRIMARY KEY  </a:t>
            </a:r>
            <a:r>
              <a:rPr lang="en-US" altLang="zh-CN" sz="2800" dirty="0">
                <a:solidFill>
                  <a:srgbClr val="FF0066"/>
                </a:solidFill>
                <a:ea typeface="宋体" panose="02010600030101010101" pitchFamily="2" charset="-122"/>
              </a:rPr>
              <a:t>vs.</a:t>
            </a:r>
            <a:r>
              <a:rPr lang="en-US" altLang="zh-CN" sz="2800" dirty="0">
                <a:ea typeface="宋体" panose="02010600030101010101" pitchFamily="2" charset="-122"/>
              </a:rPr>
              <a:t>  NOT NULL</a:t>
            </a:r>
          </a:p>
          <a:p>
            <a:pPr marL="914400" lvl="1" indent="-457200" eaLnBrk="1" hangingPunct="1">
              <a:lnSpc>
                <a:spcPct val="120000"/>
              </a:lnSpc>
              <a:spcBef>
                <a:spcPts val="600"/>
              </a:spcBef>
              <a:buAutoNum type="arabicPeriod"/>
            </a:pPr>
            <a:r>
              <a:rPr lang="en-US" altLang="zh-CN" sz="2800" dirty="0">
                <a:ea typeface="宋体" panose="02010600030101010101" pitchFamily="2" charset="-122"/>
              </a:rPr>
              <a:t>FOREIGN KEY</a:t>
            </a:r>
          </a:p>
          <a:p>
            <a:pPr marL="1371600" lvl="2" indent="-457200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FOREIGN KEY</a:t>
            </a:r>
            <a:r>
              <a:rPr lang="en-US" altLang="zh-CN" sz="2800" dirty="0">
                <a:ea typeface="宋体" panose="02010600030101010101" pitchFamily="2" charset="-122"/>
              </a:rPr>
              <a:t>  </a:t>
            </a:r>
            <a:r>
              <a:rPr lang="en-US" altLang="zh-CN" sz="2800" dirty="0">
                <a:solidFill>
                  <a:srgbClr val="FF0066"/>
                </a:solidFill>
                <a:ea typeface="宋体" panose="02010600030101010101" pitchFamily="2" charset="-122"/>
              </a:rPr>
              <a:t>vs.</a:t>
            </a:r>
            <a:r>
              <a:rPr lang="en-US" altLang="zh-CN" sz="2800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PRIMARY KEY</a:t>
            </a:r>
          </a:p>
          <a:p>
            <a:pPr marL="1371600" lvl="2" indent="-457200" eaLnBrk="1" hangingPunct="1">
              <a:lnSpc>
                <a:spcPct val="120000"/>
              </a:lnSpc>
              <a:spcBef>
                <a:spcPts val="600"/>
              </a:spcBef>
            </a:pPr>
            <a:r>
              <a:rPr lang="zh-CN" altLang="en-US" sz="2800" dirty="0">
                <a:solidFill>
                  <a:schemeClr val="tx1"/>
                </a:solidFill>
                <a:ea typeface="宋体" panose="02010600030101010101" pitchFamily="2" charset="-122"/>
              </a:rPr>
              <a:t>v</a:t>
            </a:r>
            <a:r>
              <a:rPr lang="en-US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alues of foreign key</a:t>
            </a:r>
          </a:p>
          <a:p>
            <a:pPr marL="1371600" lvl="2" indent="-457200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CASCADE | </a:t>
            </a:r>
            <a:r>
              <a:rPr lang="en-US" altLang="zh-CN" sz="2800" u="sng" dirty="0">
                <a:solidFill>
                  <a:schemeClr val="tx1"/>
                </a:solidFill>
                <a:ea typeface="宋体" panose="02010600030101010101" pitchFamily="2" charset="-122"/>
              </a:rPr>
              <a:t>RESTRICT</a:t>
            </a:r>
            <a:r>
              <a:rPr lang="en-US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 | SET NULL</a:t>
            </a:r>
          </a:p>
          <a:p>
            <a:pPr marL="914400" lvl="1" indent="-457200" eaLnBrk="1" hangingPunct="1">
              <a:lnSpc>
                <a:spcPct val="120000"/>
              </a:lnSpc>
              <a:spcBef>
                <a:spcPts val="600"/>
              </a:spcBef>
              <a:buAutoNum type="arabicPeriod"/>
            </a:pPr>
            <a:r>
              <a:rPr lang="en-US" altLang="zh-CN" sz="2800" dirty="0">
                <a:ea typeface="宋体" panose="02010600030101010101" pitchFamily="2" charset="-122"/>
              </a:rPr>
              <a:t>CHECK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3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3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charRg st="67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317">
                                            <p:txEl>
                                              <p:charRg st="67" end="8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33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33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33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33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33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33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日期占位符 3"/>
          <p:cNvSpPr txBox="1">
            <a:spLocks noGrp="1"/>
          </p:cNvSpPr>
          <p:nvPr/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BB962C8B-B14F-4D97-AF65-F5344CB8AC3E}" type="datetime1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15362" name="页脚占位符 4"/>
          <p:cNvSpPr txBox="1">
            <a:spLocks noGrp="1"/>
          </p:cNvSpPr>
          <p:nvPr/>
        </p:nvSpPr>
        <p:spPr>
          <a:xfrm>
            <a:off x="2590800" y="6553200"/>
            <a:ext cx="39624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Integrity,Views,Security,and Catalogs</a:t>
            </a:r>
            <a:endParaRPr lang="en-US" altLang="zh-CN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15363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13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15364" name="Rectangle 2"/>
          <p:cNvSpPr>
            <a:spLocks noGrp="1"/>
          </p:cNvSpPr>
          <p:nvPr>
            <p:ph type="title" idx="4294967295"/>
          </p:nvPr>
        </p:nvSpPr>
        <p:spPr>
          <a:ln/>
        </p:spPr>
        <p:txBody>
          <a:bodyPr wrap="square" anchor="ctr"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7.1 </a:t>
            </a:r>
            <a:r>
              <a:rPr lang="en-US" altLang="zh-CN" dirty="0">
                <a:ea typeface="宋体" panose="02010600030101010101" pitchFamily="2" charset="-122"/>
              </a:rPr>
              <a:t>Integrity Constraints</a:t>
            </a:r>
          </a:p>
        </p:txBody>
      </p:sp>
      <p:sp>
        <p:nvSpPr>
          <p:cNvPr id="15365" name="Rectangle 3"/>
          <p:cNvSpPr>
            <a:spLocks noGrp="1"/>
          </p:cNvSpPr>
          <p:nvPr>
            <p:ph type="body" idx="4294967295"/>
          </p:nvPr>
        </p:nvSpPr>
        <p:spPr>
          <a:xfrm>
            <a:off x="0" y="765175"/>
            <a:ext cx="9144000" cy="5616575"/>
          </a:xfrm>
          <a:ln/>
        </p:spPr>
        <p:txBody>
          <a:bodyPr wrap="square" anchor="t"/>
          <a:lstStyle/>
          <a:p>
            <a:pPr eaLnBrk="1" hangingPunct="1">
              <a:lnSpc>
                <a:spcPct val="110000"/>
              </a:lnSpc>
              <a:spcBef>
                <a:spcPts val="600"/>
              </a:spcBef>
            </a:pPr>
            <a:r>
              <a:rPr lang="en-US" altLang="zh-CN" sz="3200" dirty="0">
                <a:ea typeface="宋体" panose="02010600030101010101" pitchFamily="2" charset="-122"/>
              </a:rPr>
              <a:t>Example 7.1.2 </a:t>
            </a:r>
            <a:r>
              <a:rPr lang="en-US" altLang="zh-CN" sz="3200" dirty="0">
                <a:solidFill>
                  <a:schemeClr val="tx1"/>
                </a:solidFill>
                <a:ea typeface="宋体" panose="02010600030101010101" pitchFamily="2" charset="-122"/>
              </a:rPr>
              <a:t>(Figure 7.2, pg. 415)</a:t>
            </a:r>
            <a:endParaRPr lang="en-US" altLang="zh-CN" sz="32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altLang="zh-CN" sz="3200" dirty="0">
                <a:solidFill>
                  <a:srgbClr val="FF0066"/>
                </a:solidFill>
                <a:ea typeface="宋体" panose="02010600030101010101" pitchFamily="2" charset="-122"/>
              </a:rPr>
              <a:t>create table</a:t>
            </a:r>
            <a:r>
              <a:rPr lang="en-US" altLang="zh-CN" sz="3200" dirty="0">
                <a:ea typeface="宋体" panose="02010600030101010101" pitchFamily="2" charset="-122"/>
              </a:rPr>
              <a:t> customers (</a:t>
            </a:r>
          </a:p>
          <a:p>
            <a:pPr lvl="2" eaLnBrk="1" hangingPunct="1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3200" dirty="0">
                <a:solidFill>
                  <a:schemeClr val="tx1"/>
                </a:solidFill>
                <a:ea typeface="宋体" panose="02010600030101010101" pitchFamily="2" charset="-122"/>
              </a:rPr>
              <a:t>cid</a:t>
            </a:r>
            <a:r>
              <a:rPr lang="en-US" altLang="zh-CN" sz="3200" dirty="0">
                <a:ea typeface="宋体" panose="02010600030101010101" pitchFamily="2" charset="-122"/>
              </a:rPr>
              <a:t> </a:t>
            </a:r>
            <a:r>
              <a:rPr lang="en-US" altLang="zh-CN" sz="3200" dirty="0">
                <a:solidFill>
                  <a:schemeClr val="accent2"/>
                </a:solidFill>
                <a:ea typeface="宋体" panose="02010600030101010101" pitchFamily="2" charset="-122"/>
              </a:rPr>
              <a:t>char</a:t>
            </a:r>
            <a:r>
              <a:rPr lang="en-US" altLang="zh-CN" sz="3200" dirty="0">
                <a:solidFill>
                  <a:schemeClr val="tx1"/>
                </a:solidFill>
                <a:ea typeface="宋体" panose="02010600030101010101" pitchFamily="2" charset="-122"/>
              </a:rPr>
              <a:t>(4) </a:t>
            </a:r>
            <a:r>
              <a:rPr lang="en-US" altLang="zh-CN" sz="3200" dirty="0">
                <a:solidFill>
                  <a:srgbClr val="FF0066"/>
                </a:solidFill>
                <a:ea typeface="宋体" panose="02010600030101010101" pitchFamily="2" charset="-122"/>
              </a:rPr>
              <a:t>not null</a:t>
            </a:r>
            <a:r>
              <a:rPr lang="en-US" altLang="zh-CN" sz="3200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  <a:p>
            <a:pPr lvl="2" eaLnBrk="1" hangingPunct="1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3200" dirty="0">
                <a:solidFill>
                  <a:schemeClr val="tx1"/>
                </a:solidFill>
                <a:ea typeface="宋体" panose="02010600030101010101" pitchFamily="2" charset="-122"/>
              </a:rPr>
              <a:t>cname</a:t>
            </a:r>
            <a:r>
              <a:rPr lang="en-US" altLang="zh-CN" sz="3200" dirty="0">
                <a:ea typeface="宋体" panose="02010600030101010101" pitchFamily="2" charset="-122"/>
              </a:rPr>
              <a:t> </a:t>
            </a:r>
            <a:r>
              <a:rPr lang="en-US" altLang="zh-CN" sz="3200" dirty="0">
                <a:solidFill>
                  <a:schemeClr val="accent2"/>
                </a:solidFill>
                <a:ea typeface="宋体" panose="02010600030101010101" pitchFamily="2" charset="-122"/>
              </a:rPr>
              <a:t>varchar</a:t>
            </a:r>
            <a:r>
              <a:rPr lang="en-US" altLang="zh-CN" sz="3200" dirty="0">
                <a:solidFill>
                  <a:schemeClr val="tx1"/>
                </a:solidFill>
                <a:ea typeface="宋体" panose="02010600030101010101" pitchFamily="2" charset="-122"/>
              </a:rPr>
              <a:t>(13),</a:t>
            </a:r>
          </a:p>
          <a:p>
            <a:pPr lvl="2" eaLnBrk="1" hangingPunct="1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3200" dirty="0">
                <a:solidFill>
                  <a:schemeClr val="tx1"/>
                </a:solidFill>
                <a:ea typeface="宋体" panose="02010600030101010101" pitchFamily="2" charset="-122"/>
              </a:rPr>
              <a:t>city</a:t>
            </a:r>
            <a:r>
              <a:rPr lang="en-US" altLang="zh-CN" sz="3200" dirty="0">
                <a:ea typeface="宋体" panose="02010600030101010101" pitchFamily="2" charset="-122"/>
              </a:rPr>
              <a:t> </a:t>
            </a:r>
            <a:r>
              <a:rPr lang="en-US" altLang="zh-CN" sz="3200" dirty="0">
                <a:solidFill>
                  <a:schemeClr val="accent2"/>
                </a:solidFill>
                <a:ea typeface="宋体" panose="02010600030101010101" pitchFamily="2" charset="-122"/>
              </a:rPr>
              <a:t>varchar</a:t>
            </a:r>
            <a:r>
              <a:rPr lang="en-US" altLang="zh-CN" sz="3200" dirty="0">
                <a:solidFill>
                  <a:schemeClr val="tx1"/>
                </a:solidFill>
                <a:ea typeface="宋体" panose="02010600030101010101" pitchFamily="2" charset="-122"/>
              </a:rPr>
              <a:t>(20),</a:t>
            </a:r>
          </a:p>
          <a:p>
            <a:pPr lvl="2" eaLnBrk="1" hangingPunct="1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3200" dirty="0">
                <a:solidFill>
                  <a:schemeClr val="tx1"/>
                </a:solidFill>
                <a:ea typeface="宋体" panose="02010600030101010101" pitchFamily="2" charset="-122"/>
              </a:rPr>
              <a:t>discnt</a:t>
            </a:r>
            <a:r>
              <a:rPr lang="en-US" altLang="zh-CN" sz="3200" dirty="0">
                <a:ea typeface="宋体" panose="02010600030101010101" pitchFamily="2" charset="-122"/>
              </a:rPr>
              <a:t> </a:t>
            </a:r>
            <a:r>
              <a:rPr lang="en-US" altLang="zh-CN" sz="3200" dirty="0">
                <a:solidFill>
                  <a:schemeClr val="accent2"/>
                </a:solidFill>
                <a:ea typeface="宋体" panose="02010600030101010101" pitchFamily="2" charset="-122"/>
              </a:rPr>
              <a:t>real</a:t>
            </a:r>
            <a:r>
              <a:rPr lang="en-US" altLang="zh-CN" sz="3200" dirty="0">
                <a:ea typeface="宋体" panose="02010600030101010101" pitchFamily="2" charset="-122"/>
              </a:rPr>
              <a:t> </a:t>
            </a:r>
            <a:r>
              <a:rPr lang="en-US" altLang="zh-CN" sz="3200" dirty="0">
                <a:solidFill>
                  <a:srgbClr val="FF0066"/>
                </a:solidFill>
                <a:ea typeface="宋体" panose="02010600030101010101" pitchFamily="2" charset="-122"/>
              </a:rPr>
              <a:t>constraint</a:t>
            </a:r>
            <a:r>
              <a:rPr lang="en-US" altLang="zh-CN" sz="3200" dirty="0">
                <a:ea typeface="宋体" panose="02010600030101010101" pitchFamily="2" charset="-122"/>
              </a:rPr>
              <a:t> </a:t>
            </a:r>
            <a:r>
              <a:rPr lang="en-US" altLang="zh-CN" sz="3200" dirty="0">
                <a:solidFill>
                  <a:schemeClr val="tx1"/>
                </a:solidFill>
                <a:ea typeface="宋体" panose="02010600030101010101" pitchFamily="2" charset="-122"/>
              </a:rPr>
              <a:t>discnt_max</a:t>
            </a:r>
          </a:p>
          <a:p>
            <a:pPr lvl="4" eaLnBrk="1" hangingPunct="1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3200" dirty="0">
                <a:solidFill>
                  <a:schemeClr val="tx1"/>
                </a:solidFill>
                <a:ea typeface="宋体" panose="02010600030101010101" pitchFamily="2" charset="-122"/>
              </a:rPr>
              <a:t>		</a:t>
            </a:r>
            <a:r>
              <a:rPr lang="en-US" altLang="zh-CN" sz="3200" dirty="0">
                <a:ea typeface="宋体" panose="02010600030101010101" pitchFamily="2" charset="-122"/>
              </a:rPr>
              <a:t>   </a:t>
            </a:r>
            <a:r>
              <a:rPr lang="en-US" altLang="zh-CN" sz="3200" dirty="0">
                <a:solidFill>
                  <a:srgbClr val="FF0066"/>
                </a:solidFill>
                <a:ea typeface="宋体" panose="02010600030101010101" pitchFamily="2" charset="-122"/>
              </a:rPr>
              <a:t>check</a:t>
            </a:r>
            <a:r>
              <a:rPr lang="en-US" altLang="zh-CN" sz="3200" dirty="0">
                <a:solidFill>
                  <a:schemeClr val="tx1"/>
                </a:solidFill>
                <a:ea typeface="宋体" panose="02010600030101010101" pitchFamily="2" charset="-122"/>
              </a:rPr>
              <a:t>(discnt &lt;= 15.0),</a:t>
            </a:r>
          </a:p>
          <a:p>
            <a:pPr lvl="2" eaLnBrk="1" hangingPunct="1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3200" dirty="0">
                <a:solidFill>
                  <a:srgbClr val="FF0066"/>
                </a:solidFill>
                <a:ea typeface="宋体" panose="02010600030101010101" pitchFamily="2" charset="-122"/>
              </a:rPr>
              <a:t>primary key</a:t>
            </a:r>
            <a:r>
              <a:rPr lang="en-US" altLang="zh-CN" sz="3200" dirty="0">
                <a:solidFill>
                  <a:schemeClr val="tx1"/>
                </a:solidFill>
                <a:ea typeface="宋体" panose="02010600030101010101" pitchFamily="2" charset="-122"/>
              </a:rPr>
              <a:t>(cid)</a:t>
            </a: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3200" dirty="0">
                <a:ea typeface="宋体" panose="02010600030101010101" pitchFamily="2" charset="-122"/>
              </a:rPr>
              <a:t>);</a:t>
            </a:r>
          </a:p>
        </p:txBody>
      </p:sp>
      <p:sp>
        <p:nvSpPr>
          <p:cNvPr id="15366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日期占位符 3"/>
          <p:cNvSpPr txBox="1">
            <a:spLocks noGrp="1"/>
          </p:cNvSpPr>
          <p:nvPr/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BB962C8B-B14F-4D97-AF65-F5344CB8AC3E}" type="datetime1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16386" name="页脚占位符 4"/>
          <p:cNvSpPr txBox="1">
            <a:spLocks noGrp="1"/>
          </p:cNvSpPr>
          <p:nvPr/>
        </p:nvSpPr>
        <p:spPr>
          <a:xfrm>
            <a:off x="2590800" y="6553200"/>
            <a:ext cx="39624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Integrity,Views,Security,and Catalogs</a:t>
            </a:r>
            <a:endParaRPr lang="en-US" altLang="zh-CN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16387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14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16388" name="Rectangle 1026"/>
          <p:cNvSpPr>
            <a:spLocks noGrp="1"/>
          </p:cNvSpPr>
          <p:nvPr>
            <p:ph type="title" idx="4294967295"/>
          </p:nvPr>
        </p:nvSpPr>
        <p:spPr>
          <a:ln/>
        </p:spPr>
        <p:txBody>
          <a:bodyPr wrap="square" anchor="ctr"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7.1 </a:t>
            </a:r>
            <a:r>
              <a:rPr lang="en-US" altLang="zh-CN" dirty="0">
                <a:ea typeface="宋体" panose="02010600030101010101" pitchFamily="2" charset="-122"/>
              </a:rPr>
              <a:t>Integrity Constraints</a:t>
            </a:r>
          </a:p>
        </p:txBody>
      </p:sp>
      <p:sp>
        <p:nvSpPr>
          <p:cNvPr id="16389" name="Rectangle 1027"/>
          <p:cNvSpPr>
            <a:spLocks noGrp="1"/>
          </p:cNvSpPr>
          <p:nvPr>
            <p:ph type="body" idx="4294967295"/>
          </p:nvPr>
        </p:nvSpPr>
        <p:spPr>
          <a:xfrm>
            <a:off x="107950" y="836613"/>
            <a:ext cx="8893175" cy="5562600"/>
          </a:xfrm>
          <a:ln/>
        </p:spPr>
        <p:txBody>
          <a:bodyPr wrap="square" anchor="t"/>
          <a:lstStyle/>
          <a:p>
            <a:pPr eaLnBrk="1" hangingPunct="1">
              <a:buNone/>
            </a:pPr>
            <a:r>
              <a:rPr lang="en-US" altLang="zh-CN" dirty="0">
                <a:solidFill>
                  <a:srgbClr val="FF0066"/>
                </a:solidFill>
                <a:ea typeface="宋体" panose="02010600030101010101" pitchFamily="2" charset="-122"/>
              </a:rPr>
              <a:t>create table</a:t>
            </a:r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orders(</a:t>
            </a:r>
          </a:p>
          <a:p>
            <a:pPr lvl="1" eaLnBrk="1" hangingPunct="1">
              <a:buNone/>
            </a:pPr>
            <a:r>
              <a:rPr lang="en-US" altLang="zh-CN" dirty="0">
                <a:ea typeface="宋体" panose="02010600030101010101" pitchFamily="2" charset="-122"/>
              </a:rPr>
              <a:t>ordno</a:t>
            </a:r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integer</a:t>
            </a:r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FF0066"/>
                </a:solidFill>
                <a:ea typeface="宋体" panose="02010600030101010101" pitchFamily="2" charset="-122"/>
              </a:rPr>
              <a:t>not null</a:t>
            </a:r>
            <a:r>
              <a:rPr lang="en-US" altLang="zh-CN" dirty="0">
                <a:ea typeface="宋体" panose="02010600030101010101" pitchFamily="2" charset="-122"/>
              </a:rPr>
              <a:t>,</a:t>
            </a:r>
          </a:p>
          <a:p>
            <a:pPr lvl="1" eaLnBrk="1" hangingPunct="1">
              <a:buNone/>
            </a:pPr>
            <a:r>
              <a:rPr lang="en-US" altLang="zh-CN" dirty="0">
                <a:ea typeface="宋体" panose="02010600030101010101" pitchFamily="2" charset="-122"/>
              </a:rPr>
              <a:t>month</a:t>
            </a:r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char(3),</a:t>
            </a:r>
          </a:p>
          <a:p>
            <a:pPr lvl="1" eaLnBrk="1" hangingPunct="1">
              <a:buNone/>
            </a:pPr>
            <a:r>
              <a:rPr lang="en-US" altLang="zh-CN" dirty="0">
                <a:ea typeface="宋体" panose="02010600030101010101" pitchFamily="2" charset="-122"/>
              </a:rPr>
              <a:t>cid</a:t>
            </a:r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char(4)</a:t>
            </a:r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FF0066"/>
                </a:solidFill>
                <a:ea typeface="宋体" panose="02010600030101010101" pitchFamily="2" charset="-122"/>
              </a:rPr>
              <a:t>not null</a:t>
            </a:r>
            <a:r>
              <a:rPr lang="en-US" altLang="zh-CN" dirty="0">
                <a:ea typeface="宋体" panose="02010600030101010101" pitchFamily="2" charset="-122"/>
              </a:rPr>
              <a:t>,</a:t>
            </a:r>
          </a:p>
          <a:p>
            <a:pPr lvl="1" eaLnBrk="1" hangingPunct="1">
              <a:buNone/>
            </a:pPr>
            <a:r>
              <a:rPr lang="en-US" altLang="zh-CN" dirty="0">
                <a:ea typeface="宋体" panose="02010600030101010101" pitchFamily="2" charset="-122"/>
              </a:rPr>
              <a:t>aid</a:t>
            </a:r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char(3)</a:t>
            </a:r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FF0066"/>
                </a:solidFill>
                <a:ea typeface="宋体" panose="02010600030101010101" pitchFamily="2" charset="-122"/>
              </a:rPr>
              <a:t>not null</a:t>
            </a:r>
            <a:r>
              <a:rPr lang="en-US" altLang="zh-CN" dirty="0">
                <a:ea typeface="宋体" panose="02010600030101010101" pitchFamily="2" charset="-122"/>
              </a:rPr>
              <a:t>,</a:t>
            </a:r>
          </a:p>
          <a:p>
            <a:pPr lvl="1" eaLnBrk="1" hangingPunct="1">
              <a:buNone/>
            </a:pPr>
            <a:r>
              <a:rPr lang="en-US" altLang="zh-CN" dirty="0">
                <a:ea typeface="宋体" panose="02010600030101010101" pitchFamily="2" charset="-122"/>
              </a:rPr>
              <a:t>pid</a:t>
            </a:r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char(3)</a:t>
            </a:r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FF0066"/>
                </a:solidFill>
                <a:ea typeface="宋体" panose="02010600030101010101" pitchFamily="2" charset="-122"/>
              </a:rPr>
              <a:t>not null</a:t>
            </a:r>
            <a:r>
              <a:rPr lang="en-US" altLang="zh-CN" dirty="0">
                <a:ea typeface="宋体" panose="02010600030101010101" pitchFamily="2" charset="-122"/>
              </a:rPr>
              <a:t>,</a:t>
            </a:r>
          </a:p>
          <a:p>
            <a:pPr lvl="1" eaLnBrk="1" hangingPunct="1">
              <a:buNone/>
            </a:pPr>
            <a:r>
              <a:rPr lang="en-US" altLang="zh-CN" dirty="0">
                <a:ea typeface="宋体" panose="02010600030101010101" pitchFamily="2" charset="-122"/>
              </a:rPr>
              <a:t>qty</a:t>
            </a:r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integer</a:t>
            </a:r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FF0066"/>
                </a:solidFill>
                <a:ea typeface="宋体" panose="02010600030101010101" pitchFamily="2" charset="-122"/>
              </a:rPr>
              <a:t>not null constraint</a:t>
            </a:r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qtyck</a:t>
            </a:r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FF0066"/>
                </a:solidFill>
                <a:ea typeface="宋体" panose="02010600030101010101" pitchFamily="2" charset="-122"/>
              </a:rPr>
              <a:t>check</a:t>
            </a:r>
            <a:r>
              <a:rPr lang="en-US" altLang="zh-CN" dirty="0">
                <a:ea typeface="宋体" panose="02010600030101010101" pitchFamily="2" charset="-122"/>
              </a:rPr>
              <a:t>(</a:t>
            </a:r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qty</a:t>
            </a:r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&gt;=</a:t>
            </a:r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0 ),</a:t>
            </a:r>
          </a:p>
          <a:p>
            <a:pPr lvl="1" eaLnBrk="1" hangingPunct="1">
              <a:buNone/>
            </a:pPr>
            <a:r>
              <a:rPr lang="en-US" altLang="zh-CN" dirty="0">
                <a:ea typeface="宋体" panose="02010600030101010101" pitchFamily="2" charset="-122"/>
              </a:rPr>
              <a:t>dollars</a:t>
            </a:r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float</a:t>
            </a:r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FF0066"/>
                </a:solidFill>
                <a:ea typeface="宋体" panose="02010600030101010101" pitchFamily="2" charset="-122"/>
              </a:rPr>
              <a:t>default</a:t>
            </a:r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0.0</a:t>
            </a:r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FF0066"/>
                </a:solidFill>
                <a:ea typeface="宋体" panose="02010600030101010101" pitchFamily="2" charset="-122"/>
              </a:rPr>
              <a:t>constraint</a:t>
            </a:r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dollarsck</a:t>
            </a:r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FF0066"/>
                </a:solidFill>
                <a:ea typeface="宋体" panose="02010600030101010101" pitchFamily="2" charset="-122"/>
              </a:rPr>
              <a:t>check </a:t>
            </a:r>
            <a:r>
              <a:rPr lang="en-US" altLang="zh-CN" dirty="0">
                <a:ea typeface="宋体" panose="02010600030101010101" pitchFamily="2" charset="-122"/>
              </a:rPr>
              <a:t>( dollars</a:t>
            </a:r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&gt;=</a:t>
            </a:r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0.0</a:t>
            </a:r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),</a:t>
            </a:r>
          </a:p>
          <a:p>
            <a:pPr lvl="1" eaLnBrk="1" hangingPunct="1">
              <a:buNone/>
            </a:pPr>
            <a:r>
              <a:rPr lang="en-US" altLang="zh-CN" dirty="0">
                <a:solidFill>
                  <a:srgbClr val="FF0066"/>
                </a:solidFill>
                <a:ea typeface="宋体" panose="02010600030101010101" pitchFamily="2" charset="-122"/>
              </a:rPr>
              <a:t>primary key</a:t>
            </a:r>
            <a:r>
              <a:rPr lang="en-US" altLang="zh-CN" dirty="0">
                <a:ea typeface="宋体" panose="02010600030101010101" pitchFamily="2" charset="-122"/>
              </a:rPr>
              <a:t> ( ordno ),</a:t>
            </a:r>
          </a:p>
          <a:p>
            <a:pPr lvl="1" eaLnBrk="1" hangingPunct="1">
              <a:buNone/>
            </a:pPr>
            <a:r>
              <a:rPr lang="en-US" altLang="zh-CN" dirty="0">
                <a:solidFill>
                  <a:srgbClr val="FF0066"/>
                </a:solidFill>
                <a:ea typeface="宋体" panose="02010600030101010101" pitchFamily="2" charset="-122"/>
              </a:rPr>
              <a:t>constraint</a:t>
            </a:r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cidref</a:t>
            </a:r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FF0066"/>
                </a:solidFill>
                <a:ea typeface="宋体" panose="02010600030101010101" pitchFamily="2" charset="-122"/>
              </a:rPr>
              <a:t>foreign key</a:t>
            </a:r>
            <a:r>
              <a:rPr lang="en-US" altLang="zh-CN" dirty="0">
                <a:ea typeface="宋体" panose="02010600030101010101" pitchFamily="2" charset="-122"/>
              </a:rPr>
              <a:t> (cid)</a:t>
            </a:r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FF0066"/>
                </a:solidFill>
                <a:ea typeface="宋体" panose="02010600030101010101" pitchFamily="2" charset="-122"/>
              </a:rPr>
              <a:t>references</a:t>
            </a:r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customers,</a:t>
            </a:r>
          </a:p>
          <a:p>
            <a:pPr lvl="1" eaLnBrk="1" hangingPunct="1">
              <a:buNone/>
            </a:pPr>
            <a:r>
              <a:rPr lang="en-US" altLang="zh-CN" dirty="0">
                <a:solidFill>
                  <a:srgbClr val="FF0066"/>
                </a:solidFill>
                <a:ea typeface="宋体" panose="02010600030101010101" pitchFamily="2" charset="-122"/>
              </a:rPr>
              <a:t>constraint</a:t>
            </a:r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aidref</a:t>
            </a:r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FF0066"/>
                </a:solidFill>
                <a:ea typeface="宋体" panose="02010600030101010101" pitchFamily="2" charset="-122"/>
              </a:rPr>
              <a:t>foreign key</a:t>
            </a:r>
            <a:r>
              <a:rPr lang="en-US" altLang="zh-CN" dirty="0">
                <a:ea typeface="宋体" panose="02010600030101010101" pitchFamily="2" charset="-122"/>
              </a:rPr>
              <a:t> (aid)</a:t>
            </a:r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FF0066"/>
                </a:solidFill>
                <a:ea typeface="宋体" panose="02010600030101010101" pitchFamily="2" charset="-122"/>
              </a:rPr>
              <a:t>references</a:t>
            </a:r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agents,</a:t>
            </a:r>
          </a:p>
          <a:p>
            <a:pPr lvl="1" eaLnBrk="1" hangingPunct="1">
              <a:buNone/>
            </a:pPr>
            <a:r>
              <a:rPr lang="en-US" altLang="zh-CN" dirty="0">
                <a:solidFill>
                  <a:srgbClr val="FF0066"/>
                </a:solidFill>
                <a:ea typeface="宋体" panose="02010600030101010101" pitchFamily="2" charset="-122"/>
              </a:rPr>
              <a:t>constraint</a:t>
            </a:r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pidref</a:t>
            </a:r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FF0066"/>
                </a:solidFill>
                <a:ea typeface="宋体" panose="02010600030101010101" pitchFamily="2" charset="-122"/>
              </a:rPr>
              <a:t>foreign key</a:t>
            </a:r>
            <a:r>
              <a:rPr lang="en-US" altLang="zh-CN" dirty="0">
                <a:ea typeface="宋体" panose="02010600030101010101" pitchFamily="2" charset="-122"/>
              </a:rPr>
              <a:t> (pid)</a:t>
            </a:r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FF0066"/>
                </a:solidFill>
                <a:ea typeface="宋体" panose="02010600030101010101" pitchFamily="2" charset="-122"/>
              </a:rPr>
              <a:t>references</a:t>
            </a:r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products );</a:t>
            </a:r>
          </a:p>
        </p:txBody>
      </p:sp>
      <p:sp>
        <p:nvSpPr>
          <p:cNvPr id="15367" name="AutoShape 1028"/>
          <p:cNvSpPr/>
          <p:nvPr/>
        </p:nvSpPr>
        <p:spPr>
          <a:xfrm>
            <a:off x="0" y="1700213"/>
            <a:ext cx="9144000" cy="2160587"/>
          </a:xfrm>
          <a:prstGeom prst="cloudCallout">
            <a:avLst>
              <a:gd name="adj1" fmla="val -10032"/>
              <a:gd name="adj2" fmla="val 50074"/>
            </a:avLst>
          </a:prstGeom>
          <a:solidFill>
            <a:srgbClr val="EAEAEA"/>
          </a:solidFill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/>
          <a:lstStyle/>
          <a:p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dollars</a:t>
            </a:r>
            <a:r>
              <a:rPr lang="en-US" altLang="zh-CN" sz="2800" b="1" dirty="0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float</a:t>
            </a:r>
            <a:r>
              <a:rPr lang="en-US" altLang="zh-CN" sz="2800" b="1" dirty="0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default</a:t>
            </a:r>
            <a:r>
              <a:rPr lang="en-US" altLang="zh-CN" sz="2800" b="1" dirty="0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0.0</a:t>
            </a:r>
            <a:endParaRPr lang="en-US" altLang="zh-CN" sz="2800" b="1" dirty="0">
              <a:solidFill>
                <a:schemeClr val="accent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		constraint</a:t>
            </a:r>
            <a:r>
              <a:rPr lang="en-US" altLang="zh-CN" sz="2800" b="1" dirty="0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dollarsck</a:t>
            </a:r>
            <a:endParaRPr lang="en-US" altLang="zh-CN" sz="2800" b="1" dirty="0">
              <a:solidFill>
                <a:schemeClr val="accent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800" b="1" dirty="0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		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check 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( dollars &gt;= 0.0 ),</a:t>
            </a:r>
            <a:endParaRPr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368" name="AutoShape 1029"/>
          <p:cNvSpPr/>
          <p:nvPr/>
        </p:nvSpPr>
        <p:spPr>
          <a:xfrm>
            <a:off x="-393700" y="2924175"/>
            <a:ext cx="10079038" cy="2160588"/>
          </a:xfrm>
          <a:prstGeom prst="cloudCallout">
            <a:avLst>
              <a:gd name="adj1" fmla="val -9819"/>
              <a:gd name="adj2" fmla="val 50074"/>
            </a:avLst>
          </a:prstGeom>
          <a:solidFill>
            <a:srgbClr val="EAEAEA"/>
          </a:solidFill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rIns="0" anchor="ctr"/>
          <a:lstStyle/>
          <a:p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constraint 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cidref</a:t>
            </a:r>
          </a:p>
          <a:p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foreign key 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(cid) 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references 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customers,</a:t>
            </a:r>
            <a:endParaRPr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392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7" grpId="0" animBg="1"/>
      <p:bldP spid="1536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日期占位符 3"/>
          <p:cNvSpPr txBox="1">
            <a:spLocks noGrp="1"/>
          </p:cNvSpPr>
          <p:nvPr/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BB962C8B-B14F-4D97-AF65-F5344CB8AC3E}" type="datetime1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17410" name="页脚占位符 4"/>
          <p:cNvSpPr txBox="1">
            <a:spLocks noGrp="1"/>
          </p:cNvSpPr>
          <p:nvPr/>
        </p:nvSpPr>
        <p:spPr>
          <a:xfrm>
            <a:off x="2590800" y="6553200"/>
            <a:ext cx="39624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Integrity,Views,Security,and Catalogs</a:t>
            </a:r>
            <a:endParaRPr lang="en-US" altLang="zh-CN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17411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15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17412" name="Rectangle 2"/>
          <p:cNvSpPr>
            <a:spLocks noGrp="1"/>
          </p:cNvSpPr>
          <p:nvPr>
            <p:ph type="title" idx="4294967295"/>
          </p:nvPr>
        </p:nvSpPr>
        <p:spPr>
          <a:ln/>
        </p:spPr>
        <p:txBody>
          <a:bodyPr wrap="square" anchor="ctr"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7.1 </a:t>
            </a:r>
            <a:r>
              <a:rPr lang="en-US" altLang="zh-CN" dirty="0">
                <a:ea typeface="宋体" panose="02010600030101010101" pitchFamily="2" charset="-122"/>
              </a:rPr>
              <a:t>Integrity Constraints</a:t>
            </a:r>
          </a:p>
        </p:txBody>
      </p:sp>
      <p:sp>
        <p:nvSpPr>
          <p:cNvPr id="17413" name="Rectangle 3"/>
          <p:cNvSpPr>
            <a:spLocks noGrp="1"/>
          </p:cNvSpPr>
          <p:nvPr>
            <p:ph type="body" idx="4294967295"/>
          </p:nvPr>
        </p:nvSpPr>
        <p:spPr>
          <a:xfrm>
            <a:off x="107950" y="836613"/>
            <a:ext cx="8902700" cy="5688012"/>
          </a:xfrm>
          <a:ln/>
        </p:spPr>
        <p:txBody>
          <a:bodyPr wrap="square" anchor="t"/>
          <a:lstStyle/>
          <a:p>
            <a:pPr eaLnBrk="1" hangingPunct="1">
              <a:lnSpc>
                <a:spcPct val="110000"/>
              </a:lnSpc>
              <a:spcBef>
                <a:spcPct val="30000"/>
              </a:spcBef>
            </a:pP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we can create table orders by following statement</a:t>
            </a:r>
          </a:p>
          <a:p>
            <a:pPr lvl="1" eaLnBrk="1" hangingPunct="1">
              <a:lnSpc>
                <a:spcPct val="110000"/>
              </a:lnSpc>
              <a:spcBef>
                <a:spcPct val="30000"/>
              </a:spcBef>
              <a:buNone/>
            </a:pPr>
            <a:r>
              <a:rPr lang="en-US" altLang="zh-CN" dirty="0">
                <a:solidFill>
                  <a:srgbClr val="FF0066"/>
                </a:solidFill>
                <a:ea typeface="宋体" panose="02010600030101010101" pitchFamily="2" charset="-122"/>
              </a:rPr>
              <a:t>create table</a:t>
            </a:r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orders</a:t>
            </a:r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(</a:t>
            </a:r>
          </a:p>
          <a:p>
            <a:pPr lvl="2" eaLnBrk="1" hangingPunct="1">
              <a:lnSpc>
                <a:spcPct val="110000"/>
              </a:lnSpc>
              <a:spcBef>
                <a:spcPct val="30000"/>
              </a:spcBef>
              <a:buNone/>
            </a:pP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ordno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FF0066"/>
                </a:solidFill>
                <a:ea typeface="宋体" panose="02010600030101010101" pitchFamily="2" charset="-122"/>
              </a:rPr>
              <a:t>integer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FF0066"/>
                </a:solidFill>
                <a:ea typeface="宋体" panose="02010600030101010101" pitchFamily="2" charset="-122"/>
              </a:rPr>
              <a:t>not null</a:t>
            </a: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,</a:t>
            </a:r>
          </a:p>
          <a:p>
            <a:pPr lvl="2" eaLnBrk="1" hangingPunct="1">
              <a:lnSpc>
                <a:spcPct val="110000"/>
              </a:lnSpc>
              <a:spcBef>
                <a:spcPct val="30000"/>
              </a:spcBef>
              <a:buNone/>
            </a:pP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month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FF0066"/>
                </a:solidFill>
                <a:ea typeface="宋体" panose="02010600030101010101" pitchFamily="2" charset="-122"/>
              </a:rPr>
              <a:t>char</a:t>
            </a: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 (3),</a:t>
            </a:r>
          </a:p>
          <a:p>
            <a:pPr lvl="2" eaLnBrk="1" hangingPunct="1">
              <a:lnSpc>
                <a:spcPct val="110000"/>
              </a:lnSpc>
              <a:spcBef>
                <a:spcPct val="30000"/>
              </a:spcBef>
              <a:buNone/>
            </a:pP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cid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FF0066"/>
                </a:solidFill>
                <a:ea typeface="宋体" panose="02010600030101010101" pitchFamily="2" charset="-122"/>
              </a:rPr>
              <a:t>char</a:t>
            </a: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 (4) </a:t>
            </a:r>
            <a:r>
              <a:rPr lang="en-US" altLang="zh-CN" dirty="0">
                <a:solidFill>
                  <a:srgbClr val="FF0066"/>
                </a:solidFill>
                <a:ea typeface="宋体" panose="02010600030101010101" pitchFamily="2" charset="-122"/>
              </a:rPr>
              <a:t>not null references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customers,</a:t>
            </a:r>
          </a:p>
          <a:p>
            <a:pPr lvl="2" eaLnBrk="1" hangingPunct="1">
              <a:lnSpc>
                <a:spcPct val="110000"/>
              </a:lnSpc>
              <a:spcBef>
                <a:spcPct val="30000"/>
              </a:spcBef>
              <a:buNone/>
            </a:pP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aid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FF0066"/>
                </a:solidFill>
                <a:ea typeface="宋体" panose="02010600030101010101" pitchFamily="2" charset="-122"/>
              </a:rPr>
              <a:t>char</a:t>
            </a: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 (3)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FF0066"/>
                </a:solidFill>
                <a:ea typeface="宋体" panose="02010600030101010101" pitchFamily="2" charset="-122"/>
              </a:rPr>
              <a:t>not null references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agents,</a:t>
            </a:r>
          </a:p>
          <a:p>
            <a:pPr lvl="2" eaLnBrk="1" hangingPunct="1">
              <a:lnSpc>
                <a:spcPct val="110000"/>
              </a:lnSpc>
              <a:spcBef>
                <a:spcPct val="30000"/>
              </a:spcBef>
              <a:buNone/>
            </a:pP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pid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FF0066"/>
                </a:solidFill>
                <a:ea typeface="宋体" panose="02010600030101010101" pitchFamily="2" charset="-122"/>
              </a:rPr>
              <a:t>char</a:t>
            </a: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 (3)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FF0066"/>
                </a:solidFill>
                <a:ea typeface="宋体" panose="02010600030101010101" pitchFamily="2" charset="-122"/>
              </a:rPr>
              <a:t>not null references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products,</a:t>
            </a:r>
          </a:p>
          <a:p>
            <a:pPr lvl="2" eaLnBrk="1" hangingPunct="1">
              <a:lnSpc>
                <a:spcPct val="110000"/>
              </a:lnSpc>
              <a:spcBef>
                <a:spcPct val="30000"/>
              </a:spcBef>
              <a:buNone/>
            </a:pP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qty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FF0066"/>
                </a:solidFill>
                <a:ea typeface="宋体" panose="02010600030101010101" pitchFamily="2" charset="-122"/>
              </a:rPr>
              <a:t>integer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FF0066"/>
                </a:solidFill>
                <a:ea typeface="宋体" panose="02010600030101010101" pitchFamily="2" charset="-122"/>
              </a:rPr>
              <a:t>not null constraint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qtyck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FF0066"/>
                </a:solidFill>
                <a:ea typeface="宋体" panose="02010600030101010101" pitchFamily="2" charset="-122"/>
              </a:rPr>
              <a:t>check</a:t>
            </a: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 ( qty &gt;= 0 ),</a:t>
            </a:r>
          </a:p>
          <a:p>
            <a:pPr lvl="2" eaLnBrk="1" hangingPunct="1">
              <a:lnSpc>
                <a:spcPct val="110000"/>
              </a:lnSpc>
              <a:spcBef>
                <a:spcPct val="30000"/>
              </a:spcBef>
              <a:buNone/>
            </a:pP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dollars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FF0066"/>
                </a:solidFill>
                <a:ea typeface="宋体" panose="02010600030101010101" pitchFamily="2" charset="-122"/>
              </a:rPr>
              <a:t>float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FF0066"/>
                </a:solidFill>
                <a:ea typeface="宋体" panose="02010600030101010101" pitchFamily="2" charset="-122"/>
              </a:rPr>
              <a:t>default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0.0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FF0066"/>
                </a:solidFill>
                <a:ea typeface="宋体" panose="02010600030101010101" pitchFamily="2" charset="-122"/>
              </a:rPr>
              <a:t>constraint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dollarsck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FF0066"/>
                </a:solidFill>
                <a:ea typeface="宋体" panose="02010600030101010101" pitchFamily="2" charset="-122"/>
              </a:rPr>
              <a:t>check </a:t>
            </a: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( dollars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&gt;=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0.0 ),</a:t>
            </a:r>
          </a:p>
          <a:p>
            <a:pPr lvl="2" eaLnBrk="1" hangingPunct="1">
              <a:lnSpc>
                <a:spcPct val="110000"/>
              </a:lnSpc>
              <a:spcBef>
                <a:spcPct val="30000"/>
              </a:spcBef>
              <a:buNone/>
            </a:pPr>
            <a:r>
              <a:rPr lang="en-US" altLang="zh-CN" dirty="0">
                <a:solidFill>
                  <a:srgbClr val="FF0066"/>
                </a:solidFill>
                <a:ea typeface="宋体" panose="02010600030101010101" pitchFamily="2" charset="-122"/>
              </a:rPr>
              <a:t>primary key </a:t>
            </a: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(ordno) );</a:t>
            </a:r>
          </a:p>
        </p:txBody>
      </p:sp>
      <p:sp>
        <p:nvSpPr>
          <p:cNvPr id="16391" name="AutoShape 4"/>
          <p:cNvSpPr/>
          <p:nvPr/>
        </p:nvSpPr>
        <p:spPr>
          <a:xfrm>
            <a:off x="-754062" y="3644900"/>
            <a:ext cx="10942637" cy="2160588"/>
          </a:xfrm>
          <a:prstGeom prst="cloudCallout">
            <a:avLst>
              <a:gd name="adj1" fmla="val -13366"/>
              <a:gd name="adj2" fmla="val -62491"/>
            </a:avLst>
          </a:prstGeom>
          <a:solidFill>
            <a:srgbClr val="EAEAEA"/>
          </a:solidFill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rIns="0" anchor="ctr"/>
          <a:lstStyle/>
          <a:p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cid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char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(4) not null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references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customers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endParaRPr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415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日期占位符 3"/>
          <p:cNvSpPr txBox="1">
            <a:spLocks noGrp="1"/>
          </p:cNvSpPr>
          <p:nvPr/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BB962C8B-B14F-4D97-AF65-F5344CB8AC3E}" type="datetime1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18434" name="页脚占位符 4"/>
          <p:cNvSpPr txBox="1">
            <a:spLocks noGrp="1"/>
          </p:cNvSpPr>
          <p:nvPr/>
        </p:nvSpPr>
        <p:spPr>
          <a:xfrm>
            <a:off x="2590800" y="6553200"/>
            <a:ext cx="39624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Integrity,Views,Security,and Catalogs</a:t>
            </a:r>
            <a:endParaRPr lang="en-US" altLang="zh-CN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18435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16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18436" name="Rectangle 2"/>
          <p:cNvSpPr>
            <a:spLocks noGrp="1"/>
          </p:cNvSpPr>
          <p:nvPr>
            <p:ph type="title" idx="4294967295"/>
          </p:nvPr>
        </p:nvSpPr>
        <p:spPr>
          <a:ln/>
        </p:spPr>
        <p:txBody>
          <a:bodyPr wrap="square" anchor="ctr"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7.1 </a:t>
            </a:r>
            <a:r>
              <a:rPr lang="en-US" altLang="zh-CN" dirty="0">
                <a:ea typeface="宋体" panose="02010600030101010101" pitchFamily="2" charset="-122"/>
              </a:rPr>
              <a:t>Integrity Constraints</a:t>
            </a:r>
          </a:p>
        </p:txBody>
      </p:sp>
      <p:sp>
        <p:nvSpPr>
          <p:cNvPr id="18437" name="Rectangle 3"/>
          <p:cNvSpPr>
            <a:spLocks noGrp="1"/>
          </p:cNvSpPr>
          <p:nvPr>
            <p:ph type="body" idx="4294967295"/>
          </p:nvPr>
        </p:nvSpPr>
        <p:spPr>
          <a:xfrm>
            <a:off x="457200" y="765175"/>
            <a:ext cx="8458200" cy="503238"/>
          </a:xfrm>
          <a:ln/>
        </p:spPr>
        <p:txBody>
          <a:bodyPr wrap="square" anchor="t"/>
          <a:lstStyle/>
          <a:p>
            <a:pPr eaLnBrk="1" hangingPunct="1"/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Primary Keys, Foreign Keys, and Referential Integrity</a:t>
            </a:r>
          </a:p>
        </p:txBody>
      </p:sp>
      <p:graphicFrame>
        <p:nvGraphicFramePr>
          <p:cNvPr id="17415" name="表格 17414"/>
          <p:cNvGraphicFramePr/>
          <p:nvPr/>
        </p:nvGraphicFramePr>
        <p:xfrm>
          <a:off x="179388" y="2670175"/>
          <a:ext cx="3995738" cy="3783013"/>
        </p:xfrm>
        <a:graphic>
          <a:graphicData uri="http://schemas.openxmlformats.org/drawingml/2006/table">
            <a:tbl>
              <a:tblPr/>
              <a:tblGrid>
                <a:gridCol w="887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4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41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9750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u="sng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cid</a:t>
                      </a:r>
                    </a:p>
                  </a:txBody>
                  <a:tcPr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cname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city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discnt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338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c001</a:t>
                      </a:r>
                    </a:p>
                  </a:txBody>
                  <a:tcPr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...</a:t>
                      </a:r>
                      <a:endParaRPr lang="zh-CN" altLang="en-US">
                        <a:solidFill>
                          <a:schemeClr val="accent2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...</a:t>
                      </a:r>
                      <a:endParaRPr lang="zh-CN" altLang="en-US">
                        <a:solidFill>
                          <a:schemeClr val="accent2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...</a:t>
                      </a:r>
                      <a:endParaRPr lang="zh-CN" altLang="en-US">
                        <a:solidFill>
                          <a:schemeClr val="accent2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750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c002</a:t>
                      </a:r>
                    </a:p>
                  </a:txBody>
                  <a:tcPr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...</a:t>
                      </a:r>
                      <a:endParaRPr lang="zh-CN" altLang="en-US">
                        <a:solidFill>
                          <a:schemeClr val="accent2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...</a:t>
                      </a:r>
                      <a:endParaRPr lang="zh-CN" altLang="en-US">
                        <a:solidFill>
                          <a:schemeClr val="accent2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...</a:t>
                      </a:r>
                      <a:endParaRPr lang="zh-CN" altLang="en-US">
                        <a:solidFill>
                          <a:schemeClr val="accent2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337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c003</a:t>
                      </a:r>
                    </a:p>
                  </a:txBody>
                  <a:tcPr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...</a:t>
                      </a:r>
                      <a:endParaRPr lang="zh-CN" altLang="en-US">
                        <a:solidFill>
                          <a:schemeClr val="accent2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...</a:t>
                      </a:r>
                      <a:endParaRPr lang="zh-CN" altLang="en-US">
                        <a:solidFill>
                          <a:schemeClr val="accent2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...</a:t>
                      </a:r>
                      <a:endParaRPr lang="zh-CN" altLang="en-US">
                        <a:solidFill>
                          <a:schemeClr val="accent2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750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c004</a:t>
                      </a:r>
                    </a:p>
                  </a:txBody>
                  <a:tcPr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...</a:t>
                      </a:r>
                      <a:endParaRPr lang="zh-CN" altLang="en-US">
                        <a:solidFill>
                          <a:schemeClr val="accent2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...</a:t>
                      </a:r>
                      <a:endParaRPr lang="zh-CN" altLang="en-US">
                        <a:solidFill>
                          <a:schemeClr val="accent2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...</a:t>
                      </a:r>
                      <a:endParaRPr lang="zh-CN" altLang="en-US">
                        <a:solidFill>
                          <a:schemeClr val="accent2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338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c005</a:t>
                      </a:r>
                    </a:p>
                  </a:txBody>
                  <a:tcPr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...</a:t>
                      </a:r>
                      <a:endParaRPr lang="zh-CN" altLang="en-US">
                        <a:solidFill>
                          <a:schemeClr val="accent2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...</a:t>
                      </a:r>
                      <a:endParaRPr lang="zh-CN" altLang="en-US">
                        <a:solidFill>
                          <a:schemeClr val="accent2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...</a:t>
                      </a:r>
                      <a:endParaRPr lang="zh-CN" altLang="en-US">
                        <a:solidFill>
                          <a:schemeClr val="accent2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9750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c006</a:t>
                      </a:r>
                    </a:p>
                  </a:txBody>
                  <a:tcPr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...</a:t>
                      </a:r>
                      <a:endParaRPr lang="zh-CN" altLang="en-US">
                        <a:solidFill>
                          <a:schemeClr val="accent2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...</a:t>
                      </a:r>
                      <a:endParaRPr lang="zh-CN" altLang="en-US">
                        <a:solidFill>
                          <a:schemeClr val="accent2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...</a:t>
                      </a:r>
                      <a:endParaRPr lang="zh-CN" altLang="en-US">
                        <a:solidFill>
                          <a:schemeClr val="accent2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7457" name="表格 17456"/>
          <p:cNvGraphicFramePr/>
          <p:nvPr/>
        </p:nvGraphicFramePr>
        <p:xfrm>
          <a:off x="4356100" y="1196975"/>
          <a:ext cx="4648200" cy="5616575"/>
        </p:xfrm>
        <a:graphic>
          <a:graphicData uri="http://schemas.openxmlformats.org/drawingml/2006/table">
            <a:tbl>
              <a:tblPr/>
              <a:tblGrid>
                <a:gridCol w="116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8463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u="sng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ordno</a:t>
                      </a:r>
                    </a:p>
                  </a:txBody>
                  <a:tcPr marT="0" marB="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month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cid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......</a:t>
                      </a:r>
                      <a:endParaRPr lang="zh-CN" altLang="en-US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462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1011</a:t>
                      </a:r>
                      <a:endParaRPr lang="zh-CN" altLang="en-US">
                        <a:solidFill>
                          <a:schemeClr val="accent2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jan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c001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......</a:t>
                      </a:r>
                      <a:endParaRPr lang="zh-CN" altLang="en-US">
                        <a:solidFill>
                          <a:schemeClr val="accent2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463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1019</a:t>
                      </a:r>
                      <a:endParaRPr lang="zh-CN" altLang="en-US">
                        <a:solidFill>
                          <a:schemeClr val="accent2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feb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c001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......</a:t>
                      </a:r>
                      <a:endParaRPr lang="zh-CN" altLang="en-US">
                        <a:solidFill>
                          <a:schemeClr val="accent2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462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1017</a:t>
                      </a:r>
                      <a:endParaRPr lang="zh-CN" altLang="en-US">
                        <a:solidFill>
                          <a:schemeClr val="accent2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feb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c001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......</a:t>
                      </a:r>
                      <a:endParaRPr lang="zh-CN" altLang="en-US">
                        <a:solidFill>
                          <a:schemeClr val="accent2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463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1023</a:t>
                      </a:r>
                      <a:endParaRPr lang="zh-CN" altLang="en-US">
                        <a:solidFill>
                          <a:schemeClr val="accent2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mar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c001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......</a:t>
                      </a:r>
                      <a:endParaRPr lang="zh-CN" altLang="en-US">
                        <a:solidFill>
                          <a:schemeClr val="accent2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8462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1022</a:t>
                      </a:r>
                      <a:endParaRPr lang="zh-CN" altLang="en-US">
                        <a:solidFill>
                          <a:schemeClr val="accent2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mar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c001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......</a:t>
                      </a:r>
                      <a:endParaRPr lang="zh-CN" altLang="en-US">
                        <a:solidFill>
                          <a:schemeClr val="accent2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875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1013</a:t>
                      </a:r>
                      <a:endParaRPr lang="zh-CN" altLang="en-US">
                        <a:solidFill>
                          <a:schemeClr val="accent2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jan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c002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......</a:t>
                      </a:r>
                      <a:endParaRPr lang="zh-CN" altLang="en-US">
                        <a:solidFill>
                          <a:schemeClr val="accent2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8463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1026</a:t>
                      </a:r>
                      <a:endParaRPr lang="zh-CN" altLang="en-US">
                        <a:solidFill>
                          <a:schemeClr val="accent2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may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c002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......</a:t>
                      </a:r>
                      <a:endParaRPr lang="zh-CN" altLang="en-US">
                        <a:solidFill>
                          <a:schemeClr val="accent2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8462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1015</a:t>
                      </a:r>
                      <a:endParaRPr lang="zh-CN" altLang="en-US">
                        <a:solidFill>
                          <a:schemeClr val="accent2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jan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c003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......</a:t>
                      </a:r>
                      <a:endParaRPr lang="zh-CN" altLang="en-US">
                        <a:solidFill>
                          <a:schemeClr val="accent2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8463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1014</a:t>
                      </a:r>
                      <a:endParaRPr lang="zh-CN" altLang="en-US">
                        <a:solidFill>
                          <a:schemeClr val="accent2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jan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c003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......</a:t>
                      </a:r>
                      <a:endParaRPr lang="zh-CN" altLang="en-US">
                        <a:solidFill>
                          <a:schemeClr val="accent2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8150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1021</a:t>
                      </a:r>
                      <a:endParaRPr lang="zh-CN" altLang="en-US">
                        <a:solidFill>
                          <a:schemeClr val="accent2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feb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c004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......</a:t>
                      </a:r>
                      <a:endParaRPr lang="zh-CN" altLang="en-US">
                        <a:solidFill>
                          <a:schemeClr val="accent2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8462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1016</a:t>
                      </a:r>
                      <a:endParaRPr lang="zh-CN" altLang="en-US">
                        <a:solidFill>
                          <a:schemeClr val="accent2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jan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c006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......</a:t>
                      </a:r>
                      <a:endParaRPr lang="zh-CN" altLang="en-US">
                        <a:solidFill>
                          <a:schemeClr val="accent2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8463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1020</a:t>
                      </a:r>
                      <a:endParaRPr lang="zh-CN" altLang="en-US">
                        <a:solidFill>
                          <a:schemeClr val="accent2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feb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c006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......</a:t>
                      </a:r>
                      <a:endParaRPr lang="zh-CN" altLang="en-US">
                        <a:solidFill>
                          <a:schemeClr val="accent2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98462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1024</a:t>
                      </a:r>
                      <a:endParaRPr lang="zh-CN" altLang="en-US">
                        <a:solidFill>
                          <a:schemeClr val="accent2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mar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c006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......</a:t>
                      </a:r>
                      <a:endParaRPr lang="zh-CN" altLang="en-US">
                        <a:solidFill>
                          <a:schemeClr val="accent2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7534" name="AutoShape 231"/>
          <p:cNvSpPr/>
          <p:nvPr/>
        </p:nvSpPr>
        <p:spPr>
          <a:xfrm>
            <a:off x="1476375" y="1701800"/>
            <a:ext cx="2519363" cy="584200"/>
          </a:xfrm>
          <a:prstGeom prst="borderCallout2">
            <a:avLst>
              <a:gd name="adj1" fmla="val 23685"/>
              <a:gd name="adj2" fmla="val -4120"/>
              <a:gd name="adj3" fmla="val 23685"/>
              <a:gd name="adj4" fmla="val -15708"/>
              <a:gd name="adj5" fmla="val 194366"/>
              <a:gd name="adj6" fmla="val -35361"/>
            </a:avLst>
          </a:prstGeom>
          <a:solidFill>
            <a:srgbClr val="CCFFCC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arrow" w="lg" len="lg"/>
          </a:ln>
        </p:spPr>
        <p:txBody>
          <a:bodyPr anchor="t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Primary key</a:t>
            </a:r>
          </a:p>
        </p:txBody>
      </p:sp>
      <p:sp>
        <p:nvSpPr>
          <p:cNvPr id="17535" name="AutoShape 232"/>
          <p:cNvSpPr/>
          <p:nvPr/>
        </p:nvSpPr>
        <p:spPr>
          <a:xfrm>
            <a:off x="3419475" y="2565400"/>
            <a:ext cx="2520950" cy="584200"/>
          </a:xfrm>
          <a:prstGeom prst="borderCallout2">
            <a:avLst>
              <a:gd name="adj1" fmla="val 24000"/>
              <a:gd name="adj2" fmla="val 104181"/>
              <a:gd name="adj3" fmla="val 24000"/>
              <a:gd name="adj4" fmla="val 129616"/>
              <a:gd name="adj5" fmla="val -177630"/>
              <a:gd name="adj6" fmla="val 150713"/>
            </a:avLst>
          </a:prstGeom>
          <a:solidFill>
            <a:srgbClr val="CCFFCC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arrow" w="lg" len="lg"/>
          </a:ln>
        </p:spPr>
        <p:txBody>
          <a:bodyPr anchor="t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Foreign key</a:t>
            </a:r>
          </a:p>
        </p:txBody>
      </p:sp>
      <p:sp>
        <p:nvSpPr>
          <p:cNvPr id="18559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7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34" grpId="0" animBg="1"/>
      <p:bldP spid="1753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日期占位符 3"/>
          <p:cNvSpPr txBox="1">
            <a:spLocks noGrp="1"/>
          </p:cNvSpPr>
          <p:nvPr/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BB962C8B-B14F-4D97-AF65-F5344CB8AC3E}" type="datetime1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19458" name="页脚占位符 4"/>
          <p:cNvSpPr txBox="1">
            <a:spLocks noGrp="1"/>
          </p:cNvSpPr>
          <p:nvPr/>
        </p:nvSpPr>
        <p:spPr>
          <a:xfrm>
            <a:off x="2590800" y="6553200"/>
            <a:ext cx="39624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Integrity,Views,Security,and Catalogs</a:t>
            </a:r>
            <a:endParaRPr lang="en-US" altLang="zh-CN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19459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17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19460" name="Rectangle 2"/>
          <p:cNvSpPr>
            <a:spLocks noGrp="1"/>
          </p:cNvSpPr>
          <p:nvPr>
            <p:ph type="title" idx="4294967295"/>
          </p:nvPr>
        </p:nvSpPr>
        <p:spPr>
          <a:ln/>
        </p:spPr>
        <p:txBody>
          <a:bodyPr wrap="square" anchor="ctr"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7.1 </a:t>
            </a:r>
            <a:r>
              <a:rPr lang="en-US" altLang="zh-CN" dirty="0">
                <a:ea typeface="宋体" panose="02010600030101010101" pitchFamily="2" charset="-122"/>
              </a:rPr>
              <a:t>Integrity Constraints</a:t>
            </a:r>
          </a:p>
        </p:txBody>
      </p:sp>
      <p:sp>
        <p:nvSpPr>
          <p:cNvPr id="19461" name="Rectangle 3"/>
          <p:cNvSpPr>
            <a:spLocks noGrp="1"/>
          </p:cNvSpPr>
          <p:nvPr>
            <p:ph type="body" idx="4294967295"/>
          </p:nvPr>
        </p:nvSpPr>
        <p:spPr>
          <a:xfrm>
            <a:off x="457200" y="836613"/>
            <a:ext cx="8229600" cy="5943600"/>
          </a:xfrm>
          <a:ln/>
        </p:spPr>
        <p:txBody>
          <a:bodyPr wrap="square" anchor="t"/>
          <a:lstStyle/>
          <a:p>
            <a:pPr eaLnBrk="1" hangingPunct="1">
              <a:lnSpc>
                <a:spcPct val="11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Def.7.1.4  Foreign Key, Referential Integrity</a:t>
            </a:r>
          </a:p>
          <a:p>
            <a:pPr eaLnBrk="1" hangingPunct="1">
              <a:lnSpc>
                <a:spcPct val="110000"/>
              </a:lnSpc>
            </a:pP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800" u="sng" dirty="0">
                <a:ea typeface="宋体" panose="02010600030101010101" pitchFamily="2" charset="-122"/>
              </a:rPr>
              <a:t>Foreign Key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A set of columns F in table T1 is defined as a</a:t>
            </a:r>
            <a:r>
              <a:rPr lang="en-US" altLang="zh-CN" sz="2800" dirty="0">
                <a:ea typeface="宋体" panose="02010600030101010101" pitchFamily="2" charset="-122"/>
              </a:rPr>
              <a:t> </a:t>
            </a:r>
            <a:r>
              <a:rPr lang="en-US" altLang="zh-CN" sz="2800" i="1" u="sng" dirty="0">
                <a:solidFill>
                  <a:srgbClr val="FF0066"/>
                </a:solidFill>
                <a:ea typeface="宋体" panose="02010600030101010101" pitchFamily="2" charset="-122"/>
              </a:rPr>
              <a:t>foreign key</a:t>
            </a:r>
            <a:r>
              <a:rPr lang="en-US" altLang="zh-CN" sz="2800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of T1 if the combination of values of F in any row is required to either </a:t>
            </a:r>
            <a:r>
              <a:rPr lang="en-US" altLang="zh-CN" sz="2800" u="sng" dirty="0">
                <a:solidFill>
                  <a:srgbClr val="FF0000"/>
                </a:solidFill>
                <a:ea typeface="宋体" panose="02010600030101010101" pitchFamily="2" charset="-122"/>
              </a:rPr>
              <a:t>contain at least one null value</a:t>
            </a:r>
            <a:r>
              <a:rPr lang="en-US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, or else to </a:t>
            </a:r>
            <a:r>
              <a:rPr lang="en-US" altLang="zh-CN" sz="2800" u="sng" dirty="0">
                <a:solidFill>
                  <a:srgbClr val="FF0000"/>
                </a:solidFill>
                <a:ea typeface="宋体" panose="02010600030101010101" pitchFamily="2" charset="-122"/>
              </a:rPr>
              <a:t>match the value combination of a set of columns P representing a candidate or primary key</a:t>
            </a:r>
            <a:r>
              <a:rPr lang="en-US" altLang="zh-CN" sz="2800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of a referenced table T2.</a:t>
            </a:r>
          </a:p>
        </p:txBody>
      </p:sp>
      <p:sp>
        <p:nvSpPr>
          <p:cNvPr id="19462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日期占位符 3"/>
          <p:cNvSpPr txBox="1">
            <a:spLocks noGrp="1"/>
          </p:cNvSpPr>
          <p:nvPr/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BB962C8B-B14F-4D97-AF65-F5344CB8AC3E}" type="datetime1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0482" name="页脚占位符 4"/>
          <p:cNvSpPr txBox="1">
            <a:spLocks noGrp="1"/>
          </p:cNvSpPr>
          <p:nvPr/>
        </p:nvSpPr>
        <p:spPr>
          <a:xfrm>
            <a:off x="2590800" y="6553200"/>
            <a:ext cx="39624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Integrity,Views,Security,and Catalogs</a:t>
            </a:r>
            <a:endParaRPr lang="en-US" altLang="zh-CN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0483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18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0484" name="Rectangle 2"/>
          <p:cNvSpPr>
            <a:spLocks noGrp="1"/>
          </p:cNvSpPr>
          <p:nvPr>
            <p:ph type="title" idx="4294967295"/>
          </p:nvPr>
        </p:nvSpPr>
        <p:spPr>
          <a:ln/>
        </p:spPr>
        <p:txBody>
          <a:bodyPr wrap="square" anchor="ctr"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7.1 </a:t>
            </a:r>
            <a:r>
              <a:rPr lang="en-US" altLang="zh-CN" dirty="0">
                <a:ea typeface="宋体" panose="02010600030101010101" pitchFamily="2" charset="-122"/>
              </a:rPr>
              <a:t>Integrity Constraints</a:t>
            </a:r>
          </a:p>
        </p:txBody>
      </p:sp>
      <p:sp>
        <p:nvSpPr>
          <p:cNvPr id="19461" name="Rectangle 3"/>
          <p:cNvSpPr>
            <a:spLocks noGrp="1"/>
          </p:cNvSpPr>
          <p:nvPr>
            <p:ph type="body" idx="4294967295"/>
          </p:nvPr>
        </p:nvSpPr>
        <p:spPr>
          <a:xfrm>
            <a:off x="457200" y="836613"/>
            <a:ext cx="8229600" cy="5943600"/>
          </a:xfrm>
        </p:spPr>
        <p:txBody>
          <a:bodyPr wrap="square" anchor="t"/>
          <a:lstStyle/>
          <a:p>
            <a:pPr lvl="0" eaLnBrk="1" fontAlgn="base" hangingPunct="1">
              <a:lnSpc>
                <a:spcPct val="110000"/>
              </a:lnSpc>
            </a:pPr>
            <a:r>
              <a:rPr lang="en-US" altLang="x-none" sz="3000" u="sng" strike="noStrike" noProof="1">
                <a:ea typeface="宋体" panose="02010600030101010101" pitchFamily="2" charset="-122"/>
              </a:rPr>
              <a:t>Referential Integrity</a:t>
            </a:r>
          </a:p>
          <a:p>
            <a:pPr lvl="1" indent="-285750" eaLnBrk="1" fontAlgn="base" hangingPunct="1">
              <a:lnSpc>
                <a:spcPct val="110000"/>
              </a:lnSpc>
            </a:pPr>
            <a:r>
              <a:rPr lang="en-US" altLang="x-none" sz="3000" strike="noStrike" noProof="1">
                <a:solidFill>
                  <a:schemeClr val="tx1"/>
                </a:solidFill>
                <a:ea typeface="宋体" panose="02010600030101010101" pitchFamily="2" charset="-122"/>
              </a:rPr>
              <a:t>the columns of F in any row of T1 must either</a:t>
            </a:r>
            <a:r>
              <a:rPr lang="en-US" altLang="x-none" sz="3000" strike="noStrike" noProof="1">
                <a:ea typeface="宋体" panose="02010600030101010101" pitchFamily="2" charset="-122"/>
              </a:rPr>
              <a:t> </a:t>
            </a:r>
          </a:p>
          <a:p>
            <a:pPr marL="1065530" lvl="0" indent="-514350" eaLnBrk="1" fontAlgn="base" hangingPunct="1">
              <a:lnSpc>
                <a:spcPct val="110000"/>
              </a:lnSpc>
              <a:buFont typeface="+mj-ea"/>
              <a:buAutoNum type="circleNumDbPlain"/>
            </a:pPr>
            <a:r>
              <a:rPr lang="en-US" altLang="x-none" sz="3000" u="sng" strike="noStrike" noProof="1">
                <a:solidFill>
                  <a:srgbClr val="0000CC"/>
                </a:solidFill>
                <a:ea typeface="宋体" panose="02010600030101010101" pitchFamily="2" charset="-122"/>
              </a:rPr>
              <a:t>have null values in at least one column that allows null values</a:t>
            </a:r>
            <a:r>
              <a:rPr lang="en-US" altLang="x-none" sz="3000" strike="noStrike" noProof="1">
                <a:solidFill>
                  <a:schemeClr val="tx1"/>
                </a:solidFill>
                <a:ea typeface="宋体" panose="02010600030101010101" pitchFamily="2" charset="-122"/>
              </a:rPr>
              <a:t>, or</a:t>
            </a:r>
            <a:r>
              <a:rPr lang="en-US" altLang="x-none" sz="3000" strike="noStrike" noProof="1">
                <a:ea typeface="宋体" panose="02010600030101010101" pitchFamily="2" charset="-122"/>
              </a:rPr>
              <a:t> </a:t>
            </a:r>
          </a:p>
          <a:p>
            <a:pPr marL="1065530" lvl="0" indent="-514350" eaLnBrk="1" fontAlgn="base" hangingPunct="1">
              <a:lnSpc>
                <a:spcPct val="110000"/>
              </a:lnSpc>
              <a:buFont typeface="+mj-ea"/>
              <a:buAutoNum type="circleNumDbPlain"/>
            </a:pPr>
            <a:endParaRPr lang="en-US" altLang="x-none" sz="3000" strike="noStrike" noProof="1">
              <a:ea typeface="宋体" panose="02010600030101010101" pitchFamily="2" charset="-122"/>
            </a:endParaRPr>
          </a:p>
          <a:p>
            <a:pPr marL="1065530" lvl="0" indent="-514350" eaLnBrk="1" fontAlgn="base" hangingPunct="1">
              <a:lnSpc>
                <a:spcPct val="110000"/>
              </a:lnSpc>
              <a:buFont typeface="+mj-ea"/>
              <a:buAutoNum type="circleNumDbPlain"/>
            </a:pPr>
            <a:r>
              <a:rPr lang="en-US" altLang="x-none" sz="3000" u="sng" strike="noStrike" noProof="1">
                <a:solidFill>
                  <a:srgbClr val="0000CC"/>
                </a:solidFill>
                <a:ea typeface="宋体" panose="02010600030101010101" pitchFamily="2" charset="-122"/>
              </a:rPr>
              <a:t>have no null values and be equal to the value</a:t>
            </a:r>
            <a:r>
              <a:rPr lang="en-US" altLang="x-none" sz="3000" strike="noStrike" noProof="1">
                <a:solidFill>
                  <a:srgbClr val="0000CC"/>
                </a:solidFill>
                <a:ea typeface="宋体" panose="02010600030101010101" pitchFamily="2" charset="-122"/>
              </a:rPr>
              <a:t> combination of P on</a:t>
            </a:r>
            <a:r>
              <a:rPr lang="en-US" altLang="x-none" sz="3000" strike="noStrike" noProof="1">
                <a:ea typeface="宋体" panose="02010600030101010101" pitchFamily="2" charset="-122"/>
              </a:rPr>
              <a:t> </a:t>
            </a:r>
            <a:r>
              <a:rPr lang="en-US" altLang="x-none" sz="3000" u="sng" strike="noStrike" noProof="1">
                <a:solidFill>
                  <a:srgbClr val="FF0066"/>
                </a:solidFill>
                <a:ea typeface="宋体" panose="02010600030101010101" pitchFamily="2" charset="-122"/>
              </a:rPr>
              <a:t>some</a:t>
            </a:r>
            <a:r>
              <a:rPr lang="en-US" altLang="x-none" sz="3000" strike="noStrike" noProof="1">
                <a:ea typeface="宋体" panose="02010600030101010101" pitchFamily="2" charset="-122"/>
              </a:rPr>
              <a:t> </a:t>
            </a:r>
            <a:r>
              <a:rPr lang="en-US" altLang="x-none" sz="3000" strike="noStrike" noProof="1">
                <a:solidFill>
                  <a:srgbClr val="0000CC"/>
                </a:solidFill>
                <a:ea typeface="宋体" panose="02010600030101010101" pitchFamily="2" charset="-122"/>
              </a:rPr>
              <a:t>row of T2.</a:t>
            </a:r>
          </a:p>
        </p:txBody>
      </p:sp>
      <p:sp>
        <p:nvSpPr>
          <p:cNvPr id="20486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日期占位符 3"/>
          <p:cNvSpPr txBox="1">
            <a:spLocks noGrp="1"/>
          </p:cNvSpPr>
          <p:nvPr/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BB962C8B-B14F-4D97-AF65-F5344CB8AC3E}" type="datetime1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1506" name="页脚占位符 4"/>
          <p:cNvSpPr txBox="1">
            <a:spLocks noGrp="1"/>
          </p:cNvSpPr>
          <p:nvPr/>
        </p:nvSpPr>
        <p:spPr>
          <a:xfrm>
            <a:off x="2590800" y="6553200"/>
            <a:ext cx="39624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Integrity,Views,Security,and Catalogs</a:t>
            </a:r>
            <a:endParaRPr lang="en-US" altLang="zh-CN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1507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19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1508" name="Rectangle 3"/>
          <p:cNvSpPr>
            <a:spLocks noGrp="1"/>
          </p:cNvSpPr>
          <p:nvPr>
            <p:ph type="body" idx="4294967295"/>
          </p:nvPr>
        </p:nvSpPr>
        <p:spPr>
          <a:xfrm>
            <a:off x="468313" y="42863"/>
            <a:ext cx="8229600" cy="5257800"/>
          </a:xfrm>
          <a:ln/>
        </p:spPr>
        <p:txBody>
          <a:bodyPr wrap="square" anchor="t"/>
          <a:lstStyle/>
          <a:p>
            <a:pPr eaLnBrk="1" hangingPunct="1">
              <a:spcBef>
                <a:spcPct val="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Example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primary key: </a:t>
            </a:r>
            <a:r>
              <a:rPr lang="en-US" altLang="zh-CN" sz="2800" dirty="0">
                <a:solidFill>
                  <a:srgbClr val="FF0066"/>
                </a:solidFill>
                <a:ea typeface="宋体" panose="02010600030101010101" pitchFamily="2" charset="-122"/>
              </a:rPr>
              <a:t>red character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foreign key: </a:t>
            </a:r>
            <a:r>
              <a:rPr lang="en-US" altLang="zh-CN" sz="2800" i="1" u="sng" dirty="0">
                <a:ea typeface="宋体" panose="02010600030101010101" pitchFamily="2" charset="-122"/>
              </a:rPr>
              <a:t>underline</a:t>
            </a:r>
          </a:p>
        </p:txBody>
      </p:sp>
      <p:sp>
        <p:nvSpPr>
          <p:cNvPr id="20486" name="Text Box 4"/>
          <p:cNvSpPr txBox="1"/>
          <p:nvPr/>
        </p:nvSpPr>
        <p:spPr>
          <a:xfrm>
            <a:off x="0" y="1557338"/>
            <a:ext cx="9144000" cy="4719637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buClr>
                <a:schemeClr val="accent1"/>
              </a:buClr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EMPLOYEE 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 fname, lname, 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ssn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, address, salary,</a:t>
            </a:r>
          </a:p>
          <a:p>
            <a:pPr lvl="4" indent="0" algn="l" eaLnBrk="1" hangingPunct="1">
              <a:lnSpc>
                <a:spcPct val="120000"/>
              </a:lnSpc>
              <a:spcBef>
                <a:spcPts val="600"/>
              </a:spcBef>
              <a:buClr>
                <a:schemeClr val="accent1"/>
              </a:buClr>
            </a:pPr>
            <a:r>
              <a:rPr lang="en-US" altLang="zh-CN" sz="2800" b="1" i="1" u="sng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superssn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,  </a:t>
            </a:r>
            <a:r>
              <a:rPr lang="en-US" altLang="zh-CN" sz="2800" b="1" u="sng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dno 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</a:p>
          <a:p>
            <a:pPr>
              <a:lnSpc>
                <a:spcPct val="120000"/>
              </a:lnSpc>
              <a:spcBef>
                <a:spcPts val="600"/>
              </a:spcBef>
              <a:buClr>
                <a:schemeClr val="accent1"/>
              </a:buClr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DEPARTMENT 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 dname, 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dno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, </a:t>
            </a:r>
            <a:r>
              <a:rPr lang="en-US" altLang="zh-CN" sz="2800" b="1" i="1" u="sng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ssn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, mgrstartdate )</a:t>
            </a:r>
          </a:p>
          <a:p>
            <a:pPr>
              <a:lnSpc>
                <a:spcPct val="120000"/>
              </a:lnSpc>
              <a:spcBef>
                <a:spcPts val="600"/>
              </a:spcBef>
              <a:buClr>
                <a:schemeClr val="accent1"/>
              </a:buClr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DEPT_LOCATION 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 </a:t>
            </a:r>
            <a:r>
              <a:rPr lang="en-US" altLang="zh-CN" sz="2800" b="1" i="1" u="sng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dno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, dcity 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</a:p>
          <a:p>
            <a:pPr>
              <a:lnSpc>
                <a:spcPct val="120000"/>
              </a:lnSpc>
              <a:spcBef>
                <a:spcPts val="600"/>
              </a:spcBef>
              <a:buClr>
                <a:schemeClr val="accent1"/>
              </a:buClr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PROJECT 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 pname, 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pno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, pcity, </a:t>
            </a:r>
            <a:r>
              <a:rPr lang="en-US" altLang="zh-CN" sz="2800" b="1" i="1" u="sng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dno 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</a:p>
          <a:p>
            <a:pPr>
              <a:lnSpc>
                <a:spcPct val="120000"/>
              </a:lnSpc>
              <a:spcBef>
                <a:spcPts val="600"/>
              </a:spcBef>
              <a:buClr>
                <a:schemeClr val="accent1"/>
              </a:buClr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WORKS_ON 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 </a:t>
            </a:r>
            <a:r>
              <a:rPr lang="en-US" altLang="zh-CN" sz="2800" b="1" i="1" u="sng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ssn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,  </a:t>
            </a:r>
            <a:r>
              <a:rPr lang="en-US" altLang="zh-CN" sz="2800" b="1" i="1" u="sng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pno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, hours )</a:t>
            </a:r>
          </a:p>
          <a:p>
            <a:pPr>
              <a:lnSpc>
                <a:spcPct val="120000"/>
              </a:lnSpc>
              <a:spcBef>
                <a:spcPts val="600"/>
              </a:spcBef>
              <a:buClr>
                <a:schemeClr val="accent1"/>
              </a:buClr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DEPENDENT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en-US" altLang="zh-CN" sz="2800" b="1" i="1" u="sng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ssn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, dependent-first-name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, sex, bdate,</a:t>
            </a:r>
          </a:p>
          <a:p>
            <a:pPr lvl="4" indent="0" algn="l" eaLnBrk="1" hangingPunct="1">
              <a:lnSpc>
                <a:spcPct val="120000"/>
              </a:lnSpc>
              <a:spcBef>
                <a:spcPts val="600"/>
              </a:spcBef>
              <a:buClr>
                <a:schemeClr val="accent1"/>
              </a:buClr>
            </a:pP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relationship)</a:t>
            </a:r>
          </a:p>
        </p:txBody>
      </p:sp>
      <p:sp>
        <p:nvSpPr>
          <p:cNvPr id="21510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4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04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04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04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04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04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04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04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日期占位符 3"/>
          <p:cNvSpPr txBox="1">
            <a:spLocks noGrp="1"/>
          </p:cNvSpPr>
          <p:nvPr/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BB962C8B-B14F-4D97-AF65-F5344CB8AC3E}" type="datetime1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2530" name="页脚占位符 4"/>
          <p:cNvSpPr txBox="1">
            <a:spLocks noGrp="1"/>
          </p:cNvSpPr>
          <p:nvPr/>
        </p:nvSpPr>
        <p:spPr>
          <a:xfrm>
            <a:off x="2590800" y="6553200"/>
            <a:ext cx="39624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Integrity,Views,Security,and Catalogs</a:t>
            </a:r>
            <a:endParaRPr lang="en-US" altLang="zh-CN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2531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2532" name="Rectangle 2"/>
          <p:cNvSpPr>
            <a:spLocks noGrp="1"/>
          </p:cNvSpPr>
          <p:nvPr>
            <p:ph type="title" idx="4294967295"/>
          </p:nvPr>
        </p:nvSpPr>
        <p:spPr>
          <a:ln/>
        </p:spPr>
        <p:txBody>
          <a:bodyPr wrap="square" anchor="ctr"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Example of foreign key</a:t>
            </a:r>
          </a:p>
        </p:txBody>
      </p:sp>
      <p:sp>
        <p:nvSpPr>
          <p:cNvPr id="22533" name="Rectangle 3"/>
          <p:cNvSpPr>
            <a:spLocks noGrp="1"/>
          </p:cNvSpPr>
          <p:nvPr>
            <p:ph type="body" idx="4294967295"/>
          </p:nvPr>
        </p:nvSpPr>
        <p:spPr>
          <a:xfrm>
            <a:off x="0" y="990600"/>
            <a:ext cx="9144000" cy="1790700"/>
          </a:xfrm>
          <a:ln/>
        </p:spPr>
        <p:txBody>
          <a:bodyPr wrap="square" anchor="t"/>
          <a:lstStyle/>
          <a:p>
            <a:pPr eaLnBrk="1" hangingPunct="1"/>
            <a:r>
              <a:rPr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EMPLOYEE:</a:t>
            </a:r>
          </a:p>
          <a:p>
            <a:pPr lvl="1" eaLnBrk="1" hangingPunct="1">
              <a:buNone/>
            </a:pPr>
            <a:r>
              <a:rPr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Emp </a:t>
            </a:r>
            <a:r>
              <a:rPr lang="en-US" altLang="zh-CN" dirty="0">
                <a:ea typeface="宋体" panose="02010600030101010101" pitchFamily="2" charset="-122"/>
              </a:rPr>
              <a:t>( fname, lname, </a:t>
            </a:r>
            <a:r>
              <a:rPr lang="en-US" altLang="zh-CN" dirty="0">
                <a:solidFill>
                  <a:srgbClr val="FF0066"/>
                </a:solidFill>
                <a:ea typeface="宋体" panose="02010600030101010101" pitchFamily="2" charset="-122"/>
              </a:rPr>
              <a:t>ssn</a:t>
            </a:r>
            <a:r>
              <a:rPr lang="en-US" altLang="zh-CN" dirty="0">
                <a:ea typeface="宋体" panose="02010600030101010101" pitchFamily="2" charset="-122"/>
              </a:rPr>
              <a:t>, address, salary, </a:t>
            </a:r>
            <a:r>
              <a:rPr lang="en-US" altLang="zh-CN" i="1" u="sng" dirty="0">
                <a:ea typeface="宋体" panose="02010600030101010101" pitchFamily="2" charset="-122"/>
              </a:rPr>
              <a:t>superssn</a:t>
            </a:r>
            <a:r>
              <a:rPr lang="en-US" altLang="zh-CN" dirty="0">
                <a:ea typeface="宋体" panose="02010600030101010101" pitchFamily="2" charset="-122"/>
              </a:rPr>
              <a:t>,  </a:t>
            </a:r>
            <a:r>
              <a:rPr lang="en-US" altLang="zh-CN" u="sng" dirty="0">
                <a:ea typeface="宋体" panose="02010600030101010101" pitchFamily="2" charset="-122"/>
              </a:rPr>
              <a:t>dno 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</a:p>
          <a:p>
            <a:pPr eaLnBrk="1" hangingPunct="1"/>
            <a:r>
              <a:rPr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DEPARTMENT:</a:t>
            </a:r>
          </a:p>
          <a:p>
            <a:pPr lvl="1" eaLnBrk="1" hangingPunct="1">
              <a:buNone/>
            </a:pPr>
            <a:r>
              <a:rPr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Dept </a:t>
            </a:r>
            <a:r>
              <a:rPr lang="en-US" altLang="zh-CN" dirty="0">
                <a:ea typeface="宋体" panose="02010600030101010101" pitchFamily="2" charset="-122"/>
              </a:rPr>
              <a:t>( dname, </a:t>
            </a:r>
            <a:r>
              <a:rPr lang="en-US" altLang="zh-CN" dirty="0">
                <a:solidFill>
                  <a:srgbClr val="FF0066"/>
                </a:solidFill>
                <a:ea typeface="宋体" panose="02010600030101010101" pitchFamily="2" charset="-122"/>
              </a:rPr>
              <a:t>dno</a:t>
            </a:r>
            <a:r>
              <a:rPr lang="en-US" altLang="zh-CN" dirty="0">
                <a:ea typeface="宋体" panose="02010600030101010101" pitchFamily="2" charset="-122"/>
              </a:rPr>
              <a:t>, </a:t>
            </a:r>
            <a:r>
              <a:rPr lang="en-US" altLang="zh-CN" i="1" u="sng" dirty="0">
                <a:ea typeface="宋体" panose="02010600030101010101" pitchFamily="2" charset="-122"/>
              </a:rPr>
              <a:t>ssn</a:t>
            </a:r>
            <a:r>
              <a:rPr lang="en-US" altLang="zh-CN" dirty="0">
                <a:ea typeface="宋体" panose="02010600030101010101" pitchFamily="2" charset="-122"/>
              </a:rPr>
              <a:t>, mgrstartdate )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1511" name="Rectangle 4"/>
          <p:cNvSpPr/>
          <p:nvPr/>
        </p:nvSpPr>
        <p:spPr>
          <a:xfrm>
            <a:off x="0" y="3068638"/>
            <a:ext cx="9144000" cy="3087687"/>
          </a:xfrm>
          <a:prstGeom prst="rect">
            <a:avLst/>
          </a:prstGeom>
          <a:solidFill>
            <a:srgbClr val="EAEAEA"/>
          </a:solidFill>
          <a:ln w="95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marL="742950" lvl="1" indent="-285750" algn="l" eaLnBrk="1" hangingPunct="1">
              <a:spcBef>
                <a:spcPct val="20000"/>
              </a:spcBef>
              <a:buClr>
                <a:schemeClr val="accent1"/>
              </a:buClr>
            </a:pPr>
            <a:r>
              <a:rPr lang="en-US" altLang="zh-CN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CREATE TABLE Dept (</a:t>
            </a:r>
          </a:p>
          <a:p>
            <a:pPr marL="1143000" lvl="2" indent="-228600" algn="l"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dno  char(4) PRIMARY KEY, ……);</a:t>
            </a:r>
          </a:p>
          <a:p>
            <a:pPr marL="1143000" lvl="2" indent="-228600" algn="l"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en-US" altLang="zh-CN" b="1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lvl="1" indent="-285750" algn="l" eaLnBrk="1" hangingPunct="1">
              <a:spcBef>
                <a:spcPct val="20000"/>
              </a:spcBef>
              <a:buClr>
                <a:schemeClr val="accent1"/>
              </a:buClr>
            </a:pPr>
            <a:r>
              <a:rPr lang="en-US" altLang="zh-CN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CREATE TABLE Emp (</a:t>
            </a:r>
          </a:p>
          <a:p>
            <a:pPr marL="1143000" lvl="2" indent="-228600" algn="l"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ssn char(8) PRIMARY KEY,</a:t>
            </a:r>
          </a:p>
          <a:p>
            <a:pPr marL="1143000" lvl="2" indent="-228600" algn="l"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dno char(4) </a:t>
            </a:r>
            <a:r>
              <a:rPr lang="en-US" altLang="zh-CN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REFERENCES Dept</a:t>
            </a:r>
            <a:r>
              <a:rPr lang="en-US" altLang="zh-CN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</a:p>
          <a:p>
            <a:pPr marL="1143000" lvl="2" indent="-228600" algn="l"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……);</a:t>
            </a:r>
          </a:p>
        </p:txBody>
      </p:sp>
      <p:sp>
        <p:nvSpPr>
          <p:cNvPr id="21512" name="Line 5"/>
          <p:cNvSpPr/>
          <p:nvPr/>
        </p:nvSpPr>
        <p:spPr>
          <a:xfrm>
            <a:off x="0" y="3068638"/>
            <a:ext cx="9144000" cy="0"/>
          </a:xfrm>
          <a:prstGeom prst="line">
            <a:avLst/>
          </a:prstGeom>
          <a:ln w="508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Times New Roman" panose="02020603050405020304" pitchFamily="2" charset="0"/>
            </a:endParaRPr>
          </a:p>
        </p:txBody>
      </p:sp>
      <p:sp>
        <p:nvSpPr>
          <p:cNvPr id="21513" name="AutoShape 7"/>
          <p:cNvSpPr/>
          <p:nvPr/>
        </p:nvSpPr>
        <p:spPr>
          <a:xfrm>
            <a:off x="6011863" y="4005263"/>
            <a:ext cx="3132137" cy="1841500"/>
          </a:xfrm>
          <a:prstGeom prst="borderCallout2">
            <a:avLst>
              <a:gd name="adj1" fmla="val 6208"/>
              <a:gd name="adj2" fmla="val -2431"/>
              <a:gd name="adj3" fmla="val 6208"/>
              <a:gd name="adj4" fmla="val -16880"/>
              <a:gd name="adj5" fmla="val 69139"/>
              <a:gd name="adj6" fmla="val -31324"/>
            </a:avLst>
          </a:prstGeom>
          <a:solidFill>
            <a:srgbClr val="CCFFFF"/>
          </a:solidFill>
          <a:ln w="25400" cap="flat" cmpd="sng">
            <a:solidFill>
              <a:srgbClr val="FF0000"/>
            </a:solidFill>
            <a:prstDash val="solid"/>
            <a:miter/>
            <a:headEnd type="none" w="med" len="med"/>
            <a:tailEnd type="arrow" w="lg" len="lg"/>
          </a:ln>
        </p:spPr>
        <p:txBody>
          <a:bodyPr anchor="t"/>
          <a:lstStyle/>
          <a:p>
            <a:pPr algn="ctr"/>
            <a:r>
              <a:rPr lang="zh-CN" altLang="en-US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在对</a:t>
            </a:r>
            <a:r>
              <a:rPr lang="en-US" altLang="zh-CN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Emp</a:t>
            </a:r>
            <a:r>
              <a:rPr lang="zh-CN" altLang="en-US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表进行数据的增、删、改操作时，保证外键</a:t>
            </a:r>
            <a:r>
              <a:rPr lang="en-US" altLang="zh-CN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dno</a:t>
            </a:r>
            <a:r>
              <a:rPr lang="zh-CN" altLang="en-US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的引用完整性。</a:t>
            </a:r>
          </a:p>
        </p:txBody>
      </p:sp>
      <p:sp>
        <p:nvSpPr>
          <p:cNvPr id="22537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1" grpId="0" animBg="1"/>
      <p:bldP spid="215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日期占位符 3"/>
          <p:cNvSpPr txBox="1">
            <a:spLocks noGrp="1"/>
          </p:cNvSpPr>
          <p:nvPr/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BB962C8B-B14F-4D97-AF65-F5344CB8AC3E}" type="datetime1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3554" name="页脚占位符 4"/>
          <p:cNvSpPr txBox="1">
            <a:spLocks noGrp="1"/>
          </p:cNvSpPr>
          <p:nvPr/>
        </p:nvSpPr>
        <p:spPr>
          <a:xfrm>
            <a:off x="2590800" y="6553200"/>
            <a:ext cx="39624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Integrity,Views,Security,and Catalogs</a:t>
            </a:r>
            <a:endParaRPr lang="en-US" altLang="zh-CN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3555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3556" name="Rectangle 2"/>
          <p:cNvSpPr>
            <a:spLocks noGrp="1"/>
          </p:cNvSpPr>
          <p:nvPr>
            <p:ph type="title" idx="4294967295"/>
          </p:nvPr>
        </p:nvSpPr>
        <p:spPr>
          <a:ln/>
        </p:spPr>
        <p:txBody>
          <a:bodyPr wrap="square" anchor="ctr"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Example of foreign key</a:t>
            </a:r>
          </a:p>
        </p:txBody>
      </p:sp>
      <p:sp>
        <p:nvSpPr>
          <p:cNvPr id="23557" name="Rectangle 3"/>
          <p:cNvSpPr>
            <a:spLocks noGrp="1"/>
          </p:cNvSpPr>
          <p:nvPr>
            <p:ph type="body" idx="4294967295"/>
          </p:nvPr>
        </p:nvSpPr>
        <p:spPr>
          <a:xfrm>
            <a:off x="0" y="990600"/>
            <a:ext cx="9144000" cy="1790700"/>
          </a:xfrm>
          <a:ln/>
        </p:spPr>
        <p:txBody>
          <a:bodyPr wrap="square" anchor="t"/>
          <a:lstStyle/>
          <a:p>
            <a:pPr lvl="1" eaLnBrk="1" hangingPunct="1">
              <a:buNone/>
            </a:pPr>
            <a:r>
              <a:rPr lang="en-US" altLang="zh-CN" dirty="0">
                <a:ea typeface="宋体" panose="02010600030101010101" pitchFamily="2" charset="-122"/>
              </a:rPr>
              <a:t>CREATE TABLE Emp (</a:t>
            </a:r>
          </a:p>
          <a:p>
            <a:pPr lvl="2" eaLnBrk="1" hangingPunct="1">
              <a:buNone/>
            </a:pP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ssn char(8) PRIMARY KEY,</a:t>
            </a:r>
          </a:p>
          <a:p>
            <a:pPr lvl="2" eaLnBrk="1" hangingPunct="1">
              <a:buNone/>
            </a:pP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dno char(4) </a:t>
            </a:r>
            <a:r>
              <a:rPr lang="en-US" altLang="zh-CN" dirty="0">
                <a:solidFill>
                  <a:srgbClr val="FF0066"/>
                </a:solidFill>
                <a:ea typeface="宋体" panose="02010600030101010101" pitchFamily="2" charset="-122"/>
              </a:rPr>
              <a:t>REFERENCES Dept</a:t>
            </a: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,</a:t>
            </a:r>
          </a:p>
          <a:p>
            <a:pPr lvl="2" eaLnBrk="1" hangingPunct="1">
              <a:buNone/>
            </a:pP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……);</a:t>
            </a:r>
          </a:p>
        </p:txBody>
      </p:sp>
      <p:sp>
        <p:nvSpPr>
          <p:cNvPr id="22535" name="Rectangle 4"/>
          <p:cNvSpPr/>
          <p:nvPr/>
        </p:nvSpPr>
        <p:spPr>
          <a:xfrm>
            <a:off x="0" y="3068638"/>
            <a:ext cx="9144000" cy="3087687"/>
          </a:xfrm>
          <a:prstGeom prst="rect">
            <a:avLst/>
          </a:prstGeom>
          <a:solidFill>
            <a:srgbClr val="EAEAEA"/>
          </a:solidFill>
          <a:ln w="95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marL="742950" lvl="1" indent="-285750" algn="l" eaLnBrk="1" hangingPunct="1">
              <a:spcBef>
                <a:spcPct val="20000"/>
              </a:spcBef>
              <a:buClr>
                <a:schemeClr val="accent1"/>
              </a:buClr>
            </a:pPr>
            <a:r>
              <a:rPr lang="en-US" altLang="zh-CN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CREATE TABLE Emp (</a:t>
            </a:r>
          </a:p>
          <a:p>
            <a:pPr marL="1143000" lvl="2" indent="-228600" algn="l"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ssn char(8) PRIMARY KEY,</a:t>
            </a:r>
          </a:p>
          <a:p>
            <a:pPr marL="1143000" lvl="2" indent="-228600" algn="l"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dno char(4)</a:t>
            </a:r>
          </a:p>
          <a:p>
            <a:pPr marL="1143000" lvl="2" indent="-228600" algn="l"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REFERENCES Dept ON DELETE  RESTRICT</a:t>
            </a:r>
            <a:r>
              <a:rPr lang="en-US" altLang="zh-CN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</a:p>
          <a:p>
            <a:pPr marL="1143000" lvl="2" indent="-228600" algn="l"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……);</a:t>
            </a:r>
          </a:p>
        </p:txBody>
      </p:sp>
      <p:sp>
        <p:nvSpPr>
          <p:cNvPr id="22536" name="Line 5"/>
          <p:cNvSpPr/>
          <p:nvPr/>
        </p:nvSpPr>
        <p:spPr>
          <a:xfrm>
            <a:off x="0" y="3068638"/>
            <a:ext cx="9144000" cy="0"/>
          </a:xfrm>
          <a:prstGeom prst="line">
            <a:avLst/>
          </a:prstGeom>
          <a:ln w="508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Times New Roman" panose="02020603050405020304" pitchFamily="2" charset="0"/>
            </a:endParaRPr>
          </a:p>
        </p:txBody>
      </p:sp>
      <p:sp>
        <p:nvSpPr>
          <p:cNvPr id="22537" name="AutoShape 6"/>
          <p:cNvSpPr/>
          <p:nvPr/>
        </p:nvSpPr>
        <p:spPr>
          <a:xfrm>
            <a:off x="6011863" y="0"/>
            <a:ext cx="3132137" cy="2276475"/>
          </a:xfrm>
          <a:prstGeom prst="borderCallout2">
            <a:avLst>
              <a:gd name="adj1" fmla="val 5023"/>
              <a:gd name="adj2" fmla="val -2431"/>
              <a:gd name="adj3" fmla="val 5023"/>
              <a:gd name="adj4" fmla="val -19310"/>
              <a:gd name="adj5" fmla="val 83194"/>
              <a:gd name="adj6" fmla="val -36241"/>
            </a:avLst>
          </a:prstGeom>
          <a:solidFill>
            <a:srgbClr val="CCFFFF"/>
          </a:solidFill>
          <a:ln w="25400" cap="flat" cmpd="sng">
            <a:solidFill>
              <a:srgbClr val="FF0000"/>
            </a:solidFill>
            <a:prstDash val="solid"/>
            <a:miter/>
            <a:headEnd type="none" w="med" len="med"/>
            <a:tailEnd type="arrow" w="lg" len="lg"/>
          </a:ln>
        </p:spPr>
        <p:txBody>
          <a:bodyPr anchor="t"/>
          <a:lstStyle/>
          <a:p>
            <a:pPr algn="ctr"/>
            <a:r>
              <a:rPr lang="zh-CN" altLang="en-US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但在对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Dept</a:t>
            </a:r>
            <a:r>
              <a:rPr lang="zh-CN" altLang="en-US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表进行数据的增、删、改操作时，不能保证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Emp</a:t>
            </a:r>
            <a:r>
              <a:rPr lang="zh-CN" altLang="en-US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表中外键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dno</a:t>
            </a:r>
            <a:r>
              <a:rPr lang="zh-CN" altLang="en-US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的正确性。</a:t>
            </a:r>
          </a:p>
        </p:txBody>
      </p:sp>
      <p:sp>
        <p:nvSpPr>
          <p:cNvPr id="22538" name="AutoShape 7"/>
          <p:cNvSpPr/>
          <p:nvPr/>
        </p:nvSpPr>
        <p:spPr>
          <a:xfrm>
            <a:off x="0" y="5373688"/>
            <a:ext cx="6016625" cy="1511300"/>
          </a:xfrm>
          <a:prstGeom prst="borderCallout2">
            <a:avLst>
              <a:gd name="adj1" fmla="val 7565"/>
              <a:gd name="adj2" fmla="val 101269"/>
              <a:gd name="adj3" fmla="val 7565"/>
              <a:gd name="adj4" fmla="val 105486"/>
              <a:gd name="adj5" fmla="val -34245"/>
              <a:gd name="adj6" fmla="val 109736"/>
            </a:avLst>
          </a:prstGeom>
          <a:solidFill>
            <a:srgbClr val="CCFFFF"/>
          </a:solidFill>
          <a:ln w="25400" cap="flat" cmpd="sng">
            <a:solidFill>
              <a:srgbClr val="FF0000"/>
            </a:solidFill>
            <a:prstDash val="solid"/>
            <a:miter/>
            <a:headEnd type="none" w="med" len="med"/>
            <a:tailEnd type="arrow" w="lg" len="lg"/>
          </a:ln>
        </p:spPr>
        <p:txBody>
          <a:bodyPr anchor="t"/>
          <a:lstStyle/>
          <a:p>
            <a:pPr algn="ctr"/>
            <a:r>
              <a:rPr lang="zh-CN" altLang="en-US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如果某部门中有职工，那么将不允许在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Dept</a:t>
            </a:r>
            <a:r>
              <a:rPr lang="zh-CN" altLang="en-US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表中删除该部门元组，从而保证了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Emp</a:t>
            </a:r>
            <a:r>
              <a:rPr lang="zh-CN" altLang="en-US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表中外键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dno</a:t>
            </a:r>
            <a:r>
              <a:rPr lang="zh-CN" altLang="en-US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的引用完整性。</a:t>
            </a:r>
          </a:p>
        </p:txBody>
      </p:sp>
      <p:sp>
        <p:nvSpPr>
          <p:cNvPr id="23562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5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5" grpId="0" animBg="1"/>
      <p:bldP spid="22537" grpId="0" animBg="1"/>
      <p:bldP spid="2253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日期占位符 3"/>
          <p:cNvSpPr txBox="1">
            <a:spLocks noGrp="1"/>
          </p:cNvSpPr>
          <p:nvPr/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BB962C8B-B14F-4D97-AF65-F5344CB8AC3E}" type="datetime1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4578" name="页脚占位符 4"/>
          <p:cNvSpPr txBox="1">
            <a:spLocks noGrp="1"/>
          </p:cNvSpPr>
          <p:nvPr/>
        </p:nvSpPr>
        <p:spPr>
          <a:xfrm>
            <a:off x="2590800" y="6553200"/>
            <a:ext cx="39624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Integrity,Views,Security,and Catalogs</a:t>
            </a:r>
            <a:endParaRPr lang="en-US" altLang="zh-CN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4579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22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4580" name="Rectangle 2"/>
          <p:cNvSpPr>
            <a:spLocks noGrp="1"/>
          </p:cNvSpPr>
          <p:nvPr>
            <p:ph type="title" idx="4294967295"/>
          </p:nvPr>
        </p:nvSpPr>
        <p:spPr>
          <a:ln/>
        </p:spPr>
        <p:txBody>
          <a:bodyPr wrap="square" anchor="ctr"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Example of foreign key</a:t>
            </a:r>
          </a:p>
        </p:txBody>
      </p:sp>
      <p:sp>
        <p:nvSpPr>
          <p:cNvPr id="24581" name="Rectangle 3"/>
          <p:cNvSpPr>
            <a:spLocks noGrp="1"/>
          </p:cNvSpPr>
          <p:nvPr>
            <p:ph type="body" idx="4294967295"/>
          </p:nvPr>
        </p:nvSpPr>
        <p:spPr>
          <a:xfrm>
            <a:off x="0" y="990600"/>
            <a:ext cx="9144000" cy="1790700"/>
          </a:xfrm>
          <a:ln/>
        </p:spPr>
        <p:txBody>
          <a:bodyPr wrap="square" anchor="t"/>
          <a:lstStyle/>
          <a:p>
            <a:pPr lvl="1" eaLnBrk="1" hangingPunct="1">
              <a:buNone/>
            </a:pPr>
            <a:r>
              <a:rPr lang="en-US" altLang="zh-CN" dirty="0">
                <a:ea typeface="宋体" panose="02010600030101010101" pitchFamily="2" charset="-122"/>
              </a:rPr>
              <a:t>CREATE TABLE Emp (</a:t>
            </a:r>
          </a:p>
          <a:p>
            <a:pPr lvl="2" eaLnBrk="1" hangingPunct="1">
              <a:buNone/>
            </a:pP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ssn char(8) PRIMARY KEY,</a:t>
            </a:r>
          </a:p>
          <a:p>
            <a:pPr lvl="2" eaLnBrk="1" hangingPunct="1">
              <a:buNone/>
            </a:pP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dno char(4) </a:t>
            </a:r>
            <a:r>
              <a:rPr lang="en-US" altLang="zh-CN" dirty="0">
                <a:solidFill>
                  <a:srgbClr val="FF0066"/>
                </a:solidFill>
                <a:ea typeface="宋体" panose="02010600030101010101" pitchFamily="2" charset="-122"/>
              </a:rPr>
              <a:t>REFERENCES Dept</a:t>
            </a: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,</a:t>
            </a:r>
          </a:p>
          <a:p>
            <a:pPr lvl="2" eaLnBrk="1" hangingPunct="1">
              <a:buNone/>
            </a:pP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……);</a:t>
            </a:r>
          </a:p>
        </p:txBody>
      </p:sp>
      <p:sp>
        <p:nvSpPr>
          <p:cNvPr id="23559" name="Rectangle 4"/>
          <p:cNvSpPr/>
          <p:nvPr/>
        </p:nvSpPr>
        <p:spPr>
          <a:xfrm>
            <a:off x="0" y="3068638"/>
            <a:ext cx="9144000" cy="3087687"/>
          </a:xfrm>
          <a:prstGeom prst="rect">
            <a:avLst/>
          </a:prstGeom>
          <a:solidFill>
            <a:srgbClr val="EAEAEA"/>
          </a:solidFill>
          <a:ln w="95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marL="742950" lvl="1" indent="-285750" algn="l" eaLnBrk="1" hangingPunct="1">
              <a:spcBef>
                <a:spcPct val="20000"/>
              </a:spcBef>
              <a:buClr>
                <a:schemeClr val="accent1"/>
              </a:buClr>
            </a:pPr>
            <a:r>
              <a:rPr lang="en-US" altLang="zh-CN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CREATE TABLE Emp (</a:t>
            </a:r>
          </a:p>
          <a:p>
            <a:pPr marL="1143000" lvl="2" indent="-228600" algn="l"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ssn char(8) PRIMARY KEY,</a:t>
            </a:r>
          </a:p>
          <a:p>
            <a:pPr marL="1143000" lvl="2" indent="-228600" algn="l"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dno char(4)</a:t>
            </a:r>
          </a:p>
          <a:p>
            <a:pPr marL="1143000" lvl="2" indent="-228600" algn="l"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REFERENCES Dept ON DELETE  CASCADE</a:t>
            </a:r>
            <a:r>
              <a:rPr lang="en-US" altLang="zh-CN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</a:p>
          <a:p>
            <a:pPr marL="1143000" lvl="2" indent="-228600" algn="l"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……);</a:t>
            </a:r>
          </a:p>
        </p:txBody>
      </p:sp>
      <p:sp>
        <p:nvSpPr>
          <p:cNvPr id="23560" name="Line 5"/>
          <p:cNvSpPr/>
          <p:nvPr/>
        </p:nvSpPr>
        <p:spPr>
          <a:xfrm>
            <a:off x="0" y="3068638"/>
            <a:ext cx="9144000" cy="0"/>
          </a:xfrm>
          <a:prstGeom prst="line">
            <a:avLst/>
          </a:prstGeom>
          <a:ln w="508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Times New Roman" panose="02020603050405020304" pitchFamily="2" charset="0"/>
            </a:endParaRPr>
          </a:p>
        </p:txBody>
      </p:sp>
      <p:sp>
        <p:nvSpPr>
          <p:cNvPr id="23561" name="AutoShape 7"/>
          <p:cNvSpPr/>
          <p:nvPr/>
        </p:nvSpPr>
        <p:spPr>
          <a:xfrm>
            <a:off x="0" y="5373688"/>
            <a:ext cx="6016625" cy="1511300"/>
          </a:xfrm>
          <a:prstGeom prst="borderCallout2">
            <a:avLst>
              <a:gd name="adj1" fmla="val 7565"/>
              <a:gd name="adj2" fmla="val 101269"/>
              <a:gd name="adj3" fmla="val 7565"/>
              <a:gd name="adj4" fmla="val 105486"/>
              <a:gd name="adj5" fmla="val -34245"/>
              <a:gd name="adj6" fmla="val 109736"/>
            </a:avLst>
          </a:prstGeom>
          <a:solidFill>
            <a:srgbClr val="CCFFFF"/>
          </a:solidFill>
          <a:ln w="25400" cap="flat" cmpd="sng">
            <a:solidFill>
              <a:srgbClr val="FF0000"/>
            </a:solidFill>
            <a:prstDash val="solid"/>
            <a:miter/>
            <a:headEnd type="none" w="med" len="med"/>
            <a:tailEnd type="arrow" w="lg" len="lg"/>
          </a:ln>
        </p:spPr>
        <p:txBody>
          <a:bodyPr anchor="t"/>
          <a:lstStyle/>
          <a:p>
            <a:r>
              <a:rPr lang="zh-CN" altLang="en-US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如果某部门中有职工，那么在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Dept</a:t>
            </a:r>
            <a:r>
              <a:rPr lang="zh-CN" altLang="en-US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表中删除该部门元组的同时，将从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Emp</a:t>
            </a:r>
            <a:r>
              <a:rPr lang="zh-CN" altLang="en-US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表中删除该部门的所有职工。</a:t>
            </a:r>
          </a:p>
        </p:txBody>
      </p:sp>
      <p:sp>
        <p:nvSpPr>
          <p:cNvPr id="24585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9" grpId="0" animBg="1"/>
      <p:bldP spid="2356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日期占位符 3"/>
          <p:cNvSpPr txBox="1">
            <a:spLocks noGrp="1"/>
          </p:cNvSpPr>
          <p:nvPr/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BB962C8B-B14F-4D97-AF65-F5344CB8AC3E}" type="datetime1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5602" name="页脚占位符 4"/>
          <p:cNvSpPr txBox="1">
            <a:spLocks noGrp="1"/>
          </p:cNvSpPr>
          <p:nvPr/>
        </p:nvSpPr>
        <p:spPr>
          <a:xfrm>
            <a:off x="2590800" y="6553200"/>
            <a:ext cx="39624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Integrity,Views,Security,and Catalogs</a:t>
            </a:r>
            <a:endParaRPr lang="en-US" altLang="zh-CN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5603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23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5604" name="Rectangle 2"/>
          <p:cNvSpPr>
            <a:spLocks noGrp="1"/>
          </p:cNvSpPr>
          <p:nvPr>
            <p:ph type="title" idx="4294967295"/>
          </p:nvPr>
        </p:nvSpPr>
        <p:spPr>
          <a:ln/>
        </p:spPr>
        <p:txBody>
          <a:bodyPr wrap="square" anchor="ctr"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Example of foreign key</a:t>
            </a:r>
          </a:p>
        </p:txBody>
      </p:sp>
      <p:sp>
        <p:nvSpPr>
          <p:cNvPr id="25605" name="Rectangle 3"/>
          <p:cNvSpPr>
            <a:spLocks noGrp="1"/>
          </p:cNvSpPr>
          <p:nvPr>
            <p:ph type="body" idx="4294967295"/>
          </p:nvPr>
        </p:nvSpPr>
        <p:spPr>
          <a:xfrm>
            <a:off x="0" y="990600"/>
            <a:ext cx="9144000" cy="1790700"/>
          </a:xfrm>
          <a:ln/>
        </p:spPr>
        <p:txBody>
          <a:bodyPr wrap="square" anchor="t"/>
          <a:lstStyle/>
          <a:p>
            <a:pPr lvl="1" eaLnBrk="1" hangingPunct="1">
              <a:buNone/>
            </a:pPr>
            <a:r>
              <a:rPr lang="en-US" altLang="zh-CN" dirty="0">
                <a:ea typeface="宋体" panose="02010600030101010101" pitchFamily="2" charset="-122"/>
              </a:rPr>
              <a:t>CREATE TABLE Emp (</a:t>
            </a:r>
          </a:p>
          <a:p>
            <a:pPr lvl="2" eaLnBrk="1" hangingPunct="1">
              <a:buNone/>
            </a:pP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ssn char(8) PRIMARY KEY,</a:t>
            </a:r>
          </a:p>
          <a:p>
            <a:pPr lvl="2" eaLnBrk="1" hangingPunct="1">
              <a:buNone/>
            </a:pP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dno char(4) </a:t>
            </a:r>
            <a:r>
              <a:rPr lang="en-US" altLang="zh-CN" dirty="0">
                <a:solidFill>
                  <a:srgbClr val="FF0066"/>
                </a:solidFill>
                <a:ea typeface="宋体" panose="02010600030101010101" pitchFamily="2" charset="-122"/>
              </a:rPr>
              <a:t>REFERENCES Dept</a:t>
            </a: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,</a:t>
            </a:r>
          </a:p>
          <a:p>
            <a:pPr lvl="2" eaLnBrk="1" hangingPunct="1">
              <a:buNone/>
            </a:pP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……);</a:t>
            </a:r>
          </a:p>
        </p:txBody>
      </p:sp>
      <p:sp>
        <p:nvSpPr>
          <p:cNvPr id="24583" name="Rectangle 4"/>
          <p:cNvSpPr/>
          <p:nvPr/>
        </p:nvSpPr>
        <p:spPr>
          <a:xfrm>
            <a:off x="0" y="3068638"/>
            <a:ext cx="9144000" cy="3087687"/>
          </a:xfrm>
          <a:prstGeom prst="rect">
            <a:avLst/>
          </a:prstGeom>
          <a:solidFill>
            <a:srgbClr val="EAEAEA"/>
          </a:solidFill>
          <a:ln w="95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marL="742950" lvl="1" indent="-285750" algn="l" eaLnBrk="1" hangingPunct="1">
              <a:spcBef>
                <a:spcPct val="20000"/>
              </a:spcBef>
              <a:buClr>
                <a:schemeClr val="accent1"/>
              </a:buClr>
            </a:pPr>
            <a:r>
              <a:rPr lang="en-US" altLang="zh-CN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CREATE TABLE Emp (</a:t>
            </a:r>
          </a:p>
          <a:p>
            <a:pPr marL="1143000" lvl="2" indent="-228600" algn="l"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ssn char(8) PRIMARY KEY,</a:t>
            </a:r>
          </a:p>
          <a:p>
            <a:pPr marL="1143000" lvl="2" indent="-228600" algn="l"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dno char(4)</a:t>
            </a:r>
          </a:p>
          <a:p>
            <a:pPr marL="1143000" lvl="2" indent="-228600" algn="l"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REFERENCES Dept ON DELETE  SET NULL</a:t>
            </a:r>
            <a:r>
              <a:rPr lang="en-US" altLang="zh-CN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</a:p>
          <a:p>
            <a:pPr marL="1143000" lvl="2" indent="-228600" algn="l"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……);</a:t>
            </a:r>
          </a:p>
        </p:txBody>
      </p:sp>
      <p:sp>
        <p:nvSpPr>
          <p:cNvPr id="24584" name="Line 5"/>
          <p:cNvSpPr/>
          <p:nvPr/>
        </p:nvSpPr>
        <p:spPr>
          <a:xfrm>
            <a:off x="0" y="3068638"/>
            <a:ext cx="9144000" cy="0"/>
          </a:xfrm>
          <a:prstGeom prst="line">
            <a:avLst/>
          </a:prstGeom>
          <a:ln w="508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Times New Roman" panose="02020603050405020304" pitchFamily="2" charset="0"/>
            </a:endParaRPr>
          </a:p>
        </p:txBody>
      </p:sp>
      <p:sp>
        <p:nvSpPr>
          <p:cNvPr id="24585" name="AutoShape 6"/>
          <p:cNvSpPr/>
          <p:nvPr/>
        </p:nvSpPr>
        <p:spPr>
          <a:xfrm>
            <a:off x="0" y="5373688"/>
            <a:ext cx="6084888" cy="1511300"/>
          </a:xfrm>
          <a:prstGeom prst="borderCallout2">
            <a:avLst>
              <a:gd name="adj1" fmla="val 7565"/>
              <a:gd name="adj2" fmla="val 101250"/>
              <a:gd name="adj3" fmla="val 7565"/>
              <a:gd name="adj4" fmla="val 104880"/>
              <a:gd name="adj5" fmla="val -34245"/>
              <a:gd name="adj6" fmla="val 108505"/>
            </a:avLst>
          </a:prstGeom>
          <a:solidFill>
            <a:srgbClr val="CCFFFF"/>
          </a:solidFill>
          <a:ln w="25400" cap="flat" cmpd="sng">
            <a:solidFill>
              <a:srgbClr val="FF0000"/>
            </a:solidFill>
            <a:prstDash val="solid"/>
            <a:miter/>
            <a:headEnd type="none" w="med" len="med"/>
            <a:tailEnd type="arrow" w="lg" len="lg"/>
          </a:ln>
        </p:spPr>
        <p:txBody>
          <a:bodyPr anchor="t"/>
          <a:lstStyle/>
          <a:p>
            <a:r>
              <a:rPr lang="zh-CN" altLang="en-US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如果某部门中有职工，那么在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Dept</a:t>
            </a:r>
            <a:r>
              <a:rPr lang="zh-CN" altLang="en-US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表中删除该部门元组的同时，在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Emp</a:t>
            </a:r>
            <a:r>
              <a:rPr lang="zh-CN" altLang="en-US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表中将该部门所有职工的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dno</a:t>
            </a:r>
            <a:r>
              <a:rPr lang="zh-CN" altLang="en-US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置为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NULL</a:t>
            </a:r>
            <a:r>
              <a:rPr lang="zh-CN" altLang="en-US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25609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3" grpId="0" animBg="1"/>
      <p:bldP spid="2458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日期占位符 3"/>
          <p:cNvSpPr txBox="1">
            <a:spLocks noGrp="1"/>
          </p:cNvSpPr>
          <p:nvPr/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BB962C8B-B14F-4D97-AF65-F5344CB8AC3E}" type="datetime1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6626" name="页脚占位符 4"/>
          <p:cNvSpPr txBox="1">
            <a:spLocks noGrp="1"/>
          </p:cNvSpPr>
          <p:nvPr/>
        </p:nvSpPr>
        <p:spPr>
          <a:xfrm>
            <a:off x="2590800" y="6553200"/>
            <a:ext cx="39624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Integrity,Views,Security,and Catalogs</a:t>
            </a:r>
            <a:endParaRPr lang="en-US" altLang="zh-CN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6627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24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6628" name="Rectangle 3"/>
          <p:cNvSpPr>
            <a:spLocks noGrp="1"/>
          </p:cNvSpPr>
          <p:nvPr>
            <p:ph type="body" idx="4294967295"/>
          </p:nvPr>
        </p:nvSpPr>
        <p:spPr>
          <a:xfrm>
            <a:off x="0" y="44450"/>
            <a:ext cx="9144000" cy="5257800"/>
          </a:xfrm>
          <a:ln/>
        </p:spPr>
        <p:txBody>
          <a:bodyPr wrap="square" anchor="t"/>
          <a:lstStyle/>
          <a:p>
            <a:pPr marL="0" indent="0" eaLnBrk="1" hangingPunct="1"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Foreign Key Constraints: </a:t>
            </a:r>
            <a:r>
              <a:rPr lang="en-US" altLang="zh-CN" sz="2800" dirty="0">
                <a:solidFill>
                  <a:schemeClr val="accent2"/>
                </a:solidFill>
                <a:ea typeface="宋体" panose="02010600030101010101" pitchFamily="2" charset="-122"/>
              </a:rPr>
              <a:t>Product Variations</a:t>
            </a:r>
          </a:p>
          <a:p>
            <a:pPr marL="0" indent="0" eaLnBrk="1" hangingPunct="1"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(Figure 7.6)</a:t>
            </a:r>
          </a:p>
        </p:txBody>
      </p:sp>
      <p:graphicFrame>
        <p:nvGraphicFramePr>
          <p:cNvPr id="25606" name="表格 25605"/>
          <p:cNvGraphicFramePr/>
          <p:nvPr/>
        </p:nvGraphicFramePr>
        <p:xfrm>
          <a:off x="0" y="1052513"/>
          <a:ext cx="9144000" cy="5199063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13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60475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endParaRPr lang="zh-CN" altLang="en-US" sz="280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28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ORACLE</a:t>
                      </a:r>
                    </a:p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28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INFORMIX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28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DB2 UDB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28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X/Open</a:t>
                      </a:r>
                    </a:p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28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Full SQL-99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6988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28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ON DELETE ...</a:t>
                      </a:r>
                    </a:p>
                  </a:txBody>
                  <a:tcPr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2800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CASCADE</a:t>
                      </a:r>
                    </a:p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2800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SET NULL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2800" u="sng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NO ACTION</a:t>
                      </a:r>
                    </a:p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2800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CASCADE</a:t>
                      </a:r>
                    </a:p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2800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SET NULL</a:t>
                      </a:r>
                    </a:p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2800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RESTRICT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2800" u="sng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NO ACTION</a:t>
                      </a:r>
                      <a:r>
                        <a:rPr lang="en-US" altLang="x-none" sz="2800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</a:p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2800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CASCADE</a:t>
                      </a:r>
                    </a:p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2800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SET NULL</a:t>
                      </a:r>
                    </a:p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2600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SET DEFAULT</a:t>
                      </a:r>
                    </a:p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2800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RESTRICT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0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28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Without ON DELETE</a:t>
                      </a:r>
                    </a:p>
                  </a:txBody>
                  <a:tcPr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2600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NO ACTION</a:t>
                      </a:r>
                      <a:r>
                        <a:rPr lang="en-US" altLang="x-none" sz="2800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effect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2600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NO ACTION</a:t>
                      </a:r>
                      <a:r>
                        <a:rPr lang="en-US" altLang="x-none" sz="2800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effect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  <a:defRPr sz="2000" b="1" u="none" kern="1200" baseline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defRPr sz="2000" kern="1200">
                          <a:solidFill>
                            <a:schemeClr val="accent2"/>
                          </a:solidFill>
                        </a:defRPr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>
                          <a:solidFill>
                            <a:schemeClr val="accent1"/>
                          </a:solidFill>
                        </a:defRPr>
                      </a:lvl3pPr>
                      <a:lvl4pPr marL="1600200" lvl="3" indent="-228600">
                        <a:defRPr sz="200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2800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NO ACTION effect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6651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日期占位符 3"/>
          <p:cNvSpPr txBox="1">
            <a:spLocks noGrp="1"/>
          </p:cNvSpPr>
          <p:nvPr/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BB962C8B-B14F-4D97-AF65-F5344CB8AC3E}" type="datetime1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7650" name="页脚占位符 4"/>
          <p:cNvSpPr txBox="1">
            <a:spLocks noGrp="1"/>
          </p:cNvSpPr>
          <p:nvPr/>
        </p:nvSpPr>
        <p:spPr>
          <a:xfrm>
            <a:off x="2590800" y="6553200"/>
            <a:ext cx="39624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Integrity,Views,Security,and Catalogs</a:t>
            </a:r>
            <a:endParaRPr lang="en-US" altLang="zh-CN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7651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25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7652" name="Rectangle 2"/>
          <p:cNvSpPr>
            <a:spLocks noGrp="1"/>
          </p:cNvSpPr>
          <p:nvPr>
            <p:ph type="title" idx="4294967295"/>
          </p:nvPr>
        </p:nvSpPr>
        <p:spPr>
          <a:ln/>
        </p:spPr>
        <p:txBody>
          <a:bodyPr wrap="square" anchor="ctr"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7.1 </a:t>
            </a:r>
            <a:r>
              <a:rPr lang="en-US" altLang="zh-CN" dirty="0">
                <a:ea typeface="宋体" panose="02010600030101010101" pitchFamily="2" charset="-122"/>
              </a:rPr>
              <a:t>Integrity Constraints</a:t>
            </a:r>
          </a:p>
        </p:txBody>
      </p:sp>
      <p:sp>
        <p:nvSpPr>
          <p:cNvPr id="27653" name="Rectangle 3"/>
          <p:cNvSpPr>
            <a:spLocks noGrp="1"/>
          </p:cNvSpPr>
          <p:nvPr>
            <p:ph type="body" idx="4294967295"/>
          </p:nvPr>
        </p:nvSpPr>
        <p:spPr>
          <a:ln/>
        </p:spPr>
        <p:txBody>
          <a:bodyPr wrap="square" anchor="t"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The Alter Table Statement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change the table structure &amp; integrity constraints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Figure 7.7 ~ 7.9 (pg. 423)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CN" sz="2800" dirty="0">
                <a:solidFill>
                  <a:schemeClr val="accent2"/>
                </a:solidFill>
                <a:ea typeface="宋体" panose="02010600030101010101" pitchFamily="2" charset="-122"/>
              </a:rPr>
              <a:t>column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Add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Drop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Modify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CN" sz="2800" dirty="0">
                <a:solidFill>
                  <a:schemeClr val="accent2"/>
                </a:solidFill>
                <a:ea typeface="宋体" panose="02010600030101010101" pitchFamily="2" charset="-122"/>
              </a:rPr>
              <a:t>constraints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Add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Drop</a:t>
            </a:r>
          </a:p>
        </p:txBody>
      </p:sp>
      <p:sp>
        <p:nvSpPr>
          <p:cNvPr id="27654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标题 27649"/>
          <p:cNvSpPr>
            <a:spLocks noGrp="1"/>
          </p:cNvSpPr>
          <p:nvPr>
            <p:ph type="title"/>
          </p:nvPr>
        </p:nvSpPr>
        <p:spPr>
          <a:ln/>
        </p:spPr>
        <p:txBody>
          <a:bodyPr anchor="ctr"/>
          <a:lstStyle/>
          <a:p>
            <a:r>
              <a:rPr lang="zh-CN" altLang="en-US" dirty="0">
                <a:ea typeface="宋体" panose="02010600030101010101" pitchFamily="2" charset="-122"/>
              </a:rPr>
              <a:t>7.1 </a:t>
            </a:r>
            <a:r>
              <a:rPr lang="en-US" altLang="zh-CN" dirty="0">
                <a:ea typeface="宋体" panose="02010600030101010101" pitchFamily="2" charset="-122"/>
              </a:rPr>
              <a:t>Integrity Constraints</a:t>
            </a:r>
          </a:p>
        </p:txBody>
      </p:sp>
      <p:sp>
        <p:nvSpPr>
          <p:cNvPr id="28674" name="文本占位符 27650"/>
          <p:cNvSpPr>
            <a:spLocks noGrp="1"/>
          </p:cNvSpPr>
          <p:nvPr>
            <p:ph idx="1"/>
          </p:nvPr>
        </p:nvSpPr>
        <p:spPr>
          <a:xfrm>
            <a:off x="457200" y="774700"/>
            <a:ext cx="8229600" cy="638175"/>
          </a:xfrm>
          <a:ln/>
        </p:spPr>
        <p:txBody>
          <a:bodyPr anchor="t"/>
          <a:lstStyle/>
          <a:p>
            <a:r>
              <a:rPr lang="en-US" altLang="zh-CN" sz="3000"/>
              <a:t>Database Trigger</a:t>
            </a:r>
          </a:p>
        </p:txBody>
      </p:sp>
      <p:sp>
        <p:nvSpPr>
          <p:cNvPr id="27652" name="矩形 27651"/>
          <p:cNvSpPr>
            <a:spLocks noGrp="1"/>
          </p:cNvSpPr>
          <p:nvPr/>
        </p:nvSpPr>
        <p:spPr>
          <a:xfrm>
            <a:off x="512763" y="1333500"/>
            <a:ext cx="8229600" cy="5257800"/>
          </a:xfrm>
          <a:prstGeom prst="rect">
            <a:avLst/>
          </a:prstGeom>
          <a:noFill/>
          <a:ln w="9525">
            <a:noFill/>
          </a:ln>
        </p:spPr>
        <p:txBody>
          <a:bodyPr wrap="square" anchor="t"/>
          <a:lstStyle/>
          <a:p>
            <a:pPr marL="342900" indent="-342900" eaLnBrk="0" hangingPunct="0">
              <a:spcBef>
                <a:spcPct val="20000"/>
              </a:spcBef>
              <a:buClr>
                <a:schemeClr val="tx1"/>
              </a:buClr>
              <a:buSzPct val="100000"/>
              <a:buChar char="•"/>
            </a:pPr>
            <a:r>
              <a:rPr lang="en-US" altLang="zh-CN" sz="3000" b="1">
                <a:solidFill>
                  <a:srgbClr val="0000CC"/>
                </a:solidFill>
                <a:latin typeface="Arial" panose="020B0604020202020204" pitchFamily="34" charset="0"/>
              </a:rPr>
              <a:t>A database trigger is procedural code that is automatically executed in response to certain events on a particular table or view in a database. 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tx1"/>
              </a:buClr>
              <a:buSzPct val="100000"/>
              <a:buChar char="•"/>
            </a:pPr>
            <a:r>
              <a:rPr lang="en-US" altLang="zh-CN" sz="3000" b="1">
                <a:solidFill>
                  <a:srgbClr val="0000CC"/>
                </a:solidFill>
                <a:latin typeface="Arial" panose="020B0604020202020204" pitchFamily="34" charset="0"/>
              </a:rPr>
              <a:t>The trigger is mostly used for maintaining the integrity of the information on the database. For example, when a new record (a new worker) is added to the employees table, new records should also be created in the tables of the taxes, vacations and salaries.</a:t>
            </a:r>
            <a:endParaRPr lang="en-US" altLang="zh-CN" b="1">
              <a:solidFill>
                <a:srgbClr val="0000CC"/>
              </a:solidFill>
              <a:latin typeface="Arial" panose="020B0604020202020204" pitchFamily="34" charset="0"/>
              <a:ea typeface="Times New Roman" panose="02020603050405020304" pitchFamily="2" charset="0"/>
            </a:endParaRPr>
          </a:p>
        </p:txBody>
      </p:sp>
      <p:sp>
        <p:nvSpPr>
          <p:cNvPr id="28676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6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日期占位符 3"/>
          <p:cNvSpPr txBox="1">
            <a:spLocks noGrp="1"/>
          </p:cNvSpPr>
          <p:nvPr/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BB962C8B-B14F-4D97-AF65-F5344CB8AC3E}" type="datetime1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9698" name="页脚占位符 4"/>
          <p:cNvSpPr txBox="1">
            <a:spLocks noGrp="1"/>
          </p:cNvSpPr>
          <p:nvPr/>
        </p:nvSpPr>
        <p:spPr>
          <a:xfrm>
            <a:off x="2590800" y="6553200"/>
            <a:ext cx="39624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Integrity,Views,Security,and Catalogs</a:t>
            </a:r>
            <a:endParaRPr lang="en-US" altLang="zh-CN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9699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27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9700" name="Rectangle 2"/>
          <p:cNvSpPr>
            <a:spLocks noGrp="1"/>
          </p:cNvSpPr>
          <p:nvPr>
            <p:ph type="title" idx="4294967295"/>
          </p:nvPr>
        </p:nvSpPr>
        <p:spPr>
          <a:ln/>
        </p:spPr>
        <p:txBody>
          <a:bodyPr wrap="square" anchor="ctr"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7.1 </a:t>
            </a:r>
            <a:r>
              <a:rPr lang="en-US" altLang="zh-CN" dirty="0">
                <a:ea typeface="宋体" panose="02010600030101010101" pitchFamily="2" charset="-122"/>
              </a:rPr>
              <a:t>Integrity Constraints</a:t>
            </a:r>
          </a:p>
        </p:txBody>
      </p:sp>
      <p:sp>
        <p:nvSpPr>
          <p:cNvPr id="29701" name="Rectangle 3"/>
          <p:cNvSpPr>
            <a:spLocks noGrp="1"/>
          </p:cNvSpPr>
          <p:nvPr>
            <p:ph type="body" idx="4294967295"/>
          </p:nvPr>
        </p:nvSpPr>
        <p:spPr>
          <a:xfrm>
            <a:off x="457200" y="765175"/>
            <a:ext cx="8229600" cy="5257800"/>
          </a:xfrm>
          <a:ln/>
        </p:spPr>
        <p:txBody>
          <a:bodyPr wrap="square" anchor="t"/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Trigger </a:t>
            </a:r>
            <a:r>
              <a:rPr lang="en-US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(Figure 7.10, pg. 425) (</a:t>
            </a:r>
            <a:r>
              <a:rPr lang="zh-CN" altLang="en-US" sz="2800" dirty="0">
                <a:solidFill>
                  <a:schemeClr val="tx1"/>
                </a:solidFill>
                <a:ea typeface="宋体" panose="02010600030101010101" pitchFamily="2" charset="-122"/>
              </a:rPr>
              <a:t>触发器)</a:t>
            </a:r>
          </a:p>
        </p:txBody>
      </p:sp>
      <p:sp>
        <p:nvSpPr>
          <p:cNvPr id="29702" name="Text Box 4"/>
          <p:cNvSpPr txBox="1"/>
          <p:nvPr/>
        </p:nvSpPr>
        <p:spPr>
          <a:xfrm>
            <a:off x="0" y="1341438"/>
            <a:ext cx="9144000" cy="4935537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>
            <a:sp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CREATE TRIGGER 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trigger_name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{ 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BEFORE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|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AFTER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}</a:t>
            </a:r>
          </a:p>
          <a:p>
            <a:pPr lvl="1" indent="0" algn="l" eaLnBrk="1" hangingPunct="1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{   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INSERT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| 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DELETE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</a:p>
          <a:p>
            <a:pPr lvl="1" indent="0" algn="l" eaLnBrk="1" hangingPunct="1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	| 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UPDATE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[ 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OF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colname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{ , 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colname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... } ] }</a:t>
            </a:r>
          </a:p>
          <a:p>
            <a:pPr lvl="1" indent="0" algn="l" eaLnBrk="1" hangingPunct="1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ON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table_name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</a:p>
          <a:p>
            <a:pPr lvl="1" indent="0" algn="l" eaLnBrk="1" hangingPunct="1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REFERENCING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corr_name_def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{ 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, ......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} ]</a:t>
            </a:r>
          </a:p>
          <a:p>
            <a:pPr lvl="1" indent="0" algn="l" eaLnBrk="1" hangingPunct="1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FOR EACH ROW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| </a:t>
            </a:r>
            <a:r>
              <a:rPr lang="en-US" altLang="zh-CN" sz="2800" b="1" u="sng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FOR EACH STATEMENT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]</a:t>
            </a:r>
          </a:p>
          <a:p>
            <a:pPr lvl="2" indent="0" algn="l" eaLnBrk="1" hangingPunct="1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WHEN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 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search_condition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)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]</a:t>
            </a:r>
          </a:p>
          <a:p>
            <a:pPr lvl="2" indent="0" algn="l" eaLnBrk="1" hangingPunct="1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{ 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statement</a:t>
            </a:r>
          </a:p>
          <a:p>
            <a:pPr lvl="2" indent="0" algn="l" eaLnBrk="1" hangingPunct="1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| 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BEGIN ATOMIC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statement; 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{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 ...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} 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END</a:t>
            </a:r>
          </a:p>
        </p:txBody>
      </p:sp>
      <p:sp>
        <p:nvSpPr>
          <p:cNvPr id="29703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日期占位符 3"/>
          <p:cNvSpPr txBox="1">
            <a:spLocks noGrp="1"/>
          </p:cNvSpPr>
          <p:nvPr/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BB962C8B-B14F-4D97-AF65-F5344CB8AC3E}" type="datetime1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30722" name="页脚占位符 4"/>
          <p:cNvSpPr txBox="1">
            <a:spLocks noGrp="1"/>
          </p:cNvSpPr>
          <p:nvPr/>
        </p:nvSpPr>
        <p:spPr>
          <a:xfrm>
            <a:off x="2590800" y="6553200"/>
            <a:ext cx="39624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Integrity,Views,Security,and Catalogs</a:t>
            </a:r>
            <a:endParaRPr lang="en-US" altLang="zh-CN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30723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28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30724" name="Rectangle 2"/>
          <p:cNvSpPr>
            <a:spLocks noGrp="1"/>
          </p:cNvSpPr>
          <p:nvPr>
            <p:ph type="title" idx="4294967295"/>
          </p:nvPr>
        </p:nvSpPr>
        <p:spPr>
          <a:ln/>
        </p:spPr>
        <p:txBody>
          <a:bodyPr wrap="square" anchor="ctr"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7.1 </a:t>
            </a:r>
            <a:r>
              <a:rPr lang="en-US" altLang="zh-CN" dirty="0">
                <a:ea typeface="宋体" panose="02010600030101010101" pitchFamily="2" charset="-122"/>
              </a:rPr>
              <a:t>Integrity Constraints</a:t>
            </a:r>
          </a:p>
        </p:txBody>
      </p:sp>
      <p:sp>
        <p:nvSpPr>
          <p:cNvPr id="30725" name="Text Box 5"/>
          <p:cNvSpPr txBox="1"/>
          <p:nvPr/>
        </p:nvSpPr>
        <p:spPr>
          <a:xfrm>
            <a:off x="0" y="1196975"/>
            <a:ext cx="9144000" cy="3530600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 anchor="t"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The </a:t>
            </a:r>
            <a:r>
              <a:rPr lang="en-US" altLang="zh-CN" sz="2800" b="1" i="1" u="sng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corr_name_def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that defines a correlation name follows: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endParaRPr lang="en-US" altLang="zh-CN" sz="1400" b="1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indent="0" algn="l" eaLnBrk="1" hangingPunct="1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{       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OLD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[ 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ROW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] [ 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AS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] 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old_row_corr_name</a:t>
            </a:r>
          </a:p>
          <a:p>
            <a:pPr lvl="2" indent="0" algn="l" eaLnBrk="1" hangingPunct="1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| 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NEW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[ 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ROW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] [ 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AS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] 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new_row_corr_name</a:t>
            </a:r>
          </a:p>
          <a:p>
            <a:pPr lvl="2" indent="0" algn="l" eaLnBrk="1" hangingPunct="1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| 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OLD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TABLE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[ 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AS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] 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old_table_corr_name</a:t>
            </a:r>
          </a:p>
          <a:p>
            <a:pPr lvl="2" indent="0" algn="l" eaLnBrk="1" hangingPunct="1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| 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NEW TABLE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[ 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AS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] 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new_table_corr_name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}</a:t>
            </a:r>
          </a:p>
        </p:txBody>
      </p:sp>
      <p:sp>
        <p:nvSpPr>
          <p:cNvPr id="30726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页脚占位符 3"/>
          <p:cNvSpPr txBox="1">
            <a:spLocks noGrp="1"/>
          </p:cNvSpPr>
          <p:nvPr/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endParaRPr lang="en-US" altLang="x-none" sz="10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31746" name="灯片编号占位符 4"/>
          <p:cNvSpPr txBox="1">
            <a:spLocks noGrp="1"/>
          </p:cNvSpPr>
          <p:nvPr/>
        </p:nvSpPr>
        <p:spPr>
          <a:xfrm>
            <a:off x="2590800" y="6553200"/>
            <a:ext cx="39624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29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31747" name="Text Box 4"/>
          <p:cNvSpPr txBox="1"/>
          <p:nvPr/>
        </p:nvSpPr>
        <p:spPr>
          <a:xfrm>
            <a:off x="0" y="44450"/>
            <a:ext cx="9144000" cy="662622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>
            <a:spAutoFit/>
          </a:bodyPr>
          <a:lstStyle/>
          <a:p>
            <a:pPr>
              <a:lnSpc>
                <a:spcPct val="200000"/>
              </a:lnSpc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CREATE TRIGGER 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trigger_name</a:t>
            </a:r>
            <a:r>
              <a:rPr lang="en-US" altLang="zh-CN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{ </a:t>
            </a:r>
            <a:r>
              <a:rPr lang="en-US" altLang="zh-CN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BEFORE</a:t>
            </a:r>
            <a:r>
              <a:rPr lang="en-US" altLang="zh-CN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| </a:t>
            </a:r>
            <a:r>
              <a:rPr lang="en-US" altLang="zh-CN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AFTER</a:t>
            </a:r>
            <a:r>
              <a:rPr lang="en-US" altLang="zh-CN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}</a:t>
            </a:r>
          </a:p>
          <a:p>
            <a:pPr lvl="1" indent="0" algn="l" eaLnBrk="1" hangingPunct="1">
              <a:lnSpc>
                <a:spcPct val="20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{ </a:t>
            </a:r>
            <a:r>
              <a:rPr lang="en-US" altLang="zh-CN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INSERT</a:t>
            </a:r>
            <a:r>
              <a:rPr lang="en-US" altLang="zh-CN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| </a:t>
            </a:r>
            <a:r>
              <a:rPr lang="en-US" altLang="zh-CN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DELETE</a:t>
            </a:r>
          </a:p>
          <a:p>
            <a:pPr lvl="1" indent="0" algn="l" eaLnBrk="1" hangingPunct="1">
              <a:lnSpc>
                <a:spcPct val="20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| </a:t>
            </a:r>
            <a:r>
              <a:rPr lang="en-US" altLang="zh-CN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UPDATE</a:t>
            </a:r>
            <a:r>
              <a:rPr lang="en-US" altLang="zh-CN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[ </a:t>
            </a:r>
            <a:r>
              <a:rPr lang="en-US" altLang="zh-CN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OF</a:t>
            </a:r>
            <a:r>
              <a:rPr lang="en-US" altLang="zh-CN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colname</a:t>
            </a:r>
            <a:r>
              <a:rPr lang="en-US" altLang="zh-CN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{ , 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colname</a:t>
            </a:r>
            <a:r>
              <a:rPr lang="en-US" altLang="zh-CN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... } ] }</a:t>
            </a:r>
          </a:p>
          <a:p>
            <a:pPr lvl="1" indent="0" algn="l" eaLnBrk="1" hangingPunct="1">
              <a:lnSpc>
                <a:spcPct val="20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ON</a:t>
            </a:r>
            <a:r>
              <a:rPr lang="en-US" altLang="zh-CN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table_name</a:t>
            </a:r>
            <a:r>
              <a:rPr lang="en-US" altLang="zh-CN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</a:p>
          <a:p>
            <a:pPr lvl="1" indent="0" algn="l" eaLnBrk="1" hangingPunct="1">
              <a:lnSpc>
                <a:spcPct val="20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</a:t>
            </a:r>
            <a:r>
              <a:rPr lang="en-US" altLang="zh-CN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REFERENCING</a:t>
            </a:r>
            <a:r>
              <a:rPr lang="en-US" altLang="zh-CN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corr_name_def</a:t>
            </a:r>
            <a:r>
              <a:rPr lang="en-US" altLang="zh-CN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{ 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, ......</a:t>
            </a:r>
            <a:r>
              <a:rPr lang="en-US" altLang="zh-CN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} ]</a:t>
            </a:r>
          </a:p>
          <a:p>
            <a:pPr lvl="1" indent="0" algn="l" eaLnBrk="1" hangingPunct="1">
              <a:lnSpc>
                <a:spcPct val="20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</a:t>
            </a:r>
            <a:r>
              <a:rPr lang="en-US" altLang="zh-CN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FOR EACH ROW</a:t>
            </a:r>
            <a:r>
              <a:rPr lang="en-US" altLang="zh-CN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| </a:t>
            </a:r>
            <a:r>
              <a:rPr lang="en-US" altLang="zh-CN" b="1" u="sng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FOR EACH STATEMENT</a:t>
            </a:r>
            <a:r>
              <a:rPr lang="en-US" altLang="zh-CN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]</a:t>
            </a:r>
          </a:p>
          <a:p>
            <a:pPr lvl="1" indent="0" algn="l" eaLnBrk="1" hangingPunct="1">
              <a:lnSpc>
                <a:spcPct val="20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</a:t>
            </a:r>
            <a:r>
              <a:rPr lang="en-US" altLang="zh-CN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WHEN</a:t>
            </a:r>
            <a:r>
              <a:rPr lang="en-US" altLang="zh-CN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 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search_condition</a:t>
            </a:r>
            <a:r>
              <a:rPr lang="en-US" altLang="zh-CN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)</a:t>
            </a:r>
            <a:r>
              <a:rPr lang="en-US" altLang="zh-CN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]</a:t>
            </a:r>
          </a:p>
          <a:p>
            <a:pPr lvl="2" indent="0" algn="l" eaLnBrk="1" hangingPunct="1">
              <a:lnSpc>
                <a:spcPct val="20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{ 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statement</a:t>
            </a:r>
          </a:p>
          <a:p>
            <a:pPr lvl="2" indent="0" algn="l" eaLnBrk="1" hangingPunct="1">
              <a:lnSpc>
                <a:spcPct val="20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| </a:t>
            </a:r>
            <a:r>
              <a:rPr lang="en-US" altLang="zh-CN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BEGIN ATOMIC</a:t>
            </a:r>
            <a:r>
              <a:rPr lang="en-US" altLang="zh-CN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statement; </a:t>
            </a:r>
            <a:r>
              <a:rPr lang="en-US" altLang="zh-CN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{ 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statement; ...</a:t>
            </a:r>
            <a:r>
              <a:rPr lang="en-US" altLang="zh-CN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} </a:t>
            </a:r>
            <a:r>
              <a:rPr lang="en-US" altLang="zh-CN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END</a:t>
            </a:r>
          </a:p>
        </p:txBody>
      </p:sp>
      <p:sp>
        <p:nvSpPr>
          <p:cNvPr id="30725" name="任意多边形 3"/>
          <p:cNvSpPr/>
          <p:nvPr/>
        </p:nvSpPr>
        <p:spPr>
          <a:xfrm>
            <a:off x="-9525" y="884238"/>
            <a:ext cx="7894638" cy="2152650"/>
          </a:xfrm>
          <a:custGeom>
            <a:avLst/>
            <a:gdLst>
              <a:gd name="txL" fmla="*/ 0 w 7896665"/>
              <a:gd name="txT" fmla="*/ 0 h 2152746"/>
              <a:gd name="txR" fmla="*/ 7896665 w 7896665"/>
              <a:gd name="txB" fmla="*/ 2152746 h 2152746"/>
            </a:gdLst>
            <a:ahLst/>
            <a:cxnLst>
              <a:cxn ang="0">
                <a:pos x="830635" y="3207"/>
              </a:cxn>
              <a:cxn ang="0">
                <a:pos x="130980" y="850220"/>
              </a:cxn>
              <a:cxn ang="0">
                <a:pos x="736450" y="1791346"/>
              </a:cxn>
              <a:cxn ang="0">
                <a:pos x="6966059" y="2087129"/>
              </a:cxn>
              <a:cxn ang="0">
                <a:pos x="7235157" y="621660"/>
              </a:cxn>
              <a:cxn ang="0">
                <a:pos x="830635" y="3207"/>
              </a:cxn>
            </a:cxnLst>
            <a:rect l="txL" t="txT" r="txR" b="txB"/>
            <a:pathLst>
              <a:path w="7896665" h="2152746">
                <a:moveTo>
                  <a:pt x="830151" y="3207"/>
                </a:moveTo>
                <a:cubicBezTo>
                  <a:pt x="-353190" y="41307"/>
                  <a:pt x="146592" y="552296"/>
                  <a:pt x="130904" y="850372"/>
                </a:cubicBezTo>
                <a:cubicBezTo>
                  <a:pt x="115216" y="1148448"/>
                  <a:pt x="-402496" y="1585478"/>
                  <a:pt x="736022" y="1791666"/>
                </a:cubicBezTo>
                <a:cubicBezTo>
                  <a:pt x="1874540" y="1997854"/>
                  <a:pt x="5879522" y="2282483"/>
                  <a:pt x="6962010" y="2087501"/>
                </a:cubicBezTo>
                <a:cubicBezTo>
                  <a:pt x="8044498" y="1892519"/>
                  <a:pt x="8255169" y="971395"/>
                  <a:pt x="7230951" y="621772"/>
                </a:cubicBezTo>
                <a:cubicBezTo>
                  <a:pt x="6206733" y="272149"/>
                  <a:pt x="2013492" y="-34893"/>
                  <a:pt x="830151" y="3207"/>
                </a:cubicBezTo>
                <a:close/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 anchor="t"/>
          <a:lstStyle/>
          <a:p>
            <a:pPr algn="r"/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2" charset="0"/>
              </a:rPr>
              <a:t>触发事件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2" charset="0"/>
              <a:ea typeface="Times New Roman" panose="02020603050405020304" pitchFamily="2" charset="0"/>
            </a:endParaRPr>
          </a:p>
        </p:txBody>
      </p:sp>
      <p:sp>
        <p:nvSpPr>
          <p:cNvPr id="30726" name="任意多边形 4"/>
          <p:cNvSpPr/>
          <p:nvPr/>
        </p:nvSpPr>
        <p:spPr>
          <a:xfrm>
            <a:off x="155575" y="5330825"/>
            <a:ext cx="8728075" cy="1373188"/>
          </a:xfrm>
          <a:custGeom>
            <a:avLst/>
            <a:gdLst>
              <a:gd name="txL" fmla="*/ 0 w 8728580"/>
              <a:gd name="txT" fmla="*/ 0 h 1373393"/>
              <a:gd name="txR" fmla="*/ 8728580 w 8728580"/>
              <a:gd name="txB" fmla="*/ 1373393 h 1373393"/>
            </a:gdLst>
            <a:ahLst/>
            <a:cxnLst>
              <a:cxn ang="0">
                <a:pos x="772777" y="34843"/>
              </a:cxn>
              <a:cxn ang="0">
                <a:pos x="463567" y="424576"/>
              </a:cxn>
              <a:cxn ang="0">
                <a:pos x="638338" y="1244355"/>
              </a:cxn>
              <a:cxn ang="0">
                <a:pos x="8341719" y="1257794"/>
              </a:cxn>
              <a:cxn ang="0">
                <a:pos x="6862887" y="155795"/>
              </a:cxn>
              <a:cxn ang="0">
                <a:pos x="772777" y="34843"/>
              </a:cxn>
            </a:cxnLst>
            <a:rect l="txL" t="txT" r="txR" b="txB"/>
            <a:pathLst>
              <a:path w="8728580" h="1373393">
                <a:moveTo>
                  <a:pt x="772957" y="34863"/>
                </a:moveTo>
                <a:cubicBezTo>
                  <a:pt x="-293843" y="79686"/>
                  <a:pt x="486087" y="223122"/>
                  <a:pt x="463675" y="424828"/>
                </a:cubicBezTo>
                <a:cubicBezTo>
                  <a:pt x="441263" y="626534"/>
                  <a:pt x="-674843" y="1106146"/>
                  <a:pt x="638486" y="1245099"/>
                </a:cubicBezTo>
                <a:cubicBezTo>
                  <a:pt x="1951815" y="1384052"/>
                  <a:pt x="7305986" y="1440081"/>
                  <a:pt x="8343651" y="1258546"/>
                </a:cubicBezTo>
                <a:cubicBezTo>
                  <a:pt x="9381316" y="1077011"/>
                  <a:pt x="8128498" y="357593"/>
                  <a:pt x="6864475" y="155887"/>
                </a:cubicBezTo>
                <a:cubicBezTo>
                  <a:pt x="5600452" y="-45819"/>
                  <a:pt x="1839757" y="-9960"/>
                  <a:pt x="772957" y="34863"/>
                </a:cubicBezTo>
                <a:close/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 anchor="t"/>
          <a:lstStyle/>
          <a:p>
            <a:pPr algn="r"/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2" charset="0"/>
              </a:rPr>
              <a:t>结果事件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2" charset="0"/>
              <a:ea typeface="Times New Roman" panose="02020603050405020304" pitchFamily="2" charset="0"/>
            </a:endParaRPr>
          </a:p>
        </p:txBody>
      </p:sp>
      <p:grpSp>
        <p:nvGrpSpPr>
          <p:cNvPr id="30727" name="组合 30726"/>
          <p:cNvGrpSpPr/>
          <p:nvPr/>
        </p:nvGrpSpPr>
        <p:grpSpPr>
          <a:xfrm>
            <a:off x="-114300" y="130175"/>
            <a:ext cx="9258300" cy="5080000"/>
            <a:chOff x="0" y="0"/>
            <a:chExt cx="9261613" cy="5080392"/>
          </a:xfrm>
        </p:grpSpPr>
        <p:grpSp>
          <p:nvGrpSpPr>
            <p:cNvPr id="31751" name="组合 30727"/>
            <p:cNvGrpSpPr/>
            <p:nvPr/>
          </p:nvGrpSpPr>
          <p:grpSpPr>
            <a:xfrm>
              <a:off x="0" y="0"/>
              <a:ext cx="8368624" cy="5080392"/>
              <a:chOff x="0" y="0"/>
              <a:chExt cx="8368624" cy="5080392"/>
            </a:xfrm>
          </p:grpSpPr>
          <p:sp>
            <p:nvSpPr>
              <p:cNvPr id="31752" name="任意多边形 6"/>
              <p:cNvSpPr/>
              <p:nvPr/>
            </p:nvSpPr>
            <p:spPr>
              <a:xfrm>
                <a:off x="4643770" y="0"/>
                <a:ext cx="3724854" cy="692630"/>
              </a:xfrm>
              <a:custGeom>
                <a:avLst/>
                <a:gdLst/>
                <a:ahLst/>
                <a:cxnLst>
                  <a:cxn ang="0">
                    <a:pos x="476149" y="17560"/>
                  </a:cxn>
                  <a:cxn ang="0">
                    <a:pos x="287890" y="515101"/>
                  </a:cxn>
                  <a:cxn ang="0">
                    <a:pos x="3326925" y="676466"/>
                  </a:cxn>
                  <a:cxn ang="0">
                    <a:pos x="3380714" y="165477"/>
                  </a:cxn>
                  <a:cxn ang="0">
                    <a:pos x="476149" y="17560"/>
                  </a:cxn>
                </a:cxnLst>
                <a:rect l="0" t="0" r="0" b="0"/>
                <a:pathLst>
                  <a:path w="3724854" h="692630">
                    <a:moveTo>
                      <a:pt x="476149" y="17560"/>
                    </a:moveTo>
                    <a:cubicBezTo>
                      <a:pt x="-39322" y="75831"/>
                      <a:pt x="-187239" y="405283"/>
                      <a:pt x="287890" y="515101"/>
                    </a:cubicBezTo>
                    <a:cubicBezTo>
                      <a:pt x="763019" y="624919"/>
                      <a:pt x="2811454" y="734737"/>
                      <a:pt x="3326925" y="676466"/>
                    </a:cubicBezTo>
                    <a:cubicBezTo>
                      <a:pt x="3842396" y="618195"/>
                      <a:pt x="3853602" y="275295"/>
                      <a:pt x="3380714" y="165477"/>
                    </a:cubicBezTo>
                    <a:cubicBezTo>
                      <a:pt x="2907826" y="55659"/>
                      <a:pt x="991620" y="-40711"/>
                      <a:pt x="476149" y="17560"/>
                    </a:cubicBezTo>
                    <a:close/>
                  </a:path>
                </a:pathLst>
              </a:custGeom>
              <a:noFill/>
              <a:ln w="254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53" name="任意多边形 7"/>
              <p:cNvSpPr/>
              <p:nvPr/>
            </p:nvSpPr>
            <p:spPr>
              <a:xfrm>
                <a:off x="0" y="3656671"/>
                <a:ext cx="7951975" cy="711923"/>
              </a:xfrm>
              <a:custGeom>
                <a:avLst/>
                <a:gdLst/>
                <a:ahLst/>
                <a:cxnLst>
                  <a:cxn ang="0">
                    <a:pos x="615154" y="45383"/>
                  </a:cxn>
                  <a:cxn ang="0">
                    <a:pos x="373107" y="381559"/>
                  </a:cxn>
                  <a:cxn ang="0">
                    <a:pos x="574813" y="610159"/>
                  </a:cxn>
                  <a:cxn ang="0">
                    <a:pos x="7325237" y="677395"/>
                  </a:cxn>
                  <a:cxn ang="0">
                    <a:pos x="6894931" y="72277"/>
                  </a:cxn>
                  <a:cxn ang="0">
                    <a:pos x="615154" y="45383"/>
                  </a:cxn>
                </a:cxnLst>
                <a:rect l="0" t="0" r="0" b="0"/>
                <a:pathLst>
                  <a:path w="7951975" h="711923">
                    <a:moveTo>
                      <a:pt x="615154" y="45383"/>
                    </a:moveTo>
                    <a:cubicBezTo>
                      <a:pt x="-471817" y="96930"/>
                      <a:pt x="379831" y="287430"/>
                      <a:pt x="373107" y="381559"/>
                    </a:cubicBezTo>
                    <a:cubicBezTo>
                      <a:pt x="366383" y="475688"/>
                      <a:pt x="-583875" y="560853"/>
                      <a:pt x="574813" y="610159"/>
                    </a:cubicBezTo>
                    <a:cubicBezTo>
                      <a:pt x="1733501" y="659465"/>
                      <a:pt x="6271884" y="767042"/>
                      <a:pt x="7325237" y="677395"/>
                    </a:cubicBezTo>
                    <a:cubicBezTo>
                      <a:pt x="8378590" y="587748"/>
                      <a:pt x="8015519" y="177612"/>
                      <a:pt x="6894931" y="72277"/>
                    </a:cubicBezTo>
                    <a:cubicBezTo>
                      <a:pt x="5774343" y="-33058"/>
                      <a:pt x="1702125" y="-6164"/>
                      <a:pt x="615154" y="45383"/>
                    </a:cubicBezTo>
                    <a:close/>
                  </a:path>
                </a:pathLst>
              </a:custGeom>
              <a:noFill/>
              <a:ln w="254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54" name="任意多边形 8"/>
              <p:cNvSpPr/>
              <p:nvPr/>
            </p:nvSpPr>
            <p:spPr>
              <a:xfrm>
                <a:off x="169677" y="4481790"/>
                <a:ext cx="5691271" cy="598602"/>
              </a:xfrm>
              <a:custGeom>
                <a:avLst/>
                <a:gdLst/>
                <a:ahLst/>
                <a:cxnLst>
                  <a:cxn ang="0">
                    <a:pos x="485818" y="193"/>
                  </a:cxn>
                  <a:cxn ang="0">
                    <a:pos x="216877" y="188452"/>
                  </a:cxn>
                  <a:cxn ang="0">
                    <a:pos x="405136" y="551523"/>
                  </a:cxn>
                  <a:cxn ang="0">
                    <a:pos x="4869560" y="551523"/>
                  </a:cxn>
                  <a:cxn ang="0">
                    <a:pos x="5286418" y="161558"/>
                  </a:cxn>
                  <a:cxn ang="0">
                    <a:pos x="485818" y="193"/>
                  </a:cxn>
                </a:cxnLst>
                <a:rect l="0" t="0" r="0" b="0"/>
                <a:pathLst>
                  <a:path w="5691271" h="598602">
                    <a:moveTo>
                      <a:pt x="485818" y="193"/>
                    </a:moveTo>
                    <a:cubicBezTo>
                      <a:pt x="-359105" y="4675"/>
                      <a:pt x="230324" y="96564"/>
                      <a:pt x="216877" y="188452"/>
                    </a:cubicBezTo>
                    <a:cubicBezTo>
                      <a:pt x="203430" y="280340"/>
                      <a:pt x="-370311" y="491011"/>
                      <a:pt x="405136" y="551523"/>
                    </a:cubicBezTo>
                    <a:cubicBezTo>
                      <a:pt x="1180583" y="612035"/>
                      <a:pt x="4056013" y="616517"/>
                      <a:pt x="4869560" y="551523"/>
                    </a:cubicBezTo>
                    <a:cubicBezTo>
                      <a:pt x="5683107" y="486529"/>
                      <a:pt x="6019283" y="253446"/>
                      <a:pt x="5286418" y="161558"/>
                    </a:cubicBezTo>
                    <a:cubicBezTo>
                      <a:pt x="4553553" y="69670"/>
                      <a:pt x="1330741" y="-4289"/>
                      <a:pt x="485818" y="193"/>
                    </a:cubicBezTo>
                    <a:close/>
                  </a:path>
                </a:pathLst>
              </a:custGeom>
              <a:noFill/>
              <a:ln w="254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1755" name="TextBox 10"/>
            <p:cNvSpPr txBox="1"/>
            <p:nvPr/>
          </p:nvSpPr>
          <p:spPr>
            <a:xfrm>
              <a:off x="7497925" y="2919438"/>
              <a:ext cx="1763688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rgbClr val="FF0000"/>
                  </a:solidFill>
                  <a:latin typeface="Times New Roman" panose="02020603050405020304" pitchFamily="2" charset="0"/>
                  <a:ea typeface="宋体" panose="02010600030101010101" pitchFamily="2" charset="-122"/>
                </a:rPr>
                <a:t>触发方式</a:t>
              </a:r>
            </a:p>
          </p:txBody>
        </p:sp>
      </p:grpSp>
      <p:sp>
        <p:nvSpPr>
          <p:cNvPr id="31756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5" grpId="0" animBg="1"/>
      <p:bldP spid="3072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标题 32769"/>
          <p:cNvSpPr>
            <a:spLocks noGrp="1"/>
          </p:cNvSpPr>
          <p:nvPr>
            <p:ph type="title"/>
          </p:nvPr>
        </p:nvSpPr>
        <p:spPr>
          <a:ln/>
        </p:spPr>
        <p:txBody>
          <a:bodyPr anchor="ctr"/>
          <a:lstStyle/>
          <a:p>
            <a:r>
              <a:rPr lang="en-US" altLang="zh-CN"/>
              <a:t>four types of triggers</a:t>
            </a:r>
          </a:p>
        </p:txBody>
      </p:sp>
      <p:sp>
        <p:nvSpPr>
          <p:cNvPr id="32771" name="内容占位符 32770"/>
          <p:cNvSpPr>
            <a:spLocks noGrp="1"/>
          </p:cNvSpPr>
          <p:nvPr>
            <p:ph idx="1"/>
          </p:nvPr>
        </p:nvSpPr>
        <p:spPr>
          <a:ln/>
        </p:spPr>
        <p:txBody>
          <a:bodyPr anchor="t"/>
          <a:lstStyle/>
          <a:p>
            <a:pPr marL="339725" indent="-339725">
              <a:buSzPct val="100000"/>
              <a:buAutoNum type="circleNumDbPlain"/>
            </a:pPr>
            <a:r>
              <a:rPr lang="en-US" altLang="zh-CN" sz="3000"/>
              <a:t>For Each Row Type</a:t>
            </a:r>
          </a:p>
          <a:p>
            <a:pPr marL="881380" lvl="1" indent="-370205">
              <a:buSzPct val="100000"/>
              <a:buChar char="l"/>
            </a:pPr>
            <a:r>
              <a:rPr lang="en-US" altLang="zh-CN" sz="3000"/>
              <a:t>This trigger gets executed once for each row of the result set affected by an insert/update/delete</a:t>
            </a:r>
          </a:p>
          <a:p>
            <a:pPr marL="881380" lvl="1" indent="-370205">
              <a:buSzPct val="100000"/>
              <a:buChar char="l"/>
            </a:pPr>
            <a:r>
              <a:rPr lang="en-US" altLang="zh-CN" sz="3000"/>
              <a:t>before/after</a:t>
            </a:r>
          </a:p>
          <a:p>
            <a:pPr marL="339725" indent="-339725">
              <a:buSzPct val="100000"/>
              <a:buAutoNum type="circleNumDbPlain"/>
            </a:pPr>
            <a:r>
              <a:rPr lang="en-US" altLang="zh-CN" sz="3000"/>
              <a:t>For Each Statement Type</a:t>
            </a:r>
          </a:p>
          <a:p>
            <a:pPr marL="881380" lvl="1" indent="-370205">
              <a:buSzPct val="100000"/>
              <a:buChar char="l"/>
            </a:pPr>
            <a:r>
              <a:rPr lang="en-US" altLang="zh-CN" sz="3000"/>
              <a:t>This trigger gets executed only once for the entire result set, but fires each time the statement is executed.</a:t>
            </a:r>
          </a:p>
          <a:p>
            <a:pPr marL="881380" lvl="1" indent="-370205">
              <a:buSzPct val="100000"/>
              <a:buChar char="l"/>
            </a:pPr>
            <a:r>
              <a:rPr lang="en-US" altLang="zh-CN" sz="3000"/>
              <a:t>before/after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日期占位符 3"/>
          <p:cNvSpPr txBox="1">
            <a:spLocks noGrp="1"/>
          </p:cNvSpPr>
          <p:nvPr/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BB962C8B-B14F-4D97-AF65-F5344CB8AC3E}" type="datetime1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33794" name="页脚占位符 4"/>
          <p:cNvSpPr txBox="1">
            <a:spLocks noGrp="1"/>
          </p:cNvSpPr>
          <p:nvPr/>
        </p:nvSpPr>
        <p:spPr>
          <a:xfrm>
            <a:off x="2590800" y="6553200"/>
            <a:ext cx="39624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Integrity,Views,Security,and Catalogs</a:t>
            </a:r>
            <a:endParaRPr lang="en-US" altLang="zh-CN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33795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31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33796" name="Rectangle 3"/>
          <p:cNvSpPr>
            <a:spLocks noGrp="1"/>
          </p:cNvSpPr>
          <p:nvPr>
            <p:ph type="body" idx="4294967295"/>
          </p:nvPr>
        </p:nvSpPr>
        <p:spPr>
          <a:xfrm>
            <a:off x="0" y="44450"/>
            <a:ext cx="9144000" cy="5257800"/>
          </a:xfrm>
          <a:ln/>
        </p:spPr>
        <p:txBody>
          <a:bodyPr wrap="square" anchor="t"/>
          <a:lstStyle/>
          <a:p>
            <a:pPr eaLnBrk="1" hangingPunct="1">
              <a:spcBef>
                <a:spcPts val="60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Example 7.1.5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Use a trigger to CHECK that the discnt value of a new customers row does not exceed 15.0.</a:t>
            </a:r>
          </a:p>
        </p:txBody>
      </p:sp>
      <p:sp>
        <p:nvSpPr>
          <p:cNvPr id="33798" name="Text Box 4"/>
          <p:cNvSpPr txBox="1"/>
          <p:nvPr/>
        </p:nvSpPr>
        <p:spPr>
          <a:xfrm>
            <a:off x="0" y="1557338"/>
            <a:ext cx="9144000" cy="4845050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>
            <a:sp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sz="32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create  trigger  discnt_max  </a:t>
            </a:r>
          </a:p>
          <a:p>
            <a:pPr lvl="1" indent="0" algn="l" eaLnBrk="1" hangingPunct="1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after  insert  on  customers</a:t>
            </a:r>
          </a:p>
          <a:p>
            <a:pPr lvl="1" indent="0" algn="l" eaLnBrk="1" hangingPunct="1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referencing  new  as  x</a:t>
            </a:r>
          </a:p>
          <a:p>
            <a:pPr lvl="1" indent="0" algn="l" eaLnBrk="1" hangingPunct="1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for  each  row  when  ( x.discnt &gt; 15.0 )</a:t>
            </a:r>
          </a:p>
          <a:p>
            <a:pPr lvl="1" indent="0" algn="l" eaLnBrk="1" hangingPunct="1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begin</a:t>
            </a:r>
          </a:p>
          <a:p>
            <a:pPr lvl="2" indent="0" algn="l" eaLnBrk="1" hangingPunct="1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raise_application_error(-20003, “invalid discount attempted on insert”);</a:t>
            </a:r>
          </a:p>
          <a:p>
            <a:pPr lvl="1" indent="0" algn="l" eaLnBrk="1" hangingPunct="1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end;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3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C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37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7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C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250"/>
                                        <p:tgtEl>
                                          <p:spTgt spid="337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7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C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37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7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C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37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37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337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日期占位符 3"/>
          <p:cNvSpPr txBox="1">
            <a:spLocks noGrp="1"/>
          </p:cNvSpPr>
          <p:nvPr/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BB962C8B-B14F-4D97-AF65-F5344CB8AC3E}" type="datetime1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34818" name="页脚占位符 4"/>
          <p:cNvSpPr txBox="1">
            <a:spLocks noGrp="1"/>
          </p:cNvSpPr>
          <p:nvPr/>
        </p:nvSpPr>
        <p:spPr>
          <a:xfrm>
            <a:off x="2590800" y="6553200"/>
            <a:ext cx="39624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Integrity,Views,Security,and Catalogs</a:t>
            </a:r>
            <a:endParaRPr lang="en-US" altLang="zh-CN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34819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32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34820" name="Rectangle 3"/>
          <p:cNvSpPr>
            <a:spLocks noGrp="1"/>
          </p:cNvSpPr>
          <p:nvPr>
            <p:ph type="body" idx="4294967295"/>
          </p:nvPr>
        </p:nvSpPr>
        <p:spPr>
          <a:xfrm>
            <a:off x="0" y="44450"/>
            <a:ext cx="8686800" cy="5257800"/>
          </a:xfrm>
          <a:ln/>
        </p:spPr>
        <p:txBody>
          <a:bodyPr wrap="square" anchor="t"/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Example 7.1.6: </a:t>
            </a:r>
            <a:r>
              <a:rPr lang="zh-CN" altLang="en-US" sz="2800" dirty="0">
                <a:solidFill>
                  <a:schemeClr val="accent2"/>
                </a:solidFill>
                <a:ea typeface="宋体" panose="02010600030101010101" pitchFamily="2" charset="-122"/>
              </a:rPr>
              <a:t>删除一个客户元组时，需要将该客户所有订单上的</a:t>
            </a:r>
            <a:r>
              <a:rPr lang="en-US" altLang="zh-CN" sz="2800" dirty="0">
                <a:solidFill>
                  <a:schemeClr val="accent2"/>
                </a:solidFill>
                <a:ea typeface="宋体" panose="02010600030101010101" pitchFamily="2" charset="-122"/>
              </a:rPr>
              <a:t>cid</a:t>
            </a:r>
            <a:r>
              <a:rPr lang="zh-CN" altLang="en-US" sz="2800" dirty="0">
                <a:solidFill>
                  <a:schemeClr val="accent2"/>
                </a:solidFill>
                <a:ea typeface="宋体" panose="02010600030101010101" pitchFamily="2" charset="-122"/>
              </a:rPr>
              <a:t>置为空值</a:t>
            </a:r>
            <a:r>
              <a:rPr lang="en-US" altLang="zh-CN" sz="2800" dirty="0">
                <a:solidFill>
                  <a:schemeClr val="accent2"/>
                </a:solidFill>
                <a:ea typeface="宋体" panose="02010600030101010101" pitchFamily="2" charset="-122"/>
              </a:rPr>
              <a:t>(set  null)</a:t>
            </a:r>
          </a:p>
        </p:txBody>
      </p:sp>
      <p:sp>
        <p:nvSpPr>
          <p:cNvPr id="34822" name="Text Box 4"/>
          <p:cNvSpPr txBox="1"/>
          <p:nvPr/>
        </p:nvSpPr>
        <p:spPr>
          <a:xfrm>
            <a:off x="438150" y="1125538"/>
            <a:ext cx="8382000" cy="5138737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>
            <a:spAutoFit/>
          </a:bodyPr>
          <a:lstStyle/>
          <a:p>
            <a:pPr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sz="32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create  trigger  foreign_cid  </a:t>
            </a:r>
          </a:p>
          <a:p>
            <a:pPr lvl="1" indent="0" algn="l" eaLnBrk="1" hangingPunct="1"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after  delete  on  customers</a:t>
            </a:r>
          </a:p>
          <a:p>
            <a:pPr lvl="1" indent="0" algn="l" eaLnBrk="1" hangingPunct="1"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referencing  old  as  old_custom</a:t>
            </a:r>
          </a:p>
          <a:p>
            <a:pPr lvl="1" indent="0" algn="l" eaLnBrk="1" hangingPunct="1"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for  each  row</a:t>
            </a:r>
          </a:p>
          <a:p>
            <a:pPr lvl="1" indent="0" algn="l" eaLnBrk="1" hangingPunct="1"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begin</a:t>
            </a:r>
          </a:p>
          <a:p>
            <a:pPr lvl="2" indent="0" algn="l" eaLnBrk="1" hangingPunct="1"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update  orders</a:t>
            </a:r>
          </a:p>
          <a:p>
            <a:pPr lvl="3" indent="0" algn="l" eaLnBrk="1" hangingPunct="1"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set  cid = null</a:t>
            </a:r>
          </a:p>
          <a:p>
            <a:pPr lvl="3" indent="0" algn="l" eaLnBrk="1" hangingPunct="1"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where  cid = :old_custom.cid ;</a:t>
            </a:r>
          </a:p>
          <a:p>
            <a:pPr lvl="1" indent="0" algn="l" eaLnBrk="1" hangingPunct="1"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end;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4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C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48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8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C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48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8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C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48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8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CC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48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8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CC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48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8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CC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48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8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CC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48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8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C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348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日期占位符 3"/>
          <p:cNvSpPr txBox="1">
            <a:spLocks noGrp="1"/>
          </p:cNvSpPr>
          <p:nvPr/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BB962C8B-B14F-4D97-AF65-F5344CB8AC3E}" type="datetime1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35842" name="页脚占位符 4"/>
          <p:cNvSpPr txBox="1">
            <a:spLocks noGrp="1"/>
          </p:cNvSpPr>
          <p:nvPr/>
        </p:nvSpPr>
        <p:spPr>
          <a:xfrm>
            <a:off x="2590800" y="6553200"/>
            <a:ext cx="39624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Integrity,Views,Security,and Catalogs</a:t>
            </a:r>
            <a:endParaRPr lang="en-US" altLang="zh-CN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35843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33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35844" name="Rectangle 2"/>
          <p:cNvSpPr>
            <a:spLocks noGrp="1"/>
          </p:cNvSpPr>
          <p:nvPr>
            <p:ph type="title" idx="4294967295"/>
          </p:nvPr>
        </p:nvSpPr>
        <p:spPr>
          <a:ln/>
        </p:spPr>
        <p:txBody>
          <a:bodyPr wrap="square" anchor="ctr"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7.2  Creating Views</a:t>
            </a:r>
          </a:p>
        </p:txBody>
      </p:sp>
      <p:sp>
        <p:nvSpPr>
          <p:cNvPr id="35846" name="Rectangle 3"/>
          <p:cNvSpPr>
            <a:spLocks noGrp="1"/>
          </p:cNvSpPr>
          <p:nvPr>
            <p:ph type="body" idx="4294967295"/>
          </p:nvPr>
        </p:nvSpPr>
        <p:spPr>
          <a:xfrm>
            <a:off x="0" y="990600"/>
            <a:ext cx="9144000" cy="5462588"/>
          </a:xfrm>
        </p:spPr>
        <p:txBody>
          <a:bodyPr wrap="square" anchor="t"/>
          <a:lstStyle/>
          <a:p>
            <a:pPr eaLnBrk="1" fontAlgn="base" hangingPunct="1">
              <a:lnSpc>
                <a:spcPct val="110000"/>
              </a:lnSpc>
              <a:spcBef>
                <a:spcPct val="0"/>
              </a:spcBef>
            </a:pPr>
            <a:r>
              <a:rPr lang="en-US" altLang="x-none" sz="2800" strike="noStrike" noProof="1">
                <a:ea typeface="宋体" panose="02010600030101010101" pitchFamily="2" charset="-122"/>
              </a:rPr>
              <a:t>View</a:t>
            </a:r>
          </a:p>
          <a:p>
            <a:pPr lvl="1" eaLnBrk="1" fontAlgn="base" hangingPunct="1">
              <a:lnSpc>
                <a:spcPct val="110000"/>
              </a:lnSpc>
              <a:spcBef>
                <a:spcPct val="0"/>
              </a:spcBef>
            </a:pPr>
            <a:r>
              <a:rPr lang="en-US" altLang="x-none" sz="2800" strike="noStrike" noProof="1">
                <a:ea typeface="宋体" panose="02010600030101010101" pitchFamily="2" charset="-122"/>
              </a:rPr>
              <a:t>idea ?</a:t>
            </a:r>
          </a:p>
          <a:p>
            <a:pPr lvl="2" eaLnBrk="1" fontAlgn="base" hangingPunct="1">
              <a:lnSpc>
                <a:spcPct val="110000"/>
              </a:lnSpc>
              <a:spcBef>
                <a:spcPct val="0"/>
              </a:spcBef>
            </a:pPr>
            <a:r>
              <a:rPr lang="en-US" altLang="x-none" sz="2800" strike="noStrike" noProof="1">
                <a:solidFill>
                  <a:schemeClr val="tx1"/>
                </a:solidFill>
                <a:ea typeface="宋体" panose="02010600030101010101" pitchFamily="2" charset="-122"/>
              </a:rPr>
              <a:t>The data retrieved by any SQL SELECT statement is in the form of a table.</a:t>
            </a:r>
          </a:p>
          <a:p>
            <a:pPr lvl="2" eaLnBrk="1" fontAlgn="base" hangingPunct="1">
              <a:lnSpc>
                <a:spcPct val="110000"/>
              </a:lnSpc>
              <a:spcBef>
                <a:spcPct val="0"/>
              </a:spcBef>
            </a:pPr>
            <a:r>
              <a:rPr lang="en-US" altLang="x-none" sz="2800" strike="noStrike" noProof="1">
                <a:solidFill>
                  <a:schemeClr val="tx1"/>
                </a:solidFill>
                <a:ea typeface="宋体" panose="02010600030101010101" pitchFamily="2" charset="-122"/>
              </a:rPr>
              <a:t>We want to use this TABLE in FROM clause of other Select statement.</a:t>
            </a:r>
          </a:p>
          <a:p>
            <a:pPr lvl="2" eaLnBrk="1" fontAlgn="base" hangingPunct="1">
              <a:lnSpc>
                <a:spcPct val="110000"/>
              </a:lnSpc>
              <a:spcBef>
                <a:spcPct val="0"/>
              </a:spcBef>
            </a:pPr>
            <a:endParaRPr lang="en-US" altLang="x-none" sz="2800" strike="noStrike" noProof="1">
              <a:ea typeface="宋体" panose="02010600030101010101" pitchFamily="2" charset="-122"/>
            </a:endParaRPr>
          </a:p>
          <a:p>
            <a:pPr lvl="1" eaLnBrk="1" fontAlgn="base" hangingPunct="1">
              <a:lnSpc>
                <a:spcPct val="110000"/>
              </a:lnSpc>
              <a:spcBef>
                <a:spcPct val="0"/>
              </a:spcBef>
            </a:pPr>
            <a:r>
              <a:rPr lang="en-US" altLang="x-none" sz="2800" strike="noStrike" noProof="1">
                <a:ea typeface="宋体" panose="02010600030101010101" pitchFamily="2" charset="-122"/>
              </a:rPr>
              <a:t>Method</a:t>
            </a:r>
            <a:r>
              <a:rPr lang="zh-CN" altLang="en-US" sz="2800" strike="noStrike" noProof="1">
                <a:ea typeface="宋体" panose="02010600030101010101" pitchFamily="2" charset="-122"/>
              </a:rPr>
              <a:t>？</a:t>
            </a:r>
            <a:endParaRPr lang="en-US" altLang="x-none" sz="2800" strike="noStrike" noProof="1">
              <a:ea typeface="宋体" panose="02010600030101010101" pitchFamily="2" charset="-122"/>
            </a:endParaRPr>
          </a:p>
          <a:p>
            <a:pPr marL="1428750" lvl="2" indent="-514350" eaLnBrk="1" fontAlgn="base" hangingPunct="1">
              <a:lnSpc>
                <a:spcPct val="110000"/>
              </a:lnSpc>
              <a:spcBef>
                <a:spcPct val="0"/>
              </a:spcBef>
              <a:buFont typeface="+mj-ea"/>
              <a:buAutoNum type="circleNumDbPlain"/>
            </a:pPr>
            <a:r>
              <a:rPr lang="en-US" altLang="x-none" sz="2800" strike="noStrike" noProof="1">
                <a:solidFill>
                  <a:schemeClr val="tx1"/>
                </a:solidFill>
                <a:ea typeface="宋体" panose="02010600030101010101" pitchFamily="2" charset="-122"/>
              </a:rPr>
              <a:t>Subquery in the FROM clause (Fig 3.11)</a:t>
            </a:r>
          </a:p>
          <a:p>
            <a:pPr marL="1428750" lvl="2" indent="-514350" eaLnBrk="1" fontAlgn="base" hangingPunct="1">
              <a:lnSpc>
                <a:spcPct val="110000"/>
              </a:lnSpc>
              <a:spcBef>
                <a:spcPct val="0"/>
              </a:spcBef>
              <a:buFont typeface="+mj-ea"/>
              <a:buAutoNum type="circleNumDbPlain"/>
            </a:pPr>
            <a:r>
              <a:rPr lang="en-US" altLang="x-none" sz="2800" strike="noStrike" noProof="1">
                <a:solidFill>
                  <a:schemeClr val="tx1"/>
                </a:solidFill>
                <a:ea typeface="宋体" panose="02010600030101010101" pitchFamily="2" charset="-122"/>
              </a:rPr>
              <a:t>Creating Views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58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58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58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58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58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58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日期占位符 3"/>
          <p:cNvSpPr txBox="1">
            <a:spLocks noGrp="1"/>
          </p:cNvSpPr>
          <p:nvPr/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BB962C8B-B14F-4D97-AF65-F5344CB8AC3E}" type="datetime1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36866" name="页脚占位符 4"/>
          <p:cNvSpPr txBox="1">
            <a:spLocks noGrp="1"/>
          </p:cNvSpPr>
          <p:nvPr/>
        </p:nvSpPr>
        <p:spPr>
          <a:xfrm>
            <a:off x="2590800" y="6553200"/>
            <a:ext cx="39624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Integrity,Views,Security,and Catalogs</a:t>
            </a:r>
            <a:endParaRPr lang="en-US" altLang="zh-CN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36867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34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36868" name="Rectangle 2"/>
          <p:cNvSpPr>
            <a:spLocks noGrp="1"/>
          </p:cNvSpPr>
          <p:nvPr>
            <p:ph type="title" idx="4294967295"/>
          </p:nvPr>
        </p:nvSpPr>
        <p:spPr>
          <a:ln/>
        </p:spPr>
        <p:txBody>
          <a:bodyPr wrap="square" anchor="ctr"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7.2  Creating Views</a:t>
            </a:r>
          </a:p>
        </p:txBody>
      </p:sp>
      <p:sp>
        <p:nvSpPr>
          <p:cNvPr id="36869" name="Rectangle 3"/>
          <p:cNvSpPr>
            <a:spLocks noGrp="1"/>
          </p:cNvSpPr>
          <p:nvPr>
            <p:ph type="body" idx="4294967295"/>
          </p:nvPr>
        </p:nvSpPr>
        <p:spPr>
          <a:xfrm>
            <a:off x="0" y="838200"/>
            <a:ext cx="8937625" cy="5327650"/>
          </a:xfrm>
          <a:ln/>
        </p:spPr>
        <p:txBody>
          <a:bodyPr wrap="square" anchor="t"/>
          <a:lstStyle/>
          <a:p>
            <a:pPr eaLnBrk="1" hangingPunct="1"/>
            <a:r>
              <a:rPr lang="en-US" altLang="zh-CN" sz="3000" dirty="0">
                <a:ea typeface="宋体" panose="02010600030101010101" pitchFamily="2" charset="-122"/>
              </a:rPr>
              <a:t>View Table </a:t>
            </a:r>
            <a:r>
              <a:rPr lang="en-US" altLang="zh-CN" sz="3000" dirty="0">
                <a:solidFill>
                  <a:schemeClr val="tx1"/>
                </a:solidFill>
                <a:ea typeface="宋体" panose="02010600030101010101" pitchFamily="2" charset="-122"/>
              </a:rPr>
              <a:t>( or</a:t>
            </a:r>
            <a:r>
              <a:rPr lang="en-US" altLang="zh-CN" sz="3000" dirty="0">
                <a:ea typeface="宋体" panose="02010600030101010101" pitchFamily="2" charset="-122"/>
              </a:rPr>
              <a:t> View </a:t>
            </a:r>
            <a:r>
              <a:rPr lang="en-US" altLang="zh-CN" sz="3000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</a:p>
          <a:p>
            <a:pPr lvl="1" eaLnBrk="1" hangingPunct="1"/>
            <a:r>
              <a:rPr lang="en-US" altLang="zh-CN" sz="3000" dirty="0">
                <a:ea typeface="宋体" panose="02010600030101010101" pitchFamily="2" charset="-122"/>
              </a:rPr>
              <a:t>Definition</a:t>
            </a:r>
          </a:p>
          <a:p>
            <a:pPr lvl="2" eaLnBrk="1" hangingPunct="1"/>
            <a:r>
              <a:rPr lang="en-US" altLang="zh-CN" sz="3000" dirty="0">
                <a:solidFill>
                  <a:schemeClr val="tx1"/>
                </a:solidFill>
                <a:ea typeface="宋体" panose="02010600030101010101" pitchFamily="2" charset="-122"/>
              </a:rPr>
              <a:t>It is a table that results from a subquery, but which has its own name (table name &amp; attributes name)</a:t>
            </a:r>
          </a:p>
          <a:p>
            <a:pPr lvl="3" eaLnBrk="1" hangingPunct="1"/>
            <a:endParaRPr lang="en-US" altLang="zh-CN" sz="3000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sz="3000" dirty="0">
                <a:solidFill>
                  <a:schemeClr val="tx1"/>
                </a:solidFill>
                <a:ea typeface="宋体" panose="02010600030101010101" pitchFamily="2" charset="-122"/>
              </a:rPr>
              <a:t>It can be used in most ways as a</a:t>
            </a:r>
            <a:r>
              <a:rPr lang="en-US" altLang="zh-CN" sz="3000" dirty="0">
                <a:ea typeface="宋体" panose="02010600030101010101" pitchFamily="2" charset="-122"/>
              </a:rPr>
              <a:t> </a:t>
            </a:r>
            <a:r>
              <a:rPr lang="en-US" altLang="zh-CN" sz="3000" u="sng" dirty="0">
                <a:solidFill>
                  <a:srgbClr val="FF0066"/>
                </a:solidFill>
                <a:ea typeface="宋体" panose="02010600030101010101" pitchFamily="2" charset="-122"/>
              </a:rPr>
              <a:t>Base Table</a:t>
            </a:r>
            <a:r>
              <a:rPr lang="en-US" altLang="zh-CN" sz="3000" dirty="0">
                <a:ea typeface="宋体" panose="02010600030101010101" pitchFamily="2" charset="-122"/>
              </a:rPr>
              <a:t> </a:t>
            </a:r>
            <a:r>
              <a:rPr lang="en-US" altLang="zh-CN" sz="3000" dirty="0">
                <a:solidFill>
                  <a:schemeClr val="tx1"/>
                </a:solidFill>
                <a:ea typeface="宋体" panose="02010600030101010101" pitchFamily="2" charset="-122"/>
              </a:rPr>
              <a:t>created by SQL CREATE TABLE statement</a:t>
            </a:r>
          </a:p>
        </p:txBody>
      </p:sp>
      <p:sp>
        <p:nvSpPr>
          <p:cNvPr id="36870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日期占位符 3"/>
          <p:cNvSpPr txBox="1">
            <a:spLocks noGrp="1"/>
          </p:cNvSpPr>
          <p:nvPr/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BB962C8B-B14F-4D97-AF65-F5344CB8AC3E}" type="datetime1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37890" name="页脚占位符 4"/>
          <p:cNvSpPr txBox="1">
            <a:spLocks noGrp="1"/>
          </p:cNvSpPr>
          <p:nvPr/>
        </p:nvSpPr>
        <p:spPr>
          <a:xfrm>
            <a:off x="2590800" y="6553200"/>
            <a:ext cx="39624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Integrity,Views,Security,and Catalogs</a:t>
            </a:r>
            <a:endParaRPr lang="en-US" altLang="zh-CN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37891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35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37892" name="Rectangle 2"/>
          <p:cNvSpPr>
            <a:spLocks noGrp="1"/>
          </p:cNvSpPr>
          <p:nvPr>
            <p:ph type="title" idx="4294967295"/>
          </p:nvPr>
        </p:nvSpPr>
        <p:spPr>
          <a:ln/>
        </p:spPr>
        <p:txBody>
          <a:bodyPr wrap="square" anchor="ctr"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7.2  Creating Views</a:t>
            </a:r>
          </a:p>
        </p:txBody>
      </p:sp>
      <p:sp>
        <p:nvSpPr>
          <p:cNvPr id="37893" name="Rectangle 3"/>
          <p:cNvSpPr>
            <a:spLocks noGrp="1"/>
          </p:cNvSpPr>
          <p:nvPr>
            <p:ph type="body" idx="4294967295"/>
          </p:nvPr>
        </p:nvSpPr>
        <p:spPr>
          <a:xfrm>
            <a:off x="457200" y="838200"/>
            <a:ext cx="8229600" cy="574675"/>
          </a:xfrm>
          <a:ln/>
        </p:spPr>
        <p:txBody>
          <a:bodyPr wrap="square" anchor="t"/>
          <a:lstStyle/>
          <a:p>
            <a:pPr eaLnBrk="1" hangingPunct="1"/>
            <a:r>
              <a:rPr lang="en-US" altLang="zh-CN" sz="3200" dirty="0">
                <a:ea typeface="宋体" panose="02010600030101010101" pitchFamily="2" charset="-122"/>
              </a:rPr>
              <a:t>View Table </a:t>
            </a:r>
            <a:r>
              <a:rPr lang="en-US" altLang="zh-CN" sz="3200" dirty="0">
                <a:solidFill>
                  <a:schemeClr val="tx1"/>
                </a:solidFill>
                <a:ea typeface="宋体" panose="02010600030101010101" pitchFamily="2" charset="-122"/>
              </a:rPr>
              <a:t>( or</a:t>
            </a:r>
            <a:r>
              <a:rPr lang="en-US" altLang="zh-CN" sz="3200" dirty="0">
                <a:ea typeface="宋体" panose="02010600030101010101" pitchFamily="2" charset="-122"/>
              </a:rPr>
              <a:t> View </a:t>
            </a:r>
            <a:r>
              <a:rPr lang="en-US" altLang="zh-CN" sz="3200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37894" name="Rectangle 4"/>
          <p:cNvSpPr/>
          <p:nvPr/>
        </p:nvSpPr>
        <p:spPr>
          <a:xfrm>
            <a:off x="457200" y="1557338"/>
            <a:ext cx="8229600" cy="4843462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742950" lvl="1" indent="-285750" algn="l" eaLnBrk="1" hangingPunct="1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–"/>
            </a:pPr>
            <a:r>
              <a:rPr lang="en-US" altLang="zh-CN" sz="30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Property</a:t>
            </a:r>
          </a:p>
          <a:p>
            <a:pPr marL="1143000" lvl="2" indent="-228600" algn="l" eaLnBrk="1" hangingPunct="1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zh-CN" sz="3000" b="1" dirty="0">
                <a:latin typeface="Arial" panose="020B0604020202020204" pitchFamily="34" charset="0"/>
                <a:ea typeface="宋体" panose="02010600030101010101" pitchFamily="2" charset="-122"/>
              </a:rPr>
              <a:t>no data storage in its own right, just window on data it selects from</a:t>
            </a:r>
          </a:p>
          <a:p>
            <a:pPr marL="1143000" lvl="2" indent="-228600" algn="l" eaLnBrk="1" hangingPunct="1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zh-CN" sz="3000" b="1" dirty="0">
                <a:latin typeface="Arial" panose="020B0604020202020204" pitchFamily="34" charset="0"/>
                <a:ea typeface="宋体" panose="02010600030101010101" pitchFamily="2" charset="-122"/>
              </a:rPr>
              <a:t>so, it is regarded as a</a:t>
            </a:r>
            <a:r>
              <a:rPr lang="en-US" altLang="zh-CN" sz="3000" b="1" dirty="0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3000" b="1" u="sng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Virtual Table</a:t>
            </a:r>
          </a:p>
          <a:p>
            <a:pPr marL="1143000" lvl="2" indent="-228600" algn="l" eaLnBrk="1" hangingPunct="1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endParaRPr lang="en-US" altLang="zh-CN" sz="3000" b="1" u="sng" dirty="0">
              <a:solidFill>
                <a:srgbClr val="FF0066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lvl="1" indent="-285750" algn="l" eaLnBrk="1" hangingPunct="1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zh-CN" sz="30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Weakness</a:t>
            </a:r>
          </a:p>
          <a:p>
            <a:pPr marL="1143000" lvl="2" indent="-228600" algn="l" eaLnBrk="1" hangingPunct="1">
              <a:lnSpc>
                <a:spcPct val="110000"/>
              </a:lnSpc>
              <a:spcBef>
                <a:spcPts val="600"/>
              </a:spcBef>
              <a:buClr>
                <a:srgbClr val="FF0066"/>
              </a:buClr>
              <a:buFont typeface="Wingdings" panose="05000000000000000000" pitchFamily="2" charset="2"/>
              <a:buChar char="Ø"/>
            </a:pPr>
            <a:r>
              <a:rPr lang="en-US" altLang="zh-CN" sz="3000" b="1" dirty="0">
                <a:latin typeface="Arial" panose="020B0604020202020204" pitchFamily="34" charset="0"/>
                <a:ea typeface="宋体" panose="02010600030101010101" pitchFamily="2" charset="-122"/>
              </a:rPr>
              <a:t>limits to View Updates</a:t>
            </a:r>
          </a:p>
        </p:txBody>
      </p:sp>
      <p:sp>
        <p:nvSpPr>
          <p:cNvPr id="37895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日期占位符 3"/>
          <p:cNvSpPr txBox="1">
            <a:spLocks noGrp="1"/>
          </p:cNvSpPr>
          <p:nvPr/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BB962C8B-B14F-4D97-AF65-F5344CB8AC3E}" type="datetime1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38914" name="页脚占位符 4"/>
          <p:cNvSpPr txBox="1">
            <a:spLocks noGrp="1"/>
          </p:cNvSpPr>
          <p:nvPr/>
        </p:nvSpPr>
        <p:spPr>
          <a:xfrm>
            <a:off x="2590800" y="6553200"/>
            <a:ext cx="39624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Integrity,Views,Security,and Catalogs</a:t>
            </a:r>
            <a:endParaRPr lang="en-US" altLang="zh-CN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38915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36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38916" name="Rectangle 3"/>
          <p:cNvSpPr>
            <a:spLocks noGrp="1"/>
          </p:cNvSpPr>
          <p:nvPr>
            <p:ph type="body" idx="4294967295"/>
          </p:nvPr>
        </p:nvSpPr>
        <p:spPr>
          <a:xfrm>
            <a:off x="14288" y="44450"/>
            <a:ext cx="8229600" cy="533400"/>
          </a:xfrm>
          <a:ln/>
        </p:spPr>
        <p:txBody>
          <a:bodyPr wrap="square" anchor="t"/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Create View statement </a:t>
            </a:r>
            <a:r>
              <a:rPr lang="en-US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(Figure 7.13, pg. 434)</a:t>
            </a:r>
          </a:p>
        </p:txBody>
      </p:sp>
      <p:sp>
        <p:nvSpPr>
          <p:cNvPr id="38917" name="Text Box 4"/>
          <p:cNvSpPr txBox="1"/>
          <p:nvPr/>
        </p:nvSpPr>
        <p:spPr>
          <a:xfrm>
            <a:off x="0" y="620713"/>
            <a:ext cx="9144000" cy="1538287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>
            <a:spAutoFit/>
          </a:bodyPr>
          <a:lstStyle/>
          <a:p>
            <a:pPr marL="742950" lvl="1" indent="-285750" algn="l" eaLnBrk="1" hangingPunct="1">
              <a:spcBef>
                <a:spcPts val="600"/>
              </a:spcBef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CREATE VIEW 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view_name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col_name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{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, …...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}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]</a:t>
            </a:r>
          </a:p>
          <a:p>
            <a:pPr lvl="2" indent="0" algn="l" eaLnBrk="1" hangingPunct="1">
              <a:spcBef>
                <a:spcPts val="600"/>
              </a:spcBef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AS  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subquery</a:t>
            </a:r>
          </a:p>
          <a:p>
            <a:pPr lvl="2" indent="0" algn="l" eaLnBrk="1" hangingPunct="1">
              <a:spcBef>
                <a:spcPts val="600"/>
              </a:spcBef>
            </a:pP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 WITH CHECK OPTION 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]</a:t>
            </a:r>
          </a:p>
        </p:txBody>
      </p:sp>
      <p:sp>
        <p:nvSpPr>
          <p:cNvPr id="38919" name="Rectangle 5"/>
          <p:cNvSpPr/>
          <p:nvPr/>
        </p:nvSpPr>
        <p:spPr>
          <a:xfrm>
            <a:off x="0" y="2276475"/>
            <a:ext cx="8870950" cy="3529013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914400" lvl="1" indent="-457200" algn="l" eaLnBrk="1" hangingPunct="1">
              <a:buClr>
                <a:schemeClr val="accent1"/>
              </a:buClr>
              <a:buAutoNum type="arabicPeriod"/>
            </a:pPr>
            <a:r>
              <a:rPr lang="en-US" altLang="zh-CN" sz="3000" b="1" dirty="0">
                <a:latin typeface="Arial" panose="020B0604020202020204" pitchFamily="34" charset="0"/>
                <a:ea typeface="宋体" panose="02010600030101010101" pitchFamily="2" charset="-122"/>
              </a:rPr>
              <a:t>List of column names</a:t>
            </a:r>
          </a:p>
          <a:p>
            <a:pPr marL="1428750" lvl="2" indent="-514350" algn="l" eaLnBrk="1" hangingPunct="1">
              <a:buClr>
                <a:schemeClr val="accent2"/>
              </a:buClr>
              <a:buFont typeface="Times New Roman" panose="02020603050405020304" pitchFamily="2" charset="0"/>
              <a:buAutoNum type="circleNumDbPlain"/>
            </a:pPr>
            <a:r>
              <a:rPr lang="en-US" altLang="zh-CN" sz="30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Can leave out list of colnames if</a:t>
            </a:r>
          </a:p>
          <a:p>
            <a:pPr lvl="3" indent="0" algn="l" eaLnBrk="1" hangingPunct="1">
              <a:buClr>
                <a:srgbClr val="FF0066"/>
              </a:buClr>
              <a:buFont typeface="Times New Roman" panose="02020603050405020304" pitchFamily="2" charset="0"/>
              <a:buNone/>
            </a:pPr>
            <a:r>
              <a:rPr lang="en-US" altLang="zh-CN" sz="3000" b="1" dirty="0">
                <a:latin typeface="Arial" panose="020B0604020202020204" pitchFamily="34" charset="0"/>
                <a:ea typeface="宋体" panose="02010600030101010101" pitchFamily="2" charset="-122"/>
              </a:rPr>
              <a:t>target list (Select clause) of subquery has colnames that require no qualifiers. </a:t>
            </a:r>
          </a:p>
          <a:p>
            <a:pPr marL="1428750" lvl="2" indent="-514350" algn="l" eaLnBrk="1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chemeClr val="accent2"/>
              </a:buClr>
              <a:buFont typeface="Times New Roman" panose="02020603050405020304" pitchFamily="2" charset="0"/>
              <a:buAutoNum type="circleNumDbPlain"/>
            </a:pPr>
            <a:r>
              <a:rPr lang="en-US" altLang="zh-CN" sz="30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Need to give names for expressions or for ambiguous colnames.</a:t>
            </a:r>
          </a:p>
          <a:p>
            <a:pPr marL="1428750" lvl="2" indent="-514350" algn="l" eaLnBrk="1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chemeClr val="accent2"/>
              </a:buClr>
              <a:buFont typeface="Times New Roman" panose="02020603050405020304" pitchFamily="2" charset="0"/>
              <a:buAutoNum type="circleNumDbPlain"/>
            </a:pPr>
            <a:r>
              <a:rPr lang="en-US" altLang="zh-CN" sz="30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Can rename column in any way at all.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9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89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89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89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89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9" grpId="0" build="p" bldLvl="3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日期占位符 3"/>
          <p:cNvSpPr txBox="1">
            <a:spLocks noGrp="1"/>
          </p:cNvSpPr>
          <p:nvPr/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BB962C8B-B14F-4D97-AF65-F5344CB8AC3E}" type="datetime1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39938" name="页脚占位符 4"/>
          <p:cNvSpPr txBox="1">
            <a:spLocks noGrp="1"/>
          </p:cNvSpPr>
          <p:nvPr/>
        </p:nvSpPr>
        <p:spPr>
          <a:xfrm>
            <a:off x="2590800" y="6553200"/>
            <a:ext cx="39624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Integrity,Views,Security,and Catalogs</a:t>
            </a:r>
            <a:endParaRPr lang="en-US" altLang="zh-CN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39939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37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39941" name="Rectangle 3"/>
          <p:cNvSpPr>
            <a:spLocks noGrp="1"/>
          </p:cNvSpPr>
          <p:nvPr>
            <p:ph type="body" idx="4294967295"/>
          </p:nvPr>
        </p:nvSpPr>
        <p:spPr>
          <a:xfrm>
            <a:off x="0" y="2330450"/>
            <a:ext cx="9144000" cy="4483100"/>
          </a:xfrm>
        </p:spPr>
        <p:txBody>
          <a:bodyPr wrap="square" anchor="t"/>
          <a:lstStyle/>
          <a:p>
            <a:pPr marL="914400" lvl="1" indent="-457200" eaLnBrk="1" fontAlgn="base" hangingPunct="1">
              <a:spcBef>
                <a:spcPct val="0"/>
              </a:spcBef>
              <a:buAutoNum type="arabicPeriod" startAt="2"/>
            </a:pPr>
            <a:r>
              <a:rPr lang="en-US" altLang="x-none" sz="3000" strike="noStrike" noProof="1">
                <a:solidFill>
                  <a:srgbClr val="FF0066"/>
                </a:solidFill>
                <a:ea typeface="宋体" panose="02010600030101010101" pitchFamily="2" charset="-122"/>
              </a:rPr>
              <a:t>subquery </a:t>
            </a:r>
            <a:r>
              <a:rPr lang="en-US" altLang="x-none" i="1" strike="noStrike" noProof="1">
                <a:solidFill>
                  <a:schemeClr val="tx1"/>
                </a:solidFill>
                <a:ea typeface="宋体" panose="02010600030101010101" pitchFamily="2" charset="-122"/>
              </a:rPr>
              <a:t>(Figure 3.1)</a:t>
            </a:r>
          </a:p>
          <a:p>
            <a:pPr marL="1371600" lvl="2" indent="-457200" eaLnBrk="1" fontAlgn="base" hangingPunct="1">
              <a:spcBef>
                <a:spcPct val="0"/>
              </a:spcBef>
            </a:pPr>
            <a:r>
              <a:rPr lang="en-US" altLang="x-none" sz="3000" strike="noStrike" noProof="1">
                <a:solidFill>
                  <a:schemeClr val="accent2"/>
                </a:solidFill>
                <a:ea typeface="宋体" panose="02010600030101010101" pitchFamily="2" charset="-122"/>
              </a:rPr>
              <a:t>no ORDER BY clause</a:t>
            </a:r>
          </a:p>
          <a:p>
            <a:pPr marL="1371600" lvl="2" indent="-457200" eaLnBrk="1" fontAlgn="base" hangingPunct="1">
              <a:spcBef>
                <a:spcPct val="0"/>
              </a:spcBef>
            </a:pPr>
            <a:endParaRPr lang="en-US" altLang="x-none" sz="3000" strike="noStrike" noProof="1">
              <a:solidFill>
                <a:schemeClr val="accent2"/>
              </a:solidFill>
              <a:ea typeface="宋体" panose="02010600030101010101" pitchFamily="2" charset="-122"/>
            </a:endParaRPr>
          </a:p>
          <a:p>
            <a:pPr marL="914400" lvl="1" indent="-457200" eaLnBrk="1" fontAlgn="base" hangingPunct="1">
              <a:spcBef>
                <a:spcPct val="0"/>
              </a:spcBef>
              <a:buAutoNum type="arabicPeriod" startAt="3"/>
            </a:pPr>
            <a:r>
              <a:rPr lang="en-US" altLang="x-none" sz="3000" strike="noStrike" noProof="1">
                <a:solidFill>
                  <a:srgbClr val="FF0066"/>
                </a:solidFill>
                <a:ea typeface="宋体" panose="02010600030101010101" pitchFamily="2" charset="-122"/>
              </a:rPr>
              <a:t>WITH CHECK OPTION</a:t>
            </a:r>
          </a:p>
          <a:p>
            <a:pPr marL="1371600" lvl="2" indent="-457200" eaLnBrk="1" fontAlgn="base" hangingPunct="1">
              <a:spcBef>
                <a:spcPct val="0"/>
              </a:spcBef>
            </a:pPr>
            <a:r>
              <a:rPr lang="en-US" altLang="x-none" sz="3000" strike="noStrike" noProof="1">
                <a:solidFill>
                  <a:schemeClr val="accent2"/>
                </a:solidFill>
                <a:ea typeface="宋体" panose="02010600030101010101" pitchFamily="2" charset="-122"/>
              </a:rPr>
              <a:t>will not permit an update or insert through a  updatable view </a:t>
            </a:r>
            <a:r>
              <a:rPr lang="en-US" altLang="x-none" sz="3000" u="sng" strike="noStrike" noProof="1">
                <a:solidFill>
                  <a:schemeClr val="accent2"/>
                </a:solidFill>
                <a:ea typeface="宋体" panose="02010600030101010101" pitchFamily="2" charset="-122"/>
              </a:rPr>
              <a:t>if </a:t>
            </a:r>
            <a:r>
              <a:rPr lang="en-US" altLang="x-none" sz="3000" u="sng" strike="noStrike" noProof="1">
                <a:solidFill>
                  <a:schemeClr val="accent6"/>
                </a:solidFill>
                <a:ea typeface="宋体" panose="02010600030101010101" pitchFamily="2" charset="-122"/>
              </a:rPr>
              <a:t>they result in rows that would be invisible to the view Subquery</a:t>
            </a:r>
            <a:r>
              <a:rPr lang="en-US" altLang="x-none" sz="3000" strike="noStrike" noProof="1">
                <a:solidFill>
                  <a:schemeClr val="accent6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2" name="Text Box 4"/>
          <p:cNvSpPr txBox="1"/>
          <p:nvPr/>
        </p:nvSpPr>
        <p:spPr>
          <a:xfrm>
            <a:off x="0" y="692150"/>
            <a:ext cx="9144000" cy="1539875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>
            <a:spAutoFit/>
          </a:bodyPr>
          <a:lstStyle/>
          <a:p>
            <a:pPr marL="742950" lvl="1" indent="-285750" algn="l" eaLnBrk="1" hangingPunct="1">
              <a:spcBef>
                <a:spcPts val="600"/>
              </a:spcBef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CREATE VIEW 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view_name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col_name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{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, …...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}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]</a:t>
            </a:r>
          </a:p>
          <a:p>
            <a:pPr lvl="2" indent="0" algn="l" eaLnBrk="1" hangingPunct="1">
              <a:spcBef>
                <a:spcPts val="600"/>
              </a:spcBef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AS  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subquery</a:t>
            </a:r>
          </a:p>
          <a:p>
            <a:pPr lvl="2" indent="0" algn="l" eaLnBrk="1" hangingPunct="1">
              <a:spcBef>
                <a:spcPts val="600"/>
              </a:spcBef>
            </a:pP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 WITH CHECK OPTION 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]</a:t>
            </a:r>
          </a:p>
        </p:txBody>
      </p:sp>
      <p:sp>
        <p:nvSpPr>
          <p:cNvPr id="39942" name="TextBox 2"/>
          <p:cNvSpPr txBox="1"/>
          <p:nvPr/>
        </p:nvSpPr>
        <p:spPr>
          <a:xfrm>
            <a:off x="0" y="0"/>
            <a:ext cx="9144000" cy="523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marL="457200" indent="-457200"/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Create View statement (cont.)</a:t>
            </a:r>
          </a:p>
        </p:txBody>
      </p:sp>
      <p:sp>
        <p:nvSpPr>
          <p:cNvPr id="39943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日期占位符 3"/>
          <p:cNvSpPr txBox="1">
            <a:spLocks noGrp="1"/>
          </p:cNvSpPr>
          <p:nvPr/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BB962C8B-B14F-4D97-AF65-F5344CB8AC3E}" type="datetime1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0962" name="页脚占位符 4"/>
          <p:cNvSpPr txBox="1">
            <a:spLocks noGrp="1"/>
          </p:cNvSpPr>
          <p:nvPr/>
        </p:nvSpPr>
        <p:spPr>
          <a:xfrm>
            <a:off x="2590800" y="6553200"/>
            <a:ext cx="39624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Integrity,Views,Security,and Catalogs</a:t>
            </a:r>
            <a:endParaRPr lang="en-US" altLang="zh-CN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0963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38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0964" name="Text Box 4"/>
          <p:cNvSpPr txBox="1"/>
          <p:nvPr/>
        </p:nvSpPr>
        <p:spPr>
          <a:xfrm>
            <a:off x="0" y="692150"/>
            <a:ext cx="9144000" cy="1539875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>
            <a:spAutoFit/>
          </a:bodyPr>
          <a:lstStyle/>
          <a:p>
            <a:pPr marL="742950" lvl="1" indent="-285750" algn="l" eaLnBrk="1" hangingPunct="1">
              <a:spcBef>
                <a:spcPts val="600"/>
              </a:spcBef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CREATE VIEW 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view_name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col_name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{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, …...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}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]</a:t>
            </a:r>
          </a:p>
          <a:p>
            <a:pPr lvl="2" indent="0" algn="l" eaLnBrk="1" hangingPunct="1">
              <a:spcBef>
                <a:spcPts val="600"/>
              </a:spcBef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AS  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subquery</a:t>
            </a:r>
          </a:p>
          <a:p>
            <a:pPr lvl="2" indent="0" algn="l" eaLnBrk="1" hangingPunct="1">
              <a:spcBef>
                <a:spcPts val="600"/>
              </a:spcBef>
            </a:pP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 WITH CHECK OPTION 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]</a:t>
            </a:r>
          </a:p>
        </p:txBody>
      </p:sp>
      <p:sp>
        <p:nvSpPr>
          <p:cNvPr id="40965" name="TextBox 2"/>
          <p:cNvSpPr txBox="1"/>
          <p:nvPr/>
        </p:nvSpPr>
        <p:spPr>
          <a:xfrm>
            <a:off x="0" y="0"/>
            <a:ext cx="9144000" cy="523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marL="457200" indent="-457200"/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Create View statement (cont.)</a:t>
            </a:r>
          </a:p>
        </p:txBody>
      </p:sp>
      <p:sp>
        <p:nvSpPr>
          <p:cNvPr id="40967" name="Rectangle 4"/>
          <p:cNvSpPr/>
          <p:nvPr/>
        </p:nvSpPr>
        <p:spPr>
          <a:xfrm>
            <a:off x="31750" y="2636838"/>
            <a:ext cx="8982075" cy="107632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altLang="zh-CN" sz="32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Nested View  definition</a:t>
            </a:r>
          </a:p>
          <a:p>
            <a:pPr marL="742950" lvl="1" indent="-285750" algn="l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</a:pPr>
            <a:r>
              <a:rPr lang="en-US" altLang="zh-CN" sz="32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create a view based on other views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7" grpId="0" bldLvl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日期占位符 3"/>
          <p:cNvSpPr txBox="1">
            <a:spLocks noGrp="1"/>
          </p:cNvSpPr>
          <p:nvPr/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BB962C8B-B14F-4D97-AF65-F5344CB8AC3E}" type="datetime1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1986" name="页脚占位符 4"/>
          <p:cNvSpPr txBox="1">
            <a:spLocks noGrp="1"/>
          </p:cNvSpPr>
          <p:nvPr/>
        </p:nvSpPr>
        <p:spPr>
          <a:xfrm>
            <a:off x="2590800" y="6553200"/>
            <a:ext cx="39624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Integrity,Views,Security,and Catalogs</a:t>
            </a:r>
            <a:endParaRPr lang="en-US" altLang="zh-CN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1987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39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1988" name="Rectangle 2"/>
          <p:cNvSpPr>
            <a:spLocks noGrp="1"/>
          </p:cNvSpPr>
          <p:nvPr>
            <p:ph type="title" idx="4294967295"/>
          </p:nvPr>
        </p:nvSpPr>
        <p:spPr>
          <a:ln/>
        </p:spPr>
        <p:txBody>
          <a:bodyPr wrap="square" anchor="ctr"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7.2  Creating Views</a:t>
            </a:r>
          </a:p>
        </p:txBody>
      </p:sp>
      <p:sp>
        <p:nvSpPr>
          <p:cNvPr id="41989" name="Rectangle 3"/>
          <p:cNvSpPr>
            <a:spLocks noGrp="1"/>
          </p:cNvSpPr>
          <p:nvPr>
            <p:ph type="body" idx="4294967295"/>
          </p:nvPr>
        </p:nvSpPr>
        <p:spPr>
          <a:xfrm>
            <a:off x="0" y="2636838"/>
            <a:ext cx="8686800" cy="3313112"/>
          </a:xfrm>
          <a:ln/>
        </p:spPr>
        <p:txBody>
          <a:bodyPr wrap="square" anchor="t"/>
          <a:lstStyle/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altLang="zh-CN" sz="3200" dirty="0">
                <a:ea typeface="宋体" panose="02010600030101010101" pitchFamily="2" charset="-122"/>
              </a:rPr>
              <a:t>Executing of Create View statement</a:t>
            </a: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altLang="zh-CN" sz="3200" dirty="0">
                <a:ea typeface="宋体" panose="02010600030101010101" pitchFamily="2" charset="-122"/>
              </a:rPr>
              <a:t>The definition of the view is placed in the system catalogs as a </a:t>
            </a:r>
            <a:r>
              <a:rPr lang="en-US" altLang="zh-CN" sz="3200" u="sng" dirty="0">
                <a:solidFill>
                  <a:schemeClr val="tx1"/>
                </a:solidFill>
                <a:ea typeface="宋体" panose="02010600030101010101" pitchFamily="2" charset="-122"/>
              </a:rPr>
              <a:t>distinct object</a:t>
            </a:r>
            <a:r>
              <a:rPr lang="en-US" altLang="zh-CN" sz="3200" dirty="0">
                <a:ea typeface="宋体" panose="02010600030101010101" pitchFamily="2" charset="-122"/>
              </a:rPr>
              <a:t> of the database.</a:t>
            </a: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altLang="zh-CN" sz="3200" dirty="0">
                <a:ea typeface="宋体" panose="02010600030101010101" pitchFamily="2" charset="-122"/>
              </a:rPr>
              <a:t>No data is retrieved or stored.</a:t>
            </a:r>
          </a:p>
        </p:txBody>
      </p:sp>
      <p:sp>
        <p:nvSpPr>
          <p:cNvPr id="41990" name="Text Box 4"/>
          <p:cNvSpPr txBox="1"/>
          <p:nvPr/>
        </p:nvSpPr>
        <p:spPr>
          <a:xfrm>
            <a:off x="0" y="809625"/>
            <a:ext cx="9144000" cy="1539875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>
            <a:spAutoFit/>
          </a:bodyPr>
          <a:lstStyle/>
          <a:p>
            <a:pPr marL="742950" lvl="1" indent="-285750" algn="l" eaLnBrk="1" hangingPunct="1">
              <a:spcBef>
                <a:spcPts val="600"/>
              </a:spcBef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CREATE VIEW 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view_name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col_name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{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, …...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}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]</a:t>
            </a:r>
          </a:p>
          <a:p>
            <a:pPr lvl="2" indent="0" algn="l" eaLnBrk="1" hangingPunct="1">
              <a:spcBef>
                <a:spcPts val="600"/>
              </a:spcBef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AS  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subquery</a:t>
            </a:r>
          </a:p>
          <a:p>
            <a:pPr lvl="2" indent="0" algn="l" eaLnBrk="1" hangingPunct="1">
              <a:spcBef>
                <a:spcPts val="600"/>
              </a:spcBef>
            </a:pP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 WITH CHECK OPTION 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]</a:t>
            </a:r>
          </a:p>
        </p:txBody>
      </p:sp>
      <p:sp>
        <p:nvSpPr>
          <p:cNvPr id="41991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日期占位符 3"/>
          <p:cNvSpPr txBox="1">
            <a:spLocks noGrp="1"/>
          </p:cNvSpPr>
          <p:nvPr/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BB962C8B-B14F-4D97-AF65-F5344CB8AC3E}" type="datetime1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3010" name="页脚占位符 4"/>
          <p:cNvSpPr txBox="1">
            <a:spLocks noGrp="1"/>
          </p:cNvSpPr>
          <p:nvPr/>
        </p:nvSpPr>
        <p:spPr>
          <a:xfrm>
            <a:off x="2590800" y="6553200"/>
            <a:ext cx="39624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Integrity,Views,Security,and Catalogs</a:t>
            </a:r>
            <a:endParaRPr lang="en-US" altLang="zh-CN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3011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40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3012" name="Rectangle 2"/>
          <p:cNvSpPr>
            <a:spLocks noGrp="1"/>
          </p:cNvSpPr>
          <p:nvPr>
            <p:ph type="title" idx="4294967295"/>
          </p:nvPr>
        </p:nvSpPr>
        <p:spPr>
          <a:ln/>
        </p:spPr>
        <p:txBody>
          <a:bodyPr wrap="square" anchor="ctr"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7.2  Creating Views</a:t>
            </a:r>
          </a:p>
        </p:txBody>
      </p:sp>
      <p:sp>
        <p:nvSpPr>
          <p:cNvPr id="43013" name="Rectangle 4"/>
          <p:cNvSpPr/>
          <p:nvPr/>
        </p:nvSpPr>
        <p:spPr>
          <a:xfrm>
            <a:off x="0" y="2565400"/>
            <a:ext cx="9144000" cy="38354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altLang="zh-CN" sz="32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Operations through Views</a:t>
            </a:r>
          </a:p>
          <a:p>
            <a:pPr marL="742950" lvl="1" indent="-285750" algn="l" eaLnBrk="1" hangingPunct="1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–"/>
            </a:pPr>
            <a:r>
              <a:rPr lang="en-US" altLang="zh-CN" sz="32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query modification</a:t>
            </a:r>
          </a:p>
          <a:p>
            <a:pPr marL="1143000" lvl="2" indent="-228600" algn="l" eaLnBrk="1" hangingPunct="1"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</a:rPr>
              <a:t>A query or update statement that accesses a view can be modified.</a:t>
            </a:r>
          </a:p>
          <a:p>
            <a:pPr marL="1143000" lvl="2" indent="-228600" algn="l" eaLnBrk="1" hangingPunct="1"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</a:rPr>
              <a:t>So that the modified query or update actually performs accesses on base tables.</a:t>
            </a:r>
          </a:p>
        </p:txBody>
      </p:sp>
      <p:sp>
        <p:nvSpPr>
          <p:cNvPr id="43014" name="Text Box 4"/>
          <p:cNvSpPr txBox="1"/>
          <p:nvPr/>
        </p:nvSpPr>
        <p:spPr>
          <a:xfrm>
            <a:off x="0" y="809625"/>
            <a:ext cx="9144000" cy="1539875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>
            <a:spAutoFit/>
          </a:bodyPr>
          <a:lstStyle/>
          <a:p>
            <a:pPr marL="742950" lvl="1" indent="-285750" algn="l" eaLnBrk="1" hangingPunct="1">
              <a:spcBef>
                <a:spcPts val="600"/>
              </a:spcBef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CREATE VIEW 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view_name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col_name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{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, …...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}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]</a:t>
            </a:r>
          </a:p>
          <a:p>
            <a:pPr lvl="2" indent="0" algn="l" eaLnBrk="1" hangingPunct="1">
              <a:spcBef>
                <a:spcPts val="600"/>
              </a:spcBef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AS  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subquery</a:t>
            </a:r>
          </a:p>
          <a:p>
            <a:pPr lvl="2" indent="0" algn="l" eaLnBrk="1" hangingPunct="1">
              <a:spcBef>
                <a:spcPts val="600"/>
              </a:spcBef>
            </a:pP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 WITH CHECK OPTION 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]</a:t>
            </a:r>
          </a:p>
        </p:txBody>
      </p:sp>
      <p:sp>
        <p:nvSpPr>
          <p:cNvPr id="43015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日期占位符 3"/>
          <p:cNvSpPr txBox="1">
            <a:spLocks noGrp="1"/>
          </p:cNvSpPr>
          <p:nvPr/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BB962C8B-B14F-4D97-AF65-F5344CB8AC3E}" type="datetime1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4034" name="页脚占位符 4"/>
          <p:cNvSpPr txBox="1">
            <a:spLocks noGrp="1"/>
          </p:cNvSpPr>
          <p:nvPr/>
        </p:nvSpPr>
        <p:spPr>
          <a:xfrm>
            <a:off x="2590800" y="6553200"/>
            <a:ext cx="39624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Integrity,Views,Security,and Catalogs</a:t>
            </a:r>
            <a:endParaRPr lang="en-US" altLang="zh-CN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4035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41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4036" name="Rectangle 2"/>
          <p:cNvSpPr>
            <a:spLocks noGrp="1"/>
          </p:cNvSpPr>
          <p:nvPr>
            <p:ph type="title" idx="4294967295"/>
          </p:nvPr>
        </p:nvSpPr>
        <p:spPr>
          <a:ln/>
        </p:spPr>
        <p:txBody>
          <a:bodyPr wrap="square" anchor="ctr"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7.2  Creating Views</a:t>
            </a:r>
          </a:p>
        </p:txBody>
      </p:sp>
      <p:sp>
        <p:nvSpPr>
          <p:cNvPr id="44037" name="Rectangle 3"/>
          <p:cNvSpPr>
            <a:spLocks noGrp="1"/>
          </p:cNvSpPr>
          <p:nvPr>
            <p:ph type="body" idx="4294967295"/>
          </p:nvPr>
        </p:nvSpPr>
        <p:spPr>
          <a:xfrm>
            <a:off x="0" y="765175"/>
            <a:ext cx="9144000" cy="5616575"/>
          </a:xfrm>
          <a:ln/>
        </p:spPr>
        <p:txBody>
          <a:bodyPr wrap="square" anchor="t"/>
          <a:lstStyle/>
          <a:p>
            <a:pPr marL="457200" indent="-457200" eaLnBrk="1" hangingPunct="1">
              <a:lnSpc>
                <a:spcPct val="110000"/>
              </a:lnSpc>
              <a:spcBef>
                <a:spcPts val="600"/>
              </a:spcBef>
            </a:pPr>
            <a:r>
              <a:rPr lang="en-US" altLang="zh-CN" sz="3200" dirty="0">
                <a:ea typeface="宋体" panose="02010600030101010101" pitchFamily="2" charset="-122"/>
              </a:rPr>
              <a:t>Privileges on Views</a:t>
            </a:r>
          </a:p>
          <a:p>
            <a:pPr marL="971550" lvl="1" indent="-457200" eaLnBrk="1" hangingPunct="1">
              <a:spcBef>
                <a:spcPts val="600"/>
              </a:spcBef>
              <a:buAutoNum type="arabicParenR"/>
            </a:pPr>
            <a:r>
              <a:rPr lang="en-US" altLang="zh-CN" sz="3000" dirty="0">
                <a:ea typeface="宋体" panose="02010600030101010101" pitchFamily="2" charset="-122"/>
              </a:rPr>
              <a:t>The user creating the view becomes the owner of the view</a:t>
            </a:r>
          </a:p>
          <a:p>
            <a:pPr marL="971550" lvl="1" indent="-457200" eaLnBrk="1" hangingPunct="1">
              <a:spcBef>
                <a:spcPts val="600"/>
              </a:spcBef>
              <a:buAutoNum type="arabicParenR"/>
            </a:pPr>
            <a:endParaRPr lang="en-US" altLang="zh-CN" sz="3000" dirty="0">
              <a:ea typeface="宋体" panose="02010600030101010101" pitchFamily="2" charset="-122"/>
            </a:endParaRPr>
          </a:p>
          <a:p>
            <a:pPr marL="971550" lvl="1" indent="-457200" eaLnBrk="1" hangingPunct="1">
              <a:spcBef>
                <a:spcPts val="600"/>
              </a:spcBef>
              <a:buAutoNum type="arabicParenR"/>
            </a:pPr>
            <a:r>
              <a:rPr lang="en-US" altLang="zh-CN" sz="3000" dirty="0">
                <a:ea typeface="宋体" panose="02010600030101010101" pitchFamily="2" charset="-122"/>
              </a:rPr>
              <a:t>The owner is given update privileges on the view, assume:</a:t>
            </a:r>
          </a:p>
          <a:p>
            <a:pPr marL="1371600" lvl="2" indent="-457200" eaLnBrk="1" hangingPunct="1">
              <a:spcBef>
                <a:spcPts val="600"/>
              </a:spcBef>
            </a:pPr>
            <a:r>
              <a:rPr lang="en-US" altLang="zh-CN" sz="3000" dirty="0">
                <a:solidFill>
                  <a:schemeClr val="tx1"/>
                </a:solidFill>
                <a:ea typeface="宋体" panose="02010600030101010101" pitchFamily="2" charset="-122"/>
              </a:rPr>
              <a:t>the view is </a:t>
            </a:r>
            <a:r>
              <a:rPr lang="en-US" altLang="zh-CN" sz="3000" i="1" u="sng" dirty="0">
                <a:solidFill>
                  <a:srgbClr val="FF0066"/>
                </a:solidFill>
                <a:ea typeface="宋体" panose="02010600030101010101" pitchFamily="2" charset="-122"/>
              </a:rPr>
              <a:t>updatable</a:t>
            </a:r>
          </a:p>
          <a:p>
            <a:pPr marL="1371600" lvl="2" indent="-457200" eaLnBrk="1" hangingPunct="1">
              <a:spcBef>
                <a:spcPts val="600"/>
              </a:spcBef>
            </a:pPr>
            <a:r>
              <a:rPr lang="en-US" altLang="zh-CN" sz="3000" dirty="0">
                <a:solidFill>
                  <a:schemeClr val="tx1"/>
                </a:solidFill>
                <a:ea typeface="宋体" panose="02010600030101010101" pitchFamily="2" charset="-122"/>
              </a:rPr>
              <a:t>the user has </a:t>
            </a:r>
            <a:r>
              <a:rPr lang="en-US" altLang="zh-CN" sz="3000" i="1" u="sng" dirty="0">
                <a:solidFill>
                  <a:srgbClr val="FF0066"/>
                </a:solidFill>
                <a:ea typeface="宋体" panose="02010600030101010101" pitchFamily="2" charset="-122"/>
              </a:rPr>
              <a:t>the needed update privileges on the base table</a:t>
            </a:r>
            <a:r>
              <a:rPr lang="en-US" altLang="zh-CN" sz="3000" dirty="0">
                <a:ea typeface="宋体" panose="02010600030101010101" pitchFamily="2" charset="-122"/>
              </a:rPr>
              <a:t> </a:t>
            </a:r>
            <a:r>
              <a:rPr lang="en-US" altLang="zh-CN" sz="3000" dirty="0">
                <a:solidFill>
                  <a:schemeClr val="tx1"/>
                </a:solidFill>
                <a:ea typeface="宋体" panose="02010600030101010101" pitchFamily="2" charset="-122"/>
              </a:rPr>
              <a:t>on which the view is defined.</a:t>
            </a:r>
          </a:p>
        </p:txBody>
      </p:sp>
      <p:sp>
        <p:nvSpPr>
          <p:cNvPr id="44038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日期占位符 3"/>
          <p:cNvSpPr txBox="1">
            <a:spLocks noGrp="1"/>
          </p:cNvSpPr>
          <p:nvPr/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BB962C8B-B14F-4D97-AF65-F5344CB8AC3E}" type="datetime1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5058" name="页脚占位符 4"/>
          <p:cNvSpPr txBox="1">
            <a:spLocks noGrp="1"/>
          </p:cNvSpPr>
          <p:nvPr/>
        </p:nvSpPr>
        <p:spPr>
          <a:xfrm>
            <a:off x="2590800" y="6553200"/>
            <a:ext cx="39624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Integrity,Views,Security,and Catalogs</a:t>
            </a:r>
            <a:endParaRPr lang="en-US" altLang="zh-CN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5059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42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5060" name="Rectangle 2"/>
          <p:cNvSpPr>
            <a:spLocks noGrp="1"/>
          </p:cNvSpPr>
          <p:nvPr>
            <p:ph type="title" idx="4294967295"/>
          </p:nvPr>
        </p:nvSpPr>
        <p:spPr>
          <a:ln/>
        </p:spPr>
        <p:txBody>
          <a:bodyPr wrap="square" anchor="ctr"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7.2  Creating Views</a:t>
            </a:r>
          </a:p>
        </p:txBody>
      </p:sp>
      <p:sp>
        <p:nvSpPr>
          <p:cNvPr id="45061" name="Rectangle 3"/>
          <p:cNvSpPr>
            <a:spLocks noGrp="1"/>
          </p:cNvSpPr>
          <p:nvPr>
            <p:ph type="body" idx="4294967295"/>
          </p:nvPr>
        </p:nvSpPr>
        <p:spPr>
          <a:xfrm>
            <a:off x="323850" y="836613"/>
            <a:ext cx="8229600" cy="457200"/>
          </a:xfrm>
          <a:ln/>
        </p:spPr>
        <p:txBody>
          <a:bodyPr wrap="square" anchor="t"/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Example 7.2.1 Create View</a:t>
            </a:r>
          </a:p>
        </p:txBody>
      </p:sp>
      <p:sp>
        <p:nvSpPr>
          <p:cNvPr id="45062" name="Text Box 4"/>
          <p:cNvSpPr txBox="1"/>
          <p:nvPr/>
        </p:nvSpPr>
        <p:spPr>
          <a:xfrm>
            <a:off x="0" y="1524000"/>
            <a:ext cx="9144000" cy="4302125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>
            <a:spAutoFit/>
          </a:bodyPr>
          <a:lstStyle/>
          <a:p>
            <a:pPr>
              <a:lnSpc>
                <a:spcPct val="120000"/>
              </a:lnSpc>
              <a:spcBef>
                <a:spcPts val="1800"/>
              </a:spcBef>
            </a:pP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CREATE VIEW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  agentorders (ordno, month, cid, aid,</a:t>
            </a:r>
          </a:p>
          <a:p>
            <a:pPr lvl="2" indent="0" algn="l" eaLnBrk="1" hangingPunct="1">
              <a:lnSpc>
                <a:spcPct val="120000"/>
              </a:lnSpc>
              <a:spcBef>
                <a:spcPts val="1800"/>
              </a:spcBef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pid, qty, charge, aname, acity, percent)</a:t>
            </a:r>
          </a:p>
          <a:p>
            <a:pPr lvl="1" indent="0" algn="l" eaLnBrk="1" hangingPunct="1">
              <a:lnSpc>
                <a:spcPct val="120000"/>
              </a:lnSpc>
              <a:spcBef>
                <a:spcPts val="1800"/>
              </a:spcBef>
            </a:pP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AS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 SELECT  o.ordno, o.month, o.cid, o.aid, o.pid,</a:t>
            </a:r>
          </a:p>
          <a:p>
            <a:pPr lvl="3" indent="0" algn="l" eaLnBrk="1" hangingPunct="1">
              <a:lnSpc>
                <a:spcPct val="120000"/>
              </a:lnSpc>
              <a:spcBef>
                <a:spcPts val="1800"/>
              </a:spcBef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o.qty, o.dollars, a.aname, a.city, a.percent</a:t>
            </a:r>
          </a:p>
          <a:p>
            <a:pPr lvl="2" indent="0" algn="l" eaLnBrk="1" hangingPunct="1">
              <a:lnSpc>
                <a:spcPct val="120000"/>
              </a:lnSpc>
              <a:spcBef>
                <a:spcPts val="1800"/>
              </a:spcBef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FROM  orders o, agents a</a:t>
            </a:r>
          </a:p>
          <a:p>
            <a:pPr lvl="2" indent="0" algn="l" eaLnBrk="1" hangingPunct="1">
              <a:lnSpc>
                <a:spcPct val="120000"/>
              </a:lnSpc>
              <a:spcBef>
                <a:spcPts val="1800"/>
              </a:spcBef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WHERE  o.aid = a.aid;</a:t>
            </a:r>
          </a:p>
        </p:txBody>
      </p:sp>
      <p:sp>
        <p:nvSpPr>
          <p:cNvPr id="45063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日期占位符 3"/>
          <p:cNvSpPr txBox="1">
            <a:spLocks noGrp="1"/>
          </p:cNvSpPr>
          <p:nvPr/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BB962C8B-B14F-4D97-AF65-F5344CB8AC3E}" type="datetime1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6082" name="页脚占位符 4"/>
          <p:cNvSpPr txBox="1">
            <a:spLocks noGrp="1"/>
          </p:cNvSpPr>
          <p:nvPr/>
        </p:nvSpPr>
        <p:spPr>
          <a:xfrm>
            <a:off x="2590800" y="6553200"/>
            <a:ext cx="39624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Integrity,Views,Security,and Catalogs</a:t>
            </a:r>
            <a:endParaRPr lang="en-US" altLang="zh-CN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6083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43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6084" name="Rectangle 2"/>
          <p:cNvSpPr>
            <a:spLocks noGrp="1"/>
          </p:cNvSpPr>
          <p:nvPr>
            <p:ph type="title" idx="4294967295"/>
          </p:nvPr>
        </p:nvSpPr>
        <p:spPr>
          <a:ln/>
        </p:spPr>
        <p:txBody>
          <a:bodyPr wrap="square" anchor="ctr"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7.2  Creating Views</a:t>
            </a:r>
          </a:p>
        </p:txBody>
      </p:sp>
      <p:grpSp>
        <p:nvGrpSpPr>
          <p:cNvPr id="46086" name="组合 46085"/>
          <p:cNvGrpSpPr/>
          <p:nvPr/>
        </p:nvGrpSpPr>
        <p:grpSpPr>
          <a:xfrm>
            <a:off x="457200" y="4076700"/>
            <a:ext cx="8229600" cy="2251075"/>
            <a:chOff x="0" y="0"/>
            <a:chExt cx="5184" cy="1418"/>
          </a:xfrm>
        </p:grpSpPr>
        <p:sp>
          <p:nvSpPr>
            <p:cNvPr id="2" name="Text Box 6"/>
            <p:cNvSpPr txBox="1"/>
            <p:nvPr/>
          </p:nvSpPr>
          <p:spPr>
            <a:xfrm>
              <a:off x="192" y="336"/>
              <a:ext cx="4944" cy="1082"/>
            </a:xfrm>
            <a:prstGeom prst="rect">
              <a:avLst/>
            </a:prstGeom>
            <a:solidFill>
              <a:srgbClr val="CCFFFF"/>
            </a:solidFill>
            <a:ln w="9525">
              <a:noFill/>
            </a:ln>
          </p:spPr>
          <p:txBody>
            <a:bodyPr anchor="t">
              <a:spAutoFit/>
            </a:bodyPr>
            <a:lstStyle/>
            <a:p>
              <a:pPr lvl="2" indent="0" algn="l" eaLnBrk="1" hangingPunct="1">
                <a:lnSpc>
                  <a:spcPct val="110000"/>
                </a:lnSpc>
              </a:pPr>
              <a:r>
                <a:rPr lang="en-US" altLang="zh-CN" sz="3200" b="1" dirty="0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SELECT  sum (charge)</a:t>
              </a:r>
            </a:p>
            <a:p>
              <a:pPr lvl="2" indent="0" algn="l" eaLnBrk="1" hangingPunct="1">
                <a:lnSpc>
                  <a:spcPct val="110000"/>
                </a:lnSpc>
              </a:pPr>
              <a:r>
                <a:rPr lang="en-US" altLang="zh-CN" sz="3200" b="1" dirty="0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FROM     agentorders</a:t>
              </a:r>
            </a:p>
            <a:p>
              <a:pPr lvl="2" indent="0" algn="l" eaLnBrk="1" hangingPunct="1">
                <a:lnSpc>
                  <a:spcPct val="110000"/>
                </a:lnSpc>
              </a:pPr>
              <a:r>
                <a:rPr lang="en-US" altLang="zh-CN" sz="3200" b="1" dirty="0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WHERE  acity = 'Toledo';</a:t>
              </a:r>
            </a:p>
          </p:txBody>
        </p:sp>
        <p:sp>
          <p:nvSpPr>
            <p:cNvPr id="46087" name="Rectangle 7"/>
            <p:cNvSpPr/>
            <p:nvPr/>
          </p:nvSpPr>
          <p:spPr>
            <a:xfrm>
              <a:off x="0" y="0"/>
              <a:ext cx="51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lstStyle/>
            <a:p>
              <a:pPr marL="342900" indent="-3429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q"/>
              </a:pPr>
              <a:r>
                <a:rPr lang="en-US" altLang="zh-CN" sz="2800" b="1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Example 7.2.2 Query on View</a:t>
              </a:r>
            </a:p>
          </p:txBody>
        </p:sp>
      </p:grpSp>
      <p:sp>
        <p:nvSpPr>
          <p:cNvPr id="46088" name="Text Box 4"/>
          <p:cNvSpPr txBox="1"/>
          <p:nvPr/>
        </p:nvSpPr>
        <p:spPr>
          <a:xfrm>
            <a:off x="0" y="798513"/>
            <a:ext cx="9144000" cy="3062287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CREATE VIEW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  agentorders (ordno, month, cid, aid,</a:t>
            </a:r>
          </a:p>
          <a:p>
            <a:pPr lvl="2" indent="0" algn="l" eaLnBrk="1" hangingPunct="1">
              <a:spcBef>
                <a:spcPts val="600"/>
              </a:spcBef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pid, qty, charge, aname, acity, percent)</a:t>
            </a:r>
          </a:p>
          <a:p>
            <a:pPr lvl="1" indent="0" algn="l" eaLnBrk="1" hangingPunct="1">
              <a:spcBef>
                <a:spcPts val="600"/>
              </a:spcBef>
            </a:pP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AS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 SELECT  o.ordno, o.month, o.cid, o.aid, o.pid,</a:t>
            </a:r>
          </a:p>
          <a:p>
            <a:pPr lvl="3" indent="0" algn="l" eaLnBrk="1" hangingPunct="1">
              <a:spcBef>
                <a:spcPts val="600"/>
              </a:spcBef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o.qty, o.dollars, a.aname, a.city, a.percent</a:t>
            </a:r>
          </a:p>
          <a:p>
            <a:pPr lvl="2" indent="0" algn="l" eaLnBrk="1" hangingPunct="1">
              <a:spcBef>
                <a:spcPts val="600"/>
              </a:spcBef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FROM  orders o, agents a</a:t>
            </a:r>
          </a:p>
          <a:p>
            <a:pPr lvl="2" indent="0" algn="l" eaLnBrk="1" hangingPunct="1">
              <a:spcBef>
                <a:spcPts val="600"/>
              </a:spcBef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WHERE  o.aid = a.aid;</a:t>
            </a:r>
          </a:p>
        </p:txBody>
      </p:sp>
      <p:sp>
        <p:nvSpPr>
          <p:cNvPr id="46089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日期占位符 3"/>
          <p:cNvSpPr txBox="1">
            <a:spLocks noGrp="1"/>
          </p:cNvSpPr>
          <p:nvPr/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BB962C8B-B14F-4D97-AF65-F5344CB8AC3E}" type="datetime1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7106" name="页脚占位符 4"/>
          <p:cNvSpPr txBox="1">
            <a:spLocks noGrp="1"/>
          </p:cNvSpPr>
          <p:nvPr/>
        </p:nvSpPr>
        <p:spPr>
          <a:xfrm>
            <a:off x="2590800" y="6553200"/>
            <a:ext cx="39624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Integrity,Views,Security,and Catalogs</a:t>
            </a:r>
            <a:endParaRPr lang="en-US" altLang="zh-CN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7107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44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7108" name="Rectangle 2"/>
          <p:cNvSpPr>
            <a:spLocks noGrp="1"/>
          </p:cNvSpPr>
          <p:nvPr>
            <p:ph type="title" idx="4294967295"/>
          </p:nvPr>
        </p:nvSpPr>
        <p:spPr>
          <a:ln/>
        </p:spPr>
        <p:txBody>
          <a:bodyPr wrap="square" anchor="ctr"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7.2  Creating Views</a:t>
            </a:r>
          </a:p>
        </p:txBody>
      </p:sp>
      <p:sp>
        <p:nvSpPr>
          <p:cNvPr id="47109" name="Rectangle 3"/>
          <p:cNvSpPr>
            <a:spLocks noGrp="1"/>
          </p:cNvSpPr>
          <p:nvPr>
            <p:ph type="body" idx="4294967295"/>
          </p:nvPr>
        </p:nvSpPr>
        <p:spPr>
          <a:xfrm>
            <a:off x="0" y="765175"/>
            <a:ext cx="9144000" cy="565150"/>
          </a:xfrm>
          <a:ln/>
        </p:spPr>
        <p:txBody>
          <a:bodyPr wrap="square" anchor="t"/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Example 7.2.2 </a:t>
            </a:r>
            <a:r>
              <a:rPr lang="en-US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(cont.) </a:t>
            </a:r>
            <a:r>
              <a:rPr lang="en-US" altLang="zh-CN" sz="2800" dirty="0">
                <a:ea typeface="宋体" panose="02010600030101010101" pitchFamily="2" charset="-122"/>
              </a:rPr>
              <a:t>Query Modification</a:t>
            </a:r>
          </a:p>
        </p:txBody>
      </p:sp>
      <p:sp>
        <p:nvSpPr>
          <p:cNvPr id="47110" name="Text Box 4"/>
          <p:cNvSpPr txBox="1"/>
          <p:nvPr/>
        </p:nvSpPr>
        <p:spPr>
          <a:xfrm>
            <a:off x="250825" y="1557338"/>
            <a:ext cx="8748713" cy="1716087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 anchor="t">
            <a:spAutoFit/>
          </a:bodyPr>
          <a:lstStyle/>
          <a:p>
            <a:pPr marL="742950" lvl="1" indent="-285750" algn="l" eaLnBrk="1" hangingPunct="1">
              <a:lnSpc>
                <a:spcPct val="110000"/>
              </a:lnSpc>
            </a:pPr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</a:rPr>
              <a:t>SELECT  sum (</a:t>
            </a:r>
            <a:r>
              <a:rPr lang="en-US" altLang="zh-CN" sz="3200" b="1" u="sng" dirty="0">
                <a:latin typeface="Arial" panose="020B0604020202020204" pitchFamily="34" charset="0"/>
                <a:ea typeface="宋体" panose="02010600030101010101" pitchFamily="2" charset="-122"/>
              </a:rPr>
              <a:t>charge</a:t>
            </a:r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</a:p>
          <a:p>
            <a:pPr marL="742950" lvl="1" indent="-285750" algn="l" eaLnBrk="1" hangingPunct="1">
              <a:lnSpc>
                <a:spcPct val="110000"/>
              </a:lnSpc>
            </a:pPr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</a:rPr>
              <a:t>FROM     </a:t>
            </a:r>
            <a:r>
              <a:rPr lang="en-US" altLang="zh-CN" sz="3200" b="1" u="sng" dirty="0">
                <a:latin typeface="Arial" panose="020B0604020202020204" pitchFamily="34" charset="0"/>
                <a:ea typeface="宋体" panose="02010600030101010101" pitchFamily="2" charset="-122"/>
              </a:rPr>
              <a:t>agentorders</a:t>
            </a:r>
          </a:p>
          <a:p>
            <a:pPr marL="742950" lvl="1" indent="-285750" algn="l" eaLnBrk="1" hangingPunct="1">
              <a:lnSpc>
                <a:spcPct val="110000"/>
              </a:lnSpc>
            </a:pPr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</a:rPr>
              <a:t>WHERE  </a:t>
            </a:r>
            <a:r>
              <a:rPr lang="en-US" altLang="zh-CN" sz="3200" b="1" u="sng" dirty="0">
                <a:latin typeface="Arial" panose="020B0604020202020204" pitchFamily="34" charset="0"/>
                <a:ea typeface="宋体" panose="02010600030101010101" pitchFamily="2" charset="-122"/>
              </a:rPr>
              <a:t>acity</a:t>
            </a:r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</a:rPr>
              <a:t> = 'Toledo';</a:t>
            </a:r>
          </a:p>
        </p:txBody>
      </p:sp>
      <p:sp>
        <p:nvSpPr>
          <p:cNvPr id="47112" name="Text Box 5"/>
          <p:cNvSpPr txBox="1"/>
          <p:nvPr/>
        </p:nvSpPr>
        <p:spPr>
          <a:xfrm>
            <a:off x="250825" y="4291013"/>
            <a:ext cx="8748713" cy="1717675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 anchor="t">
            <a:spAutoFit/>
          </a:bodyPr>
          <a:lstStyle/>
          <a:p>
            <a:pPr marL="742950" lvl="1" indent="-285750" algn="l" eaLnBrk="1" hangingPunct="1">
              <a:lnSpc>
                <a:spcPct val="110000"/>
              </a:lnSpc>
            </a:pPr>
            <a:r>
              <a:rPr lang="en-US" altLang="zh-CN" sz="3200" b="1" dirty="0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SELECT  sum(</a:t>
            </a:r>
            <a:r>
              <a:rPr lang="en-US" altLang="zh-CN" sz="3200" b="1" u="sng" dirty="0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o.dollars</a:t>
            </a:r>
            <a:r>
              <a:rPr lang="en-US" altLang="zh-CN" sz="3200" b="1" dirty="0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</a:p>
          <a:p>
            <a:pPr marL="742950" lvl="1" indent="-285750" algn="l" eaLnBrk="1" hangingPunct="1">
              <a:lnSpc>
                <a:spcPct val="110000"/>
              </a:lnSpc>
            </a:pPr>
            <a:r>
              <a:rPr lang="en-US" altLang="zh-CN" sz="3200" b="1" dirty="0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FROM     </a:t>
            </a:r>
            <a:r>
              <a:rPr lang="en-US" altLang="zh-CN" sz="3200" b="1" u="sng" dirty="0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orders o, agents a</a:t>
            </a:r>
          </a:p>
          <a:p>
            <a:pPr marL="742950" lvl="1" indent="-285750" algn="l" eaLnBrk="1" hangingPunct="1">
              <a:lnSpc>
                <a:spcPct val="110000"/>
              </a:lnSpc>
            </a:pPr>
            <a:r>
              <a:rPr lang="en-US" altLang="zh-CN" sz="3200" b="1" dirty="0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WHERE  </a:t>
            </a:r>
            <a:r>
              <a:rPr lang="en-US" altLang="zh-CN" sz="3200" b="1" u="sng" dirty="0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o.aid = a.aid and a.city</a:t>
            </a:r>
            <a:r>
              <a:rPr lang="en-US" altLang="zh-CN" sz="3200" b="1" dirty="0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= 'Toledo';</a:t>
            </a:r>
          </a:p>
        </p:txBody>
      </p:sp>
      <p:sp>
        <p:nvSpPr>
          <p:cNvPr id="47113" name="Freeform 6"/>
          <p:cNvSpPr/>
          <p:nvPr/>
        </p:nvSpPr>
        <p:spPr>
          <a:xfrm>
            <a:off x="4789488" y="1268413"/>
            <a:ext cx="1943100" cy="3022600"/>
          </a:xfrm>
          <a:custGeom>
            <a:avLst/>
            <a:gdLst/>
            <a:ahLst/>
            <a:cxnLst>
              <a:cxn ang="0">
                <a:pos x="0" y="749660412"/>
              </a:cxn>
              <a:cxn ang="0">
                <a:pos x="846772500" y="299864165"/>
              </a:cxn>
              <a:cxn ang="0">
                <a:pos x="2147483647" y="749660412"/>
              </a:cxn>
              <a:cxn ang="0">
                <a:pos x="483870000" y="2147483647"/>
              </a:cxn>
            </a:cxnLst>
            <a:rect l="0" t="0" r="0" b="0"/>
            <a:pathLst>
              <a:path w="1224" h="1536">
                <a:moveTo>
                  <a:pt x="0" y="240"/>
                </a:moveTo>
                <a:cubicBezTo>
                  <a:pt x="68" y="168"/>
                  <a:pt x="136" y="96"/>
                  <a:pt x="336" y="96"/>
                </a:cubicBezTo>
                <a:cubicBezTo>
                  <a:pt x="536" y="96"/>
                  <a:pt x="1224" y="0"/>
                  <a:pt x="1200" y="240"/>
                </a:cubicBezTo>
                <a:cubicBezTo>
                  <a:pt x="1176" y="480"/>
                  <a:pt x="376" y="1352"/>
                  <a:pt x="192" y="1536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arrow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114" name="Freeform 7"/>
          <p:cNvSpPr/>
          <p:nvPr/>
        </p:nvSpPr>
        <p:spPr>
          <a:xfrm>
            <a:off x="5076825" y="2205038"/>
            <a:ext cx="1778000" cy="2808287"/>
          </a:xfrm>
          <a:custGeom>
            <a:avLst/>
            <a:gdLst/>
            <a:ahLst/>
            <a:cxnLst>
              <a:cxn ang="0">
                <a:pos x="0" y="367145495"/>
              </a:cxn>
              <a:cxn ang="0">
                <a:pos x="2147483647" y="681841634"/>
              </a:cxn>
              <a:cxn ang="0">
                <a:pos x="967740000" y="2147483647"/>
              </a:cxn>
            </a:cxnLst>
            <a:rect l="0" t="0" r="0" b="0"/>
            <a:pathLst>
              <a:path w="1120" h="1360">
                <a:moveTo>
                  <a:pt x="0" y="112"/>
                </a:moveTo>
                <a:cubicBezTo>
                  <a:pt x="496" y="56"/>
                  <a:pt x="992" y="0"/>
                  <a:pt x="1056" y="208"/>
                </a:cubicBezTo>
                <a:cubicBezTo>
                  <a:pt x="1120" y="416"/>
                  <a:pt x="752" y="888"/>
                  <a:pt x="384" y="1360"/>
                </a:cubicBezTo>
              </a:path>
            </a:pathLst>
          </a:custGeom>
          <a:noFill/>
          <a:ln w="25400" cap="flat" cmpd="sng">
            <a:solidFill>
              <a:srgbClr val="FF00FF"/>
            </a:solidFill>
            <a:prstDash val="solid"/>
            <a:round/>
            <a:headEnd type="none" w="med" len="med"/>
            <a:tailEnd type="arrow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115" name="Freeform 8"/>
          <p:cNvSpPr/>
          <p:nvPr/>
        </p:nvSpPr>
        <p:spPr>
          <a:xfrm>
            <a:off x="1181100" y="3295650"/>
            <a:ext cx="2095500" cy="3562350"/>
          </a:xfrm>
          <a:custGeom>
            <a:avLst/>
            <a:gdLst/>
            <a:ahLst/>
            <a:cxnLst>
              <a:cxn ang="0">
                <a:pos x="2147483647" y="0"/>
              </a:cxn>
              <a:cxn ang="0">
                <a:pos x="2147483647" y="600647512"/>
              </a:cxn>
              <a:cxn ang="0">
                <a:pos x="302418750" y="1801942535"/>
              </a:cxn>
              <a:cxn ang="0">
                <a:pos x="665321250" y="2147483647"/>
              </a:cxn>
              <a:cxn ang="0">
                <a:pos x="2147483647" y="2147483647"/>
              </a:cxn>
            </a:cxnLst>
            <a:rect l="0" t="0" r="0" b="0"/>
            <a:pathLst>
              <a:path w="1320" h="1808">
                <a:moveTo>
                  <a:pt x="1320" y="0"/>
                </a:moveTo>
                <a:cubicBezTo>
                  <a:pt x="1252" y="48"/>
                  <a:pt x="1184" y="96"/>
                  <a:pt x="984" y="192"/>
                </a:cubicBezTo>
                <a:cubicBezTo>
                  <a:pt x="784" y="288"/>
                  <a:pt x="240" y="328"/>
                  <a:pt x="120" y="576"/>
                </a:cubicBezTo>
                <a:cubicBezTo>
                  <a:pt x="0" y="824"/>
                  <a:pt x="64" y="1552"/>
                  <a:pt x="264" y="1680"/>
                </a:cubicBezTo>
                <a:cubicBezTo>
                  <a:pt x="464" y="1808"/>
                  <a:pt x="892" y="1576"/>
                  <a:pt x="1320" y="1344"/>
                </a:cubicBezTo>
              </a:path>
            </a:pathLst>
          </a:custGeom>
          <a:noFill/>
          <a:ln w="25400" cap="flat" cmpd="sng">
            <a:solidFill>
              <a:schemeClr val="accent2"/>
            </a:solidFill>
            <a:prstDash val="solid"/>
            <a:round/>
            <a:headEnd type="none" w="med" len="med"/>
            <a:tailEnd type="arrow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7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" dur="500"/>
                                        <p:tgtEl>
                                          <p:spTgt spid="47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5" dur="500"/>
                                        <p:tgtEl>
                                          <p:spTgt spid="47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9" dur="500"/>
                                        <p:tgtEl>
                                          <p:spTgt spid="47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1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日期占位符 3"/>
          <p:cNvSpPr txBox="1">
            <a:spLocks noGrp="1"/>
          </p:cNvSpPr>
          <p:nvPr/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BB962C8B-B14F-4D97-AF65-F5344CB8AC3E}" type="datetime1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8130" name="页脚占位符 4"/>
          <p:cNvSpPr txBox="1">
            <a:spLocks noGrp="1"/>
          </p:cNvSpPr>
          <p:nvPr/>
        </p:nvSpPr>
        <p:spPr>
          <a:xfrm>
            <a:off x="2590800" y="6553200"/>
            <a:ext cx="39624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Integrity,Views,Security,and Catalogs</a:t>
            </a:r>
            <a:endParaRPr lang="en-US" altLang="zh-CN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8131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45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8133" name="Rectangle 2"/>
          <p:cNvSpPr/>
          <p:nvPr/>
        </p:nvSpPr>
        <p:spPr>
          <a:xfrm>
            <a:off x="0" y="2692400"/>
            <a:ext cx="9144000" cy="98107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Example: 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Agentorders view can be created by following statement.</a:t>
            </a:r>
          </a:p>
        </p:txBody>
      </p:sp>
      <p:pic>
        <p:nvPicPr>
          <p:cNvPr id="48134" name="Text Box 3"/>
          <p:cNvPicPr/>
          <p:nvPr/>
        </p:nvPicPr>
        <p:blipFill>
          <a:blip r:embed="rId2"/>
          <a:stretch>
            <a:fillRect/>
          </a:stretch>
        </p:blipFill>
        <p:spPr>
          <a:xfrm>
            <a:off x="-119062" y="3644900"/>
            <a:ext cx="9275762" cy="28844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ext Box 4"/>
          <p:cNvSpPr txBox="1"/>
          <p:nvPr/>
        </p:nvSpPr>
        <p:spPr>
          <a:xfrm>
            <a:off x="0" y="-23812"/>
            <a:ext cx="9144000" cy="2673350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>
            <a:spAutoFit/>
          </a:bodyPr>
          <a:lstStyle/>
          <a:p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CREATE VIEW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  agentorders (ordno, month, cid, aid,</a:t>
            </a:r>
          </a:p>
          <a:p>
            <a:pPr lvl="2" indent="0" algn="l" eaLnBrk="1" hangingPunct="1"/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pid, qty, charge, aname, acity, percent)</a:t>
            </a:r>
          </a:p>
          <a:p>
            <a:pPr lvl="1" indent="0" algn="l" eaLnBrk="1" hangingPunct="1"/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AS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 SELECT  o.ordno, o.month, o.cid, o.aid, o.pid,</a:t>
            </a:r>
          </a:p>
          <a:p>
            <a:pPr lvl="3" indent="0" algn="l" eaLnBrk="1" hangingPunct="1"/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o.qty, o.dollars, a.aname, a.city, a.percent</a:t>
            </a:r>
          </a:p>
          <a:p>
            <a:pPr lvl="2" indent="0" algn="l" eaLnBrk="1" hangingPunct="1"/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FROM  orders o, agents a</a:t>
            </a:r>
          </a:p>
          <a:p>
            <a:pPr lvl="2" indent="0" algn="l" eaLnBrk="1" hangingPunct="1"/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WHERE  o.aid = a.aid;</a:t>
            </a:r>
          </a:p>
        </p:txBody>
      </p:sp>
      <p:sp>
        <p:nvSpPr>
          <p:cNvPr id="48135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250"/>
                                        <p:tgtEl>
                                          <p:spTgt spid="48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250"/>
                                        <p:tgtEl>
                                          <p:spTgt spid="48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3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日期占位符 3"/>
          <p:cNvSpPr txBox="1">
            <a:spLocks noGrp="1"/>
          </p:cNvSpPr>
          <p:nvPr/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BB962C8B-B14F-4D97-AF65-F5344CB8AC3E}" type="datetime1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9154" name="页脚占位符 4"/>
          <p:cNvSpPr txBox="1">
            <a:spLocks noGrp="1"/>
          </p:cNvSpPr>
          <p:nvPr/>
        </p:nvSpPr>
        <p:spPr>
          <a:xfrm>
            <a:off x="2590800" y="6553200"/>
            <a:ext cx="39624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Integrity,Views,Security,and Catalogs</a:t>
            </a:r>
            <a:endParaRPr lang="en-US" altLang="zh-CN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9155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46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9156" name="Rectangle 3"/>
          <p:cNvSpPr>
            <a:spLocks noGrp="1"/>
          </p:cNvSpPr>
          <p:nvPr>
            <p:ph type="body" idx="4294967295"/>
          </p:nvPr>
        </p:nvSpPr>
        <p:spPr>
          <a:xfrm>
            <a:off x="14288" y="-23812"/>
            <a:ext cx="8229600" cy="635000"/>
          </a:xfrm>
          <a:ln/>
        </p:spPr>
        <p:txBody>
          <a:bodyPr wrap="square" anchor="t"/>
          <a:lstStyle/>
          <a:p>
            <a:pPr eaLnBrk="1" hangingPunct="1"/>
            <a:r>
              <a:rPr lang="en-US" altLang="zh-CN" sz="3200" dirty="0">
                <a:ea typeface="宋体" panose="02010600030101010101" pitchFamily="2" charset="-122"/>
              </a:rPr>
              <a:t>Example 7.2.3: </a:t>
            </a:r>
            <a:r>
              <a:rPr lang="en-US" altLang="zh-CN" sz="3200" u="sng" dirty="0">
                <a:ea typeface="宋体" panose="02010600030101010101" pitchFamily="2" charset="-122"/>
              </a:rPr>
              <a:t>illegal view definition</a:t>
            </a:r>
          </a:p>
        </p:txBody>
      </p:sp>
      <p:sp>
        <p:nvSpPr>
          <p:cNvPr id="49157" name="Text Box 4"/>
          <p:cNvSpPr txBox="1"/>
          <p:nvPr/>
        </p:nvSpPr>
        <p:spPr>
          <a:xfrm>
            <a:off x="0" y="692150"/>
            <a:ext cx="9144000" cy="2259013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CREATE VIEW</a:t>
            </a:r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</a:rPr>
              <a:t>  cacities  </a:t>
            </a:r>
            <a:r>
              <a:rPr lang="en-US" altLang="zh-CN" sz="3200" b="1" dirty="0">
                <a:solidFill>
                  <a:srgbClr val="2D2DB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AS</a:t>
            </a:r>
          </a:p>
          <a:p>
            <a:pPr lvl="1" indent="0" algn="l" eaLnBrk="1" hangingPunct="1">
              <a:lnSpc>
                <a:spcPct val="110000"/>
              </a:lnSpc>
            </a:pPr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</a:rPr>
              <a:t>    SELECT  c.city,  a.city</a:t>
            </a:r>
          </a:p>
          <a:p>
            <a:pPr lvl="2" indent="0" algn="l" eaLnBrk="1" hangingPunct="1">
              <a:lnSpc>
                <a:spcPct val="110000"/>
              </a:lnSpc>
            </a:pPr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</a:rPr>
              <a:t>FROM  customers c, agents a, orders o</a:t>
            </a:r>
          </a:p>
          <a:p>
            <a:pPr lvl="2" indent="0" algn="l" eaLnBrk="1" hangingPunct="1">
              <a:lnSpc>
                <a:spcPct val="110000"/>
              </a:lnSpc>
            </a:pPr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</a:rPr>
              <a:t>WHERE  c.cid = o.cid and a.aid = o.aid;</a:t>
            </a:r>
          </a:p>
        </p:txBody>
      </p:sp>
      <p:grpSp>
        <p:nvGrpSpPr>
          <p:cNvPr id="49159" name="组合 49158"/>
          <p:cNvGrpSpPr/>
          <p:nvPr/>
        </p:nvGrpSpPr>
        <p:grpSpPr>
          <a:xfrm>
            <a:off x="0" y="3240088"/>
            <a:ext cx="9144000" cy="2770187"/>
            <a:chOff x="0" y="0"/>
            <a:chExt cx="5184" cy="1745"/>
          </a:xfrm>
        </p:grpSpPr>
        <p:sp>
          <p:nvSpPr>
            <p:cNvPr id="2" name="Rectangle 6"/>
            <p:cNvSpPr/>
            <p:nvPr/>
          </p:nvSpPr>
          <p:spPr>
            <a:xfrm>
              <a:off x="0" y="0"/>
              <a:ext cx="51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lstStyle/>
            <a:p>
              <a:pPr marL="742950" lvl="1" indent="-285750" algn="l" eaLnBrk="1" hangingPunct="1">
                <a:buClr>
                  <a:schemeClr val="accent1"/>
                </a:buClr>
                <a:buFont typeface="Arial" panose="020B0604020202020204" pitchFamily="34" charset="0"/>
                <a:buChar char="–"/>
              </a:pPr>
              <a:r>
                <a:rPr lang="en-US" altLang="zh-CN" sz="3200" b="1" u="sng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legal view definition</a:t>
              </a:r>
            </a:p>
          </p:txBody>
        </p:sp>
        <p:sp>
          <p:nvSpPr>
            <p:cNvPr id="49160" name="Text Box 7"/>
            <p:cNvSpPr txBox="1"/>
            <p:nvPr/>
          </p:nvSpPr>
          <p:spPr>
            <a:xfrm>
              <a:off x="192" y="322"/>
              <a:ext cx="4944" cy="1423"/>
            </a:xfrm>
            <a:prstGeom prst="rect">
              <a:avLst/>
            </a:prstGeom>
            <a:solidFill>
              <a:schemeClr val="bg1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en-US" altLang="zh-CN" sz="3200" b="1" dirty="0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CREATE VIEW  cacities ( ccity, acity )  AS</a:t>
              </a:r>
            </a:p>
            <a:p>
              <a:pPr lvl="1" indent="0" algn="l" eaLnBrk="1" hangingPunct="1">
                <a:lnSpc>
                  <a:spcPct val="110000"/>
                </a:lnSpc>
              </a:pPr>
              <a:r>
                <a:rPr lang="en-US" altLang="zh-CN" sz="3200" b="1" dirty="0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SELECT  c.city,  a.city</a:t>
              </a:r>
            </a:p>
            <a:p>
              <a:pPr lvl="1" indent="0" algn="l" eaLnBrk="1" hangingPunct="1">
                <a:lnSpc>
                  <a:spcPct val="110000"/>
                </a:lnSpc>
              </a:pPr>
              <a:r>
                <a:rPr lang="en-US" altLang="zh-CN" sz="3200" b="1" dirty="0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FROM  customers c, agents a, orders o</a:t>
              </a:r>
            </a:p>
            <a:p>
              <a:pPr lvl="1" indent="0" algn="l" eaLnBrk="1" hangingPunct="1">
                <a:lnSpc>
                  <a:spcPct val="110000"/>
                </a:lnSpc>
              </a:pPr>
              <a:r>
                <a:rPr lang="en-US" altLang="zh-CN" sz="3200" b="1" dirty="0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WHERE  c.cid = o.cid and a.aid = o.aid;</a:t>
              </a:r>
            </a:p>
          </p:txBody>
        </p:sp>
      </p:grpSp>
      <p:sp>
        <p:nvSpPr>
          <p:cNvPr id="49161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9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日期占位符 3"/>
          <p:cNvSpPr txBox="1">
            <a:spLocks noGrp="1"/>
          </p:cNvSpPr>
          <p:nvPr/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BB962C8B-B14F-4D97-AF65-F5344CB8AC3E}" type="datetime1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50178" name="页脚占位符 4"/>
          <p:cNvSpPr txBox="1">
            <a:spLocks noGrp="1"/>
          </p:cNvSpPr>
          <p:nvPr/>
        </p:nvSpPr>
        <p:spPr>
          <a:xfrm>
            <a:off x="2590800" y="6553200"/>
            <a:ext cx="39624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Integrity,Views,Security,and Catalogs</a:t>
            </a:r>
            <a:endParaRPr lang="en-US" altLang="zh-CN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50179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47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50180" name="Rectangle 3"/>
          <p:cNvSpPr>
            <a:spLocks noGrp="1"/>
          </p:cNvSpPr>
          <p:nvPr>
            <p:ph type="body" idx="4294967295"/>
          </p:nvPr>
        </p:nvSpPr>
        <p:spPr>
          <a:xfrm>
            <a:off x="0" y="-23812"/>
            <a:ext cx="9144000" cy="5254625"/>
          </a:xfrm>
          <a:ln/>
        </p:spPr>
        <p:txBody>
          <a:bodyPr wrap="square" anchor="t"/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Exp 7.2.4 </a:t>
            </a:r>
            <a:r>
              <a:rPr lang="en-US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Create Views with ‘</a:t>
            </a:r>
            <a:r>
              <a:rPr lang="en-US" altLang="zh-CN" sz="2800" dirty="0">
                <a:ea typeface="宋体" panose="02010600030101010101" pitchFamily="2" charset="-122"/>
              </a:rPr>
              <a:t>WITH CHECK OPTION</a:t>
            </a:r>
            <a:r>
              <a:rPr lang="en-US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’</a:t>
            </a:r>
          </a:p>
          <a:p>
            <a:pPr eaLnBrk="1" hangingPunct="1">
              <a:buNone/>
            </a:pPr>
            <a:r>
              <a:rPr lang="en-US" altLang="zh-CN" sz="2800" dirty="0">
                <a:solidFill>
                  <a:srgbClr val="2D2DB9"/>
                </a:solidFill>
                <a:ea typeface="宋体" panose="02010600030101010101" pitchFamily="2" charset="-122"/>
              </a:rPr>
              <a:t>Assume: No CHECK clause on discnt of customers</a:t>
            </a:r>
          </a:p>
        </p:txBody>
      </p:sp>
      <p:sp>
        <p:nvSpPr>
          <p:cNvPr id="50181" name="Text Box 4"/>
          <p:cNvSpPr txBox="1"/>
          <p:nvPr/>
        </p:nvSpPr>
        <p:spPr>
          <a:xfrm>
            <a:off x="755650" y="1052513"/>
            <a:ext cx="7704138" cy="2800350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>
            <a:spAutoFit/>
          </a:bodyPr>
          <a:lstStyle/>
          <a:p>
            <a:pPr lvl="2" indent="0" algn="l" eaLnBrk="1" hangingPunct="1">
              <a:lnSpc>
                <a:spcPct val="110000"/>
              </a:lnSpc>
            </a:pPr>
            <a:r>
              <a:rPr lang="en-US" altLang="zh-CN" sz="32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CREATE VIEW</a:t>
            </a:r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</a:rPr>
              <a:t>  custs  </a:t>
            </a:r>
            <a:r>
              <a:rPr lang="en-US" altLang="zh-CN" sz="32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AS</a:t>
            </a:r>
          </a:p>
          <a:p>
            <a:pPr lvl="4" indent="0" algn="l" eaLnBrk="1" hangingPunct="1">
              <a:lnSpc>
                <a:spcPct val="110000"/>
              </a:lnSpc>
            </a:pPr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</a:rPr>
              <a:t> SELECT  *</a:t>
            </a:r>
          </a:p>
          <a:p>
            <a:pPr lvl="4" indent="0" algn="l" eaLnBrk="1" hangingPunct="1">
              <a:lnSpc>
                <a:spcPct val="110000"/>
              </a:lnSpc>
            </a:pPr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</a:rPr>
              <a:t> FROM  customers</a:t>
            </a:r>
          </a:p>
          <a:p>
            <a:pPr lvl="4" indent="0" algn="l" eaLnBrk="1" hangingPunct="1">
              <a:lnSpc>
                <a:spcPct val="110000"/>
              </a:lnSpc>
            </a:pPr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</a:rPr>
              <a:t> WHERE  discnt &lt;= 15.0</a:t>
            </a:r>
          </a:p>
          <a:p>
            <a:pPr lvl="4" indent="0" algn="l" eaLnBrk="1" hangingPunct="1">
              <a:lnSpc>
                <a:spcPct val="110000"/>
              </a:lnSpc>
            </a:pPr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</a:rPr>
              <a:t> WITH CHECK OPTION;</a:t>
            </a:r>
          </a:p>
        </p:txBody>
      </p:sp>
      <p:grpSp>
        <p:nvGrpSpPr>
          <p:cNvPr id="50183" name="组合 50182"/>
          <p:cNvGrpSpPr/>
          <p:nvPr/>
        </p:nvGrpSpPr>
        <p:grpSpPr>
          <a:xfrm>
            <a:off x="0" y="4076700"/>
            <a:ext cx="9144000" cy="2376488"/>
            <a:chOff x="0" y="0"/>
            <a:chExt cx="9144000" cy="2376264"/>
          </a:xfrm>
        </p:grpSpPr>
        <p:sp>
          <p:nvSpPr>
            <p:cNvPr id="2" name="Rectangle 6"/>
            <p:cNvSpPr/>
            <p:nvPr/>
          </p:nvSpPr>
          <p:spPr>
            <a:xfrm>
              <a:off x="0" y="0"/>
              <a:ext cx="9144000" cy="237626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q"/>
              </a:pPr>
              <a:r>
                <a:rPr lang="en-US" altLang="zh-CN" sz="2800" b="1" dirty="0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Now cannot insert/update a row into custs with discnt &gt; 15.0:</a:t>
              </a:r>
            </a:p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q"/>
              </a:pPr>
              <a:endPara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q"/>
              </a:pPr>
              <a:endPara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marL="1143000" lvl="2" indent="-228600" algn="l"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None/>
              </a:pPr>
              <a:r>
                <a:rPr lang="en-US" altLang="zh-CN" sz="2800" b="1" dirty="0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This insert will fails.</a:t>
              </a:r>
            </a:p>
          </p:txBody>
        </p:sp>
        <p:sp>
          <p:nvSpPr>
            <p:cNvPr id="50184" name="Text Box 7"/>
            <p:cNvSpPr txBox="1"/>
            <p:nvPr/>
          </p:nvSpPr>
          <p:spPr>
            <a:xfrm>
              <a:off x="251520" y="1017867"/>
              <a:ext cx="8748464" cy="566309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en-US" altLang="zh-CN" sz="2800" b="1" dirty="0">
                  <a:latin typeface="Arial" panose="020B0604020202020204" pitchFamily="34" charset="0"/>
                  <a:ea typeface="宋体" panose="02010600030101010101" pitchFamily="2" charset="-122"/>
                </a:rPr>
                <a:t>insert into custs values(‘c009’, ‘AM’, ‘Kyoto’, 16.0);</a:t>
              </a:r>
            </a:p>
          </p:txBody>
        </p:sp>
      </p:grpSp>
      <p:sp>
        <p:nvSpPr>
          <p:cNvPr id="50185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0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日期占位符 3"/>
          <p:cNvSpPr txBox="1">
            <a:spLocks noGrp="1"/>
          </p:cNvSpPr>
          <p:nvPr/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BB962C8B-B14F-4D97-AF65-F5344CB8AC3E}" type="datetime1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51202" name="页脚占位符 4"/>
          <p:cNvSpPr txBox="1">
            <a:spLocks noGrp="1"/>
          </p:cNvSpPr>
          <p:nvPr/>
        </p:nvSpPr>
        <p:spPr>
          <a:xfrm>
            <a:off x="2590800" y="6553200"/>
            <a:ext cx="39624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Integrity,Views,Security,and Catalogs</a:t>
            </a:r>
            <a:endParaRPr lang="en-US" altLang="zh-CN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51203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48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51204" name="Rectangle 3"/>
          <p:cNvSpPr>
            <a:spLocks noGrp="1"/>
          </p:cNvSpPr>
          <p:nvPr>
            <p:ph type="body" idx="4294967295"/>
          </p:nvPr>
        </p:nvSpPr>
        <p:spPr>
          <a:xfrm>
            <a:off x="323850" y="44450"/>
            <a:ext cx="8229600" cy="457200"/>
          </a:xfrm>
          <a:ln/>
        </p:spPr>
        <p:txBody>
          <a:bodyPr wrap="square" anchor="t"/>
          <a:lstStyle/>
          <a:p>
            <a:pPr eaLnBrk="1" hangingPunct="1"/>
            <a:r>
              <a:rPr lang="en-US" altLang="zh-CN" sz="2800" dirty="0">
                <a:solidFill>
                  <a:schemeClr val="accent2"/>
                </a:solidFill>
                <a:ea typeface="宋体" panose="02010600030101010101" pitchFamily="2" charset="-122"/>
              </a:rPr>
              <a:t>Consider the update:</a:t>
            </a:r>
          </a:p>
        </p:txBody>
      </p:sp>
      <p:sp>
        <p:nvSpPr>
          <p:cNvPr id="51205" name="Text Box 4"/>
          <p:cNvSpPr txBox="1"/>
          <p:nvPr/>
        </p:nvSpPr>
        <p:spPr>
          <a:xfrm>
            <a:off x="857250" y="558800"/>
            <a:ext cx="7974013" cy="566738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 anchor="t">
            <a:spAutoFit/>
          </a:bodyPr>
          <a:lstStyle/>
          <a:p>
            <a:pPr lvl="1" indent="0" algn="l" eaLnBrk="1" hangingPunct="1">
              <a:lnSpc>
                <a:spcPct val="110000"/>
              </a:lnSpc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update  custs  set  discnt = discnt + 4.0;</a:t>
            </a:r>
          </a:p>
        </p:txBody>
      </p:sp>
      <p:sp>
        <p:nvSpPr>
          <p:cNvPr id="51207" name="Rectangle 5"/>
          <p:cNvSpPr/>
          <p:nvPr/>
        </p:nvSpPr>
        <p:spPr>
          <a:xfrm>
            <a:off x="0" y="5300663"/>
            <a:ext cx="9144000" cy="955675"/>
          </a:xfrm>
          <a:prstGeom prst="rect">
            <a:avLst/>
          </a:prstGeom>
          <a:solidFill>
            <a:srgbClr val="CC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altLang="zh-CN" sz="2800" b="1" u="sng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Note, this insert and update statement can execute on the base table customers.</a:t>
            </a:r>
          </a:p>
        </p:txBody>
      </p:sp>
      <p:grpSp>
        <p:nvGrpSpPr>
          <p:cNvPr id="51208" name="组合 51207"/>
          <p:cNvGrpSpPr/>
          <p:nvPr/>
        </p:nvGrpSpPr>
        <p:grpSpPr>
          <a:xfrm>
            <a:off x="684213" y="2276475"/>
            <a:ext cx="7913687" cy="2857500"/>
            <a:chOff x="0" y="0"/>
            <a:chExt cx="6324601" cy="2480572"/>
          </a:xfrm>
        </p:grpSpPr>
        <p:sp>
          <p:nvSpPr>
            <p:cNvPr id="2" name="Rectangle 7"/>
            <p:cNvSpPr/>
            <p:nvPr/>
          </p:nvSpPr>
          <p:spPr>
            <a:xfrm>
              <a:off x="4684713" y="2069409"/>
              <a:ext cx="1639888" cy="41116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</a:pPr>
              <a:r>
                <a:rPr lang="en-US" altLang="zh-CN" sz="2800" b="1" dirty="0">
                  <a:solidFill>
                    <a:schemeClr val="accent2"/>
                  </a:solidFill>
                  <a:latin typeface="Arial Unicode MS" pitchFamily="2" charset="-122"/>
                  <a:ea typeface="宋体" panose="02010600030101010101" pitchFamily="2" charset="-122"/>
                </a:rPr>
                <a:t>0.00</a:t>
              </a:r>
            </a:p>
          </p:txBody>
        </p:sp>
        <p:sp>
          <p:nvSpPr>
            <p:cNvPr id="51209" name="Rectangle 8"/>
            <p:cNvSpPr/>
            <p:nvPr/>
          </p:nvSpPr>
          <p:spPr>
            <a:xfrm>
              <a:off x="3044825" y="2069409"/>
              <a:ext cx="1639888" cy="41116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</a:pPr>
              <a:r>
                <a:rPr lang="en-US" altLang="zh-CN" sz="2800" b="1" dirty="0">
                  <a:solidFill>
                    <a:schemeClr val="accent2"/>
                  </a:solidFill>
                  <a:latin typeface="Arial Unicode MS" pitchFamily="2" charset="-122"/>
                  <a:ea typeface="宋体" panose="02010600030101010101" pitchFamily="2" charset="-122"/>
                </a:rPr>
                <a:t>Kyoto</a:t>
              </a:r>
            </a:p>
          </p:txBody>
        </p:sp>
        <p:sp>
          <p:nvSpPr>
            <p:cNvPr id="51210" name="Rectangle 9"/>
            <p:cNvSpPr/>
            <p:nvPr/>
          </p:nvSpPr>
          <p:spPr>
            <a:xfrm>
              <a:off x="1171575" y="2069409"/>
              <a:ext cx="1873250" cy="41116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</a:pPr>
              <a:r>
                <a:rPr lang="en-US" altLang="zh-CN" sz="2800" b="1" dirty="0">
                  <a:solidFill>
                    <a:schemeClr val="accent2"/>
                  </a:solidFill>
                  <a:latin typeface="Arial Unicode MS" pitchFamily="2" charset="-122"/>
                  <a:ea typeface="宋体" panose="02010600030101010101" pitchFamily="2" charset="-122"/>
                </a:rPr>
                <a:t>ACME</a:t>
              </a:r>
            </a:p>
          </p:txBody>
        </p:sp>
        <p:sp>
          <p:nvSpPr>
            <p:cNvPr id="51211" name="Rectangle 10"/>
            <p:cNvSpPr/>
            <p:nvPr/>
          </p:nvSpPr>
          <p:spPr>
            <a:xfrm>
              <a:off x="0" y="2069409"/>
              <a:ext cx="1171575" cy="41116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</a:pPr>
              <a:r>
                <a:rPr lang="en-US" altLang="zh-CN" sz="2800" b="1" dirty="0">
                  <a:solidFill>
                    <a:schemeClr val="accent2"/>
                  </a:solidFill>
                  <a:latin typeface="Arial Unicode MS" pitchFamily="2" charset="-122"/>
                  <a:ea typeface="宋体" panose="02010600030101010101" pitchFamily="2" charset="-122"/>
                </a:rPr>
                <a:t>c006</a:t>
              </a:r>
            </a:p>
          </p:txBody>
        </p:sp>
        <p:sp>
          <p:nvSpPr>
            <p:cNvPr id="51212" name="Rectangle 11"/>
            <p:cNvSpPr/>
            <p:nvPr/>
          </p:nvSpPr>
          <p:spPr>
            <a:xfrm>
              <a:off x="4684713" y="1658246"/>
              <a:ext cx="1639888" cy="41116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</a:pPr>
              <a:r>
                <a:rPr lang="en-US" altLang="zh-CN" sz="2800" b="1" dirty="0">
                  <a:solidFill>
                    <a:schemeClr val="accent2"/>
                  </a:solidFill>
                  <a:latin typeface="Arial Unicode MS" pitchFamily="2" charset="-122"/>
                  <a:ea typeface="宋体" panose="02010600030101010101" pitchFamily="2" charset="-122"/>
                </a:rPr>
                <a:t>8.00</a:t>
              </a:r>
            </a:p>
          </p:txBody>
        </p:sp>
        <p:sp>
          <p:nvSpPr>
            <p:cNvPr id="51213" name="Rectangle 12"/>
            <p:cNvSpPr/>
            <p:nvPr/>
          </p:nvSpPr>
          <p:spPr>
            <a:xfrm>
              <a:off x="3044825" y="1658246"/>
              <a:ext cx="1639888" cy="41116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</a:pPr>
              <a:r>
                <a:rPr lang="en-US" altLang="zh-CN" sz="2800" b="1" dirty="0">
                  <a:solidFill>
                    <a:schemeClr val="accent2"/>
                  </a:solidFill>
                  <a:latin typeface="Arial Unicode MS" pitchFamily="2" charset="-122"/>
                  <a:ea typeface="宋体" panose="02010600030101010101" pitchFamily="2" charset="-122"/>
                </a:rPr>
                <a:t>Duluth</a:t>
              </a:r>
            </a:p>
          </p:txBody>
        </p:sp>
        <p:sp>
          <p:nvSpPr>
            <p:cNvPr id="51214" name="Rectangle 13"/>
            <p:cNvSpPr/>
            <p:nvPr/>
          </p:nvSpPr>
          <p:spPr>
            <a:xfrm>
              <a:off x="1171575" y="1658246"/>
              <a:ext cx="1873250" cy="41116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</a:pPr>
              <a:r>
                <a:rPr lang="en-US" altLang="zh-CN" sz="2800" b="1" dirty="0">
                  <a:solidFill>
                    <a:schemeClr val="accent2"/>
                  </a:solidFill>
                  <a:latin typeface="Arial Unicode MS" pitchFamily="2" charset="-122"/>
                  <a:ea typeface="宋体" panose="02010600030101010101" pitchFamily="2" charset="-122"/>
                </a:rPr>
                <a:t>ACME</a:t>
              </a:r>
            </a:p>
          </p:txBody>
        </p:sp>
        <p:sp>
          <p:nvSpPr>
            <p:cNvPr id="51215" name="Rectangle 14"/>
            <p:cNvSpPr/>
            <p:nvPr/>
          </p:nvSpPr>
          <p:spPr>
            <a:xfrm>
              <a:off x="0" y="1658246"/>
              <a:ext cx="1171575" cy="41116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</a:pPr>
              <a:r>
                <a:rPr lang="en-US" altLang="zh-CN" sz="2800" b="1" dirty="0">
                  <a:solidFill>
                    <a:schemeClr val="accent2"/>
                  </a:solidFill>
                  <a:latin typeface="Arial Unicode MS" pitchFamily="2" charset="-122"/>
                  <a:ea typeface="宋体" panose="02010600030101010101" pitchFamily="2" charset="-122"/>
                </a:rPr>
                <a:t>c004</a:t>
              </a:r>
            </a:p>
          </p:txBody>
        </p:sp>
        <p:sp>
          <p:nvSpPr>
            <p:cNvPr id="51216" name="Rectangle 15"/>
            <p:cNvSpPr/>
            <p:nvPr/>
          </p:nvSpPr>
          <p:spPr>
            <a:xfrm>
              <a:off x="4684713" y="1247084"/>
              <a:ext cx="1639888" cy="41116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</a:pPr>
              <a:r>
                <a:rPr lang="en-US" altLang="zh-CN" sz="2800" b="1" dirty="0">
                  <a:solidFill>
                    <a:schemeClr val="accent2"/>
                  </a:solidFill>
                  <a:latin typeface="Arial Unicode MS" pitchFamily="2" charset="-122"/>
                  <a:ea typeface="宋体" panose="02010600030101010101" pitchFamily="2" charset="-122"/>
                </a:rPr>
                <a:t>8.00</a:t>
              </a:r>
            </a:p>
          </p:txBody>
        </p:sp>
        <p:sp>
          <p:nvSpPr>
            <p:cNvPr id="51217" name="Rectangle 16"/>
            <p:cNvSpPr/>
            <p:nvPr/>
          </p:nvSpPr>
          <p:spPr>
            <a:xfrm>
              <a:off x="3044825" y="1247084"/>
              <a:ext cx="1639888" cy="41116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</a:pPr>
              <a:r>
                <a:rPr lang="en-US" altLang="zh-CN" sz="2800" b="1" dirty="0">
                  <a:solidFill>
                    <a:schemeClr val="accent2"/>
                  </a:solidFill>
                  <a:latin typeface="Arial Unicode MS" pitchFamily="2" charset="-122"/>
                  <a:ea typeface="宋体" panose="02010600030101010101" pitchFamily="2" charset="-122"/>
                </a:rPr>
                <a:t>Dallas</a:t>
              </a:r>
            </a:p>
          </p:txBody>
        </p:sp>
        <p:sp>
          <p:nvSpPr>
            <p:cNvPr id="51218" name="Rectangle 17"/>
            <p:cNvSpPr/>
            <p:nvPr/>
          </p:nvSpPr>
          <p:spPr>
            <a:xfrm>
              <a:off x="1171575" y="1247084"/>
              <a:ext cx="1873250" cy="41116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</a:pPr>
              <a:r>
                <a:rPr lang="en-US" altLang="zh-CN" sz="2800" b="1" dirty="0">
                  <a:solidFill>
                    <a:schemeClr val="accent2"/>
                  </a:solidFill>
                  <a:latin typeface="Arial Unicode MS" pitchFamily="2" charset="-122"/>
                  <a:ea typeface="宋体" panose="02010600030101010101" pitchFamily="2" charset="-122"/>
                </a:rPr>
                <a:t>Allied</a:t>
              </a:r>
            </a:p>
          </p:txBody>
        </p:sp>
        <p:sp>
          <p:nvSpPr>
            <p:cNvPr id="51219" name="Rectangle 18"/>
            <p:cNvSpPr/>
            <p:nvPr/>
          </p:nvSpPr>
          <p:spPr>
            <a:xfrm>
              <a:off x="0" y="1247084"/>
              <a:ext cx="1171575" cy="41116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</a:pPr>
              <a:r>
                <a:rPr lang="en-US" altLang="zh-CN" sz="2800" b="1" dirty="0">
                  <a:solidFill>
                    <a:schemeClr val="accent2"/>
                  </a:solidFill>
                  <a:latin typeface="Arial Unicode MS" pitchFamily="2" charset="-122"/>
                  <a:ea typeface="宋体" panose="02010600030101010101" pitchFamily="2" charset="-122"/>
                </a:rPr>
                <a:t>c003</a:t>
              </a:r>
            </a:p>
          </p:txBody>
        </p:sp>
        <p:sp>
          <p:nvSpPr>
            <p:cNvPr id="51220" name="Rectangle 19"/>
            <p:cNvSpPr/>
            <p:nvPr/>
          </p:nvSpPr>
          <p:spPr>
            <a:xfrm>
              <a:off x="4684713" y="834334"/>
              <a:ext cx="1639888" cy="412750"/>
            </a:xfrm>
            <a:prstGeom prst="rect">
              <a:avLst/>
            </a:prstGeom>
            <a:solidFill>
              <a:srgbClr val="CCFFFF"/>
            </a:solidFill>
            <a:ln w="9525">
              <a:noFill/>
            </a:ln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</a:pPr>
              <a:r>
                <a:rPr lang="en-US" altLang="zh-CN" sz="2800" b="1" dirty="0">
                  <a:solidFill>
                    <a:schemeClr val="accent2"/>
                  </a:solidFill>
                  <a:latin typeface="Arial Unicode MS" pitchFamily="2" charset="-122"/>
                  <a:ea typeface="宋体" panose="02010600030101010101" pitchFamily="2" charset="-122"/>
                </a:rPr>
                <a:t>12.00</a:t>
              </a:r>
            </a:p>
          </p:txBody>
        </p:sp>
        <p:sp>
          <p:nvSpPr>
            <p:cNvPr id="51221" name="Rectangle 20"/>
            <p:cNvSpPr/>
            <p:nvPr/>
          </p:nvSpPr>
          <p:spPr>
            <a:xfrm>
              <a:off x="3044825" y="834334"/>
              <a:ext cx="1639888" cy="412750"/>
            </a:xfrm>
            <a:prstGeom prst="rect">
              <a:avLst/>
            </a:prstGeom>
            <a:solidFill>
              <a:srgbClr val="CCFFFF"/>
            </a:solidFill>
            <a:ln w="9525">
              <a:noFill/>
            </a:ln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</a:pPr>
              <a:r>
                <a:rPr lang="en-US" altLang="zh-CN" sz="2800" b="1" dirty="0">
                  <a:solidFill>
                    <a:schemeClr val="accent2"/>
                  </a:solidFill>
                  <a:latin typeface="Arial Unicode MS" pitchFamily="2" charset="-122"/>
                  <a:ea typeface="宋体" panose="02010600030101010101" pitchFamily="2" charset="-122"/>
                </a:rPr>
                <a:t>Dallas</a:t>
              </a:r>
            </a:p>
          </p:txBody>
        </p:sp>
        <p:sp>
          <p:nvSpPr>
            <p:cNvPr id="51222" name="Rectangle 21"/>
            <p:cNvSpPr/>
            <p:nvPr/>
          </p:nvSpPr>
          <p:spPr>
            <a:xfrm>
              <a:off x="1171575" y="834334"/>
              <a:ext cx="1873250" cy="412750"/>
            </a:xfrm>
            <a:prstGeom prst="rect">
              <a:avLst/>
            </a:prstGeom>
            <a:solidFill>
              <a:srgbClr val="CCFFFF"/>
            </a:solidFill>
            <a:ln w="9525">
              <a:noFill/>
            </a:ln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</a:pPr>
              <a:r>
                <a:rPr lang="en-US" altLang="zh-CN" sz="2800" b="1" dirty="0">
                  <a:solidFill>
                    <a:schemeClr val="accent2"/>
                  </a:solidFill>
                  <a:latin typeface="Arial Unicode MS" pitchFamily="2" charset="-122"/>
                  <a:ea typeface="宋体" panose="02010600030101010101" pitchFamily="2" charset="-122"/>
                </a:rPr>
                <a:t>Basics</a:t>
              </a:r>
            </a:p>
          </p:txBody>
        </p:sp>
        <p:sp>
          <p:nvSpPr>
            <p:cNvPr id="51223" name="Rectangle 22"/>
            <p:cNvSpPr/>
            <p:nvPr/>
          </p:nvSpPr>
          <p:spPr>
            <a:xfrm>
              <a:off x="0" y="834334"/>
              <a:ext cx="1171575" cy="412750"/>
            </a:xfrm>
            <a:prstGeom prst="rect">
              <a:avLst/>
            </a:prstGeom>
            <a:solidFill>
              <a:srgbClr val="CCFFFF"/>
            </a:solidFill>
            <a:ln w="9525">
              <a:noFill/>
            </a:ln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</a:pPr>
              <a:r>
                <a:rPr lang="en-US" altLang="zh-CN" sz="2800" b="1" dirty="0">
                  <a:solidFill>
                    <a:schemeClr val="accent2"/>
                  </a:solidFill>
                  <a:latin typeface="Arial Unicode MS" pitchFamily="2" charset="-122"/>
                  <a:ea typeface="宋体" panose="02010600030101010101" pitchFamily="2" charset="-122"/>
                </a:rPr>
                <a:t>c002</a:t>
              </a:r>
            </a:p>
          </p:txBody>
        </p:sp>
        <p:sp>
          <p:nvSpPr>
            <p:cNvPr id="51224" name="Rectangle 23"/>
            <p:cNvSpPr/>
            <p:nvPr/>
          </p:nvSpPr>
          <p:spPr>
            <a:xfrm>
              <a:off x="4684713" y="423171"/>
              <a:ext cx="1639888" cy="41116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</a:pPr>
              <a:r>
                <a:rPr lang="en-US" altLang="zh-CN" sz="2800" b="1" dirty="0">
                  <a:solidFill>
                    <a:schemeClr val="accent2"/>
                  </a:solidFill>
                  <a:latin typeface="Arial Unicode MS" pitchFamily="2" charset="-122"/>
                  <a:ea typeface="宋体" panose="02010600030101010101" pitchFamily="2" charset="-122"/>
                </a:rPr>
                <a:t>10.00</a:t>
              </a:r>
            </a:p>
          </p:txBody>
        </p:sp>
        <p:sp>
          <p:nvSpPr>
            <p:cNvPr id="51225" name="Rectangle 24"/>
            <p:cNvSpPr/>
            <p:nvPr/>
          </p:nvSpPr>
          <p:spPr>
            <a:xfrm>
              <a:off x="3044825" y="423171"/>
              <a:ext cx="1639888" cy="41116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</a:pPr>
              <a:r>
                <a:rPr lang="en-US" altLang="zh-CN" sz="2800" b="1" dirty="0">
                  <a:solidFill>
                    <a:schemeClr val="accent2"/>
                  </a:solidFill>
                  <a:latin typeface="Arial Unicode MS" pitchFamily="2" charset="-122"/>
                  <a:ea typeface="宋体" panose="02010600030101010101" pitchFamily="2" charset="-122"/>
                </a:rPr>
                <a:t>Duluth</a:t>
              </a:r>
            </a:p>
          </p:txBody>
        </p:sp>
        <p:sp>
          <p:nvSpPr>
            <p:cNvPr id="51226" name="Rectangle 25"/>
            <p:cNvSpPr/>
            <p:nvPr/>
          </p:nvSpPr>
          <p:spPr>
            <a:xfrm>
              <a:off x="1171575" y="423171"/>
              <a:ext cx="1873250" cy="41116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</a:pPr>
              <a:r>
                <a:rPr lang="en-US" altLang="zh-CN" sz="2800" b="1" dirty="0">
                  <a:solidFill>
                    <a:schemeClr val="accent2"/>
                  </a:solidFill>
                  <a:latin typeface="Arial Unicode MS" pitchFamily="2" charset="-122"/>
                  <a:ea typeface="宋体" panose="02010600030101010101" pitchFamily="2" charset="-122"/>
                </a:rPr>
                <a:t>TipTop</a:t>
              </a:r>
            </a:p>
          </p:txBody>
        </p:sp>
        <p:sp>
          <p:nvSpPr>
            <p:cNvPr id="51227" name="Rectangle 26"/>
            <p:cNvSpPr/>
            <p:nvPr/>
          </p:nvSpPr>
          <p:spPr>
            <a:xfrm>
              <a:off x="0" y="423171"/>
              <a:ext cx="1171575" cy="41116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</a:pPr>
              <a:r>
                <a:rPr lang="en-US" altLang="zh-CN" sz="2800" b="1" dirty="0">
                  <a:solidFill>
                    <a:schemeClr val="accent2"/>
                  </a:solidFill>
                  <a:latin typeface="Arial Unicode MS" pitchFamily="2" charset="-122"/>
                  <a:ea typeface="宋体" panose="02010600030101010101" pitchFamily="2" charset="-122"/>
                </a:rPr>
                <a:t>c001</a:t>
              </a:r>
            </a:p>
          </p:txBody>
        </p:sp>
        <p:sp>
          <p:nvSpPr>
            <p:cNvPr id="51228" name="Rectangle 27"/>
            <p:cNvSpPr/>
            <p:nvPr/>
          </p:nvSpPr>
          <p:spPr>
            <a:xfrm>
              <a:off x="4684713" y="27884"/>
              <a:ext cx="1639888" cy="395288"/>
            </a:xfrm>
            <a:prstGeom prst="rect">
              <a:avLst/>
            </a:prstGeom>
            <a:solidFill>
              <a:srgbClr val="DDDDDD"/>
            </a:solidFill>
            <a:ln w="9525">
              <a:noFill/>
            </a:ln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</a:pPr>
              <a:r>
                <a:rPr lang="en-US" altLang="zh-CN" sz="2800" b="1" dirty="0">
                  <a:solidFill>
                    <a:srgbClr val="FF0000"/>
                  </a:solidFill>
                  <a:latin typeface="Arial Unicode MS" pitchFamily="2" charset="-122"/>
                  <a:ea typeface="宋体" panose="02010600030101010101" pitchFamily="2" charset="-122"/>
                </a:rPr>
                <a:t>discnt</a:t>
              </a:r>
            </a:p>
          </p:txBody>
        </p:sp>
        <p:sp>
          <p:nvSpPr>
            <p:cNvPr id="51229" name="Rectangle 28"/>
            <p:cNvSpPr/>
            <p:nvPr/>
          </p:nvSpPr>
          <p:spPr>
            <a:xfrm>
              <a:off x="3044825" y="27884"/>
              <a:ext cx="1639888" cy="395288"/>
            </a:xfrm>
            <a:prstGeom prst="rect">
              <a:avLst/>
            </a:prstGeom>
            <a:solidFill>
              <a:srgbClr val="DDDDDD"/>
            </a:solidFill>
            <a:ln w="9525">
              <a:noFill/>
            </a:ln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</a:pPr>
              <a:r>
                <a:rPr lang="en-US" altLang="zh-CN" sz="2800" b="1" dirty="0">
                  <a:solidFill>
                    <a:srgbClr val="FF0000"/>
                  </a:solidFill>
                  <a:latin typeface="Arial Unicode MS" pitchFamily="2" charset="-122"/>
                  <a:ea typeface="宋体" panose="02010600030101010101" pitchFamily="2" charset="-122"/>
                </a:rPr>
                <a:t>city</a:t>
              </a:r>
            </a:p>
          </p:txBody>
        </p:sp>
        <p:sp>
          <p:nvSpPr>
            <p:cNvPr id="51230" name="Rectangle 29"/>
            <p:cNvSpPr/>
            <p:nvPr/>
          </p:nvSpPr>
          <p:spPr>
            <a:xfrm>
              <a:off x="1171575" y="27884"/>
              <a:ext cx="1873250" cy="395288"/>
            </a:xfrm>
            <a:prstGeom prst="rect">
              <a:avLst/>
            </a:prstGeom>
            <a:solidFill>
              <a:srgbClr val="DDDDDD"/>
            </a:solidFill>
            <a:ln w="9525">
              <a:noFill/>
            </a:ln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</a:pPr>
              <a:r>
                <a:rPr lang="en-US" altLang="zh-CN" sz="2800" b="1" dirty="0">
                  <a:solidFill>
                    <a:srgbClr val="FF0000"/>
                  </a:solidFill>
                  <a:latin typeface="Arial Unicode MS" pitchFamily="2" charset="-122"/>
                  <a:ea typeface="宋体" panose="02010600030101010101" pitchFamily="2" charset="-122"/>
                </a:rPr>
                <a:t>cname</a:t>
              </a:r>
            </a:p>
          </p:txBody>
        </p:sp>
        <p:sp>
          <p:nvSpPr>
            <p:cNvPr id="51231" name="Rectangle 30"/>
            <p:cNvSpPr/>
            <p:nvPr/>
          </p:nvSpPr>
          <p:spPr>
            <a:xfrm>
              <a:off x="0" y="27884"/>
              <a:ext cx="1171575" cy="395288"/>
            </a:xfrm>
            <a:prstGeom prst="rect">
              <a:avLst/>
            </a:prstGeom>
            <a:solidFill>
              <a:srgbClr val="DDDDDD"/>
            </a:solidFill>
            <a:ln w="9525">
              <a:noFill/>
            </a:ln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</a:pPr>
              <a:r>
                <a:rPr lang="en-US" altLang="zh-CN" sz="2800" b="1" u="sng" dirty="0">
                  <a:solidFill>
                    <a:srgbClr val="FF0000"/>
                  </a:solidFill>
                  <a:latin typeface="Arial Unicode MS" pitchFamily="2" charset="-122"/>
                  <a:ea typeface="宋体" panose="02010600030101010101" pitchFamily="2" charset="-122"/>
                </a:rPr>
                <a:t>cid</a:t>
              </a:r>
            </a:p>
          </p:txBody>
        </p:sp>
        <p:sp>
          <p:nvSpPr>
            <p:cNvPr id="51232" name="Line 31"/>
            <p:cNvSpPr/>
            <p:nvPr/>
          </p:nvSpPr>
          <p:spPr>
            <a:xfrm>
              <a:off x="0" y="0"/>
              <a:ext cx="6324600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Times New Roman" panose="02020603050405020304" pitchFamily="2" charset="0"/>
              </a:endParaRPr>
            </a:p>
          </p:txBody>
        </p:sp>
        <p:sp>
          <p:nvSpPr>
            <p:cNvPr id="51233" name="Line 32"/>
            <p:cNvSpPr/>
            <p:nvPr/>
          </p:nvSpPr>
          <p:spPr>
            <a:xfrm>
              <a:off x="0" y="423171"/>
              <a:ext cx="632460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Times New Roman" panose="02020603050405020304" pitchFamily="2" charset="0"/>
              </a:endParaRPr>
            </a:p>
          </p:txBody>
        </p:sp>
        <p:sp>
          <p:nvSpPr>
            <p:cNvPr id="51234" name="Line 33"/>
            <p:cNvSpPr/>
            <p:nvPr/>
          </p:nvSpPr>
          <p:spPr>
            <a:xfrm>
              <a:off x="0" y="834334"/>
              <a:ext cx="632460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Times New Roman" panose="02020603050405020304" pitchFamily="2" charset="0"/>
              </a:endParaRPr>
            </a:p>
          </p:txBody>
        </p:sp>
        <p:sp>
          <p:nvSpPr>
            <p:cNvPr id="51235" name="Line 34"/>
            <p:cNvSpPr/>
            <p:nvPr/>
          </p:nvSpPr>
          <p:spPr>
            <a:xfrm>
              <a:off x="0" y="1247084"/>
              <a:ext cx="632460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Times New Roman" panose="02020603050405020304" pitchFamily="2" charset="0"/>
              </a:endParaRPr>
            </a:p>
          </p:txBody>
        </p:sp>
        <p:sp>
          <p:nvSpPr>
            <p:cNvPr id="51236" name="Line 35"/>
            <p:cNvSpPr/>
            <p:nvPr/>
          </p:nvSpPr>
          <p:spPr>
            <a:xfrm>
              <a:off x="0" y="1658246"/>
              <a:ext cx="632460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Times New Roman" panose="02020603050405020304" pitchFamily="2" charset="0"/>
              </a:endParaRPr>
            </a:p>
          </p:txBody>
        </p:sp>
        <p:sp>
          <p:nvSpPr>
            <p:cNvPr id="51237" name="Line 36"/>
            <p:cNvSpPr/>
            <p:nvPr/>
          </p:nvSpPr>
          <p:spPr>
            <a:xfrm>
              <a:off x="0" y="2480571"/>
              <a:ext cx="6324600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Times New Roman" panose="02020603050405020304" pitchFamily="2" charset="0"/>
              </a:endParaRPr>
            </a:p>
          </p:txBody>
        </p:sp>
        <p:sp>
          <p:nvSpPr>
            <p:cNvPr id="51238" name="Line 37"/>
            <p:cNvSpPr/>
            <p:nvPr/>
          </p:nvSpPr>
          <p:spPr>
            <a:xfrm>
              <a:off x="0" y="27884"/>
              <a:ext cx="0" cy="2452688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Times New Roman" panose="02020603050405020304" pitchFamily="2" charset="0"/>
              </a:endParaRPr>
            </a:p>
          </p:txBody>
        </p:sp>
        <p:sp>
          <p:nvSpPr>
            <p:cNvPr id="51239" name="Line 38"/>
            <p:cNvSpPr/>
            <p:nvPr/>
          </p:nvSpPr>
          <p:spPr>
            <a:xfrm>
              <a:off x="1171575" y="27884"/>
              <a:ext cx="0" cy="245268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Times New Roman" panose="02020603050405020304" pitchFamily="2" charset="0"/>
              </a:endParaRPr>
            </a:p>
          </p:txBody>
        </p:sp>
        <p:sp>
          <p:nvSpPr>
            <p:cNvPr id="51240" name="Line 39"/>
            <p:cNvSpPr/>
            <p:nvPr/>
          </p:nvSpPr>
          <p:spPr>
            <a:xfrm>
              <a:off x="3044825" y="27884"/>
              <a:ext cx="0" cy="245268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Times New Roman" panose="02020603050405020304" pitchFamily="2" charset="0"/>
              </a:endParaRPr>
            </a:p>
          </p:txBody>
        </p:sp>
        <p:sp>
          <p:nvSpPr>
            <p:cNvPr id="51241" name="Line 40"/>
            <p:cNvSpPr/>
            <p:nvPr/>
          </p:nvSpPr>
          <p:spPr>
            <a:xfrm>
              <a:off x="4684713" y="27884"/>
              <a:ext cx="0" cy="245268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Times New Roman" panose="02020603050405020304" pitchFamily="2" charset="0"/>
              </a:endParaRPr>
            </a:p>
          </p:txBody>
        </p:sp>
        <p:sp>
          <p:nvSpPr>
            <p:cNvPr id="51242" name="Line 41"/>
            <p:cNvSpPr/>
            <p:nvPr/>
          </p:nvSpPr>
          <p:spPr>
            <a:xfrm>
              <a:off x="6324600" y="27884"/>
              <a:ext cx="0" cy="2452688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Times New Roman" panose="02020603050405020304" pitchFamily="2" charset="0"/>
              </a:endParaRPr>
            </a:p>
          </p:txBody>
        </p:sp>
        <p:sp>
          <p:nvSpPr>
            <p:cNvPr id="51243" name="Line 42"/>
            <p:cNvSpPr/>
            <p:nvPr/>
          </p:nvSpPr>
          <p:spPr>
            <a:xfrm>
              <a:off x="0" y="2069409"/>
              <a:ext cx="632460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Times New Roman" panose="02020603050405020304" pitchFamily="2" charset="0"/>
              </a:endParaRPr>
            </a:p>
          </p:txBody>
        </p:sp>
      </p:grpSp>
      <p:sp>
        <p:nvSpPr>
          <p:cNvPr id="51245" name="Rectangle 43"/>
          <p:cNvSpPr/>
          <p:nvPr/>
        </p:nvSpPr>
        <p:spPr>
          <a:xfrm>
            <a:off x="0" y="1268413"/>
            <a:ext cx="9144000" cy="982662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742950" lvl="1" indent="-285750" algn="l" eaLnBrk="1" hangingPunct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This update fails for customer c002 on the basis of the values of Figure 2.2</a:t>
            </a:r>
          </a:p>
        </p:txBody>
      </p:sp>
      <p:sp>
        <p:nvSpPr>
          <p:cNvPr id="3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1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1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1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7" grpId="0" animBg="1"/>
      <p:bldP spid="5124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日期占位符 3"/>
          <p:cNvSpPr txBox="1">
            <a:spLocks noGrp="1"/>
          </p:cNvSpPr>
          <p:nvPr/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BB962C8B-B14F-4D97-AF65-F5344CB8AC3E}" type="datetime1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52226" name="页脚占位符 4"/>
          <p:cNvSpPr txBox="1">
            <a:spLocks noGrp="1"/>
          </p:cNvSpPr>
          <p:nvPr/>
        </p:nvSpPr>
        <p:spPr>
          <a:xfrm>
            <a:off x="2590800" y="6553200"/>
            <a:ext cx="39624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Integrity,Views,Security,and Catalogs</a:t>
            </a:r>
            <a:endParaRPr lang="en-US" altLang="zh-CN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52227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49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52228" name="Rectangle 2"/>
          <p:cNvSpPr>
            <a:spLocks noGrp="1"/>
          </p:cNvSpPr>
          <p:nvPr>
            <p:ph type="title" idx="4294967295"/>
          </p:nvPr>
        </p:nvSpPr>
        <p:spPr>
          <a:ln/>
        </p:spPr>
        <p:txBody>
          <a:bodyPr wrap="square" anchor="ctr"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7.2  Creating Views</a:t>
            </a:r>
          </a:p>
        </p:txBody>
      </p:sp>
      <p:sp>
        <p:nvSpPr>
          <p:cNvPr id="52229" name="Rectangle 3"/>
          <p:cNvSpPr>
            <a:spLocks noGrp="1"/>
          </p:cNvSpPr>
          <p:nvPr>
            <p:ph type="body" idx="4294967295"/>
          </p:nvPr>
        </p:nvSpPr>
        <p:spPr>
          <a:ln/>
        </p:spPr>
        <p:txBody>
          <a:bodyPr wrap="square" anchor="t"/>
          <a:lstStyle/>
          <a:p>
            <a:pPr eaLnBrk="1" hangingPunct="1"/>
            <a:r>
              <a:rPr lang="en-US" altLang="zh-CN" sz="3200" dirty="0">
                <a:ea typeface="宋体" panose="02010600030101010101" pitchFamily="2" charset="-122"/>
              </a:rPr>
              <a:t>Example 7.2.5  Nested Views</a:t>
            </a:r>
          </a:p>
        </p:txBody>
      </p:sp>
      <p:sp>
        <p:nvSpPr>
          <p:cNvPr id="52230" name="Text Box 4"/>
          <p:cNvSpPr txBox="1"/>
          <p:nvPr/>
        </p:nvSpPr>
        <p:spPr>
          <a:xfrm>
            <a:off x="323850" y="1647825"/>
            <a:ext cx="8820150" cy="4013200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 anchor="t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CREATE VIEW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  acorders (ordno, month, cid, aid,</a:t>
            </a:r>
          </a:p>
          <a:p>
            <a:pPr lvl="2" indent="0" algn="l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pid, qty, dollars, aname, cname)</a:t>
            </a:r>
          </a:p>
          <a:p>
            <a:pPr lvl="1" indent="0" algn="l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AS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 SELECT  ao.ordno, ao.month, ao.cid, ao.aid,</a:t>
            </a:r>
          </a:p>
          <a:p>
            <a:pPr lvl="3" indent="0" algn="l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ao.pid, ao.qty, ao.charge, ao.aname, c.cname</a:t>
            </a:r>
          </a:p>
          <a:p>
            <a:pPr lvl="2" indent="0" algn="l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FROM  </a:t>
            </a:r>
            <a:r>
              <a:rPr lang="en-US" altLang="zh-CN" sz="2800" b="1" u="sng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agentorders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  ao,  customers  c</a:t>
            </a:r>
          </a:p>
          <a:p>
            <a:pPr lvl="2" indent="0" algn="l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WHERE  ao.cid = c.cid;</a:t>
            </a:r>
          </a:p>
        </p:txBody>
      </p:sp>
      <p:sp>
        <p:nvSpPr>
          <p:cNvPr id="52231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日期占位符 3"/>
          <p:cNvSpPr txBox="1">
            <a:spLocks noGrp="1"/>
          </p:cNvSpPr>
          <p:nvPr/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BB962C8B-B14F-4D97-AF65-F5344CB8AC3E}" type="datetime1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53250" name="页脚占位符 4"/>
          <p:cNvSpPr txBox="1">
            <a:spLocks noGrp="1"/>
          </p:cNvSpPr>
          <p:nvPr/>
        </p:nvSpPr>
        <p:spPr>
          <a:xfrm>
            <a:off x="2590800" y="6553200"/>
            <a:ext cx="39624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Integrity,Views,Security,and Catalogs</a:t>
            </a:r>
            <a:endParaRPr lang="en-US" altLang="zh-CN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53251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50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53252" name="Rectangle 2"/>
          <p:cNvSpPr>
            <a:spLocks noGrp="1"/>
          </p:cNvSpPr>
          <p:nvPr>
            <p:ph type="title" idx="4294967295"/>
          </p:nvPr>
        </p:nvSpPr>
        <p:spPr>
          <a:ln/>
        </p:spPr>
        <p:txBody>
          <a:bodyPr wrap="square" anchor="ctr"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7.2  Creating Views</a:t>
            </a:r>
          </a:p>
        </p:txBody>
      </p:sp>
      <p:sp>
        <p:nvSpPr>
          <p:cNvPr id="53254" name="Rectangle 3"/>
          <p:cNvSpPr>
            <a:spLocks noGrp="1"/>
          </p:cNvSpPr>
          <p:nvPr>
            <p:ph type="body" idx="4294967295"/>
          </p:nvPr>
        </p:nvSpPr>
        <p:spPr>
          <a:xfrm>
            <a:off x="468313" y="765175"/>
            <a:ext cx="8229600" cy="5543550"/>
          </a:xfrm>
          <a:ln/>
        </p:spPr>
        <p:txBody>
          <a:bodyPr wrap="square" anchor="t"/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Listing Defined Views</a:t>
            </a:r>
          </a:p>
          <a:p>
            <a:pPr lvl="1" eaLnBrk="1" hangingPunct="1"/>
            <a:r>
              <a:rPr lang="en-US" altLang="zh-CN" sz="2800" dirty="0">
                <a:ea typeface="宋体" panose="02010600030101010101" pitchFamily="2" charset="-122"/>
              </a:rPr>
              <a:t>In ORACLE</a:t>
            </a:r>
          </a:p>
          <a:p>
            <a:pPr lvl="2" eaLnBrk="1" hangingPunct="1">
              <a:buNone/>
            </a:pPr>
            <a:r>
              <a:rPr lang="en-US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select</a:t>
            </a:r>
            <a:r>
              <a:rPr lang="en-US" altLang="zh-CN" sz="2800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chemeClr val="accent2"/>
                </a:solidFill>
                <a:ea typeface="宋体" panose="02010600030101010101" pitchFamily="2" charset="-122"/>
              </a:rPr>
              <a:t>view_name</a:t>
            </a:r>
            <a:r>
              <a:rPr lang="en-US" altLang="zh-CN" sz="2800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from</a:t>
            </a:r>
            <a:r>
              <a:rPr lang="en-US" altLang="zh-CN" sz="2800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user_views</a:t>
            </a:r>
            <a:r>
              <a:rPr lang="en-US" altLang="zh-CN" sz="2800" dirty="0">
                <a:ea typeface="宋体" panose="02010600030101010101" pitchFamily="2" charset="-122"/>
              </a:rPr>
              <a:t>;</a:t>
            </a:r>
          </a:p>
          <a:p>
            <a:pPr lvl="2" eaLnBrk="1" hangingPunct="1">
              <a:buNone/>
            </a:pPr>
            <a:r>
              <a:rPr lang="en-US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DESCRIBE</a:t>
            </a:r>
            <a:r>
              <a:rPr lang="en-US" altLang="zh-CN" sz="2800" dirty="0">
                <a:ea typeface="宋体" panose="02010600030101010101" pitchFamily="2" charset="-122"/>
              </a:rPr>
              <a:t>  </a:t>
            </a:r>
            <a:r>
              <a:rPr lang="en-US" altLang="zh-CN" sz="2800" dirty="0">
                <a:solidFill>
                  <a:srgbClr val="FF0066"/>
                </a:solidFill>
                <a:ea typeface="宋体" panose="02010600030101010101" pitchFamily="2" charset="-122"/>
              </a:rPr>
              <a:t>{</a:t>
            </a:r>
            <a:r>
              <a:rPr lang="en-US" altLang="zh-CN" sz="2800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chemeClr val="accent2"/>
                </a:solidFill>
                <a:ea typeface="宋体" panose="02010600030101010101" pitchFamily="2" charset="-122"/>
              </a:rPr>
              <a:t>view_name</a:t>
            </a:r>
            <a:r>
              <a:rPr lang="en-US" altLang="zh-CN" sz="2800" dirty="0">
                <a:solidFill>
                  <a:srgbClr val="FF0066"/>
                </a:solidFill>
                <a:ea typeface="宋体" panose="02010600030101010101" pitchFamily="2" charset="-122"/>
              </a:rPr>
              <a:t> | </a:t>
            </a:r>
            <a:r>
              <a:rPr lang="en-US" altLang="zh-CN" sz="2800" dirty="0">
                <a:solidFill>
                  <a:schemeClr val="accent2"/>
                </a:solidFill>
                <a:ea typeface="宋体" panose="02010600030101010101" pitchFamily="2" charset="-122"/>
              </a:rPr>
              <a:t>table_name</a:t>
            </a:r>
            <a:r>
              <a:rPr lang="en-US" altLang="zh-CN" sz="2800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FF0066"/>
                </a:solidFill>
                <a:ea typeface="宋体" panose="02010600030101010101" pitchFamily="2" charset="-122"/>
              </a:rPr>
              <a:t>}</a:t>
            </a:r>
            <a:r>
              <a:rPr lang="en-US" altLang="zh-CN" sz="2800" dirty="0">
                <a:ea typeface="宋体" panose="02010600030101010101" pitchFamily="2" charset="-122"/>
              </a:rPr>
              <a:t>;</a:t>
            </a:r>
          </a:p>
          <a:p>
            <a:pPr eaLnBrk="1" hangingPunct="1"/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Dropping Tables and Views</a:t>
            </a:r>
          </a:p>
          <a:p>
            <a:pPr eaLnBrk="1" hangingPunct="1"/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 dirty="0">
                <a:ea typeface="宋体" panose="02010600030101010101" pitchFamily="2" charset="-122"/>
              </a:rPr>
              <a:t>When a view table is dropped, no rows are dropped.</a:t>
            </a:r>
          </a:p>
        </p:txBody>
      </p:sp>
      <p:sp>
        <p:nvSpPr>
          <p:cNvPr id="53255" name="Text Box 4"/>
          <p:cNvSpPr txBox="1"/>
          <p:nvPr/>
        </p:nvSpPr>
        <p:spPr>
          <a:xfrm>
            <a:off x="468313" y="3933825"/>
            <a:ext cx="8513762" cy="1225550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DROP 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{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 TABLE 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table_name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|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 VIEW 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view_name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}</a:t>
            </a:r>
          </a:p>
          <a:p>
            <a:pPr lvl="2" indent="0" algn="l" eaLnBrk="1" hangingPunct="1">
              <a:lnSpc>
                <a:spcPct val="130000"/>
              </a:lnSpc>
            </a:pP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{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 CASCADE 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|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 RESTRICT 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}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;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32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32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日期占位符 3"/>
          <p:cNvSpPr txBox="1">
            <a:spLocks noGrp="1"/>
          </p:cNvSpPr>
          <p:nvPr/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BB962C8B-B14F-4D97-AF65-F5344CB8AC3E}" type="datetime1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54274" name="页脚占位符 4"/>
          <p:cNvSpPr txBox="1">
            <a:spLocks noGrp="1"/>
          </p:cNvSpPr>
          <p:nvPr/>
        </p:nvSpPr>
        <p:spPr>
          <a:xfrm>
            <a:off x="2590800" y="6553200"/>
            <a:ext cx="39624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Integrity,Views,Security,and Catalogs</a:t>
            </a:r>
            <a:endParaRPr lang="en-US" altLang="zh-CN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54275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51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54276" name="Rectangle 2"/>
          <p:cNvSpPr>
            <a:spLocks noGrp="1"/>
          </p:cNvSpPr>
          <p:nvPr>
            <p:ph type="title" idx="4294967295"/>
          </p:nvPr>
        </p:nvSpPr>
        <p:spPr>
          <a:ln/>
        </p:spPr>
        <p:txBody>
          <a:bodyPr wrap="square" anchor="ctr"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7.2  Creating Views</a:t>
            </a:r>
          </a:p>
        </p:txBody>
      </p:sp>
      <p:sp>
        <p:nvSpPr>
          <p:cNvPr id="54278" name="Rectangle 3"/>
          <p:cNvSpPr>
            <a:spLocks noGrp="1"/>
          </p:cNvSpPr>
          <p:nvPr>
            <p:ph type="body" idx="4294967295"/>
          </p:nvPr>
        </p:nvSpPr>
        <p:spPr>
          <a:xfrm>
            <a:off x="179388" y="908050"/>
            <a:ext cx="8686800" cy="5181600"/>
          </a:xfrm>
          <a:ln/>
        </p:spPr>
        <p:txBody>
          <a:bodyPr wrap="square" anchor="t"/>
          <a:lstStyle/>
          <a:p>
            <a:pPr eaLnBrk="1" hangingPunct="1"/>
            <a:r>
              <a:rPr lang="en-US" altLang="zh-CN" sz="3200" dirty="0">
                <a:ea typeface="宋体" panose="02010600030101010101" pitchFamily="2" charset="-122"/>
              </a:rPr>
              <a:t>Updatable and Read-Only Views</a:t>
            </a:r>
          </a:p>
          <a:p>
            <a:pPr lvl="1" eaLnBrk="1" hangingPunct="1"/>
            <a:r>
              <a:rPr lang="en-US" altLang="zh-CN" sz="3200" dirty="0">
                <a:ea typeface="宋体" panose="02010600030101010101" pitchFamily="2" charset="-122"/>
              </a:rPr>
              <a:t>The problem</a:t>
            </a:r>
          </a:p>
          <a:p>
            <a:pPr lvl="2" eaLnBrk="1" hangingPunct="1"/>
            <a:r>
              <a:rPr lang="en-US" altLang="zh-CN" sz="3200" dirty="0">
                <a:solidFill>
                  <a:schemeClr val="tx1"/>
                </a:solidFill>
                <a:ea typeface="宋体" panose="02010600030101010101" pitchFamily="2" charset="-122"/>
              </a:rPr>
              <a:t>How do we translate updates on the View into changes on the base tables?</a:t>
            </a:r>
          </a:p>
          <a:p>
            <a:pPr lvl="2" eaLnBrk="1" hangingPunct="1"/>
            <a:endParaRPr lang="en-US" altLang="zh-CN" sz="32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3200" dirty="0">
                <a:ea typeface="宋体" panose="02010600030101010101" pitchFamily="2" charset="-122"/>
              </a:rPr>
              <a:t>Figure 7.15 (next slide)</a:t>
            </a:r>
          </a:p>
          <a:p>
            <a:pPr lvl="2" eaLnBrk="1" hangingPunct="1"/>
            <a:r>
              <a:rPr lang="en-US" altLang="zh-CN" sz="3200" dirty="0">
                <a:solidFill>
                  <a:schemeClr val="tx1"/>
                </a:solidFill>
                <a:ea typeface="宋体" panose="02010600030101010101" pitchFamily="2" charset="-122"/>
              </a:rPr>
              <a:t>Restrictions on the Subquery Clause for an Updatable View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>
                                            <p:txEl>
                                              <p:charRg st="116" end="1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4278">
                                            <p:txEl>
                                              <p:charRg st="116" end="1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>
                                            <p:txEl>
                                              <p:charRg st="128" end="1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4278">
                                            <p:txEl>
                                              <p:charRg st="128" end="18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日期占位符 3"/>
          <p:cNvSpPr txBox="1">
            <a:spLocks noGrp="1"/>
          </p:cNvSpPr>
          <p:nvPr/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BB962C8B-B14F-4D97-AF65-F5344CB8AC3E}" type="datetime1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55298" name="页脚占位符 4"/>
          <p:cNvSpPr txBox="1">
            <a:spLocks noGrp="1"/>
          </p:cNvSpPr>
          <p:nvPr/>
        </p:nvSpPr>
        <p:spPr>
          <a:xfrm>
            <a:off x="2590800" y="6553200"/>
            <a:ext cx="39624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Integrity,Views,Security,and Catalogs</a:t>
            </a:r>
            <a:endParaRPr lang="en-US" altLang="zh-CN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55299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52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55300" name="Rectangle 3"/>
          <p:cNvSpPr>
            <a:spLocks noGrp="1"/>
          </p:cNvSpPr>
          <p:nvPr>
            <p:ph type="body" idx="4294967295"/>
          </p:nvPr>
        </p:nvSpPr>
        <p:spPr>
          <a:xfrm>
            <a:off x="0" y="0"/>
            <a:ext cx="9144000" cy="5230813"/>
          </a:xfrm>
          <a:ln/>
        </p:spPr>
        <p:txBody>
          <a:bodyPr wrap="square" anchor="t"/>
          <a:lstStyle/>
          <a:p>
            <a:pPr eaLnBrk="1" hangingPunct="1"/>
            <a:r>
              <a:rPr lang="en-US" altLang="zh-CN" sz="2800" dirty="0">
                <a:solidFill>
                  <a:srgbClr val="000000"/>
                </a:solidFill>
                <a:ea typeface="宋体" panose="02010600030101010101" pitchFamily="2" charset="-122"/>
              </a:rPr>
              <a:t>A view table is said to be updatable when the following conditions hold for its Subquery clause.</a:t>
            </a:r>
          </a:p>
        </p:txBody>
      </p:sp>
      <p:sp>
        <p:nvSpPr>
          <p:cNvPr id="55302" name="Text Box 4"/>
          <p:cNvSpPr txBox="1"/>
          <p:nvPr/>
        </p:nvSpPr>
        <p:spPr>
          <a:xfrm>
            <a:off x="0" y="962025"/>
            <a:ext cx="9144000" cy="6032500"/>
          </a:xfrm>
          <a:prstGeom prst="rect">
            <a:avLst/>
          </a:prstGeom>
          <a:solidFill>
            <a:srgbClr val="F8F8F8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90170" tIns="46990" rIns="90170" bIns="46990" anchor="t">
            <a:spAutoFit/>
          </a:bodyPr>
          <a:lstStyle/>
          <a:p>
            <a:pPr marL="457200" indent="-457200">
              <a:spcBef>
                <a:spcPts val="600"/>
              </a:spcBef>
              <a:buClr>
                <a:schemeClr val="accent1"/>
              </a:buClr>
              <a:buAutoNum type="arabicParenR"/>
            </a:pP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The FROM clause of the Subquery must contain  </a:t>
            </a:r>
            <a:r>
              <a:rPr lang="en-US" altLang="zh-CN" sz="2800" b="1" u="sng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only a single table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, and if that table is a view table it must also be an updatable view table.</a:t>
            </a:r>
          </a:p>
          <a:p>
            <a:pPr marL="457200" indent="-457200">
              <a:spcBef>
                <a:spcPts val="600"/>
              </a:spcBef>
              <a:buClr>
                <a:schemeClr val="accent1"/>
              </a:buClr>
              <a:buAutoNum type="arabicParenR"/>
            </a:pP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Neither the </a:t>
            </a:r>
            <a:r>
              <a:rPr lang="en-US" altLang="zh-CN" sz="2800" b="1" u="sng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GROUP BY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nor </a:t>
            </a:r>
            <a:r>
              <a:rPr lang="en-US" altLang="zh-CN" sz="2800" b="1" u="sng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HAVING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clause is present.</a:t>
            </a:r>
          </a:p>
          <a:p>
            <a:pPr marL="457200" indent="-457200">
              <a:spcBef>
                <a:spcPts val="600"/>
              </a:spcBef>
              <a:buClr>
                <a:schemeClr val="accent1"/>
              </a:buClr>
              <a:buAutoNum type="arabicParenR"/>
            </a:pP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The </a:t>
            </a:r>
            <a:r>
              <a:rPr lang="en-US" altLang="zh-CN" sz="2800" b="1" u="sng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DISTINCT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keyword is not specified.</a:t>
            </a:r>
          </a:p>
          <a:p>
            <a:pPr marL="457200" indent="-457200">
              <a:spcBef>
                <a:spcPts val="600"/>
              </a:spcBef>
              <a:buClr>
                <a:schemeClr val="accent1"/>
              </a:buClr>
              <a:buAutoNum type="arabicParenR"/>
            </a:pP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The WHERE clause </a:t>
            </a:r>
            <a:r>
              <a:rPr lang="en-US" altLang="zh-CN" sz="2800" b="1" u="sng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does not contain a Subquery that references any table in the FROM clause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, directly or indirectly via views.</a:t>
            </a:r>
          </a:p>
          <a:p>
            <a:pPr marL="457200" indent="-457200">
              <a:spcBef>
                <a:spcPts val="600"/>
              </a:spcBef>
              <a:buClr>
                <a:schemeClr val="accent1"/>
              </a:buClr>
              <a:buAutoNum type="arabicParenR"/>
            </a:pP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All result columns of the Subquery are simple column names: </a:t>
            </a:r>
            <a:r>
              <a:rPr lang="en-US" altLang="zh-CN" sz="2800" b="1" u="sng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no expressions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, </a:t>
            </a:r>
            <a:r>
              <a:rPr lang="en-US" altLang="zh-CN" sz="2800" b="1" u="sng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no column name appears more than once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</a:p>
          <a:p>
            <a:pPr marL="457200" indent="-457200">
              <a:spcBef>
                <a:spcPts val="600"/>
              </a:spcBef>
              <a:buClr>
                <a:schemeClr val="accent1"/>
              </a:buClr>
              <a:buAutoNum type="arabicParenR"/>
            </a:pPr>
            <a:endParaRPr lang="en-US" altLang="zh-CN" sz="28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3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65" fill="hold" display="0" masterRel="nextClick" afterEffect="1"/>
                                        <p:tgtEl>
                                          <p:spTgt spid="553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C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53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65" fill="hold" display="0" masterRel="nextClick" afterEffect="1"/>
                                        <p:tgtEl>
                                          <p:spTgt spid="553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C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53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65" fill="hold" display="0" masterRel="nextClick" afterEffect="1"/>
                                        <p:tgtEl>
                                          <p:spTgt spid="553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C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53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65" fill="hold" display="0" masterRel="nextClick" afterEffect="1"/>
                                        <p:tgtEl>
                                          <p:spTgt spid="553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C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53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日期占位符 3"/>
          <p:cNvSpPr txBox="1">
            <a:spLocks noGrp="1"/>
          </p:cNvSpPr>
          <p:nvPr/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BB962C8B-B14F-4D97-AF65-F5344CB8AC3E}" type="datetime1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56322" name="页脚占位符 4"/>
          <p:cNvSpPr txBox="1">
            <a:spLocks noGrp="1"/>
          </p:cNvSpPr>
          <p:nvPr/>
        </p:nvSpPr>
        <p:spPr>
          <a:xfrm>
            <a:off x="2590800" y="6553200"/>
            <a:ext cx="39624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Integrity,Views,Security,and Catalogs</a:t>
            </a:r>
            <a:endParaRPr lang="en-US" altLang="zh-CN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56323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53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56324" name="Rectangle 2"/>
          <p:cNvSpPr>
            <a:spLocks noGrp="1"/>
          </p:cNvSpPr>
          <p:nvPr>
            <p:ph type="title" idx="4294967295"/>
          </p:nvPr>
        </p:nvSpPr>
        <p:spPr>
          <a:ln/>
        </p:spPr>
        <p:txBody>
          <a:bodyPr wrap="square" anchor="ctr"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7.2  Creating Views</a:t>
            </a:r>
          </a:p>
        </p:txBody>
      </p:sp>
      <p:sp>
        <p:nvSpPr>
          <p:cNvPr id="56325" name="Rectangle 3"/>
          <p:cNvSpPr>
            <a:spLocks noGrp="1"/>
          </p:cNvSpPr>
          <p:nvPr>
            <p:ph type="body" idx="4294967295"/>
          </p:nvPr>
        </p:nvSpPr>
        <p:spPr>
          <a:xfrm>
            <a:off x="34925" y="765175"/>
            <a:ext cx="8229600" cy="5257800"/>
          </a:xfrm>
          <a:ln/>
        </p:spPr>
        <p:txBody>
          <a:bodyPr wrap="square" anchor="t"/>
          <a:lstStyle/>
          <a:p>
            <a:pPr eaLnBrk="1" hangingPunct="1"/>
            <a:r>
              <a:rPr lang="en-US" altLang="zh-CN" sz="3200" dirty="0">
                <a:ea typeface="宋体" panose="02010600030101010101" pitchFamily="2" charset="-122"/>
              </a:rPr>
              <a:t>Example 7.2.6, 7.2.7</a:t>
            </a:r>
            <a:r>
              <a:rPr lang="zh-CN" altLang="en-US" sz="3200" dirty="0">
                <a:ea typeface="宋体" panose="02010600030101010101" pitchFamily="2" charset="-122"/>
              </a:rPr>
              <a:t> (read-only)</a:t>
            </a:r>
            <a:endParaRPr lang="en-US" altLang="zh-CN" sz="3200" dirty="0">
              <a:ea typeface="宋体" panose="02010600030101010101" pitchFamily="2" charset="-122"/>
            </a:endParaRPr>
          </a:p>
        </p:txBody>
      </p:sp>
      <p:pic>
        <p:nvPicPr>
          <p:cNvPr id="56326" name="Text Box 4"/>
          <p:cNvPicPr/>
          <p:nvPr/>
        </p:nvPicPr>
        <p:blipFill>
          <a:blip r:embed="rId2"/>
          <a:stretch>
            <a:fillRect/>
          </a:stretch>
        </p:blipFill>
        <p:spPr>
          <a:xfrm>
            <a:off x="530225" y="1262063"/>
            <a:ext cx="8412163" cy="2809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6328" name="Text Box 5"/>
          <p:cNvSpPr txBox="1"/>
          <p:nvPr/>
        </p:nvSpPr>
        <p:spPr>
          <a:xfrm>
            <a:off x="539750" y="4221163"/>
            <a:ext cx="8388350" cy="2062162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>
            <a:spAutoFit/>
          </a:bodyPr>
          <a:lstStyle/>
          <a:p>
            <a:r>
              <a:rPr lang="en-US" altLang="zh-CN" sz="32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CREATE  VIEW</a:t>
            </a:r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</a:rPr>
              <a:t>  agentsales (aid, totsales)</a:t>
            </a:r>
          </a:p>
          <a:p>
            <a:pPr lvl="1" indent="0" algn="l" eaLnBrk="1" hangingPunct="1"/>
            <a:r>
              <a:rPr lang="en-US" altLang="zh-CN" sz="32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AS</a:t>
            </a:r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</a:rPr>
              <a:t>   select aid, sum(dollars)</a:t>
            </a:r>
          </a:p>
          <a:p>
            <a:pPr lvl="3" indent="0" algn="l" eaLnBrk="1" hangingPunct="1"/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</a:rPr>
              <a:t>from  orders</a:t>
            </a:r>
          </a:p>
          <a:p>
            <a:pPr lvl="3" indent="0" algn="l" eaLnBrk="1" hangingPunct="1"/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</a:rPr>
              <a:t>group by  aid;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日期占位符 3"/>
          <p:cNvSpPr txBox="1">
            <a:spLocks noGrp="1"/>
          </p:cNvSpPr>
          <p:nvPr/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BB962C8B-B14F-4D97-AF65-F5344CB8AC3E}" type="datetime1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57346" name="页脚占位符 4"/>
          <p:cNvSpPr txBox="1">
            <a:spLocks noGrp="1"/>
          </p:cNvSpPr>
          <p:nvPr/>
        </p:nvSpPr>
        <p:spPr>
          <a:xfrm>
            <a:off x="2590800" y="6553200"/>
            <a:ext cx="39624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Integrity,Views,Security,and Catalogs</a:t>
            </a:r>
            <a:endParaRPr lang="en-US" altLang="zh-CN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57347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54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57348" name="Rectangle 2"/>
          <p:cNvSpPr>
            <a:spLocks noGrp="1"/>
          </p:cNvSpPr>
          <p:nvPr>
            <p:ph type="title" idx="4294967295"/>
          </p:nvPr>
        </p:nvSpPr>
        <p:spPr>
          <a:ln/>
        </p:spPr>
        <p:txBody>
          <a:bodyPr wrap="square" anchor="ctr"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7.2  Creating Views</a:t>
            </a:r>
          </a:p>
        </p:txBody>
      </p:sp>
      <p:sp>
        <p:nvSpPr>
          <p:cNvPr id="57349" name="Rectangle 3"/>
          <p:cNvSpPr>
            <a:spLocks noGrp="1"/>
          </p:cNvSpPr>
          <p:nvPr>
            <p:ph type="body" idx="4294967295"/>
          </p:nvPr>
        </p:nvSpPr>
        <p:spPr>
          <a:xfrm>
            <a:off x="457200" y="990600"/>
            <a:ext cx="8229600" cy="3733800"/>
          </a:xfrm>
          <a:ln/>
        </p:spPr>
        <p:txBody>
          <a:bodyPr wrap="square" anchor="t"/>
          <a:lstStyle/>
          <a:p>
            <a:pPr eaLnBrk="1" hangingPunct="1"/>
            <a:r>
              <a:rPr lang="en-US" altLang="zh-CN" sz="3200" dirty="0">
                <a:ea typeface="宋体" panose="02010600030101010101" pitchFamily="2" charset="-122"/>
              </a:rPr>
              <a:t>Updatable Views in ORACLE</a:t>
            </a:r>
          </a:p>
          <a:p>
            <a:pPr lvl="1" eaLnBrk="1" hangingPunct="1"/>
            <a:r>
              <a:rPr lang="en-US" altLang="zh-CN" sz="3200" dirty="0">
                <a:ea typeface="宋体" panose="02010600030101010101" pitchFamily="2" charset="-122"/>
              </a:rPr>
              <a:t>can update join views if</a:t>
            </a:r>
          </a:p>
          <a:p>
            <a:pPr lvl="2" eaLnBrk="1" hangingPunct="1"/>
            <a:r>
              <a:rPr lang="en-US" altLang="zh-CN" sz="3200" dirty="0">
                <a:solidFill>
                  <a:schemeClr val="tx1"/>
                </a:solidFill>
                <a:ea typeface="宋体" panose="02010600030101010101" pitchFamily="2" charset="-122"/>
              </a:rPr>
              <a:t>join is N-1 (many-to-one), and</a:t>
            </a:r>
          </a:p>
          <a:p>
            <a:pPr lvl="2" eaLnBrk="1" hangingPunct="1"/>
            <a:r>
              <a:rPr lang="en-US" altLang="zh-CN" sz="3200" dirty="0">
                <a:solidFill>
                  <a:schemeClr val="tx1"/>
                </a:solidFill>
                <a:ea typeface="宋体" panose="02010600030101010101" pitchFamily="2" charset="-122"/>
              </a:rPr>
              <a:t>columns of the view contains the primary key of the table on N side</a:t>
            </a:r>
            <a:endParaRPr lang="en-US" altLang="zh-CN" sz="3200" dirty="0">
              <a:ea typeface="宋体" panose="02010600030101010101" pitchFamily="2" charset="-122"/>
            </a:endParaRPr>
          </a:p>
        </p:txBody>
      </p:sp>
      <p:sp>
        <p:nvSpPr>
          <p:cNvPr id="57350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日期占位符 3"/>
          <p:cNvSpPr txBox="1">
            <a:spLocks noGrp="1"/>
          </p:cNvSpPr>
          <p:nvPr/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BB962C8B-B14F-4D97-AF65-F5344CB8AC3E}" type="datetime1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58370" name="页脚占位符 4"/>
          <p:cNvSpPr txBox="1">
            <a:spLocks noGrp="1"/>
          </p:cNvSpPr>
          <p:nvPr/>
        </p:nvSpPr>
        <p:spPr>
          <a:xfrm>
            <a:off x="2590800" y="6553200"/>
            <a:ext cx="39624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Integrity,Views,Security,and Catalogs</a:t>
            </a:r>
            <a:endParaRPr lang="en-US" altLang="zh-CN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58371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55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58372" name="Rectangle 2"/>
          <p:cNvSpPr>
            <a:spLocks noGrp="1"/>
          </p:cNvSpPr>
          <p:nvPr>
            <p:ph type="body" idx="4294967295"/>
          </p:nvPr>
        </p:nvSpPr>
        <p:spPr>
          <a:xfrm>
            <a:off x="34925" y="55563"/>
            <a:ext cx="8229600" cy="493712"/>
          </a:xfrm>
          <a:ln/>
        </p:spPr>
        <p:txBody>
          <a:bodyPr wrap="square" anchor="t"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solidFill>
                  <a:schemeClr val="accent2"/>
                </a:solidFill>
                <a:ea typeface="宋体" panose="02010600030101010101" pitchFamily="2" charset="-122"/>
              </a:rPr>
              <a:t>example 7.2.1:</a:t>
            </a:r>
          </a:p>
        </p:txBody>
      </p:sp>
      <p:sp>
        <p:nvSpPr>
          <p:cNvPr id="58373" name="Rectangle 3"/>
          <p:cNvSpPr/>
          <p:nvPr/>
        </p:nvSpPr>
        <p:spPr>
          <a:xfrm>
            <a:off x="0" y="1854200"/>
            <a:ext cx="9144000" cy="3230563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marL="342900" indent="-3429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</a:pP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CREATE VIEW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  agentorders (</a:t>
            </a:r>
            <a:r>
              <a:rPr lang="en-US" altLang="zh-CN" sz="2800" b="1" u="sng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ordno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, month, cid, aid,</a:t>
            </a:r>
          </a:p>
          <a:p>
            <a:pPr marL="1143000" lvl="2" indent="-228600" algn="l"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pid, qty, charge, aname, acity, percent)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</a:pP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AS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 SELECT  o.ordno, o.month, o.cid, o.aid, o.pid,</a:t>
            </a:r>
          </a:p>
          <a:p>
            <a:pPr marL="1143000" lvl="2" indent="-228600" algn="l"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o.qty, o.dollars, a.aname, a.city, a.percent</a:t>
            </a:r>
          </a:p>
          <a:p>
            <a:pPr marL="742950" lvl="1" indent="-285750" algn="l" eaLnBrk="1" hangingPunct="1">
              <a:spcBef>
                <a:spcPct val="20000"/>
              </a:spcBef>
              <a:buClr>
                <a:schemeClr val="accent1"/>
              </a:buClr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FROM  orders o, agents a</a:t>
            </a:r>
          </a:p>
          <a:p>
            <a:pPr marL="742950" lvl="1" indent="-285750" algn="l" eaLnBrk="1" hangingPunct="1">
              <a:spcBef>
                <a:spcPct val="20000"/>
              </a:spcBef>
              <a:buClr>
                <a:schemeClr val="accent1"/>
              </a:buClr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WHERE  </a:t>
            </a:r>
            <a:r>
              <a:rPr lang="en-US" altLang="zh-CN" sz="2800" b="1" u="sng" dirty="0">
                <a:latin typeface="Arial" panose="020B0604020202020204" pitchFamily="34" charset="0"/>
                <a:ea typeface="宋体" panose="02010600030101010101" pitchFamily="2" charset="-122"/>
              </a:rPr>
              <a:t>o.aid = a.aid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;</a:t>
            </a:r>
            <a:endParaRPr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8375" name="AutoShape 4"/>
          <p:cNvSpPr/>
          <p:nvPr/>
        </p:nvSpPr>
        <p:spPr>
          <a:xfrm>
            <a:off x="180975" y="5588000"/>
            <a:ext cx="7559675" cy="649288"/>
          </a:xfrm>
          <a:prstGeom prst="wedgeRoundRectCallout">
            <a:avLst>
              <a:gd name="adj1" fmla="val -10319"/>
              <a:gd name="adj2" fmla="val -151366"/>
              <a:gd name="adj3" fmla="val 16667"/>
            </a:avLst>
          </a:prstGeom>
          <a:solidFill>
            <a:schemeClr val="bg1"/>
          </a:solidFill>
          <a:ln w="1905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join is many to one (orders to agents)</a:t>
            </a:r>
            <a:endParaRPr lang="zh-CN" altLang="en-US" sz="2800" b="1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8376" name="AutoShape 5"/>
          <p:cNvSpPr/>
          <p:nvPr/>
        </p:nvSpPr>
        <p:spPr>
          <a:xfrm>
            <a:off x="323850" y="620713"/>
            <a:ext cx="6624638" cy="1081087"/>
          </a:xfrm>
          <a:prstGeom prst="wedgeRoundRectCallout">
            <a:avLst>
              <a:gd name="adj1" fmla="val 32639"/>
              <a:gd name="adj2" fmla="val 76556"/>
              <a:gd name="adj3" fmla="val 16667"/>
            </a:avLst>
          </a:prstGeom>
          <a:solidFill>
            <a:schemeClr val="bg1"/>
          </a:solidFill>
          <a:ln w="1905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the view contains the primary key of the table on N side (orders)</a:t>
            </a:r>
            <a:endParaRPr lang="zh-CN" altLang="en-US" sz="2800" b="1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8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5" grpId="0" bldLvl="0" animBg="1"/>
      <p:bldP spid="58376" grpId="0" bldLvl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日期占位符 3"/>
          <p:cNvSpPr txBox="1">
            <a:spLocks noGrp="1"/>
          </p:cNvSpPr>
          <p:nvPr/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BB962C8B-B14F-4D97-AF65-F5344CB8AC3E}" type="datetime1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59394" name="页脚占位符 4"/>
          <p:cNvSpPr txBox="1">
            <a:spLocks noGrp="1"/>
          </p:cNvSpPr>
          <p:nvPr/>
        </p:nvSpPr>
        <p:spPr>
          <a:xfrm>
            <a:off x="2590800" y="6553200"/>
            <a:ext cx="39624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Integrity,Views,Security,and Catalogs</a:t>
            </a:r>
            <a:endParaRPr lang="en-US" altLang="zh-CN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59395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56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59396" name="Rectangle 3"/>
          <p:cNvSpPr>
            <a:spLocks noGrp="1"/>
          </p:cNvSpPr>
          <p:nvPr>
            <p:ph type="body" idx="4294967295"/>
          </p:nvPr>
        </p:nvSpPr>
        <p:spPr>
          <a:xfrm>
            <a:off x="34925" y="55563"/>
            <a:ext cx="8229600" cy="493712"/>
          </a:xfrm>
          <a:ln/>
        </p:spPr>
        <p:txBody>
          <a:bodyPr wrap="square" anchor="t"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solidFill>
                  <a:schemeClr val="accent2"/>
                </a:solidFill>
                <a:ea typeface="宋体" panose="02010600030101010101" pitchFamily="2" charset="-122"/>
              </a:rPr>
              <a:t>example 7.2.1:</a:t>
            </a:r>
          </a:p>
        </p:txBody>
      </p:sp>
      <p:sp>
        <p:nvSpPr>
          <p:cNvPr id="59397" name="Rectangle 4"/>
          <p:cNvSpPr/>
          <p:nvPr/>
        </p:nvSpPr>
        <p:spPr>
          <a:xfrm>
            <a:off x="0" y="774700"/>
            <a:ext cx="9144000" cy="3230563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marL="342900" indent="-3429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</a:pP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CREATE VIEW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  agentorders (</a:t>
            </a:r>
            <a:r>
              <a:rPr lang="en-US" altLang="zh-CN" sz="2800" b="1" u="sng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ordno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, month, cid, aid,</a:t>
            </a:r>
          </a:p>
          <a:p>
            <a:pPr marL="1143000" lvl="2" indent="-228600" algn="l"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pid, qty, charge, aname, acity, percent)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</a:pP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AS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 SELECT  o.ordno, o.month, o.cid, o.aid, o.pid,</a:t>
            </a:r>
          </a:p>
          <a:p>
            <a:pPr marL="1143000" lvl="2" indent="-228600" algn="l"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o.qty, o.dollars, a.aname, a.city, a.percent</a:t>
            </a:r>
          </a:p>
          <a:p>
            <a:pPr marL="742950" lvl="1" indent="-285750" algn="l" eaLnBrk="1" hangingPunct="1">
              <a:spcBef>
                <a:spcPct val="20000"/>
              </a:spcBef>
              <a:buClr>
                <a:schemeClr val="accent1"/>
              </a:buClr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FROM  orders o, agents a</a:t>
            </a:r>
          </a:p>
          <a:p>
            <a:pPr marL="742950" lvl="1" indent="-285750" algn="l" eaLnBrk="1" hangingPunct="1">
              <a:spcBef>
                <a:spcPct val="20000"/>
              </a:spcBef>
              <a:buClr>
                <a:schemeClr val="accent1"/>
              </a:buClr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WHERE  </a:t>
            </a:r>
            <a:r>
              <a:rPr lang="en-US" altLang="zh-CN" sz="2800" b="1" u="sng" dirty="0">
                <a:latin typeface="Arial" panose="020B0604020202020204" pitchFamily="34" charset="0"/>
                <a:ea typeface="宋体" panose="02010600030101010101" pitchFamily="2" charset="-122"/>
              </a:rPr>
              <a:t>o.aid = a.aid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;</a:t>
            </a:r>
            <a:endParaRPr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9398" name="AutoShape 8"/>
          <p:cNvSpPr/>
          <p:nvPr/>
        </p:nvSpPr>
        <p:spPr>
          <a:xfrm>
            <a:off x="36513" y="4367213"/>
            <a:ext cx="9072562" cy="2060575"/>
          </a:xfrm>
          <a:prstGeom prst="wedgeRoundRectCallout">
            <a:avLst>
              <a:gd name="adj1" fmla="val -26477"/>
              <a:gd name="adj2" fmla="val -106778"/>
              <a:gd name="adj3" fmla="val 16667"/>
            </a:avLst>
          </a:prstGeom>
          <a:solidFill>
            <a:schemeClr val="bg1"/>
          </a:solidFill>
          <a:ln w="1905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marL="457200" indent="-4572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lphaLcParenR"/>
            </a:pP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we can only update the columns that map one-to-one with the orders table ( on N side )</a:t>
            </a:r>
          </a:p>
          <a:p>
            <a:pPr marL="457200" indent="-4572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lphaLcParenR"/>
            </a:pP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not the aname, acity, or percent columns ( on 1 side ), and also not the aid column</a:t>
            </a:r>
          </a:p>
        </p:txBody>
      </p:sp>
      <p:sp>
        <p:nvSpPr>
          <p:cNvPr id="59399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日期占位符 3"/>
          <p:cNvSpPr txBox="1">
            <a:spLocks noGrp="1"/>
          </p:cNvSpPr>
          <p:nvPr/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BB962C8B-B14F-4D97-AF65-F5344CB8AC3E}" type="datetime1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60418" name="页脚占位符 4"/>
          <p:cNvSpPr txBox="1">
            <a:spLocks noGrp="1"/>
          </p:cNvSpPr>
          <p:nvPr/>
        </p:nvSpPr>
        <p:spPr>
          <a:xfrm>
            <a:off x="2590800" y="6553200"/>
            <a:ext cx="39624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Integrity,Views,Security,and Catalogs</a:t>
            </a:r>
            <a:endParaRPr lang="en-US" altLang="zh-CN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60419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57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60420" name="Rectangle 2"/>
          <p:cNvSpPr>
            <a:spLocks noGrp="1"/>
          </p:cNvSpPr>
          <p:nvPr>
            <p:ph type="title" idx="4294967295"/>
          </p:nvPr>
        </p:nvSpPr>
        <p:spPr>
          <a:ln/>
        </p:spPr>
        <p:txBody>
          <a:bodyPr wrap="square" anchor="ctr"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7.2  Creating Views</a:t>
            </a:r>
          </a:p>
        </p:txBody>
      </p:sp>
      <p:sp>
        <p:nvSpPr>
          <p:cNvPr id="60421" name="Rectangle 4"/>
          <p:cNvSpPr/>
          <p:nvPr/>
        </p:nvSpPr>
        <p:spPr>
          <a:xfrm>
            <a:off x="179388" y="1700213"/>
            <a:ext cx="8686800" cy="4465637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742950" lvl="1" indent="-285750" algn="l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</a:pPr>
            <a:r>
              <a:rPr lang="en-US" altLang="zh-CN" sz="32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Display updatable column of this view</a:t>
            </a:r>
          </a:p>
          <a:p>
            <a:pPr marL="742950" lvl="1" indent="-285750" algn="l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</a:pPr>
            <a:endParaRPr lang="en-US" altLang="zh-CN" sz="3200" b="1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1143000" lvl="2" indent="-228600" algn="l" eaLnBrk="1" hangingPunct="1">
              <a:lnSpc>
                <a:spcPct val="90000"/>
              </a:lnSpc>
              <a:spcBef>
                <a:spcPct val="20000"/>
              </a:spcBef>
              <a:buClr>
                <a:srgbClr val="FF0066"/>
              </a:buClr>
              <a:buFont typeface="Wingdings" panose="05000000000000000000" pitchFamily="2" charset="2"/>
              <a:buNone/>
            </a:pPr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</a:rPr>
              <a:t>select  column_name, updatable</a:t>
            </a:r>
          </a:p>
          <a:p>
            <a:pPr marL="1143000" lvl="2" indent="-228600" algn="l" eaLnBrk="1" hangingPunct="1">
              <a:lnSpc>
                <a:spcPct val="90000"/>
              </a:lnSpc>
              <a:spcBef>
                <a:spcPct val="20000"/>
              </a:spcBef>
              <a:buClr>
                <a:srgbClr val="FF0066"/>
              </a:buClr>
              <a:buFont typeface="Wingdings" panose="05000000000000000000" pitchFamily="2" charset="2"/>
              <a:buNone/>
            </a:pPr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</a:rPr>
              <a:t>from  user_updatable_columns</a:t>
            </a:r>
          </a:p>
          <a:p>
            <a:pPr marL="1143000" lvl="2" indent="-228600" algn="l" eaLnBrk="1" hangingPunct="1">
              <a:lnSpc>
                <a:spcPct val="90000"/>
              </a:lnSpc>
              <a:spcBef>
                <a:spcPct val="20000"/>
              </a:spcBef>
              <a:buClr>
                <a:srgbClr val="FF0066"/>
              </a:buClr>
              <a:buFont typeface="Wingdings" panose="05000000000000000000" pitchFamily="2" charset="2"/>
              <a:buNone/>
            </a:pPr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</a:rPr>
              <a:t>where table_name = ‘</a:t>
            </a:r>
            <a:r>
              <a:rPr lang="en-US" altLang="zh-CN" sz="32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AGENTORDERS</a:t>
            </a:r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</a:rPr>
              <a:t>’</a:t>
            </a:r>
          </a:p>
        </p:txBody>
      </p:sp>
      <p:sp>
        <p:nvSpPr>
          <p:cNvPr id="60422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日期占位符 3"/>
          <p:cNvSpPr txBox="1">
            <a:spLocks noGrp="1"/>
          </p:cNvSpPr>
          <p:nvPr/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BB962C8B-B14F-4D97-AF65-F5344CB8AC3E}" type="datetime1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61442" name="页脚占位符 4"/>
          <p:cNvSpPr txBox="1">
            <a:spLocks noGrp="1"/>
          </p:cNvSpPr>
          <p:nvPr/>
        </p:nvSpPr>
        <p:spPr>
          <a:xfrm>
            <a:off x="2590800" y="6553200"/>
            <a:ext cx="39624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Integrity,Views,Security,and Catalogs</a:t>
            </a:r>
            <a:endParaRPr lang="en-US" altLang="zh-CN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61443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58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61444" name="Rectangle 2"/>
          <p:cNvSpPr>
            <a:spLocks noGrp="1"/>
          </p:cNvSpPr>
          <p:nvPr>
            <p:ph type="title" idx="4294967295"/>
          </p:nvPr>
        </p:nvSpPr>
        <p:spPr>
          <a:ln/>
        </p:spPr>
        <p:txBody>
          <a:bodyPr wrap="square" anchor="ctr"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7.2  Creating Views</a:t>
            </a:r>
          </a:p>
        </p:txBody>
      </p:sp>
      <p:sp>
        <p:nvSpPr>
          <p:cNvPr id="61445" name="Rectangle 3"/>
          <p:cNvSpPr>
            <a:spLocks noGrp="1"/>
          </p:cNvSpPr>
          <p:nvPr>
            <p:ph type="body" idx="4294967295"/>
          </p:nvPr>
        </p:nvSpPr>
        <p:spPr>
          <a:xfrm>
            <a:off x="152400" y="765175"/>
            <a:ext cx="8686800" cy="5543550"/>
          </a:xfrm>
          <a:ln/>
        </p:spPr>
        <p:txBody>
          <a:bodyPr wrap="square" anchor="t"/>
          <a:lstStyle/>
          <a:p>
            <a:pPr marL="457200" indent="-457200" eaLnBrk="1" hangingPunct="1"/>
            <a:r>
              <a:rPr lang="en-US" altLang="zh-CN" sz="2800" dirty="0">
                <a:ea typeface="宋体" panose="02010600030101010101" pitchFamily="2" charset="-122"/>
              </a:rPr>
              <a:t>The Value of Views</a:t>
            </a:r>
          </a:p>
          <a:p>
            <a:pPr marL="914400" lvl="1" indent="-457200" eaLnBrk="1" hangingPunct="1">
              <a:buAutoNum type="arabicPeriod"/>
            </a:pPr>
            <a:r>
              <a:rPr lang="en-US" altLang="zh-CN" sz="2800" dirty="0">
                <a:ea typeface="宋体" panose="02010600030101010101" pitchFamily="2" charset="-122"/>
              </a:rPr>
              <a:t>Views provide a way to make complex, commonly issued queries easier to compose.</a:t>
            </a:r>
          </a:p>
          <a:p>
            <a:pPr marL="914400" lvl="1" indent="-457200" eaLnBrk="1" hangingPunct="1">
              <a:spcBef>
                <a:spcPts val="1800"/>
              </a:spcBef>
              <a:buAutoNum type="arabicPeriod" startAt="2"/>
            </a:pPr>
            <a:r>
              <a:rPr lang="en-US" altLang="zh-CN" sz="2800" dirty="0">
                <a:ea typeface="宋体" panose="02010600030101010101" pitchFamily="2" charset="-122"/>
              </a:rPr>
              <a:t>Views allow obsolete tables, and programs that reference them, to survive reorganization.</a:t>
            </a:r>
          </a:p>
          <a:p>
            <a:pPr marL="1371600" lvl="2" indent="-457200" eaLnBrk="1" hangingPunct="1"/>
            <a:r>
              <a:rPr lang="en-US" altLang="zh-CN" sz="2800" dirty="0">
                <a:solidFill>
                  <a:srgbClr val="FF0066"/>
                </a:solidFill>
                <a:ea typeface="宋体" panose="02010600030101010101" pitchFamily="2" charset="-122"/>
              </a:rPr>
              <a:t>program-data independence</a:t>
            </a:r>
            <a:r>
              <a:rPr lang="en-US" altLang="zh-CN" sz="2800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chemeClr val="tx2"/>
                </a:solidFill>
                <a:ea typeface="宋体" panose="02010600030101010101" pitchFamily="2" charset="-122"/>
              </a:rPr>
              <a:t>(</a:t>
            </a:r>
            <a:r>
              <a:rPr lang="zh-CN" altLang="en-US" sz="2800" dirty="0">
                <a:solidFill>
                  <a:schemeClr val="tx2"/>
                </a:solidFill>
                <a:ea typeface="宋体" panose="02010600030101010101" pitchFamily="2" charset="-122"/>
              </a:rPr>
              <a:t>数据独立性)</a:t>
            </a:r>
          </a:p>
          <a:p>
            <a:pPr marL="914400" lvl="1" indent="-457200" eaLnBrk="1" hangingPunct="1">
              <a:spcBef>
                <a:spcPts val="1800"/>
              </a:spcBef>
              <a:buAutoNum type="arabicPeriod" startAt="3"/>
            </a:pPr>
            <a:r>
              <a:rPr lang="en-US" altLang="zh-CN" sz="2800" dirty="0">
                <a:ea typeface="宋体" panose="02010600030101010101" pitchFamily="2" charset="-122"/>
              </a:rPr>
              <a:t>Views add a security aspect to allow different users to see the same data in different ways.</a:t>
            </a:r>
          </a:p>
        </p:txBody>
      </p:sp>
      <p:sp>
        <p:nvSpPr>
          <p:cNvPr id="61446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59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62466" name="Rectangle 2"/>
          <p:cNvSpPr>
            <a:spLocks noGrp="1"/>
          </p:cNvSpPr>
          <p:nvPr>
            <p:ph type="title" idx="4294967295"/>
          </p:nvPr>
        </p:nvSpPr>
        <p:spPr>
          <a:ln/>
        </p:spPr>
        <p:txBody>
          <a:bodyPr wrap="square" anchor="ctr"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7.3  Security</a:t>
            </a:r>
          </a:p>
        </p:txBody>
      </p:sp>
      <p:sp>
        <p:nvSpPr>
          <p:cNvPr id="62467" name="Rectangle 3"/>
          <p:cNvSpPr>
            <a:spLocks noGrp="1"/>
          </p:cNvSpPr>
          <p:nvPr>
            <p:ph type="body" idx="4294967295"/>
          </p:nvPr>
        </p:nvSpPr>
        <p:spPr>
          <a:xfrm>
            <a:off x="0" y="765175"/>
            <a:ext cx="9144000" cy="522288"/>
          </a:xfrm>
          <a:ln/>
        </p:spPr>
        <p:txBody>
          <a:bodyPr wrap="square" anchor="t">
            <a:spAutoFit/>
          </a:bodyPr>
          <a:lstStyle/>
          <a:p>
            <a:pPr eaLnBrk="1" hangingPunct="1">
              <a:spcBef>
                <a:spcPts val="60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The Grant Statement in SQL</a:t>
            </a:r>
          </a:p>
        </p:txBody>
      </p:sp>
      <p:sp>
        <p:nvSpPr>
          <p:cNvPr id="62468" name="Text Box 4"/>
          <p:cNvSpPr txBox="1"/>
          <p:nvPr/>
        </p:nvSpPr>
        <p:spPr>
          <a:xfrm>
            <a:off x="34925" y="1343025"/>
            <a:ext cx="9109075" cy="1822450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GRANT 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{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ALL PRIVILEGES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|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privilege 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{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, privilege … 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}}</a:t>
            </a:r>
          </a:p>
          <a:p>
            <a:pPr lvl="1" indent="0" algn="l" eaLnBrk="1" hangingPunct="1"/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ON 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 TABLE 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]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 tablename 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|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 viewname</a:t>
            </a:r>
          </a:p>
          <a:p>
            <a:pPr lvl="1" indent="0" algn="l" eaLnBrk="1" hangingPunct="1"/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TO 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{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 PUBLIC 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| 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user-name 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{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 , user-name … 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} }</a:t>
            </a:r>
          </a:p>
          <a:p>
            <a:pPr lvl="1" indent="0" algn="l" eaLnBrk="1" hangingPunct="1"/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 WITH GRANT OPTION 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]</a:t>
            </a:r>
          </a:p>
        </p:txBody>
      </p:sp>
      <p:sp>
        <p:nvSpPr>
          <p:cNvPr id="3" name="Rectangle 3"/>
          <p:cNvSpPr>
            <a:spLocks noGrp="1"/>
          </p:cNvSpPr>
          <p:nvPr/>
        </p:nvSpPr>
        <p:spPr>
          <a:xfrm>
            <a:off x="0" y="3260725"/>
            <a:ext cx="9144000" cy="333692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742950" lvl="1" indent="-285750" algn="l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–"/>
            </a:pPr>
            <a:r>
              <a:rPr lang="en-US" altLang="zh-CN" sz="2800" b="1" u="none" baseline="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used by the owner of a table</a:t>
            </a:r>
          </a:p>
          <a:p>
            <a:pPr marL="1143000" lvl="2" indent="-228600" algn="l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zh-CN" sz="2800" b="1" u="none" baseline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the owner of a table has ALL PRIVILEGES on the table.</a:t>
            </a:r>
          </a:p>
          <a:p>
            <a:pPr marL="1143000" lvl="2" indent="-228600" algn="l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zh-CN" sz="2800" b="1" u="none" baseline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other user can not access the table if it does not have the PRIVILEGES on the table.</a:t>
            </a:r>
          </a:p>
          <a:p>
            <a:pPr marL="742950" lvl="1" indent="-285750" algn="l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–"/>
            </a:pPr>
            <a:r>
              <a:rPr lang="en-US" altLang="zh-CN" sz="2800" b="1" u="none" baseline="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column privileges can be implemented through views.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日期占位符 3"/>
          <p:cNvSpPr txBox="1">
            <a:spLocks noGrp="1"/>
          </p:cNvSpPr>
          <p:nvPr/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BB962C8B-B14F-4D97-AF65-F5344CB8AC3E}" type="datetime1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63490" name="页脚占位符 4"/>
          <p:cNvSpPr txBox="1">
            <a:spLocks noGrp="1"/>
          </p:cNvSpPr>
          <p:nvPr/>
        </p:nvSpPr>
        <p:spPr>
          <a:xfrm>
            <a:off x="2590800" y="6553200"/>
            <a:ext cx="39624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Integrity,Views,Security,and Catalogs</a:t>
            </a:r>
            <a:endParaRPr lang="en-US" altLang="zh-CN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63491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60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63492" name="Rectangle 3"/>
          <p:cNvSpPr>
            <a:spLocks noGrp="1"/>
          </p:cNvSpPr>
          <p:nvPr>
            <p:ph type="body" idx="4294967295"/>
          </p:nvPr>
        </p:nvSpPr>
        <p:spPr>
          <a:xfrm>
            <a:off x="0" y="0"/>
            <a:ext cx="9144000" cy="6453188"/>
          </a:xfrm>
          <a:ln/>
        </p:spPr>
        <p:txBody>
          <a:bodyPr wrap="square" anchor="t"/>
          <a:lstStyle/>
          <a:p>
            <a:pPr eaLnBrk="1" hangingPunct="1">
              <a:spcBef>
                <a:spcPts val="60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The Grant Statement in SQL </a:t>
            </a:r>
            <a:r>
              <a:rPr lang="en-US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(cont.)</a:t>
            </a:r>
          </a:p>
          <a:p>
            <a:pPr eaLnBrk="1" hangingPunct="1">
              <a:spcBef>
                <a:spcPts val="600"/>
              </a:spcBef>
            </a:pPr>
            <a:endParaRPr lang="en-US" altLang="zh-CN" sz="28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eaLnBrk="1" hangingPunct="1">
              <a:spcBef>
                <a:spcPts val="600"/>
              </a:spcBef>
            </a:pP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>
              <a:spcBef>
                <a:spcPts val="600"/>
              </a:spcBef>
            </a:pP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>
              <a:spcBef>
                <a:spcPts val="600"/>
              </a:spcBef>
            </a:pP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spcBef>
                <a:spcPts val="60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privileges</a:t>
            </a:r>
          </a:p>
          <a:p>
            <a:pPr lvl="2" eaLnBrk="1" hangingPunct="1">
              <a:spcBef>
                <a:spcPts val="600"/>
              </a:spcBef>
            </a:pPr>
            <a:r>
              <a:rPr lang="en-US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SELECT, DELETE, INSERT</a:t>
            </a:r>
          </a:p>
          <a:p>
            <a:pPr lvl="2" eaLnBrk="1" hangingPunct="1">
              <a:spcBef>
                <a:spcPts val="600"/>
              </a:spcBef>
            </a:pPr>
            <a:r>
              <a:rPr lang="en-US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UPDATE</a:t>
            </a:r>
            <a:r>
              <a:rPr lang="en-US" altLang="zh-CN" sz="2800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FF0066"/>
                </a:solidFill>
                <a:ea typeface="宋体" panose="02010600030101010101" pitchFamily="2" charset="-122"/>
              </a:rPr>
              <a:t>[ </a:t>
            </a:r>
            <a:r>
              <a:rPr lang="en-US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col_name</a:t>
            </a:r>
            <a:r>
              <a:rPr lang="en-US" altLang="zh-CN" sz="2800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FF0066"/>
                </a:solidFill>
                <a:ea typeface="宋体" panose="02010600030101010101" pitchFamily="2" charset="-122"/>
              </a:rPr>
              <a:t>{</a:t>
            </a:r>
            <a:r>
              <a:rPr lang="en-US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, col_name ...</a:t>
            </a:r>
            <a:r>
              <a:rPr lang="en-US" altLang="zh-CN" sz="2800" dirty="0">
                <a:solidFill>
                  <a:srgbClr val="FF0066"/>
                </a:solidFill>
                <a:ea typeface="宋体" panose="02010600030101010101" pitchFamily="2" charset="-122"/>
              </a:rPr>
              <a:t>} ]</a:t>
            </a:r>
          </a:p>
          <a:p>
            <a:pPr lvl="2" eaLnBrk="1" hangingPunct="1">
              <a:spcBef>
                <a:spcPts val="600"/>
              </a:spcBef>
            </a:pPr>
            <a:r>
              <a:rPr lang="en-US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REFERENCES</a:t>
            </a:r>
            <a:r>
              <a:rPr lang="en-US" altLang="zh-CN" sz="2800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FF0066"/>
                </a:solidFill>
                <a:ea typeface="宋体" panose="02010600030101010101" pitchFamily="2" charset="-122"/>
              </a:rPr>
              <a:t>[ </a:t>
            </a:r>
            <a:r>
              <a:rPr lang="en-US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col_name</a:t>
            </a:r>
            <a:r>
              <a:rPr lang="en-US" altLang="zh-CN" sz="2800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FF0066"/>
                </a:solidFill>
                <a:ea typeface="宋体" panose="02010600030101010101" pitchFamily="2" charset="-122"/>
              </a:rPr>
              <a:t>{</a:t>
            </a:r>
            <a:r>
              <a:rPr lang="en-US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, col_name ...</a:t>
            </a:r>
            <a:r>
              <a:rPr lang="en-US" altLang="zh-CN" sz="2800" dirty="0">
                <a:solidFill>
                  <a:srgbClr val="FF0066"/>
                </a:solidFill>
                <a:ea typeface="宋体" panose="02010600030101010101" pitchFamily="2" charset="-122"/>
              </a:rPr>
              <a:t>} ]</a:t>
            </a:r>
          </a:p>
          <a:p>
            <a:pPr lvl="2" eaLnBrk="1" hangingPunct="1">
              <a:spcBef>
                <a:spcPts val="600"/>
              </a:spcBef>
            </a:pPr>
            <a:endParaRPr lang="en-US" altLang="zh-CN" sz="1400" dirty="0">
              <a:ea typeface="宋体" panose="02010600030101010101" pitchFamily="2" charset="-122"/>
            </a:endParaRPr>
          </a:p>
          <a:p>
            <a:pPr lvl="1" eaLnBrk="1" hangingPunct="1">
              <a:spcBef>
                <a:spcPts val="60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PUBLIC</a:t>
            </a:r>
          </a:p>
          <a:p>
            <a:pPr lvl="1" eaLnBrk="1" hangingPunct="1">
              <a:spcBef>
                <a:spcPts val="600"/>
              </a:spcBef>
            </a:pPr>
            <a:endParaRPr lang="en-US" altLang="zh-CN" sz="1400" dirty="0">
              <a:ea typeface="宋体" panose="02010600030101010101" pitchFamily="2" charset="-122"/>
            </a:endParaRPr>
          </a:p>
          <a:p>
            <a:pPr lvl="1" eaLnBrk="1" hangingPunct="1">
              <a:spcBef>
                <a:spcPts val="60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WITH GRANT OPTION</a:t>
            </a:r>
          </a:p>
        </p:txBody>
      </p:sp>
      <p:sp>
        <p:nvSpPr>
          <p:cNvPr id="63493" name="Text Box 4"/>
          <p:cNvSpPr txBox="1"/>
          <p:nvPr/>
        </p:nvSpPr>
        <p:spPr>
          <a:xfrm>
            <a:off x="107950" y="604838"/>
            <a:ext cx="9036050" cy="1824037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GRANT 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{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ALL PRIVILEGES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|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privilege 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{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, privilege …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}}</a:t>
            </a:r>
          </a:p>
          <a:p>
            <a:pPr lvl="1" indent="0" algn="l" eaLnBrk="1" hangingPunct="1"/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ON 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 TABLE 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]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 tablename 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|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 viewname</a:t>
            </a:r>
          </a:p>
          <a:p>
            <a:pPr lvl="1" indent="0" algn="l" eaLnBrk="1" hangingPunct="1"/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TO 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{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 PUBLIC 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| 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user-name 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{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 , user-name … 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} }</a:t>
            </a:r>
          </a:p>
          <a:p>
            <a:pPr lvl="1" indent="0" algn="l" eaLnBrk="1" hangingPunct="1"/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 WITH GRANT OPTION 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]</a:t>
            </a:r>
          </a:p>
        </p:txBody>
      </p:sp>
      <p:sp>
        <p:nvSpPr>
          <p:cNvPr id="63494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日期占位符 3"/>
          <p:cNvSpPr txBox="1">
            <a:spLocks noGrp="1"/>
          </p:cNvSpPr>
          <p:nvPr/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BB962C8B-B14F-4D97-AF65-F5344CB8AC3E}" type="datetime1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64514" name="页脚占位符 4"/>
          <p:cNvSpPr txBox="1">
            <a:spLocks noGrp="1"/>
          </p:cNvSpPr>
          <p:nvPr/>
        </p:nvSpPr>
        <p:spPr>
          <a:xfrm>
            <a:off x="2590800" y="6553200"/>
            <a:ext cx="39624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Integrity,Views,Security,and Catalogs</a:t>
            </a:r>
            <a:endParaRPr lang="en-US" altLang="zh-CN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64515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61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64517" name="Rectangle 3"/>
          <p:cNvSpPr>
            <a:spLocks noGrp="1"/>
          </p:cNvSpPr>
          <p:nvPr>
            <p:ph type="body" idx="4294967295"/>
          </p:nvPr>
        </p:nvSpPr>
        <p:spPr>
          <a:xfrm>
            <a:off x="0" y="188913"/>
            <a:ext cx="9144000" cy="2160587"/>
          </a:xfrm>
          <a:ln/>
        </p:spPr>
        <p:txBody>
          <a:bodyPr wrap="square" anchor="t"/>
          <a:lstStyle/>
          <a:p>
            <a:pPr eaLnBrk="1" hangingPunct="1">
              <a:spcBef>
                <a:spcPts val="60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Example 7.3.1,  7.3.2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grant select on customers to </a:t>
            </a:r>
            <a:r>
              <a:rPr lang="en-US" altLang="zh-CN" sz="2800" u="sng" dirty="0">
                <a:solidFill>
                  <a:srgbClr val="FF0000"/>
                </a:solidFill>
                <a:ea typeface="宋体" panose="02010600030101010101" pitchFamily="2" charset="-122"/>
              </a:rPr>
              <a:t>eoneil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;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grant select, update, insert on orders to </a:t>
            </a:r>
            <a:r>
              <a:rPr lang="en-US" altLang="zh-CN" sz="2800" u="sng" dirty="0">
                <a:solidFill>
                  <a:srgbClr val="FF0000"/>
                </a:solidFill>
                <a:ea typeface="宋体" panose="02010600030101010101" pitchFamily="2" charset="-122"/>
              </a:rPr>
              <a:t>eoneil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;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grant all privileges on products to </a:t>
            </a:r>
            <a:r>
              <a:rPr lang="en-US" altLang="zh-CN" sz="2800" u="sng" dirty="0">
                <a:solidFill>
                  <a:srgbClr val="FF0000"/>
                </a:solidFill>
                <a:ea typeface="宋体" panose="02010600030101010101" pitchFamily="2" charset="-122"/>
              </a:rPr>
              <a:t>eoneil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;</a:t>
            </a:r>
          </a:p>
        </p:txBody>
      </p:sp>
      <p:sp>
        <p:nvSpPr>
          <p:cNvPr id="64518" name="Rectangle 4"/>
          <p:cNvSpPr/>
          <p:nvPr/>
        </p:nvSpPr>
        <p:spPr>
          <a:xfrm>
            <a:off x="0" y="2420938"/>
            <a:ext cx="9144000" cy="287972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Example 7.3.3</a:t>
            </a:r>
          </a:p>
          <a:p>
            <a:pPr marL="742950" lvl="1" indent="-285750" algn="l" eaLnBrk="1" hangingPunct="1">
              <a:buClr>
                <a:schemeClr val="accent1"/>
              </a:buClr>
              <a:buFont typeface="Arial" panose="020B0604020202020204" pitchFamily="34" charset="0"/>
              <a:buChar char="–"/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  create  view  custview  as </a:t>
            </a:r>
          </a:p>
          <a:p>
            <a:pPr lvl="2" indent="0" algn="l" eaLnBrk="1" hangingPunct="1">
              <a:buClr>
                <a:schemeClr val="accent1"/>
              </a:buClr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select cid, cname, city from customers;</a:t>
            </a:r>
          </a:p>
          <a:p>
            <a:pPr lvl="2" indent="0" algn="l" eaLnBrk="1" hangingPunct="1">
              <a:buClr>
                <a:schemeClr val="accent1"/>
              </a:buClr>
            </a:pPr>
            <a:endParaRPr lang="en-US" altLang="zh-CN" sz="1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lvl="1" indent="-285750" algn="l" eaLnBrk="1" hangingPunct="1">
              <a:buClr>
                <a:schemeClr val="accent1"/>
              </a:buClr>
              <a:buFont typeface="Arial" panose="020B0604020202020204" pitchFamily="34" charset="0"/>
              <a:buChar char="–"/>
            </a:pP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grant select, delete, insert, </a:t>
            </a:r>
          </a:p>
          <a:p>
            <a:pPr lvl="4" indent="0" algn="l" eaLnBrk="1" hangingPunct="1">
              <a:buClr>
                <a:schemeClr val="accent1"/>
              </a:buClr>
            </a:pP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update(cname, city)  on custview </a:t>
            </a:r>
          </a:p>
          <a:p>
            <a:pPr lvl="2" indent="0" algn="l" eaLnBrk="1" hangingPunct="1">
              <a:buClr>
                <a:schemeClr val="accent1"/>
              </a:buClr>
            </a:pP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to </a:t>
            </a:r>
            <a:r>
              <a:rPr lang="en-US" altLang="zh-CN" sz="2800" b="1" u="sng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eoneil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;</a:t>
            </a:r>
          </a:p>
        </p:txBody>
      </p:sp>
      <p:sp>
        <p:nvSpPr>
          <p:cNvPr id="64519" name="Rectangle 5"/>
          <p:cNvSpPr/>
          <p:nvPr/>
        </p:nvSpPr>
        <p:spPr>
          <a:xfrm>
            <a:off x="0" y="5445125"/>
            <a:ext cx="9144000" cy="879475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zh-CN" sz="2800" b="1" u="sng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The user eoneil does not need these privileges on the base table customres.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250"/>
                                        <p:tgtEl>
                                          <p:spTgt spid="645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45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C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250"/>
                                        <p:tgtEl>
                                          <p:spTgt spid="645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45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C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250"/>
                                        <p:tgtEl>
                                          <p:spTgt spid="645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45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C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45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45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45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645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645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645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64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8" grpId="0" build="p" bldLvl="2"/>
      <p:bldP spid="64519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日期占位符 3"/>
          <p:cNvSpPr txBox="1">
            <a:spLocks noGrp="1"/>
          </p:cNvSpPr>
          <p:nvPr/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BB962C8B-B14F-4D97-AF65-F5344CB8AC3E}" type="datetime1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65538" name="页脚占位符 4"/>
          <p:cNvSpPr txBox="1">
            <a:spLocks noGrp="1"/>
          </p:cNvSpPr>
          <p:nvPr/>
        </p:nvSpPr>
        <p:spPr>
          <a:xfrm>
            <a:off x="2590800" y="6553200"/>
            <a:ext cx="39624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Integrity,Views,Security,and Catalogs</a:t>
            </a:r>
            <a:endParaRPr lang="en-US" altLang="zh-CN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65539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62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65540" name="Rectangle 2"/>
          <p:cNvSpPr>
            <a:spLocks noGrp="1"/>
          </p:cNvSpPr>
          <p:nvPr>
            <p:ph type="title" idx="4294967295"/>
          </p:nvPr>
        </p:nvSpPr>
        <p:spPr>
          <a:ln/>
        </p:spPr>
        <p:txBody>
          <a:bodyPr wrap="square" anchor="ctr"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7.3  Security</a:t>
            </a:r>
          </a:p>
        </p:txBody>
      </p:sp>
      <p:sp>
        <p:nvSpPr>
          <p:cNvPr id="65541" name="Rectangle 3"/>
          <p:cNvSpPr>
            <a:spLocks noGrp="1"/>
          </p:cNvSpPr>
          <p:nvPr>
            <p:ph type="body" idx="4294967295"/>
          </p:nvPr>
        </p:nvSpPr>
        <p:spPr>
          <a:xfrm>
            <a:off x="0" y="990600"/>
            <a:ext cx="8686800" cy="5257800"/>
          </a:xfrm>
          <a:ln/>
        </p:spPr>
        <p:txBody>
          <a:bodyPr wrap="square" anchor="t"/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The SQL statement to revoke privileges</a:t>
            </a:r>
          </a:p>
          <a:p>
            <a:pPr eaLnBrk="1" hangingPunct="1"/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 dirty="0">
                <a:ea typeface="宋体" panose="02010600030101010101" pitchFamily="2" charset="-122"/>
              </a:rPr>
              <a:t>revoke privileges earlier granted to a user.</a:t>
            </a:r>
          </a:p>
        </p:txBody>
      </p:sp>
      <p:sp>
        <p:nvSpPr>
          <p:cNvPr id="65542" name="Text Box 4"/>
          <p:cNvSpPr txBox="1"/>
          <p:nvPr/>
        </p:nvSpPr>
        <p:spPr>
          <a:xfrm>
            <a:off x="323850" y="1787525"/>
            <a:ext cx="8610600" cy="2936875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REVOKE 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{ 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ALL PRIVILEGES </a:t>
            </a:r>
          </a:p>
          <a:p>
            <a:pPr marL="2057400" lvl="4" indent="-228600" algn="l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|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 privilege 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{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, privilege …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} }</a:t>
            </a:r>
          </a:p>
          <a:p>
            <a:pPr lvl="1" indent="0" algn="l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ON  tablename 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|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 viewname</a:t>
            </a:r>
          </a:p>
          <a:p>
            <a:pPr lvl="1" indent="0" algn="l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FROM 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{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 PUBLIC 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| 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user-name 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{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, user-name … 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}}</a:t>
            </a:r>
          </a:p>
          <a:p>
            <a:pPr lvl="1" indent="0" algn="l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{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 CASCADE 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|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 RESTRICT 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65543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日期占位符 3"/>
          <p:cNvSpPr txBox="1">
            <a:spLocks noGrp="1"/>
          </p:cNvSpPr>
          <p:nvPr/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BB962C8B-B14F-4D97-AF65-F5344CB8AC3E}" type="datetime1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66562" name="页脚占位符 4"/>
          <p:cNvSpPr txBox="1">
            <a:spLocks noGrp="1"/>
          </p:cNvSpPr>
          <p:nvPr/>
        </p:nvSpPr>
        <p:spPr>
          <a:xfrm>
            <a:off x="2590800" y="6553200"/>
            <a:ext cx="39624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Integrity,Views,Security,and Catalogs</a:t>
            </a:r>
            <a:endParaRPr lang="en-US" altLang="zh-CN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66563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63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66564" name="Rectangle 2"/>
          <p:cNvSpPr>
            <a:spLocks noGrp="1"/>
          </p:cNvSpPr>
          <p:nvPr>
            <p:ph type="title" idx="4294967295"/>
          </p:nvPr>
        </p:nvSpPr>
        <p:spPr>
          <a:ln/>
        </p:spPr>
        <p:txBody>
          <a:bodyPr wrap="square" anchor="ctr"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7.4  System Catalogs and Schemas</a:t>
            </a:r>
          </a:p>
        </p:txBody>
      </p:sp>
      <p:sp>
        <p:nvSpPr>
          <p:cNvPr id="66566" name="Rectangle 3"/>
          <p:cNvSpPr>
            <a:spLocks noGrp="1"/>
          </p:cNvSpPr>
          <p:nvPr>
            <p:ph type="body" idx="4294967295"/>
          </p:nvPr>
        </p:nvSpPr>
        <p:spPr>
          <a:xfrm>
            <a:off x="0" y="990600"/>
            <a:ext cx="9144000" cy="5462588"/>
          </a:xfrm>
          <a:ln/>
        </p:spPr>
        <p:txBody>
          <a:bodyPr wrap="square" anchor="t"/>
          <a:lstStyle/>
          <a:p>
            <a:pPr eaLnBrk="1" hangingPunct="1">
              <a:lnSpc>
                <a:spcPct val="90000"/>
              </a:lnSpc>
            </a:pPr>
            <a:r>
              <a:rPr lang="en-US" altLang="zh-CN" sz="3200" dirty="0">
                <a:ea typeface="宋体" panose="02010600030101010101" pitchFamily="2" charset="-122"/>
              </a:rPr>
              <a:t>Idea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3200" dirty="0">
                <a:ea typeface="宋体" panose="02010600030101010101" pitchFamily="2" charset="-122"/>
              </a:rPr>
              <a:t>data dictionary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CN" sz="3200" dirty="0">
                <a:solidFill>
                  <a:schemeClr val="tx1"/>
                </a:solidFill>
                <a:ea typeface="宋体" panose="02010600030101010101" pitchFamily="2" charset="-122"/>
              </a:rPr>
              <a:t>all objects created by SQL commands are listed as objects in tables maintained by the system.</a:t>
            </a:r>
          </a:p>
          <a:p>
            <a:pPr lvl="2" eaLnBrk="1" hangingPunct="1">
              <a:lnSpc>
                <a:spcPct val="90000"/>
              </a:lnSpc>
            </a:pPr>
            <a:endParaRPr lang="en-US" altLang="zh-CN" sz="16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3200" dirty="0">
                <a:ea typeface="宋体" panose="02010600030101010101" pitchFamily="2" charset="-122"/>
              </a:rPr>
              <a:t>DBA visiting another site would look at catalog tables (meta-data) to find out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CN" sz="3200" dirty="0">
                <a:solidFill>
                  <a:schemeClr val="tx1"/>
                </a:solidFill>
                <a:ea typeface="宋体" panose="02010600030101010101" pitchFamily="2" charset="-122"/>
              </a:rPr>
              <a:t>what tables exist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CN" sz="3200" dirty="0">
                <a:solidFill>
                  <a:schemeClr val="tx1"/>
                </a:solidFill>
                <a:ea typeface="宋体" panose="02010600030101010101" pitchFamily="2" charset="-122"/>
              </a:rPr>
              <a:t>what columns in them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CN" sz="3200" dirty="0">
                <a:solidFill>
                  <a:schemeClr val="tx1"/>
                </a:solidFill>
                <a:ea typeface="宋体" panose="02010600030101010101" pitchFamily="2" charset="-122"/>
              </a:rPr>
              <a:t>......</a:t>
            </a:r>
            <a:endParaRPr lang="zh-CN" altLang="en-US" sz="32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65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65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665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665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日期占位符 3"/>
          <p:cNvSpPr txBox="1">
            <a:spLocks noGrp="1"/>
          </p:cNvSpPr>
          <p:nvPr/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BB962C8B-B14F-4D97-AF65-F5344CB8AC3E}" type="datetime1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67586" name="页脚占位符 4"/>
          <p:cNvSpPr txBox="1">
            <a:spLocks noGrp="1"/>
          </p:cNvSpPr>
          <p:nvPr/>
        </p:nvSpPr>
        <p:spPr>
          <a:xfrm>
            <a:off x="2590800" y="6553200"/>
            <a:ext cx="39624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Integrity,Views,Security,and Catalogs</a:t>
            </a:r>
            <a:endParaRPr lang="en-US" altLang="zh-CN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67587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64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67588" name="Rectangle 2"/>
          <p:cNvSpPr>
            <a:spLocks noGrp="1"/>
          </p:cNvSpPr>
          <p:nvPr>
            <p:ph type="title" idx="4294967295"/>
          </p:nvPr>
        </p:nvSpPr>
        <p:spPr>
          <a:ln/>
        </p:spPr>
        <p:txBody>
          <a:bodyPr wrap="square" anchor="ctr"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7.4  System Catalogs and Schemas</a:t>
            </a:r>
          </a:p>
        </p:txBody>
      </p:sp>
      <p:sp>
        <p:nvSpPr>
          <p:cNvPr id="66566" name="Rectangle 3"/>
          <p:cNvSpPr>
            <a:spLocks noGrp="1"/>
          </p:cNvSpPr>
          <p:nvPr>
            <p:ph type="body" idx="4294967295"/>
          </p:nvPr>
        </p:nvSpPr>
        <p:spPr>
          <a:xfrm>
            <a:off x="0" y="990600"/>
            <a:ext cx="9144000" cy="5462588"/>
          </a:xfrm>
        </p:spPr>
        <p:txBody>
          <a:bodyPr wrap="square" anchor="t"/>
          <a:lstStyle/>
          <a:p>
            <a:pPr lvl="0" indent="-342900" eaLnBrk="1" fontAlgn="base" hangingPunct="1">
              <a:lnSpc>
                <a:spcPct val="100000"/>
              </a:lnSpc>
            </a:pPr>
            <a:r>
              <a:rPr lang="en-US" altLang="x-none" sz="2800" strike="noStrike" noProof="1">
                <a:ea typeface="宋体" panose="02010600030101010101" pitchFamily="2" charset="-122"/>
              </a:rPr>
              <a:t>schema (</a:t>
            </a:r>
            <a:r>
              <a:rPr lang="zh-CN" altLang="x-none" sz="2800" strike="noStrike" noProof="1">
                <a:ea typeface="宋体" panose="02010600030101010101" pitchFamily="2" charset="-122"/>
              </a:rPr>
              <a:t>模式</a:t>
            </a:r>
            <a:r>
              <a:rPr lang="en-US" altLang="x-none" sz="2800" strike="noStrike" noProof="1">
                <a:ea typeface="宋体" panose="02010600030101010101" pitchFamily="2" charset="-122"/>
              </a:rPr>
              <a:t>)</a:t>
            </a:r>
          </a:p>
          <a:p>
            <a:pPr lvl="1" eaLnBrk="1" fontAlgn="base" hangingPunct="1">
              <a:lnSpc>
                <a:spcPct val="100000"/>
              </a:lnSpc>
            </a:pPr>
            <a:r>
              <a:rPr lang="en-US" altLang="x-none" sz="2800" strike="noStrike" noProof="1">
                <a:ea typeface="宋体" panose="02010600030101010101" pitchFamily="2" charset="-122"/>
              </a:rPr>
              <a:t>A schema is a collection of database objects (used by a user).</a:t>
            </a:r>
          </a:p>
          <a:p>
            <a:pPr lvl="1" indent="-285750" eaLnBrk="1" fontAlgn="base" hangingPunct="1">
              <a:lnSpc>
                <a:spcPct val="100000"/>
              </a:lnSpc>
            </a:pPr>
            <a:r>
              <a:rPr lang="en-US" altLang="x-none" sz="2800" strike="noStrike" noProof="1">
                <a:ea typeface="宋体" panose="02010600030101010101" pitchFamily="2" charset="-122"/>
              </a:rPr>
              <a:t>Schema objects are the logical structures that directly refer to the database’s data.</a:t>
            </a:r>
          </a:p>
          <a:p>
            <a:pPr lvl="1" indent="-285750" eaLnBrk="1" fontAlgn="base" hangingPunct="1">
              <a:lnSpc>
                <a:spcPct val="100000"/>
              </a:lnSpc>
            </a:pPr>
            <a:endParaRPr lang="en-US" altLang="x-none" sz="2800" strike="noStrike" noProof="1">
              <a:ea typeface="宋体" panose="02010600030101010101" pitchFamily="2" charset="-122"/>
            </a:endParaRPr>
          </a:p>
          <a:p>
            <a:pPr lvl="0" indent="-285750" eaLnBrk="1" fontAlgn="base" hangingPunct="1">
              <a:lnSpc>
                <a:spcPct val="100000"/>
              </a:lnSpc>
            </a:pPr>
            <a:r>
              <a:rPr lang="en-US" altLang="x-none" sz="2800" strike="noStrike" noProof="1">
                <a:ea typeface="宋体" panose="02010600030101010101" pitchFamily="2" charset="-122"/>
              </a:rPr>
              <a:t>user &amp; schema</a:t>
            </a:r>
          </a:p>
          <a:p>
            <a:pPr lvl="1" indent="-285750" eaLnBrk="1" fontAlgn="base" hangingPunct="1">
              <a:lnSpc>
                <a:spcPct val="100000"/>
              </a:lnSpc>
            </a:pPr>
            <a:r>
              <a:rPr lang="en-US" altLang="x-none" sz="2800" strike="noStrike" noProof="1">
                <a:ea typeface="宋体" panose="02010600030101010101" pitchFamily="2" charset="-122"/>
              </a:rPr>
              <a:t>A user is a name defined in the database that can connect to and access objects.</a:t>
            </a:r>
          </a:p>
          <a:p>
            <a:pPr lvl="1" indent="-285750" eaLnBrk="1" fontAlgn="base" hangingPunct="1">
              <a:lnSpc>
                <a:spcPct val="100000"/>
              </a:lnSpc>
            </a:pPr>
            <a:r>
              <a:rPr lang="en-US" altLang="x-none" sz="2800" strike="noStrike" noProof="1">
                <a:ea typeface="宋体" panose="02010600030101010101" pitchFamily="2" charset="-122"/>
              </a:rPr>
              <a:t>Schemas and users help database administrators manage database security.</a:t>
            </a:r>
          </a:p>
        </p:txBody>
      </p:sp>
      <p:sp>
        <p:nvSpPr>
          <p:cNvPr id="67590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65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65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65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日期占位符 3"/>
          <p:cNvSpPr txBox="1">
            <a:spLocks noGrp="1"/>
          </p:cNvSpPr>
          <p:nvPr/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BB962C8B-B14F-4D97-AF65-F5344CB8AC3E}" type="datetime1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68610" name="页脚占位符 4"/>
          <p:cNvSpPr txBox="1">
            <a:spLocks noGrp="1"/>
          </p:cNvSpPr>
          <p:nvPr/>
        </p:nvSpPr>
        <p:spPr>
          <a:xfrm>
            <a:off x="2590800" y="6553200"/>
            <a:ext cx="39624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Integrity,Views,Security,and Catalogs</a:t>
            </a:r>
            <a:endParaRPr lang="en-US" altLang="zh-CN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68611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65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68612" name="Rectangle 2"/>
          <p:cNvSpPr>
            <a:spLocks noGrp="1"/>
          </p:cNvSpPr>
          <p:nvPr>
            <p:ph type="title" idx="4294967295"/>
          </p:nvPr>
        </p:nvSpPr>
        <p:spPr>
          <a:ln/>
        </p:spPr>
        <p:txBody>
          <a:bodyPr wrap="square" anchor="ctr"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7.4  System Catalogs and Schemas</a:t>
            </a:r>
          </a:p>
        </p:txBody>
      </p:sp>
      <p:sp>
        <p:nvSpPr>
          <p:cNvPr id="68613" name="Rectangle 3"/>
          <p:cNvSpPr>
            <a:spLocks noGrp="1"/>
          </p:cNvSpPr>
          <p:nvPr>
            <p:ph type="body" idx="4294967295"/>
          </p:nvPr>
        </p:nvSpPr>
        <p:spPr>
          <a:ln/>
        </p:spPr>
        <p:txBody>
          <a:bodyPr wrap="square" anchor="t"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Schemas</a:t>
            </a:r>
          </a:p>
        </p:txBody>
      </p:sp>
      <p:sp>
        <p:nvSpPr>
          <p:cNvPr id="68614" name="Text Box 4"/>
          <p:cNvSpPr txBox="1"/>
          <p:nvPr/>
        </p:nvSpPr>
        <p:spPr>
          <a:xfrm>
            <a:off x="3276600" y="15240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Database</a:t>
            </a:r>
          </a:p>
        </p:txBody>
      </p:sp>
      <p:grpSp>
        <p:nvGrpSpPr>
          <p:cNvPr id="67592" name="组合 67591"/>
          <p:cNvGrpSpPr/>
          <p:nvPr/>
        </p:nvGrpSpPr>
        <p:grpSpPr>
          <a:xfrm>
            <a:off x="1066800" y="2057400"/>
            <a:ext cx="7848600" cy="1555750"/>
            <a:chOff x="0" y="0"/>
            <a:chExt cx="4944" cy="544"/>
          </a:xfrm>
        </p:grpSpPr>
        <p:sp>
          <p:nvSpPr>
            <p:cNvPr id="68616" name="Text Box 6"/>
            <p:cNvSpPr txBox="1"/>
            <p:nvPr/>
          </p:nvSpPr>
          <p:spPr>
            <a:xfrm>
              <a:off x="0" y="384"/>
              <a:ext cx="1200" cy="16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latin typeface="Arial" panose="020B0604020202020204" pitchFamily="34" charset="0"/>
                  <a:ea typeface="宋体" panose="02010600030101010101" pitchFamily="2" charset="-122"/>
                </a:rPr>
                <a:t>Schema A</a:t>
              </a:r>
            </a:p>
          </p:txBody>
        </p:sp>
        <p:sp>
          <p:nvSpPr>
            <p:cNvPr id="68617" name="Text Box 7"/>
            <p:cNvSpPr txBox="1"/>
            <p:nvPr/>
          </p:nvSpPr>
          <p:spPr>
            <a:xfrm>
              <a:off x="1296" y="384"/>
              <a:ext cx="1200" cy="16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latin typeface="Arial" panose="020B0604020202020204" pitchFamily="34" charset="0"/>
                  <a:ea typeface="宋体" panose="02010600030101010101" pitchFamily="2" charset="-122"/>
                </a:rPr>
                <a:t>Schema B</a:t>
              </a:r>
            </a:p>
          </p:txBody>
        </p:sp>
        <p:sp>
          <p:nvSpPr>
            <p:cNvPr id="68618" name="Text Box 8"/>
            <p:cNvSpPr txBox="1"/>
            <p:nvPr/>
          </p:nvSpPr>
          <p:spPr>
            <a:xfrm>
              <a:off x="2592" y="384"/>
              <a:ext cx="1200" cy="16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latin typeface="Arial" panose="020B0604020202020204" pitchFamily="34" charset="0"/>
                  <a:ea typeface="宋体" panose="02010600030101010101" pitchFamily="2" charset="-122"/>
                </a:rPr>
                <a:t>Schema C</a:t>
              </a:r>
            </a:p>
          </p:txBody>
        </p:sp>
        <p:sp>
          <p:nvSpPr>
            <p:cNvPr id="68619" name="Text Box 9"/>
            <p:cNvSpPr txBox="1"/>
            <p:nvPr/>
          </p:nvSpPr>
          <p:spPr>
            <a:xfrm>
              <a:off x="3744" y="182"/>
              <a:ext cx="1200" cy="16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latin typeface="Arial" panose="020B0604020202020204" pitchFamily="34" charset="0"/>
                  <a:ea typeface="宋体" panose="02010600030101010101" pitchFamily="2" charset="-122"/>
                </a:rPr>
                <a:t>......</a:t>
              </a:r>
            </a:p>
          </p:txBody>
        </p:sp>
        <p:sp>
          <p:nvSpPr>
            <p:cNvPr id="68620" name="Line 10"/>
            <p:cNvSpPr/>
            <p:nvPr/>
          </p:nvSpPr>
          <p:spPr>
            <a:xfrm flipH="1">
              <a:off x="720" y="0"/>
              <a:ext cx="960" cy="432"/>
            </a:xfrm>
            <a:prstGeom prst="line">
              <a:avLst/>
            </a:prstGeom>
            <a:ln w="25400" cap="flat" cmpd="sng">
              <a:solidFill>
                <a:srgbClr val="FF0066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Times New Roman" panose="02020603050405020304" pitchFamily="2" charset="0"/>
              </a:endParaRPr>
            </a:p>
          </p:txBody>
        </p:sp>
        <p:sp>
          <p:nvSpPr>
            <p:cNvPr id="68621" name="Line 11"/>
            <p:cNvSpPr/>
            <p:nvPr/>
          </p:nvSpPr>
          <p:spPr>
            <a:xfrm flipH="1">
              <a:off x="1872" y="0"/>
              <a:ext cx="0" cy="432"/>
            </a:xfrm>
            <a:prstGeom prst="line">
              <a:avLst/>
            </a:prstGeom>
            <a:ln w="25400" cap="flat" cmpd="sng">
              <a:solidFill>
                <a:srgbClr val="FF0066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Times New Roman" panose="02020603050405020304" pitchFamily="2" charset="0"/>
              </a:endParaRPr>
            </a:p>
          </p:txBody>
        </p:sp>
        <p:sp>
          <p:nvSpPr>
            <p:cNvPr id="68622" name="Line 12"/>
            <p:cNvSpPr/>
            <p:nvPr/>
          </p:nvSpPr>
          <p:spPr>
            <a:xfrm>
              <a:off x="2064" y="0"/>
              <a:ext cx="816" cy="384"/>
            </a:xfrm>
            <a:prstGeom prst="line">
              <a:avLst/>
            </a:prstGeom>
            <a:ln w="25400" cap="flat" cmpd="sng">
              <a:solidFill>
                <a:srgbClr val="FF0066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Times New Roman" panose="02020603050405020304" pitchFamily="2" charset="0"/>
              </a:endParaRPr>
            </a:p>
          </p:txBody>
        </p:sp>
        <p:sp>
          <p:nvSpPr>
            <p:cNvPr id="68623" name="Line 13"/>
            <p:cNvSpPr/>
            <p:nvPr/>
          </p:nvSpPr>
          <p:spPr>
            <a:xfrm>
              <a:off x="2400" y="0"/>
              <a:ext cx="1776" cy="432"/>
            </a:xfrm>
            <a:prstGeom prst="line">
              <a:avLst/>
            </a:prstGeom>
            <a:ln w="25400" cap="flat" cmpd="sng">
              <a:solidFill>
                <a:srgbClr val="FF0066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Times New Roman" panose="02020603050405020304" pitchFamily="2" charset="0"/>
              </a:endParaRPr>
            </a:p>
          </p:txBody>
        </p:sp>
      </p:grpSp>
      <p:grpSp>
        <p:nvGrpSpPr>
          <p:cNvPr id="67601" name="组合 67600"/>
          <p:cNvGrpSpPr/>
          <p:nvPr/>
        </p:nvGrpSpPr>
        <p:grpSpPr>
          <a:xfrm>
            <a:off x="1600200" y="3597275"/>
            <a:ext cx="6019800" cy="2214563"/>
            <a:chOff x="0" y="0"/>
            <a:chExt cx="3792" cy="993"/>
          </a:xfrm>
        </p:grpSpPr>
        <p:sp>
          <p:nvSpPr>
            <p:cNvPr id="68625" name="Text Box 15"/>
            <p:cNvSpPr txBox="1"/>
            <p:nvPr/>
          </p:nvSpPr>
          <p:spPr>
            <a:xfrm>
              <a:off x="0" y="624"/>
              <a:ext cx="768" cy="36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latin typeface="Arial" panose="020B0604020202020204" pitchFamily="34" charset="0"/>
                  <a:ea typeface="宋体" panose="02010600030101010101" pitchFamily="2" charset="-122"/>
                </a:rPr>
                <a:t>Tables ...</a:t>
              </a:r>
            </a:p>
          </p:txBody>
        </p:sp>
        <p:sp>
          <p:nvSpPr>
            <p:cNvPr id="68626" name="Text Box 16"/>
            <p:cNvSpPr txBox="1"/>
            <p:nvPr/>
          </p:nvSpPr>
          <p:spPr>
            <a:xfrm>
              <a:off x="816" y="624"/>
              <a:ext cx="672" cy="36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latin typeface="Arial" panose="020B0604020202020204" pitchFamily="34" charset="0"/>
                  <a:ea typeface="宋体" panose="02010600030101010101" pitchFamily="2" charset="-122"/>
                </a:rPr>
                <a:t>Views ...</a:t>
              </a:r>
            </a:p>
          </p:txBody>
        </p:sp>
        <p:sp>
          <p:nvSpPr>
            <p:cNvPr id="68627" name="Text Box 17"/>
            <p:cNvSpPr txBox="1"/>
            <p:nvPr/>
          </p:nvSpPr>
          <p:spPr>
            <a:xfrm>
              <a:off x="1536" y="624"/>
              <a:ext cx="960" cy="36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latin typeface="Arial" panose="020B0604020202020204" pitchFamily="34" charset="0"/>
                  <a:ea typeface="宋体" panose="02010600030101010101" pitchFamily="2" charset="-122"/>
                </a:rPr>
                <a:t>Columns ...</a:t>
              </a:r>
            </a:p>
          </p:txBody>
        </p:sp>
        <p:sp>
          <p:nvSpPr>
            <p:cNvPr id="68628" name="Text Box 18"/>
            <p:cNvSpPr txBox="1"/>
            <p:nvPr/>
          </p:nvSpPr>
          <p:spPr>
            <a:xfrm>
              <a:off x="2496" y="624"/>
              <a:ext cx="816" cy="36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latin typeface="Arial" panose="020B0604020202020204" pitchFamily="34" charset="0"/>
                  <a:ea typeface="宋体" panose="02010600030101010101" pitchFamily="2" charset="-122"/>
                </a:rPr>
                <a:t>Indexs ...</a:t>
              </a:r>
            </a:p>
          </p:txBody>
        </p:sp>
        <p:sp>
          <p:nvSpPr>
            <p:cNvPr id="68629" name="Text Box 19"/>
            <p:cNvSpPr txBox="1"/>
            <p:nvPr/>
          </p:nvSpPr>
          <p:spPr>
            <a:xfrm>
              <a:off x="3312" y="624"/>
              <a:ext cx="480" cy="20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latin typeface="Arial" panose="020B0604020202020204" pitchFamily="34" charset="0"/>
                  <a:ea typeface="宋体" panose="02010600030101010101" pitchFamily="2" charset="-122"/>
                </a:rPr>
                <a:t>.....</a:t>
              </a:r>
            </a:p>
          </p:txBody>
        </p:sp>
        <p:sp>
          <p:nvSpPr>
            <p:cNvPr id="68630" name="Line 20"/>
            <p:cNvSpPr/>
            <p:nvPr/>
          </p:nvSpPr>
          <p:spPr>
            <a:xfrm flipH="1">
              <a:off x="480" y="0"/>
              <a:ext cx="1056" cy="624"/>
            </a:xfrm>
            <a:prstGeom prst="line">
              <a:avLst/>
            </a:prstGeom>
            <a:ln w="254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Times New Roman" panose="02020603050405020304" pitchFamily="2" charset="0"/>
              </a:endParaRPr>
            </a:p>
          </p:txBody>
        </p:sp>
        <p:sp>
          <p:nvSpPr>
            <p:cNvPr id="68631" name="Line 21"/>
            <p:cNvSpPr/>
            <p:nvPr/>
          </p:nvSpPr>
          <p:spPr>
            <a:xfrm flipH="1">
              <a:off x="1200" y="0"/>
              <a:ext cx="336" cy="672"/>
            </a:xfrm>
            <a:prstGeom prst="line">
              <a:avLst/>
            </a:prstGeom>
            <a:ln w="254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Times New Roman" panose="02020603050405020304" pitchFamily="2" charset="0"/>
              </a:endParaRPr>
            </a:p>
          </p:txBody>
        </p:sp>
        <p:sp>
          <p:nvSpPr>
            <p:cNvPr id="68632" name="Line 22"/>
            <p:cNvSpPr/>
            <p:nvPr/>
          </p:nvSpPr>
          <p:spPr>
            <a:xfrm>
              <a:off x="1536" y="0"/>
              <a:ext cx="432" cy="672"/>
            </a:xfrm>
            <a:prstGeom prst="line">
              <a:avLst/>
            </a:prstGeom>
            <a:ln w="254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Times New Roman" panose="02020603050405020304" pitchFamily="2" charset="0"/>
              </a:endParaRPr>
            </a:p>
          </p:txBody>
        </p:sp>
        <p:sp>
          <p:nvSpPr>
            <p:cNvPr id="68633" name="Line 23"/>
            <p:cNvSpPr/>
            <p:nvPr/>
          </p:nvSpPr>
          <p:spPr>
            <a:xfrm>
              <a:off x="1536" y="0"/>
              <a:ext cx="1248" cy="672"/>
            </a:xfrm>
            <a:prstGeom prst="line">
              <a:avLst/>
            </a:prstGeom>
            <a:ln w="254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Times New Roman" panose="02020603050405020304" pitchFamily="2" charset="0"/>
              </a:endParaRPr>
            </a:p>
          </p:txBody>
        </p:sp>
        <p:sp>
          <p:nvSpPr>
            <p:cNvPr id="68634" name="Line 24"/>
            <p:cNvSpPr/>
            <p:nvPr/>
          </p:nvSpPr>
          <p:spPr>
            <a:xfrm>
              <a:off x="1536" y="0"/>
              <a:ext cx="1968" cy="720"/>
            </a:xfrm>
            <a:prstGeom prst="line">
              <a:avLst/>
            </a:prstGeom>
            <a:ln w="254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Times New Roman" panose="02020603050405020304" pitchFamily="2" charset="0"/>
              </a:endParaRPr>
            </a:p>
          </p:txBody>
        </p:sp>
      </p:grpSp>
      <p:sp>
        <p:nvSpPr>
          <p:cNvPr id="68635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7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7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75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75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76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76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76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76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日期占位符 3"/>
          <p:cNvSpPr txBox="1">
            <a:spLocks noGrp="1"/>
          </p:cNvSpPr>
          <p:nvPr/>
        </p:nvSpPr>
        <p:spPr>
          <a:xfrm>
            <a:off x="381000" y="6477000"/>
            <a:ext cx="1905000" cy="3048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BB962C8B-B14F-4D97-AF65-F5344CB8AC3E}" type="datetime1">
              <a:rPr lang="zh-CN" altLang="en-US" sz="14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2019/12/31</a:t>
            </a:fld>
            <a:endParaRPr lang="zh-CN" altLang="en-US" sz="14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69634" name="页脚占位符 4"/>
          <p:cNvSpPr txBox="1">
            <a:spLocks noGrp="1"/>
          </p:cNvSpPr>
          <p:nvPr/>
        </p:nvSpPr>
        <p:spPr>
          <a:xfrm>
            <a:off x="2590800" y="6477000"/>
            <a:ext cx="3962400" cy="3048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14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Database Principles &amp; Programming</a:t>
            </a:r>
            <a:endParaRPr lang="en-US" altLang="zh-CN" sz="14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69635" name="灯片编号占位符 5"/>
          <p:cNvSpPr txBox="1">
            <a:spLocks noGrp="1"/>
          </p:cNvSpPr>
          <p:nvPr/>
        </p:nvSpPr>
        <p:spPr>
          <a:xfrm>
            <a:off x="6858000" y="6477000"/>
            <a:ext cx="1905000" cy="3048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4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66</a:t>
            </a:fld>
            <a:endParaRPr lang="zh-CN" altLang="en-US" sz="14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69636" name="Rectangle 31"/>
          <p:cNvSpPr/>
          <p:nvPr/>
        </p:nvSpPr>
        <p:spPr>
          <a:xfrm>
            <a:off x="0" y="765175"/>
            <a:ext cx="9144000" cy="609282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2" charset="0"/>
              <a:ea typeface="Times New Roman" panose="02020603050405020304" pitchFamily="2" charset="0"/>
            </a:endParaRPr>
          </a:p>
        </p:txBody>
      </p:sp>
      <p:sp>
        <p:nvSpPr>
          <p:cNvPr id="69637" name="Rectangle 2"/>
          <p:cNvSpPr>
            <a:spLocks noGrp="1"/>
          </p:cNvSpPr>
          <p:nvPr>
            <p:ph type="title" idx="4294967295"/>
          </p:nvPr>
        </p:nvSpPr>
        <p:spPr>
          <a:xfrm>
            <a:off x="685800" y="44450"/>
            <a:ext cx="7772400" cy="533400"/>
          </a:xfrm>
          <a:ln/>
        </p:spPr>
        <p:txBody>
          <a:bodyPr wrap="square" anchor="ctr"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Architecture of Database System</a:t>
            </a:r>
          </a:p>
        </p:txBody>
      </p:sp>
      <p:graphicFrame>
        <p:nvGraphicFramePr>
          <p:cNvPr id="8200" name="Object 5"/>
          <p:cNvGraphicFramePr>
            <a:graphicFrameLocks noChangeAspect="1"/>
          </p:cNvGraphicFramePr>
          <p:nvPr/>
        </p:nvGraphicFramePr>
        <p:xfrm>
          <a:off x="2625725" y="4038600"/>
          <a:ext cx="4325938" cy="216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r:id="rId3" imgW="1973580" imgH="1677670" progId="Word.Picture.8">
                  <p:embed/>
                </p:oleObj>
              </mc:Choice>
              <mc:Fallback>
                <p:oleObj r:id="rId3" imgW="1973580" imgH="1677670" progId="Word.Picture.8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25725" y="4038600"/>
                        <a:ext cx="4325938" cy="2165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201" name="组合 8200"/>
          <p:cNvGrpSpPr/>
          <p:nvPr/>
        </p:nvGrpSpPr>
        <p:grpSpPr>
          <a:xfrm>
            <a:off x="250825" y="2636838"/>
            <a:ext cx="8281988" cy="647700"/>
            <a:chOff x="0" y="0"/>
            <a:chExt cx="5217" cy="408"/>
          </a:xfrm>
        </p:grpSpPr>
        <p:sp>
          <p:nvSpPr>
            <p:cNvPr id="69640" name="Line 13"/>
            <p:cNvSpPr/>
            <p:nvPr/>
          </p:nvSpPr>
          <p:spPr>
            <a:xfrm>
              <a:off x="46" y="45"/>
              <a:ext cx="5171" cy="0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9641" name="Line 23"/>
            <p:cNvSpPr/>
            <p:nvPr/>
          </p:nvSpPr>
          <p:spPr>
            <a:xfrm>
              <a:off x="2858" y="45"/>
              <a:ext cx="0" cy="363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9642" name="Text Box 24"/>
            <p:cNvSpPr txBox="1"/>
            <p:nvPr/>
          </p:nvSpPr>
          <p:spPr>
            <a:xfrm>
              <a:off x="0" y="0"/>
              <a:ext cx="171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 dirty="0">
                  <a:latin typeface="Arial" panose="020B0604020202020204" pitchFamily="34" charset="0"/>
                  <a:ea typeface="宋体" panose="02010600030101010101" pitchFamily="2" charset="-122"/>
                </a:rPr>
                <a:t>Internet/Intranet</a:t>
              </a:r>
            </a:p>
          </p:txBody>
        </p:sp>
      </p:grpSp>
      <p:grpSp>
        <p:nvGrpSpPr>
          <p:cNvPr id="8216" name="组合 8215"/>
          <p:cNvGrpSpPr/>
          <p:nvPr/>
        </p:nvGrpSpPr>
        <p:grpSpPr>
          <a:xfrm>
            <a:off x="1763713" y="3284538"/>
            <a:ext cx="6048375" cy="1008062"/>
            <a:chOff x="0" y="0"/>
            <a:chExt cx="3810" cy="635"/>
          </a:xfrm>
        </p:grpSpPr>
        <p:sp>
          <p:nvSpPr>
            <p:cNvPr id="69644" name="Text Box 6"/>
            <p:cNvSpPr txBox="1"/>
            <p:nvPr/>
          </p:nvSpPr>
          <p:spPr>
            <a:xfrm>
              <a:off x="0" y="0"/>
              <a:ext cx="3810" cy="339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 b="1" dirty="0">
                  <a:latin typeface="Arial" panose="020B0604020202020204" pitchFamily="34" charset="0"/>
                  <a:ea typeface="宋体" panose="02010600030101010101" pitchFamily="2" charset="-122"/>
                </a:rPr>
                <a:t>Database Management System</a:t>
              </a:r>
            </a:p>
          </p:txBody>
        </p:sp>
        <p:sp>
          <p:nvSpPr>
            <p:cNvPr id="69645" name="Line 28"/>
            <p:cNvSpPr/>
            <p:nvPr/>
          </p:nvSpPr>
          <p:spPr>
            <a:xfrm>
              <a:off x="1905" y="347"/>
              <a:ext cx="0" cy="28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69646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739775" y="765175"/>
            <a:ext cx="5067300" cy="1947863"/>
            <a:chOff x="600" y="1205"/>
            <a:chExt cx="7980" cy="3067"/>
          </a:xfrm>
        </p:grpSpPr>
        <p:grpSp>
          <p:nvGrpSpPr>
            <p:cNvPr id="69648" name="组合 8204"/>
            <p:cNvGrpSpPr/>
            <p:nvPr/>
          </p:nvGrpSpPr>
          <p:grpSpPr>
            <a:xfrm>
              <a:off x="1250" y="1205"/>
              <a:ext cx="7329" cy="3067"/>
              <a:chOff x="-21" y="0"/>
              <a:chExt cx="2932" cy="1227"/>
            </a:xfrm>
          </p:grpSpPr>
          <p:sp>
            <p:nvSpPr>
              <p:cNvPr id="69649" name="Line 18"/>
              <p:cNvSpPr/>
              <p:nvPr/>
            </p:nvSpPr>
            <p:spPr>
              <a:xfrm>
                <a:off x="-21" y="840"/>
                <a:ext cx="0" cy="384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9650" name="Line 22"/>
              <p:cNvSpPr/>
              <p:nvPr/>
            </p:nvSpPr>
            <p:spPr>
              <a:xfrm>
                <a:off x="1381" y="843"/>
                <a:ext cx="0" cy="384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9651" name="Line 25"/>
              <p:cNvSpPr/>
              <p:nvPr/>
            </p:nvSpPr>
            <p:spPr>
              <a:xfrm>
                <a:off x="2039" y="576"/>
                <a:ext cx="872" cy="14"/>
              </a:xfrm>
              <a:prstGeom prst="line">
                <a:avLst/>
              </a:prstGeom>
              <a:ln w="38100" cap="rnd" cmpd="sng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</p:spPr>
          </p:sp>
          <p:sp>
            <p:nvSpPr>
              <p:cNvPr id="69652" name="Text Box 26"/>
              <p:cNvSpPr txBox="1"/>
              <p:nvPr/>
            </p:nvSpPr>
            <p:spPr>
              <a:xfrm>
                <a:off x="355" y="0"/>
                <a:ext cx="1324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chemeClr val="accent2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End Users</a:t>
                </a:r>
              </a:p>
            </p:txBody>
          </p:sp>
        </p:grpSp>
        <p:pic>
          <p:nvPicPr>
            <p:cNvPr id="69653" name="图片 2" descr="A000220150320H68PPIC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416" y="1963"/>
              <a:ext cx="1024" cy="1417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9654" name="图片 3" descr="A000220150318D09PPIC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00" y="1963"/>
              <a:ext cx="1206" cy="1417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9655" name="图片 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052" y="1963"/>
              <a:ext cx="1475" cy="1417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8" name="组合 7"/>
          <p:cNvGrpSpPr/>
          <p:nvPr/>
        </p:nvGrpSpPr>
        <p:grpSpPr>
          <a:xfrm>
            <a:off x="6442075" y="822325"/>
            <a:ext cx="1524000" cy="1914525"/>
            <a:chOff x="9240" y="1295"/>
            <a:chExt cx="2400" cy="3014"/>
          </a:xfrm>
        </p:grpSpPr>
        <p:grpSp>
          <p:nvGrpSpPr>
            <p:cNvPr id="69657" name="组合 8211"/>
            <p:cNvGrpSpPr/>
            <p:nvPr/>
          </p:nvGrpSpPr>
          <p:grpSpPr>
            <a:xfrm>
              <a:off x="9240" y="1295"/>
              <a:ext cx="2400" cy="3015"/>
              <a:chOff x="0" y="0"/>
              <a:chExt cx="960" cy="1206"/>
            </a:xfrm>
          </p:grpSpPr>
          <p:sp>
            <p:nvSpPr>
              <p:cNvPr id="69658" name="Line 20"/>
              <p:cNvSpPr/>
              <p:nvPr/>
            </p:nvSpPr>
            <p:spPr>
              <a:xfrm>
                <a:off x="480" y="822"/>
                <a:ext cx="0" cy="384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9659" name="Text Box 27"/>
              <p:cNvSpPr txBox="1"/>
              <p:nvPr/>
            </p:nvSpPr>
            <p:spPr>
              <a:xfrm>
                <a:off x="0" y="0"/>
                <a:ext cx="960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chemeClr val="accent2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DBAs</a:t>
                </a:r>
              </a:p>
            </p:txBody>
          </p:sp>
        </p:grpSp>
        <p:pic>
          <p:nvPicPr>
            <p:cNvPr id="69660" name="图片 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560" y="2023"/>
              <a:ext cx="1760" cy="1417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11" name="组合 10"/>
          <p:cNvGrpSpPr/>
          <p:nvPr/>
        </p:nvGrpSpPr>
        <p:grpSpPr>
          <a:xfrm>
            <a:off x="8083550" y="3068638"/>
            <a:ext cx="863600" cy="2951162"/>
            <a:chOff x="12529" y="4833"/>
            <a:chExt cx="1360" cy="4648"/>
          </a:xfrm>
        </p:grpSpPr>
        <p:sp>
          <p:nvSpPr>
            <p:cNvPr id="9" name="右大括号 8"/>
            <p:cNvSpPr/>
            <p:nvPr/>
          </p:nvSpPr>
          <p:spPr>
            <a:xfrm>
              <a:off x="12529" y="4833"/>
              <a:ext cx="454" cy="4649"/>
            </a:xfrm>
            <a:prstGeom prst="rightBrace">
              <a:avLst/>
            </a:prstGeom>
            <a:ln w="222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  <p:sp>
          <p:nvSpPr>
            <p:cNvPr id="69663" name="文本框 9"/>
            <p:cNvSpPr txBox="1"/>
            <p:nvPr/>
          </p:nvSpPr>
          <p:spPr>
            <a:xfrm>
              <a:off x="13065" y="5361"/>
              <a:ext cx="825" cy="36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r>
                <a:rPr lang="zh-CN" altLang="en-US" b="1">
                  <a:solidFill>
                    <a:srgbClr val="FF0000"/>
                  </a:solidFill>
                  <a:latin typeface="Times New Roman" panose="02020603050405020304" pitchFamily="2" charset="0"/>
                  <a:ea typeface="宋体" panose="02010600030101010101" pitchFamily="2" charset="-122"/>
                </a:rPr>
                <a:t>数据库服务器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8083550" y="658813"/>
            <a:ext cx="863600" cy="1920875"/>
            <a:chOff x="12529" y="4565"/>
            <a:chExt cx="1361" cy="5316"/>
          </a:xfrm>
        </p:grpSpPr>
        <p:sp>
          <p:nvSpPr>
            <p:cNvPr id="5" name="右大括号 4"/>
            <p:cNvSpPr/>
            <p:nvPr/>
          </p:nvSpPr>
          <p:spPr>
            <a:xfrm>
              <a:off x="12529" y="4833"/>
              <a:ext cx="454" cy="4649"/>
            </a:xfrm>
            <a:prstGeom prst="rightBrace">
              <a:avLst/>
            </a:prstGeom>
            <a:ln w="222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  <p:sp>
          <p:nvSpPr>
            <p:cNvPr id="69666" name="文本框 9"/>
            <p:cNvSpPr txBox="1"/>
            <p:nvPr/>
          </p:nvSpPr>
          <p:spPr>
            <a:xfrm>
              <a:off x="13065" y="4565"/>
              <a:ext cx="825" cy="531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r>
                <a:rPr lang="zh-CN" altLang="en-US" b="1">
                  <a:solidFill>
                    <a:srgbClr val="FF0000"/>
                  </a:solidFill>
                  <a:latin typeface="Times New Roman" panose="02020603050405020304" pitchFamily="2" charset="0"/>
                  <a:ea typeface="宋体" panose="02010600030101010101" pitchFamily="2" charset="-122"/>
                </a:rPr>
                <a:t>数据库应用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2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2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2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2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日期占位符 3"/>
          <p:cNvSpPr txBox="1">
            <a:spLocks noGrp="1"/>
          </p:cNvSpPr>
          <p:nvPr/>
        </p:nvSpPr>
        <p:spPr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BB962C8B-B14F-4D97-AF65-F5344CB8AC3E}" type="datetime1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70658" name="页脚占位符 4"/>
          <p:cNvSpPr txBox="1">
            <a:spLocks noGrp="1"/>
          </p:cNvSpPr>
          <p:nvPr/>
        </p:nvSpPr>
        <p:spPr>
          <a:xfrm>
            <a:off x="2590800" y="6553200"/>
            <a:ext cx="39624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Integrity,Views,Security,and Catalogs</a:t>
            </a:r>
            <a:endParaRPr lang="en-US" altLang="zh-CN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70659" name="灯片编号占位符 5"/>
          <p:cNvSpPr txBox="1">
            <a:spLocks noGrp="1"/>
          </p:cNvSpPr>
          <p:nvPr/>
        </p:nvSpPr>
        <p:spPr>
          <a:xfrm>
            <a:off x="7162800" y="6553200"/>
            <a:ext cx="1905000" cy="228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fld id="{9A0DB2DC-4C9A-4742-B13C-FB6460FD3503}" type="slidenum">
              <a:rPr lang="zh-CN" altLang="en-US" sz="1200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67</a:t>
            </a:fld>
            <a:endParaRPr lang="zh-CN" altLang="en-US" sz="1200" b="1" i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70660" name="Rectangle 2"/>
          <p:cNvSpPr>
            <a:spLocks noGrp="1"/>
          </p:cNvSpPr>
          <p:nvPr>
            <p:ph type="title" idx="4294967295"/>
          </p:nvPr>
        </p:nvSpPr>
        <p:spPr>
          <a:ln/>
        </p:spPr>
        <p:txBody>
          <a:bodyPr wrap="square" anchor="ctr"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7.4  System Catalogs and Schemas</a:t>
            </a:r>
          </a:p>
        </p:txBody>
      </p:sp>
      <p:sp>
        <p:nvSpPr>
          <p:cNvPr id="70661" name="Rectangle 3"/>
          <p:cNvSpPr>
            <a:spLocks noGrp="1"/>
          </p:cNvSpPr>
          <p:nvPr>
            <p:ph type="body" idx="4294967295"/>
          </p:nvPr>
        </p:nvSpPr>
        <p:spPr>
          <a:xfrm>
            <a:off x="0" y="990600"/>
            <a:ext cx="9144000" cy="5462588"/>
          </a:xfrm>
          <a:ln/>
        </p:spPr>
        <p:txBody>
          <a:bodyPr wrap="square" anchor="t"/>
          <a:lstStyle/>
          <a:p>
            <a:pPr eaLnBrk="1" hangingPunct="1">
              <a:spcBef>
                <a:spcPts val="25"/>
              </a:spcBef>
              <a:spcAft>
                <a:spcPts val="1200"/>
              </a:spcAft>
            </a:pPr>
            <a:r>
              <a:rPr lang="en-US" altLang="zh-CN" sz="2800" dirty="0">
                <a:ea typeface="宋体" panose="02010600030101010101" pitchFamily="2" charset="-122"/>
              </a:rPr>
              <a:t>Oracle &amp; schema</a:t>
            </a:r>
          </a:p>
          <a:p>
            <a:pPr lvl="1" eaLnBrk="1" hangingPunct="1">
              <a:spcBef>
                <a:spcPts val="25"/>
              </a:spcBef>
              <a:spcAft>
                <a:spcPts val="1200"/>
              </a:spcAft>
            </a:pPr>
            <a:r>
              <a:rPr lang="en-US" altLang="zh-CN" sz="2600" dirty="0">
                <a:ea typeface="宋体" panose="02010600030101010101" pitchFamily="2" charset="-122"/>
              </a:rPr>
              <a:t>一个用户对应一个schema</a:t>
            </a:r>
          </a:p>
          <a:p>
            <a:pPr lvl="1" eaLnBrk="1" hangingPunct="1">
              <a:spcBef>
                <a:spcPts val="25"/>
              </a:spcBef>
              <a:spcAft>
                <a:spcPts val="1200"/>
              </a:spcAft>
            </a:pPr>
            <a:r>
              <a:rPr lang="zh-CN" altLang="x-none" sz="2600" dirty="0">
                <a:ea typeface="宋体" panose="02010600030101010101" pitchFamily="2" charset="-122"/>
              </a:rPr>
              <a:t>在</a:t>
            </a:r>
            <a:r>
              <a:rPr lang="en-US" altLang="zh-CN" sz="2600" dirty="0">
                <a:ea typeface="宋体" panose="02010600030101010101" pitchFamily="2" charset="-122"/>
              </a:rPr>
              <a:t>Oracle数据库中</a:t>
            </a:r>
            <a:r>
              <a:rPr lang="zh-CN" altLang="en-US" sz="2600" dirty="0">
                <a:ea typeface="宋体" panose="02010600030101010101" pitchFamily="2" charset="-122"/>
              </a:rPr>
              <a:t>，</a:t>
            </a:r>
            <a:r>
              <a:rPr lang="en-US" altLang="zh-CN" sz="2600" dirty="0">
                <a:ea typeface="宋体" panose="02010600030101010101" pitchFamily="2" charset="-122"/>
              </a:rPr>
              <a:t>在创建一个用户的同时为这个用户</a:t>
            </a:r>
            <a:r>
              <a:rPr lang="zh-CN" altLang="en-US" sz="2600" dirty="0">
                <a:ea typeface="宋体" panose="02010600030101010101" pitchFamily="2" charset="-122"/>
              </a:rPr>
              <a:t>自动</a:t>
            </a:r>
            <a:r>
              <a:rPr lang="en-US" altLang="zh-CN" sz="2600" dirty="0">
                <a:ea typeface="宋体" panose="02010600030101010101" pitchFamily="2" charset="-122"/>
              </a:rPr>
              <a:t>创建一个与用户名同名的schem并作为该用户的缺省shcema</a:t>
            </a:r>
            <a:endParaRPr lang="zh-CN" altLang="en-US" sz="2600" dirty="0">
              <a:ea typeface="宋体" panose="02010600030101010101" pitchFamily="2" charset="-122"/>
            </a:endParaRPr>
          </a:p>
          <a:p>
            <a:pPr lvl="1" eaLnBrk="1" hangingPunct="1">
              <a:spcBef>
                <a:spcPts val="25"/>
              </a:spcBef>
              <a:spcAft>
                <a:spcPts val="1200"/>
              </a:spcAft>
            </a:pPr>
            <a:r>
              <a:rPr lang="en-US" altLang="zh-CN" sz="2600" dirty="0">
                <a:ea typeface="宋体" panose="02010600030101010101" pitchFamily="2" charset="-122"/>
              </a:rPr>
              <a:t>一个用户访问一个表时，</a:t>
            </a:r>
            <a:r>
              <a:rPr lang="zh-CN" altLang="x-none" sz="2600" dirty="0">
                <a:ea typeface="宋体" panose="02010600030101010101" pitchFamily="2" charset="-122"/>
              </a:rPr>
              <a:t>如果</a:t>
            </a:r>
            <a:r>
              <a:rPr lang="en-US" altLang="zh-CN" sz="2600" dirty="0">
                <a:ea typeface="宋体" panose="02010600030101010101" pitchFamily="2" charset="-122"/>
              </a:rPr>
              <a:t>没有指明该表属于哪一个schema，系统就会自动在表上加上缺省的sheman名。</a:t>
            </a:r>
          </a:p>
          <a:p>
            <a:pPr lvl="1" eaLnBrk="1" hangingPunct="1">
              <a:spcBef>
                <a:spcPts val="25"/>
              </a:spcBef>
              <a:spcAft>
                <a:spcPts val="1200"/>
              </a:spcAft>
            </a:pPr>
            <a:r>
              <a:rPr lang="zh-CN" altLang="en-US" sz="2600" dirty="0">
                <a:ea typeface="宋体" panose="02010600030101010101" pitchFamily="2" charset="-122"/>
              </a:rPr>
              <a:t>当</a:t>
            </a:r>
            <a:r>
              <a:rPr lang="en-US" altLang="zh-CN" sz="2600" dirty="0">
                <a:ea typeface="宋体" panose="02010600030101010101" pitchFamily="2" charset="-122"/>
              </a:rPr>
              <a:t>一个用户想访问另外一个用户(</a:t>
            </a:r>
            <a:r>
              <a:rPr lang="zh-CN" altLang="en-US" sz="2600" dirty="0">
                <a:ea typeface="宋体" panose="02010600030101010101" pitchFamily="2" charset="-122"/>
              </a:rPr>
              <a:t>即</a:t>
            </a:r>
            <a:r>
              <a:rPr lang="en-US" altLang="zh-CN" sz="2600" dirty="0">
                <a:ea typeface="宋体" panose="02010600030101010101" pitchFamily="2" charset="-122"/>
              </a:rPr>
              <a:t>另外一个schema)</a:t>
            </a:r>
            <a:r>
              <a:rPr lang="zh-CN" altLang="en-US" sz="2600" dirty="0">
                <a:ea typeface="宋体" panose="02010600030101010101" pitchFamily="2" charset="-122"/>
              </a:rPr>
              <a:t>下</a:t>
            </a:r>
            <a:r>
              <a:rPr lang="en-US" altLang="zh-CN" sz="2600" dirty="0">
                <a:ea typeface="宋体" panose="02010600030101010101" pitchFamily="2" charset="-122"/>
              </a:rPr>
              <a:t>的表的时候，可以用 schemaname.tablename的形式来访问</a:t>
            </a:r>
          </a:p>
        </p:txBody>
      </p:sp>
      <p:sp>
        <p:nvSpPr>
          <p:cNvPr id="70662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+mn-ea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b="1" i="1" dirty="0">
                <a:ea typeface="宋体" panose="02010600030101010101" pitchFamily="2" charset="-122"/>
              </a:rPr>
              <a:t>2019/12/31</a:t>
            </a:fld>
            <a:endParaRPr lang="zh-CN" altLang="en-US" sz="1200" b="1" i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4983</Words>
  <Application>Microsoft Office PowerPoint</Application>
  <PresentationFormat>全屏显示(4:3)</PresentationFormat>
  <Paragraphs>977</Paragraphs>
  <Slides>67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67</vt:i4>
      </vt:variant>
    </vt:vector>
  </HeadingPairs>
  <TitlesOfParts>
    <vt:vector size="75" baseType="lpstr">
      <vt:lpstr>Arial Unicode MS</vt:lpstr>
      <vt:lpstr>宋体</vt:lpstr>
      <vt:lpstr>Arial</vt:lpstr>
      <vt:lpstr>Calibri</vt:lpstr>
      <vt:lpstr>Times New Roman</vt:lpstr>
      <vt:lpstr>Wingdings</vt:lpstr>
      <vt:lpstr>默认设计模板</vt:lpstr>
      <vt:lpstr>Microsoft Word Picture</vt:lpstr>
      <vt:lpstr>Chapter 7  Integrity, Views, Security, and Catalogs</vt:lpstr>
      <vt:lpstr>PowerPoint 演示文稿</vt:lpstr>
      <vt:lpstr>7.1 Integrity Constraints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Def.7.1.2  Column Constraints</vt:lpstr>
      <vt:lpstr>Def.7.1.2  Column Constraints (cont.)</vt:lpstr>
      <vt:lpstr>PowerPoint 演示文稿</vt:lpstr>
      <vt:lpstr>7.1 Integrity Constraints</vt:lpstr>
      <vt:lpstr>7.1 Integrity Constraints</vt:lpstr>
      <vt:lpstr>7.1 Integrity Constraints</vt:lpstr>
      <vt:lpstr>7.1 Integrity Constraints</vt:lpstr>
      <vt:lpstr>7.1 Integrity Constraints</vt:lpstr>
      <vt:lpstr>7.1 Integrity Constraints</vt:lpstr>
      <vt:lpstr>PowerPoint 演示文稿</vt:lpstr>
      <vt:lpstr>Example of foreign key</vt:lpstr>
      <vt:lpstr>Example of foreign key</vt:lpstr>
      <vt:lpstr>Example of foreign key</vt:lpstr>
      <vt:lpstr>Example of foreign key</vt:lpstr>
      <vt:lpstr>PowerPoint 演示文稿</vt:lpstr>
      <vt:lpstr>7.1 Integrity Constraints</vt:lpstr>
      <vt:lpstr>7.1 Integrity Constraints</vt:lpstr>
      <vt:lpstr>7.1 Integrity Constraints</vt:lpstr>
      <vt:lpstr>7.1 Integrity Constraints</vt:lpstr>
      <vt:lpstr>PowerPoint 演示文稿</vt:lpstr>
      <vt:lpstr>four types of triggers</vt:lpstr>
      <vt:lpstr>PowerPoint 演示文稿</vt:lpstr>
      <vt:lpstr>PowerPoint 演示文稿</vt:lpstr>
      <vt:lpstr>7.2  Creating Views</vt:lpstr>
      <vt:lpstr>7.2  Creating Views</vt:lpstr>
      <vt:lpstr>7.2  Creating Views</vt:lpstr>
      <vt:lpstr>PowerPoint 演示文稿</vt:lpstr>
      <vt:lpstr>PowerPoint 演示文稿</vt:lpstr>
      <vt:lpstr>PowerPoint 演示文稿</vt:lpstr>
      <vt:lpstr>7.2  Creating Views</vt:lpstr>
      <vt:lpstr>7.2  Creating Views</vt:lpstr>
      <vt:lpstr>7.2  Creating Views</vt:lpstr>
      <vt:lpstr>7.2  Creating Views</vt:lpstr>
      <vt:lpstr>7.2  Creating Views</vt:lpstr>
      <vt:lpstr>7.2  Creating Views</vt:lpstr>
      <vt:lpstr>PowerPoint 演示文稿</vt:lpstr>
      <vt:lpstr>PowerPoint 演示文稿</vt:lpstr>
      <vt:lpstr>PowerPoint 演示文稿</vt:lpstr>
      <vt:lpstr>PowerPoint 演示文稿</vt:lpstr>
      <vt:lpstr>7.2  Creating Views</vt:lpstr>
      <vt:lpstr>7.2  Creating Views</vt:lpstr>
      <vt:lpstr>7.2  Creating Views</vt:lpstr>
      <vt:lpstr>PowerPoint 演示文稿</vt:lpstr>
      <vt:lpstr>7.2  Creating Views</vt:lpstr>
      <vt:lpstr>7.2  Creating Views</vt:lpstr>
      <vt:lpstr>PowerPoint 演示文稿</vt:lpstr>
      <vt:lpstr>PowerPoint 演示文稿</vt:lpstr>
      <vt:lpstr>7.2  Creating Views</vt:lpstr>
      <vt:lpstr>7.2  Creating Views</vt:lpstr>
      <vt:lpstr>7.3  Security</vt:lpstr>
      <vt:lpstr>PowerPoint 演示文稿</vt:lpstr>
      <vt:lpstr>PowerPoint 演示文稿</vt:lpstr>
      <vt:lpstr>7.3  Security</vt:lpstr>
      <vt:lpstr>7.4  System Catalogs and Schemas</vt:lpstr>
      <vt:lpstr>7.4  System Catalogs and Schemas</vt:lpstr>
      <vt:lpstr>7.4  System Catalogs and Schemas</vt:lpstr>
      <vt:lpstr>Architecture of Database System</vt:lpstr>
      <vt:lpstr>7.4  System Catalogs and Schemas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NJU</dc:creator>
  <cp:lastModifiedBy>贾 坤</cp:lastModifiedBy>
  <cp:revision>633</cp:revision>
  <dcterms:created xsi:type="dcterms:W3CDTF">2014-05-04T12:06:45Z</dcterms:created>
  <dcterms:modified xsi:type="dcterms:W3CDTF">2019-12-30T19:01:46Z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2052-11.3.0.8775</vt:lpwstr>
  </property>
</Properties>
</file>