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486" r:id="rId3"/>
    <p:sldId id="1487" r:id="rId4"/>
    <p:sldId id="1488" r:id="rId5"/>
    <p:sldId id="1489" r:id="rId6"/>
    <p:sldId id="1490" r:id="rId7"/>
    <p:sldId id="1491" r:id="rId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0000CC"/>
    <a:srgbClr val="FF33CC"/>
    <a:srgbClr val="FFCC99"/>
    <a:srgbClr val="CCFF33"/>
    <a:srgbClr val="99FF33"/>
    <a:srgbClr val="FFFF99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0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3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lvl="0" eaLnBrk="1" fontAlgn="base" hangingPunct="1"/>
            <a:endParaRPr lang="zh-CN" altLang="en-US" sz="1200" strike="noStrike" noProof="1" dirty="0">
              <a:ea typeface="宋体" panose="02010600030101010101" pitchFamily="2" charset="-122"/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lvl="0" algn="r" eaLnBrk="1" fontAlgn="base" hangingPunct="1"/>
            <a:endParaRPr lang="en-US" altLang="x-none" sz="1200" strike="noStrike" noProof="1" dirty="0">
              <a:ea typeface="宋体" panose="02010600030101010101" pitchFamily="2" charset="-122"/>
            </a:endParaRPr>
          </a:p>
        </p:txBody>
      </p:sp>
      <p:sp>
        <p:nvSpPr>
          <p:cNvPr id="2052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 indent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eaLnBrk="1" fontAlgn="base" hangingPunct="1"/>
            <a:endParaRPr lang="en-US" altLang="x-none" sz="1200" strike="noStrike" noProof="1" dirty="0">
              <a:ea typeface="宋体" panose="02010600030101010101" pitchFamily="2" charset="-122"/>
            </a:endParaRPr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en-US" altLang="x-none" sz="1200" strike="noStrike" noProof="1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1pPr>
    <a:lvl2pPr marL="457200" lvl="1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2pPr>
    <a:lvl3pPr marL="914400" lvl="2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3pPr>
    <a:lvl4pPr marL="1371600" lvl="3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4pPr>
    <a:lvl5pPr marL="1828800" lvl="4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5pPr>
    <a:lvl6pPr marL="2286000" lvl="5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066800"/>
            <a:ext cx="3808476" cy="51054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066800"/>
            <a:ext cx="3808476" cy="51054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716657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solidFill>
            <a:srgbClr val="DDDDDD">
              <a:alpha val="50000"/>
            </a:srgbClr>
          </a:solidFill>
          <a:ln w="9525">
            <a:noFill/>
          </a:ln>
        </p:spPr>
        <p:txBody>
          <a:bodyPr anchor="ctr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066800"/>
            <a:ext cx="7772400" cy="5105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381000" y="6477000"/>
            <a:ext cx="1905000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400" b="1" i="1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fld id="{BB962C8B-B14F-4D97-AF65-F5344CB8AC3E}" type="datetimeFigureOut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>
              <a:latin typeface="Times New Roman" panose="02020603050405020304" pitchFamily="2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2590800" y="6477000"/>
            <a:ext cx="3962400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defRPr sz="1400" b="1" i="1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Database Principles &amp; Programming</a:t>
            </a:r>
            <a:endParaRPr lang="en-US" altLang="x-none" sz="1400" b="1" i="1" strike="noStrike" noProof="1" dirty="0"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858000" y="6477000"/>
            <a:ext cx="1905000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r">
              <a:defRPr sz="1400" b="1" i="1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sldNum="0" hdr="0" ftr="0" dt="0"/>
  <p:txStyles>
    <p:titleStyle>
      <a:lvl1pPr marL="0" lvl="0" indent="0" algn="ctr" defTabSz="914400" eaLnBrk="0" fontAlgn="base" latinLnBrk="0" hangingPunct="0">
        <a:spcBef>
          <a:spcPct val="0"/>
        </a:spcBef>
        <a:spcAft>
          <a:spcPct val="0"/>
        </a:spcAft>
        <a:buNone/>
        <a:defRPr sz="32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spcBef>
          <a:spcPct val="20000"/>
        </a:spcBef>
        <a:spcAft>
          <a:spcPct val="0"/>
        </a:spcAft>
        <a:buClr>
          <a:srgbClr val="CC9900"/>
        </a:buClr>
        <a:buFont typeface="Wingdings" panose="05000000000000000000" pitchFamily="2" charset="2"/>
        <a:buChar char="q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spcBef>
          <a:spcPct val="20000"/>
        </a:spcBef>
        <a:spcAft>
          <a:spcPct val="0"/>
        </a:spcAft>
        <a:buClr>
          <a:srgbClr val="CC9900"/>
        </a:buClr>
        <a:buFont typeface="Wingdings" panose="05000000000000000000" pitchFamily="2" charset="2"/>
        <a:buChar char="–"/>
        <a:defRPr sz="2400" b="1" u="none" kern="1200" baseline="0">
          <a:solidFill>
            <a:srgbClr val="FF0000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CC9900"/>
        </a:buClr>
        <a:buFont typeface="Wingdings" panose="05000000000000000000" pitchFamily="2" charset="2"/>
        <a:buChar char="§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CC9900"/>
        </a:buClr>
        <a:buFont typeface="Wingdings" panose="05000000000000000000" pitchFamily="2" charset="2"/>
        <a:buChar char="Ø"/>
        <a:defRPr sz="2400" b="1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CC9900"/>
        </a:buClr>
        <a:buFont typeface="Wingdings" panose="05000000000000000000" pitchFamily="2" charset="2"/>
        <a:buChar char="»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CC9900"/>
        </a:buClr>
        <a:buFont typeface="Wingdings" panose="05000000000000000000" pitchFamily="2" charset="2"/>
        <a:buChar char="»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CC9900"/>
        </a:buClr>
        <a:buFont typeface="Wingdings" panose="05000000000000000000" pitchFamily="2" charset="2"/>
        <a:buChar char="»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CC9900"/>
        </a:buClr>
        <a:buFont typeface="Wingdings" panose="05000000000000000000" pitchFamily="2" charset="2"/>
        <a:buChar char="»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CC9900"/>
        </a:buClr>
        <a:buFont typeface="Wingdings" panose="05000000000000000000" pitchFamily="2" charset="2"/>
        <a:buChar char="»"/>
        <a:defRPr sz="2400" b="1" u="none" kern="1200" baseline="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3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11.wmf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18.wmf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606425" y="1795780"/>
            <a:ext cx="4823460" cy="1007745"/>
            <a:chOff x="955" y="2490"/>
            <a:chExt cx="7595" cy="1587"/>
          </a:xfrm>
        </p:grpSpPr>
        <p:graphicFrame>
          <p:nvGraphicFramePr>
            <p:cNvPr id="197635" name="对象 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55" y="3227"/>
            <a:ext cx="7595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" imgW="1701800" imgH="190500" progId="Equation.KSEE3">
                    <p:embed/>
                  </p:oleObj>
                </mc:Choice>
                <mc:Fallback>
                  <p:oleObj name="" r:id="rId1" imgW="1701800" imgH="190500" progId="Equation.KSEE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55" y="3227"/>
                          <a:ext cx="7595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636" name="对象 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55" y="2490"/>
            <a:ext cx="7200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3" imgW="1612900" imgH="190500" progId="Equation.KSEE3">
                    <p:embed/>
                  </p:oleObj>
                </mc:Choice>
                <mc:Fallback>
                  <p:oleObj name="" r:id="rId3" imgW="1612900" imgH="190500" progId="Equation.KSEE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55" y="2490"/>
                          <a:ext cx="7200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127000" y="3061335"/>
            <a:ext cx="8890000" cy="1515688"/>
            <a:chOff x="330" y="6045"/>
            <a:chExt cx="14000" cy="2385"/>
          </a:xfrm>
        </p:grpSpPr>
        <p:sp>
          <p:nvSpPr>
            <p:cNvPr id="197638" name="Rectangle 3"/>
            <p:cNvSpPr>
              <a:spLocks noGrp="1"/>
            </p:cNvSpPr>
            <p:nvPr/>
          </p:nvSpPr>
          <p:spPr>
            <a:xfrm>
              <a:off x="330" y="6045"/>
              <a:ext cx="14000" cy="7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p>
              <a:pPr>
                <a:spcBef>
                  <a:spcPct val="20000"/>
                </a:spcBef>
                <a:buClr>
                  <a:srgbClr val="CC9900"/>
                </a:buClr>
                <a:buFont typeface="Wingdings" panose="05000000000000000000" pitchFamily="2" charset="2"/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2. </a:t>
              </a:r>
              <a:r>
                <a:rPr lang="zh-CN" altLang="zh-CN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请考虑查询</a:t>
              </a: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Q3</a:t>
              </a:r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和</a:t>
              </a: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Q4</a:t>
              </a:r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的结果有什么区别？</a:t>
              </a:r>
              <a:endPara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</a:endParaRPr>
            </a:p>
            <a:p>
              <a:pPr marL="742950" lvl="1" indent="-285750" algn="l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Font typeface="Wingdings" panose="05000000000000000000" pitchFamily="2" charset="2"/>
                <a:buChar char="–"/>
              </a:pPr>
              <a:endParaRPr lang="en-US" altLang="x-none" sz="2800" b="1" u="none" baseline="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endParaRPr>
            </a:p>
          </p:txBody>
        </p:sp>
        <p:graphicFrame>
          <p:nvGraphicFramePr>
            <p:cNvPr id="197639" name="对象 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03" y="7580"/>
            <a:ext cx="9126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5" imgW="2044700" imgH="190500" progId="Equation.KSEE3">
                    <p:embed/>
                  </p:oleObj>
                </mc:Choice>
                <mc:Fallback>
                  <p:oleObj name="" r:id="rId5" imgW="2044700" imgH="190500" progId="Equation.KSEE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03" y="7580"/>
                          <a:ext cx="9126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640" name="对象 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75" y="6843"/>
            <a:ext cx="8788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7" imgW="1968500" imgH="190500" progId="Equation.KSEE3">
                    <p:embed/>
                  </p:oleObj>
                </mc:Choice>
                <mc:Fallback>
                  <p:oleObj name="" r:id="rId7" imgW="1968500" imgH="190500" progId="Equation.KSEE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75" y="6843"/>
                          <a:ext cx="8788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3"/>
          <p:cNvSpPr>
            <a:spLocks noGrp="1"/>
          </p:cNvSpPr>
          <p:nvPr/>
        </p:nvSpPr>
        <p:spPr>
          <a:xfrm>
            <a:off x="87313" y="159385"/>
            <a:ext cx="8890000" cy="17259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Clr>
                <a:srgbClr val="CC9900"/>
              </a:buClr>
              <a:buFont typeface="Wingdings" panose="05000000000000000000" pitchFamily="2" charset="2"/>
              <a:buNone/>
            </a:pPr>
            <a:r>
              <a:rPr lang="zh-CN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一、复习思考题（略）</a:t>
            </a:r>
            <a:endParaRPr lang="zh-CN" altLang="zh-CN" sz="2800" b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CC9900"/>
              </a:buClr>
              <a:buFont typeface="Wingdings" panose="05000000000000000000" pitchFamily="2" charset="2"/>
              <a:buNone/>
            </a:pPr>
            <a:r>
              <a:rPr lang="zh-CN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二、思考题</a:t>
            </a:r>
            <a:endParaRPr lang="zh-CN" altLang="zh-CN" sz="2800" b="1" dirty="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20000"/>
              </a:spcBef>
              <a:buClr>
                <a:srgbClr val="CC9900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1. </a:t>
            </a:r>
            <a:r>
              <a:rPr lang="zh-CN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请考虑查询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Q1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Q2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的结果有什么区别？</a:t>
            </a:r>
            <a:endParaRPr lang="en-US" altLang="x-none" sz="2800" b="1" u="none" baseline="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2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7000" y="4855528"/>
            <a:ext cx="8890000" cy="1514171"/>
            <a:chOff x="330" y="6045"/>
            <a:chExt cx="14000" cy="2385"/>
          </a:xfrm>
        </p:grpSpPr>
        <p:sp>
          <p:nvSpPr>
            <p:cNvPr id="197643" name="Rectangle 3"/>
            <p:cNvSpPr>
              <a:spLocks noGrp="1"/>
            </p:cNvSpPr>
            <p:nvPr/>
          </p:nvSpPr>
          <p:spPr>
            <a:xfrm>
              <a:off x="330" y="6045"/>
              <a:ext cx="14000" cy="7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p>
              <a:pPr>
                <a:spcBef>
                  <a:spcPct val="20000"/>
                </a:spcBef>
                <a:buClr>
                  <a:srgbClr val="CC9900"/>
                </a:buClr>
                <a:buFont typeface="Wingdings" panose="05000000000000000000" pitchFamily="2" charset="2"/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3. </a:t>
              </a:r>
              <a:r>
                <a:rPr lang="zh-CN" altLang="zh-CN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请考虑查询</a:t>
              </a: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Q5</a:t>
              </a:r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和</a:t>
              </a: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Q6</a:t>
              </a:r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的结果有什么区别？</a:t>
              </a:r>
              <a:endPara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</a:endParaRPr>
            </a:p>
            <a:p>
              <a:pPr marL="742950" lvl="1" indent="-285750" algn="l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Font typeface="Wingdings" panose="05000000000000000000" pitchFamily="2" charset="2"/>
                <a:buChar char="–"/>
              </a:pPr>
              <a:endParaRPr lang="en-US" altLang="x-none" sz="2800" b="1" u="none" baseline="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endParaRPr>
            </a:p>
          </p:txBody>
        </p:sp>
        <p:graphicFrame>
          <p:nvGraphicFramePr>
            <p:cNvPr id="197644" name="对象 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70" y="7580"/>
            <a:ext cx="12131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9" imgW="2717800" imgH="190500" progId="Equation.KSEE3">
                    <p:embed/>
                  </p:oleObj>
                </mc:Choice>
                <mc:Fallback>
                  <p:oleObj name="" r:id="rId9" imgW="2717800" imgH="190500" progId="Equation.KSEE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70" y="7580"/>
                          <a:ext cx="12131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645" name="对象 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13" y="6843"/>
            <a:ext cx="11850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1" imgW="2654300" imgH="190500" progId="Equation.KSEE3">
                    <p:embed/>
                  </p:oleObj>
                </mc:Choice>
                <mc:Fallback>
                  <p:oleObj name="" r:id="rId11" imgW="2654300" imgH="190500" progId="Equation.KSEE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13" y="6843"/>
                          <a:ext cx="11850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文本框 4"/>
          <p:cNvSpPr txBox="1"/>
          <p:nvPr/>
        </p:nvSpPr>
        <p:spPr>
          <a:xfrm>
            <a:off x="6412865" y="8255"/>
            <a:ext cx="2696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latin typeface="+mn-lt"/>
                <a:cs typeface="+mn-lt"/>
              </a:rPr>
              <a:t>（复习思考题 </a:t>
            </a:r>
            <a:r>
              <a:rPr lang="en-US" altLang="zh-CN" sz="1600" b="1">
                <a:latin typeface="+mn-lt"/>
                <a:cs typeface="+mn-lt"/>
              </a:rPr>
              <a:t>AI 20190912</a:t>
            </a:r>
            <a:r>
              <a:rPr lang="zh-CN" altLang="en-US" sz="1600" b="1">
                <a:latin typeface="+mn-lt"/>
                <a:cs typeface="+mn-lt"/>
              </a:rPr>
              <a:t>）</a:t>
            </a:r>
            <a:endParaRPr lang="zh-CN" altLang="en-US" sz="1600" b="1">
              <a:latin typeface="+mn-lt"/>
              <a:cs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87313" y="302895"/>
            <a:ext cx="8890000" cy="1578610"/>
            <a:chOff x="138" y="1381"/>
            <a:chExt cx="14000" cy="2486"/>
          </a:xfrm>
        </p:grpSpPr>
        <p:grpSp>
          <p:nvGrpSpPr>
            <p:cNvPr id="2" name="组合 1"/>
            <p:cNvGrpSpPr/>
            <p:nvPr/>
          </p:nvGrpSpPr>
          <p:grpSpPr>
            <a:xfrm>
              <a:off x="955" y="2203"/>
              <a:ext cx="7596" cy="1664"/>
              <a:chOff x="955" y="2656"/>
              <a:chExt cx="7595" cy="1664"/>
            </a:xfrm>
          </p:grpSpPr>
          <p:graphicFrame>
            <p:nvGraphicFramePr>
              <p:cNvPr id="197635" name="对象 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55" y="3470"/>
              <a:ext cx="7595" cy="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" name="" r:id="rId1" imgW="1701800" imgH="190500" progId="Equation.KSEE3">
                      <p:embed/>
                    </p:oleObj>
                  </mc:Choice>
                  <mc:Fallback>
                    <p:oleObj name="" r:id="rId1" imgW="1701800" imgH="190500" progId="Equation.KSEE3">
                      <p:embed/>
                      <p:pic>
                        <p:nvPicPr>
                          <p:cNvPr id="0" name="图片 3082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955" y="3470"/>
                            <a:ext cx="7595" cy="85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7636" name="对象 3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55" y="2656"/>
              <a:ext cx="7200" cy="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" name="" r:id="rId3" imgW="1612900" imgH="190500" progId="Equation.KSEE3">
                      <p:embed/>
                    </p:oleObj>
                  </mc:Choice>
                  <mc:Fallback>
                    <p:oleObj name="" r:id="rId3" imgW="1612900" imgH="190500" progId="Equation.KSEE3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955" y="2656"/>
                            <a:ext cx="7200" cy="85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" name="Rectangle 3"/>
            <p:cNvSpPr>
              <a:spLocks noGrp="1"/>
            </p:cNvSpPr>
            <p:nvPr/>
          </p:nvSpPr>
          <p:spPr>
            <a:xfrm>
              <a:off x="138" y="1381"/>
              <a:ext cx="140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spcBef>
                  <a:spcPct val="20000"/>
                </a:spcBef>
                <a:buClr>
                  <a:srgbClr val="CC9900"/>
                </a:buClr>
                <a:buFont typeface="Wingdings" panose="05000000000000000000" pitchFamily="2" charset="2"/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1. </a:t>
              </a:r>
              <a:r>
                <a:rPr lang="zh-CN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请考虑查询</a:t>
              </a: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Q1</a:t>
              </a:r>
              <a:r>
                <a:rPr lang="zh-CN" altLang="en-US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和</a:t>
              </a: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Q2</a:t>
              </a:r>
              <a:r>
                <a:rPr lang="zh-CN" altLang="en-US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的结果有什么区别？</a:t>
              </a:r>
              <a:endParaRPr lang="en-US" altLang="x-none" sz="2800" b="1" u="none" baseline="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endParaRPr>
            </a:p>
          </p:txBody>
        </p:sp>
      </p:grpSp>
      <p:sp>
        <p:nvSpPr>
          <p:cNvPr id="15" name="Rectangle 3"/>
          <p:cNvSpPr>
            <a:spLocks noGrp="1"/>
          </p:cNvSpPr>
          <p:nvPr/>
        </p:nvSpPr>
        <p:spPr>
          <a:xfrm>
            <a:off x="87630" y="2622550"/>
            <a:ext cx="8890000" cy="1038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x-none" sz="2800" b="1" u="none" baseline="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rPr>
              <a:t>Q</a:t>
            </a:r>
            <a:r>
              <a:rPr lang="en-US" altLang="x-none" sz="2800" b="1" u="none" baseline="-25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rPr>
              <a:t>1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p01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号商品的所有购买订单</a:t>
            </a:r>
            <a:endParaRPr lang="zh-CN" altLang="en-US" sz="2800" b="1" u="none" baseline="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Q</a:t>
            </a:r>
            <a:r>
              <a:rPr lang="en-US" altLang="zh-CN" sz="2800" b="1" u="none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：除了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p01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号商品外，其他所有商品的购买订单</a:t>
            </a:r>
            <a:endParaRPr lang="zh-CN" altLang="en-US" sz="2800" b="1" u="none" baseline="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7630" y="2185035"/>
            <a:ext cx="8890000" cy="2286635"/>
            <a:chOff x="138" y="2989"/>
            <a:chExt cx="14000" cy="3601"/>
          </a:xfrm>
        </p:grpSpPr>
        <p:sp>
          <p:nvSpPr>
            <p:cNvPr id="14" name="Rectangle 3"/>
            <p:cNvSpPr>
              <a:spLocks noGrp="1"/>
            </p:cNvSpPr>
            <p:nvPr/>
          </p:nvSpPr>
          <p:spPr>
            <a:xfrm>
              <a:off x="138" y="2989"/>
              <a:ext cx="140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200" indent="-457200">
                <a:spcBef>
                  <a:spcPct val="20000"/>
                </a:spcBef>
                <a:buClr>
                  <a:srgbClr val="CC9900"/>
                </a:buClr>
                <a:buFont typeface="Wingdings" panose="05000000000000000000" charset="0"/>
                <a:buChar char=""/>
              </a:pPr>
              <a:r>
                <a:rPr lang="zh-CN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查询</a:t>
              </a:r>
              <a:r>
                <a:rPr lang="zh-CN" altLang="en-US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结果集的语义是什么？</a:t>
              </a:r>
              <a:endPara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Rectangle 3"/>
            <p:cNvSpPr>
              <a:spLocks noGrp="1"/>
            </p:cNvSpPr>
            <p:nvPr/>
          </p:nvSpPr>
          <p:spPr>
            <a:xfrm>
              <a:off x="138" y="5768"/>
              <a:ext cx="140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200" indent="-457200">
                <a:spcBef>
                  <a:spcPct val="20000"/>
                </a:spcBef>
                <a:buClr>
                  <a:srgbClr val="CC9900"/>
                </a:buClr>
                <a:buFont typeface="Wingdings" panose="05000000000000000000" charset="0"/>
                <a:buChar char=""/>
              </a:pPr>
              <a:r>
                <a:rPr lang="zh-CN" altLang="en-US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两个结果集的关系是什么？</a:t>
              </a:r>
              <a:endPara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" name="Rectangle 3"/>
          <p:cNvSpPr>
            <a:spLocks noGrp="1"/>
          </p:cNvSpPr>
          <p:nvPr/>
        </p:nvSpPr>
        <p:spPr>
          <a:xfrm>
            <a:off x="71120" y="4399915"/>
            <a:ext cx="8890000" cy="1038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x-none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Q</a:t>
            </a:r>
            <a:r>
              <a:rPr lang="en-US" altLang="x-none" sz="2800" b="1" u="none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∩ Q</a:t>
            </a:r>
            <a:r>
              <a:rPr lang="en-US" altLang="zh-CN" sz="2800" b="1" u="none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 = 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？</a:t>
            </a:r>
            <a:endParaRPr lang="zh-CN" altLang="en-US" sz="2800" b="1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x-none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Q</a:t>
            </a:r>
            <a:r>
              <a:rPr lang="en-US" altLang="x-none" sz="2800" b="1" baseline="-250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∪ Q</a:t>
            </a:r>
            <a:r>
              <a:rPr lang="en-US" altLang="zh-CN" sz="2800" b="1" baseline="-250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 =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？</a:t>
            </a:r>
            <a:endParaRPr lang="en-US" altLang="zh-CN" sz="2800" b="1" u="none" baseline="0" dirty="0">
              <a:solidFill>
                <a:srgbClr val="FF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9" name="Rectangle 3"/>
          <p:cNvSpPr>
            <a:spLocks noGrp="1"/>
          </p:cNvSpPr>
          <p:nvPr/>
        </p:nvSpPr>
        <p:spPr>
          <a:xfrm>
            <a:off x="390525" y="4472940"/>
            <a:ext cx="4441825" cy="10388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x-none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Q</a:t>
            </a:r>
            <a:r>
              <a:rPr lang="en-US" altLang="x-none" sz="2800" b="1" u="none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∩ Q</a:t>
            </a:r>
            <a:r>
              <a:rPr lang="en-US" altLang="zh-CN" sz="2800" b="1" u="none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 = 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Ø</a:t>
            </a:r>
            <a:endParaRPr lang="zh-CN" altLang="en-US" sz="2800" b="1" u="none" baseline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x-none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Q</a:t>
            </a:r>
            <a:r>
              <a:rPr lang="en-US" altLang="x-none" sz="2800" b="1" baseline="-250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∪ Q</a:t>
            </a:r>
            <a:r>
              <a:rPr lang="en-US" altLang="zh-CN" sz="2800" b="1" baseline="-250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 = Order</a:t>
            </a:r>
            <a:endParaRPr lang="en-US" altLang="zh-CN" sz="2800" b="1" u="none" baseline="0" dirty="0">
              <a:solidFill>
                <a:srgbClr val="FF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12865" y="8255"/>
            <a:ext cx="2696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latin typeface="+mn-lt"/>
                <a:cs typeface="+mn-lt"/>
              </a:rPr>
              <a:t>（复习思考题 </a:t>
            </a:r>
            <a:r>
              <a:rPr lang="en-US" altLang="zh-CN" sz="1600" b="1">
                <a:latin typeface="+mn-lt"/>
                <a:cs typeface="+mn-lt"/>
              </a:rPr>
              <a:t>AI 20190912</a:t>
            </a:r>
            <a:r>
              <a:rPr lang="zh-CN" altLang="en-US" sz="1600" b="1">
                <a:latin typeface="+mn-lt"/>
                <a:cs typeface="+mn-lt"/>
              </a:rPr>
              <a:t>）</a:t>
            </a:r>
            <a:endParaRPr lang="zh-CN" altLang="en-US" sz="1600" b="1">
              <a:latin typeface="+mn-lt"/>
              <a:cs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ectangle 3"/>
          <p:cNvSpPr>
            <a:spLocks noGrp="1"/>
          </p:cNvSpPr>
          <p:nvPr/>
        </p:nvSpPr>
        <p:spPr>
          <a:xfrm>
            <a:off x="87630" y="2407285"/>
            <a:ext cx="8890000" cy="1038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x-none" sz="2800" b="1" u="none" baseline="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rPr>
              <a:t>Q</a:t>
            </a:r>
            <a:r>
              <a:rPr lang="en-US" altLang="x-none" sz="2800" b="1" u="none" baseline="-25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rPr>
              <a:t>3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：购买过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p01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号商品的客户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编号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n-US" altLang="zh-CN" sz="2800" b="1" u="none" baseline="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Q</a:t>
            </a:r>
            <a:r>
              <a:rPr lang="en-US" altLang="zh-CN" sz="2800" b="1" u="none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：购买过其他商品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(pid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不等于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p01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客户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编号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)</a:t>
            </a:r>
            <a:endParaRPr lang="zh-CN" altLang="en-US" sz="2800" b="1" u="none" baseline="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630" y="1898015"/>
            <a:ext cx="8890000" cy="2286635"/>
            <a:chOff x="138" y="2989"/>
            <a:chExt cx="14000" cy="3601"/>
          </a:xfrm>
        </p:grpSpPr>
        <p:sp>
          <p:nvSpPr>
            <p:cNvPr id="14" name="Rectangle 3"/>
            <p:cNvSpPr>
              <a:spLocks noGrp="1"/>
            </p:cNvSpPr>
            <p:nvPr/>
          </p:nvSpPr>
          <p:spPr>
            <a:xfrm>
              <a:off x="138" y="2989"/>
              <a:ext cx="140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200" indent="-457200">
                <a:spcBef>
                  <a:spcPct val="20000"/>
                </a:spcBef>
                <a:buClr>
                  <a:srgbClr val="CC9900"/>
                </a:buClr>
                <a:buFont typeface="Wingdings" panose="05000000000000000000" charset="0"/>
                <a:buChar char=""/>
              </a:pPr>
              <a:r>
                <a:rPr lang="zh-CN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查询</a:t>
              </a:r>
              <a:r>
                <a:rPr lang="zh-CN" altLang="en-US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结果集的语义是什么？</a:t>
              </a:r>
              <a:endPara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Rectangle 3"/>
            <p:cNvSpPr>
              <a:spLocks noGrp="1"/>
            </p:cNvSpPr>
            <p:nvPr/>
          </p:nvSpPr>
          <p:spPr>
            <a:xfrm>
              <a:off x="138" y="5768"/>
              <a:ext cx="140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200" indent="-457200">
                <a:spcBef>
                  <a:spcPct val="20000"/>
                </a:spcBef>
                <a:buClr>
                  <a:srgbClr val="CC9900"/>
                </a:buClr>
                <a:buFont typeface="Wingdings" panose="05000000000000000000" charset="0"/>
                <a:buChar char=""/>
              </a:pPr>
              <a:r>
                <a:rPr lang="zh-CN" altLang="en-US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两个结果集的关系是什么？</a:t>
              </a:r>
              <a:endPara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" name="Rectangle 3"/>
          <p:cNvSpPr>
            <a:spLocks noGrp="1"/>
          </p:cNvSpPr>
          <p:nvPr/>
        </p:nvSpPr>
        <p:spPr>
          <a:xfrm>
            <a:off x="4709160" y="5920105"/>
            <a:ext cx="3904615" cy="52197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txBody>
          <a:bodyPr wrap="square" anchor="t">
            <a:spAutoFit/>
          </a:bodyPr>
          <a:p>
            <a:pPr marL="34290" lvl="1" algn="ctr">
              <a:spcBef>
                <a:spcPct val="20000"/>
              </a:spcBef>
              <a:buClr>
                <a:srgbClr val="CC9900"/>
              </a:buClr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思考：</a:t>
            </a:r>
            <a:r>
              <a:rPr lang="en-US" altLang="x-none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Q</a:t>
            </a:r>
            <a:r>
              <a:rPr lang="en-US" altLang="x-none" sz="2800" b="1" baseline="-250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3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∪Q</a:t>
            </a:r>
            <a:r>
              <a:rPr lang="en-US" altLang="zh-CN" sz="2800" b="1" baseline="-250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 =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？</a:t>
            </a:r>
            <a:endParaRPr lang="zh-CN" altLang="en-US" sz="2800" b="1" u="none" baseline="0" dirty="0">
              <a:solidFill>
                <a:srgbClr val="FF0000"/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7000" y="262890"/>
            <a:ext cx="8890000" cy="1587500"/>
            <a:chOff x="330" y="6045"/>
            <a:chExt cx="14000" cy="2498"/>
          </a:xfrm>
        </p:grpSpPr>
        <p:sp>
          <p:nvSpPr>
            <p:cNvPr id="197638" name="Rectangle 3"/>
            <p:cNvSpPr>
              <a:spLocks noGrp="1"/>
            </p:cNvSpPr>
            <p:nvPr/>
          </p:nvSpPr>
          <p:spPr>
            <a:xfrm>
              <a:off x="330" y="6045"/>
              <a:ext cx="14000" cy="7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p>
              <a:pPr>
                <a:spcBef>
                  <a:spcPct val="20000"/>
                </a:spcBef>
                <a:buClr>
                  <a:srgbClr val="CC9900"/>
                </a:buClr>
                <a:buFont typeface="Wingdings" panose="05000000000000000000" pitchFamily="2" charset="2"/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2. </a:t>
              </a:r>
              <a:r>
                <a:rPr lang="zh-CN" altLang="zh-CN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请考虑查询</a:t>
              </a: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Q3</a:t>
              </a:r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和</a:t>
              </a: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Q4</a:t>
              </a:r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的结果有什么区别？</a:t>
              </a:r>
              <a:endPara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</a:endParaRPr>
            </a:p>
            <a:p>
              <a:pPr marL="742950" lvl="1" indent="-285750" algn="l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Font typeface="Wingdings" panose="05000000000000000000" pitchFamily="2" charset="2"/>
                <a:buChar char="–"/>
              </a:pPr>
              <a:endParaRPr lang="en-US" altLang="x-none" sz="2800" b="1" u="none" baseline="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endParaRPr>
            </a:p>
          </p:txBody>
        </p:sp>
        <p:graphicFrame>
          <p:nvGraphicFramePr>
            <p:cNvPr id="197639" name="对象 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03" y="7693"/>
            <a:ext cx="9126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" imgW="2044700" imgH="190500" progId="Equation.KSEE3">
                    <p:embed/>
                  </p:oleObj>
                </mc:Choice>
                <mc:Fallback>
                  <p:oleObj name="" r:id="rId1" imgW="2044700" imgH="190500" progId="Equation.KSEE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03" y="7693"/>
                          <a:ext cx="9126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640" name="对象 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75" y="6843"/>
            <a:ext cx="8788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3" imgW="1968500" imgH="190500" progId="Equation.KSEE3">
                    <p:embed/>
                  </p:oleObj>
                </mc:Choice>
                <mc:Fallback>
                  <p:oleObj name="" r:id="rId3" imgW="1968500" imgH="190500" progId="Equation.KSEE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75" y="6843"/>
                          <a:ext cx="8788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0007" y="5199287"/>
          <a:ext cx="2183765" cy="50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825500" imgH="190500" progId="Equation.KSEE3">
                  <p:embed/>
                </p:oleObj>
              </mc:Choice>
              <mc:Fallback>
                <p:oleObj name="" r:id="rId5" imgW="8255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007" y="5199287"/>
                        <a:ext cx="2183765" cy="504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0007" y="4184650"/>
          <a:ext cx="1713863" cy="504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7" imgW="647700" imgH="190500" progId="Equation.KSEE3">
                  <p:embed/>
                </p:oleObj>
              </mc:Choice>
              <mc:Fallback>
                <p:oleObj name="" r:id="rId7" imgW="6477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0007" y="4184650"/>
                        <a:ext cx="1713863" cy="504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0007" y="4688840"/>
          <a:ext cx="1713863" cy="504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9" imgW="647700" imgH="190500" progId="Equation.KSEE3">
                  <p:embed/>
                </p:oleObj>
              </mc:Choice>
              <mc:Fallback>
                <p:oleObj name="" r:id="rId9" imgW="6477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0007" y="4688840"/>
                        <a:ext cx="1713863" cy="504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0007" y="5747927"/>
          <a:ext cx="2183765" cy="50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1" imgW="825500" imgH="190500" progId="Equation.KSEE3">
                  <p:embed/>
                </p:oleObj>
              </mc:Choice>
              <mc:Fallback>
                <p:oleObj name="" r:id="rId11" imgW="8255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0007" y="5747927"/>
                        <a:ext cx="2183765" cy="504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941705" y="6137910"/>
            <a:ext cx="2046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.........</a:t>
            </a:r>
            <a:endParaRPr lang="en-US" altLang="zh-CN"/>
          </a:p>
        </p:txBody>
      </p:sp>
      <p:grpSp>
        <p:nvGrpSpPr>
          <p:cNvPr id="20" name="组合 19"/>
          <p:cNvGrpSpPr/>
          <p:nvPr/>
        </p:nvGrpSpPr>
        <p:grpSpPr>
          <a:xfrm>
            <a:off x="3275965" y="4220845"/>
            <a:ext cx="2644140" cy="2303780"/>
            <a:chOff x="5159" y="6647"/>
            <a:chExt cx="4164" cy="3628"/>
          </a:xfrm>
        </p:grpSpPr>
        <p:sp>
          <p:nvSpPr>
            <p:cNvPr id="13" name="右大括号 12"/>
            <p:cNvSpPr/>
            <p:nvPr/>
          </p:nvSpPr>
          <p:spPr>
            <a:xfrm>
              <a:off x="5159" y="6647"/>
              <a:ext cx="340" cy="3629"/>
            </a:xfrm>
            <a:prstGeom prst="rightBrace">
              <a:avLst>
                <a:gd name="adj1" fmla="val 8235"/>
                <a:gd name="adj2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589" y="8048"/>
              <a:ext cx="373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>
                  <a:solidFill>
                    <a:srgbClr val="FF0000"/>
                  </a:solidFill>
                </a:rPr>
                <a:t>一切皆有可能！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412865" y="8255"/>
            <a:ext cx="2696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latin typeface="+mn-lt"/>
                <a:cs typeface="+mn-lt"/>
              </a:rPr>
              <a:t>（复习思考题 </a:t>
            </a:r>
            <a:r>
              <a:rPr lang="en-US" altLang="zh-CN" sz="1600" b="1">
                <a:latin typeface="+mn-lt"/>
                <a:cs typeface="+mn-lt"/>
              </a:rPr>
              <a:t>AI 20190912</a:t>
            </a:r>
            <a:r>
              <a:rPr lang="zh-CN" altLang="en-US" sz="1600" b="1">
                <a:latin typeface="+mn-lt"/>
                <a:cs typeface="+mn-lt"/>
              </a:rPr>
              <a:t>）</a:t>
            </a:r>
            <a:endParaRPr lang="zh-CN" altLang="en-US" sz="1600" b="1">
              <a:latin typeface="+mn-lt"/>
              <a:cs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" grpId="0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ectangle 3"/>
          <p:cNvSpPr>
            <a:spLocks noGrp="1"/>
          </p:cNvSpPr>
          <p:nvPr/>
        </p:nvSpPr>
        <p:spPr>
          <a:xfrm>
            <a:off x="87630" y="2407285"/>
            <a:ext cx="8890000" cy="9036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x-none" b="1" u="none" baseline="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rPr>
              <a:t>Q</a:t>
            </a:r>
            <a:r>
              <a:rPr lang="en-US" altLang="x-none" b="1" u="none" baseline="-25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rPr>
              <a:t>5</a:t>
            </a:r>
            <a:r>
              <a:rPr lang="zh-CN" altLang="en-US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：购买过商品但没有购买过</a:t>
            </a:r>
            <a:r>
              <a:rPr lang="en-US" altLang="zh-CN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p01</a:t>
            </a:r>
            <a:r>
              <a:rPr lang="zh-CN" altLang="en-US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号商品的客户</a:t>
            </a:r>
            <a:r>
              <a:rPr lang="en-US" altLang="zh-CN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zh-CN" altLang="en-US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编号</a:t>
            </a:r>
            <a:r>
              <a:rPr lang="en-US" altLang="zh-CN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n-US" altLang="zh-CN" b="1" u="none" baseline="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zh-CN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Q</a:t>
            </a:r>
            <a:r>
              <a:rPr lang="en-US" altLang="zh-CN" b="1" u="none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  <a:r>
              <a:rPr lang="zh-CN" altLang="en-US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：</a:t>
            </a:r>
            <a:r>
              <a:rPr lang="zh-CN" altLang="en-US" b="1" u="sng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只购买</a:t>
            </a:r>
            <a:r>
              <a:rPr lang="zh-CN" altLang="en-US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过</a:t>
            </a:r>
            <a:r>
              <a:rPr lang="en-US" altLang="zh-CN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p01</a:t>
            </a:r>
            <a:r>
              <a:rPr lang="zh-CN" altLang="en-US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号商品的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客户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编号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)</a:t>
            </a:r>
            <a:endParaRPr lang="zh-CN" altLang="en-US" b="1" u="none" baseline="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7630" y="1898015"/>
            <a:ext cx="8890000" cy="2143125"/>
            <a:chOff x="138" y="2876"/>
            <a:chExt cx="14000" cy="3375"/>
          </a:xfrm>
        </p:grpSpPr>
        <p:sp>
          <p:nvSpPr>
            <p:cNvPr id="14" name="Rectangle 3"/>
            <p:cNvSpPr>
              <a:spLocks noGrp="1"/>
            </p:cNvSpPr>
            <p:nvPr/>
          </p:nvSpPr>
          <p:spPr>
            <a:xfrm>
              <a:off x="138" y="2876"/>
              <a:ext cx="140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200" indent="-457200">
                <a:spcBef>
                  <a:spcPct val="20000"/>
                </a:spcBef>
                <a:buClr>
                  <a:srgbClr val="CC9900"/>
                </a:buClr>
                <a:buFont typeface="Wingdings" panose="05000000000000000000" charset="0"/>
                <a:buChar char=""/>
              </a:pPr>
              <a:r>
                <a:rPr lang="zh-CN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查询</a:t>
              </a:r>
              <a:r>
                <a:rPr lang="zh-CN" altLang="en-US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结果集的语义是什么？</a:t>
              </a:r>
              <a:endPara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Rectangle 3"/>
            <p:cNvSpPr>
              <a:spLocks noGrp="1"/>
            </p:cNvSpPr>
            <p:nvPr/>
          </p:nvSpPr>
          <p:spPr>
            <a:xfrm>
              <a:off x="138" y="5429"/>
              <a:ext cx="140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200" indent="-457200">
                <a:spcBef>
                  <a:spcPct val="20000"/>
                </a:spcBef>
                <a:buClr>
                  <a:srgbClr val="CC9900"/>
                </a:buClr>
                <a:buFont typeface="Wingdings" panose="05000000000000000000" charset="0"/>
                <a:buChar char=""/>
              </a:pPr>
              <a:r>
                <a:rPr lang="zh-CN" altLang="en-US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两个结果集的关系是什么？</a:t>
              </a:r>
              <a:endPara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" name="Rectangle 3"/>
          <p:cNvSpPr>
            <a:spLocks noGrp="1"/>
          </p:cNvSpPr>
          <p:nvPr/>
        </p:nvSpPr>
        <p:spPr>
          <a:xfrm>
            <a:off x="439420" y="4624070"/>
            <a:ext cx="8264525" cy="208534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txBody>
          <a:bodyPr wrap="square" anchor="t">
            <a:spAutoFit/>
          </a:bodyPr>
          <a:p>
            <a:pPr marL="34290" lvl="1" algn="l">
              <a:spcBef>
                <a:spcPct val="20000"/>
              </a:spcBef>
              <a:buClr>
                <a:srgbClr val="CC9900"/>
              </a:buClr>
            </a:pP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思考：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sym typeface="+mn-ea"/>
            </a:endParaRPr>
          </a:p>
          <a:p>
            <a:pPr marL="491490" lvl="1" indent="-457200" algn="l">
              <a:spcBef>
                <a:spcPct val="20000"/>
              </a:spcBef>
              <a:buClr>
                <a:srgbClr val="CC9900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如果把</a:t>
            </a:r>
            <a:r>
              <a:rPr lang="en-US" altLang="x-none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Q</a:t>
            </a:r>
            <a:r>
              <a:rPr lang="en-US" altLang="x-none" b="1" baseline="-25000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5</a:t>
            </a:r>
            <a:r>
              <a: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和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Q</a:t>
            </a:r>
            <a:r>
              <a:rPr lang="en-US" altLang="zh-CN" b="1" baseline="-25000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6</a:t>
            </a:r>
            <a:r>
              <a: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中的被减数换成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Customer[cid]</a:t>
            </a:r>
            <a:r>
              <a: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，其查询语义</a:t>
            </a:r>
            <a:r>
              <a: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以及结果集之间的关系</a:t>
            </a:r>
            <a:r>
              <a: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是什么？</a:t>
            </a:r>
            <a:endParaRPr lang="zh-CN" altLang="en-US" b="1" dirty="0">
              <a:solidFill>
                <a:schemeClr val="accent2"/>
              </a:solidFill>
              <a:latin typeface="Arial" panose="020B0604020202020204" pitchFamily="34" charset="0"/>
              <a:sym typeface="+mn-ea"/>
            </a:endParaRPr>
          </a:p>
          <a:p>
            <a:pPr marL="491490" lvl="1" indent="-457200" algn="l">
              <a:spcBef>
                <a:spcPct val="20000"/>
              </a:spcBef>
              <a:buClr>
                <a:srgbClr val="CC9900"/>
              </a:buClr>
              <a:buFont typeface="+mj-ea"/>
              <a:buAutoNum type="circleNumDbPlain"/>
            </a:pPr>
            <a:r>
              <a:rPr lang="zh-CN" altLang="en-US" b="1" u="none" baseline="0" dirty="0">
                <a:solidFill>
                  <a:schemeClr val="accent2"/>
                </a:solidFill>
                <a:latin typeface="Arial" panose="020B0604020202020204" pitchFamily="34" charset="0"/>
                <a:sym typeface="+mn-ea"/>
              </a:rPr>
              <a:t>如果去掉其中所有的投影运算，其查询语义以及结果集之间的关系是什么？</a:t>
            </a:r>
            <a:endParaRPr lang="zh-CN" altLang="en-US" b="1" u="none" baseline="0" dirty="0">
              <a:solidFill>
                <a:schemeClr val="accent2"/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7000" y="263208"/>
            <a:ext cx="8890000" cy="1585912"/>
            <a:chOff x="330" y="6045"/>
            <a:chExt cx="14000" cy="2498"/>
          </a:xfrm>
        </p:grpSpPr>
        <p:sp>
          <p:nvSpPr>
            <p:cNvPr id="197643" name="Rectangle 3"/>
            <p:cNvSpPr>
              <a:spLocks noGrp="1"/>
            </p:cNvSpPr>
            <p:nvPr/>
          </p:nvSpPr>
          <p:spPr>
            <a:xfrm>
              <a:off x="330" y="6045"/>
              <a:ext cx="14000" cy="7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p>
              <a:pPr>
                <a:spcBef>
                  <a:spcPct val="20000"/>
                </a:spcBef>
                <a:buClr>
                  <a:srgbClr val="CC9900"/>
                </a:buClr>
                <a:buFont typeface="Wingdings" panose="05000000000000000000" pitchFamily="2" charset="2"/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3. </a:t>
              </a:r>
              <a:r>
                <a:rPr lang="zh-CN" altLang="zh-CN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请考虑查询</a:t>
              </a: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Q5</a:t>
              </a:r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和</a:t>
              </a:r>
              <a:r>
                <a:rPr lang="en-US" altLang="zh-CN" sz="2800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Q6</a:t>
              </a:r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pitchFamily="2" charset="0"/>
                </a:rPr>
                <a:t>的结果有什么区别？</a:t>
              </a:r>
              <a:endParaRPr lang="en-US" altLang="x-none" sz="2800" b="1" u="none" baseline="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2" charset="0"/>
              </a:endParaRPr>
            </a:p>
          </p:txBody>
        </p:sp>
        <p:graphicFrame>
          <p:nvGraphicFramePr>
            <p:cNvPr id="197644" name="对象 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70" y="7693"/>
            <a:ext cx="12131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" imgW="2717800" imgH="190500" progId="Equation.KSEE3">
                    <p:embed/>
                  </p:oleObj>
                </mc:Choice>
                <mc:Fallback>
                  <p:oleObj name="" r:id="rId1" imgW="2717800" imgH="190500" progId="Equation.KSEE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70" y="7693"/>
                          <a:ext cx="12131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645" name="对象 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13" y="6843"/>
            <a:ext cx="11850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3" imgW="2654300" imgH="190500" progId="Equation.KSEE3">
                    <p:embed/>
                  </p:oleObj>
                </mc:Choice>
                <mc:Fallback>
                  <p:oleObj name="" r:id="rId3" imgW="2654300" imgH="190500" progId="Equation.KSEE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13" y="6843"/>
                          <a:ext cx="11850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3"/>
          <p:cNvSpPr>
            <a:spLocks noGrp="1"/>
          </p:cNvSpPr>
          <p:nvPr/>
        </p:nvSpPr>
        <p:spPr>
          <a:xfrm>
            <a:off x="390525" y="3970655"/>
            <a:ext cx="3117215" cy="5219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x-none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Q</a:t>
            </a:r>
            <a:r>
              <a:rPr lang="en-US" altLang="x-none" sz="2800" b="1" u="none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∩ Q</a:t>
            </a:r>
            <a:r>
              <a:rPr lang="en-US" altLang="zh-CN" sz="2800" b="1" u="none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  <a:r>
              <a:rPr lang="en-US" altLang="zh-CN" sz="2800" b="1" u="none" baseline="0" dirty="0">
                <a:solidFill>
                  <a:srgbClr val="FF0000"/>
                </a:solidFill>
                <a:latin typeface="Arial" panose="020B0604020202020204" pitchFamily="34" charset="0"/>
              </a:rPr>
              <a:t> = </a:t>
            </a:r>
            <a:r>
              <a:rPr lang="zh-CN" altLang="en-US" sz="2800" b="1" u="none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Ø</a:t>
            </a:r>
            <a:endParaRPr lang="zh-CN" altLang="en-US" sz="2800" b="1" u="none" baseline="0" dirty="0">
              <a:solidFill>
                <a:srgbClr val="FF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7" name="Rectangle 3"/>
          <p:cNvSpPr>
            <a:spLocks noGrp="1"/>
          </p:cNvSpPr>
          <p:nvPr/>
        </p:nvSpPr>
        <p:spPr>
          <a:xfrm>
            <a:off x="4312285" y="3970655"/>
            <a:ext cx="3028950" cy="5219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lvl="1">
              <a:spcBef>
                <a:spcPct val="20000"/>
              </a:spcBef>
              <a:buClr>
                <a:srgbClr val="CC9900"/>
              </a:buClr>
            </a:pPr>
            <a:r>
              <a:rPr lang="en-US" altLang="x-none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Q</a:t>
            </a:r>
            <a:r>
              <a:rPr lang="en-US" altLang="x-none" sz="2800" b="1" baseline="-250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∪ Q</a:t>
            </a:r>
            <a:r>
              <a:rPr lang="en-US" altLang="zh-CN" sz="2800" b="1" baseline="-250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6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 =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？</a:t>
            </a:r>
            <a:endParaRPr lang="zh-CN" altLang="en-US" sz="2800" b="1" u="none" baseline="0" dirty="0">
              <a:solidFill>
                <a:srgbClr val="FF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12865" y="8255"/>
            <a:ext cx="2696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latin typeface="+mn-lt"/>
                <a:cs typeface="+mn-lt"/>
              </a:rPr>
              <a:t>（复习思考题 </a:t>
            </a:r>
            <a:r>
              <a:rPr lang="en-US" altLang="zh-CN" sz="1600" b="1">
                <a:latin typeface="+mn-lt"/>
                <a:cs typeface="+mn-lt"/>
              </a:rPr>
              <a:t>AI 20190912</a:t>
            </a:r>
            <a:r>
              <a:rPr lang="zh-CN" altLang="en-US" sz="1600" b="1">
                <a:latin typeface="+mn-lt"/>
                <a:cs typeface="+mn-lt"/>
              </a:rPr>
              <a:t>）</a:t>
            </a:r>
            <a:endParaRPr lang="zh-CN" altLang="en-US" sz="1600" b="1">
              <a:latin typeface="+mn-lt"/>
              <a:cs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 bldLvl="0" animBg="1"/>
      <p:bldP spid="11" grpId="0" bldLvl="0" animBg="1"/>
      <p:bldP spid="1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ectangle 3"/>
          <p:cNvSpPr>
            <a:spLocks noGrp="1"/>
          </p:cNvSpPr>
          <p:nvPr/>
        </p:nvSpPr>
        <p:spPr>
          <a:xfrm>
            <a:off x="467995" y="2335530"/>
            <a:ext cx="8532495" cy="9582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748030" lvl="0" indent="-74803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9900"/>
              </a:buClr>
            </a:pPr>
            <a:r>
              <a:rPr lang="en-US" altLang="x-none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2" charset="0"/>
              </a:rPr>
              <a:t>Q</a:t>
            </a:r>
            <a:r>
              <a:rPr lang="en-US" altLang="x-none" b="1" u="none" baseline="-250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2" charset="0"/>
              </a:rPr>
              <a:t>51</a:t>
            </a:r>
            <a:r>
              <a:rPr lang="zh-CN" altLang="en-US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没有购买过</a:t>
            </a:r>
            <a:r>
              <a:rPr lang="en-US" altLang="zh-CN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p01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号商品的客户 </a:t>
            </a:r>
            <a:r>
              <a:rPr lang="en-US" altLang="zh-CN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包括</a:t>
            </a:r>
            <a:r>
              <a:rPr lang="en-US" altLang="zh-CN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没有购买过任何商品</a:t>
            </a:r>
            <a:r>
              <a:rPr lang="en-US" altLang="zh-CN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的客户</a:t>
            </a:r>
            <a:r>
              <a:rPr lang="en-US" altLang="zh-CN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en-US" altLang="zh-CN" sz="2000" b="1" u="non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748030" lvl="0" indent="-74803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9900"/>
              </a:buClr>
            </a:pPr>
            <a:r>
              <a:rPr lang="en-US" altLang="zh-CN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Q</a:t>
            </a:r>
            <a:r>
              <a:rPr lang="en-US" altLang="zh-CN" b="1" u="none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61</a:t>
            </a:r>
            <a:r>
              <a:rPr lang="zh-CN" altLang="en-US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000" b="1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只购买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过</a:t>
            </a:r>
            <a:r>
              <a:rPr lang="en-US" altLang="zh-CN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p01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号商品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”</a:t>
            </a:r>
            <a:r>
              <a:rPr lang="zh-CN" altLang="en-US" sz="2000" b="1" dirty="0">
                <a:latin typeface="Arial" panose="020B0604020202020204" pitchFamily="34" charset="0"/>
                <a:sym typeface="+mn-ea"/>
              </a:rPr>
              <a:t>的客户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 和 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“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没有购买过任何商品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” 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的客户</a:t>
            </a:r>
            <a:endParaRPr lang="zh-CN" altLang="en-US" sz="2000" b="1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7630" y="1969770"/>
            <a:ext cx="8890000" cy="2081530"/>
            <a:chOff x="138" y="2537"/>
            <a:chExt cx="14000" cy="3278"/>
          </a:xfrm>
        </p:grpSpPr>
        <p:sp>
          <p:nvSpPr>
            <p:cNvPr id="14" name="Rectangle 3"/>
            <p:cNvSpPr>
              <a:spLocks noGrp="1"/>
            </p:cNvSpPr>
            <p:nvPr/>
          </p:nvSpPr>
          <p:spPr>
            <a:xfrm>
              <a:off x="138" y="2537"/>
              <a:ext cx="1400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200" indent="-457200">
                <a:spcBef>
                  <a:spcPct val="20000"/>
                </a:spcBef>
                <a:buClr>
                  <a:srgbClr val="CC9900"/>
                </a:buClr>
                <a:buFont typeface="Wingdings" panose="05000000000000000000" charset="0"/>
                <a:buChar char=""/>
              </a:pPr>
              <a:r>
                <a:rPr lang="zh-CN" altLang="zh-CN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查询</a:t>
              </a:r>
              <a:r>
                <a:rPr lang="zh-CN" altLang="en-US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结果集的语义是什么？</a:t>
              </a:r>
              <a:endParaRPr lang="zh-CN" altLang="en-US" b="1" u="none" baseline="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Rectangle 3"/>
            <p:cNvSpPr>
              <a:spLocks noGrp="1"/>
            </p:cNvSpPr>
            <p:nvPr/>
          </p:nvSpPr>
          <p:spPr>
            <a:xfrm>
              <a:off x="138" y="5090"/>
              <a:ext cx="1400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200" indent="-457200">
                <a:spcBef>
                  <a:spcPct val="20000"/>
                </a:spcBef>
                <a:buClr>
                  <a:srgbClr val="CC9900"/>
                </a:buClr>
                <a:buFont typeface="Wingdings" panose="05000000000000000000" charset="0"/>
                <a:buChar char=""/>
              </a:pPr>
              <a:r>
                <a:rPr lang="zh-CN" altLang="en-US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两个结果集的关系是什么？</a:t>
              </a:r>
              <a:endParaRPr lang="zh-CN" altLang="en-US" b="1" u="none" baseline="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7643" name="Rectangle 3"/>
          <p:cNvSpPr>
            <a:spLocks noGrp="1"/>
          </p:cNvSpPr>
          <p:nvPr/>
        </p:nvSpPr>
        <p:spPr>
          <a:xfrm>
            <a:off x="127000" y="120015"/>
            <a:ext cx="8890000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p>
            <a:pPr>
              <a:spcBef>
                <a:spcPct val="20000"/>
              </a:spcBef>
              <a:buClr>
                <a:srgbClr val="CC9900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</a:rPr>
              <a:t>3.1 </a:t>
            </a:r>
            <a:r>
              <a:rPr lang="zh-CN" altLang="zh-CN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请考虑查询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</a:rPr>
              <a:t>Q</a:t>
            </a:r>
            <a:r>
              <a:rPr lang="en-US" altLang="zh-CN" b="1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51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和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</a:rPr>
              <a:t>Q</a:t>
            </a:r>
            <a:r>
              <a:rPr lang="en-US" altLang="zh-CN" b="1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61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的结果有什么区别？</a:t>
            </a:r>
            <a:endParaRPr lang="en-US" altLang="x-none" b="1" u="none" baseline="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2" charset="0"/>
            </a:endParaRPr>
          </a:p>
        </p:txBody>
      </p:sp>
      <p:graphicFrame>
        <p:nvGraphicFramePr>
          <p:cNvPr id="197644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2993" y="1123298"/>
          <a:ext cx="7563748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3429000" imgH="228600" progId="Equation.KSEE3">
                  <p:embed/>
                </p:oleObj>
              </mc:Choice>
              <mc:Fallback>
                <p:oleObj name="" r:id="rId1" imgW="3429000" imgH="228600" progId="Equation.KSEE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2993" y="1123298"/>
                        <a:ext cx="7563748" cy="50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5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2993" y="572040"/>
          <a:ext cx="7402271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3352800" imgH="228600" progId="Equation.KSEE3">
                  <p:embed/>
                </p:oleObj>
              </mc:Choice>
              <mc:Fallback>
                <p:oleObj name="" r:id="rId3" imgW="3352800" imgH="228600" progId="Equation.KSEE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2993" y="572040"/>
                        <a:ext cx="7402271" cy="50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914400" imgH="215900" progId="Equation.KSEE3">
                  <p:embed/>
                </p:oleObj>
              </mc:Choice>
              <mc:Fallback>
                <p:oleObj name="" r:id="rId5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88900" y="4035425"/>
            <a:ext cx="8890000" cy="2663190"/>
            <a:chOff x="140" y="6355"/>
            <a:chExt cx="14000" cy="4194"/>
          </a:xfrm>
        </p:grpSpPr>
        <p:sp>
          <p:nvSpPr>
            <p:cNvPr id="3" name="Rectangle 3"/>
            <p:cNvSpPr>
              <a:spLocks noGrp="1"/>
            </p:cNvSpPr>
            <p:nvPr/>
          </p:nvSpPr>
          <p:spPr>
            <a:xfrm>
              <a:off x="140" y="6355"/>
              <a:ext cx="14000" cy="30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835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</a:pPr>
              <a:r>
                <a:rPr lang="zh-CN" altLang="en-US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  <a:ea typeface="Times New Roman" panose="02020603050405020304" pitchFamily="2" charset="0"/>
                </a:rPr>
                <a:t>根据客户的商品购买情况，将所有客户划分为以下互不相交的四个子集：</a:t>
              </a:r>
              <a:endPara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2" charset="0"/>
              </a:endParaRPr>
            </a:p>
            <a:p>
              <a:pPr marL="1257935" lvl="2" indent="-3429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Font typeface="Arial" panose="020B0604020202020204" pitchFamily="34" charset="0"/>
                <a:buChar char="•"/>
              </a:pPr>
              <a:r>
                <a:rPr lang="zh-CN" altLang="en-US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  <a:ea typeface="Times New Roman" panose="02020603050405020304" pitchFamily="2" charset="0"/>
                </a:rPr>
                <a:t>没有购买过任何商品的客户集合</a:t>
              </a:r>
              <a:r>
                <a:rPr lang="en-US" altLang="zh-CN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  <a:ea typeface="Times New Roman" panose="02020603050405020304" pitchFamily="2" charset="0"/>
                </a:rPr>
                <a:t>S</a:t>
              </a:r>
              <a:r>
                <a:rPr lang="en-US" altLang="zh-CN" sz="2000" b="1" u="none" baseline="-25000" dirty="0">
                  <a:solidFill>
                    <a:schemeClr val="tx1"/>
                  </a:solidFill>
                  <a:latin typeface="Arial" panose="020B0604020202020204" pitchFamily="34" charset="0"/>
                  <a:ea typeface="Times New Roman" panose="02020603050405020304" pitchFamily="2" charset="0"/>
                </a:rPr>
                <a:t>1</a:t>
              </a:r>
              <a:endPara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2" charset="0"/>
              </a:endParaRPr>
            </a:p>
            <a:p>
              <a:pPr marL="1257935" lvl="2" indent="-3429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Font typeface="Arial" panose="020B0604020202020204" pitchFamily="34" charset="0"/>
                <a:buChar char="•"/>
              </a:pPr>
              <a:r>
                <a:rPr lang="zh-CN" altLang="en-US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只购买过</a:t>
              </a:r>
              <a:r>
                <a:rPr lang="en-US" altLang="zh-CN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p01</a:t>
              </a:r>
              <a:r>
                <a:rPr lang="zh-CN" altLang="en-US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这一种商品的客户集合</a:t>
              </a:r>
              <a:r>
                <a:rPr lang="en-US" altLang="zh-CN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S</a:t>
              </a:r>
              <a:r>
                <a:rPr lang="en-US" altLang="zh-CN" sz="2000" b="1" u="none" baseline="-25000" dirty="0">
                  <a:solidFill>
                    <a:schemeClr val="tx1"/>
                  </a:solidFill>
                  <a:latin typeface="Arial" panose="020B0604020202020204" pitchFamily="34" charset="0"/>
                </a:rPr>
                <a:t>2</a:t>
              </a:r>
              <a:endPara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marL="1257935" lvl="2" indent="-3429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Font typeface="Arial" panose="020B0604020202020204" pitchFamily="34" charset="0"/>
                <a:buChar char="•"/>
              </a:pPr>
              <a:r>
                <a:rPr lang="zh-CN" altLang="en-US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没有购买过</a:t>
              </a:r>
              <a:r>
                <a:rPr lang="en-US" altLang="zh-CN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p01</a:t>
              </a:r>
              <a:r>
                <a:rPr lang="zh-CN" altLang="en-US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但购买过其他商品的客户集合</a:t>
              </a:r>
              <a:r>
                <a:rPr lang="en-US" altLang="zh-CN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S</a:t>
              </a:r>
              <a:r>
                <a:rPr lang="en-US" altLang="zh-CN" sz="2000" b="1" u="none" baseline="-25000" dirty="0">
                  <a:solidFill>
                    <a:schemeClr val="tx1"/>
                  </a:solidFill>
                  <a:latin typeface="Arial" panose="020B0604020202020204" pitchFamily="34" charset="0"/>
                </a:rPr>
                <a:t>3</a:t>
              </a:r>
              <a:endPara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marL="1257935" lvl="2" indent="-3429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Font typeface="Arial" panose="020B0604020202020204" pitchFamily="34" charset="0"/>
                <a:buChar char="•"/>
              </a:pPr>
              <a:r>
                <a:rPr lang="zh-CN" altLang="en-US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既购买过</a:t>
              </a:r>
              <a:r>
                <a:rPr lang="en-US" altLang="zh-CN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p01</a:t>
              </a:r>
              <a:r>
                <a:rPr lang="zh-CN" altLang="en-US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又购买过其他商品的客户集合</a:t>
              </a:r>
              <a:r>
                <a:rPr lang="en-US" altLang="zh-CN" sz="2000" b="1" u="none" baseline="0" dirty="0">
                  <a:solidFill>
                    <a:schemeClr val="tx1"/>
                  </a:solidFill>
                  <a:latin typeface="Arial" panose="020B0604020202020204" pitchFamily="34" charset="0"/>
                </a:rPr>
                <a:t>S</a:t>
              </a:r>
              <a:r>
                <a:rPr lang="en-US" altLang="zh-CN" sz="2000" b="1" u="none" baseline="-25000" dirty="0">
                  <a:solidFill>
                    <a:schemeClr val="tx1"/>
                  </a:solidFill>
                  <a:latin typeface="Arial" panose="020B0604020202020204" pitchFamily="34" charset="0"/>
                </a:rPr>
                <a:t>4</a:t>
              </a:r>
              <a:endParaRPr lang="en-US" altLang="zh-CN" sz="2000" b="1" u="none" baseline="-25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marL="457835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</a:pPr>
              <a:r>
                <a:rPr lang="zh-CN" altLang="en-US" sz="2000" b="1" u="none" dirty="0">
                  <a:solidFill>
                    <a:schemeClr val="tx1"/>
                  </a:solidFill>
                  <a:latin typeface="Arial" panose="020B0604020202020204" pitchFamily="34" charset="0"/>
                </a:rPr>
                <a:t>则：</a:t>
              </a:r>
              <a:endParaRPr lang="zh-CN" altLang="en-US" sz="2000" b="1" u="none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" name="对象 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2115" y="8961"/>
            <a:ext cx="2997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" r:id="rId7" imgW="862965" imgH="228600" progId="Equation.KSEE3">
                    <p:embed/>
                  </p:oleObj>
                </mc:Choice>
                <mc:Fallback>
                  <p:oleObj name="" r:id="rId7" imgW="862965" imgH="2286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15" y="8961"/>
                          <a:ext cx="2997" cy="7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6609" y="8961"/>
            <a:ext cx="2997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9" imgW="862965" imgH="228600" progId="Equation.KSEE3">
                    <p:embed/>
                  </p:oleObj>
                </mc:Choice>
                <mc:Fallback>
                  <p:oleObj name="" r:id="rId9" imgW="862965" imgH="2286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609" y="8961"/>
                          <a:ext cx="2997" cy="7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2115" y="9755"/>
            <a:ext cx="3264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1" imgW="939800" imgH="228600" progId="Equation.KSEE3">
                    <p:embed/>
                  </p:oleObj>
                </mc:Choice>
                <mc:Fallback>
                  <p:oleObj name="" r:id="rId11" imgW="939800" imgH="2286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15" y="9755"/>
                          <a:ext cx="3264" cy="7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6609" y="9755"/>
            <a:ext cx="5647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3" imgW="1625600" imgH="228600" progId="Equation.KSEE3">
                    <p:embed/>
                  </p:oleObj>
                </mc:Choice>
                <mc:Fallback>
                  <p:oleObj name="" r:id="rId13" imgW="1625600" imgH="2286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609" y="9755"/>
                          <a:ext cx="5647" cy="7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/>
          <p:cNvSpPr txBox="1"/>
          <p:nvPr/>
        </p:nvSpPr>
        <p:spPr>
          <a:xfrm>
            <a:off x="6412865" y="8255"/>
            <a:ext cx="2696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latin typeface="+mn-lt"/>
                <a:cs typeface="+mn-lt"/>
              </a:rPr>
              <a:t>（复习思考题 </a:t>
            </a:r>
            <a:r>
              <a:rPr lang="en-US" altLang="zh-CN" sz="1600" b="1">
                <a:latin typeface="+mn-lt"/>
                <a:cs typeface="+mn-lt"/>
              </a:rPr>
              <a:t>AI 20190912</a:t>
            </a:r>
            <a:r>
              <a:rPr lang="zh-CN" altLang="en-US" sz="1600" b="1">
                <a:latin typeface="+mn-lt"/>
                <a:cs typeface="+mn-lt"/>
              </a:rPr>
              <a:t>）</a:t>
            </a:r>
            <a:endParaRPr lang="zh-CN" altLang="en-US" sz="1600" b="1">
              <a:latin typeface="+mn-lt"/>
              <a:cs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643" name="Rectangle 3"/>
          <p:cNvSpPr>
            <a:spLocks noGrp="1"/>
          </p:cNvSpPr>
          <p:nvPr/>
        </p:nvSpPr>
        <p:spPr>
          <a:xfrm>
            <a:off x="127000" y="120015"/>
            <a:ext cx="8890000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p>
            <a:pPr>
              <a:spcBef>
                <a:spcPct val="20000"/>
              </a:spcBef>
              <a:buClr>
                <a:srgbClr val="CC9900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</a:rPr>
              <a:t>3.2 </a:t>
            </a:r>
            <a:r>
              <a:rPr lang="zh-CN" altLang="zh-CN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请考虑查询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</a:rPr>
              <a:t>Q</a:t>
            </a:r>
            <a:r>
              <a:rPr lang="en-US" altLang="zh-CN" b="1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52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和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</a:rPr>
              <a:t>Q</a:t>
            </a:r>
            <a:r>
              <a:rPr lang="en-US" altLang="zh-CN" b="1" baseline="-25000" dirty="0">
                <a:solidFill>
                  <a:schemeClr val="accent2"/>
                </a:solidFill>
                <a:latin typeface="Arial" panose="020B0604020202020204" pitchFamily="34" charset="0"/>
              </a:rPr>
              <a:t>62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的结果有什么区别？</a:t>
            </a:r>
            <a:endParaRPr lang="en-US" altLang="x-none" b="1" u="none" baseline="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2" charset="0"/>
            </a:endParaRPr>
          </a:p>
        </p:txBody>
      </p:sp>
      <p:graphicFrame>
        <p:nvGraphicFramePr>
          <p:cNvPr id="197644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87156" y="1089643"/>
          <a:ext cx="5798946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2628900" imgH="228600" progId="Equation.KSEE3">
                  <p:embed/>
                </p:oleObj>
              </mc:Choice>
              <mc:Fallback>
                <p:oleObj name="" r:id="rId1" imgW="2628900" imgH="228600" progId="Equation.KSEE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7156" y="1089643"/>
                        <a:ext cx="5798946" cy="50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5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87473" y="572040"/>
          <a:ext cx="5635921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2552700" imgH="228600" progId="Equation.KSEE3">
                  <p:embed/>
                </p:oleObj>
              </mc:Choice>
              <mc:Fallback>
                <p:oleObj name="" r:id="rId3" imgW="2552700" imgH="228600" progId="Equation.KSEE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7473" y="572040"/>
                        <a:ext cx="5635921" cy="50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/>
          <p:cNvSpPr>
            <a:spLocks noGrp="1"/>
          </p:cNvSpPr>
          <p:nvPr/>
        </p:nvSpPr>
        <p:spPr>
          <a:xfrm>
            <a:off x="467995" y="2263775"/>
            <a:ext cx="8532495" cy="9582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748030" lvl="0" indent="-74803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9900"/>
              </a:buClr>
            </a:pPr>
            <a:r>
              <a:rPr lang="en-US" altLang="x-none" b="1" u="none" baseline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2" charset="0"/>
              </a:rPr>
              <a:t>Q</a:t>
            </a:r>
            <a:r>
              <a:rPr lang="en-US" altLang="x-none" b="1" u="none" baseline="-250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2" charset="0"/>
              </a:rPr>
              <a:t>52</a:t>
            </a:r>
            <a:r>
              <a:rPr lang="zh-CN" altLang="en-US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除了</a:t>
            </a:r>
            <a:r>
              <a:rPr lang="en-US" altLang="zh-CN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p01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号商品之外，其他商品的</a:t>
            </a:r>
            <a:r>
              <a:rPr lang="zh-CN" altLang="en-US" sz="2000" b="1" dirty="0">
                <a:latin typeface="Arial" panose="020B0604020202020204" pitchFamily="34" charset="0"/>
                <a:sym typeface="+mn-ea"/>
              </a:rPr>
              <a:t>所有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销售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订单</a:t>
            </a:r>
            <a:endParaRPr lang="en-US" altLang="zh-CN" sz="2000" b="1" u="non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748030" lvl="0" indent="-74803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9900"/>
              </a:buClr>
            </a:pPr>
            <a:r>
              <a:rPr lang="en-US" altLang="zh-CN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Q</a:t>
            </a:r>
            <a:r>
              <a:rPr lang="en-US" altLang="zh-CN" b="1" u="none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62</a:t>
            </a:r>
            <a:r>
              <a:rPr lang="zh-CN" altLang="en-US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p01</a:t>
            </a:r>
            <a:r>
              <a:rPr lang="zh-CN" altLang="en-US" sz="2000" b="1" u="none" baseline="0" dirty="0">
                <a:solidFill>
                  <a:schemeClr val="tx1"/>
                </a:solidFill>
                <a:latin typeface="Arial" panose="020B0604020202020204" pitchFamily="34" charset="0"/>
              </a:rPr>
              <a:t>号商品所有销售订单</a:t>
            </a:r>
            <a:endParaRPr lang="zh-CN" altLang="en-US" sz="2000" b="1" u="none" baseline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7630" y="1826260"/>
            <a:ext cx="8890000" cy="2296795"/>
            <a:chOff x="138" y="2537"/>
            <a:chExt cx="14000" cy="3617"/>
          </a:xfrm>
        </p:grpSpPr>
        <p:sp>
          <p:nvSpPr>
            <p:cNvPr id="4" name="Rectangle 3"/>
            <p:cNvSpPr>
              <a:spLocks noGrp="1"/>
            </p:cNvSpPr>
            <p:nvPr/>
          </p:nvSpPr>
          <p:spPr>
            <a:xfrm>
              <a:off x="138" y="2537"/>
              <a:ext cx="1400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200" indent="-457200">
                <a:spcBef>
                  <a:spcPct val="20000"/>
                </a:spcBef>
                <a:buClr>
                  <a:srgbClr val="CC9900"/>
                </a:buClr>
                <a:buFont typeface="Wingdings" panose="05000000000000000000" charset="0"/>
                <a:buChar char=""/>
              </a:pPr>
              <a:r>
                <a:rPr lang="zh-CN" altLang="zh-CN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查询</a:t>
              </a:r>
              <a:r>
                <a:rPr lang="zh-CN" altLang="en-US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结果集的语义是什么？</a:t>
              </a:r>
              <a:endParaRPr lang="zh-CN" altLang="en-US" b="1" u="none" baseline="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" name="Rectangle 3"/>
            <p:cNvSpPr>
              <a:spLocks noGrp="1"/>
            </p:cNvSpPr>
            <p:nvPr/>
          </p:nvSpPr>
          <p:spPr>
            <a:xfrm>
              <a:off x="138" y="5429"/>
              <a:ext cx="1400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marL="457200" indent="-457200">
                <a:spcBef>
                  <a:spcPct val="20000"/>
                </a:spcBef>
                <a:buClr>
                  <a:srgbClr val="CC9900"/>
                </a:buClr>
                <a:buFont typeface="Wingdings" panose="05000000000000000000" charset="0"/>
                <a:buChar char=""/>
              </a:pPr>
              <a:r>
                <a:rPr lang="zh-CN" altLang="en-US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两个结果集的关系是什么？</a:t>
              </a:r>
              <a:endParaRPr lang="zh-CN" altLang="en-US" b="1" u="none" baseline="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914400" imgH="215900" progId="Equation.KSEE3">
                  <p:embed/>
                </p:oleObj>
              </mc:Choice>
              <mc:Fallback>
                <p:oleObj name="" r:id="rId5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7223" y="4226560"/>
          <a:ext cx="2605405" cy="50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7" imgW="1181100" imgH="228600" progId="Equation.KSEE3">
                  <p:embed/>
                </p:oleObj>
              </mc:Choice>
              <mc:Fallback>
                <p:oleObj name="" r:id="rId7" imgW="1181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223" y="4226560"/>
                        <a:ext cx="2605405" cy="504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7540" y="4876165"/>
          <a:ext cx="2717165" cy="50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9" imgW="1231265" imgH="228600" progId="Equation.KSEE3">
                  <p:embed/>
                </p:oleObj>
              </mc:Choice>
              <mc:Fallback>
                <p:oleObj name="" r:id="rId9" imgW="1231265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7540" y="4876165"/>
                        <a:ext cx="2717165" cy="504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412865" y="8255"/>
            <a:ext cx="2696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latin typeface="+mn-lt"/>
                <a:cs typeface="+mn-lt"/>
              </a:rPr>
              <a:t>（复习思考题 </a:t>
            </a:r>
            <a:r>
              <a:rPr lang="en-US" altLang="zh-CN" sz="1600" b="1">
                <a:latin typeface="+mn-lt"/>
                <a:cs typeface="+mn-lt"/>
              </a:rPr>
              <a:t>AI 20190912</a:t>
            </a:r>
            <a:r>
              <a:rPr lang="zh-CN" altLang="en-US" sz="1600" b="1">
                <a:latin typeface="+mn-lt"/>
                <a:cs typeface="+mn-lt"/>
              </a:rPr>
              <a:t>）</a:t>
            </a:r>
            <a:endParaRPr lang="zh-CN" altLang="en-US" sz="1600" b="1">
              <a:latin typeface="+mn-lt"/>
              <a:cs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WPS 演示</Application>
  <PresentationFormat/>
  <Paragraphs>95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28</vt:i4>
      </vt:variant>
      <vt:variant>
        <vt:lpstr>幻灯片标题</vt:lpstr>
      </vt:variant>
      <vt:variant>
        <vt:i4>6</vt:i4>
      </vt:variant>
    </vt:vector>
  </HeadingPairs>
  <TitlesOfParts>
    <vt:vector size="44" baseType="lpstr">
      <vt:lpstr>Arial</vt:lpstr>
      <vt:lpstr>宋体</vt:lpstr>
      <vt:lpstr>Wingdings</vt:lpstr>
      <vt:lpstr>Times New Roman</vt:lpstr>
      <vt:lpstr>Wingdings</vt:lpstr>
      <vt:lpstr>微软雅黑</vt:lpstr>
      <vt:lpstr>Arial Unicode MS</vt:lpstr>
      <vt:lpstr>Calibri</vt:lpstr>
      <vt:lpstr>仿宋</vt:lpstr>
      <vt:lpstr>默认设计模板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百老汇</cp:lastModifiedBy>
  <cp:revision>481</cp:revision>
  <dcterms:created xsi:type="dcterms:W3CDTF">2014-02-16T15:20:00Z</dcterms:created>
  <dcterms:modified xsi:type="dcterms:W3CDTF">2019-11-07T14:21:08Z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2052-11.1.0.9145</vt:lpwstr>
  </property>
</Properties>
</file>