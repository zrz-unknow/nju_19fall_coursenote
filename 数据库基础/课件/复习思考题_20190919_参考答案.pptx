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91" r:id="rId3"/>
    <p:sldId id="293" r:id="rId4"/>
    <p:sldId id="292" r:id="rId5"/>
    <p:sldId id="294" r:id="rId6"/>
    <p:sldId id="268" r:id="rId7"/>
    <p:sldId id="277" r:id="rId8"/>
    <p:sldId id="302" r:id="rId9"/>
    <p:sldId id="303" r:id="rId10"/>
    <p:sldId id="300" r:id="rId11"/>
    <p:sldId id="275" r:id="rId12"/>
    <p:sldId id="276" r:id="rId13"/>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7.xml"/><Relationship Id="rId7" Type="http://schemas.openxmlformats.org/officeDocument/2006/relationships/image" Target="../media/image4.wmf"/><Relationship Id="rId6" Type="http://schemas.openxmlformats.org/officeDocument/2006/relationships/oleObject" Target="../embeddings/oleObject4.bin"/><Relationship Id="rId5" Type="http://schemas.openxmlformats.org/officeDocument/2006/relationships/image" Target="../media/image3.wmf"/><Relationship Id="rId4" Type="http://schemas.openxmlformats.org/officeDocument/2006/relationships/oleObject" Target="../embeddings/oleObject3.bin"/><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6.wmf"/><Relationship Id="rId3" Type="http://schemas.openxmlformats.org/officeDocument/2006/relationships/oleObject" Target="../embeddings/oleObject6.bin"/><Relationship Id="rId2" Type="http://schemas.openxmlformats.org/officeDocument/2006/relationships/image" Target="../media/image5.wmf"/><Relationship Id="rId1"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8.bin"/><Relationship Id="rId2" Type="http://schemas.openxmlformats.org/officeDocument/2006/relationships/image" Target="../media/image7.wmf"/><Relationship Id="rId1" Type="http://schemas.openxmlformats.org/officeDocument/2006/relationships/oleObject" Target="../embeddings/oleObject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3486150" y="405130"/>
          <a:ext cx="4986020" cy="2371725"/>
        </p:xfrm>
        <a:graphic>
          <a:graphicData uri="http://schemas.openxmlformats.org/drawingml/2006/table">
            <a:tbl>
              <a:tblPr firstRow="1" bandRow="1">
                <a:tableStyleId>{5940675A-B579-460E-94D1-54222C63F5DA}</a:tableStyleId>
              </a:tblPr>
              <a:tblGrid>
                <a:gridCol w="1246505"/>
                <a:gridCol w="1246505"/>
                <a:gridCol w="1246505"/>
                <a:gridCol w="1246505"/>
              </a:tblGrid>
              <a:tr h="474345">
                <a:tc>
                  <a:txBody>
                    <a:bodyPr/>
                    <a:p>
                      <a:pPr algn="ctr">
                        <a:buNone/>
                      </a:pPr>
                      <a:r>
                        <a:rPr lang="en-US" sz="2400" b="1">
                          <a:solidFill>
                            <a:srgbClr val="FF0000"/>
                          </a:solidFill>
                          <a:latin typeface="Arial" panose="020B0604020202020204" pitchFamily="34" charset="0"/>
                          <a:ea typeface="宋体" panose="02010600030101010101" pitchFamily="2" charset="-122"/>
                          <a:cs typeface="Arial" panose="020B0604020202020204" pitchFamily="34" charset="0"/>
                        </a:rPr>
                        <a:t>A</a:t>
                      </a:r>
                      <a:endPar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1">
                          <a:solidFill>
                            <a:srgbClr val="FF0000"/>
                          </a:solidFill>
                          <a:latin typeface="Arial" panose="020B0604020202020204" pitchFamily="34" charset="0"/>
                          <a:ea typeface="宋体" panose="02010600030101010101" pitchFamily="2" charset="-122"/>
                          <a:cs typeface="Arial" panose="020B0604020202020204" pitchFamily="34" charset="0"/>
                        </a:rPr>
                        <a:t>B</a:t>
                      </a:r>
                      <a:endPar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1">
                          <a:solidFill>
                            <a:srgbClr val="FF0000"/>
                          </a:solidFill>
                          <a:latin typeface="Arial" panose="020B0604020202020204" pitchFamily="34" charset="0"/>
                          <a:ea typeface="宋体" panose="02010600030101010101" pitchFamily="2" charset="-122"/>
                          <a:cs typeface="Arial" panose="020B0604020202020204" pitchFamily="34" charset="0"/>
                        </a:rPr>
                        <a:t>C</a:t>
                      </a:r>
                      <a:endPar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1">
                          <a:solidFill>
                            <a:srgbClr val="FF0000"/>
                          </a:solidFill>
                          <a:latin typeface="Arial" panose="020B0604020202020204" pitchFamily="34" charset="0"/>
                          <a:ea typeface="宋体" panose="02010600030101010101" pitchFamily="2" charset="-122"/>
                          <a:cs typeface="Arial" panose="020B0604020202020204" pitchFamily="34" charset="0"/>
                        </a:rPr>
                        <a:t>D</a:t>
                      </a:r>
                      <a:endPar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r>
              <a:tr h="47434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34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b3</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34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a3</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b4</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34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a4</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Rectangle 3"/>
          <p:cNvSpPr>
            <a:spLocks noGrp="1"/>
          </p:cNvSpPr>
          <p:nvPr/>
        </p:nvSpPr>
        <p:spPr>
          <a:xfrm>
            <a:off x="744220" y="2958465"/>
            <a:ext cx="10709275" cy="2602230"/>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514350" lvl="0" indent="-514350" eaLnBrk="1" fontAlgn="base" hangingPunct="1">
              <a:lnSpc>
                <a:spcPct val="100000"/>
              </a:lnSpc>
              <a:buFont typeface="+mj-lt"/>
              <a:buAutoNum type="arabicPeriod"/>
            </a:pPr>
            <a:r>
              <a:rPr lang="zh-CN" altLang="en-US" strike="noStrike" noProof="1" dirty="0">
                <a:solidFill>
                  <a:schemeClr val="tx1"/>
                </a:solidFill>
                <a:latin typeface="Arial" panose="020B0604020202020204" pitchFamily="34" charset="0"/>
                <a:cs typeface="Arial" panose="020B0604020202020204" pitchFamily="34" charset="0"/>
              </a:rPr>
              <a:t>Consider the table T1, above. Find the three candidate keys for this table. One of the keys has two columns.</a:t>
            </a:r>
            <a:endParaRPr lang="zh-CN" altLang="en-US" strike="noStrike" noProof="1" dirty="0">
              <a:solidFill>
                <a:schemeClr val="tx1"/>
              </a:solidFill>
              <a:latin typeface="Arial" panose="020B0604020202020204" pitchFamily="34" charset="0"/>
              <a:cs typeface="Arial" panose="020B0604020202020204" pitchFamily="34" charset="0"/>
            </a:endParaRPr>
          </a:p>
          <a:p>
            <a:pPr marL="457200" lvl="1" indent="0" eaLnBrk="1" fontAlgn="base" hangingPunct="1">
              <a:lnSpc>
                <a:spcPct val="100000"/>
              </a:lnSpc>
              <a:buFont typeface="+mj-lt"/>
              <a:buNone/>
            </a:pPr>
            <a:endParaRPr lang="zh-CN" altLang="en-US" strike="noStrike" noProof="1" dirty="0">
              <a:solidFill>
                <a:schemeClr val="tx1"/>
              </a:solidFill>
              <a:latin typeface="Arial" panose="020B0604020202020204" pitchFamily="34" charset="0"/>
              <a:cs typeface="Arial" panose="020B0604020202020204" pitchFamily="34" charset="0"/>
            </a:endParaRPr>
          </a:p>
          <a:p>
            <a:pPr marL="457200" lvl="1" indent="0" eaLnBrk="1" fontAlgn="base" hangingPunct="1">
              <a:lnSpc>
                <a:spcPct val="100000"/>
              </a:lnSpc>
              <a:buFont typeface="+mj-lt"/>
              <a:buNone/>
            </a:pPr>
            <a:r>
              <a:rPr lang="en-US" altLang="zh-CN" strike="noStrike" noProof="1" dirty="0">
                <a:solidFill>
                  <a:srgbClr val="FF0000"/>
                </a:solidFill>
                <a:latin typeface="Arial" panose="020B0604020202020204" pitchFamily="34" charset="0"/>
                <a:cs typeface="Arial" panose="020B0604020202020204" pitchFamily="34" charset="0"/>
              </a:rPr>
              <a:t>keys:  </a:t>
            </a:r>
            <a:r>
              <a:rPr lang="zh-CN" altLang="en-US" strike="noStrike" noProof="1" dirty="0">
                <a:solidFill>
                  <a:srgbClr val="FF0000"/>
                </a:solidFill>
                <a:latin typeface="Arial" panose="020B0604020202020204" pitchFamily="34" charset="0"/>
                <a:cs typeface="Arial" panose="020B0604020202020204" pitchFamily="34" charset="0"/>
              </a:rPr>
              <a:t>A,  B,  (C,D)</a:t>
            </a:r>
            <a:endParaRPr lang="zh-CN" altLang="en-US" strike="noStrike" noProof="1" dirty="0">
              <a:solidFill>
                <a:srgbClr val="FF0000"/>
              </a:solidFill>
              <a:latin typeface="Arial" panose="020B0604020202020204" pitchFamily="34" charset="0"/>
              <a:cs typeface="Arial" panose="020B0604020202020204" pitchFamily="34" charset="0"/>
            </a:endParaRPr>
          </a:p>
          <a:p>
            <a:pPr marL="457200" lvl="1" indent="0" eaLnBrk="1" fontAlgn="base" hangingPunct="1">
              <a:lnSpc>
                <a:spcPct val="100000"/>
              </a:lnSpc>
              <a:buFont typeface="+mj-lt"/>
              <a:buNone/>
            </a:pPr>
            <a:endParaRPr lang="zh-CN" altLang="en-US" strike="noStrike" noProof="1" dirty="0">
              <a:solidFill>
                <a:srgbClr val="FF0000"/>
              </a:solidFill>
              <a:latin typeface="Arial" panose="020B0604020202020204" pitchFamily="34" charset="0"/>
              <a:cs typeface="Arial" panose="020B0604020202020204" pitchFamily="34" charset="0"/>
            </a:endParaRPr>
          </a:p>
          <a:p>
            <a:pPr marL="457200" lvl="1" indent="0" eaLnBrk="1" fontAlgn="base" hangingPunct="1">
              <a:lnSpc>
                <a:spcPct val="100000"/>
              </a:lnSpc>
              <a:buFont typeface="+mj-lt"/>
              <a:buNone/>
            </a:pPr>
            <a:r>
              <a:rPr lang="zh-CN" altLang="en-US" strike="noStrike" noProof="1" dirty="0">
                <a:solidFill>
                  <a:srgbClr val="FF0000"/>
                </a:solidFill>
                <a:latin typeface="华文细黑" panose="02010600040101010101" charset="-122"/>
                <a:ea typeface="华文细黑" panose="02010600040101010101" charset="-122"/>
                <a:cs typeface="Arial" panose="020B0604020202020204" pitchFamily="34" charset="0"/>
              </a:rPr>
              <a:t>（解题思路参见下一题）</a:t>
            </a:r>
            <a:endParaRPr lang="zh-CN" altLang="en-US" strike="noStrike" noProof="1" dirty="0">
              <a:solidFill>
                <a:srgbClr val="FF0000"/>
              </a:solidFill>
              <a:latin typeface="华文细黑" panose="02010600040101010101" charset="-122"/>
              <a:ea typeface="华文细黑" panose="02010600040101010101" charset="-122"/>
              <a:cs typeface="Arial" panose="020B0604020202020204" pitchFamily="34" charset="0"/>
            </a:endParaRPr>
          </a:p>
        </p:txBody>
      </p:sp>
      <p:sp>
        <p:nvSpPr>
          <p:cNvPr id="4" name="文本框 3"/>
          <p:cNvSpPr txBox="1"/>
          <p:nvPr/>
        </p:nvSpPr>
        <p:spPr>
          <a:xfrm>
            <a:off x="2799715" y="568325"/>
            <a:ext cx="614045" cy="368300"/>
          </a:xfrm>
          <a:prstGeom prst="rect">
            <a:avLst/>
          </a:prstGeom>
          <a:noFill/>
        </p:spPr>
        <p:txBody>
          <a:bodyPr wrap="square" rtlCol="0">
            <a:spAutoFit/>
          </a:bodyPr>
          <a:p>
            <a:r>
              <a:rPr lang="en-US" altLang="zh-CN" b="1">
                <a:latin typeface="Arial" panose="020B0604020202020204" pitchFamily="34" charset="0"/>
                <a:cs typeface="Arial" panose="020B0604020202020204" pitchFamily="34" charset="0"/>
              </a:rPr>
              <a:t>T1</a:t>
            </a:r>
            <a:endParaRPr lang="en-US" altLang="zh-CN" b="1">
              <a:latin typeface="Arial" panose="020B0604020202020204" pitchFamily="34" charset="0"/>
              <a:cs typeface="Arial" panose="020B0604020202020204" pitchFamily="34" charset="0"/>
            </a:endParaRPr>
          </a:p>
        </p:txBody>
      </p:sp>
      <p:sp>
        <p:nvSpPr>
          <p:cNvPr id="5" name="文本框 4"/>
          <p:cNvSpPr txBox="1"/>
          <p:nvPr/>
        </p:nvSpPr>
        <p:spPr>
          <a:xfrm>
            <a:off x="563880" y="349250"/>
            <a:ext cx="2081530" cy="521970"/>
          </a:xfrm>
          <a:prstGeom prst="rect">
            <a:avLst/>
          </a:prstGeom>
          <a:noFill/>
        </p:spPr>
        <p:txBody>
          <a:bodyPr wrap="square" rtlCol="0">
            <a:spAutoFit/>
          </a:bodyPr>
          <a:p>
            <a:pPr algn="ctr"/>
            <a:r>
              <a:rPr lang="zh-CN" altLang="en-US" sz="2800" b="1">
                <a:latin typeface="华文细黑" panose="02010600040101010101" charset="-122"/>
                <a:ea typeface="华文细黑" panose="02010600040101010101" charset="-122"/>
              </a:rPr>
              <a:t>（第一大题）</a:t>
            </a:r>
            <a:endParaRPr lang="zh-CN" altLang="en-US" sz="2800" b="1">
              <a:latin typeface="华文细黑" panose="02010600040101010101" charset="-122"/>
              <a:ea typeface="华文细黑" panose="02010600040101010101" charset="-122"/>
            </a:endParaRPr>
          </a:p>
        </p:txBody>
      </p:sp>
      <p:sp>
        <p:nvSpPr>
          <p:cNvPr id="6" name="文本框 5"/>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overrideClrMapping bg1="lt1" tx1="dk1" bg2="lt2" tx2="dk2" accent1="accent1" accent2="accent2" accent3="accent3" accent4="accent4" accent5="accent5" accent6="accent6" hlink="hlink" folHlink="folHlink"/>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3486150" y="127000"/>
          <a:ext cx="4986020" cy="2073275"/>
        </p:xfrm>
        <a:graphic>
          <a:graphicData uri="http://schemas.openxmlformats.org/drawingml/2006/table">
            <a:tbl>
              <a:tblPr firstRow="1" bandRow="1">
                <a:tableStyleId>{5940675A-B579-460E-94D1-54222C63F5DA}</a:tableStyleId>
              </a:tblPr>
              <a:tblGrid>
                <a:gridCol w="996950"/>
                <a:gridCol w="997585"/>
                <a:gridCol w="996950"/>
                <a:gridCol w="997585"/>
                <a:gridCol w="996950"/>
              </a:tblGrid>
              <a:tr h="414655">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A</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B</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C</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D</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E</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r>
              <a:tr h="41465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e1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465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e2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465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a3</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e1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465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a4</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e1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Rectangle 3"/>
          <p:cNvSpPr>
            <a:spLocks noGrp="1"/>
          </p:cNvSpPr>
          <p:nvPr/>
        </p:nvSpPr>
        <p:spPr>
          <a:xfrm>
            <a:off x="551815" y="2201545"/>
            <a:ext cx="11141075" cy="832485"/>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514350" lvl="0" indent="-514350" eaLnBrk="1" fontAlgn="base" hangingPunct="1">
              <a:lnSpc>
                <a:spcPct val="100000"/>
              </a:lnSpc>
              <a:spcBef>
                <a:spcPts val="20"/>
              </a:spcBef>
              <a:spcAft>
                <a:spcPts val="0"/>
              </a:spcAft>
              <a:buClrTx/>
              <a:buFont typeface="+mj-lt"/>
              <a:buAutoNum type="arabicPeriod" startAt="2"/>
            </a:pPr>
            <a:r>
              <a:rPr lang="zh-CN" altLang="en-US" strike="noStrike" noProof="1" dirty="0">
                <a:solidFill>
                  <a:schemeClr val="tx1"/>
                </a:solidFill>
                <a:latin typeface="Arial" panose="020B0604020202020204" pitchFamily="34" charset="0"/>
                <a:ea typeface="华文细黑" panose="02010600040101010101" charset="-122"/>
                <a:cs typeface="Arial" panose="020B0604020202020204" pitchFamily="34" charset="0"/>
              </a:rPr>
              <a:t>Consider the table T2, above. Find the two candidate keys for this table.</a:t>
            </a:r>
            <a:endParaRPr lang="zh-CN" altLang="en-US" strike="noStrike" noProof="1" dirty="0">
              <a:solidFill>
                <a:schemeClr val="tx1"/>
              </a:solidFill>
              <a:latin typeface="Arial" panose="020B0604020202020204" pitchFamily="34" charset="0"/>
              <a:ea typeface="华文细黑" panose="02010600040101010101" charset="-122"/>
              <a:cs typeface="Arial" panose="020B0604020202020204" pitchFamily="34" charset="0"/>
            </a:endParaRPr>
          </a:p>
          <a:p>
            <a:pPr marL="457200" lvl="1" indent="0" eaLnBrk="1" fontAlgn="base" hangingPunct="1">
              <a:lnSpc>
                <a:spcPct val="100000"/>
              </a:lnSpc>
              <a:spcBef>
                <a:spcPts val="20"/>
              </a:spcBef>
              <a:spcAft>
                <a:spcPts val="0"/>
              </a:spcAft>
              <a:buFont typeface="+mj-lt"/>
              <a:buNone/>
            </a:pPr>
            <a:r>
              <a:rPr lang="en-US" altLang="zh-CN" strike="noStrike" noProof="1" dirty="0">
                <a:solidFill>
                  <a:srgbClr val="FF0000"/>
                </a:solidFill>
                <a:latin typeface="Arial" panose="020B0604020202020204" pitchFamily="34" charset="0"/>
                <a:ea typeface="华文细黑" panose="02010600040101010101" charset="-122"/>
                <a:cs typeface="Arial" panose="020B0604020202020204" pitchFamily="34" charset="0"/>
              </a:rPr>
              <a:t>Keys:  A    </a:t>
            </a:r>
            <a:r>
              <a:rPr lang="zh-CN" altLang="en-US" strike="noStrike" noProof="1" dirty="0">
                <a:solidFill>
                  <a:srgbClr val="FF0000"/>
                </a:solidFill>
                <a:latin typeface="Arial" panose="020B0604020202020204" pitchFamily="34" charset="0"/>
                <a:ea typeface="华文细黑" panose="02010600040101010101" charset="-122"/>
                <a:cs typeface="Arial" panose="020B0604020202020204" pitchFamily="34" charset="0"/>
              </a:rPr>
              <a:t>和  </a:t>
            </a:r>
            <a:r>
              <a:rPr lang="en-US" altLang="zh-CN" strike="noStrike" noProof="1" dirty="0">
                <a:solidFill>
                  <a:srgbClr val="FF0000"/>
                </a:solidFill>
                <a:latin typeface="Arial" panose="020B0604020202020204" pitchFamily="34" charset="0"/>
                <a:ea typeface="华文细黑" panose="02010600040101010101" charset="-122"/>
                <a:cs typeface="Arial" panose="020B0604020202020204" pitchFamily="34" charset="0"/>
              </a:rPr>
              <a:t>  (B,C,E)</a:t>
            </a:r>
            <a:endParaRPr lang="en-US" altLang="zh-CN" strike="noStrike" noProof="1" dirty="0">
              <a:solidFill>
                <a:srgbClr val="FF0000"/>
              </a:solidFill>
              <a:latin typeface="Arial" panose="020B0604020202020204" pitchFamily="34" charset="0"/>
              <a:ea typeface="华文细黑" panose="02010600040101010101" charset="-122"/>
              <a:cs typeface="Arial" panose="020B0604020202020204" pitchFamily="34" charset="0"/>
            </a:endParaRPr>
          </a:p>
        </p:txBody>
      </p:sp>
      <p:sp>
        <p:nvSpPr>
          <p:cNvPr id="4" name="文本框 3"/>
          <p:cNvSpPr txBox="1"/>
          <p:nvPr/>
        </p:nvSpPr>
        <p:spPr>
          <a:xfrm>
            <a:off x="2799715" y="157480"/>
            <a:ext cx="614045" cy="368300"/>
          </a:xfrm>
          <a:prstGeom prst="rect">
            <a:avLst/>
          </a:prstGeom>
          <a:noFill/>
        </p:spPr>
        <p:txBody>
          <a:bodyPr wrap="square" rtlCol="0">
            <a:spAutoFit/>
          </a:bodyPr>
          <a:p>
            <a:r>
              <a:rPr lang="en-US" altLang="zh-CN" b="1">
                <a:latin typeface="Arial" panose="020B0604020202020204" pitchFamily="34" charset="0"/>
                <a:cs typeface="Arial" panose="020B0604020202020204" pitchFamily="34" charset="0"/>
              </a:rPr>
              <a:t>T2</a:t>
            </a:r>
            <a:endParaRPr lang="en-US" altLang="zh-CN" b="1">
              <a:latin typeface="Arial" panose="020B0604020202020204" pitchFamily="34" charset="0"/>
              <a:cs typeface="Arial" panose="020B0604020202020204" pitchFamily="34" charset="0"/>
            </a:endParaRPr>
          </a:p>
        </p:txBody>
      </p:sp>
      <p:sp>
        <p:nvSpPr>
          <p:cNvPr id="5" name="文本框 4"/>
          <p:cNvSpPr txBox="1"/>
          <p:nvPr/>
        </p:nvSpPr>
        <p:spPr>
          <a:xfrm>
            <a:off x="563880" y="349250"/>
            <a:ext cx="2081530" cy="521970"/>
          </a:xfrm>
          <a:prstGeom prst="rect">
            <a:avLst/>
          </a:prstGeom>
          <a:noFill/>
        </p:spPr>
        <p:txBody>
          <a:bodyPr wrap="square" rtlCol="0">
            <a:spAutoFit/>
          </a:bodyPr>
          <a:p>
            <a:pPr algn="ctr"/>
            <a:r>
              <a:rPr lang="zh-CN" altLang="en-US" sz="2800" b="1">
                <a:latin typeface="华文细黑" panose="02010600040101010101" charset="-122"/>
                <a:ea typeface="华文细黑" panose="02010600040101010101" charset="-122"/>
              </a:rPr>
              <a:t>（第一大题）</a:t>
            </a:r>
            <a:endParaRPr lang="zh-CN" altLang="en-US" sz="2800" b="1">
              <a:latin typeface="华文细黑" panose="02010600040101010101" charset="-122"/>
              <a:ea typeface="华文细黑" panose="02010600040101010101" charset="-122"/>
            </a:endParaRPr>
          </a:p>
        </p:txBody>
      </p:sp>
      <p:sp>
        <p:nvSpPr>
          <p:cNvPr id="6" name="文本框 5"/>
          <p:cNvSpPr txBox="1"/>
          <p:nvPr/>
        </p:nvSpPr>
        <p:spPr>
          <a:xfrm>
            <a:off x="513715" y="3010535"/>
            <a:ext cx="11176000" cy="3784600"/>
          </a:xfrm>
          <a:prstGeom prst="rect">
            <a:avLst/>
          </a:prstGeom>
          <a:noFill/>
        </p:spPr>
        <p:txBody>
          <a:bodyPr wrap="square" rtlCol="0">
            <a:spAutoFit/>
          </a:bodyPr>
          <a:p>
            <a:r>
              <a:rPr lang="zh-CN" altLang="en-US" sz="2000" b="1">
                <a:latin typeface="华文细黑" panose="02010600040101010101" charset="-122"/>
                <a:ea typeface="华文细黑" panose="02010600040101010101" charset="-122"/>
                <a:cs typeface="华文细黑" panose="02010600040101010101" charset="-122"/>
              </a:rPr>
              <a:t>思考过程如下：</a:t>
            </a:r>
            <a:endParaRPr lang="zh-CN" altLang="en-US" sz="2000" b="1">
              <a:latin typeface="华文细黑" panose="02010600040101010101" charset="-122"/>
              <a:ea typeface="华文细黑" panose="02010600040101010101" charset="-122"/>
              <a:cs typeface="华文细黑" panose="02010600040101010101" charset="-122"/>
            </a:endParaRPr>
          </a:p>
          <a:p>
            <a:pPr marL="457200" indent="-457200">
              <a:buFont typeface="+mj-ea"/>
              <a:buAutoNum type="circleNumDbPlain"/>
            </a:pPr>
            <a:r>
              <a:rPr lang="zh-CN" altLang="en-US" sz="2000" b="1">
                <a:latin typeface="华文细黑" panose="02010600040101010101" charset="-122"/>
                <a:ea typeface="华文细黑" panose="02010600040101010101" charset="-122"/>
                <a:cs typeface="华文细黑" panose="02010600040101010101" charset="-122"/>
              </a:rPr>
              <a:t>首先考虑由单个属性构成的关键字，只有属性</a:t>
            </a:r>
            <a:r>
              <a:rPr lang="en-US" altLang="zh-CN" sz="2000" b="1">
                <a:latin typeface="华文细黑" panose="02010600040101010101" charset="-122"/>
                <a:ea typeface="华文细黑" panose="02010600040101010101" charset="-122"/>
                <a:cs typeface="华文细黑" panose="02010600040101010101" charset="-122"/>
              </a:rPr>
              <a:t>A</a:t>
            </a:r>
            <a:r>
              <a:rPr lang="zh-CN" altLang="en-US" sz="2000" b="1">
                <a:latin typeface="华文细黑" panose="02010600040101010101" charset="-122"/>
                <a:ea typeface="华文细黑" panose="02010600040101010101" charset="-122"/>
                <a:cs typeface="华文细黑" panose="02010600040101010101" charset="-122"/>
              </a:rPr>
              <a:t>的取值满足关键字的定义（在另外四个属性上，每个属性上都有取值相同的元组，无法满足关键字值与元组的一一对应）。</a:t>
            </a:r>
            <a:r>
              <a:rPr lang="zh-CN" altLang="en-US" sz="2000" b="1">
                <a:latin typeface="华文细黑" panose="02010600040101010101" charset="-122"/>
                <a:ea typeface="华文细黑" panose="02010600040101010101" charset="-122"/>
                <a:cs typeface="华文细黑" panose="02010600040101010101" charset="-122"/>
                <a:sym typeface="+mn-ea"/>
              </a:rPr>
              <a:t>因此，由单个属性构成的关键字是 </a:t>
            </a:r>
            <a:r>
              <a:rPr lang="en-US" altLang="zh-CN" sz="2000" b="1">
                <a:solidFill>
                  <a:srgbClr val="FF0000"/>
                </a:solidFill>
                <a:latin typeface="华文细黑" panose="02010600040101010101" charset="-122"/>
                <a:ea typeface="华文细黑" panose="02010600040101010101" charset="-122"/>
                <a:cs typeface="华文细黑" panose="02010600040101010101" charset="-122"/>
                <a:sym typeface="+mn-ea"/>
              </a:rPr>
              <a:t>A</a:t>
            </a:r>
            <a:endParaRPr lang="zh-CN" altLang="en-US" sz="2000" b="1">
              <a:latin typeface="华文细黑" panose="02010600040101010101" charset="-122"/>
              <a:ea typeface="华文细黑" panose="02010600040101010101" charset="-122"/>
              <a:cs typeface="华文细黑" panose="02010600040101010101" charset="-122"/>
            </a:endParaRPr>
          </a:p>
          <a:p>
            <a:pPr marL="457200" indent="-457200">
              <a:buFont typeface="+mj-ea"/>
              <a:buAutoNum type="circleNumDbPlain"/>
            </a:pPr>
            <a:r>
              <a:rPr lang="zh-CN" altLang="en-US" sz="2000" b="1">
                <a:latin typeface="华文细黑" panose="02010600040101010101" charset="-122"/>
                <a:ea typeface="华文细黑" panose="02010600040101010101" charset="-122"/>
                <a:cs typeface="华文细黑" panose="02010600040101010101" charset="-122"/>
              </a:rPr>
              <a:t>考虑由两个属性构成的关键字。因为</a:t>
            </a:r>
            <a:r>
              <a:rPr lang="en-US" altLang="zh-CN" sz="2000" b="1">
                <a:latin typeface="华文细黑" panose="02010600040101010101" charset="-122"/>
                <a:ea typeface="华文细黑" panose="02010600040101010101" charset="-122"/>
                <a:cs typeface="华文细黑" panose="02010600040101010101" charset="-122"/>
              </a:rPr>
              <a:t>A</a:t>
            </a:r>
            <a:r>
              <a:rPr lang="zh-CN" altLang="en-US" sz="2000" b="1">
                <a:latin typeface="华文细黑" panose="02010600040101010101" charset="-122"/>
                <a:ea typeface="华文细黑" panose="02010600040101010101" charset="-122"/>
                <a:cs typeface="华文细黑" panose="02010600040101010101" charset="-122"/>
              </a:rPr>
              <a:t>已经是</a:t>
            </a:r>
            <a:r>
              <a:rPr lang="en-US" altLang="zh-CN" sz="2000" b="1">
                <a:latin typeface="华文细黑" panose="02010600040101010101" charset="-122"/>
                <a:ea typeface="华文细黑" panose="02010600040101010101" charset="-122"/>
                <a:cs typeface="华文细黑" panose="02010600040101010101" charset="-122"/>
              </a:rPr>
              <a:t>T2</a:t>
            </a:r>
            <a:r>
              <a:rPr lang="zh-CN" altLang="en-US" sz="2000" b="1">
                <a:latin typeface="华文细黑" panose="02010600040101010101" charset="-122"/>
                <a:ea typeface="华文细黑" panose="02010600040101010101" charset="-122"/>
                <a:cs typeface="华文细黑" panose="02010600040101010101" charset="-122"/>
              </a:rPr>
              <a:t>的关键字，它不可能是其他关键字的组成成分，因此只需要考虑</a:t>
            </a:r>
            <a:r>
              <a:rPr lang="en-US" altLang="zh-CN" sz="2000" b="1">
                <a:latin typeface="华文细黑" panose="02010600040101010101" charset="-122"/>
                <a:ea typeface="华文细黑" panose="02010600040101010101" charset="-122"/>
                <a:cs typeface="华文细黑" panose="02010600040101010101" charset="-122"/>
              </a:rPr>
              <a:t>BCDE</a:t>
            </a:r>
            <a:r>
              <a:rPr lang="zh-CN" altLang="en-US" sz="2000" b="1">
                <a:latin typeface="华文细黑" panose="02010600040101010101" charset="-122"/>
                <a:ea typeface="华文细黑" panose="02010600040101010101" charset="-122"/>
                <a:cs typeface="华文细黑" panose="02010600040101010101" charset="-122"/>
              </a:rPr>
              <a:t>之间的两两组合：</a:t>
            </a:r>
            <a:r>
              <a:rPr lang="en-US" altLang="zh-CN" sz="2000" b="1">
                <a:latin typeface="华文细黑" panose="02010600040101010101" charset="-122"/>
                <a:ea typeface="华文细黑" panose="02010600040101010101" charset="-122"/>
                <a:cs typeface="华文细黑" panose="02010600040101010101" charset="-122"/>
              </a:rPr>
              <a:t>BC</a:t>
            </a:r>
            <a:r>
              <a:rPr lang="zh-CN" altLang="en-US" sz="2000" b="1">
                <a:latin typeface="华文细黑" panose="02010600040101010101" charset="-122"/>
                <a:ea typeface="华文细黑" panose="02010600040101010101" charset="-122"/>
                <a:cs typeface="华文细黑" panose="02010600040101010101" charset="-122"/>
              </a:rPr>
              <a:t>，</a:t>
            </a:r>
            <a:r>
              <a:rPr lang="en-US" altLang="zh-CN" sz="2000" b="1">
                <a:latin typeface="华文细黑" panose="02010600040101010101" charset="-122"/>
                <a:ea typeface="华文细黑" panose="02010600040101010101" charset="-122"/>
                <a:cs typeface="华文细黑" panose="02010600040101010101" charset="-122"/>
              </a:rPr>
              <a:t>BD</a:t>
            </a:r>
            <a:r>
              <a:rPr lang="zh-CN" altLang="en-US" sz="2000" b="1">
                <a:latin typeface="华文细黑" panose="02010600040101010101" charset="-122"/>
                <a:ea typeface="华文细黑" panose="02010600040101010101" charset="-122"/>
                <a:cs typeface="华文细黑" panose="02010600040101010101" charset="-122"/>
              </a:rPr>
              <a:t>，</a:t>
            </a:r>
            <a:r>
              <a:rPr lang="en-US" altLang="zh-CN" sz="2000" b="1">
                <a:latin typeface="华文细黑" panose="02010600040101010101" charset="-122"/>
                <a:ea typeface="华文细黑" panose="02010600040101010101" charset="-122"/>
                <a:cs typeface="华文细黑" panose="02010600040101010101" charset="-122"/>
              </a:rPr>
              <a:t>BE</a:t>
            </a:r>
            <a:r>
              <a:rPr lang="zh-CN" altLang="en-US" sz="2000" b="1">
                <a:latin typeface="华文细黑" panose="02010600040101010101" charset="-122"/>
                <a:ea typeface="华文细黑" panose="02010600040101010101" charset="-122"/>
                <a:cs typeface="华文细黑" panose="02010600040101010101" charset="-122"/>
              </a:rPr>
              <a:t>，</a:t>
            </a:r>
            <a:r>
              <a:rPr lang="en-US" altLang="zh-CN" sz="2000" b="1">
                <a:latin typeface="华文细黑" panose="02010600040101010101" charset="-122"/>
                <a:ea typeface="华文细黑" panose="02010600040101010101" charset="-122"/>
                <a:cs typeface="华文细黑" panose="02010600040101010101" charset="-122"/>
              </a:rPr>
              <a:t>CD</a:t>
            </a:r>
            <a:r>
              <a:rPr lang="zh-CN" altLang="en-US" sz="2000" b="1">
                <a:latin typeface="华文细黑" panose="02010600040101010101" charset="-122"/>
                <a:ea typeface="华文细黑" panose="02010600040101010101" charset="-122"/>
                <a:cs typeface="华文细黑" panose="02010600040101010101" charset="-122"/>
              </a:rPr>
              <a:t>，</a:t>
            </a:r>
            <a:r>
              <a:rPr lang="en-US" altLang="zh-CN" sz="2000" b="1">
                <a:latin typeface="华文细黑" panose="02010600040101010101" charset="-122"/>
                <a:ea typeface="华文细黑" panose="02010600040101010101" charset="-122"/>
                <a:cs typeface="华文细黑" panose="02010600040101010101" charset="-122"/>
              </a:rPr>
              <a:t>CE </a:t>
            </a:r>
            <a:r>
              <a:rPr lang="zh-CN" altLang="en-US" sz="2000" b="1">
                <a:latin typeface="华文细黑" panose="02010600040101010101" charset="-122"/>
                <a:ea typeface="华文细黑" panose="02010600040101010101" charset="-122"/>
                <a:cs typeface="华文细黑" panose="02010600040101010101" charset="-122"/>
              </a:rPr>
              <a:t>和 </a:t>
            </a:r>
            <a:r>
              <a:rPr lang="en-US" altLang="zh-CN" sz="2000" b="1">
                <a:latin typeface="华文细黑" panose="02010600040101010101" charset="-122"/>
                <a:ea typeface="华文细黑" panose="02010600040101010101" charset="-122"/>
                <a:cs typeface="华文细黑" panose="02010600040101010101" charset="-122"/>
              </a:rPr>
              <a:t>DE</a:t>
            </a:r>
            <a:r>
              <a:rPr lang="zh-CN" altLang="en-US" sz="2000" b="1">
                <a:latin typeface="华文细黑" panose="02010600040101010101" charset="-122"/>
                <a:ea typeface="华文细黑" panose="02010600040101010101" charset="-122"/>
                <a:cs typeface="华文细黑" panose="02010600040101010101" charset="-122"/>
              </a:rPr>
              <a:t>。经检查，上述任何一种组合，其取值在关系</a:t>
            </a:r>
            <a:r>
              <a:rPr lang="en-US" altLang="zh-CN" sz="2000" b="1">
                <a:latin typeface="华文细黑" panose="02010600040101010101" charset="-122"/>
                <a:ea typeface="华文细黑" panose="02010600040101010101" charset="-122"/>
                <a:cs typeface="华文细黑" panose="02010600040101010101" charset="-122"/>
              </a:rPr>
              <a:t>T2 </a:t>
            </a:r>
            <a:r>
              <a:rPr lang="zh-CN" altLang="en-US" sz="2000" b="1">
                <a:latin typeface="华文细黑" panose="02010600040101010101" charset="-122"/>
                <a:ea typeface="华文细黑" panose="02010600040101010101" charset="-122"/>
                <a:cs typeface="华文细黑" panose="02010600040101010101" charset="-122"/>
              </a:rPr>
              <a:t>中都不具备</a:t>
            </a:r>
            <a:r>
              <a:rPr lang="en-US" altLang="zh-CN" sz="2000" b="1">
                <a:latin typeface="华文细黑" panose="02010600040101010101" charset="-122"/>
                <a:ea typeface="华文细黑" panose="02010600040101010101" charset="-122"/>
                <a:cs typeface="华文细黑" panose="02010600040101010101" charset="-122"/>
              </a:rPr>
              <a:t>‘</a:t>
            </a:r>
            <a:r>
              <a:rPr lang="zh-CN" altLang="en-US" sz="2000" b="1">
                <a:latin typeface="华文细黑" panose="02010600040101010101" charset="-122"/>
                <a:ea typeface="华文细黑" panose="02010600040101010101" charset="-122"/>
                <a:cs typeface="华文细黑" panose="02010600040101010101" charset="-122"/>
              </a:rPr>
              <a:t>唯一性</a:t>
            </a:r>
            <a:r>
              <a:rPr lang="en-US" altLang="zh-CN" sz="2000" b="1">
                <a:latin typeface="华文细黑" panose="02010600040101010101" charset="-122"/>
                <a:ea typeface="华文细黑" panose="02010600040101010101" charset="-122"/>
                <a:cs typeface="华文细黑" panose="02010600040101010101" charset="-122"/>
              </a:rPr>
              <a:t>’</a:t>
            </a:r>
            <a:r>
              <a:rPr lang="zh-CN" altLang="en-US" sz="2000" b="1">
                <a:latin typeface="华文细黑" panose="02010600040101010101" charset="-122"/>
                <a:ea typeface="华文细黑" panose="02010600040101010101" charset="-122"/>
                <a:cs typeface="华文细黑" panose="02010600040101010101" charset="-122"/>
              </a:rPr>
              <a:t>，因而它们都不是关系</a:t>
            </a:r>
            <a:r>
              <a:rPr lang="en-US" altLang="zh-CN" sz="2000" b="1">
                <a:latin typeface="华文细黑" panose="02010600040101010101" charset="-122"/>
                <a:ea typeface="华文细黑" panose="02010600040101010101" charset="-122"/>
                <a:cs typeface="华文细黑" panose="02010600040101010101" charset="-122"/>
              </a:rPr>
              <a:t>T2</a:t>
            </a:r>
            <a:r>
              <a:rPr lang="zh-CN" altLang="en-US" sz="2000" b="1">
                <a:latin typeface="华文细黑" panose="02010600040101010101" charset="-122"/>
                <a:ea typeface="华文细黑" panose="02010600040101010101" charset="-122"/>
                <a:cs typeface="华文细黑" panose="02010600040101010101" charset="-122"/>
              </a:rPr>
              <a:t>的关键字。</a:t>
            </a:r>
            <a:endParaRPr lang="zh-CN" altLang="en-US" sz="2000" b="1">
              <a:latin typeface="华文细黑" panose="02010600040101010101" charset="-122"/>
              <a:ea typeface="华文细黑" panose="02010600040101010101" charset="-122"/>
              <a:cs typeface="华文细黑" panose="02010600040101010101" charset="-122"/>
            </a:endParaRPr>
          </a:p>
          <a:p>
            <a:pPr marL="457200" indent="-457200">
              <a:buFont typeface="+mj-ea"/>
              <a:buAutoNum type="circleNumDbPlain"/>
            </a:pPr>
            <a:r>
              <a:rPr lang="zh-CN" altLang="en-US" sz="2000" b="1">
                <a:latin typeface="华文细黑" panose="02010600040101010101" charset="-122"/>
                <a:ea typeface="华文细黑" panose="02010600040101010101" charset="-122"/>
                <a:cs typeface="华文细黑" panose="02010600040101010101" charset="-122"/>
              </a:rPr>
              <a:t>考虑由三个属性构成的关键字。</a:t>
            </a:r>
            <a:r>
              <a:rPr lang="en-US" altLang="zh-CN" sz="2000" b="1">
                <a:latin typeface="华文细黑" panose="02010600040101010101" charset="-122"/>
                <a:ea typeface="华文细黑" panose="02010600040101010101" charset="-122"/>
                <a:cs typeface="华文细黑" panose="02010600040101010101" charset="-122"/>
              </a:rPr>
              <a:t>BCDE</a:t>
            </a:r>
            <a:r>
              <a:rPr lang="zh-CN" altLang="en-US" sz="2000" b="1">
                <a:latin typeface="华文细黑" panose="02010600040101010101" charset="-122"/>
                <a:ea typeface="华文细黑" panose="02010600040101010101" charset="-122"/>
                <a:cs typeface="华文细黑" panose="02010600040101010101" charset="-122"/>
              </a:rPr>
              <a:t>一共有四种不同的组合：</a:t>
            </a:r>
            <a:r>
              <a:rPr lang="en-US" altLang="zh-CN" sz="2000" b="1">
                <a:latin typeface="华文细黑" panose="02010600040101010101" charset="-122"/>
                <a:ea typeface="华文细黑" panose="02010600040101010101" charset="-122"/>
                <a:cs typeface="华文细黑" panose="02010600040101010101" charset="-122"/>
              </a:rPr>
              <a:t>BCD</a:t>
            </a:r>
            <a:r>
              <a:rPr lang="zh-CN" altLang="en-US" sz="2000" b="1">
                <a:latin typeface="华文细黑" panose="02010600040101010101" charset="-122"/>
                <a:ea typeface="华文细黑" panose="02010600040101010101" charset="-122"/>
                <a:cs typeface="华文细黑" panose="02010600040101010101" charset="-122"/>
              </a:rPr>
              <a:t>，</a:t>
            </a:r>
            <a:r>
              <a:rPr lang="en-US" altLang="zh-CN" sz="2000" b="1">
                <a:latin typeface="华文细黑" panose="02010600040101010101" charset="-122"/>
                <a:ea typeface="华文细黑" panose="02010600040101010101" charset="-122"/>
                <a:cs typeface="华文细黑" panose="02010600040101010101" charset="-122"/>
              </a:rPr>
              <a:t>BCE</a:t>
            </a:r>
            <a:r>
              <a:rPr lang="zh-CN" altLang="en-US" sz="2000" b="1">
                <a:latin typeface="华文细黑" panose="02010600040101010101" charset="-122"/>
                <a:ea typeface="华文细黑" panose="02010600040101010101" charset="-122"/>
                <a:cs typeface="华文细黑" panose="02010600040101010101" charset="-122"/>
              </a:rPr>
              <a:t>，</a:t>
            </a:r>
            <a:r>
              <a:rPr lang="en-US" altLang="zh-CN" sz="2000" b="1">
                <a:latin typeface="华文细黑" panose="02010600040101010101" charset="-122"/>
                <a:ea typeface="华文细黑" panose="02010600040101010101" charset="-122"/>
                <a:cs typeface="华文细黑" panose="02010600040101010101" charset="-122"/>
              </a:rPr>
              <a:t>BDE </a:t>
            </a:r>
            <a:r>
              <a:rPr lang="zh-CN" altLang="en-US" sz="2000" b="1">
                <a:latin typeface="华文细黑" panose="02010600040101010101" charset="-122"/>
                <a:ea typeface="华文细黑" panose="02010600040101010101" charset="-122"/>
                <a:cs typeface="华文细黑" panose="02010600040101010101" charset="-122"/>
              </a:rPr>
              <a:t>和 </a:t>
            </a:r>
            <a:r>
              <a:rPr lang="en-US" altLang="zh-CN" sz="2000" b="1">
                <a:latin typeface="华文细黑" panose="02010600040101010101" charset="-122"/>
                <a:ea typeface="华文细黑" panose="02010600040101010101" charset="-122"/>
                <a:cs typeface="华文细黑" panose="02010600040101010101" charset="-122"/>
              </a:rPr>
              <a:t>CDE</a:t>
            </a:r>
            <a:r>
              <a:rPr lang="zh-CN" altLang="en-US" sz="2000" b="1">
                <a:latin typeface="华文细黑" panose="02010600040101010101" charset="-122"/>
                <a:ea typeface="华文细黑" panose="02010600040101010101" charset="-122"/>
                <a:cs typeface="华文细黑" panose="02010600040101010101" charset="-122"/>
              </a:rPr>
              <a:t>。</a:t>
            </a:r>
            <a:r>
              <a:rPr lang="zh-CN" altLang="en-US" sz="2000" b="1">
                <a:latin typeface="华文细黑" panose="02010600040101010101" charset="-122"/>
                <a:ea typeface="华文细黑" panose="02010600040101010101" charset="-122"/>
                <a:cs typeface="华文细黑" panose="02010600040101010101" charset="-122"/>
                <a:sym typeface="+mn-ea"/>
              </a:rPr>
              <a:t>经检查，只有</a:t>
            </a:r>
            <a:r>
              <a:rPr lang="en-US" altLang="zh-CN" sz="2000" b="1">
                <a:latin typeface="华文细黑" panose="02010600040101010101" charset="-122"/>
                <a:ea typeface="华文细黑" panose="02010600040101010101" charset="-122"/>
                <a:cs typeface="华文细黑" panose="02010600040101010101" charset="-122"/>
                <a:sym typeface="+mn-ea"/>
              </a:rPr>
              <a:t>BCE</a:t>
            </a:r>
            <a:r>
              <a:rPr lang="zh-CN" altLang="en-US" sz="2000" b="1">
                <a:latin typeface="华文细黑" panose="02010600040101010101" charset="-122"/>
                <a:ea typeface="华文细黑" panose="02010600040101010101" charset="-122"/>
                <a:cs typeface="华文细黑" panose="02010600040101010101" charset="-122"/>
                <a:sym typeface="+mn-ea"/>
              </a:rPr>
              <a:t>组合的取值在关系</a:t>
            </a:r>
            <a:r>
              <a:rPr lang="en-US" altLang="zh-CN" sz="2000" b="1">
                <a:latin typeface="华文细黑" panose="02010600040101010101" charset="-122"/>
                <a:ea typeface="华文细黑" panose="02010600040101010101" charset="-122"/>
                <a:cs typeface="华文细黑" panose="02010600040101010101" charset="-122"/>
                <a:sym typeface="+mn-ea"/>
              </a:rPr>
              <a:t>T2</a:t>
            </a:r>
            <a:r>
              <a:rPr lang="zh-CN" altLang="en-US" sz="2000" b="1">
                <a:latin typeface="华文细黑" panose="02010600040101010101" charset="-122"/>
                <a:ea typeface="华文细黑" panose="02010600040101010101" charset="-122"/>
                <a:cs typeface="华文细黑" panose="02010600040101010101" charset="-122"/>
                <a:sym typeface="+mn-ea"/>
              </a:rPr>
              <a:t>中具有唯一性，另外三种组合都不具有唯一性。因此，由三个属性构成的关键字是</a:t>
            </a:r>
            <a:r>
              <a:rPr lang="en-US" altLang="zh-CN" sz="2000" b="1">
                <a:solidFill>
                  <a:srgbClr val="FF0000"/>
                </a:solidFill>
                <a:latin typeface="华文细黑" panose="02010600040101010101" charset="-122"/>
                <a:ea typeface="华文细黑" panose="02010600040101010101" charset="-122"/>
                <a:cs typeface="华文细黑" panose="02010600040101010101" charset="-122"/>
                <a:sym typeface="+mn-ea"/>
              </a:rPr>
              <a:t>(B,C,E)</a:t>
            </a:r>
            <a:endParaRPr lang="en-US" altLang="zh-CN" sz="2000" b="1">
              <a:solidFill>
                <a:srgbClr val="FF0000"/>
              </a:solidFill>
              <a:latin typeface="华文细黑" panose="02010600040101010101" charset="-122"/>
              <a:ea typeface="华文细黑" panose="02010600040101010101" charset="-122"/>
              <a:cs typeface="华文细黑" panose="02010600040101010101" charset="-122"/>
              <a:sym typeface="+mn-ea"/>
            </a:endParaRPr>
          </a:p>
          <a:p>
            <a:pPr marL="457200" indent="-457200">
              <a:buFont typeface="+mj-ea"/>
              <a:buAutoNum type="circleNumDbPlain"/>
            </a:pPr>
            <a:r>
              <a:rPr lang="zh-CN" altLang="en-US" sz="2000" b="1">
                <a:latin typeface="华文细黑" panose="02010600040101010101" charset="-122"/>
                <a:ea typeface="华文细黑" panose="02010600040101010101" charset="-122"/>
                <a:cs typeface="华文细黑" panose="02010600040101010101" charset="-122"/>
                <a:sym typeface="+mn-ea"/>
              </a:rPr>
              <a:t>考虑由四个属性构成的关键字，即</a:t>
            </a:r>
            <a:r>
              <a:rPr lang="en-US" altLang="zh-CN" sz="2000" b="1">
                <a:latin typeface="华文细黑" panose="02010600040101010101" charset="-122"/>
                <a:ea typeface="华文细黑" panose="02010600040101010101" charset="-122"/>
                <a:cs typeface="华文细黑" panose="02010600040101010101" charset="-122"/>
                <a:sym typeface="+mn-ea"/>
              </a:rPr>
              <a:t>BCDE</a:t>
            </a:r>
            <a:r>
              <a:rPr lang="zh-CN" altLang="en-US" sz="2000" b="1">
                <a:latin typeface="华文细黑" panose="02010600040101010101" charset="-122"/>
                <a:ea typeface="华文细黑" panose="02010600040101010101" charset="-122"/>
                <a:cs typeface="华文细黑" panose="02010600040101010101" charset="-122"/>
                <a:sym typeface="+mn-ea"/>
              </a:rPr>
              <a:t>组合。由于</a:t>
            </a:r>
            <a:r>
              <a:rPr lang="en-US" altLang="zh-CN" sz="2000" b="1">
                <a:latin typeface="华文细黑" panose="02010600040101010101" charset="-122"/>
                <a:ea typeface="华文细黑" panose="02010600040101010101" charset="-122"/>
                <a:cs typeface="华文细黑" panose="02010600040101010101" charset="-122"/>
                <a:sym typeface="+mn-ea"/>
              </a:rPr>
              <a:t>BCE</a:t>
            </a:r>
            <a:r>
              <a:rPr lang="zh-CN" altLang="en-US" sz="2000" b="1">
                <a:latin typeface="华文细黑" panose="02010600040101010101" charset="-122"/>
                <a:ea typeface="华文细黑" panose="02010600040101010101" charset="-122"/>
                <a:cs typeface="华文细黑" panose="02010600040101010101" charset="-122"/>
                <a:sym typeface="+mn-ea"/>
              </a:rPr>
              <a:t>已经是</a:t>
            </a:r>
            <a:r>
              <a:rPr lang="en-US" altLang="zh-CN" sz="2000" b="1">
                <a:latin typeface="华文细黑" panose="02010600040101010101" charset="-122"/>
                <a:ea typeface="华文细黑" panose="02010600040101010101" charset="-122"/>
                <a:cs typeface="华文细黑" panose="02010600040101010101" charset="-122"/>
                <a:sym typeface="+mn-ea"/>
              </a:rPr>
              <a:t>T2</a:t>
            </a:r>
            <a:r>
              <a:rPr lang="zh-CN" altLang="en-US" sz="2000" b="1">
                <a:latin typeface="华文细黑" panose="02010600040101010101" charset="-122"/>
                <a:ea typeface="华文细黑" panose="02010600040101010101" charset="-122"/>
                <a:cs typeface="华文细黑" panose="02010600040101010101" charset="-122"/>
                <a:sym typeface="+mn-ea"/>
              </a:rPr>
              <a:t>的关键字，所以</a:t>
            </a:r>
            <a:r>
              <a:rPr lang="en-US" altLang="zh-CN" sz="2000" b="1">
                <a:latin typeface="华文细黑" panose="02010600040101010101" charset="-122"/>
                <a:ea typeface="华文细黑" panose="02010600040101010101" charset="-122"/>
                <a:cs typeface="华文细黑" panose="02010600040101010101" charset="-122"/>
                <a:sym typeface="+mn-ea"/>
              </a:rPr>
              <a:t>BCDE</a:t>
            </a:r>
            <a:r>
              <a:rPr lang="zh-CN" altLang="en-US" sz="2000" b="1">
                <a:latin typeface="华文细黑" panose="02010600040101010101" charset="-122"/>
                <a:ea typeface="华文细黑" panose="02010600040101010101" charset="-122"/>
                <a:cs typeface="华文细黑" panose="02010600040101010101" charset="-122"/>
                <a:sym typeface="+mn-ea"/>
              </a:rPr>
              <a:t>组合不可能是</a:t>
            </a:r>
            <a:r>
              <a:rPr lang="en-US" altLang="zh-CN" sz="2000" b="1">
                <a:latin typeface="华文细黑" panose="02010600040101010101" charset="-122"/>
                <a:ea typeface="华文细黑" panose="02010600040101010101" charset="-122"/>
                <a:cs typeface="华文细黑" panose="02010600040101010101" charset="-122"/>
                <a:sym typeface="+mn-ea"/>
              </a:rPr>
              <a:t>T2</a:t>
            </a:r>
            <a:r>
              <a:rPr lang="zh-CN" altLang="en-US" sz="2000" b="1">
                <a:latin typeface="华文细黑" panose="02010600040101010101" charset="-122"/>
                <a:ea typeface="华文细黑" panose="02010600040101010101" charset="-122"/>
                <a:cs typeface="华文细黑" panose="02010600040101010101" charset="-122"/>
                <a:sym typeface="+mn-ea"/>
              </a:rPr>
              <a:t>的关键字！</a:t>
            </a:r>
            <a:endParaRPr lang="zh-CN" altLang="en-US" sz="2000" b="1">
              <a:latin typeface="华文细黑" panose="02010600040101010101" charset="-122"/>
              <a:ea typeface="华文细黑" panose="02010600040101010101" charset="-122"/>
              <a:cs typeface="华文细黑" panose="02010600040101010101" charset="-122"/>
              <a:sym typeface="+mn-ea"/>
            </a:endParaRPr>
          </a:p>
        </p:txBody>
      </p:sp>
      <p:sp>
        <p:nvSpPr>
          <p:cNvPr id="7" name="文本框 6"/>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overrideClrMapping bg1="lt1" tx1="dk1" bg2="lt2" tx2="dk2" accent1="accent1" accent2="accent2" accent3="accent3" accent4="accent4" accent5="accent5" accent6="accent6" hlink="hlink" folHlink="folHlink"/>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
        <p:nvSpPr>
          <p:cNvPr id="6" name="Rectangle 3"/>
          <p:cNvSpPr>
            <a:spLocks noGrp="1"/>
          </p:cNvSpPr>
          <p:nvPr/>
        </p:nvSpPr>
        <p:spPr>
          <a:xfrm>
            <a:off x="618490" y="165735"/>
            <a:ext cx="11411585" cy="1198880"/>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514350" lvl="0" indent="-514350" eaLnBrk="1" fontAlgn="base" hangingPunct="1">
              <a:lnSpc>
                <a:spcPct val="100000"/>
              </a:lnSpc>
              <a:spcBef>
                <a:spcPts val="20"/>
              </a:spcBef>
              <a:spcAft>
                <a:spcPts val="0"/>
              </a:spcAft>
              <a:buFont typeface="+mj-lt"/>
              <a:buAutoNum type="arabicPeriod" startAt="3"/>
            </a:pPr>
            <a:r>
              <a:rPr lang="zh-CN" altLang="en-US" b="0" strike="noStrike" noProof="1" dirty="0">
                <a:solidFill>
                  <a:schemeClr val="tx1"/>
                </a:solidFill>
                <a:latin typeface="Arial" panose="020B0604020202020204" pitchFamily="34" charset="0"/>
                <a:cs typeface="Arial" panose="020B0604020202020204" pitchFamily="34" charset="0"/>
              </a:rPr>
              <a:t>Create an example of a table as in exercise </a:t>
            </a:r>
            <a:r>
              <a:rPr lang="en-US" altLang="zh-CN" b="0" strike="noStrike" noProof="1" dirty="0">
                <a:solidFill>
                  <a:schemeClr val="tx1"/>
                </a:solidFill>
                <a:latin typeface="Arial" panose="020B0604020202020204" pitchFamily="34" charset="0"/>
                <a:cs typeface="Arial" panose="020B0604020202020204" pitchFamily="34" charset="0"/>
              </a:rPr>
              <a:t>1</a:t>
            </a:r>
            <a:r>
              <a:rPr lang="zh-CN" altLang="en-US" b="0" strike="noStrike" noProof="1" dirty="0">
                <a:solidFill>
                  <a:schemeClr val="tx1"/>
                </a:solidFill>
                <a:latin typeface="Arial" panose="020B0604020202020204" pitchFamily="34" charset="0"/>
                <a:cs typeface="Arial" panose="020B0604020202020204" pitchFamily="34" charset="0"/>
              </a:rPr>
              <a:t> that has four columns and only four rows, but has only one candidate key, consisting of the first three columns. Be careful that no pair of the first three columns distinguishes all rows.</a:t>
            </a:r>
            <a:endParaRPr lang="zh-CN" altLang="en-US" b="0" strike="noStrike" noProof="1" dirty="0">
              <a:solidFill>
                <a:schemeClr val="tx1"/>
              </a:solidFill>
              <a:latin typeface="Arial" panose="020B0604020202020204" pitchFamily="34" charset="0"/>
              <a:cs typeface="Arial" panose="020B0604020202020204" pitchFamily="34" charset="0"/>
            </a:endParaRPr>
          </a:p>
        </p:txBody>
      </p:sp>
      <p:graphicFrame>
        <p:nvGraphicFramePr>
          <p:cNvPr id="5" name="表格 4"/>
          <p:cNvGraphicFramePr/>
          <p:nvPr>
            <p:custDataLst>
              <p:tags r:id="rId1"/>
            </p:custDataLst>
          </p:nvPr>
        </p:nvGraphicFramePr>
        <p:xfrm>
          <a:off x="3235960" y="1392555"/>
          <a:ext cx="5102860" cy="1828800"/>
        </p:xfrm>
        <a:graphic>
          <a:graphicData uri="http://schemas.openxmlformats.org/drawingml/2006/table">
            <a:tbl>
              <a:tblPr firstRow="1" bandRow="1">
                <a:tableStyleId>{5940675A-B579-460E-94D1-54222C63F5DA}</a:tableStyleId>
              </a:tblPr>
              <a:tblGrid>
                <a:gridCol w="1275715"/>
                <a:gridCol w="1275715"/>
                <a:gridCol w="1275715"/>
                <a:gridCol w="1275715"/>
              </a:tblGrid>
              <a:tr h="365760">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B</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C</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D</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r>
              <a:tr h="365760">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2" name="文本框 1"/>
          <p:cNvSpPr txBox="1"/>
          <p:nvPr/>
        </p:nvSpPr>
        <p:spPr>
          <a:xfrm>
            <a:off x="5080" y="120015"/>
            <a:ext cx="613410" cy="2076450"/>
          </a:xfrm>
          <a:prstGeom prst="rect">
            <a:avLst/>
          </a:prstGeom>
          <a:noFill/>
        </p:spPr>
        <p:txBody>
          <a:bodyPr vert="eaVert" wrap="square" rtlCol="0">
            <a:spAutoFit/>
          </a:bodyPr>
          <a:p>
            <a:pPr algn="ctr"/>
            <a:r>
              <a:rPr lang="zh-CN" altLang="en-US" sz="2800" b="1">
                <a:latin typeface="华文细黑" panose="02010600040101010101" charset="-122"/>
                <a:ea typeface="华文细黑" panose="02010600040101010101" charset="-122"/>
              </a:rPr>
              <a:t>（第一大题）</a:t>
            </a:r>
            <a:endParaRPr lang="zh-CN" altLang="en-US" sz="2800" b="1">
              <a:latin typeface="华文细黑" panose="02010600040101010101" charset="-122"/>
              <a:ea typeface="华文细黑" panose="02010600040101010101" charset="-122"/>
            </a:endParaRPr>
          </a:p>
        </p:txBody>
      </p:sp>
      <p:sp>
        <p:nvSpPr>
          <p:cNvPr id="3" name="文本框 2"/>
          <p:cNvSpPr txBox="1"/>
          <p:nvPr/>
        </p:nvSpPr>
        <p:spPr>
          <a:xfrm>
            <a:off x="513715" y="2937510"/>
            <a:ext cx="11176000" cy="3784600"/>
          </a:xfrm>
          <a:prstGeom prst="rect">
            <a:avLst/>
          </a:prstGeom>
          <a:noFill/>
        </p:spPr>
        <p:txBody>
          <a:bodyPr wrap="square" rtlCol="0">
            <a:spAutoFit/>
          </a:bodyPr>
          <a:p>
            <a:r>
              <a:rPr lang="zh-CN" altLang="en-US" sz="2000" b="1">
                <a:latin typeface="华文细黑" panose="02010600040101010101" charset="-122"/>
                <a:ea typeface="华文细黑" panose="02010600040101010101" charset="-122"/>
                <a:cs typeface="华文细黑" panose="02010600040101010101" charset="-122"/>
              </a:rPr>
              <a:t>思考过程如下：</a:t>
            </a:r>
            <a:endParaRPr lang="zh-CN" altLang="en-US" sz="2000" b="1">
              <a:latin typeface="华文细黑" panose="02010600040101010101" charset="-122"/>
              <a:ea typeface="华文细黑" panose="02010600040101010101" charset="-122"/>
              <a:cs typeface="华文细黑" panose="02010600040101010101" charset="-122"/>
            </a:endParaRPr>
          </a:p>
          <a:p>
            <a:pPr marL="457200" indent="-457200">
              <a:buFont typeface="+mj-ea"/>
              <a:buAutoNum type="circleNumDbPlain"/>
            </a:pPr>
            <a:r>
              <a:rPr lang="zh-CN" altLang="en-US" sz="2000" b="1">
                <a:latin typeface="华文细黑" panose="02010600040101010101" charset="-122"/>
                <a:ea typeface="华文细黑" panose="02010600040101010101" charset="-122"/>
                <a:cs typeface="华文细黑" panose="02010600040101010101" charset="-122"/>
              </a:rPr>
              <a:t>假设，在给出的关系</a:t>
            </a:r>
            <a:r>
              <a:rPr lang="en-US" altLang="zh-CN" sz="2000" b="1">
                <a:latin typeface="华文细黑" panose="02010600040101010101" charset="-122"/>
                <a:ea typeface="华文细黑" panose="02010600040101010101" charset="-122"/>
                <a:cs typeface="华文细黑" panose="02010600040101010101" charset="-122"/>
              </a:rPr>
              <a:t>T</a:t>
            </a:r>
            <a:r>
              <a:rPr lang="zh-CN" altLang="en-US" sz="2000" b="1">
                <a:latin typeface="华文细黑" panose="02010600040101010101" charset="-122"/>
                <a:ea typeface="华文细黑" panose="02010600040101010101" charset="-122"/>
                <a:cs typeface="华文细黑" panose="02010600040101010101" charset="-122"/>
              </a:rPr>
              <a:t>中，由前面的</a:t>
            </a:r>
            <a:r>
              <a:rPr lang="en-US" altLang="zh-CN" sz="2000" b="1">
                <a:latin typeface="华文细黑" panose="02010600040101010101" charset="-122"/>
                <a:ea typeface="华文细黑" panose="02010600040101010101" charset="-122"/>
                <a:cs typeface="华文细黑" panose="02010600040101010101" charset="-122"/>
              </a:rPr>
              <a:t>ABC</a:t>
            </a:r>
            <a:r>
              <a:rPr lang="zh-CN" altLang="en-US" sz="2000" b="1">
                <a:latin typeface="华文细黑" panose="02010600040101010101" charset="-122"/>
                <a:ea typeface="华文细黑" panose="02010600040101010101" charset="-122"/>
                <a:cs typeface="华文细黑" panose="02010600040101010101" charset="-122"/>
              </a:rPr>
              <a:t>三个属性构成该关系的唯一一个</a:t>
            </a:r>
            <a:r>
              <a:rPr lang="en-US" altLang="zh-CN" sz="2000" b="1">
                <a:latin typeface="华文细黑" panose="02010600040101010101" charset="-122"/>
                <a:ea typeface="华文细黑" panose="02010600040101010101" charset="-122"/>
                <a:cs typeface="华文细黑" panose="02010600040101010101" charset="-122"/>
              </a:rPr>
              <a:t>‘</a:t>
            </a:r>
            <a:r>
              <a:rPr lang="zh-CN" altLang="en-US" sz="2000" b="1">
                <a:latin typeface="华文细黑" panose="02010600040101010101" charset="-122"/>
                <a:ea typeface="华文细黑" panose="02010600040101010101" charset="-122"/>
                <a:cs typeface="华文细黑" panose="02010600040101010101" charset="-122"/>
              </a:rPr>
              <a:t>关键字</a:t>
            </a:r>
            <a:r>
              <a:rPr lang="en-US" altLang="zh-CN" sz="2000" b="1">
                <a:latin typeface="华文细黑" panose="02010600040101010101" charset="-122"/>
                <a:ea typeface="华文细黑" panose="02010600040101010101" charset="-122"/>
                <a:cs typeface="华文细黑" panose="02010600040101010101" charset="-122"/>
              </a:rPr>
              <a:t>’</a:t>
            </a:r>
            <a:endParaRPr lang="en-US" altLang="zh-CN" sz="2000" b="1">
              <a:latin typeface="华文细黑" panose="02010600040101010101" charset="-122"/>
              <a:ea typeface="华文细黑" panose="02010600040101010101" charset="-122"/>
              <a:cs typeface="华文细黑" panose="02010600040101010101" charset="-122"/>
            </a:endParaRPr>
          </a:p>
          <a:p>
            <a:pPr marL="457200" indent="-457200">
              <a:buFont typeface="+mj-ea"/>
              <a:buAutoNum type="circleNumDbPlain"/>
            </a:pPr>
            <a:r>
              <a:rPr lang="zh-CN" altLang="en-US" sz="2000" b="1">
                <a:latin typeface="华文细黑" panose="02010600040101010101" charset="-122"/>
                <a:ea typeface="华文细黑" panose="02010600040101010101" charset="-122"/>
                <a:cs typeface="华文细黑" panose="02010600040101010101" charset="-122"/>
              </a:rPr>
              <a:t>在第四个属性</a:t>
            </a:r>
            <a:r>
              <a:rPr lang="en-US" altLang="zh-CN" sz="2000" b="1">
                <a:latin typeface="华文细黑" panose="02010600040101010101" charset="-122"/>
                <a:ea typeface="华文细黑" panose="02010600040101010101" charset="-122"/>
                <a:cs typeface="华文细黑" panose="02010600040101010101" charset="-122"/>
              </a:rPr>
              <a:t>D</a:t>
            </a:r>
            <a:r>
              <a:rPr lang="zh-CN" altLang="en-US" sz="2000" b="1">
                <a:latin typeface="华文细黑" panose="02010600040101010101" charset="-122"/>
                <a:ea typeface="华文细黑" panose="02010600040101010101" charset="-122"/>
                <a:cs typeface="华文细黑" panose="02010600040101010101" charset="-122"/>
              </a:rPr>
              <a:t>上，值域是一个恒定不变的</a:t>
            </a:r>
            <a:r>
              <a:rPr lang="en-US" altLang="zh-CN" sz="2000" b="1">
                <a:latin typeface="华文细黑" panose="02010600040101010101" charset="-122"/>
                <a:ea typeface="华文细黑" panose="02010600040101010101" charset="-122"/>
                <a:cs typeface="华文细黑" panose="02010600040101010101" charset="-122"/>
              </a:rPr>
              <a:t>d1</a:t>
            </a:r>
            <a:r>
              <a:rPr lang="zh-CN" altLang="en-US" sz="2000" b="1">
                <a:latin typeface="华文细黑" panose="02010600040101010101" charset="-122"/>
                <a:ea typeface="华文细黑" panose="02010600040101010101" charset="-122"/>
                <a:cs typeface="华文细黑" panose="02010600040101010101" charset="-122"/>
              </a:rPr>
              <a:t>，这样，属性</a:t>
            </a:r>
            <a:r>
              <a:rPr lang="en-US" altLang="zh-CN" sz="2000" b="1">
                <a:latin typeface="华文细黑" panose="02010600040101010101" charset="-122"/>
                <a:ea typeface="华文细黑" panose="02010600040101010101" charset="-122"/>
                <a:cs typeface="华文细黑" panose="02010600040101010101" charset="-122"/>
              </a:rPr>
              <a:t>D</a:t>
            </a:r>
            <a:r>
              <a:rPr lang="zh-CN" altLang="en-US" sz="2000" b="1">
                <a:latin typeface="华文细黑" panose="02010600040101010101" charset="-122"/>
                <a:ea typeface="华文细黑" panose="02010600040101010101" charset="-122"/>
                <a:cs typeface="华文细黑" panose="02010600040101010101" charset="-122"/>
              </a:rPr>
              <a:t>就不会是</a:t>
            </a:r>
            <a:r>
              <a:rPr lang="zh-CN" altLang="en-US" sz="2000" b="1">
                <a:latin typeface="华文细黑" panose="02010600040101010101" charset="-122"/>
                <a:ea typeface="华文细黑" panose="02010600040101010101" charset="-122"/>
                <a:cs typeface="华文细黑" panose="02010600040101010101" charset="-122"/>
              </a:rPr>
              <a:t>任何关键字的组成部分！</a:t>
            </a:r>
            <a:endParaRPr lang="zh-CN" altLang="en-US" sz="2000" b="1">
              <a:latin typeface="华文细黑" panose="02010600040101010101" charset="-122"/>
              <a:ea typeface="华文细黑" panose="02010600040101010101" charset="-122"/>
              <a:cs typeface="华文细黑" panose="02010600040101010101" charset="-122"/>
            </a:endParaRPr>
          </a:p>
          <a:p>
            <a:pPr marL="457200" indent="-457200">
              <a:buFont typeface="+mj-ea"/>
              <a:buAutoNum type="circleNumDbPlain"/>
            </a:pPr>
            <a:r>
              <a:rPr lang="zh-CN" altLang="en-US" sz="2000" b="1">
                <a:latin typeface="华文细黑" panose="02010600040101010101" charset="-122"/>
                <a:ea typeface="华文细黑" panose="02010600040101010101" charset="-122"/>
                <a:cs typeface="华文细黑" panose="02010600040101010101" charset="-122"/>
              </a:rPr>
              <a:t>前三个属性，每个属性的取值都有</a:t>
            </a:r>
            <a:r>
              <a:rPr lang="en-US" altLang="zh-CN" sz="2000" b="1">
                <a:latin typeface="华文细黑" panose="02010600040101010101" charset="-122"/>
                <a:ea typeface="华文细黑" panose="02010600040101010101" charset="-122"/>
                <a:cs typeface="华文细黑" panose="02010600040101010101" charset="-122"/>
              </a:rPr>
              <a:t>‘</a:t>
            </a:r>
            <a:r>
              <a:rPr lang="zh-CN" altLang="en-US" sz="2000" b="1">
                <a:latin typeface="华文细黑" panose="02010600040101010101" charset="-122"/>
                <a:ea typeface="华文细黑" panose="02010600040101010101" charset="-122"/>
                <a:cs typeface="华文细黑" panose="02010600040101010101" charset="-122"/>
              </a:rPr>
              <a:t>相等</a:t>
            </a:r>
            <a:r>
              <a:rPr lang="en-US" altLang="zh-CN" sz="2000" b="1">
                <a:latin typeface="华文细黑" panose="02010600040101010101" charset="-122"/>
                <a:ea typeface="华文细黑" panose="02010600040101010101" charset="-122"/>
                <a:cs typeface="华文细黑" panose="02010600040101010101" charset="-122"/>
              </a:rPr>
              <a:t>’</a:t>
            </a:r>
            <a:r>
              <a:rPr lang="zh-CN" altLang="en-US" sz="2000" b="1">
                <a:latin typeface="华文细黑" panose="02010600040101010101" charset="-122"/>
                <a:ea typeface="华文细黑" panose="02010600040101010101" charset="-122"/>
                <a:cs typeface="华文细黑" panose="02010600040101010101" charset="-122"/>
              </a:rPr>
              <a:t>或</a:t>
            </a:r>
            <a:r>
              <a:rPr lang="en-US" altLang="zh-CN" sz="2000" b="1">
                <a:latin typeface="华文细黑" panose="02010600040101010101" charset="-122"/>
                <a:ea typeface="华文细黑" panose="02010600040101010101" charset="-122"/>
                <a:cs typeface="华文细黑" panose="02010600040101010101" charset="-122"/>
              </a:rPr>
              <a:t>‘</a:t>
            </a:r>
            <a:r>
              <a:rPr lang="zh-CN" altLang="en-US" sz="2000" b="1">
                <a:latin typeface="华文细黑" panose="02010600040101010101" charset="-122"/>
                <a:ea typeface="华文细黑" panose="02010600040101010101" charset="-122"/>
                <a:cs typeface="华文细黑" panose="02010600040101010101" charset="-122"/>
              </a:rPr>
              <a:t>不相等</a:t>
            </a:r>
            <a:r>
              <a:rPr lang="en-US" altLang="zh-CN" sz="2000" b="1">
                <a:latin typeface="华文细黑" panose="02010600040101010101" charset="-122"/>
                <a:ea typeface="华文细黑" panose="02010600040101010101" charset="-122"/>
                <a:cs typeface="华文细黑" panose="02010600040101010101" charset="-122"/>
              </a:rPr>
              <a:t>’</a:t>
            </a:r>
            <a:r>
              <a:rPr lang="zh-CN" altLang="en-US" sz="2000" b="1">
                <a:latin typeface="华文细黑" panose="02010600040101010101" charset="-122"/>
                <a:ea typeface="华文细黑" panose="02010600040101010101" charset="-122"/>
                <a:cs typeface="华文细黑" panose="02010600040101010101" charset="-122"/>
              </a:rPr>
              <a:t>两种情况，我们用</a:t>
            </a:r>
            <a:r>
              <a:rPr lang="en-US" altLang="zh-CN" sz="2000" b="1">
                <a:latin typeface="华文细黑" panose="02010600040101010101" charset="-122"/>
                <a:ea typeface="华文细黑" panose="02010600040101010101" charset="-122"/>
                <a:cs typeface="华文细黑" panose="02010600040101010101" charset="-122"/>
              </a:rPr>
              <a:t>a1</a:t>
            </a:r>
            <a:r>
              <a:rPr lang="zh-CN" altLang="en-US" sz="2000" b="1">
                <a:latin typeface="华文细黑" panose="02010600040101010101" charset="-122"/>
                <a:ea typeface="华文细黑" panose="02010600040101010101" charset="-122"/>
                <a:cs typeface="华文细黑" panose="02010600040101010101" charset="-122"/>
              </a:rPr>
              <a:t>和</a:t>
            </a:r>
            <a:r>
              <a:rPr lang="en-US" altLang="zh-CN" sz="2000" b="1">
                <a:latin typeface="华文细黑" panose="02010600040101010101" charset="-122"/>
                <a:ea typeface="华文细黑" panose="02010600040101010101" charset="-122"/>
                <a:cs typeface="华文细黑" panose="02010600040101010101" charset="-122"/>
              </a:rPr>
              <a:t>a2</a:t>
            </a:r>
            <a:r>
              <a:rPr lang="zh-CN" altLang="en-US" sz="2000" b="1">
                <a:latin typeface="华文细黑" panose="02010600040101010101" charset="-122"/>
                <a:ea typeface="华文细黑" panose="02010600040101010101" charset="-122"/>
                <a:cs typeface="华文细黑" panose="02010600040101010101" charset="-122"/>
              </a:rPr>
              <a:t>表示两个不同的</a:t>
            </a:r>
            <a:r>
              <a:rPr lang="en-US" altLang="zh-CN" sz="2000" b="1">
                <a:latin typeface="华文细黑" panose="02010600040101010101" charset="-122"/>
                <a:ea typeface="华文细黑" panose="02010600040101010101" charset="-122"/>
                <a:cs typeface="华文细黑" panose="02010600040101010101" charset="-122"/>
              </a:rPr>
              <a:t>A</a:t>
            </a:r>
            <a:r>
              <a:rPr lang="zh-CN" altLang="en-US" sz="2000" b="1">
                <a:latin typeface="华文细黑" panose="02010600040101010101" charset="-122"/>
                <a:ea typeface="华文细黑" panose="02010600040101010101" charset="-122"/>
                <a:cs typeface="华文细黑" panose="02010600040101010101" charset="-122"/>
              </a:rPr>
              <a:t>值，</a:t>
            </a:r>
            <a:r>
              <a:rPr lang="zh-CN" altLang="en-US" sz="2000" b="1">
                <a:latin typeface="华文细黑" panose="02010600040101010101" charset="-122"/>
                <a:ea typeface="华文细黑" panose="02010600040101010101" charset="-122"/>
                <a:cs typeface="华文细黑" panose="02010600040101010101" charset="-122"/>
                <a:sym typeface="+mn-ea"/>
              </a:rPr>
              <a:t>用</a:t>
            </a:r>
            <a:r>
              <a:rPr lang="en-US" altLang="zh-CN" sz="2000" b="1">
                <a:latin typeface="华文细黑" panose="02010600040101010101" charset="-122"/>
                <a:ea typeface="华文细黑" panose="02010600040101010101" charset="-122"/>
                <a:cs typeface="华文细黑" panose="02010600040101010101" charset="-122"/>
                <a:sym typeface="+mn-ea"/>
              </a:rPr>
              <a:t>b1</a:t>
            </a:r>
            <a:r>
              <a:rPr lang="zh-CN" altLang="en-US" sz="2000" b="1">
                <a:latin typeface="华文细黑" panose="02010600040101010101" charset="-122"/>
                <a:ea typeface="华文细黑" panose="02010600040101010101" charset="-122"/>
                <a:cs typeface="华文细黑" panose="02010600040101010101" charset="-122"/>
                <a:sym typeface="+mn-ea"/>
              </a:rPr>
              <a:t>和</a:t>
            </a:r>
            <a:r>
              <a:rPr lang="en-US" altLang="zh-CN" sz="2000" b="1">
                <a:latin typeface="华文细黑" panose="02010600040101010101" charset="-122"/>
                <a:ea typeface="华文细黑" panose="02010600040101010101" charset="-122"/>
                <a:cs typeface="华文细黑" panose="02010600040101010101" charset="-122"/>
                <a:sym typeface="+mn-ea"/>
              </a:rPr>
              <a:t>b2</a:t>
            </a:r>
            <a:r>
              <a:rPr lang="zh-CN" altLang="en-US" sz="2000" b="1">
                <a:latin typeface="华文细黑" panose="02010600040101010101" charset="-122"/>
                <a:ea typeface="华文细黑" panose="02010600040101010101" charset="-122"/>
                <a:cs typeface="华文细黑" panose="02010600040101010101" charset="-122"/>
                <a:sym typeface="+mn-ea"/>
              </a:rPr>
              <a:t>表示两个不同的</a:t>
            </a:r>
            <a:r>
              <a:rPr lang="en-US" altLang="zh-CN" sz="2000" b="1">
                <a:latin typeface="华文细黑" panose="02010600040101010101" charset="-122"/>
                <a:ea typeface="华文细黑" panose="02010600040101010101" charset="-122"/>
                <a:cs typeface="华文细黑" panose="02010600040101010101" charset="-122"/>
                <a:sym typeface="+mn-ea"/>
              </a:rPr>
              <a:t>B</a:t>
            </a:r>
            <a:r>
              <a:rPr lang="zh-CN" altLang="en-US" sz="2000" b="1">
                <a:latin typeface="华文细黑" panose="02010600040101010101" charset="-122"/>
                <a:ea typeface="华文细黑" panose="02010600040101010101" charset="-122"/>
                <a:cs typeface="华文细黑" panose="02010600040101010101" charset="-122"/>
                <a:sym typeface="+mn-ea"/>
              </a:rPr>
              <a:t>值，</a:t>
            </a:r>
            <a:r>
              <a:rPr lang="en-US" altLang="zh-CN" sz="2000" b="1">
                <a:latin typeface="华文细黑" panose="02010600040101010101" charset="-122"/>
                <a:ea typeface="华文细黑" panose="02010600040101010101" charset="-122"/>
                <a:cs typeface="华文细黑" panose="02010600040101010101" charset="-122"/>
                <a:sym typeface="+mn-ea"/>
              </a:rPr>
              <a:t>......</a:t>
            </a:r>
            <a:r>
              <a:rPr lang="zh-CN" altLang="en-US" sz="2000" b="1">
                <a:latin typeface="华文细黑" panose="02010600040101010101" charset="-122"/>
                <a:ea typeface="华文细黑" panose="02010600040101010101" charset="-122"/>
                <a:cs typeface="华文细黑" panose="02010600040101010101" charset="-122"/>
                <a:sym typeface="+mn-ea"/>
              </a:rPr>
              <a:t>，一共有八种组合：</a:t>
            </a:r>
            <a:r>
              <a:rPr lang="en-US" altLang="zh-CN" sz="2000" b="1">
                <a:latin typeface="华文细黑" panose="02010600040101010101" charset="-122"/>
                <a:ea typeface="华文细黑" panose="02010600040101010101" charset="-122"/>
                <a:cs typeface="华文细黑" panose="02010600040101010101" charset="-122"/>
                <a:sym typeface="+mn-ea"/>
              </a:rPr>
              <a:t>(a1,b1,c1), (a1,b1,c2), (a1,b2,c1), (a1,b2,c2), ......</a:t>
            </a:r>
            <a:endParaRPr lang="zh-CN" altLang="en-US" sz="2000" b="1">
              <a:latin typeface="华文细黑" panose="02010600040101010101" charset="-122"/>
              <a:ea typeface="华文细黑" panose="02010600040101010101" charset="-122"/>
              <a:cs typeface="华文细黑" panose="02010600040101010101" charset="-122"/>
              <a:sym typeface="+mn-ea"/>
            </a:endParaRPr>
          </a:p>
          <a:p>
            <a:pPr marL="457200" indent="-457200">
              <a:buFont typeface="+mj-ea"/>
              <a:buAutoNum type="circleNumDbPlain"/>
            </a:pPr>
            <a:r>
              <a:rPr lang="zh-CN" altLang="en-US" sz="2000" b="1">
                <a:latin typeface="华文细黑" panose="02010600040101010101" charset="-122"/>
                <a:ea typeface="华文细黑" panose="02010600040101010101" charset="-122"/>
                <a:cs typeface="华文细黑" panose="02010600040101010101" charset="-122"/>
                <a:sym typeface="+mn-ea"/>
              </a:rPr>
              <a:t>在</a:t>
            </a:r>
            <a:r>
              <a:rPr lang="zh-CN" altLang="en-US" sz="2000" b="1">
                <a:latin typeface="华文细黑" panose="02010600040101010101" charset="-122"/>
                <a:ea typeface="华文细黑" panose="02010600040101010101" charset="-122"/>
                <a:cs typeface="华文细黑" panose="02010600040101010101" charset="-122"/>
                <a:sym typeface="+mn-ea"/>
              </a:rPr>
              <a:t>上述的八种组合中，挑出四种组合并满足下述要求：</a:t>
            </a:r>
            <a:endParaRPr lang="zh-CN" altLang="en-US" sz="2000" b="1">
              <a:latin typeface="华文细黑" panose="02010600040101010101" charset="-122"/>
              <a:ea typeface="华文细黑" panose="02010600040101010101" charset="-122"/>
              <a:cs typeface="华文细黑" panose="02010600040101010101" charset="-122"/>
              <a:sym typeface="+mn-ea"/>
            </a:endParaRPr>
          </a:p>
          <a:p>
            <a:pPr marL="914400" lvl="1" indent="-457200">
              <a:buFont typeface="+mj-lt"/>
              <a:buAutoNum type="alphaLcParenR"/>
            </a:pPr>
            <a:r>
              <a:rPr lang="zh-CN" altLang="en-US" sz="2000" b="1">
                <a:latin typeface="华文细黑" panose="02010600040101010101" charset="-122"/>
                <a:ea typeface="华文细黑" panose="02010600040101010101" charset="-122"/>
                <a:cs typeface="华文细黑" panose="02010600040101010101" charset="-122"/>
                <a:sym typeface="+mn-ea"/>
              </a:rPr>
              <a:t>对于每一个属性，都存在取值相等的情况</a:t>
            </a:r>
            <a:r>
              <a:rPr lang="zh-CN" altLang="en-US" sz="2000" b="1">
                <a:latin typeface="华文细黑" panose="02010600040101010101" charset="-122"/>
                <a:ea typeface="华文细黑" panose="02010600040101010101" charset="-122"/>
                <a:cs typeface="华文细黑" panose="02010600040101010101" charset="-122"/>
                <a:sym typeface="+mn-ea"/>
              </a:rPr>
              <a:t>；（确保单个属性不可能是该关系的关键字）</a:t>
            </a:r>
            <a:endParaRPr lang="zh-CN" altLang="en-US" sz="2000" b="1">
              <a:latin typeface="华文细黑" panose="02010600040101010101" charset="-122"/>
              <a:ea typeface="华文细黑" panose="02010600040101010101" charset="-122"/>
              <a:cs typeface="华文细黑" panose="02010600040101010101" charset="-122"/>
              <a:sym typeface="+mn-ea"/>
            </a:endParaRPr>
          </a:p>
          <a:p>
            <a:pPr marL="914400" lvl="1" indent="-457200">
              <a:buFont typeface="+mj-lt"/>
              <a:buAutoNum type="alphaLcParenR"/>
            </a:pPr>
            <a:r>
              <a:rPr lang="zh-CN" altLang="en-US" sz="2000" b="1">
                <a:latin typeface="华文细黑" panose="02010600040101010101" charset="-122"/>
                <a:ea typeface="华文细黑" panose="02010600040101010101" charset="-122"/>
                <a:cs typeface="华文细黑" panose="02010600040101010101" charset="-122"/>
                <a:sym typeface="+mn-ea"/>
              </a:rPr>
              <a:t>对于任意一种两两组合，</a:t>
            </a:r>
            <a:r>
              <a:rPr lang="zh-CN" altLang="en-US" sz="2000" b="1">
                <a:latin typeface="华文细黑" panose="02010600040101010101" charset="-122"/>
                <a:ea typeface="华文细黑" panose="02010600040101010101" charset="-122"/>
                <a:cs typeface="华文细黑" panose="02010600040101010101" charset="-122"/>
                <a:sym typeface="+mn-ea"/>
              </a:rPr>
              <a:t>都存在取值相等的情况；（确保</a:t>
            </a:r>
            <a:r>
              <a:rPr lang="en-US" altLang="zh-CN" sz="2000" b="1">
                <a:latin typeface="华文细黑" panose="02010600040101010101" charset="-122"/>
                <a:ea typeface="华文细黑" panose="02010600040101010101" charset="-122"/>
                <a:cs typeface="华文细黑" panose="02010600040101010101" charset="-122"/>
                <a:sym typeface="+mn-ea"/>
              </a:rPr>
              <a:t>AB</a:t>
            </a:r>
            <a:r>
              <a:rPr lang="zh-CN" altLang="en-US" sz="2000" b="1">
                <a:latin typeface="华文细黑" panose="02010600040101010101" charset="-122"/>
                <a:ea typeface="华文细黑" panose="02010600040101010101" charset="-122"/>
                <a:cs typeface="华文细黑" panose="02010600040101010101" charset="-122"/>
                <a:sym typeface="+mn-ea"/>
              </a:rPr>
              <a:t>，</a:t>
            </a:r>
            <a:r>
              <a:rPr lang="en-US" altLang="zh-CN" sz="2000" b="1">
                <a:latin typeface="华文细黑" panose="02010600040101010101" charset="-122"/>
                <a:ea typeface="华文细黑" panose="02010600040101010101" charset="-122"/>
                <a:cs typeface="华文细黑" panose="02010600040101010101" charset="-122"/>
                <a:sym typeface="+mn-ea"/>
              </a:rPr>
              <a:t>AC</a:t>
            </a:r>
            <a:r>
              <a:rPr lang="zh-CN" altLang="en-US" sz="2000" b="1">
                <a:latin typeface="华文细黑" panose="02010600040101010101" charset="-122"/>
                <a:ea typeface="华文细黑" panose="02010600040101010101" charset="-122"/>
                <a:cs typeface="华文细黑" panose="02010600040101010101" charset="-122"/>
                <a:sym typeface="+mn-ea"/>
              </a:rPr>
              <a:t>和</a:t>
            </a:r>
            <a:r>
              <a:rPr lang="en-US" altLang="zh-CN" sz="2000" b="1">
                <a:latin typeface="华文细黑" panose="02010600040101010101" charset="-122"/>
                <a:ea typeface="华文细黑" panose="02010600040101010101" charset="-122"/>
                <a:cs typeface="华文细黑" panose="02010600040101010101" charset="-122"/>
                <a:sym typeface="+mn-ea"/>
              </a:rPr>
              <a:t>BC</a:t>
            </a:r>
            <a:r>
              <a:rPr lang="zh-CN" altLang="en-US" sz="2000" b="1">
                <a:latin typeface="华文细黑" panose="02010600040101010101" charset="-122"/>
                <a:ea typeface="华文细黑" panose="02010600040101010101" charset="-122"/>
                <a:cs typeface="华文细黑" panose="02010600040101010101" charset="-122"/>
                <a:sym typeface="+mn-ea"/>
              </a:rPr>
              <a:t>中的任意一种组合，都</a:t>
            </a:r>
            <a:r>
              <a:rPr lang="zh-CN" altLang="en-US" sz="2000" b="1">
                <a:latin typeface="华文细黑" panose="02010600040101010101" charset="-122"/>
                <a:ea typeface="华文细黑" panose="02010600040101010101" charset="-122"/>
                <a:cs typeface="华文细黑" panose="02010600040101010101" charset="-122"/>
                <a:sym typeface="+mn-ea"/>
              </a:rPr>
              <a:t>不可能是该关系的关键字）</a:t>
            </a:r>
            <a:endParaRPr lang="zh-CN" altLang="en-US" sz="2000" b="1">
              <a:latin typeface="华文细黑" panose="02010600040101010101" charset="-122"/>
              <a:ea typeface="华文细黑" panose="02010600040101010101" charset="-122"/>
              <a:cs typeface="华文细黑" panose="02010600040101010101" charset="-122"/>
              <a:sym typeface="+mn-ea"/>
            </a:endParaRPr>
          </a:p>
          <a:p>
            <a:pPr marL="914400" lvl="1" indent="-457200">
              <a:buFont typeface="+mj-lt"/>
              <a:buAutoNum type="alphaLcParenR"/>
            </a:pPr>
            <a:r>
              <a:rPr lang="zh-CN" altLang="en-US" sz="2000" b="1">
                <a:latin typeface="华文细黑" panose="02010600040101010101" charset="-122"/>
                <a:ea typeface="华文细黑" panose="02010600040101010101" charset="-122"/>
                <a:cs typeface="华文细黑" panose="02010600040101010101" charset="-122"/>
                <a:sym typeface="+mn-ea"/>
              </a:rPr>
              <a:t>任意两者之间，至少有一个属性上的取值不相等；（确保</a:t>
            </a:r>
            <a:r>
              <a:rPr lang="en-US" altLang="zh-CN" sz="2000" b="1">
                <a:latin typeface="华文细黑" panose="02010600040101010101" charset="-122"/>
                <a:ea typeface="华文细黑" panose="02010600040101010101" charset="-122"/>
                <a:cs typeface="华文细黑" panose="02010600040101010101" charset="-122"/>
                <a:sym typeface="+mn-ea"/>
              </a:rPr>
              <a:t>ABC</a:t>
            </a:r>
            <a:r>
              <a:rPr lang="zh-CN" altLang="en-US" sz="2000" b="1">
                <a:latin typeface="华文细黑" panose="02010600040101010101" charset="-122"/>
                <a:ea typeface="华文细黑" panose="02010600040101010101" charset="-122"/>
                <a:cs typeface="华文细黑" panose="02010600040101010101" charset="-122"/>
                <a:sym typeface="+mn-ea"/>
              </a:rPr>
              <a:t>组合的取值是互不相同的，从而由</a:t>
            </a:r>
            <a:r>
              <a:rPr lang="en-US" altLang="zh-CN" sz="2000" b="1">
                <a:latin typeface="华文细黑" panose="02010600040101010101" charset="-122"/>
                <a:ea typeface="华文细黑" panose="02010600040101010101" charset="-122"/>
                <a:cs typeface="华文细黑" panose="02010600040101010101" charset="-122"/>
                <a:sym typeface="+mn-ea"/>
              </a:rPr>
              <a:t>ABC</a:t>
            </a:r>
            <a:r>
              <a:rPr lang="zh-CN" altLang="en-US" sz="2000" b="1">
                <a:latin typeface="华文细黑" panose="02010600040101010101" charset="-122"/>
                <a:ea typeface="华文细黑" panose="02010600040101010101" charset="-122"/>
                <a:cs typeface="华文细黑" panose="02010600040101010101" charset="-122"/>
                <a:sym typeface="+mn-ea"/>
              </a:rPr>
              <a:t>三个属性组合起来构成该关系的关键字）</a:t>
            </a:r>
            <a:endParaRPr lang="zh-CN" altLang="en-US" sz="2000" b="1">
              <a:latin typeface="华文细黑" panose="02010600040101010101" charset="-122"/>
              <a:ea typeface="华文细黑" panose="02010600040101010101" charset="-122"/>
              <a:cs typeface="华文细黑" panose="02010600040101010101" charset="-122"/>
              <a:sym typeface="+mn-ea"/>
            </a:endParaRPr>
          </a:p>
        </p:txBody>
      </p:sp>
      <p:sp>
        <p:nvSpPr>
          <p:cNvPr id="4" name="文本框 3"/>
          <p:cNvSpPr txBox="1"/>
          <p:nvPr/>
        </p:nvSpPr>
        <p:spPr>
          <a:xfrm>
            <a:off x="979170" y="1619885"/>
            <a:ext cx="2081530" cy="829945"/>
          </a:xfrm>
          <a:prstGeom prst="rect">
            <a:avLst/>
          </a:prstGeom>
          <a:noFill/>
        </p:spPr>
        <p:txBody>
          <a:bodyPr wrap="square" rtlCol="0">
            <a:spAutoFit/>
          </a:bodyPr>
          <a:p>
            <a:pPr algn="r"/>
            <a:r>
              <a:rPr lang="zh-CN" altLang="en-US" sz="2400" b="1">
                <a:solidFill>
                  <a:srgbClr val="FF0000"/>
                </a:solidFill>
                <a:latin typeface="华文细黑" panose="02010600040101010101" charset="-122"/>
                <a:ea typeface="华文细黑" panose="02010600040101010101" charset="-122"/>
              </a:rPr>
              <a:t>参考答案 </a:t>
            </a:r>
            <a:r>
              <a:rPr lang="en-US" altLang="zh-CN" sz="2400" b="1">
                <a:solidFill>
                  <a:srgbClr val="FF0000"/>
                </a:solidFill>
                <a:latin typeface="华文细黑" panose="02010600040101010101" charset="-122"/>
                <a:ea typeface="华文细黑" panose="02010600040101010101" charset="-122"/>
              </a:rPr>
              <a:t>T</a:t>
            </a:r>
            <a:endParaRPr lang="zh-CN" altLang="en-US" sz="2400" b="1">
              <a:solidFill>
                <a:srgbClr val="FF0000"/>
              </a:solidFill>
              <a:latin typeface="华文细黑" panose="02010600040101010101" charset="-122"/>
              <a:ea typeface="华文细黑" panose="02010600040101010101" charset="-122"/>
            </a:endParaRPr>
          </a:p>
          <a:p>
            <a:pPr algn="r"/>
            <a:r>
              <a:rPr lang="zh-CN" altLang="en-US" sz="2400" b="1">
                <a:solidFill>
                  <a:srgbClr val="FF0000"/>
                </a:solidFill>
                <a:latin typeface="华文细黑" panose="02010600040101010101" charset="-122"/>
                <a:ea typeface="华文细黑" panose="02010600040101010101" charset="-122"/>
              </a:rPr>
              <a:t>（不唯一）</a:t>
            </a:r>
            <a:endParaRPr lang="zh-CN" altLang="en-US" sz="2400" b="1">
              <a:solidFill>
                <a:srgbClr val="FF0000"/>
              </a:solidFill>
              <a:latin typeface="华文细黑" panose="02010600040101010101" charset="-122"/>
              <a:ea typeface="华文细黑" panose="02010600040101010101" charset="-122"/>
            </a:endParaRPr>
          </a:p>
        </p:txBody>
      </p:sp>
    </p:spTree>
  </p:cSld>
  <p:clrMapOvr>
    <a:overrideClrMapping bg1="lt1" tx1="dk1" bg2="lt2" tx2="dk2" accent1="accent1" accent2="accent2" accent3="accent3" accent4="accent4" accent5="accent5" accent6="accent6" hlink="hlink" folHlink="folHlink"/>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 3"/>
          <p:cNvSpPr>
            <a:spLocks noGrp="1"/>
          </p:cNvSpPr>
          <p:nvPr/>
        </p:nvSpPr>
        <p:spPr>
          <a:xfrm>
            <a:off x="833755" y="346710"/>
            <a:ext cx="10845800" cy="1568450"/>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514350" lvl="0" indent="-514350" eaLnBrk="1" fontAlgn="base" hangingPunct="1">
              <a:lnSpc>
                <a:spcPct val="100000"/>
              </a:lnSpc>
              <a:buFont typeface="+mj-lt"/>
              <a:buAutoNum type="arabicPeriod" startAt="4"/>
            </a:pPr>
            <a:r>
              <a:rPr lang="zh-CN" altLang="en-US" b="0" strike="noStrike" noProof="1" dirty="0">
                <a:solidFill>
                  <a:schemeClr val="tx1"/>
                </a:solidFill>
                <a:latin typeface="Arial" panose="020B0604020202020204" pitchFamily="34" charset="0"/>
                <a:cs typeface="Arial" panose="020B0604020202020204" pitchFamily="34" charset="0"/>
              </a:rPr>
              <a:t>Create an example of a table as in exercise </a:t>
            </a:r>
            <a:r>
              <a:rPr lang="en-US" altLang="zh-CN" b="0" strike="noStrike" noProof="1" dirty="0">
                <a:solidFill>
                  <a:schemeClr val="tx1"/>
                </a:solidFill>
                <a:latin typeface="Arial" panose="020B0604020202020204" pitchFamily="34" charset="0"/>
                <a:cs typeface="Arial" panose="020B0604020202020204" pitchFamily="34" charset="0"/>
              </a:rPr>
              <a:t>2</a:t>
            </a:r>
            <a:r>
              <a:rPr lang="zh-CN" altLang="en-US" b="0" strike="noStrike" noProof="1" dirty="0">
                <a:solidFill>
                  <a:schemeClr val="tx1"/>
                </a:solidFill>
                <a:latin typeface="Arial" panose="020B0604020202020204" pitchFamily="34" charset="0"/>
                <a:cs typeface="Arial" panose="020B0604020202020204" pitchFamily="34" charset="0"/>
              </a:rPr>
              <a:t> that has five columns, A B C D E, and only five rows, with only one candidate key consisting of the first four columns. Give an informal argument why no other set of columns in this table forms a key.</a:t>
            </a:r>
            <a:endParaRPr lang="zh-CN" altLang="en-US" b="0" strike="noStrike" noProof="1" dirty="0">
              <a:solidFill>
                <a:schemeClr val="tx1"/>
              </a:solidFill>
              <a:latin typeface="Arial" panose="020B0604020202020204" pitchFamily="34" charset="0"/>
              <a:cs typeface="Arial" panose="020B0604020202020204" pitchFamily="34" charset="0"/>
            </a:endParaRPr>
          </a:p>
        </p:txBody>
      </p:sp>
      <p:graphicFrame>
        <p:nvGraphicFramePr>
          <p:cNvPr id="2" name="表格 1"/>
          <p:cNvGraphicFramePr/>
          <p:nvPr>
            <p:custDataLst>
              <p:tags r:id="rId1"/>
            </p:custDataLst>
          </p:nvPr>
        </p:nvGraphicFramePr>
        <p:xfrm>
          <a:off x="2976880" y="2328545"/>
          <a:ext cx="6448425" cy="2686050"/>
        </p:xfrm>
        <a:graphic>
          <a:graphicData uri="http://schemas.openxmlformats.org/drawingml/2006/table">
            <a:tbl>
              <a:tblPr firstRow="1" bandRow="1">
                <a:tableStyleId>{5940675A-B579-460E-94D1-54222C63F5DA}</a:tableStyleId>
              </a:tblPr>
              <a:tblGrid>
                <a:gridCol w="1289685"/>
                <a:gridCol w="1289685"/>
                <a:gridCol w="1289685"/>
                <a:gridCol w="1289685"/>
                <a:gridCol w="1289685"/>
              </a:tblGrid>
              <a:tr h="447675">
                <a:tc>
                  <a:txBody>
                    <a:bodyPr/>
                    <a:p>
                      <a:pPr indent="0" algn="ctr">
                        <a:buNone/>
                      </a:pPr>
                      <a:r>
                        <a:rPr 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A</a:t>
                      </a:r>
                      <a:endParaRPr lang="en-US" altLang="en-US" sz="28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indent="0" algn="ctr">
                        <a:buNone/>
                      </a:pPr>
                      <a:r>
                        <a:rPr 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B</a:t>
                      </a:r>
                      <a:endParaRPr lang="en-US" altLang="en-US" sz="28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indent="0" algn="ctr">
                        <a:buNone/>
                      </a:pPr>
                      <a:r>
                        <a:rPr 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C</a:t>
                      </a:r>
                      <a:endParaRPr lang="en-US" altLang="en-US" sz="28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indent="0" algn="ctr">
                        <a:buNone/>
                      </a:pPr>
                      <a:r>
                        <a:rPr 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D</a:t>
                      </a:r>
                      <a:endParaRPr lang="en-US" altLang="en-US" sz="28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indent="0" algn="ctr">
                        <a:buNone/>
                      </a:pPr>
                      <a:r>
                        <a:rPr 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E</a:t>
                      </a:r>
                      <a:endParaRPr lang="en-US" altLang="en-US" sz="2800" b="1">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r>
              <a:tr h="447675">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a1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b1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c1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d1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e1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7675">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a1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b1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c1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d2</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e1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7675">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a1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b1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c2</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d1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e1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7675">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a1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b2</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c1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d1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e1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7675">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a2</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b1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c1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d1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800" b="1">
                          <a:solidFill>
                            <a:srgbClr val="0000CC"/>
                          </a:solidFill>
                          <a:latin typeface="宋体" panose="02010600030101010101" pitchFamily="2" charset="-122"/>
                          <a:ea typeface="宋体" panose="02010600030101010101" pitchFamily="2" charset="-122"/>
                          <a:cs typeface="宋体" panose="02010600030101010101" pitchFamily="2" charset="-122"/>
                        </a:rPr>
                        <a:t>e1</a:t>
                      </a:r>
                      <a:endParaRPr lang="en-US" altLang="en-US" sz="2800" b="1">
                        <a:solidFill>
                          <a:srgbClr val="0000CC"/>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5080" y="120015"/>
            <a:ext cx="613410" cy="2076450"/>
          </a:xfrm>
          <a:prstGeom prst="rect">
            <a:avLst/>
          </a:prstGeom>
          <a:noFill/>
        </p:spPr>
        <p:txBody>
          <a:bodyPr vert="eaVert" wrap="square" rtlCol="0">
            <a:spAutoFit/>
          </a:bodyPr>
          <a:p>
            <a:pPr algn="ctr"/>
            <a:r>
              <a:rPr lang="zh-CN" altLang="en-US" sz="2800" b="1">
                <a:latin typeface="华文细黑" panose="02010600040101010101" charset="-122"/>
                <a:ea typeface="华文细黑" panose="02010600040101010101" charset="-122"/>
              </a:rPr>
              <a:t>（第一大题）</a:t>
            </a:r>
            <a:endParaRPr lang="zh-CN" altLang="en-US" sz="2800" b="1">
              <a:latin typeface="华文细黑" panose="02010600040101010101" charset="-122"/>
              <a:ea typeface="华文细黑" panose="02010600040101010101" charset="-122"/>
            </a:endParaRPr>
          </a:p>
        </p:txBody>
      </p:sp>
      <p:sp>
        <p:nvSpPr>
          <p:cNvPr id="4" name="文本框 3"/>
          <p:cNvSpPr txBox="1"/>
          <p:nvPr/>
        </p:nvSpPr>
        <p:spPr>
          <a:xfrm>
            <a:off x="2976880" y="5014595"/>
            <a:ext cx="6448425" cy="1198880"/>
          </a:xfrm>
          <a:prstGeom prst="rect">
            <a:avLst/>
          </a:prstGeom>
          <a:noFill/>
        </p:spPr>
        <p:txBody>
          <a:bodyPr wrap="square" rtlCol="0">
            <a:spAutoFit/>
          </a:bodyPr>
          <a:p>
            <a:pPr algn="ctr">
              <a:lnSpc>
                <a:spcPct val="150000"/>
              </a:lnSpc>
            </a:pPr>
            <a:r>
              <a:rPr lang="zh-CN" altLang="en-US" sz="2400" b="1">
                <a:solidFill>
                  <a:srgbClr val="FF0000"/>
                </a:solidFill>
                <a:latin typeface="华文细黑" panose="02010600040101010101" charset="-122"/>
                <a:ea typeface="华文细黑" panose="02010600040101010101" charset="-122"/>
              </a:rPr>
              <a:t>参考答案</a:t>
            </a:r>
            <a:endParaRPr lang="zh-CN" altLang="en-US" sz="2400" b="1">
              <a:solidFill>
                <a:srgbClr val="FF0000"/>
              </a:solidFill>
              <a:latin typeface="华文细黑" panose="02010600040101010101" charset="-122"/>
              <a:ea typeface="华文细黑" panose="02010600040101010101" charset="-122"/>
            </a:endParaRPr>
          </a:p>
          <a:p>
            <a:pPr algn="ctr">
              <a:lnSpc>
                <a:spcPct val="150000"/>
              </a:lnSpc>
            </a:pPr>
            <a:r>
              <a:rPr lang="zh-CN" altLang="en-US" sz="2400" b="1">
                <a:solidFill>
                  <a:srgbClr val="FF0000"/>
                </a:solidFill>
                <a:latin typeface="华文细黑" panose="02010600040101010101" charset="-122"/>
                <a:ea typeface="华文细黑" panose="02010600040101010101" charset="-122"/>
              </a:rPr>
              <a:t>（思路同前一题</a:t>
            </a:r>
            <a:r>
              <a:rPr lang="zh-CN" altLang="en-US" sz="2400" b="1">
                <a:solidFill>
                  <a:srgbClr val="FF0000"/>
                </a:solidFill>
                <a:latin typeface="华文细黑" panose="02010600040101010101" charset="-122"/>
                <a:ea typeface="华文细黑" panose="02010600040101010101" charset="-122"/>
              </a:rPr>
              <a:t>）</a:t>
            </a:r>
            <a:endParaRPr lang="zh-CN" altLang="en-US" sz="2400" b="1">
              <a:solidFill>
                <a:srgbClr val="FF0000"/>
              </a:solidFill>
              <a:latin typeface="华文细黑" panose="02010600040101010101" charset="-122"/>
              <a:ea typeface="华文细黑" panose="02010600040101010101" charset="-122"/>
            </a:endParaRPr>
          </a:p>
        </p:txBody>
      </p:sp>
      <p:sp>
        <p:nvSpPr>
          <p:cNvPr id="5" name="文本框 4"/>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overrideClrMapping bg1="lt1" tx1="dk1" bg2="lt2" tx2="dk2" accent1="accent1" accent2="accent2" accent3="accent3" accent4="accent4" accent5="accent5" accent6="accent6" hlink="hlink" folHlink="folHlink"/>
  </p:clrMapOvr>
  <p:transition advClick="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3" name="Rectangle 3"/>
          <p:cNvSpPr>
            <a:spLocks noGrp="1"/>
          </p:cNvSpPr>
          <p:nvPr>
            <p:ph type="body"/>
          </p:nvPr>
        </p:nvSpPr>
        <p:spPr>
          <a:xfrm>
            <a:off x="1512011" y="2412018"/>
            <a:ext cx="9085263" cy="565150"/>
          </a:xfrm>
        </p:spPr>
        <p:txBody>
          <a:bodyPr wrap="square" anchor="t">
            <a:spAutoFit/>
          </a:bodyPr>
          <a:p>
            <a:pPr marL="514350" lvl="0" indent="-514350" eaLnBrk="1" hangingPunct="1">
              <a:lnSpc>
                <a:spcPct val="110000"/>
              </a:lnSpc>
              <a:buFont typeface="+mj-lt"/>
              <a:buAutoNum type="arabicPeriod"/>
            </a:pPr>
            <a:r>
              <a:rPr lang="zh-CN" altLang="en-US" sz="2800" b="1" dirty="0">
                <a:solidFill>
                  <a:srgbClr val="0000CC"/>
                </a:solidFill>
                <a:ea typeface="宋体" panose="02010600030101010101" pitchFamily="2" charset="-122"/>
              </a:rPr>
              <a:t>只购买过</a:t>
            </a:r>
            <a:r>
              <a:rPr lang="en-US" altLang="zh-CN" sz="2800" b="1" dirty="0">
                <a:solidFill>
                  <a:srgbClr val="0000CC"/>
                </a:solidFill>
                <a:ea typeface="宋体" panose="02010600030101010101" pitchFamily="2" charset="-122"/>
              </a:rPr>
              <a:t>p01</a:t>
            </a:r>
            <a:r>
              <a:rPr lang="zh-CN" altLang="en-US" sz="2800" b="1" dirty="0">
                <a:solidFill>
                  <a:srgbClr val="0000CC"/>
                </a:solidFill>
                <a:ea typeface="宋体" panose="02010600030101010101" pitchFamily="2" charset="-122"/>
              </a:rPr>
              <a:t>和</a:t>
            </a:r>
            <a:r>
              <a:rPr lang="en-US" altLang="zh-CN" sz="2800" b="1" dirty="0">
                <a:solidFill>
                  <a:srgbClr val="0000CC"/>
                </a:solidFill>
                <a:ea typeface="宋体" panose="02010600030101010101" pitchFamily="2" charset="-122"/>
              </a:rPr>
              <a:t>p02</a:t>
            </a:r>
            <a:r>
              <a:rPr lang="zh-CN" altLang="en-US" sz="2800" b="1" dirty="0">
                <a:solidFill>
                  <a:srgbClr val="0000CC"/>
                </a:solidFill>
                <a:ea typeface="宋体" panose="02010600030101010101" pitchFamily="2" charset="-122"/>
              </a:rPr>
              <a:t>号两种商品的顾客编号</a:t>
            </a:r>
            <a:endParaRPr lang="zh-CN" altLang="en-US" sz="2800" b="1" dirty="0">
              <a:solidFill>
                <a:srgbClr val="0000CC"/>
              </a:solidFill>
              <a:ea typeface="宋体" panose="02010600030101010101" pitchFamily="2" charset="-122"/>
            </a:endParaRPr>
          </a:p>
        </p:txBody>
      </p:sp>
      <p:sp>
        <p:nvSpPr>
          <p:cNvPr id="15367" name="Rectangle 4"/>
          <p:cNvSpPr/>
          <p:nvPr/>
        </p:nvSpPr>
        <p:spPr>
          <a:xfrm>
            <a:off x="1512011" y="3024022"/>
            <a:ext cx="9085263" cy="565150"/>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startAt="2"/>
            </a:pPr>
            <a:r>
              <a:rPr lang="en-US" altLang="zh-CN" sz="2800" b="1" dirty="0">
                <a:solidFill>
                  <a:srgbClr val="0000CC"/>
                </a:solidFill>
                <a:ea typeface="宋体" panose="02010600030101010101" pitchFamily="2" charset="-122"/>
                <a:sym typeface="+mn-ea"/>
              </a:rPr>
              <a:t>“</a:t>
            </a:r>
            <a:r>
              <a:rPr lang="zh-CN" altLang="en-US" sz="2800" b="1" dirty="0">
                <a:solidFill>
                  <a:srgbClr val="0000CC"/>
                </a:solidFill>
                <a:ea typeface="宋体" panose="02010600030101010101" pitchFamily="2" charset="-122"/>
                <a:sym typeface="+mn-ea"/>
              </a:rPr>
              <a:t>只购买</a:t>
            </a:r>
            <a:r>
              <a:rPr lang="en-US" altLang="zh-CN" sz="2800" b="1" dirty="0">
                <a:solidFill>
                  <a:srgbClr val="0000CC"/>
                </a:solidFill>
                <a:ea typeface="宋体" panose="02010600030101010101" pitchFamily="2" charset="-122"/>
                <a:sym typeface="+mn-ea"/>
              </a:rPr>
              <a:t>p01”</a:t>
            </a:r>
            <a:r>
              <a:rPr lang="zh-CN" altLang="zh-CN" sz="2800" b="1" dirty="0">
                <a:solidFill>
                  <a:srgbClr val="0000CC"/>
                </a:solidFill>
                <a:ea typeface="宋体" panose="02010600030101010101" pitchFamily="2" charset="-122"/>
                <a:sym typeface="+mn-ea"/>
              </a:rPr>
              <a:t>或者</a:t>
            </a:r>
            <a:r>
              <a:rPr lang="en-US" altLang="zh-CN" sz="2800" b="1" dirty="0">
                <a:solidFill>
                  <a:srgbClr val="0000CC"/>
                </a:solidFill>
                <a:ea typeface="宋体" panose="02010600030101010101" pitchFamily="2" charset="-122"/>
                <a:sym typeface="+mn-ea"/>
              </a:rPr>
              <a:t>“</a:t>
            </a:r>
            <a:r>
              <a:rPr lang="zh-CN" altLang="zh-CN" sz="2800" b="1" dirty="0">
                <a:solidFill>
                  <a:srgbClr val="0000CC"/>
                </a:solidFill>
                <a:ea typeface="宋体" panose="02010600030101010101" pitchFamily="2" charset="-122"/>
                <a:sym typeface="+mn-ea"/>
              </a:rPr>
              <a:t>只购买</a:t>
            </a:r>
            <a:r>
              <a:rPr lang="en-US" altLang="zh-CN" sz="2800" b="1" dirty="0">
                <a:solidFill>
                  <a:srgbClr val="0000CC"/>
                </a:solidFill>
                <a:ea typeface="宋体" panose="02010600030101010101" pitchFamily="2" charset="-122"/>
                <a:sym typeface="+mn-ea"/>
              </a:rPr>
              <a:t>p02”</a:t>
            </a:r>
            <a:r>
              <a:rPr lang="zh-CN" altLang="en-US" sz="2800" b="1" dirty="0">
                <a:solidFill>
                  <a:srgbClr val="0000CC"/>
                </a:solidFill>
                <a:ea typeface="宋体" panose="02010600030101010101" pitchFamily="2" charset="-122"/>
                <a:sym typeface="+mn-ea"/>
              </a:rPr>
              <a:t>号商品的顾客编号</a:t>
            </a:r>
            <a:endParaRPr lang="zh-CN" altLang="x-none" sz="2800" b="1" dirty="0">
              <a:solidFill>
                <a:srgbClr val="0000CC"/>
              </a:solidFill>
              <a:latin typeface="Arial" panose="020B0604020202020204" pitchFamily="34" charset="0"/>
              <a:ea typeface="宋体" panose="02010600030101010101" pitchFamily="2" charset="-122"/>
            </a:endParaRPr>
          </a:p>
        </p:txBody>
      </p:sp>
      <p:sp>
        <p:nvSpPr>
          <p:cNvPr id="2" name="Rectangle 4"/>
          <p:cNvSpPr/>
          <p:nvPr/>
        </p:nvSpPr>
        <p:spPr>
          <a:xfrm>
            <a:off x="1511935" y="4860290"/>
            <a:ext cx="10033000" cy="1038860"/>
          </a:xfrm>
          <a:prstGeom prst="rect">
            <a:avLst/>
          </a:prstGeom>
          <a:noFill/>
          <a:ln w="9525">
            <a:noFill/>
          </a:ln>
        </p:spPr>
        <p:txBody>
          <a:bodyPr wrap="square" anchor="t">
            <a:spAutoFit/>
          </a:bodyPr>
          <a:p>
            <a:pPr marL="514350" lvl="0" indent="-514350">
              <a:lnSpc>
                <a:spcPct val="110000"/>
              </a:lnSpc>
              <a:spcBef>
                <a:spcPct val="20000"/>
              </a:spcBef>
              <a:buClr>
                <a:srgbClr val="0000CC"/>
              </a:buClr>
              <a:buFont typeface="+mj-lt"/>
              <a:buAutoNum type="arabicPeriod" startAt="5"/>
            </a:pPr>
            <a:r>
              <a:rPr lang="zh-CN" altLang="zh-CN" sz="2800" b="1" dirty="0">
                <a:solidFill>
                  <a:srgbClr val="0000CC"/>
                </a:solidFill>
                <a:latin typeface="Arial" panose="020B0604020202020204" pitchFamily="34" charset="0"/>
                <a:ea typeface="宋体" panose="02010600030101010101" pitchFamily="2" charset="-122"/>
              </a:rPr>
              <a:t>针对每一个供应商查询其销售金额</a:t>
            </a:r>
            <a:r>
              <a:rPr lang="en-US" altLang="zh-CN" sz="2800" b="1" dirty="0">
                <a:solidFill>
                  <a:srgbClr val="0000CC"/>
                </a:solidFill>
                <a:latin typeface="Arial" panose="020B0604020202020204" pitchFamily="34" charset="0"/>
                <a:ea typeface="宋体" panose="02010600030101010101" pitchFamily="2" charset="-122"/>
              </a:rPr>
              <a:t>dols</a:t>
            </a:r>
            <a:r>
              <a:rPr lang="zh-CN" altLang="zh-CN" sz="2800" b="1" dirty="0">
                <a:solidFill>
                  <a:srgbClr val="0000CC"/>
                </a:solidFill>
                <a:latin typeface="Arial" panose="020B0604020202020204" pitchFamily="34" charset="0"/>
                <a:ea typeface="宋体" panose="02010600030101010101" pitchFamily="2" charset="-122"/>
              </a:rPr>
              <a:t>最高的订单，结果返回供应商编号、销售金额最高的订单的编号和销售金额</a:t>
            </a:r>
            <a:endParaRPr lang="zh-CN" altLang="zh-CN" sz="2800" b="1" dirty="0">
              <a:solidFill>
                <a:srgbClr val="0000CC"/>
              </a:solidFill>
              <a:latin typeface="Arial" panose="020B0604020202020204" pitchFamily="34" charset="0"/>
              <a:ea typeface="宋体" panose="02010600030101010101" pitchFamily="2" charset="-122"/>
            </a:endParaRPr>
          </a:p>
        </p:txBody>
      </p:sp>
      <p:sp>
        <p:nvSpPr>
          <p:cNvPr id="3" name="Rectangle 4"/>
          <p:cNvSpPr/>
          <p:nvPr/>
        </p:nvSpPr>
        <p:spPr>
          <a:xfrm>
            <a:off x="1512011" y="3636027"/>
            <a:ext cx="9085263" cy="565150"/>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startAt="3"/>
            </a:pPr>
            <a:r>
              <a:rPr lang="zh-CN" altLang="en-US" sz="2800" b="1" dirty="0">
                <a:solidFill>
                  <a:srgbClr val="0000CC"/>
                </a:solidFill>
                <a:ea typeface="宋体" panose="02010600030101010101" pitchFamily="2" charset="-122"/>
                <a:sym typeface="+mn-ea"/>
              </a:rPr>
              <a:t>只购买过一种商品的顾客编号</a:t>
            </a:r>
            <a:endParaRPr lang="zh-CN" altLang="en-US" sz="2800" b="1" dirty="0">
              <a:solidFill>
                <a:srgbClr val="0000CC"/>
              </a:solidFill>
              <a:latin typeface="Times New Roman" panose="02020603050405020304" pitchFamily="18" charset="0"/>
              <a:ea typeface="Times New Roman" panose="02020603050405020304" pitchFamily="18" charset="0"/>
            </a:endParaRPr>
          </a:p>
        </p:txBody>
      </p:sp>
      <p:sp>
        <p:nvSpPr>
          <p:cNvPr id="4" name="文本框 3"/>
          <p:cNvSpPr txBox="1"/>
          <p:nvPr/>
        </p:nvSpPr>
        <p:spPr>
          <a:xfrm>
            <a:off x="198755" y="76835"/>
            <a:ext cx="9072880" cy="460375"/>
          </a:xfrm>
          <a:prstGeom prst="rect">
            <a:avLst/>
          </a:prstGeom>
          <a:solidFill>
            <a:schemeClr val="bg1"/>
          </a:solidFill>
        </p:spPr>
        <p:txBody>
          <a:bodyPr wrap="square" rtlCol="0">
            <a:spAutoFit/>
          </a:bodyPr>
          <a:p>
            <a:pPr algn="r"/>
            <a:endParaRPr lang="en-US" altLang="zh-CN" sz="2400" b="1"/>
          </a:p>
        </p:txBody>
      </p:sp>
      <p:sp>
        <p:nvSpPr>
          <p:cNvPr id="5" name="Rectangle 4"/>
          <p:cNvSpPr/>
          <p:nvPr/>
        </p:nvSpPr>
        <p:spPr>
          <a:xfrm>
            <a:off x="1512011" y="4248031"/>
            <a:ext cx="9085263" cy="565150"/>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startAt="4"/>
            </a:pPr>
            <a:r>
              <a:rPr lang="zh-CN" altLang="x-none" sz="2800" b="1" dirty="0">
                <a:solidFill>
                  <a:srgbClr val="0000CC"/>
                </a:solidFill>
                <a:latin typeface="Arial" panose="020B0604020202020204" pitchFamily="34" charset="0"/>
                <a:ea typeface="宋体" panose="02010600030101010101" pitchFamily="2" charset="-122"/>
                <a:sym typeface="+mn-ea"/>
              </a:rPr>
              <a:t>只向自己所在城市中的客户销售过商品的供应商编号</a:t>
            </a:r>
            <a:endParaRPr lang="zh-CN" altLang="zh-CN" sz="2800" b="1" dirty="0">
              <a:solidFill>
                <a:srgbClr val="0000CC"/>
              </a:solidFill>
              <a:latin typeface="Arial" panose="020B0604020202020204" pitchFamily="34" charset="0"/>
              <a:ea typeface="宋体" panose="02010600030101010101" pitchFamily="2" charset="-122"/>
            </a:endParaRPr>
          </a:p>
        </p:txBody>
      </p:sp>
      <p:sp>
        <p:nvSpPr>
          <p:cNvPr id="161799" name="Text Box 9"/>
          <p:cNvSpPr txBox="1"/>
          <p:nvPr/>
        </p:nvSpPr>
        <p:spPr>
          <a:xfrm>
            <a:off x="1511935" y="599123"/>
            <a:ext cx="8675688" cy="1789430"/>
          </a:xfrm>
          <a:prstGeom prst="rect">
            <a:avLst/>
          </a:prstGeom>
          <a:noFill/>
          <a:ln w="12700" cap="flat" cmpd="sng">
            <a:solidFill>
              <a:schemeClr val="tx1"/>
            </a:solidFill>
            <a:prstDash val="solid"/>
            <a:miter/>
            <a:headEnd type="none" w="med" len="med"/>
            <a:tailEnd type="none" w="med" len="med"/>
          </a:ln>
        </p:spPr>
        <p:txBody>
          <a:bodyPr anchor="t">
            <a:spAutoFit/>
          </a:bodyPr>
          <a:p>
            <a:pPr lvl="1">
              <a:spcBef>
                <a:spcPct val="20000"/>
              </a:spcBef>
            </a:pPr>
            <a:r>
              <a:rPr lang="en-US" altLang="x-none" sz="2400" b="1" i="1" u="sng" dirty="0">
                <a:solidFill>
                  <a:srgbClr val="0000CC"/>
                </a:solidFill>
                <a:latin typeface="Arial" panose="020B0604020202020204" pitchFamily="34" charset="0"/>
              </a:rPr>
              <a:t>Customers</a:t>
            </a:r>
            <a:r>
              <a:rPr lang="en-US" altLang="x-none" sz="2400" b="1" dirty="0">
                <a:solidFill>
                  <a:srgbClr val="0000CC"/>
                </a:solidFill>
                <a:latin typeface="Arial" panose="020B0604020202020204" pitchFamily="34" charset="0"/>
              </a:rPr>
              <a:t>: C(cid, cname, city, discnt)</a:t>
            </a:r>
            <a:endParaRPr lang="en-US" altLang="x-none" sz="2400" b="1" dirty="0">
              <a:solidFill>
                <a:srgbClr val="0000CC"/>
              </a:solidFill>
              <a:latin typeface="Arial" panose="020B0604020202020204" pitchFamily="34" charset="0"/>
            </a:endParaRPr>
          </a:p>
          <a:p>
            <a:pPr lvl="1">
              <a:spcBef>
                <a:spcPct val="20000"/>
              </a:spcBef>
            </a:pPr>
            <a:r>
              <a:rPr lang="en-US" altLang="x-none" sz="2400" b="1" i="1" u="sng" dirty="0">
                <a:solidFill>
                  <a:srgbClr val="0000CC"/>
                </a:solidFill>
                <a:latin typeface="Arial" panose="020B0604020202020204" pitchFamily="34" charset="0"/>
              </a:rPr>
              <a:t>Agents</a:t>
            </a:r>
            <a:r>
              <a:rPr lang="en-US" altLang="x-none" sz="2400" b="1" dirty="0">
                <a:solidFill>
                  <a:srgbClr val="0000CC"/>
                </a:solidFill>
                <a:latin typeface="Arial" panose="020B0604020202020204" pitchFamily="34" charset="0"/>
              </a:rPr>
              <a:t>:       A(aid, aname, city, percent)</a:t>
            </a:r>
            <a:endParaRPr lang="en-US" altLang="x-none" sz="2400" b="1" dirty="0">
              <a:solidFill>
                <a:srgbClr val="0000CC"/>
              </a:solidFill>
              <a:latin typeface="Arial" panose="020B0604020202020204" pitchFamily="34" charset="0"/>
            </a:endParaRPr>
          </a:p>
          <a:p>
            <a:pPr lvl="1">
              <a:spcBef>
                <a:spcPct val="20000"/>
              </a:spcBef>
            </a:pPr>
            <a:r>
              <a:rPr lang="en-US" altLang="x-none" sz="2400" b="1" i="1" u="sng" dirty="0">
                <a:solidFill>
                  <a:srgbClr val="0000CC"/>
                </a:solidFill>
                <a:latin typeface="Arial" panose="020B0604020202020204" pitchFamily="34" charset="0"/>
              </a:rPr>
              <a:t>Products</a:t>
            </a:r>
            <a:r>
              <a:rPr lang="en-US" altLang="x-none" sz="2400" b="1" dirty="0">
                <a:solidFill>
                  <a:srgbClr val="0000CC"/>
                </a:solidFill>
                <a:latin typeface="Arial" panose="020B0604020202020204" pitchFamily="34" charset="0"/>
              </a:rPr>
              <a:t>:   P(pid, pname, city, qty, price)</a:t>
            </a:r>
            <a:endParaRPr lang="en-US" altLang="x-none" sz="2400" b="1" dirty="0">
              <a:solidFill>
                <a:srgbClr val="0000CC"/>
              </a:solidFill>
              <a:latin typeface="Arial" panose="020B0604020202020204" pitchFamily="34" charset="0"/>
            </a:endParaRPr>
          </a:p>
          <a:p>
            <a:pPr lvl="1">
              <a:spcBef>
                <a:spcPct val="20000"/>
              </a:spcBef>
            </a:pPr>
            <a:r>
              <a:rPr lang="en-US" altLang="x-none" sz="2400" b="1" i="1" u="sng" dirty="0">
                <a:solidFill>
                  <a:srgbClr val="0000CC"/>
                </a:solidFill>
                <a:latin typeface="Arial" panose="020B0604020202020204" pitchFamily="34" charset="0"/>
              </a:rPr>
              <a:t>Orders</a:t>
            </a:r>
            <a:r>
              <a:rPr lang="en-US" altLang="x-none" sz="2400" b="1" dirty="0">
                <a:solidFill>
                  <a:srgbClr val="0000CC"/>
                </a:solidFill>
                <a:latin typeface="Arial" panose="020B0604020202020204" pitchFamily="34" charset="0"/>
              </a:rPr>
              <a:t>:       O(ordno, month, cid, aid, pid, qty, dols)</a:t>
            </a:r>
            <a:endParaRPr lang="en-US" altLang="x-none" sz="2400" b="1" dirty="0">
              <a:solidFill>
                <a:srgbClr val="0000CC"/>
              </a:solidFill>
              <a:latin typeface="Arial" panose="020B0604020202020204" pitchFamily="34" charset="0"/>
            </a:endParaRPr>
          </a:p>
        </p:txBody>
      </p:sp>
      <p:sp>
        <p:nvSpPr>
          <p:cNvPr id="11" name="Rectangle 3"/>
          <p:cNvSpPr>
            <a:spLocks noGrp="1"/>
          </p:cNvSpPr>
          <p:nvPr/>
        </p:nvSpPr>
        <p:spPr>
          <a:xfrm>
            <a:off x="802640" y="76835"/>
            <a:ext cx="8288020" cy="521970"/>
          </a:xfrm>
          <a:prstGeom prst="rect">
            <a:avLst/>
          </a:prstGeom>
          <a:noFill/>
          <a:ln w="9525">
            <a:noFill/>
          </a:ln>
        </p:spPr>
        <p:txBody>
          <a:bodyPr wrap="square" anchor="t">
            <a:spAutoFit/>
          </a:bodyPr>
          <a:p>
            <a:pPr>
              <a:spcBef>
                <a:spcPct val="20000"/>
              </a:spcBef>
              <a:buClr>
                <a:srgbClr val="CC9900"/>
              </a:buClr>
              <a:buFont typeface="Wingdings" panose="05000000000000000000" pitchFamily="2" charset="2"/>
              <a:buNone/>
            </a:pPr>
            <a:r>
              <a:rPr lang="zh-CN" altLang="zh-CN" sz="2800" b="1" dirty="0">
                <a:solidFill>
                  <a:srgbClr val="0000CC"/>
                </a:solidFill>
                <a:latin typeface="Arial" panose="020B0604020202020204" pitchFamily="34" charset="0"/>
              </a:rPr>
              <a:t>二、复习思考题</a:t>
            </a:r>
            <a:endParaRPr lang="zh-CN" altLang="zh-CN" sz="2800" b="1" u="none" baseline="0" dirty="0">
              <a:solidFill>
                <a:srgbClr val="0000CC"/>
              </a:solidFill>
              <a:latin typeface="Arial" panose="020B0604020202020204" pitchFamily="34" charset="0"/>
              <a:ea typeface="Times New Roman" panose="02020603050405020304" pitchFamily="18" charset="0"/>
            </a:endParaRPr>
          </a:p>
        </p:txBody>
      </p:sp>
      <p:sp>
        <p:nvSpPr>
          <p:cNvPr id="6" name="文本框 5"/>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4"/>
          <p:cNvSpPr/>
          <p:nvPr/>
        </p:nvSpPr>
        <p:spPr>
          <a:xfrm>
            <a:off x="360000" y="117920"/>
            <a:ext cx="9085263" cy="565150"/>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a:pPr>
            <a:r>
              <a:rPr lang="zh-CN" altLang="en-US" sz="2800" b="1" dirty="0">
                <a:solidFill>
                  <a:srgbClr val="0000CC"/>
                </a:solidFill>
                <a:ea typeface="宋体" panose="02010600030101010101" pitchFamily="2" charset="-122"/>
                <a:sym typeface="+mn-ea"/>
              </a:rPr>
              <a:t>只购买过</a:t>
            </a:r>
            <a:r>
              <a:rPr lang="en-US" altLang="zh-CN" sz="2800" b="1" dirty="0">
                <a:solidFill>
                  <a:srgbClr val="0000CC"/>
                </a:solidFill>
                <a:ea typeface="宋体" panose="02010600030101010101" pitchFamily="2" charset="-122"/>
                <a:sym typeface="+mn-ea"/>
              </a:rPr>
              <a:t>p01</a:t>
            </a:r>
            <a:r>
              <a:rPr lang="zh-CN" altLang="en-US" sz="2800" b="1" dirty="0">
                <a:solidFill>
                  <a:srgbClr val="0000CC"/>
                </a:solidFill>
                <a:ea typeface="宋体" panose="02010600030101010101" pitchFamily="2" charset="-122"/>
                <a:sym typeface="+mn-ea"/>
              </a:rPr>
              <a:t>和</a:t>
            </a:r>
            <a:r>
              <a:rPr lang="en-US" altLang="zh-CN" sz="2800" b="1" dirty="0">
                <a:solidFill>
                  <a:srgbClr val="0000CC"/>
                </a:solidFill>
                <a:ea typeface="宋体" panose="02010600030101010101" pitchFamily="2" charset="-122"/>
                <a:sym typeface="+mn-ea"/>
              </a:rPr>
              <a:t>p02</a:t>
            </a:r>
            <a:r>
              <a:rPr lang="zh-CN" altLang="en-US" sz="2800" b="1" dirty="0">
                <a:solidFill>
                  <a:srgbClr val="0000CC"/>
                </a:solidFill>
                <a:ea typeface="宋体" panose="02010600030101010101" pitchFamily="2" charset="-122"/>
                <a:sym typeface="+mn-ea"/>
              </a:rPr>
              <a:t>号两种商品的顾客编号</a:t>
            </a:r>
            <a:endParaRPr lang="zh-CN" altLang="zh-CN" sz="2800" b="1" dirty="0">
              <a:solidFill>
                <a:srgbClr val="0000CC"/>
              </a:solidFill>
              <a:latin typeface="Arial" panose="020B0604020202020204" pitchFamily="34" charset="0"/>
              <a:ea typeface="宋体" panose="02010600030101010101" pitchFamily="2" charset="-122"/>
            </a:endParaRPr>
          </a:p>
        </p:txBody>
      </p:sp>
      <p:sp>
        <p:nvSpPr>
          <p:cNvPr id="4" name="文本框 3"/>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
        <p:nvSpPr>
          <p:cNvPr id="6" name="Rectangle 4"/>
          <p:cNvSpPr/>
          <p:nvPr/>
        </p:nvSpPr>
        <p:spPr>
          <a:xfrm>
            <a:off x="360045" y="648335"/>
            <a:ext cx="11325225" cy="565150"/>
          </a:xfrm>
          <a:prstGeom prst="rect">
            <a:avLst/>
          </a:prstGeom>
          <a:noFill/>
          <a:ln w="9525">
            <a:noFill/>
          </a:ln>
        </p:spPr>
        <p:txBody>
          <a:bodyPr wrap="square" anchor="t">
            <a:spAutoFit/>
          </a:bodyPr>
          <a:p>
            <a:pPr marL="514350" lvl="0" indent="-514350">
              <a:lnSpc>
                <a:spcPct val="110000"/>
              </a:lnSpc>
              <a:spcBef>
                <a:spcPct val="20000"/>
              </a:spcBef>
              <a:buClr>
                <a:srgbClr val="0000CC"/>
              </a:buClr>
              <a:buFont typeface="+mj-lt"/>
              <a:buAutoNum type="arabicPeriod" startAt="2"/>
            </a:pPr>
            <a:r>
              <a:rPr lang="en-US" altLang="zh-CN" sz="2800" b="1" dirty="0">
                <a:solidFill>
                  <a:srgbClr val="0000CC"/>
                </a:solidFill>
                <a:ea typeface="宋体" panose="02010600030101010101" pitchFamily="2" charset="-122"/>
                <a:sym typeface="+mn-ea"/>
              </a:rPr>
              <a:t>“</a:t>
            </a:r>
            <a:r>
              <a:rPr lang="zh-CN" altLang="en-US" sz="2800" b="1" dirty="0">
                <a:solidFill>
                  <a:srgbClr val="0000CC"/>
                </a:solidFill>
                <a:ea typeface="宋体" panose="02010600030101010101" pitchFamily="2" charset="-122"/>
                <a:sym typeface="+mn-ea"/>
              </a:rPr>
              <a:t>只购买</a:t>
            </a:r>
            <a:r>
              <a:rPr lang="en-US" altLang="zh-CN" sz="2800" b="1" dirty="0">
                <a:solidFill>
                  <a:srgbClr val="0000CC"/>
                </a:solidFill>
                <a:ea typeface="宋体" panose="02010600030101010101" pitchFamily="2" charset="-122"/>
                <a:sym typeface="+mn-ea"/>
              </a:rPr>
              <a:t>p01”</a:t>
            </a:r>
            <a:r>
              <a:rPr lang="zh-CN" altLang="zh-CN" sz="2800" b="1" dirty="0">
                <a:solidFill>
                  <a:srgbClr val="0000CC"/>
                </a:solidFill>
                <a:ea typeface="宋体" panose="02010600030101010101" pitchFamily="2" charset="-122"/>
                <a:sym typeface="+mn-ea"/>
              </a:rPr>
              <a:t>或者</a:t>
            </a:r>
            <a:r>
              <a:rPr lang="en-US" altLang="zh-CN" sz="2800" b="1" dirty="0">
                <a:solidFill>
                  <a:srgbClr val="0000CC"/>
                </a:solidFill>
                <a:ea typeface="宋体" panose="02010600030101010101" pitchFamily="2" charset="-122"/>
                <a:sym typeface="+mn-ea"/>
              </a:rPr>
              <a:t>“</a:t>
            </a:r>
            <a:r>
              <a:rPr lang="zh-CN" altLang="zh-CN" sz="2800" b="1" dirty="0">
                <a:solidFill>
                  <a:srgbClr val="0000CC"/>
                </a:solidFill>
                <a:ea typeface="宋体" panose="02010600030101010101" pitchFamily="2" charset="-122"/>
                <a:sym typeface="+mn-ea"/>
              </a:rPr>
              <a:t>只购买</a:t>
            </a:r>
            <a:r>
              <a:rPr lang="en-US" altLang="zh-CN" sz="2800" b="1" dirty="0">
                <a:solidFill>
                  <a:srgbClr val="0000CC"/>
                </a:solidFill>
                <a:ea typeface="宋体" panose="02010600030101010101" pitchFamily="2" charset="-122"/>
                <a:sym typeface="+mn-ea"/>
              </a:rPr>
              <a:t>p02”</a:t>
            </a:r>
            <a:r>
              <a:rPr lang="zh-CN" altLang="en-US" sz="2800" b="1" dirty="0">
                <a:solidFill>
                  <a:srgbClr val="0000CC"/>
                </a:solidFill>
                <a:ea typeface="宋体" panose="02010600030101010101" pitchFamily="2" charset="-122"/>
                <a:sym typeface="+mn-ea"/>
              </a:rPr>
              <a:t>号商品的顾客编号</a:t>
            </a:r>
            <a:endParaRPr lang="zh-CN" altLang="en-US" sz="2800" b="1" dirty="0">
              <a:solidFill>
                <a:srgbClr val="0000CC"/>
              </a:solidFill>
              <a:latin typeface="Times New Roman" panose="02020603050405020304" pitchFamily="18" charset="0"/>
              <a:ea typeface="Times New Roman" panose="02020603050405020304" pitchFamily="18" charset="0"/>
            </a:endParaRPr>
          </a:p>
        </p:txBody>
      </p:sp>
      <p:grpSp>
        <p:nvGrpSpPr>
          <p:cNvPr id="22" name="组合 21"/>
          <p:cNvGrpSpPr/>
          <p:nvPr/>
        </p:nvGrpSpPr>
        <p:grpSpPr>
          <a:xfrm>
            <a:off x="7350760" y="4008755"/>
            <a:ext cx="4095750" cy="2275840"/>
            <a:chOff x="889" y="6446"/>
            <a:chExt cx="6450" cy="3584"/>
          </a:xfrm>
        </p:grpSpPr>
        <p:grpSp>
          <p:nvGrpSpPr>
            <p:cNvPr id="10" name="组合 9"/>
            <p:cNvGrpSpPr/>
            <p:nvPr/>
          </p:nvGrpSpPr>
          <p:grpSpPr>
            <a:xfrm>
              <a:off x="889" y="6446"/>
              <a:ext cx="6450" cy="3291"/>
              <a:chOff x="1153" y="5636"/>
              <a:chExt cx="6450" cy="3291"/>
            </a:xfrm>
          </p:grpSpPr>
          <p:sp>
            <p:nvSpPr>
              <p:cNvPr id="3" name="矩形 2"/>
              <p:cNvSpPr/>
              <p:nvPr/>
            </p:nvSpPr>
            <p:spPr>
              <a:xfrm>
                <a:off x="1153" y="5636"/>
                <a:ext cx="6450" cy="3291"/>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nchorCtr="0"/>
              <a:p>
                <a:pPr algn="r"/>
                <a:endParaRPr lang="en-US" altLang="zh-CN" sz="2400" b="1">
                  <a:solidFill>
                    <a:schemeClr val="tx1"/>
                  </a:solidFill>
                  <a:latin typeface="Arial" panose="020B0604020202020204" pitchFamily="34" charset="0"/>
                </a:endParaRPr>
              </a:p>
            </p:txBody>
          </p:sp>
          <p:sp>
            <p:nvSpPr>
              <p:cNvPr id="8" name="椭圆 7"/>
              <p:cNvSpPr/>
              <p:nvPr/>
            </p:nvSpPr>
            <p:spPr>
              <a:xfrm>
                <a:off x="1738" y="6922"/>
                <a:ext cx="1893" cy="141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rgbClr val="FF0000"/>
                    </a:solidFill>
                    <a:latin typeface="Arial" panose="020B0604020202020204" pitchFamily="34" charset="0"/>
                  </a:rPr>
                  <a:t>Q</a:t>
                </a:r>
                <a:r>
                  <a:rPr lang="en-US" altLang="zh-CN" sz="2400" b="1" baseline="-25000">
                    <a:solidFill>
                      <a:srgbClr val="FF0000"/>
                    </a:solidFill>
                    <a:latin typeface="Arial" panose="020B0604020202020204" pitchFamily="34" charset="0"/>
                  </a:rPr>
                  <a:t>1</a:t>
                </a:r>
                <a:endParaRPr lang="en-US" altLang="zh-CN" sz="2400" b="1" baseline="-25000">
                  <a:solidFill>
                    <a:srgbClr val="FF0000"/>
                  </a:solidFill>
                  <a:latin typeface="Arial" panose="020B0604020202020204" pitchFamily="34" charset="0"/>
                </a:endParaRPr>
              </a:p>
            </p:txBody>
          </p:sp>
          <p:sp>
            <p:nvSpPr>
              <p:cNvPr id="9" name="椭圆 8"/>
              <p:cNvSpPr/>
              <p:nvPr/>
            </p:nvSpPr>
            <p:spPr>
              <a:xfrm>
                <a:off x="3432" y="5893"/>
                <a:ext cx="1893" cy="1418"/>
              </a:xfrm>
              <a:prstGeom prst="ellipse">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rgbClr val="7030A0"/>
                    </a:solidFill>
                    <a:latin typeface="Arial" panose="020B0604020202020204" pitchFamily="34" charset="0"/>
                  </a:rPr>
                  <a:t>Q</a:t>
                </a:r>
                <a:r>
                  <a:rPr lang="en-US" altLang="zh-CN" sz="2400" b="1" baseline="-25000">
                    <a:solidFill>
                      <a:srgbClr val="7030A0"/>
                    </a:solidFill>
                    <a:latin typeface="Arial" panose="020B0604020202020204" pitchFamily="34" charset="0"/>
                  </a:rPr>
                  <a:t>2</a:t>
                </a:r>
                <a:endParaRPr lang="en-US" altLang="zh-CN" sz="2400" b="1" baseline="-25000">
                  <a:solidFill>
                    <a:srgbClr val="7030A0"/>
                  </a:solidFill>
                  <a:latin typeface="Arial" panose="020B0604020202020204" pitchFamily="34" charset="0"/>
                </a:endParaRPr>
              </a:p>
            </p:txBody>
          </p:sp>
        </p:grpSp>
        <p:sp>
          <p:nvSpPr>
            <p:cNvPr id="21" name="椭圆 20"/>
            <p:cNvSpPr/>
            <p:nvPr/>
          </p:nvSpPr>
          <p:spPr>
            <a:xfrm>
              <a:off x="4021" y="8121"/>
              <a:ext cx="2763" cy="190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latin typeface="Arial" panose="020B0604020202020204" pitchFamily="34" charset="0"/>
                </a:rPr>
                <a:t>Q</a:t>
              </a:r>
              <a:r>
                <a:rPr lang="en-US" altLang="zh-CN" sz="2400" b="1" baseline="-25000">
                  <a:solidFill>
                    <a:schemeClr val="tx1"/>
                  </a:solidFill>
                  <a:latin typeface="Arial" panose="020B0604020202020204" pitchFamily="34" charset="0"/>
                </a:rPr>
                <a:t>3</a:t>
              </a:r>
              <a:endParaRPr lang="en-US" altLang="zh-CN" sz="2400" b="1" baseline="-25000">
                <a:solidFill>
                  <a:schemeClr val="tx1"/>
                </a:solidFill>
                <a:latin typeface="Arial" panose="020B0604020202020204" pitchFamily="34" charset="0"/>
              </a:endParaRPr>
            </a:p>
          </p:txBody>
        </p:sp>
      </p:grpSp>
      <p:sp>
        <p:nvSpPr>
          <p:cNvPr id="13" name="文本框 12"/>
          <p:cNvSpPr txBox="1"/>
          <p:nvPr/>
        </p:nvSpPr>
        <p:spPr>
          <a:xfrm>
            <a:off x="363220" y="1364615"/>
            <a:ext cx="2433320" cy="521970"/>
          </a:xfrm>
          <a:prstGeom prst="rect">
            <a:avLst/>
          </a:prstGeom>
          <a:noFill/>
        </p:spPr>
        <p:txBody>
          <a:bodyPr wrap="square" rtlCol="0">
            <a:spAutoFit/>
          </a:bodyPr>
          <a:p>
            <a:r>
              <a:rPr lang="zh-CN" altLang="en-US" sz="2800" b="1">
                <a:solidFill>
                  <a:srgbClr val="C00000"/>
                </a:solidFill>
              </a:rPr>
              <a:t>分析如下：</a:t>
            </a:r>
            <a:endParaRPr lang="zh-CN" altLang="en-US" sz="2800" b="1">
              <a:solidFill>
                <a:srgbClr val="C00000"/>
              </a:solidFill>
            </a:endParaRPr>
          </a:p>
        </p:txBody>
      </p:sp>
      <p:graphicFrame>
        <p:nvGraphicFramePr>
          <p:cNvPr id="14" name="表格 13"/>
          <p:cNvGraphicFramePr/>
          <p:nvPr>
            <p:custDataLst>
              <p:tags r:id="rId1"/>
            </p:custDataLst>
          </p:nvPr>
        </p:nvGraphicFramePr>
        <p:xfrm>
          <a:off x="2230120" y="1409700"/>
          <a:ext cx="9184640" cy="2194560"/>
        </p:xfrm>
        <a:graphic>
          <a:graphicData uri="http://schemas.openxmlformats.org/drawingml/2006/table">
            <a:tbl>
              <a:tblPr firstRow="1" bandRow="1">
                <a:tableStyleId>{5C22544A-7EE6-4342-B048-85BDC9FD1C3A}</a:tableStyleId>
              </a:tblPr>
              <a:tblGrid>
                <a:gridCol w="711835"/>
                <a:gridCol w="4800600"/>
                <a:gridCol w="3672205"/>
              </a:tblGrid>
              <a:tr h="457200">
                <a:tc>
                  <a:txBody>
                    <a:bodyPr/>
                    <a:p>
                      <a:pPr algn="ctr">
                        <a:buNone/>
                      </a:pPr>
                      <a:endParaRPr lang="zh-CN" altLang="en-US" sz="24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2400">
                          <a:solidFill>
                            <a:srgbClr val="0000CC"/>
                          </a:solidFill>
                        </a:rPr>
                        <a:t>查询表达式</a:t>
                      </a:r>
                      <a:endParaRPr lang="zh-CN" altLang="en-US" sz="24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2400">
                          <a:solidFill>
                            <a:srgbClr val="0000CC"/>
                          </a:solidFill>
                        </a:rPr>
                        <a:t>结果集的语义</a:t>
                      </a:r>
                      <a:endParaRPr lang="zh-CN" altLang="en-US" sz="24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lgn="ctr">
                        <a:buNone/>
                      </a:pPr>
                      <a:r>
                        <a:rPr lang="en-US" altLang="zh-CN" sz="2400">
                          <a:solidFill>
                            <a:srgbClr val="0000CC"/>
                          </a:solidFill>
                        </a:rPr>
                        <a:t>Q</a:t>
                      </a:r>
                      <a:r>
                        <a:rPr lang="en-US" altLang="zh-CN" sz="2400" baseline="-25000">
                          <a:solidFill>
                            <a:srgbClr val="0000CC"/>
                          </a:solidFill>
                        </a:rPr>
                        <a:t>1</a:t>
                      </a:r>
                      <a:endParaRPr lang="en-US" altLang="zh-CN" sz="2400" baseline="-25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400">
                          <a:solidFill>
                            <a:srgbClr val="0000CC"/>
                          </a:solidFill>
                        </a:rPr>
                        <a:t>O  where  pid = 'p01'</a:t>
                      </a:r>
                      <a:endParaRPr lang="en-US" altLang="zh-CN" sz="24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400">
                          <a:solidFill>
                            <a:srgbClr val="0000CC"/>
                          </a:solidFill>
                        </a:rPr>
                        <a:t>p01</a:t>
                      </a:r>
                      <a:r>
                        <a:rPr lang="zh-CN" altLang="en-US" sz="2400">
                          <a:solidFill>
                            <a:srgbClr val="0000CC"/>
                          </a:solidFill>
                        </a:rPr>
                        <a:t>的所有订单</a:t>
                      </a:r>
                      <a:endParaRPr lang="zh-CN" altLang="en-US" sz="24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lgn="ctr">
                        <a:buNone/>
                      </a:pPr>
                      <a:r>
                        <a:rPr lang="en-US" altLang="zh-CN" sz="2400">
                          <a:solidFill>
                            <a:srgbClr val="0000CC"/>
                          </a:solidFill>
                        </a:rPr>
                        <a:t>Q</a:t>
                      </a:r>
                      <a:r>
                        <a:rPr lang="en-US" altLang="zh-CN" sz="2400" baseline="-25000">
                          <a:solidFill>
                            <a:srgbClr val="0000CC"/>
                          </a:solidFill>
                        </a:rPr>
                        <a:t>2</a:t>
                      </a:r>
                      <a:endParaRPr lang="en-US" altLang="zh-CN" sz="2400" baseline="-25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400">
                          <a:solidFill>
                            <a:srgbClr val="0000CC"/>
                          </a:solidFill>
                          <a:sym typeface="+mn-ea"/>
                        </a:rPr>
                        <a:t>O  where  pid = 'p02'</a:t>
                      </a:r>
                      <a:endParaRPr lang="en-US" altLang="zh-CN" sz="2400">
                        <a:solidFill>
                          <a:srgbClr val="0000C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400">
                          <a:solidFill>
                            <a:srgbClr val="0000CC"/>
                          </a:solidFill>
                          <a:sym typeface="+mn-ea"/>
                        </a:rPr>
                        <a:t>p02</a:t>
                      </a:r>
                      <a:r>
                        <a:rPr lang="zh-CN" altLang="en-US" sz="2400">
                          <a:solidFill>
                            <a:srgbClr val="0000CC"/>
                          </a:solidFill>
                          <a:sym typeface="+mn-ea"/>
                        </a:rPr>
                        <a:t>的所有订单</a:t>
                      </a:r>
                      <a:endParaRPr lang="zh-CN" altLang="en-US" sz="24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lgn="ctr">
                        <a:buNone/>
                      </a:pPr>
                      <a:r>
                        <a:rPr lang="en-US" altLang="zh-CN" sz="2400">
                          <a:solidFill>
                            <a:srgbClr val="0000CC"/>
                          </a:solidFill>
                        </a:rPr>
                        <a:t>Q</a:t>
                      </a:r>
                      <a:r>
                        <a:rPr lang="en-US" altLang="zh-CN" sz="2400" baseline="-25000">
                          <a:solidFill>
                            <a:srgbClr val="0000CC"/>
                          </a:solidFill>
                        </a:rPr>
                        <a:t>3</a:t>
                      </a:r>
                      <a:endParaRPr lang="en-US" altLang="zh-CN" sz="2400" baseline="-25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400">
                          <a:solidFill>
                            <a:srgbClr val="0000CC"/>
                          </a:solidFill>
                          <a:sym typeface="+mn-ea"/>
                        </a:rPr>
                        <a:t>O  where  pid </a:t>
                      </a:r>
                      <a:r>
                        <a:rPr lang="en-US" altLang="zh-CN" sz="2400">
                          <a:solidFill>
                            <a:srgbClr val="0000CC"/>
                          </a:solidFill>
                          <a:latin typeface="Calibri" panose="020F0502020204030204" charset="0"/>
                          <a:cs typeface="Calibri" panose="020F0502020204030204" charset="0"/>
                          <a:sym typeface="+mn-ea"/>
                        </a:rPr>
                        <a:t>≠</a:t>
                      </a:r>
                      <a:r>
                        <a:rPr lang="en-US" altLang="zh-CN" sz="2400">
                          <a:solidFill>
                            <a:srgbClr val="0000CC"/>
                          </a:solidFill>
                          <a:sym typeface="+mn-ea"/>
                        </a:rPr>
                        <a:t> 'p01' and pid </a:t>
                      </a:r>
                      <a:r>
                        <a:rPr lang="en-US" altLang="zh-CN" sz="2400">
                          <a:solidFill>
                            <a:srgbClr val="0000CC"/>
                          </a:solidFill>
                          <a:latin typeface="Calibri" panose="020F0502020204030204" charset="0"/>
                          <a:cs typeface="Calibri" panose="020F0502020204030204" charset="0"/>
                          <a:sym typeface="+mn-ea"/>
                        </a:rPr>
                        <a:t>≠ 'p02'</a:t>
                      </a:r>
                      <a:endParaRPr lang="en-US" altLang="zh-CN" sz="2400">
                        <a:solidFill>
                          <a:srgbClr val="0000CC"/>
                        </a:solidFill>
                        <a:latin typeface="Calibri" panose="020F0502020204030204" charset="0"/>
                        <a:cs typeface="Calibri" panose="020F05020202040302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400">
                          <a:solidFill>
                            <a:srgbClr val="0000CC"/>
                          </a:solidFill>
                        </a:rPr>
                        <a:t>其他商品的所有订单（订单中</a:t>
                      </a:r>
                      <a:r>
                        <a:rPr lang="zh-CN" altLang="en-US" sz="2400">
                          <a:solidFill>
                            <a:srgbClr val="0000CC"/>
                          </a:solidFill>
                        </a:rPr>
                        <a:t>的商品既不是</a:t>
                      </a:r>
                      <a:r>
                        <a:rPr lang="en-US" altLang="zh-CN" sz="2400">
                          <a:solidFill>
                            <a:srgbClr val="0000CC"/>
                          </a:solidFill>
                        </a:rPr>
                        <a:t>p01</a:t>
                      </a:r>
                      <a:r>
                        <a:rPr lang="zh-CN" altLang="en-US" sz="2400">
                          <a:solidFill>
                            <a:srgbClr val="0000CC"/>
                          </a:solidFill>
                        </a:rPr>
                        <a:t>也不是</a:t>
                      </a:r>
                      <a:r>
                        <a:rPr lang="en-US" altLang="zh-CN" sz="2400">
                          <a:solidFill>
                            <a:srgbClr val="0000CC"/>
                          </a:solidFill>
                        </a:rPr>
                        <a:t>p02</a:t>
                      </a:r>
                      <a:r>
                        <a:rPr lang="zh-CN" altLang="en-US" sz="2400">
                          <a:solidFill>
                            <a:srgbClr val="0000CC"/>
                          </a:solidFill>
                        </a:rPr>
                        <a:t>）</a:t>
                      </a:r>
                      <a:endParaRPr lang="zh-CN" altLang="en-US" sz="24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19" name="文本框 18"/>
          <p:cNvSpPr txBox="1"/>
          <p:nvPr/>
        </p:nvSpPr>
        <p:spPr>
          <a:xfrm>
            <a:off x="450850" y="4287520"/>
            <a:ext cx="7538720" cy="1198880"/>
          </a:xfrm>
          <a:prstGeom prst="rect">
            <a:avLst/>
          </a:prstGeom>
          <a:noFill/>
        </p:spPr>
        <p:txBody>
          <a:bodyPr wrap="square" rtlCol="0">
            <a:spAutoFit/>
          </a:bodyPr>
          <a:p>
            <a:pPr marL="457200" indent="-457200">
              <a:buFont typeface="+mj-ea"/>
              <a:buAutoNum type="circleNumDbPlain"/>
            </a:pPr>
            <a:r>
              <a:rPr lang="zh-CN" altLang="en-US" sz="2400" b="1">
                <a:solidFill>
                  <a:srgbClr val="0000CC"/>
                </a:solidFill>
              </a:rPr>
              <a:t>这三个查询的结果集之间互不相交！</a:t>
            </a:r>
            <a:endParaRPr lang="zh-CN" altLang="en-US" sz="2400" b="1">
              <a:solidFill>
                <a:srgbClr val="0000CC"/>
              </a:solidFill>
            </a:endParaRPr>
          </a:p>
          <a:p>
            <a:pPr marL="742950" lvl="1" indent="-285750">
              <a:buFont typeface="Arial" panose="020B0604020202020204" pitchFamily="34" charset="0"/>
              <a:buChar char="•"/>
            </a:pPr>
            <a:endParaRPr lang="zh-CN" altLang="en-US" sz="2400" b="1">
              <a:solidFill>
                <a:srgbClr val="0000CC"/>
              </a:solidFill>
            </a:endParaRPr>
          </a:p>
          <a:p>
            <a:pPr marL="457200" indent="-457200">
              <a:buFont typeface="+mj-ea"/>
              <a:buAutoNum type="circleNumDbPlain"/>
            </a:pPr>
            <a:r>
              <a:rPr lang="zh-CN" altLang="en-US" sz="2400" b="1">
                <a:solidFill>
                  <a:srgbClr val="0000CC"/>
                </a:solidFill>
              </a:rPr>
              <a:t>它们合并在一起构成所有订单的集合，即：</a:t>
            </a:r>
            <a:endParaRPr lang="en-US" altLang="zh-CN" sz="2400" b="1">
              <a:solidFill>
                <a:srgbClr val="0000CC"/>
              </a:solidFill>
              <a:latin typeface="Calibri" panose="020F0502020204030204" charset="0"/>
              <a:cs typeface="Calibri" panose="020F0502020204030204" charset="0"/>
            </a:endParaRPr>
          </a:p>
        </p:txBody>
      </p:sp>
      <p:graphicFrame>
        <p:nvGraphicFramePr>
          <p:cNvPr id="20" name="对象 19">
            <a:hlinkClick r:id="" action="ppaction://ole?verb="/>
          </p:cNvPr>
          <p:cNvGraphicFramePr>
            <a:graphicFrameLocks noChangeAspect="1"/>
          </p:cNvGraphicFramePr>
          <p:nvPr/>
        </p:nvGraphicFramePr>
        <p:xfrm>
          <a:off x="1036955" y="5415915"/>
          <a:ext cx="3192000" cy="504000"/>
        </p:xfrm>
        <a:graphic>
          <a:graphicData uri="http://schemas.openxmlformats.org/presentationml/2006/ole">
            <mc:AlternateContent xmlns:mc="http://schemas.openxmlformats.org/markup-compatibility/2006">
              <mc:Choice xmlns:v="urn:schemas-microsoft-com:vml" Requires="v">
                <p:oleObj spid="_x0000_s1025" name="" r:id="rId2" imgW="1447800" imgH="228600" progId="Equation.KSEE3">
                  <p:embed/>
                </p:oleObj>
              </mc:Choice>
              <mc:Fallback>
                <p:oleObj name="" r:id="rId2" imgW="1447800" imgH="228600" progId="Equation.KSEE3">
                  <p:embed/>
                  <p:pic>
                    <p:nvPicPr>
                      <p:cNvPr id="0" name="图片 1024"/>
                      <p:cNvPicPr/>
                      <p:nvPr/>
                    </p:nvPicPr>
                    <p:blipFill>
                      <a:blip r:embed="rId3"/>
                      <a:stretch>
                        <a:fillRect/>
                      </a:stretch>
                    </p:blipFill>
                    <p:spPr>
                      <a:xfrm>
                        <a:off x="1036955" y="5415915"/>
                        <a:ext cx="3192000" cy="504000"/>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 4"/>
          <p:cNvSpPr/>
          <p:nvPr/>
        </p:nvSpPr>
        <p:spPr>
          <a:xfrm>
            <a:off x="360045" y="111125"/>
            <a:ext cx="9291955" cy="835025"/>
          </a:xfrm>
          <a:prstGeom prst="rect">
            <a:avLst/>
          </a:prstGeom>
          <a:noFill/>
          <a:ln w="9525">
            <a:noFill/>
          </a:ln>
        </p:spPr>
        <p:txBody>
          <a:bodyPr wrap="square" anchor="t">
            <a:spAutoFit/>
          </a:bodyPr>
          <a:p>
            <a:pPr lvl="0" indent="0">
              <a:lnSpc>
                <a:spcPct val="110000"/>
              </a:lnSpc>
              <a:spcBef>
                <a:spcPct val="20000"/>
              </a:spcBef>
              <a:buClr>
                <a:srgbClr val="0000CC"/>
              </a:buClr>
              <a:buFont typeface="+mj-lt"/>
              <a:buNone/>
            </a:pPr>
            <a:r>
              <a:rPr lang="zh-CN" altLang="en-US" sz="2200" b="1" dirty="0">
                <a:solidFill>
                  <a:srgbClr val="0000CC"/>
                </a:solidFill>
                <a:latin typeface="Times New Roman" panose="02020603050405020304" pitchFamily="18" charset="0"/>
                <a:ea typeface="Times New Roman" panose="02020603050405020304" pitchFamily="18" charset="0"/>
              </a:rPr>
              <a:t>在前述</a:t>
            </a:r>
            <a:r>
              <a:rPr lang="en-US" altLang="zh-CN" sz="2200" b="1" dirty="0">
                <a:solidFill>
                  <a:srgbClr val="0000CC"/>
                </a:solidFill>
                <a:latin typeface="Times New Roman" panose="02020603050405020304" pitchFamily="18" charset="0"/>
                <a:ea typeface="Times New Roman" panose="02020603050405020304" pitchFamily="18" charset="0"/>
              </a:rPr>
              <a:t>Q1,Q2,Q3</a:t>
            </a:r>
            <a:r>
              <a:rPr lang="zh-CN" altLang="en-US" sz="2200" b="1" dirty="0">
                <a:solidFill>
                  <a:srgbClr val="0000CC"/>
                </a:solidFill>
                <a:latin typeface="Times New Roman" panose="02020603050405020304" pitchFamily="18" charset="0"/>
                <a:ea typeface="Times New Roman" panose="02020603050405020304" pitchFamily="18" charset="0"/>
              </a:rPr>
              <a:t>的结果集加上对客户编号</a:t>
            </a:r>
            <a:r>
              <a:rPr lang="en-US" altLang="zh-CN" sz="2200" b="1" dirty="0">
                <a:solidFill>
                  <a:srgbClr val="0000CC"/>
                </a:solidFill>
                <a:latin typeface="Times New Roman" panose="02020603050405020304" pitchFamily="18" charset="0"/>
                <a:ea typeface="Times New Roman" panose="02020603050405020304" pitchFamily="18" charset="0"/>
              </a:rPr>
              <a:t>(cid)</a:t>
            </a:r>
            <a:r>
              <a:rPr lang="zh-CN" altLang="en-US" sz="2200" b="1" dirty="0">
                <a:solidFill>
                  <a:srgbClr val="0000CC"/>
                </a:solidFill>
                <a:latin typeface="Times New Roman" panose="02020603050405020304" pitchFamily="18" charset="0"/>
                <a:ea typeface="Times New Roman" panose="02020603050405020304" pitchFamily="18" charset="0"/>
              </a:rPr>
              <a:t>的投影后，其结果集的相互关系则发生了翻天覆地的变化！</a:t>
            </a:r>
            <a:r>
              <a:rPr lang="zh-CN" altLang="en-US" sz="2200" b="1" dirty="0">
                <a:solidFill>
                  <a:srgbClr val="FF0000"/>
                </a:solidFill>
                <a:latin typeface="Times New Roman" panose="02020603050405020304" pitchFamily="18" charset="0"/>
                <a:ea typeface="Times New Roman" panose="02020603050405020304" pitchFamily="18" charset="0"/>
              </a:rPr>
              <a:t>分析如下：</a:t>
            </a:r>
            <a:endParaRPr lang="zh-CN" altLang="en-US" sz="2200" b="1" dirty="0">
              <a:solidFill>
                <a:srgbClr val="FF0000"/>
              </a:solidFill>
              <a:latin typeface="Times New Roman" panose="02020603050405020304" pitchFamily="18" charset="0"/>
              <a:ea typeface="Times New Roman" panose="02020603050405020304" pitchFamily="18" charset="0"/>
            </a:endParaRPr>
          </a:p>
        </p:txBody>
      </p:sp>
      <p:graphicFrame>
        <p:nvGraphicFramePr>
          <p:cNvPr id="14" name="表格 13"/>
          <p:cNvGraphicFramePr/>
          <p:nvPr>
            <p:custDataLst>
              <p:tags r:id="rId1"/>
            </p:custDataLst>
          </p:nvPr>
        </p:nvGraphicFramePr>
        <p:xfrm>
          <a:off x="1012825" y="999490"/>
          <a:ext cx="10523220" cy="1828800"/>
        </p:xfrm>
        <a:graphic>
          <a:graphicData uri="http://schemas.openxmlformats.org/drawingml/2006/table">
            <a:tbl>
              <a:tblPr firstRow="1" bandRow="1">
                <a:tableStyleId>{5C22544A-7EE6-4342-B048-85BDC9FD1C3A}</a:tableStyleId>
              </a:tblPr>
              <a:tblGrid>
                <a:gridCol w="579120"/>
                <a:gridCol w="5765800"/>
                <a:gridCol w="4178300"/>
              </a:tblGrid>
              <a:tr h="457200">
                <a:tc>
                  <a:txBody>
                    <a:bodyPr/>
                    <a:p>
                      <a:pPr algn="ctr">
                        <a:buNone/>
                      </a:pPr>
                      <a:endParaRPr lang="zh-CN" altLang="en-US" sz="2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2000">
                          <a:solidFill>
                            <a:srgbClr val="0000CC"/>
                          </a:solidFill>
                        </a:rPr>
                        <a:t>查询表达式</a:t>
                      </a:r>
                      <a:endParaRPr lang="zh-CN" altLang="en-US" sz="2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2000">
                          <a:solidFill>
                            <a:srgbClr val="0000CC"/>
                          </a:solidFill>
                        </a:rPr>
                        <a:t>结果集的语义</a:t>
                      </a:r>
                      <a:endParaRPr lang="zh-CN" altLang="en-US" sz="2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lgn="ctr">
                        <a:buNone/>
                      </a:pPr>
                      <a:r>
                        <a:rPr lang="en-US" altLang="zh-CN" sz="2000">
                          <a:solidFill>
                            <a:srgbClr val="0000CC"/>
                          </a:solidFill>
                        </a:rPr>
                        <a:t>Q</a:t>
                      </a:r>
                      <a:r>
                        <a:rPr lang="en-US" altLang="zh-CN" sz="2000" baseline="-25000">
                          <a:solidFill>
                            <a:srgbClr val="0000CC"/>
                          </a:solidFill>
                        </a:rPr>
                        <a:t>4</a:t>
                      </a:r>
                      <a:endParaRPr lang="en-US" altLang="zh-CN" sz="2000" baseline="-25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a:solidFill>
                            <a:srgbClr val="0000CC"/>
                          </a:solidFill>
                        </a:rPr>
                        <a:t> ( O  where  pid = 'p01' ) [cid]</a:t>
                      </a:r>
                      <a:endParaRPr lang="en-US" altLang="zh-CN" sz="2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000">
                          <a:solidFill>
                            <a:srgbClr val="0000CC"/>
                          </a:solidFill>
                        </a:rPr>
                        <a:t>购买过</a:t>
                      </a:r>
                      <a:r>
                        <a:rPr lang="en-US" altLang="zh-CN" sz="2000">
                          <a:solidFill>
                            <a:srgbClr val="0000CC"/>
                          </a:solidFill>
                        </a:rPr>
                        <a:t>p01</a:t>
                      </a:r>
                      <a:r>
                        <a:rPr lang="zh-CN" altLang="en-US" sz="2000">
                          <a:solidFill>
                            <a:srgbClr val="0000CC"/>
                          </a:solidFill>
                        </a:rPr>
                        <a:t>号商品的客户编号</a:t>
                      </a:r>
                      <a:endParaRPr lang="zh-CN" altLang="en-US" sz="2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lgn="ctr">
                        <a:buNone/>
                      </a:pPr>
                      <a:r>
                        <a:rPr lang="en-US" altLang="zh-CN" sz="2000">
                          <a:solidFill>
                            <a:srgbClr val="0000CC"/>
                          </a:solidFill>
                        </a:rPr>
                        <a:t>Q</a:t>
                      </a:r>
                      <a:r>
                        <a:rPr lang="en-US" altLang="zh-CN" sz="2000" baseline="-25000">
                          <a:solidFill>
                            <a:srgbClr val="0000CC"/>
                          </a:solidFill>
                        </a:rPr>
                        <a:t>5</a:t>
                      </a:r>
                      <a:endParaRPr lang="en-US" altLang="zh-CN" sz="2000" baseline="-25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a:solidFill>
                            <a:srgbClr val="0000CC"/>
                          </a:solidFill>
                          <a:sym typeface="+mn-ea"/>
                        </a:rPr>
                        <a:t> ( O  where  pid = 'p02'</a:t>
                      </a:r>
                      <a:r>
                        <a:rPr lang="en-US" altLang="zh-CN" sz="2000">
                          <a:solidFill>
                            <a:srgbClr val="0000CC"/>
                          </a:solidFill>
                          <a:sym typeface="+mn-ea"/>
                        </a:rPr>
                        <a:t> ) [cid]</a:t>
                      </a:r>
                      <a:endParaRPr lang="en-US" altLang="zh-CN" sz="2000">
                        <a:solidFill>
                          <a:srgbClr val="0000C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000">
                          <a:solidFill>
                            <a:srgbClr val="0000CC"/>
                          </a:solidFill>
                          <a:sym typeface="+mn-ea"/>
                        </a:rPr>
                        <a:t>购买过</a:t>
                      </a:r>
                      <a:r>
                        <a:rPr lang="en-US" altLang="zh-CN" sz="2000">
                          <a:solidFill>
                            <a:srgbClr val="0000CC"/>
                          </a:solidFill>
                          <a:sym typeface="+mn-ea"/>
                        </a:rPr>
                        <a:t>p02</a:t>
                      </a:r>
                      <a:r>
                        <a:rPr lang="zh-CN" altLang="en-US" sz="2000">
                          <a:solidFill>
                            <a:srgbClr val="0000CC"/>
                          </a:solidFill>
                          <a:sym typeface="+mn-ea"/>
                        </a:rPr>
                        <a:t>号商品的客户编号</a:t>
                      </a:r>
                      <a:endParaRPr lang="zh-CN" altLang="en-US" sz="2000">
                        <a:solidFill>
                          <a:srgbClr val="0000C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lgn="ctr">
                        <a:buNone/>
                      </a:pPr>
                      <a:r>
                        <a:rPr lang="en-US" altLang="zh-CN" sz="2000">
                          <a:solidFill>
                            <a:srgbClr val="0000CC"/>
                          </a:solidFill>
                        </a:rPr>
                        <a:t>Q</a:t>
                      </a:r>
                      <a:r>
                        <a:rPr lang="en-US" altLang="zh-CN" sz="2000" baseline="-25000">
                          <a:solidFill>
                            <a:srgbClr val="0000CC"/>
                          </a:solidFill>
                        </a:rPr>
                        <a:t>6</a:t>
                      </a:r>
                      <a:endParaRPr lang="en-US" altLang="zh-CN" sz="2000" baseline="-25000">
                        <a:solidFill>
                          <a:srgbClr val="0000C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a:solidFill>
                            <a:srgbClr val="0000CC"/>
                          </a:solidFill>
                          <a:sym typeface="+mn-ea"/>
                        </a:rPr>
                        <a:t> ( O  where  pid </a:t>
                      </a:r>
                      <a:r>
                        <a:rPr lang="en-US" altLang="zh-CN" sz="2000">
                          <a:solidFill>
                            <a:srgbClr val="0000CC"/>
                          </a:solidFill>
                          <a:latin typeface="Calibri" panose="020F0502020204030204" charset="0"/>
                          <a:cs typeface="Calibri" panose="020F0502020204030204" charset="0"/>
                          <a:sym typeface="+mn-ea"/>
                        </a:rPr>
                        <a:t>≠</a:t>
                      </a:r>
                      <a:r>
                        <a:rPr lang="en-US" altLang="zh-CN" sz="2000">
                          <a:solidFill>
                            <a:srgbClr val="0000CC"/>
                          </a:solidFill>
                          <a:sym typeface="+mn-ea"/>
                        </a:rPr>
                        <a:t> 'p01' and pid </a:t>
                      </a:r>
                      <a:r>
                        <a:rPr lang="en-US" altLang="zh-CN" sz="2000">
                          <a:solidFill>
                            <a:srgbClr val="0000CC"/>
                          </a:solidFill>
                          <a:latin typeface="Calibri" panose="020F0502020204030204" charset="0"/>
                          <a:cs typeface="Calibri" panose="020F0502020204030204" charset="0"/>
                          <a:sym typeface="+mn-ea"/>
                        </a:rPr>
                        <a:t>≠ 'p02'</a:t>
                      </a:r>
                      <a:r>
                        <a:rPr lang="en-US" altLang="zh-CN" sz="2000">
                          <a:solidFill>
                            <a:srgbClr val="0000CC"/>
                          </a:solidFill>
                          <a:sym typeface="+mn-ea"/>
                        </a:rPr>
                        <a:t> ) [cid]</a:t>
                      </a:r>
                      <a:endParaRPr lang="en-US" altLang="zh-CN" sz="2000">
                        <a:solidFill>
                          <a:srgbClr val="0000CC"/>
                        </a:solidFill>
                        <a:latin typeface="Calibri" panose="020F0502020204030204" charset="0"/>
                        <a:cs typeface="Calibri" panose="020F05020202040302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000">
                          <a:solidFill>
                            <a:srgbClr val="0000CC"/>
                          </a:solidFill>
                          <a:sym typeface="+mn-ea"/>
                        </a:rPr>
                        <a:t>购买过其他商品的客户编号</a:t>
                      </a:r>
                      <a:endParaRPr lang="zh-CN" altLang="en-US" sz="2000">
                        <a:solidFill>
                          <a:srgbClr val="0000C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19" name="文本框 18"/>
          <p:cNvSpPr txBox="1"/>
          <p:nvPr/>
        </p:nvSpPr>
        <p:spPr>
          <a:xfrm>
            <a:off x="185420" y="2767330"/>
            <a:ext cx="11891645" cy="1014730"/>
          </a:xfrm>
          <a:prstGeom prst="rect">
            <a:avLst/>
          </a:prstGeom>
          <a:noFill/>
        </p:spPr>
        <p:txBody>
          <a:bodyPr wrap="square" rtlCol="0">
            <a:spAutoFit/>
          </a:bodyPr>
          <a:p>
            <a:pPr marL="332105" indent="-332105">
              <a:buFont typeface="Wingdings" panose="05000000000000000000" charset="0"/>
              <a:buChar char="Ø"/>
            </a:pPr>
            <a:r>
              <a:rPr lang="zh-CN" altLang="en-US" sz="2000" b="1">
                <a:solidFill>
                  <a:srgbClr val="0000CC"/>
                </a:solidFill>
              </a:rPr>
              <a:t>为了说明 </a:t>
            </a:r>
            <a:r>
              <a:rPr lang="en-US" altLang="zh-CN" sz="2000" b="1">
                <a:solidFill>
                  <a:srgbClr val="0000CC"/>
                </a:solidFill>
              </a:rPr>
              <a:t>Q</a:t>
            </a:r>
            <a:r>
              <a:rPr lang="en-US" altLang="zh-CN" sz="2000" b="1" baseline="-25000">
                <a:solidFill>
                  <a:srgbClr val="0000CC"/>
                </a:solidFill>
              </a:rPr>
              <a:t>4</a:t>
            </a:r>
            <a:r>
              <a:rPr lang="en-US" altLang="zh-CN" sz="2000" b="1">
                <a:solidFill>
                  <a:srgbClr val="0000CC"/>
                </a:solidFill>
              </a:rPr>
              <a:t>, Q</a:t>
            </a:r>
            <a:r>
              <a:rPr lang="en-US" altLang="zh-CN" sz="2000" b="1" baseline="-25000">
                <a:solidFill>
                  <a:srgbClr val="0000CC"/>
                </a:solidFill>
              </a:rPr>
              <a:t>5</a:t>
            </a:r>
            <a:r>
              <a:rPr lang="en-US" altLang="zh-CN" sz="2000" b="1">
                <a:solidFill>
                  <a:srgbClr val="0000CC"/>
                </a:solidFill>
              </a:rPr>
              <a:t>, Q</a:t>
            </a:r>
            <a:r>
              <a:rPr lang="en-US" altLang="zh-CN" sz="2000" b="1" baseline="-25000">
                <a:solidFill>
                  <a:srgbClr val="0000CC"/>
                </a:solidFill>
              </a:rPr>
              <a:t>6</a:t>
            </a:r>
            <a:r>
              <a:rPr lang="en-US" altLang="zh-CN" sz="2000" b="1">
                <a:solidFill>
                  <a:srgbClr val="0000CC"/>
                </a:solidFill>
              </a:rPr>
              <a:t> </a:t>
            </a:r>
            <a:r>
              <a:rPr lang="zh-CN" altLang="en-US" sz="2000" b="1">
                <a:solidFill>
                  <a:srgbClr val="0000CC"/>
                </a:solidFill>
              </a:rPr>
              <a:t>这三个查询结果集之间的关系，我们将全部商品划分为</a:t>
            </a:r>
            <a:r>
              <a:rPr lang="en-US" altLang="zh-CN" sz="2000" b="1">
                <a:solidFill>
                  <a:srgbClr val="0000CC"/>
                </a:solidFill>
              </a:rPr>
              <a:t>“p01</a:t>
            </a:r>
            <a:r>
              <a:rPr lang="zh-CN" altLang="en-US" sz="2000" b="1">
                <a:solidFill>
                  <a:srgbClr val="0000CC"/>
                </a:solidFill>
              </a:rPr>
              <a:t>，</a:t>
            </a:r>
            <a:r>
              <a:rPr lang="en-US" altLang="zh-CN" sz="2000" b="1">
                <a:solidFill>
                  <a:srgbClr val="0000CC"/>
                </a:solidFill>
              </a:rPr>
              <a:t>p02</a:t>
            </a:r>
            <a:r>
              <a:rPr lang="zh-CN" altLang="en-US" sz="2000" b="1">
                <a:solidFill>
                  <a:srgbClr val="0000CC"/>
                </a:solidFill>
              </a:rPr>
              <a:t>，其他</a:t>
            </a:r>
            <a:r>
              <a:rPr lang="en-US" altLang="zh-CN" sz="2000" b="1">
                <a:solidFill>
                  <a:srgbClr val="0000CC"/>
                </a:solidFill>
              </a:rPr>
              <a:t>”</a:t>
            </a:r>
            <a:r>
              <a:rPr lang="zh-CN" altLang="en-US" sz="2000" b="1">
                <a:solidFill>
                  <a:srgbClr val="0000CC"/>
                </a:solidFill>
              </a:rPr>
              <a:t>这三类，然后再根据客户对这三类商品的购买情况，将所有客户划分为互不相交的</a:t>
            </a:r>
            <a:r>
              <a:rPr lang="en-US" altLang="zh-CN" sz="2000" b="1">
                <a:solidFill>
                  <a:srgbClr val="0000CC"/>
                </a:solidFill>
              </a:rPr>
              <a:t>8</a:t>
            </a:r>
            <a:r>
              <a:rPr lang="zh-CN" altLang="en-US" sz="2000" b="1">
                <a:solidFill>
                  <a:srgbClr val="0000CC"/>
                </a:solidFill>
              </a:rPr>
              <a:t>个子集</a:t>
            </a:r>
            <a:r>
              <a:rPr lang="en-US" altLang="zh-CN" sz="2000" b="1">
                <a:solidFill>
                  <a:srgbClr val="0000CC"/>
                </a:solidFill>
              </a:rPr>
              <a:t>(</a:t>
            </a:r>
            <a:r>
              <a:rPr lang="zh-CN" altLang="en-US" sz="2000" b="1">
                <a:solidFill>
                  <a:srgbClr val="0000CC"/>
                </a:solidFill>
              </a:rPr>
              <a:t>只购买过其中一类</a:t>
            </a:r>
            <a:r>
              <a:rPr lang="en-US" altLang="zh-CN" sz="2000" b="1">
                <a:solidFill>
                  <a:srgbClr val="0000CC"/>
                </a:solidFill>
              </a:rPr>
              <a:t>/</a:t>
            </a:r>
            <a:r>
              <a:rPr lang="zh-CN" altLang="en-US" sz="2000" b="1">
                <a:solidFill>
                  <a:srgbClr val="0000CC"/>
                </a:solidFill>
              </a:rPr>
              <a:t>只购买过其中两类</a:t>
            </a:r>
            <a:r>
              <a:rPr lang="en-US" altLang="zh-CN" sz="2000" b="1">
                <a:solidFill>
                  <a:srgbClr val="0000CC"/>
                </a:solidFill>
              </a:rPr>
              <a:t>/</a:t>
            </a:r>
            <a:r>
              <a:rPr lang="zh-CN" altLang="en-US" sz="2000" b="1">
                <a:solidFill>
                  <a:srgbClr val="0000CC"/>
                </a:solidFill>
              </a:rPr>
              <a:t>三类商品都购买过</a:t>
            </a:r>
            <a:r>
              <a:rPr lang="en-US" altLang="zh-CN" sz="2000" b="1">
                <a:solidFill>
                  <a:srgbClr val="0000CC"/>
                </a:solidFill>
              </a:rPr>
              <a:t>/</a:t>
            </a:r>
            <a:r>
              <a:rPr lang="zh-CN" altLang="en-US" sz="2000" b="1">
                <a:solidFill>
                  <a:srgbClr val="0000CC"/>
                </a:solidFill>
                <a:sym typeface="+mn-ea"/>
              </a:rPr>
              <a:t>三类</a:t>
            </a:r>
            <a:r>
              <a:rPr lang="zh-CN" altLang="en-US" sz="2000" b="1">
                <a:solidFill>
                  <a:srgbClr val="0000CC"/>
                </a:solidFill>
              </a:rPr>
              <a:t>商品都没有购买过</a:t>
            </a:r>
            <a:r>
              <a:rPr lang="en-US" altLang="zh-CN" sz="2000" b="1">
                <a:solidFill>
                  <a:srgbClr val="0000CC"/>
                </a:solidFill>
              </a:rPr>
              <a:t>)</a:t>
            </a:r>
            <a:r>
              <a:rPr lang="zh-CN" altLang="en-US" sz="2000" b="1">
                <a:solidFill>
                  <a:srgbClr val="0000CC"/>
                </a:solidFill>
              </a:rPr>
              <a:t>：</a:t>
            </a:r>
            <a:endParaRPr lang="en-US" altLang="zh-CN" sz="2000" b="1">
              <a:solidFill>
                <a:srgbClr val="0000CC"/>
              </a:solidFill>
              <a:latin typeface="Calibri" panose="020F0502020204030204" charset="0"/>
              <a:cs typeface="Calibri" panose="020F0502020204030204" charset="0"/>
            </a:endParaRPr>
          </a:p>
        </p:txBody>
      </p:sp>
      <p:sp>
        <p:nvSpPr>
          <p:cNvPr id="5" name="文本框 4"/>
          <p:cNvSpPr txBox="1"/>
          <p:nvPr/>
        </p:nvSpPr>
        <p:spPr>
          <a:xfrm>
            <a:off x="470535" y="3794125"/>
            <a:ext cx="5551170" cy="1938020"/>
          </a:xfrm>
          <a:prstGeom prst="rect">
            <a:avLst/>
          </a:prstGeom>
          <a:noFill/>
          <a:ln>
            <a:solidFill>
              <a:schemeClr val="tx1"/>
            </a:solidFill>
          </a:ln>
        </p:spPr>
        <p:txBody>
          <a:bodyPr wrap="square" rtlCol="0">
            <a:spAutoFit/>
          </a:bodyPr>
          <a:p>
            <a:pPr marL="526415" lvl="0" indent="-526415">
              <a:buFont typeface="+mj-ea"/>
              <a:buNone/>
            </a:pPr>
            <a:r>
              <a:rPr lang="en-US" altLang="zh-CN" sz="2000" b="1">
                <a:solidFill>
                  <a:srgbClr val="0000CC"/>
                </a:solidFill>
              </a:rPr>
              <a:t>S</a:t>
            </a:r>
            <a:r>
              <a:rPr lang="en-US" altLang="zh-CN" sz="2000" b="1" baseline="-25000">
                <a:solidFill>
                  <a:srgbClr val="0000CC"/>
                </a:solidFill>
              </a:rPr>
              <a:t>1</a:t>
            </a:r>
            <a:r>
              <a:rPr lang="zh-CN" altLang="en-US" sz="2000" b="1">
                <a:solidFill>
                  <a:srgbClr val="0000CC"/>
                </a:solidFill>
              </a:rPr>
              <a:t>：只购买过</a:t>
            </a:r>
            <a:r>
              <a:rPr lang="en-US" altLang="zh-CN" sz="2000" b="1">
                <a:solidFill>
                  <a:srgbClr val="0000CC"/>
                </a:solidFill>
              </a:rPr>
              <a:t>p01</a:t>
            </a:r>
            <a:r>
              <a:rPr lang="zh-CN" altLang="en-US" sz="2000" b="1">
                <a:solidFill>
                  <a:srgbClr val="0000CC"/>
                </a:solidFill>
              </a:rPr>
              <a:t>这一种商品</a:t>
            </a:r>
            <a:endParaRPr lang="zh-CN" altLang="en-US" sz="2000" b="1">
              <a:solidFill>
                <a:srgbClr val="0000CC"/>
              </a:solidFill>
            </a:endParaRPr>
          </a:p>
          <a:p>
            <a:pPr marL="526415" lvl="0" indent="-526415">
              <a:buFont typeface="+mj-ea"/>
              <a:buNone/>
            </a:pPr>
            <a:r>
              <a:rPr lang="en-US" altLang="zh-CN" sz="2000" b="1">
                <a:solidFill>
                  <a:srgbClr val="0000CC"/>
                </a:solidFill>
                <a:sym typeface="+mn-ea"/>
              </a:rPr>
              <a:t>S</a:t>
            </a:r>
            <a:r>
              <a:rPr lang="en-US" altLang="zh-CN" sz="2000" b="1" baseline="-25000">
                <a:solidFill>
                  <a:srgbClr val="0000CC"/>
                </a:solidFill>
                <a:sym typeface="+mn-ea"/>
              </a:rPr>
              <a:t>2</a:t>
            </a:r>
            <a:r>
              <a:rPr lang="zh-CN" altLang="en-US" sz="2000" b="1">
                <a:solidFill>
                  <a:srgbClr val="0000CC"/>
                </a:solidFill>
                <a:sym typeface="+mn-ea"/>
              </a:rPr>
              <a:t>：只购买过</a:t>
            </a:r>
            <a:r>
              <a:rPr lang="en-US" altLang="zh-CN" sz="2000" b="1">
                <a:solidFill>
                  <a:srgbClr val="0000CC"/>
                </a:solidFill>
                <a:sym typeface="+mn-ea"/>
              </a:rPr>
              <a:t>p02</a:t>
            </a:r>
            <a:r>
              <a:rPr lang="zh-CN" altLang="en-US" sz="2000" b="1">
                <a:solidFill>
                  <a:srgbClr val="0000CC"/>
                </a:solidFill>
                <a:sym typeface="+mn-ea"/>
              </a:rPr>
              <a:t>这一种商品</a:t>
            </a:r>
            <a:endParaRPr lang="zh-CN" altLang="en-US" sz="2000" b="1">
              <a:solidFill>
                <a:srgbClr val="0000CC"/>
              </a:solidFill>
              <a:sym typeface="+mn-ea"/>
            </a:endParaRPr>
          </a:p>
          <a:p>
            <a:pPr marL="526415" lvl="0" indent="-526415">
              <a:buFont typeface="+mj-ea"/>
              <a:buNone/>
            </a:pPr>
            <a:r>
              <a:rPr lang="en-US" altLang="zh-CN" sz="2000" b="1">
                <a:solidFill>
                  <a:srgbClr val="0000CC"/>
                </a:solidFill>
                <a:sym typeface="+mn-ea"/>
              </a:rPr>
              <a:t>S</a:t>
            </a:r>
            <a:r>
              <a:rPr lang="en-US" altLang="zh-CN" sz="2000" b="1" baseline="-25000">
                <a:solidFill>
                  <a:srgbClr val="0000CC"/>
                </a:solidFill>
                <a:sym typeface="+mn-ea"/>
              </a:rPr>
              <a:t>3</a:t>
            </a:r>
            <a:r>
              <a:rPr lang="zh-CN" altLang="en-US" sz="2000" b="1">
                <a:solidFill>
                  <a:srgbClr val="0000CC"/>
                </a:solidFill>
                <a:sym typeface="+mn-ea"/>
              </a:rPr>
              <a:t>：只购买过其他商品（购买过商品，但既没有购买过</a:t>
            </a:r>
            <a:r>
              <a:rPr lang="en-US" altLang="zh-CN" sz="2000" b="1">
                <a:solidFill>
                  <a:srgbClr val="0000CC"/>
                </a:solidFill>
                <a:sym typeface="+mn-ea"/>
              </a:rPr>
              <a:t>p01</a:t>
            </a:r>
            <a:r>
              <a:rPr lang="zh-CN" altLang="en-US" sz="2000" b="1">
                <a:solidFill>
                  <a:srgbClr val="0000CC"/>
                </a:solidFill>
                <a:sym typeface="+mn-ea"/>
              </a:rPr>
              <a:t>也没有购买过</a:t>
            </a:r>
            <a:r>
              <a:rPr lang="en-US" altLang="zh-CN" sz="2000" b="1">
                <a:solidFill>
                  <a:srgbClr val="0000CC"/>
                </a:solidFill>
                <a:sym typeface="+mn-ea"/>
              </a:rPr>
              <a:t>p02</a:t>
            </a:r>
            <a:r>
              <a:rPr lang="zh-CN" altLang="en-US" sz="2000" b="1">
                <a:solidFill>
                  <a:srgbClr val="0000CC"/>
                </a:solidFill>
                <a:sym typeface="+mn-ea"/>
              </a:rPr>
              <a:t>）</a:t>
            </a:r>
            <a:endParaRPr lang="zh-CN" altLang="en-US" sz="2000" b="1">
              <a:solidFill>
                <a:srgbClr val="0000CC"/>
              </a:solidFill>
              <a:sym typeface="+mn-ea"/>
            </a:endParaRPr>
          </a:p>
          <a:p>
            <a:pPr marL="526415" lvl="0" indent="-526415">
              <a:buFont typeface="+mj-ea"/>
              <a:buNone/>
            </a:pPr>
            <a:r>
              <a:rPr lang="en-US" altLang="zh-CN" sz="2000" b="1">
                <a:solidFill>
                  <a:srgbClr val="0000CC"/>
                </a:solidFill>
                <a:sym typeface="+mn-ea"/>
              </a:rPr>
              <a:t>S</a:t>
            </a:r>
            <a:r>
              <a:rPr lang="en-US" altLang="zh-CN" sz="2000" b="1" baseline="-25000">
                <a:solidFill>
                  <a:srgbClr val="0000CC"/>
                </a:solidFill>
                <a:sym typeface="+mn-ea"/>
              </a:rPr>
              <a:t>4</a:t>
            </a:r>
            <a:r>
              <a:rPr lang="zh-CN" altLang="en-US" sz="2000" b="1">
                <a:solidFill>
                  <a:srgbClr val="0000CC"/>
                </a:solidFill>
                <a:sym typeface="+mn-ea"/>
              </a:rPr>
              <a:t>：购买过</a:t>
            </a:r>
            <a:r>
              <a:rPr lang="en-US" altLang="zh-CN" sz="2000" b="1">
                <a:solidFill>
                  <a:srgbClr val="0000CC"/>
                </a:solidFill>
                <a:sym typeface="+mn-ea"/>
              </a:rPr>
              <a:t>p01</a:t>
            </a:r>
            <a:r>
              <a:rPr lang="zh-CN" altLang="en-US" sz="2000" b="1">
                <a:solidFill>
                  <a:srgbClr val="0000CC"/>
                </a:solidFill>
                <a:sym typeface="+mn-ea"/>
              </a:rPr>
              <a:t>和</a:t>
            </a:r>
            <a:r>
              <a:rPr lang="en-US" altLang="zh-CN" sz="2000" b="1">
                <a:solidFill>
                  <a:srgbClr val="0000CC"/>
                </a:solidFill>
                <a:sym typeface="+mn-ea"/>
              </a:rPr>
              <a:t>p02</a:t>
            </a:r>
            <a:r>
              <a:rPr lang="zh-CN" altLang="en-US" sz="2000" b="1">
                <a:solidFill>
                  <a:srgbClr val="0000CC"/>
                </a:solidFill>
                <a:sym typeface="+mn-ea"/>
              </a:rPr>
              <a:t>这两种商品，但没有购买过其他商品</a:t>
            </a:r>
            <a:endParaRPr lang="zh-CN" altLang="en-US" sz="2000" b="1">
              <a:solidFill>
                <a:srgbClr val="0000CC"/>
              </a:solidFill>
              <a:latin typeface="Calibri" panose="020F0502020204030204" charset="0"/>
              <a:cs typeface="Calibri" panose="020F0502020204030204" charset="0"/>
            </a:endParaRPr>
          </a:p>
        </p:txBody>
      </p:sp>
      <p:sp>
        <p:nvSpPr>
          <p:cNvPr id="7" name="文本框 6"/>
          <p:cNvSpPr txBox="1"/>
          <p:nvPr/>
        </p:nvSpPr>
        <p:spPr>
          <a:xfrm>
            <a:off x="6264275" y="3794125"/>
            <a:ext cx="5778500" cy="1938020"/>
          </a:xfrm>
          <a:prstGeom prst="rect">
            <a:avLst/>
          </a:prstGeom>
          <a:noFill/>
          <a:ln>
            <a:solidFill>
              <a:schemeClr val="tx1"/>
            </a:solidFill>
          </a:ln>
        </p:spPr>
        <p:txBody>
          <a:bodyPr wrap="square" rtlCol="0">
            <a:spAutoFit/>
          </a:bodyPr>
          <a:p>
            <a:pPr lvl="0" indent="0">
              <a:buFont typeface="+mj-ea"/>
              <a:buNone/>
            </a:pPr>
            <a:r>
              <a:rPr lang="en-US" altLang="zh-CN" sz="2000" b="1">
                <a:solidFill>
                  <a:srgbClr val="0000CC"/>
                </a:solidFill>
                <a:latin typeface="Calibri" panose="020F0502020204030204" charset="0"/>
                <a:cs typeface="Calibri" panose="020F0502020204030204" charset="0"/>
              </a:rPr>
              <a:t>S</a:t>
            </a:r>
            <a:r>
              <a:rPr lang="en-US" altLang="zh-CN" sz="2000" b="1" baseline="-25000">
                <a:solidFill>
                  <a:srgbClr val="0000CC"/>
                </a:solidFill>
                <a:latin typeface="Calibri" panose="020F0502020204030204" charset="0"/>
                <a:cs typeface="Calibri" panose="020F0502020204030204" charset="0"/>
              </a:rPr>
              <a:t>5</a:t>
            </a:r>
            <a:r>
              <a:rPr lang="zh-CN" altLang="en-US" sz="2000" b="1">
                <a:solidFill>
                  <a:srgbClr val="0000CC"/>
                </a:solidFill>
                <a:latin typeface="Calibri" panose="020F0502020204030204" charset="0"/>
                <a:cs typeface="Calibri" panose="020F0502020204030204" charset="0"/>
              </a:rPr>
              <a:t>：购买过</a:t>
            </a:r>
            <a:r>
              <a:rPr lang="en-US" altLang="zh-CN" sz="2000" b="1">
                <a:solidFill>
                  <a:srgbClr val="0000CC"/>
                </a:solidFill>
                <a:latin typeface="Calibri" panose="020F0502020204030204" charset="0"/>
                <a:cs typeface="Calibri" panose="020F0502020204030204" charset="0"/>
              </a:rPr>
              <a:t>p01</a:t>
            </a:r>
            <a:r>
              <a:rPr lang="zh-CN" altLang="en-US" sz="2000" b="1">
                <a:solidFill>
                  <a:srgbClr val="0000CC"/>
                </a:solidFill>
                <a:latin typeface="Calibri" panose="020F0502020204030204" charset="0"/>
                <a:cs typeface="Calibri" panose="020F0502020204030204" charset="0"/>
              </a:rPr>
              <a:t>和其他商品，但没有购买过</a:t>
            </a:r>
            <a:r>
              <a:rPr lang="en-US" altLang="zh-CN" sz="2000" b="1">
                <a:solidFill>
                  <a:srgbClr val="0000CC"/>
                </a:solidFill>
                <a:latin typeface="Calibri" panose="020F0502020204030204" charset="0"/>
                <a:cs typeface="Calibri" panose="020F0502020204030204" charset="0"/>
              </a:rPr>
              <a:t>p02</a:t>
            </a:r>
            <a:endParaRPr lang="en-US" altLang="zh-CN" sz="2000" b="1">
              <a:solidFill>
                <a:srgbClr val="0000CC"/>
              </a:solidFill>
              <a:latin typeface="Calibri" panose="020F0502020204030204" charset="0"/>
              <a:cs typeface="Calibri" panose="020F0502020204030204" charset="0"/>
            </a:endParaRPr>
          </a:p>
          <a:p>
            <a:pPr lvl="0" indent="0">
              <a:buFont typeface="+mj-ea"/>
              <a:buNone/>
            </a:pPr>
            <a:r>
              <a:rPr lang="en-US" altLang="zh-CN" sz="2000" b="1">
                <a:solidFill>
                  <a:srgbClr val="0000CC"/>
                </a:solidFill>
                <a:latin typeface="Calibri" panose="020F0502020204030204" charset="0"/>
                <a:cs typeface="Calibri" panose="020F0502020204030204" charset="0"/>
                <a:sym typeface="+mn-ea"/>
              </a:rPr>
              <a:t>S</a:t>
            </a:r>
            <a:r>
              <a:rPr lang="en-US" altLang="zh-CN" sz="2000" b="1" baseline="-25000">
                <a:solidFill>
                  <a:srgbClr val="0000CC"/>
                </a:solidFill>
                <a:latin typeface="Calibri" panose="020F0502020204030204" charset="0"/>
                <a:cs typeface="Calibri" panose="020F0502020204030204" charset="0"/>
                <a:sym typeface="+mn-ea"/>
              </a:rPr>
              <a:t>6</a:t>
            </a:r>
            <a:r>
              <a:rPr lang="zh-CN" altLang="en-US" sz="2000" b="1">
                <a:solidFill>
                  <a:srgbClr val="0000CC"/>
                </a:solidFill>
                <a:latin typeface="Calibri" panose="020F0502020204030204" charset="0"/>
                <a:cs typeface="Calibri" panose="020F0502020204030204" charset="0"/>
                <a:sym typeface="+mn-ea"/>
              </a:rPr>
              <a:t>：购买过</a:t>
            </a:r>
            <a:r>
              <a:rPr lang="en-US" altLang="zh-CN" sz="2000" b="1">
                <a:solidFill>
                  <a:srgbClr val="0000CC"/>
                </a:solidFill>
                <a:latin typeface="Calibri" panose="020F0502020204030204" charset="0"/>
                <a:cs typeface="Calibri" panose="020F0502020204030204" charset="0"/>
                <a:sym typeface="+mn-ea"/>
              </a:rPr>
              <a:t>p02</a:t>
            </a:r>
            <a:r>
              <a:rPr lang="zh-CN" altLang="en-US" sz="2000" b="1">
                <a:solidFill>
                  <a:srgbClr val="0000CC"/>
                </a:solidFill>
                <a:latin typeface="Calibri" panose="020F0502020204030204" charset="0"/>
                <a:cs typeface="Calibri" panose="020F0502020204030204" charset="0"/>
                <a:sym typeface="+mn-ea"/>
              </a:rPr>
              <a:t>和其他商品，但没有购买过</a:t>
            </a:r>
            <a:r>
              <a:rPr lang="en-US" altLang="zh-CN" sz="2000" b="1">
                <a:solidFill>
                  <a:srgbClr val="0000CC"/>
                </a:solidFill>
                <a:latin typeface="Calibri" panose="020F0502020204030204" charset="0"/>
                <a:cs typeface="Calibri" panose="020F0502020204030204" charset="0"/>
                <a:sym typeface="+mn-ea"/>
              </a:rPr>
              <a:t>p01</a:t>
            </a:r>
            <a:endParaRPr lang="en-US" altLang="zh-CN" sz="2000" b="1">
              <a:solidFill>
                <a:srgbClr val="0000CC"/>
              </a:solidFill>
              <a:latin typeface="Calibri" panose="020F0502020204030204" charset="0"/>
              <a:cs typeface="Calibri" panose="020F0502020204030204" charset="0"/>
              <a:sym typeface="+mn-ea"/>
            </a:endParaRPr>
          </a:p>
          <a:p>
            <a:pPr marL="507365" lvl="0" indent="-507365">
              <a:buFont typeface="+mj-ea"/>
              <a:buNone/>
            </a:pPr>
            <a:r>
              <a:rPr lang="en-US" altLang="zh-CN" sz="2000" b="1">
                <a:solidFill>
                  <a:srgbClr val="0000CC"/>
                </a:solidFill>
                <a:latin typeface="Calibri" panose="020F0502020204030204" charset="0"/>
                <a:cs typeface="Calibri" panose="020F0502020204030204" charset="0"/>
              </a:rPr>
              <a:t>S</a:t>
            </a:r>
            <a:r>
              <a:rPr lang="en-US" altLang="zh-CN" sz="2000" b="1" baseline="-25000">
                <a:solidFill>
                  <a:srgbClr val="0000CC"/>
                </a:solidFill>
                <a:latin typeface="Calibri" panose="020F0502020204030204" charset="0"/>
                <a:cs typeface="Calibri" panose="020F0502020204030204" charset="0"/>
              </a:rPr>
              <a:t>7</a:t>
            </a:r>
            <a:r>
              <a:rPr lang="zh-CN" altLang="en-US" sz="2000" b="1">
                <a:solidFill>
                  <a:srgbClr val="0000CC"/>
                </a:solidFill>
                <a:latin typeface="Calibri" panose="020F0502020204030204" charset="0"/>
                <a:cs typeface="Calibri" panose="020F0502020204030204" charset="0"/>
              </a:rPr>
              <a:t>：既购买过</a:t>
            </a:r>
            <a:r>
              <a:rPr lang="en-US" altLang="zh-CN" sz="2000" b="1">
                <a:solidFill>
                  <a:srgbClr val="0000CC"/>
                </a:solidFill>
                <a:sym typeface="+mn-ea"/>
              </a:rPr>
              <a:t>p01</a:t>
            </a:r>
            <a:r>
              <a:rPr lang="zh-CN" altLang="en-US" sz="2000" b="1">
                <a:solidFill>
                  <a:srgbClr val="0000CC"/>
                </a:solidFill>
                <a:sym typeface="+mn-ea"/>
              </a:rPr>
              <a:t>和</a:t>
            </a:r>
            <a:r>
              <a:rPr lang="en-US" altLang="zh-CN" sz="2000" b="1">
                <a:solidFill>
                  <a:srgbClr val="0000CC"/>
                </a:solidFill>
                <a:sym typeface="+mn-ea"/>
              </a:rPr>
              <a:t>p02</a:t>
            </a:r>
            <a:r>
              <a:rPr lang="zh-CN" altLang="en-US" sz="2000" b="1">
                <a:solidFill>
                  <a:srgbClr val="0000CC"/>
                </a:solidFill>
                <a:sym typeface="+mn-ea"/>
              </a:rPr>
              <a:t>这两种商品，也购买过其他商品</a:t>
            </a:r>
            <a:endParaRPr lang="zh-CN" altLang="en-US" sz="2000" b="1">
              <a:solidFill>
                <a:srgbClr val="0000CC"/>
              </a:solidFill>
              <a:sym typeface="+mn-ea"/>
            </a:endParaRPr>
          </a:p>
          <a:p>
            <a:pPr lvl="0" indent="0">
              <a:buFont typeface="+mj-ea"/>
              <a:buNone/>
            </a:pPr>
            <a:r>
              <a:rPr lang="en-US" altLang="zh-CN" sz="2000" b="1">
                <a:solidFill>
                  <a:srgbClr val="0000CC"/>
                </a:solidFill>
                <a:latin typeface="Calibri" panose="020F0502020204030204" charset="0"/>
                <a:cs typeface="Calibri" panose="020F0502020204030204" charset="0"/>
              </a:rPr>
              <a:t>S</a:t>
            </a:r>
            <a:r>
              <a:rPr lang="en-US" altLang="zh-CN" sz="2000" b="1" baseline="-25000">
                <a:solidFill>
                  <a:srgbClr val="0000CC"/>
                </a:solidFill>
                <a:latin typeface="Calibri" panose="020F0502020204030204" charset="0"/>
                <a:cs typeface="Calibri" panose="020F0502020204030204" charset="0"/>
              </a:rPr>
              <a:t>8</a:t>
            </a:r>
            <a:r>
              <a:rPr lang="zh-CN" altLang="en-US" sz="2000" b="1">
                <a:solidFill>
                  <a:srgbClr val="0000CC"/>
                </a:solidFill>
                <a:latin typeface="Calibri" panose="020F0502020204030204" charset="0"/>
                <a:cs typeface="Calibri" panose="020F0502020204030204" charset="0"/>
              </a:rPr>
              <a:t>：没有购买过任何商品</a:t>
            </a:r>
            <a:endParaRPr lang="zh-CN" altLang="en-US" sz="2000" b="1">
              <a:solidFill>
                <a:srgbClr val="0000CC"/>
              </a:solidFill>
              <a:latin typeface="Calibri" panose="020F0502020204030204" charset="0"/>
              <a:cs typeface="Calibri" panose="020F0502020204030204" charset="0"/>
            </a:endParaRPr>
          </a:p>
          <a:p>
            <a:pPr lvl="0" indent="0">
              <a:buFont typeface="+mj-ea"/>
              <a:buNone/>
            </a:pPr>
            <a:endParaRPr lang="zh-CN" altLang="en-US" sz="2000" b="1">
              <a:solidFill>
                <a:srgbClr val="0000CC"/>
              </a:solidFill>
              <a:latin typeface="Calibri" panose="020F0502020204030204" charset="0"/>
              <a:cs typeface="Calibri" panose="020F0502020204030204" charset="0"/>
            </a:endParaRPr>
          </a:p>
        </p:txBody>
      </p:sp>
      <p:sp>
        <p:nvSpPr>
          <p:cNvPr id="11" name="文本框 10"/>
          <p:cNvSpPr txBox="1"/>
          <p:nvPr/>
        </p:nvSpPr>
        <p:spPr>
          <a:xfrm>
            <a:off x="177165" y="5791835"/>
            <a:ext cx="6379210" cy="398780"/>
          </a:xfrm>
          <a:prstGeom prst="rect">
            <a:avLst/>
          </a:prstGeom>
          <a:noFill/>
        </p:spPr>
        <p:txBody>
          <a:bodyPr wrap="square" rtlCol="0">
            <a:spAutoFit/>
          </a:bodyPr>
          <a:p>
            <a:pPr marL="285750" indent="-285750">
              <a:buFont typeface="Wingdings" panose="05000000000000000000" charset="0"/>
              <a:buChar char="Ø"/>
            </a:pPr>
            <a:r>
              <a:rPr lang="zh-CN" altLang="en-US" sz="2000" b="1">
                <a:solidFill>
                  <a:srgbClr val="0000CC"/>
                </a:solidFill>
              </a:rPr>
              <a:t>则有：</a:t>
            </a:r>
            <a:endParaRPr lang="zh-CN" altLang="en-US" sz="2000" b="1">
              <a:solidFill>
                <a:srgbClr val="0000CC"/>
              </a:solidFill>
            </a:endParaRPr>
          </a:p>
        </p:txBody>
      </p:sp>
      <p:graphicFrame>
        <p:nvGraphicFramePr>
          <p:cNvPr id="12" name="对象 11">
            <a:hlinkClick r:id="" action="ppaction://ole?verb="/>
          </p:cNvPr>
          <p:cNvGraphicFramePr>
            <a:graphicFrameLocks noChangeAspect="1"/>
          </p:cNvGraphicFramePr>
          <p:nvPr/>
        </p:nvGraphicFramePr>
        <p:xfrm>
          <a:off x="1286510" y="5876925"/>
          <a:ext cx="3120000" cy="468000"/>
        </p:xfrm>
        <a:graphic>
          <a:graphicData uri="http://schemas.openxmlformats.org/presentationml/2006/ole">
            <mc:AlternateContent xmlns:mc="http://schemas.openxmlformats.org/markup-compatibility/2006">
              <mc:Choice xmlns:v="urn:schemas-microsoft-com:vml" Requires="v">
                <p:oleObj spid="_x0000_s2049" name="" r:id="rId2" imgW="1524000" imgH="228600" progId="Equation.KSEE3">
                  <p:embed/>
                </p:oleObj>
              </mc:Choice>
              <mc:Fallback>
                <p:oleObj name="" r:id="rId2" imgW="1524000" imgH="228600" progId="Equation.KSEE3">
                  <p:embed/>
                  <p:pic>
                    <p:nvPicPr>
                      <p:cNvPr id="0" name="图片 2048"/>
                      <p:cNvPicPr/>
                      <p:nvPr/>
                    </p:nvPicPr>
                    <p:blipFill>
                      <a:blip r:embed="rId3"/>
                      <a:stretch>
                        <a:fillRect/>
                      </a:stretch>
                    </p:blipFill>
                    <p:spPr>
                      <a:xfrm>
                        <a:off x="1286510" y="5876925"/>
                        <a:ext cx="3120000" cy="468000"/>
                      </a:xfrm>
                      <a:prstGeom prst="rect">
                        <a:avLst/>
                      </a:prstGeom>
                    </p:spPr>
                  </p:pic>
                </p:oleObj>
              </mc:Fallback>
            </mc:AlternateContent>
          </a:graphicData>
        </a:graphic>
      </p:graphicFrame>
      <p:graphicFrame>
        <p:nvGraphicFramePr>
          <p:cNvPr id="29" name="对象 28">
            <a:hlinkClick r:id="" action="ppaction://ole?verb="/>
          </p:cNvPr>
          <p:cNvGraphicFramePr>
            <a:graphicFrameLocks noChangeAspect="1"/>
          </p:cNvGraphicFramePr>
          <p:nvPr/>
        </p:nvGraphicFramePr>
        <p:xfrm>
          <a:off x="4952805" y="5876928"/>
          <a:ext cx="3145790" cy="467995"/>
        </p:xfrm>
        <a:graphic>
          <a:graphicData uri="http://schemas.openxmlformats.org/presentationml/2006/ole">
            <mc:AlternateContent xmlns:mc="http://schemas.openxmlformats.org/markup-compatibility/2006">
              <mc:Choice xmlns:v="urn:schemas-microsoft-com:vml" Requires="v">
                <p:oleObj spid="_x0000_s2" name="" r:id="rId4" imgW="1536700" imgH="228600" progId="Equation.KSEE3">
                  <p:embed/>
                </p:oleObj>
              </mc:Choice>
              <mc:Fallback>
                <p:oleObj name="" r:id="rId4" imgW="1536700" imgH="228600" progId="Equation.KSEE3">
                  <p:embed/>
                  <p:pic>
                    <p:nvPicPr>
                      <p:cNvPr id="0" name="图片 2048"/>
                      <p:cNvPicPr/>
                      <p:nvPr/>
                    </p:nvPicPr>
                    <p:blipFill>
                      <a:blip r:embed="rId5"/>
                      <a:stretch>
                        <a:fillRect/>
                      </a:stretch>
                    </p:blipFill>
                    <p:spPr>
                      <a:xfrm>
                        <a:off x="4952805" y="5876928"/>
                        <a:ext cx="3145790" cy="467995"/>
                      </a:xfrm>
                      <a:prstGeom prst="rect">
                        <a:avLst/>
                      </a:prstGeom>
                    </p:spPr>
                  </p:pic>
                </p:oleObj>
              </mc:Fallback>
            </mc:AlternateContent>
          </a:graphicData>
        </a:graphic>
      </p:graphicFrame>
      <p:graphicFrame>
        <p:nvGraphicFramePr>
          <p:cNvPr id="30" name="对象 29">
            <a:hlinkClick r:id="" action="ppaction://ole?verb="/>
          </p:cNvPr>
          <p:cNvGraphicFramePr>
            <a:graphicFrameLocks noChangeAspect="1"/>
          </p:cNvGraphicFramePr>
          <p:nvPr/>
        </p:nvGraphicFramePr>
        <p:xfrm>
          <a:off x="8657395" y="5876928"/>
          <a:ext cx="3120390" cy="467995"/>
        </p:xfrm>
        <a:graphic>
          <a:graphicData uri="http://schemas.openxmlformats.org/presentationml/2006/ole">
            <mc:AlternateContent xmlns:mc="http://schemas.openxmlformats.org/markup-compatibility/2006">
              <mc:Choice xmlns:v="urn:schemas-microsoft-com:vml" Requires="v">
                <p:oleObj spid="_x0000_s31" name="" r:id="rId6" imgW="1524000" imgH="228600" progId="Equation.KSEE3">
                  <p:embed/>
                </p:oleObj>
              </mc:Choice>
              <mc:Fallback>
                <p:oleObj name="" r:id="rId6" imgW="1524000" imgH="228600" progId="Equation.KSEE3">
                  <p:embed/>
                  <p:pic>
                    <p:nvPicPr>
                      <p:cNvPr id="0" name="图片 2048"/>
                      <p:cNvPicPr/>
                      <p:nvPr/>
                    </p:nvPicPr>
                    <p:blipFill>
                      <a:blip r:embed="rId7"/>
                      <a:stretch>
                        <a:fillRect/>
                      </a:stretch>
                    </p:blipFill>
                    <p:spPr>
                      <a:xfrm>
                        <a:off x="8657395" y="5876928"/>
                        <a:ext cx="3120390" cy="467995"/>
                      </a:xfrm>
                      <a:prstGeom prst="rect">
                        <a:avLst/>
                      </a:prstGeom>
                    </p:spPr>
                  </p:pic>
                </p:oleObj>
              </mc:Fallback>
            </mc:AlternateContent>
          </a:graphicData>
        </a:graphic>
      </p:graphicFrame>
      <p:sp>
        <p:nvSpPr>
          <p:cNvPr id="4" name="文本框 3"/>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 4"/>
          <p:cNvSpPr/>
          <p:nvPr/>
        </p:nvSpPr>
        <p:spPr>
          <a:xfrm>
            <a:off x="360045" y="2412000"/>
            <a:ext cx="11325225" cy="462915"/>
          </a:xfrm>
          <a:prstGeom prst="rect">
            <a:avLst/>
          </a:prstGeom>
          <a:noFill/>
          <a:ln w="9525">
            <a:noFill/>
          </a:ln>
        </p:spPr>
        <p:txBody>
          <a:bodyPr wrap="square" anchor="t">
            <a:spAutoFit/>
          </a:bodyPr>
          <a:p>
            <a:pPr lvl="0" indent="0">
              <a:lnSpc>
                <a:spcPct val="110000"/>
              </a:lnSpc>
              <a:spcBef>
                <a:spcPct val="20000"/>
              </a:spcBef>
              <a:buClr>
                <a:srgbClr val="0000CC"/>
              </a:buClr>
              <a:buFont typeface="+mj-lt"/>
              <a:buNone/>
            </a:pPr>
            <a:r>
              <a:rPr lang="zh-CN" altLang="en-US" sz="2200" b="1" dirty="0">
                <a:solidFill>
                  <a:srgbClr val="0000CC"/>
                </a:solidFill>
                <a:latin typeface="Times New Roman" panose="02020603050405020304" pitchFamily="18" charset="0"/>
                <a:ea typeface="Times New Roman" panose="02020603050405020304" pitchFamily="18" charset="0"/>
              </a:rPr>
              <a:t>下面分别给出这八个查询的查询</a:t>
            </a:r>
            <a:r>
              <a:rPr lang="zh-CN" altLang="en-US" sz="2200" b="1" dirty="0">
                <a:solidFill>
                  <a:srgbClr val="0000CC"/>
                </a:solidFill>
                <a:latin typeface="Times New Roman" panose="02020603050405020304" pitchFamily="18" charset="0"/>
                <a:ea typeface="Times New Roman" panose="02020603050405020304" pitchFamily="18" charset="0"/>
              </a:rPr>
              <a:t>表达式：</a:t>
            </a:r>
            <a:endParaRPr lang="zh-CN" altLang="en-US" sz="2200" b="1" dirty="0">
              <a:solidFill>
                <a:srgbClr val="0000CC"/>
              </a:solidFill>
              <a:latin typeface="Times New Roman" panose="02020603050405020304" pitchFamily="18" charset="0"/>
              <a:ea typeface="Times New Roman" panose="02020603050405020304" pitchFamily="18" charset="0"/>
            </a:endParaRPr>
          </a:p>
        </p:txBody>
      </p:sp>
      <p:graphicFrame>
        <p:nvGraphicFramePr>
          <p:cNvPr id="14" name="表格 13"/>
          <p:cNvGraphicFramePr/>
          <p:nvPr>
            <p:custDataLst>
              <p:tags r:id="rId1"/>
            </p:custDataLst>
          </p:nvPr>
        </p:nvGraphicFramePr>
        <p:xfrm>
          <a:off x="288925" y="2879725"/>
          <a:ext cx="11628120" cy="3700780"/>
        </p:xfrm>
        <a:graphic>
          <a:graphicData uri="http://schemas.openxmlformats.org/drawingml/2006/table">
            <a:tbl>
              <a:tblPr firstRow="1" bandRow="1">
                <a:tableStyleId>{5C22544A-7EE6-4342-B048-85BDC9FD1C3A}</a:tableStyleId>
              </a:tblPr>
              <a:tblGrid>
                <a:gridCol w="1061085"/>
                <a:gridCol w="10567035"/>
              </a:tblGrid>
              <a:tr h="461010">
                <a:tc>
                  <a:txBody>
                    <a:bodyPr/>
                    <a:p>
                      <a:pPr algn="ctr">
                        <a:buNone/>
                      </a:pPr>
                      <a:r>
                        <a:rPr lang="en-US" altLang="zh-CN" sz="2000" b="1">
                          <a:solidFill>
                            <a:srgbClr val="0000CC"/>
                          </a:solidFill>
                          <a:cs typeface="+mn-lt"/>
                        </a:rPr>
                        <a:t>S</a:t>
                      </a:r>
                      <a:r>
                        <a:rPr lang="en-US" altLang="zh-CN" sz="2000" b="1" baseline="-25000">
                          <a:solidFill>
                            <a:srgbClr val="0000CC"/>
                          </a:solidFill>
                          <a:cs typeface="+mn-lt"/>
                        </a:rPr>
                        <a:t>1</a:t>
                      </a:r>
                      <a:endParaRPr lang="en-US" altLang="zh-CN" sz="2000" b="1" baseline="-25000">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b="1">
                          <a:solidFill>
                            <a:srgbClr val="0000CC"/>
                          </a:solidFill>
                          <a:cs typeface="+mn-lt"/>
                        </a:rPr>
                        <a:t> O [cid] — ( O  where  pid ≠ 'p01' ) [cid]</a:t>
                      </a:r>
                      <a:endParaRPr lang="en-US" altLang="zh-CN" sz="2000" b="1">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2915">
                <a:tc>
                  <a:txBody>
                    <a:bodyPr/>
                    <a:p>
                      <a:pPr algn="ctr">
                        <a:buNone/>
                      </a:pPr>
                      <a:r>
                        <a:rPr lang="en-US" altLang="zh-CN" sz="2000" b="1">
                          <a:solidFill>
                            <a:srgbClr val="0000CC"/>
                          </a:solidFill>
                          <a:cs typeface="+mn-lt"/>
                        </a:rPr>
                        <a:t>S</a:t>
                      </a:r>
                      <a:r>
                        <a:rPr lang="en-US" altLang="zh-CN" sz="2000" b="1" baseline="-25000">
                          <a:solidFill>
                            <a:srgbClr val="0000CC"/>
                          </a:solidFill>
                          <a:cs typeface="+mn-lt"/>
                        </a:rPr>
                        <a:t>2</a:t>
                      </a:r>
                      <a:endParaRPr lang="en-US" altLang="zh-CN" sz="2000" b="1" baseline="-25000">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b="1">
                          <a:solidFill>
                            <a:srgbClr val="0000CC"/>
                          </a:solidFill>
                          <a:cs typeface="+mn-lt"/>
                          <a:sym typeface="+mn-ea"/>
                        </a:rPr>
                        <a:t> </a:t>
                      </a:r>
                      <a:r>
                        <a:rPr lang="en-US" altLang="zh-CN" sz="2000" b="1">
                          <a:solidFill>
                            <a:srgbClr val="0000CC"/>
                          </a:solidFill>
                          <a:cs typeface="+mn-lt"/>
                          <a:sym typeface="+mn-ea"/>
                        </a:rPr>
                        <a:t>O [cid] — ( O  where  pid ≠ 'p02' ) [cid]</a:t>
                      </a:r>
                      <a:endParaRPr lang="en-US" altLang="zh-CN" sz="2000" b="1">
                        <a:solidFill>
                          <a:srgbClr val="0000CC"/>
                        </a:solidFill>
                        <a:cs typeface="+mn-lt"/>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2915">
                <a:tc>
                  <a:txBody>
                    <a:bodyPr/>
                    <a:p>
                      <a:pPr algn="ctr">
                        <a:buNone/>
                      </a:pPr>
                      <a:r>
                        <a:rPr lang="en-US" altLang="zh-CN" sz="2000" b="1">
                          <a:solidFill>
                            <a:srgbClr val="0000CC"/>
                          </a:solidFill>
                          <a:cs typeface="+mn-lt"/>
                        </a:rPr>
                        <a:t>S</a:t>
                      </a:r>
                      <a:r>
                        <a:rPr lang="en-US" altLang="zh-CN" sz="2000" b="1" baseline="-25000">
                          <a:solidFill>
                            <a:srgbClr val="0000CC"/>
                          </a:solidFill>
                          <a:cs typeface="+mn-lt"/>
                        </a:rPr>
                        <a:t>3</a:t>
                      </a:r>
                      <a:endParaRPr lang="en-US" altLang="zh-CN" sz="2000" b="1" baseline="-25000">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b="1">
                          <a:solidFill>
                            <a:srgbClr val="0000CC"/>
                          </a:solidFill>
                          <a:cs typeface="+mn-lt"/>
                          <a:sym typeface="+mn-ea"/>
                        </a:rPr>
                        <a:t> </a:t>
                      </a:r>
                      <a:r>
                        <a:rPr lang="en-US" altLang="zh-CN" sz="2000" b="1">
                          <a:solidFill>
                            <a:srgbClr val="0000CC"/>
                          </a:solidFill>
                          <a:cs typeface="+mn-lt"/>
                          <a:sym typeface="+mn-ea"/>
                        </a:rPr>
                        <a:t>O [cid] — </a:t>
                      </a:r>
                      <a:r>
                        <a:rPr lang="en-US" altLang="zh-CN" sz="2000" b="1">
                          <a:solidFill>
                            <a:srgbClr val="0000CC"/>
                          </a:solidFill>
                          <a:cs typeface="+mn-lt"/>
                          <a:sym typeface="+mn-ea"/>
                        </a:rPr>
                        <a:t>( O  where  pid = 'p01'  or  pid = 'p02' ) [cid]</a:t>
                      </a:r>
                      <a:endParaRPr lang="en-US" altLang="zh-CN" sz="2000" b="1">
                        <a:solidFill>
                          <a:srgbClr val="0000CC"/>
                        </a:solidFill>
                        <a:cs typeface="+mn-lt"/>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2915">
                <a:tc>
                  <a:txBody>
                    <a:bodyPr/>
                    <a:p>
                      <a:pPr algn="ctr">
                        <a:buNone/>
                      </a:pPr>
                      <a:r>
                        <a:rPr lang="en-US" altLang="zh-CN" sz="2000" b="1">
                          <a:solidFill>
                            <a:srgbClr val="0000CC"/>
                          </a:solidFill>
                          <a:cs typeface="+mn-lt"/>
                        </a:rPr>
                        <a:t>S</a:t>
                      </a:r>
                      <a:r>
                        <a:rPr lang="en-US" altLang="zh-CN" sz="2000" b="1" baseline="-25000">
                          <a:solidFill>
                            <a:srgbClr val="0000CC"/>
                          </a:solidFill>
                          <a:cs typeface="+mn-lt"/>
                        </a:rPr>
                        <a:t>4</a:t>
                      </a:r>
                      <a:endParaRPr lang="en-US" altLang="zh-CN" sz="2000" b="1" baseline="-25000">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b="1">
                          <a:solidFill>
                            <a:srgbClr val="0000CC"/>
                          </a:solidFill>
                          <a:cs typeface="+mn-lt"/>
                          <a:sym typeface="+mn-ea"/>
                        </a:rPr>
                        <a:t> ((O where pid='p01')[cid] ∩ (O where pid='p02')[cid])—(</a:t>
                      </a:r>
                      <a:r>
                        <a:rPr lang="en-US" altLang="zh-CN" sz="2000" b="1">
                          <a:solidFill>
                            <a:srgbClr val="0000CC"/>
                          </a:solidFill>
                          <a:cs typeface="+mn-lt"/>
                          <a:sym typeface="+mn-ea"/>
                        </a:rPr>
                        <a:t>O where pid≠'p01' and pid≠'p02')[cid]</a:t>
                      </a:r>
                      <a:endParaRPr lang="en-US" altLang="zh-CN" sz="2000" b="1">
                        <a:solidFill>
                          <a:srgbClr val="0000CC"/>
                        </a:solidFill>
                        <a:cs typeface="+mn-lt"/>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2280">
                <a:tc>
                  <a:txBody>
                    <a:bodyPr/>
                    <a:p>
                      <a:pPr algn="ctr">
                        <a:buNone/>
                      </a:pPr>
                      <a:r>
                        <a:rPr lang="en-US" altLang="zh-CN" sz="2000" b="1">
                          <a:solidFill>
                            <a:srgbClr val="0000CC"/>
                          </a:solidFill>
                          <a:cs typeface="+mn-lt"/>
                        </a:rPr>
                        <a:t>S</a:t>
                      </a:r>
                      <a:r>
                        <a:rPr lang="en-US" altLang="zh-CN" sz="2000" b="1" baseline="-25000">
                          <a:solidFill>
                            <a:srgbClr val="0000CC"/>
                          </a:solidFill>
                          <a:cs typeface="+mn-lt"/>
                        </a:rPr>
                        <a:t>5</a:t>
                      </a:r>
                      <a:endParaRPr lang="en-US" altLang="zh-CN" sz="2000" b="1" baseline="-25000">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b="1">
                          <a:solidFill>
                            <a:srgbClr val="0000CC"/>
                          </a:solidFill>
                          <a:cs typeface="+mn-lt"/>
                          <a:sym typeface="+mn-ea"/>
                        </a:rPr>
                        <a:t> ((O where pid='p01')[cid] ∩ (O where pid≠'p01' and pid≠'p02')[cid])—(O where pid='p02')[cid]</a:t>
                      </a:r>
                      <a:endParaRPr lang="en-US" altLang="zh-CN" sz="2000" b="1">
                        <a:solidFill>
                          <a:srgbClr val="0000CC"/>
                        </a:solidFill>
                        <a:cs typeface="+mn-lt"/>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2915">
                <a:tc>
                  <a:txBody>
                    <a:bodyPr/>
                    <a:p>
                      <a:pPr algn="ctr">
                        <a:buNone/>
                      </a:pPr>
                      <a:r>
                        <a:rPr lang="en-US" altLang="zh-CN" sz="2000" b="1">
                          <a:solidFill>
                            <a:srgbClr val="0000CC"/>
                          </a:solidFill>
                          <a:cs typeface="+mn-lt"/>
                        </a:rPr>
                        <a:t>S</a:t>
                      </a:r>
                      <a:r>
                        <a:rPr lang="en-US" altLang="zh-CN" sz="2000" b="1" baseline="-25000">
                          <a:solidFill>
                            <a:srgbClr val="0000CC"/>
                          </a:solidFill>
                          <a:cs typeface="+mn-lt"/>
                        </a:rPr>
                        <a:t>6</a:t>
                      </a:r>
                      <a:endParaRPr lang="en-US" altLang="zh-CN" sz="2000" b="1" baseline="-25000">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b="1">
                          <a:solidFill>
                            <a:srgbClr val="0000CC"/>
                          </a:solidFill>
                          <a:cs typeface="+mn-lt"/>
                          <a:sym typeface="+mn-ea"/>
                        </a:rPr>
                        <a:t> ((O where pid='p02')[cid] ∩ (O where pid≠'p01' and pid≠'p02')[cid])—(O where pid='p01')[cid]</a:t>
                      </a:r>
                      <a:endParaRPr lang="en-US" altLang="zh-CN" sz="2000" b="1">
                        <a:solidFill>
                          <a:srgbClr val="0000CC"/>
                        </a:solidFill>
                        <a:cs typeface="+mn-lt"/>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3550">
                <a:tc>
                  <a:txBody>
                    <a:bodyPr/>
                    <a:p>
                      <a:pPr algn="ctr">
                        <a:buNone/>
                      </a:pPr>
                      <a:r>
                        <a:rPr lang="en-US" altLang="zh-CN" sz="2000" b="1">
                          <a:solidFill>
                            <a:srgbClr val="0000CC"/>
                          </a:solidFill>
                          <a:cs typeface="+mn-lt"/>
                        </a:rPr>
                        <a:t>S</a:t>
                      </a:r>
                      <a:r>
                        <a:rPr lang="en-US" altLang="zh-CN" sz="2000" b="1" baseline="-25000">
                          <a:solidFill>
                            <a:srgbClr val="0000CC"/>
                          </a:solidFill>
                          <a:cs typeface="+mn-lt"/>
                        </a:rPr>
                        <a:t>7</a:t>
                      </a:r>
                      <a:endParaRPr lang="en-US" altLang="zh-CN" sz="2000" b="1" baseline="-25000">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b="1">
                          <a:solidFill>
                            <a:srgbClr val="0000CC"/>
                          </a:solidFill>
                          <a:cs typeface="+mn-lt"/>
                          <a:sym typeface="+mn-ea"/>
                        </a:rPr>
                        <a:t> (O where pid='p01')[cid] ∩ (O where pid='p02')[cid] ∩ (O where pid≠'p01' and pid≠'p02')[cid]</a:t>
                      </a:r>
                      <a:endParaRPr lang="en-US" altLang="zh-CN" sz="2000" b="1">
                        <a:solidFill>
                          <a:srgbClr val="0000CC"/>
                        </a:solidFill>
                        <a:cs typeface="+mn-lt"/>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2280">
                <a:tc>
                  <a:txBody>
                    <a:bodyPr/>
                    <a:p>
                      <a:pPr algn="ctr">
                        <a:buNone/>
                      </a:pPr>
                      <a:r>
                        <a:rPr lang="en-US" altLang="zh-CN" sz="2000" b="1">
                          <a:solidFill>
                            <a:srgbClr val="0000CC"/>
                          </a:solidFill>
                          <a:cs typeface="+mn-lt"/>
                        </a:rPr>
                        <a:t>S</a:t>
                      </a:r>
                      <a:r>
                        <a:rPr lang="en-US" altLang="zh-CN" sz="2000" b="1" baseline="-25000">
                          <a:solidFill>
                            <a:srgbClr val="0000CC"/>
                          </a:solidFill>
                          <a:cs typeface="+mn-lt"/>
                        </a:rPr>
                        <a:t>8</a:t>
                      </a:r>
                      <a:endParaRPr lang="en-US" altLang="zh-CN" sz="2000" b="1" baseline="-25000">
                        <a:solidFill>
                          <a:srgbClr val="0000CC"/>
                        </a:solidFill>
                        <a:cs typeface="+mn-lt"/>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2000" b="1">
                          <a:solidFill>
                            <a:srgbClr val="0000CC"/>
                          </a:solidFill>
                          <a:cs typeface="+mn-lt"/>
                          <a:sym typeface="+mn-ea"/>
                        </a:rPr>
                        <a:t> C [cid] — O [cid]</a:t>
                      </a:r>
                      <a:endParaRPr lang="en-US" altLang="zh-CN" sz="2000" b="1">
                        <a:solidFill>
                          <a:srgbClr val="0000CC"/>
                        </a:solidFill>
                        <a:cs typeface="+mn-lt"/>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grpSp>
        <p:nvGrpSpPr>
          <p:cNvPr id="3" name="组合 2"/>
          <p:cNvGrpSpPr/>
          <p:nvPr/>
        </p:nvGrpSpPr>
        <p:grpSpPr>
          <a:xfrm>
            <a:off x="314325" y="468000"/>
            <a:ext cx="11572240" cy="1938020"/>
            <a:chOff x="741" y="5975"/>
            <a:chExt cx="18224" cy="3052"/>
          </a:xfrm>
        </p:grpSpPr>
        <p:sp>
          <p:nvSpPr>
            <p:cNvPr id="5" name="文本框 4"/>
            <p:cNvSpPr txBox="1"/>
            <p:nvPr/>
          </p:nvSpPr>
          <p:spPr>
            <a:xfrm>
              <a:off x="741" y="5975"/>
              <a:ext cx="8742" cy="3052"/>
            </a:xfrm>
            <a:prstGeom prst="rect">
              <a:avLst/>
            </a:prstGeom>
            <a:noFill/>
            <a:ln>
              <a:solidFill>
                <a:schemeClr val="tx1"/>
              </a:solidFill>
            </a:ln>
          </p:spPr>
          <p:txBody>
            <a:bodyPr wrap="square" rtlCol="0">
              <a:spAutoFit/>
            </a:bodyPr>
            <a:p>
              <a:pPr marL="526415" lvl="0" indent="-526415">
                <a:buFont typeface="+mj-ea"/>
                <a:buNone/>
              </a:pPr>
              <a:r>
                <a:rPr lang="en-US" altLang="zh-CN" sz="2000" b="1">
                  <a:solidFill>
                    <a:srgbClr val="0000CC"/>
                  </a:solidFill>
                </a:rPr>
                <a:t>S</a:t>
              </a:r>
              <a:r>
                <a:rPr lang="en-US" altLang="zh-CN" sz="2000" b="1" baseline="-25000">
                  <a:solidFill>
                    <a:srgbClr val="0000CC"/>
                  </a:solidFill>
                </a:rPr>
                <a:t>1</a:t>
              </a:r>
              <a:r>
                <a:rPr lang="zh-CN" altLang="en-US" sz="2000" b="1">
                  <a:solidFill>
                    <a:srgbClr val="0000CC"/>
                  </a:solidFill>
                </a:rPr>
                <a:t>：只购买过</a:t>
              </a:r>
              <a:r>
                <a:rPr lang="en-US" altLang="zh-CN" sz="2000" b="1">
                  <a:solidFill>
                    <a:srgbClr val="0000CC"/>
                  </a:solidFill>
                </a:rPr>
                <a:t>p01</a:t>
              </a:r>
              <a:r>
                <a:rPr lang="zh-CN" altLang="en-US" sz="2000" b="1">
                  <a:solidFill>
                    <a:srgbClr val="0000CC"/>
                  </a:solidFill>
                </a:rPr>
                <a:t>这一种商品</a:t>
              </a:r>
              <a:endParaRPr lang="zh-CN" altLang="en-US" sz="2000" b="1">
                <a:solidFill>
                  <a:srgbClr val="0000CC"/>
                </a:solidFill>
              </a:endParaRPr>
            </a:p>
            <a:p>
              <a:pPr marL="526415" lvl="0" indent="-526415">
                <a:buFont typeface="+mj-ea"/>
                <a:buNone/>
              </a:pPr>
              <a:r>
                <a:rPr lang="en-US" altLang="zh-CN" sz="2000" b="1">
                  <a:solidFill>
                    <a:srgbClr val="0000CC"/>
                  </a:solidFill>
                  <a:sym typeface="+mn-ea"/>
                </a:rPr>
                <a:t>S</a:t>
              </a:r>
              <a:r>
                <a:rPr lang="en-US" altLang="zh-CN" sz="2000" b="1" baseline="-25000">
                  <a:solidFill>
                    <a:srgbClr val="0000CC"/>
                  </a:solidFill>
                  <a:sym typeface="+mn-ea"/>
                </a:rPr>
                <a:t>2</a:t>
              </a:r>
              <a:r>
                <a:rPr lang="zh-CN" altLang="en-US" sz="2000" b="1">
                  <a:solidFill>
                    <a:srgbClr val="0000CC"/>
                  </a:solidFill>
                  <a:sym typeface="+mn-ea"/>
                </a:rPr>
                <a:t>：只购买过</a:t>
              </a:r>
              <a:r>
                <a:rPr lang="en-US" altLang="zh-CN" sz="2000" b="1">
                  <a:solidFill>
                    <a:srgbClr val="0000CC"/>
                  </a:solidFill>
                  <a:sym typeface="+mn-ea"/>
                </a:rPr>
                <a:t>p02</a:t>
              </a:r>
              <a:r>
                <a:rPr lang="zh-CN" altLang="en-US" sz="2000" b="1">
                  <a:solidFill>
                    <a:srgbClr val="0000CC"/>
                  </a:solidFill>
                  <a:sym typeface="+mn-ea"/>
                </a:rPr>
                <a:t>这一种商品</a:t>
              </a:r>
              <a:endParaRPr lang="zh-CN" altLang="en-US" sz="2000" b="1">
                <a:solidFill>
                  <a:srgbClr val="0000CC"/>
                </a:solidFill>
                <a:sym typeface="+mn-ea"/>
              </a:endParaRPr>
            </a:p>
            <a:p>
              <a:pPr marL="526415" lvl="0" indent="-526415">
                <a:buFont typeface="+mj-ea"/>
                <a:buNone/>
              </a:pPr>
              <a:r>
                <a:rPr lang="en-US" altLang="zh-CN" sz="2000" b="1">
                  <a:solidFill>
                    <a:srgbClr val="0000CC"/>
                  </a:solidFill>
                  <a:sym typeface="+mn-ea"/>
                </a:rPr>
                <a:t>S</a:t>
              </a:r>
              <a:r>
                <a:rPr lang="en-US" altLang="zh-CN" sz="2000" b="1" baseline="-25000">
                  <a:solidFill>
                    <a:srgbClr val="0000CC"/>
                  </a:solidFill>
                  <a:sym typeface="+mn-ea"/>
                </a:rPr>
                <a:t>3</a:t>
              </a:r>
              <a:r>
                <a:rPr lang="zh-CN" altLang="en-US" sz="2000" b="1">
                  <a:solidFill>
                    <a:srgbClr val="0000CC"/>
                  </a:solidFill>
                  <a:sym typeface="+mn-ea"/>
                </a:rPr>
                <a:t>：只购买过其他商品（购买过商品，但既没有购买过</a:t>
              </a:r>
              <a:r>
                <a:rPr lang="en-US" altLang="zh-CN" sz="2000" b="1">
                  <a:solidFill>
                    <a:srgbClr val="0000CC"/>
                  </a:solidFill>
                  <a:sym typeface="+mn-ea"/>
                </a:rPr>
                <a:t>p01</a:t>
              </a:r>
              <a:r>
                <a:rPr lang="zh-CN" altLang="en-US" sz="2000" b="1">
                  <a:solidFill>
                    <a:srgbClr val="0000CC"/>
                  </a:solidFill>
                  <a:sym typeface="+mn-ea"/>
                </a:rPr>
                <a:t>也没有购买过</a:t>
              </a:r>
              <a:r>
                <a:rPr lang="en-US" altLang="zh-CN" sz="2000" b="1">
                  <a:solidFill>
                    <a:srgbClr val="0000CC"/>
                  </a:solidFill>
                  <a:sym typeface="+mn-ea"/>
                </a:rPr>
                <a:t>p02</a:t>
              </a:r>
              <a:r>
                <a:rPr lang="zh-CN" altLang="en-US" sz="2000" b="1">
                  <a:solidFill>
                    <a:srgbClr val="0000CC"/>
                  </a:solidFill>
                  <a:sym typeface="+mn-ea"/>
                </a:rPr>
                <a:t>）</a:t>
              </a:r>
              <a:endParaRPr lang="zh-CN" altLang="en-US" sz="2000" b="1">
                <a:solidFill>
                  <a:srgbClr val="0000CC"/>
                </a:solidFill>
                <a:sym typeface="+mn-ea"/>
              </a:endParaRPr>
            </a:p>
            <a:p>
              <a:pPr marL="526415" lvl="0" indent="-526415">
                <a:buFont typeface="+mj-ea"/>
                <a:buNone/>
              </a:pPr>
              <a:r>
                <a:rPr lang="en-US" altLang="zh-CN" sz="2000" b="1">
                  <a:solidFill>
                    <a:srgbClr val="0000CC"/>
                  </a:solidFill>
                  <a:sym typeface="+mn-ea"/>
                </a:rPr>
                <a:t>S</a:t>
              </a:r>
              <a:r>
                <a:rPr lang="en-US" altLang="zh-CN" sz="2000" b="1" baseline="-25000">
                  <a:solidFill>
                    <a:srgbClr val="0000CC"/>
                  </a:solidFill>
                  <a:sym typeface="+mn-ea"/>
                </a:rPr>
                <a:t>4</a:t>
              </a:r>
              <a:r>
                <a:rPr lang="zh-CN" altLang="en-US" sz="2000" b="1">
                  <a:solidFill>
                    <a:srgbClr val="0000CC"/>
                  </a:solidFill>
                  <a:sym typeface="+mn-ea"/>
                </a:rPr>
                <a:t>：购买过</a:t>
              </a:r>
              <a:r>
                <a:rPr lang="en-US" altLang="zh-CN" sz="2000" b="1">
                  <a:solidFill>
                    <a:srgbClr val="0000CC"/>
                  </a:solidFill>
                  <a:sym typeface="+mn-ea"/>
                </a:rPr>
                <a:t>p01</a:t>
              </a:r>
              <a:r>
                <a:rPr lang="zh-CN" altLang="en-US" sz="2000" b="1">
                  <a:solidFill>
                    <a:srgbClr val="0000CC"/>
                  </a:solidFill>
                  <a:sym typeface="+mn-ea"/>
                </a:rPr>
                <a:t>和</a:t>
              </a:r>
              <a:r>
                <a:rPr lang="en-US" altLang="zh-CN" sz="2000" b="1">
                  <a:solidFill>
                    <a:srgbClr val="0000CC"/>
                  </a:solidFill>
                  <a:sym typeface="+mn-ea"/>
                </a:rPr>
                <a:t>p02</a:t>
              </a:r>
              <a:r>
                <a:rPr lang="zh-CN" altLang="en-US" sz="2000" b="1">
                  <a:solidFill>
                    <a:srgbClr val="0000CC"/>
                  </a:solidFill>
                  <a:sym typeface="+mn-ea"/>
                </a:rPr>
                <a:t>这两种商品，但没有购买过其他商品</a:t>
              </a:r>
              <a:endParaRPr lang="zh-CN" altLang="en-US" sz="2000" b="1">
                <a:solidFill>
                  <a:srgbClr val="0000CC"/>
                </a:solidFill>
                <a:latin typeface="Calibri" panose="020F0502020204030204" charset="0"/>
                <a:cs typeface="Calibri" panose="020F0502020204030204" charset="0"/>
              </a:endParaRPr>
            </a:p>
          </p:txBody>
        </p:sp>
        <p:sp>
          <p:nvSpPr>
            <p:cNvPr id="7" name="文本框 6"/>
            <p:cNvSpPr txBox="1"/>
            <p:nvPr/>
          </p:nvSpPr>
          <p:spPr>
            <a:xfrm>
              <a:off x="9865" y="5975"/>
              <a:ext cx="9100" cy="3052"/>
            </a:xfrm>
            <a:prstGeom prst="rect">
              <a:avLst/>
            </a:prstGeom>
            <a:noFill/>
            <a:ln>
              <a:solidFill>
                <a:schemeClr val="tx1"/>
              </a:solidFill>
            </a:ln>
          </p:spPr>
          <p:txBody>
            <a:bodyPr wrap="square" rtlCol="0">
              <a:spAutoFit/>
            </a:bodyPr>
            <a:p>
              <a:pPr lvl="0" indent="0">
                <a:buFont typeface="+mj-ea"/>
                <a:buNone/>
              </a:pPr>
              <a:r>
                <a:rPr lang="en-US" altLang="zh-CN" sz="2000" b="1">
                  <a:solidFill>
                    <a:srgbClr val="0000CC"/>
                  </a:solidFill>
                  <a:latin typeface="Calibri" panose="020F0502020204030204" charset="0"/>
                  <a:cs typeface="Calibri" panose="020F0502020204030204" charset="0"/>
                </a:rPr>
                <a:t>S</a:t>
              </a:r>
              <a:r>
                <a:rPr lang="en-US" altLang="zh-CN" sz="2000" b="1" baseline="-25000">
                  <a:solidFill>
                    <a:srgbClr val="0000CC"/>
                  </a:solidFill>
                  <a:latin typeface="Calibri" panose="020F0502020204030204" charset="0"/>
                  <a:cs typeface="Calibri" panose="020F0502020204030204" charset="0"/>
                </a:rPr>
                <a:t>5</a:t>
              </a:r>
              <a:r>
                <a:rPr lang="zh-CN" altLang="en-US" sz="2000" b="1">
                  <a:solidFill>
                    <a:srgbClr val="0000CC"/>
                  </a:solidFill>
                  <a:latin typeface="Calibri" panose="020F0502020204030204" charset="0"/>
                  <a:cs typeface="Calibri" panose="020F0502020204030204" charset="0"/>
                </a:rPr>
                <a:t>：购买过</a:t>
              </a:r>
              <a:r>
                <a:rPr lang="en-US" altLang="zh-CN" sz="2000" b="1">
                  <a:solidFill>
                    <a:srgbClr val="0000CC"/>
                  </a:solidFill>
                  <a:latin typeface="Calibri" panose="020F0502020204030204" charset="0"/>
                  <a:cs typeface="Calibri" panose="020F0502020204030204" charset="0"/>
                </a:rPr>
                <a:t>p01</a:t>
              </a:r>
              <a:r>
                <a:rPr lang="zh-CN" altLang="en-US" sz="2000" b="1">
                  <a:solidFill>
                    <a:srgbClr val="0000CC"/>
                  </a:solidFill>
                  <a:latin typeface="Calibri" panose="020F0502020204030204" charset="0"/>
                  <a:cs typeface="Calibri" panose="020F0502020204030204" charset="0"/>
                </a:rPr>
                <a:t>和其他商品，但没有购买过</a:t>
              </a:r>
              <a:r>
                <a:rPr lang="en-US" altLang="zh-CN" sz="2000" b="1">
                  <a:solidFill>
                    <a:srgbClr val="0000CC"/>
                  </a:solidFill>
                  <a:latin typeface="Calibri" panose="020F0502020204030204" charset="0"/>
                  <a:cs typeface="Calibri" panose="020F0502020204030204" charset="0"/>
                </a:rPr>
                <a:t>p02</a:t>
              </a:r>
              <a:endParaRPr lang="en-US" altLang="zh-CN" sz="2000" b="1">
                <a:solidFill>
                  <a:srgbClr val="0000CC"/>
                </a:solidFill>
                <a:latin typeface="Calibri" panose="020F0502020204030204" charset="0"/>
                <a:cs typeface="Calibri" panose="020F0502020204030204" charset="0"/>
              </a:endParaRPr>
            </a:p>
            <a:p>
              <a:pPr lvl="0" indent="0">
                <a:buFont typeface="+mj-ea"/>
                <a:buNone/>
              </a:pPr>
              <a:r>
                <a:rPr lang="en-US" altLang="zh-CN" sz="2000" b="1">
                  <a:solidFill>
                    <a:srgbClr val="0000CC"/>
                  </a:solidFill>
                  <a:latin typeface="Calibri" panose="020F0502020204030204" charset="0"/>
                  <a:cs typeface="Calibri" panose="020F0502020204030204" charset="0"/>
                  <a:sym typeface="+mn-ea"/>
                </a:rPr>
                <a:t>S</a:t>
              </a:r>
              <a:r>
                <a:rPr lang="en-US" altLang="zh-CN" sz="2000" b="1" baseline="-25000">
                  <a:solidFill>
                    <a:srgbClr val="0000CC"/>
                  </a:solidFill>
                  <a:latin typeface="Calibri" panose="020F0502020204030204" charset="0"/>
                  <a:cs typeface="Calibri" panose="020F0502020204030204" charset="0"/>
                  <a:sym typeface="+mn-ea"/>
                </a:rPr>
                <a:t>6</a:t>
              </a:r>
              <a:r>
                <a:rPr lang="zh-CN" altLang="en-US" sz="2000" b="1">
                  <a:solidFill>
                    <a:srgbClr val="0000CC"/>
                  </a:solidFill>
                  <a:latin typeface="Calibri" panose="020F0502020204030204" charset="0"/>
                  <a:cs typeface="Calibri" panose="020F0502020204030204" charset="0"/>
                  <a:sym typeface="+mn-ea"/>
                </a:rPr>
                <a:t>：购买过</a:t>
              </a:r>
              <a:r>
                <a:rPr lang="en-US" altLang="zh-CN" sz="2000" b="1">
                  <a:solidFill>
                    <a:srgbClr val="0000CC"/>
                  </a:solidFill>
                  <a:latin typeface="Calibri" panose="020F0502020204030204" charset="0"/>
                  <a:cs typeface="Calibri" panose="020F0502020204030204" charset="0"/>
                  <a:sym typeface="+mn-ea"/>
                </a:rPr>
                <a:t>p02</a:t>
              </a:r>
              <a:r>
                <a:rPr lang="zh-CN" altLang="en-US" sz="2000" b="1">
                  <a:solidFill>
                    <a:srgbClr val="0000CC"/>
                  </a:solidFill>
                  <a:latin typeface="Calibri" panose="020F0502020204030204" charset="0"/>
                  <a:cs typeface="Calibri" panose="020F0502020204030204" charset="0"/>
                  <a:sym typeface="+mn-ea"/>
                </a:rPr>
                <a:t>和其他商品，但没有购买过</a:t>
              </a:r>
              <a:r>
                <a:rPr lang="en-US" altLang="zh-CN" sz="2000" b="1">
                  <a:solidFill>
                    <a:srgbClr val="0000CC"/>
                  </a:solidFill>
                  <a:latin typeface="Calibri" panose="020F0502020204030204" charset="0"/>
                  <a:cs typeface="Calibri" panose="020F0502020204030204" charset="0"/>
                  <a:sym typeface="+mn-ea"/>
                </a:rPr>
                <a:t>p01</a:t>
              </a:r>
              <a:endParaRPr lang="en-US" altLang="zh-CN" sz="2000" b="1">
                <a:solidFill>
                  <a:srgbClr val="0000CC"/>
                </a:solidFill>
                <a:latin typeface="Calibri" panose="020F0502020204030204" charset="0"/>
                <a:cs typeface="Calibri" panose="020F0502020204030204" charset="0"/>
                <a:sym typeface="+mn-ea"/>
              </a:endParaRPr>
            </a:p>
            <a:p>
              <a:pPr marL="507365" lvl="0" indent="-507365">
                <a:buFont typeface="+mj-ea"/>
                <a:buNone/>
              </a:pPr>
              <a:r>
                <a:rPr lang="en-US" altLang="zh-CN" sz="2000" b="1">
                  <a:solidFill>
                    <a:srgbClr val="0000CC"/>
                  </a:solidFill>
                  <a:latin typeface="Calibri" panose="020F0502020204030204" charset="0"/>
                  <a:cs typeface="Calibri" panose="020F0502020204030204" charset="0"/>
                </a:rPr>
                <a:t>S</a:t>
              </a:r>
              <a:r>
                <a:rPr lang="en-US" altLang="zh-CN" sz="2000" b="1" baseline="-25000">
                  <a:solidFill>
                    <a:srgbClr val="0000CC"/>
                  </a:solidFill>
                  <a:latin typeface="Calibri" panose="020F0502020204030204" charset="0"/>
                  <a:cs typeface="Calibri" panose="020F0502020204030204" charset="0"/>
                </a:rPr>
                <a:t>7</a:t>
              </a:r>
              <a:r>
                <a:rPr lang="zh-CN" altLang="en-US" sz="2000" b="1">
                  <a:solidFill>
                    <a:srgbClr val="0000CC"/>
                  </a:solidFill>
                  <a:latin typeface="Calibri" panose="020F0502020204030204" charset="0"/>
                  <a:cs typeface="Calibri" panose="020F0502020204030204" charset="0"/>
                </a:rPr>
                <a:t>：既购买过</a:t>
              </a:r>
              <a:r>
                <a:rPr lang="en-US" altLang="zh-CN" sz="2000" b="1">
                  <a:solidFill>
                    <a:srgbClr val="0000CC"/>
                  </a:solidFill>
                  <a:sym typeface="+mn-ea"/>
                </a:rPr>
                <a:t>p01</a:t>
              </a:r>
              <a:r>
                <a:rPr lang="zh-CN" altLang="en-US" sz="2000" b="1">
                  <a:solidFill>
                    <a:srgbClr val="0000CC"/>
                  </a:solidFill>
                  <a:sym typeface="+mn-ea"/>
                </a:rPr>
                <a:t>和</a:t>
              </a:r>
              <a:r>
                <a:rPr lang="en-US" altLang="zh-CN" sz="2000" b="1">
                  <a:solidFill>
                    <a:srgbClr val="0000CC"/>
                  </a:solidFill>
                  <a:sym typeface="+mn-ea"/>
                </a:rPr>
                <a:t>p02</a:t>
              </a:r>
              <a:r>
                <a:rPr lang="zh-CN" altLang="en-US" sz="2000" b="1">
                  <a:solidFill>
                    <a:srgbClr val="0000CC"/>
                  </a:solidFill>
                  <a:sym typeface="+mn-ea"/>
                </a:rPr>
                <a:t>这两种商品，也购买过其他商品</a:t>
              </a:r>
              <a:endParaRPr lang="zh-CN" altLang="en-US" sz="2000" b="1">
                <a:solidFill>
                  <a:srgbClr val="0000CC"/>
                </a:solidFill>
                <a:sym typeface="+mn-ea"/>
              </a:endParaRPr>
            </a:p>
            <a:p>
              <a:pPr lvl="0" indent="0">
                <a:buFont typeface="+mj-ea"/>
                <a:buNone/>
              </a:pPr>
              <a:r>
                <a:rPr lang="en-US" altLang="zh-CN" sz="2000" b="1">
                  <a:solidFill>
                    <a:srgbClr val="0000CC"/>
                  </a:solidFill>
                  <a:latin typeface="Calibri" panose="020F0502020204030204" charset="0"/>
                  <a:cs typeface="Calibri" panose="020F0502020204030204" charset="0"/>
                </a:rPr>
                <a:t>S</a:t>
              </a:r>
              <a:r>
                <a:rPr lang="en-US" altLang="zh-CN" sz="2000" b="1" baseline="-25000">
                  <a:solidFill>
                    <a:srgbClr val="0000CC"/>
                  </a:solidFill>
                  <a:latin typeface="Calibri" panose="020F0502020204030204" charset="0"/>
                  <a:cs typeface="Calibri" panose="020F0502020204030204" charset="0"/>
                </a:rPr>
                <a:t>8</a:t>
              </a:r>
              <a:r>
                <a:rPr lang="zh-CN" altLang="en-US" sz="2000" b="1">
                  <a:solidFill>
                    <a:srgbClr val="0000CC"/>
                  </a:solidFill>
                  <a:latin typeface="Calibri" panose="020F0502020204030204" charset="0"/>
                  <a:cs typeface="Calibri" panose="020F0502020204030204" charset="0"/>
                </a:rPr>
                <a:t>：没有购买过任何商品</a:t>
              </a:r>
              <a:endParaRPr lang="zh-CN" altLang="en-US" sz="2000" b="1">
                <a:solidFill>
                  <a:srgbClr val="0000CC"/>
                </a:solidFill>
                <a:latin typeface="Calibri" panose="020F0502020204030204" charset="0"/>
                <a:cs typeface="Calibri" panose="020F0502020204030204" charset="0"/>
              </a:endParaRPr>
            </a:p>
            <a:p>
              <a:pPr lvl="0" indent="0">
                <a:buFont typeface="+mj-ea"/>
                <a:buNone/>
              </a:pPr>
              <a:endParaRPr lang="zh-CN" altLang="en-US" sz="2000" b="1">
                <a:solidFill>
                  <a:srgbClr val="0000CC"/>
                </a:solidFill>
                <a:latin typeface="Calibri" panose="020F0502020204030204" charset="0"/>
                <a:cs typeface="Calibri" panose="020F0502020204030204" charset="0"/>
              </a:endParaRPr>
            </a:p>
          </p:txBody>
        </p:sp>
      </p:grpSp>
      <p:sp>
        <p:nvSpPr>
          <p:cNvPr id="9" name="Rectangle 4"/>
          <p:cNvSpPr/>
          <p:nvPr/>
        </p:nvSpPr>
        <p:spPr>
          <a:xfrm>
            <a:off x="360045" y="4885"/>
            <a:ext cx="11325225" cy="462915"/>
          </a:xfrm>
          <a:prstGeom prst="rect">
            <a:avLst/>
          </a:prstGeom>
          <a:noFill/>
          <a:ln w="9525">
            <a:noFill/>
          </a:ln>
        </p:spPr>
        <p:txBody>
          <a:bodyPr wrap="square" anchor="t">
            <a:spAutoFit/>
          </a:bodyPr>
          <a:p>
            <a:pPr lvl="0" indent="0">
              <a:lnSpc>
                <a:spcPct val="110000"/>
              </a:lnSpc>
              <a:spcBef>
                <a:spcPct val="20000"/>
              </a:spcBef>
              <a:buClr>
                <a:srgbClr val="0000CC"/>
              </a:buClr>
              <a:buFont typeface="+mj-lt"/>
              <a:buNone/>
            </a:pPr>
            <a:r>
              <a:rPr lang="zh-CN" altLang="en-US" sz="2200" b="1" dirty="0">
                <a:solidFill>
                  <a:srgbClr val="0000CC"/>
                </a:solidFill>
                <a:latin typeface="Times New Roman" panose="02020603050405020304" pitchFamily="18" charset="0"/>
                <a:ea typeface="Times New Roman" panose="02020603050405020304" pitchFamily="18" charset="0"/>
              </a:rPr>
              <a:t>请查询满足下述条件的客户编号</a:t>
            </a:r>
            <a:r>
              <a:rPr lang="zh-CN" altLang="en-US" sz="2200" b="1" dirty="0">
                <a:solidFill>
                  <a:srgbClr val="0000CC"/>
                </a:solidFill>
                <a:latin typeface="Times New Roman" panose="02020603050405020304" pitchFamily="18" charset="0"/>
                <a:ea typeface="Times New Roman" panose="02020603050405020304" pitchFamily="18" charset="0"/>
              </a:rPr>
              <a:t>：</a:t>
            </a:r>
            <a:endParaRPr lang="zh-CN" altLang="en-US" sz="2200" b="1" dirty="0">
              <a:solidFill>
                <a:srgbClr val="0000CC"/>
              </a:solidFill>
              <a:latin typeface="Times New Roman" panose="02020603050405020304" pitchFamily="18" charset="0"/>
              <a:ea typeface="Times New Roman" panose="02020603050405020304" pitchFamily="18" charset="0"/>
            </a:endParaRPr>
          </a:p>
        </p:txBody>
      </p:sp>
      <p:sp>
        <p:nvSpPr>
          <p:cNvPr id="4" name="文本框 3"/>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4"/>
          <p:cNvSpPr/>
          <p:nvPr/>
        </p:nvSpPr>
        <p:spPr>
          <a:xfrm>
            <a:off x="360000" y="700850"/>
            <a:ext cx="9085263" cy="565150"/>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a:pPr>
            <a:r>
              <a:rPr lang="zh-CN" altLang="en-US" sz="2800" b="1" dirty="0">
                <a:solidFill>
                  <a:srgbClr val="0000CC"/>
                </a:solidFill>
                <a:ea typeface="宋体" panose="02010600030101010101" pitchFamily="2" charset="-122"/>
                <a:sym typeface="+mn-ea"/>
              </a:rPr>
              <a:t>只购买过</a:t>
            </a:r>
            <a:r>
              <a:rPr lang="en-US" altLang="zh-CN" sz="2800" b="1" dirty="0">
                <a:solidFill>
                  <a:srgbClr val="0000CC"/>
                </a:solidFill>
                <a:ea typeface="宋体" panose="02010600030101010101" pitchFamily="2" charset="-122"/>
                <a:sym typeface="+mn-ea"/>
              </a:rPr>
              <a:t>p01</a:t>
            </a:r>
            <a:r>
              <a:rPr lang="zh-CN" altLang="en-US" sz="2800" b="1" dirty="0">
                <a:solidFill>
                  <a:srgbClr val="0000CC"/>
                </a:solidFill>
                <a:ea typeface="宋体" panose="02010600030101010101" pitchFamily="2" charset="-122"/>
                <a:sym typeface="+mn-ea"/>
              </a:rPr>
              <a:t>和</a:t>
            </a:r>
            <a:r>
              <a:rPr lang="en-US" altLang="zh-CN" sz="2800" b="1" dirty="0">
                <a:solidFill>
                  <a:srgbClr val="0000CC"/>
                </a:solidFill>
                <a:ea typeface="宋体" panose="02010600030101010101" pitchFamily="2" charset="-122"/>
                <a:sym typeface="+mn-ea"/>
              </a:rPr>
              <a:t>p02</a:t>
            </a:r>
            <a:r>
              <a:rPr lang="zh-CN" altLang="en-US" sz="2800" b="1" dirty="0">
                <a:solidFill>
                  <a:srgbClr val="0000CC"/>
                </a:solidFill>
                <a:ea typeface="宋体" panose="02010600030101010101" pitchFamily="2" charset="-122"/>
                <a:sym typeface="+mn-ea"/>
              </a:rPr>
              <a:t>号两种商品的顾客编号</a:t>
            </a:r>
            <a:endParaRPr lang="zh-CN" altLang="zh-CN" sz="2800" b="1" dirty="0">
              <a:solidFill>
                <a:srgbClr val="0000CC"/>
              </a:solidFill>
              <a:latin typeface="Arial" panose="020B0604020202020204" pitchFamily="34" charset="0"/>
              <a:ea typeface="宋体" panose="02010600030101010101" pitchFamily="2" charset="-122"/>
            </a:endParaRPr>
          </a:p>
        </p:txBody>
      </p:sp>
      <p:sp>
        <p:nvSpPr>
          <p:cNvPr id="6" name="Rectangle 4"/>
          <p:cNvSpPr/>
          <p:nvPr/>
        </p:nvSpPr>
        <p:spPr>
          <a:xfrm>
            <a:off x="360045" y="3368675"/>
            <a:ext cx="11325225" cy="565150"/>
          </a:xfrm>
          <a:prstGeom prst="rect">
            <a:avLst/>
          </a:prstGeom>
          <a:noFill/>
          <a:ln w="9525">
            <a:noFill/>
          </a:ln>
        </p:spPr>
        <p:txBody>
          <a:bodyPr wrap="square" anchor="t">
            <a:spAutoFit/>
          </a:bodyPr>
          <a:p>
            <a:pPr marL="514350" lvl="0" indent="-514350">
              <a:lnSpc>
                <a:spcPct val="110000"/>
              </a:lnSpc>
              <a:spcBef>
                <a:spcPct val="20000"/>
              </a:spcBef>
              <a:buClr>
                <a:srgbClr val="0000CC"/>
              </a:buClr>
              <a:buFont typeface="+mj-lt"/>
              <a:buAutoNum type="arabicPeriod" startAt="2"/>
            </a:pPr>
            <a:r>
              <a:rPr lang="en-US" altLang="zh-CN" sz="2800" b="1" dirty="0">
                <a:solidFill>
                  <a:srgbClr val="0000CC"/>
                </a:solidFill>
                <a:ea typeface="宋体" panose="02010600030101010101" pitchFamily="2" charset="-122"/>
                <a:sym typeface="+mn-ea"/>
              </a:rPr>
              <a:t>“</a:t>
            </a:r>
            <a:r>
              <a:rPr lang="zh-CN" altLang="en-US" sz="2800" b="1" dirty="0">
                <a:solidFill>
                  <a:srgbClr val="0000CC"/>
                </a:solidFill>
                <a:ea typeface="宋体" panose="02010600030101010101" pitchFamily="2" charset="-122"/>
                <a:sym typeface="+mn-ea"/>
              </a:rPr>
              <a:t>只购买</a:t>
            </a:r>
            <a:r>
              <a:rPr lang="en-US" altLang="zh-CN" sz="2800" b="1" dirty="0">
                <a:solidFill>
                  <a:srgbClr val="0000CC"/>
                </a:solidFill>
                <a:ea typeface="宋体" panose="02010600030101010101" pitchFamily="2" charset="-122"/>
                <a:sym typeface="+mn-ea"/>
              </a:rPr>
              <a:t>p01” </a:t>
            </a:r>
            <a:r>
              <a:rPr lang="zh-CN" altLang="zh-CN" sz="2800" b="1" dirty="0">
                <a:solidFill>
                  <a:srgbClr val="0000CC"/>
                </a:solidFill>
                <a:ea typeface="宋体" panose="02010600030101010101" pitchFamily="2" charset="-122"/>
                <a:sym typeface="+mn-ea"/>
              </a:rPr>
              <a:t>或者 </a:t>
            </a:r>
            <a:r>
              <a:rPr lang="en-US" altLang="zh-CN" sz="2800" b="1" dirty="0">
                <a:solidFill>
                  <a:srgbClr val="0000CC"/>
                </a:solidFill>
                <a:ea typeface="宋体" panose="02010600030101010101" pitchFamily="2" charset="-122"/>
                <a:sym typeface="+mn-ea"/>
              </a:rPr>
              <a:t>“</a:t>
            </a:r>
            <a:r>
              <a:rPr lang="zh-CN" altLang="zh-CN" sz="2800" b="1" dirty="0">
                <a:solidFill>
                  <a:srgbClr val="0000CC"/>
                </a:solidFill>
                <a:ea typeface="宋体" panose="02010600030101010101" pitchFamily="2" charset="-122"/>
                <a:sym typeface="+mn-ea"/>
              </a:rPr>
              <a:t>只购买</a:t>
            </a:r>
            <a:r>
              <a:rPr lang="en-US" altLang="zh-CN" sz="2800" b="1" dirty="0">
                <a:solidFill>
                  <a:srgbClr val="0000CC"/>
                </a:solidFill>
                <a:ea typeface="宋体" panose="02010600030101010101" pitchFamily="2" charset="-122"/>
                <a:sym typeface="+mn-ea"/>
              </a:rPr>
              <a:t>p02”</a:t>
            </a:r>
            <a:r>
              <a:rPr lang="zh-CN" altLang="en-US" sz="2800" b="1" dirty="0">
                <a:solidFill>
                  <a:srgbClr val="0000CC"/>
                </a:solidFill>
                <a:ea typeface="宋体" panose="02010600030101010101" pitchFamily="2" charset="-122"/>
                <a:sym typeface="+mn-ea"/>
              </a:rPr>
              <a:t>号商品的顾客编号</a:t>
            </a:r>
            <a:endParaRPr lang="zh-CN" altLang="en-US" sz="2800" b="1" dirty="0">
              <a:solidFill>
                <a:srgbClr val="0000CC"/>
              </a:solidFill>
              <a:latin typeface="Times New Roman" panose="02020603050405020304" pitchFamily="18" charset="0"/>
              <a:ea typeface="Times New Roman" panose="02020603050405020304" pitchFamily="18" charset="0"/>
            </a:endParaRPr>
          </a:p>
        </p:txBody>
      </p:sp>
      <p:sp>
        <p:nvSpPr>
          <p:cNvPr id="13" name="文本框 12"/>
          <p:cNvSpPr txBox="1"/>
          <p:nvPr/>
        </p:nvSpPr>
        <p:spPr>
          <a:xfrm>
            <a:off x="115570" y="1517015"/>
            <a:ext cx="12003405" cy="1198880"/>
          </a:xfrm>
          <a:prstGeom prst="rect">
            <a:avLst/>
          </a:prstGeom>
          <a:noFill/>
        </p:spPr>
        <p:txBody>
          <a:bodyPr wrap="square" rtlCol="0">
            <a:spAutoFit/>
          </a:bodyPr>
          <a:p>
            <a:r>
              <a:rPr lang="en-US" altLang="zh-CN" sz="2400" b="1">
                <a:solidFill>
                  <a:schemeClr val="tx1"/>
                </a:solidFill>
                <a:cs typeface="+mn-lt"/>
                <a:sym typeface="+mn-ea"/>
              </a:rPr>
              <a:t>((O where pid='p01')[cid] ∩ (O where pid='p02')[cid])—(O where pid≠'p01' and pid≠'p02')[cid]</a:t>
            </a:r>
            <a:endParaRPr lang="en-US" altLang="zh-CN" sz="2400" b="1">
              <a:solidFill>
                <a:schemeClr val="tx1"/>
              </a:solidFill>
              <a:cs typeface="+mn-lt"/>
              <a:sym typeface="+mn-ea"/>
            </a:endParaRPr>
          </a:p>
          <a:p>
            <a:endParaRPr lang="zh-CN" altLang="en-US" sz="2400">
              <a:solidFill>
                <a:schemeClr val="tx1"/>
              </a:solidFill>
            </a:endParaRPr>
          </a:p>
          <a:p>
            <a:r>
              <a:rPr lang="zh-CN" altLang="en-US" sz="2400" b="1">
                <a:solidFill>
                  <a:schemeClr val="tx1"/>
                </a:solidFill>
              </a:rPr>
              <a:t>（即前一页表中的</a:t>
            </a:r>
            <a:r>
              <a:rPr lang="en-US" altLang="zh-CN" sz="2400" b="1">
                <a:solidFill>
                  <a:schemeClr val="tx1"/>
                </a:solidFill>
              </a:rPr>
              <a:t>S</a:t>
            </a:r>
            <a:r>
              <a:rPr lang="en-US" altLang="zh-CN" sz="2400" b="1" baseline="-25000">
                <a:solidFill>
                  <a:schemeClr val="tx1"/>
                </a:solidFill>
              </a:rPr>
              <a:t>4</a:t>
            </a:r>
            <a:r>
              <a:rPr lang="en-US" altLang="zh-CN" sz="2400" b="1">
                <a:solidFill>
                  <a:schemeClr val="tx1"/>
                </a:solidFill>
              </a:rPr>
              <a:t> </a:t>
            </a:r>
            <a:r>
              <a:rPr lang="zh-CN" altLang="en-US" sz="2400" b="1">
                <a:solidFill>
                  <a:schemeClr val="tx1"/>
                </a:solidFill>
              </a:rPr>
              <a:t>）</a:t>
            </a:r>
            <a:endParaRPr lang="zh-CN" altLang="en-US" sz="2400" b="1">
              <a:solidFill>
                <a:schemeClr val="tx1"/>
              </a:solidFill>
            </a:endParaRPr>
          </a:p>
        </p:txBody>
      </p:sp>
      <p:sp>
        <p:nvSpPr>
          <p:cNvPr id="14" name="文本框 13"/>
          <p:cNvSpPr txBox="1"/>
          <p:nvPr/>
        </p:nvSpPr>
        <p:spPr>
          <a:xfrm>
            <a:off x="115570" y="4154805"/>
            <a:ext cx="12003405" cy="1198880"/>
          </a:xfrm>
          <a:prstGeom prst="rect">
            <a:avLst/>
          </a:prstGeom>
          <a:noFill/>
        </p:spPr>
        <p:txBody>
          <a:bodyPr wrap="square" rtlCol="0">
            <a:spAutoFit/>
          </a:bodyPr>
          <a:p>
            <a:r>
              <a:rPr lang="en-US" altLang="zh-CN" sz="2400" b="1">
                <a:solidFill>
                  <a:schemeClr val="tx1"/>
                </a:solidFill>
                <a:cs typeface="+mn-lt"/>
                <a:sym typeface="+mn-ea"/>
              </a:rPr>
              <a:t>(</a:t>
            </a:r>
            <a:r>
              <a:rPr lang="en-US" altLang="zh-CN" sz="2400" b="1">
                <a:solidFill>
                  <a:schemeClr val="tx1"/>
                </a:solidFill>
                <a:cs typeface="+mn-lt"/>
                <a:sym typeface="+mn-ea"/>
              </a:rPr>
              <a:t>O[cid] — (O  where  pid ≠ 'p01') [cid])  </a:t>
            </a:r>
            <a:r>
              <a:rPr lang="en-US" altLang="zh-CN" sz="2400" b="1">
                <a:solidFill>
                  <a:schemeClr val="tx1"/>
                </a:solidFill>
                <a:latin typeface="Calibri" panose="020F0502020204030204" charset="0"/>
                <a:cs typeface="Calibri" panose="020F0502020204030204" charset="0"/>
                <a:sym typeface="+mn-ea"/>
              </a:rPr>
              <a:t>UNION </a:t>
            </a:r>
            <a:r>
              <a:rPr lang="en-US" altLang="zh-CN" sz="2400" b="1">
                <a:solidFill>
                  <a:schemeClr val="tx1"/>
                </a:solidFill>
                <a:cs typeface="+mn-lt"/>
                <a:sym typeface="+mn-ea"/>
              </a:rPr>
              <a:t> (O[cid] — (O  where  pid ≠ 'p02')[cid])</a:t>
            </a:r>
            <a:endParaRPr lang="en-US" altLang="zh-CN" sz="2400" b="1">
              <a:solidFill>
                <a:schemeClr val="tx1"/>
              </a:solidFill>
              <a:cs typeface="+mn-lt"/>
              <a:sym typeface="+mn-ea"/>
            </a:endParaRPr>
          </a:p>
          <a:p>
            <a:endParaRPr lang="zh-CN" altLang="en-US" sz="2400">
              <a:solidFill>
                <a:schemeClr val="tx1"/>
              </a:solidFill>
            </a:endParaRPr>
          </a:p>
          <a:p>
            <a:r>
              <a:rPr lang="zh-CN" altLang="en-US" sz="2400" b="1">
                <a:solidFill>
                  <a:schemeClr val="tx1"/>
                </a:solidFill>
              </a:rPr>
              <a:t>（即前一页表中的</a:t>
            </a:r>
            <a:r>
              <a:rPr lang="en-US" altLang="zh-CN" sz="2400" b="1">
                <a:solidFill>
                  <a:schemeClr val="tx1"/>
                </a:solidFill>
              </a:rPr>
              <a:t>:  S</a:t>
            </a:r>
            <a:r>
              <a:rPr lang="en-US" altLang="zh-CN" sz="2400" b="1" baseline="-25000">
                <a:solidFill>
                  <a:schemeClr val="tx1"/>
                </a:solidFill>
              </a:rPr>
              <a:t>1</a:t>
            </a:r>
            <a:r>
              <a:rPr lang="en-US" altLang="zh-CN" sz="2400" b="1">
                <a:solidFill>
                  <a:schemeClr val="tx1"/>
                </a:solidFill>
              </a:rPr>
              <a:t>  UNION  S</a:t>
            </a:r>
            <a:r>
              <a:rPr lang="en-US" altLang="zh-CN" sz="2400" b="1" baseline="-25000">
                <a:solidFill>
                  <a:schemeClr val="tx1"/>
                </a:solidFill>
              </a:rPr>
              <a:t>2</a:t>
            </a:r>
            <a:r>
              <a:rPr lang="en-US" altLang="zh-CN" sz="2400" b="1">
                <a:solidFill>
                  <a:schemeClr val="tx1"/>
                </a:solidFill>
              </a:rPr>
              <a:t> </a:t>
            </a:r>
            <a:r>
              <a:rPr lang="zh-CN" altLang="en-US" sz="2400" b="1">
                <a:solidFill>
                  <a:schemeClr val="tx1"/>
                </a:solidFill>
              </a:rPr>
              <a:t>）</a:t>
            </a:r>
            <a:endParaRPr lang="zh-CN" altLang="en-US" sz="2400" b="1">
              <a:solidFill>
                <a:schemeClr val="tx1"/>
              </a:solidFill>
            </a:endParaRPr>
          </a:p>
        </p:txBody>
      </p:sp>
      <p:sp>
        <p:nvSpPr>
          <p:cNvPr id="3" name="文本框 2"/>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7" name="Rectangle 4"/>
          <p:cNvSpPr/>
          <p:nvPr/>
        </p:nvSpPr>
        <p:spPr>
          <a:xfrm>
            <a:off x="360000" y="3723450"/>
            <a:ext cx="9085263" cy="565150"/>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startAt="4"/>
            </a:pPr>
            <a:r>
              <a:rPr lang="zh-CN" altLang="x-none" sz="2800" b="1" dirty="0">
                <a:solidFill>
                  <a:srgbClr val="0000CC"/>
                </a:solidFill>
                <a:latin typeface="Arial" panose="020B0604020202020204" pitchFamily="34" charset="0"/>
                <a:ea typeface="宋体" panose="02010600030101010101" pitchFamily="2" charset="-122"/>
              </a:rPr>
              <a:t>只向自己所在的城市的客户销售过商品的供应商编号</a:t>
            </a:r>
            <a:endParaRPr lang="zh-CN" altLang="x-none" sz="2800" b="1" dirty="0">
              <a:solidFill>
                <a:srgbClr val="0000CC"/>
              </a:solidFill>
              <a:latin typeface="Arial" panose="020B0604020202020204" pitchFamily="34" charset="0"/>
              <a:ea typeface="宋体" panose="02010600030101010101" pitchFamily="2" charset="-122"/>
            </a:endParaRPr>
          </a:p>
        </p:txBody>
      </p:sp>
      <p:graphicFrame>
        <p:nvGraphicFramePr>
          <p:cNvPr id="5" name="对象 4">
            <a:hlinkClick r:id="" action="ppaction://ole?verb="/>
          </p:cNvPr>
          <p:cNvGraphicFramePr>
            <a:graphicFrameLocks noChangeAspect="1"/>
          </p:cNvGraphicFramePr>
          <p:nvPr/>
        </p:nvGraphicFramePr>
        <p:xfrm>
          <a:off x="574903" y="4491066"/>
          <a:ext cx="10330180" cy="614680"/>
        </p:xfrm>
        <a:graphic>
          <a:graphicData uri="http://schemas.openxmlformats.org/presentationml/2006/ole">
            <mc:AlternateContent xmlns:mc="http://schemas.openxmlformats.org/markup-compatibility/2006">
              <mc:Choice xmlns:v="urn:schemas-microsoft-com:vml" Requires="v">
                <p:oleObj spid="_x0000_s1025" name="" r:id="rId1" imgW="3416300" imgH="203200" progId="Equation.KSEE3">
                  <p:embed/>
                </p:oleObj>
              </mc:Choice>
              <mc:Fallback>
                <p:oleObj name="" r:id="rId1" imgW="3416300" imgH="203200" progId="Equation.KSEE3">
                  <p:embed/>
                  <p:pic>
                    <p:nvPicPr>
                      <p:cNvPr id="0" name="图片 1024"/>
                      <p:cNvPicPr/>
                      <p:nvPr/>
                    </p:nvPicPr>
                    <p:blipFill>
                      <a:blip r:embed="rId2"/>
                      <a:stretch>
                        <a:fillRect/>
                      </a:stretch>
                    </p:blipFill>
                    <p:spPr>
                      <a:xfrm>
                        <a:off x="574903" y="4491066"/>
                        <a:ext cx="10330180" cy="614680"/>
                      </a:xfrm>
                      <a:prstGeom prst="rect">
                        <a:avLst/>
                      </a:prstGeom>
                    </p:spPr>
                  </p:pic>
                </p:oleObj>
              </mc:Fallback>
            </mc:AlternateContent>
          </a:graphicData>
        </a:graphic>
      </p:graphicFrame>
      <p:sp>
        <p:nvSpPr>
          <p:cNvPr id="9" name="Rectangle 3"/>
          <p:cNvSpPr>
            <a:spLocks noGrp="1"/>
          </p:cNvSpPr>
          <p:nvPr/>
        </p:nvSpPr>
        <p:spPr>
          <a:xfrm>
            <a:off x="360000" y="989775"/>
            <a:ext cx="9085263" cy="565150"/>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lvl="0" indent="-514350" eaLnBrk="1" hangingPunct="1">
              <a:lnSpc>
                <a:spcPct val="110000"/>
              </a:lnSpc>
              <a:buFont typeface="+mj-lt"/>
              <a:buAutoNum type="arabicPeriod" startAt="3"/>
            </a:pPr>
            <a:r>
              <a:rPr lang="zh-CN" altLang="en-US" sz="2800" b="1" dirty="0">
                <a:solidFill>
                  <a:srgbClr val="0000CC"/>
                </a:solidFill>
                <a:ea typeface="宋体" panose="02010600030101010101" pitchFamily="2" charset="-122"/>
              </a:rPr>
              <a:t>只购买过一种商品的顾客编号</a:t>
            </a:r>
            <a:endParaRPr lang="zh-CN" altLang="en-US" sz="2800" b="1" dirty="0">
              <a:solidFill>
                <a:srgbClr val="0000CC"/>
              </a:solidFill>
              <a:ea typeface="宋体" panose="02010600030101010101" pitchFamily="2" charset="-122"/>
            </a:endParaRPr>
          </a:p>
        </p:txBody>
      </p:sp>
      <p:graphicFrame>
        <p:nvGraphicFramePr>
          <p:cNvPr id="10" name="对象 9">
            <a:hlinkClick r:id="" action="ppaction://ole?verb="/>
          </p:cNvPr>
          <p:cNvGraphicFramePr>
            <a:graphicFrameLocks noChangeAspect="1"/>
          </p:cNvGraphicFramePr>
          <p:nvPr/>
        </p:nvGraphicFramePr>
        <p:xfrm>
          <a:off x="719889" y="1534215"/>
          <a:ext cx="9588500" cy="1151890"/>
        </p:xfrm>
        <a:graphic>
          <a:graphicData uri="http://schemas.openxmlformats.org/presentationml/2006/ole">
            <mc:AlternateContent xmlns:mc="http://schemas.openxmlformats.org/markup-compatibility/2006">
              <mc:Choice xmlns:v="urn:schemas-microsoft-com:vml" Requires="v">
                <p:oleObj spid="_x0000_s2049" name="" r:id="rId3" imgW="3276600" imgH="393700" progId="Equation.KSEE3">
                  <p:embed/>
                </p:oleObj>
              </mc:Choice>
              <mc:Fallback>
                <p:oleObj name="" r:id="rId3" imgW="3276600" imgH="393700" progId="Equation.KSEE3">
                  <p:embed/>
                  <p:pic>
                    <p:nvPicPr>
                      <p:cNvPr id="0" name="图片 2048"/>
                      <p:cNvPicPr/>
                      <p:nvPr/>
                    </p:nvPicPr>
                    <p:blipFill>
                      <a:blip r:embed="rId4"/>
                      <a:stretch>
                        <a:fillRect/>
                      </a:stretch>
                    </p:blipFill>
                    <p:spPr>
                      <a:xfrm>
                        <a:off x="719889" y="1534215"/>
                        <a:ext cx="9588500" cy="1151890"/>
                      </a:xfrm>
                      <a:prstGeom prst="rect">
                        <a:avLst/>
                      </a:prstGeom>
                    </p:spPr>
                  </p:pic>
                </p:oleObj>
              </mc:Fallback>
            </mc:AlternateContent>
          </a:graphicData>
        </a:graphic>
      </p:graphicFrame>
      <p:sp>
        <p:nvSpPr>
          <p:cNvPr id="2" name="文本框 1"/>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5367"/>
                                        </p:tgtEl>
                                        <p:attrNameLst>
                                          <p:attrName>style.visibility</p:attrName>
                                        </p:attrNameLst>
                                      </p:cBhvr>
                                      <p:to>
                                        <p:strVal val="visible"/>
                                      </p:to>
                                    </p:set>
                                    <p:animEffect transition="in" filter="blinds(horizontal)">
                                      <p:cBhvr>
                                        <p:cTn id="13" dur="500"/>
                                        <p:tgtEl>
                                          <p:spTgt spid="1536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7" name="Rectangle 4"/>
          <p:cNvSpPr/>
          <p:nvPr/>
        </p:nvSpPr>
        <p:spPr>
          <a:xfrm>
            <a:off x="360045" y="629920"/>
            <a:ext cx="11337290" cy="1038860"/>
          </a:xfrm>
          <a:prstGeom prst="rect">
            <a:avLst/>
          </a:prstGeom>
          <a:noFill/>
          <a:ln w="9525">
            <a:noFill/>
          </a:ln>
        </p:spPr>
        <p:txBody>
          <a:bodyPr wrap="square" anchor="t">
            <a:spAutoFit/>
          </a:bodyPr>
          <a:p>
            <a:pPr marL="514350" lvl="0" indent="-514350">
              <a:lnSpc>
                <a:spcPct val="110000"/>
              </a:lnSpc>
              <a:spcBef>
                <a:spcPct val="20000"/>
              </a:spcBef>
              <a:buClr>
                <a:srgbClr val="0000CC"/>
              </a:buClr>
              <a:buFont typeface="+mj-lt"/>
              <a:buAutoNum type="arabicPeriod" startAt="5"/>
            </a:pPr>
            <a:r>
              <a:rPr lang="zh-CN" altLang="zh-CN" sz="2800" b="1" dirty="0">
                <a:solidFill>
                  <a:srgbClr val="0000CC"/>
                </a:solidFill>
                <a:latin typeface="Arial" panose="020B0604020202020204" pitchFamily="34" charset="0"/>
                <a:ea typeface="宋体" panose="02010600030101010101" pitchFamily="2" charset="-122"/>
                <a:sym typeface="+mn-ea"/>
              </a:rPr>
              <a:t>针对每一个供应商查询其销售金额</a:t>
            </a:r>
            <a:r>
              <a:rPr lang="en-US" altLang="zh-CN" sz="2800" b="1" dirty="0">
                <a:solidFill>
                  <a:srgbClr val="0000CC"/>
                </a:solidFill>
                <a:latin typeface="Arial" panose="020B0604020202020204" pitchFamily="34" charset="0"/>
                <a:ea typeface="宋体" panose="02010600030101010101" pitchFamily="2" charset="-122"/>
                <a:sym typeface="+mn-ea"/>
              </a:rPr>
              <a:t>dols</a:t>
            </a:r>
            <a:r>
              <a:rPr lang="zh-CN" altLang="zh-CN" sz="2800" b="1" dirty="0">
                <a:solidFill>
                  <a:srgbClr val="0000CC"/>
                </a:solidFill>
                <a:latin typeface="Arial" panose="020B0604020202020204" pitchFamily="34" charset="0"/>
                <a:ea typeface="宋体" panose="02010600030101010101" pitchFamily="2" charset="-122"/>
                <a:sym typeface="+mn-ea"/>
              </a:rPr>
              <a:t>最高的订单，结果返回供应商编号、销售金额最高的订单的编号和销售金额</a:t>
            </a:r>
            <a:endParaRPr lang="zh-CN" altLang="en-US" sz="2800" b="1" dirty="0">
              <a:solidFill>
                <a:srgbClr val="0000CC"/>
              </a:solidFill>
              <a:latin typeface="Arial" panose="020B0604020202020204" pitchFamily="34" charset="0"/>
              <a:ea typeface="宋体" panose="02010600030101010101" pitchFamily="2" charset="-122"/>
            </a:endParaRPr>
          </a:p>
        </p:txBody>
      </p:sp>
      <p:graphicFrame>
        <p:nvGraphicFramePr>
          <p:cNvPr id="5" name="对象 4">
            <a:hlinkClick r:id="" action="ppaction://ole?verb="/>
          </p:cNvPr>
          <p:cNvGraphicFramePr>
            <a:graphicFrameLocks noChangeAspect="1"/>
          </p:cNvGraphicFramePr>
          <p:nvPr/>
        </p:nvGraphicFramePr>
        <p:xfrm>
          <a:off x="885556" y="2055903"/>
          <a:ext cx="10744200" cy="935990"/>
        </p:xfrm>
        <a:graphic>
          <a:graphicData uri="http://schemas.openxmlformats.org/presentationml/2006/ole">
            <mc:AlternateContent xmlns:mc="http://schemas.openxmlformats.org/markup-compatibility/2006">
              <mc:Choice xmlns:v="urn:schemas-microsoft-com:vml" Requires="v">
                <p:oleObj spid="_x0000_s3073" name="" r:id="rId1" imgW="4520565" imgH="393700" progId="Equation.KSEE3">
                  <p:embed/>
                </p:oleObj>
              </mc:Choice>
              <mc:Fallback>
                <p:oleObj name="" r:id="rId1" imgW="4520565" imgH="393700" progId="Equation.KSEE3">
                  <p:embed/>
                  <p:pic>
                    <p:nvPicPr>
                      <p:cNvPr id="0" name="图片 3072"/>
                      <p:cNvPicPr/>
                      <p:nvPr/>
                    </p:nvPicPr>
                    <p:blipFill>
                      <a:blip r:embed="rId2"/>
                      <a:stretch>
                        <a:fillRect/>
                      </a:stretch>
                    </p:blipFill>
                    <p:spPr>
                      <a:xfrm>
                        <a:off x="885556" y="2055903"/>
                        <a:ext cx="10744200" cy="93599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734427" y="3625306"/>
          <a:ext cx="5585460" cy="937895"/>
        </p:xfrm>
        <a:graphic>
          <a:graphicData uri="http://schemas.openxmlformats.org/presentationml/2006/ole">
            <mc:AlternateContent xmlns:mc="http://schemas.openxmlformats.org/markup-compatibility/2006">
              <mc:Choice xmlns:v="urn:schemas-microsoft-com:vml" Requires="v">
                <p:oleObj spid="_x0000_s8" name="" r:id="rId3" imgW="2349500" imgH="393700" progId="Equation.KSEE3">
                  <p:embed/>
                </p:oleObj>
              </mc:Choice>
              <mc:Fallback>
                <p:oleObj name="" r:id="rId3" imgW="2349500" imgH="393700" progId="Equation.KSEE3">
                  <p:embed/>
                  <p:pic>
                    <p:nvPicPr>
                      <p:cNvPr id="0" name="图片 3072"/>
                      <p:cNvPicPr/>
                      <p:nvPr/>
                    </p:nvPicPr>
                    <p:blipFill>
                      <a:blip r:embed="rId4"/>
                      <a:stretch>
                        <a:fillRect/>
                      </a:stretch>
                    </p:blipFill>
                    <p:spPr>
                      <a:xfrm>
                        <a:off x="734427" y="3625306"/>
                        <a:ext cx="5585460" cy="937895"/>
                      </a:xfrm>
                      <a:prstGeom prst="rect">
                        <a:avLst/>
                      </a:prstGeom>
                    </p:spPr>
                  </p:pic>
                </p:oleObj>
              </mc:Fallback>
            </mc:AlternateContent>
          </a:graphicData>
        </a:graphic>
      </p:graphicFrame>
      <p:sp>
        <p:nvSpPr>
          <p:cNvPr id="2" name="文本框 1"/>
          <p:cNvSpPr txBox="1"/>
          <p:nvPr/>
        </p:nvSpPr>
        <p:spPr>
          <a:xfrm>
            <a:off x="9651365" y="19685"/>
            <a:ext cx="2517775" cy="337185"/>
          </a:xfrm>
          <a:prstGeom prst="rect">
            <a:avLst/>
          </a:prstGeom>
          <a:solidFill>
            <a:schemeClr val="bg1"/>
          </a:solidFill>
        </p:spPr>
        <p:txBody>
          <a:bodyPr wrap="square" rtlCol="0">
            <a:spAutoFit/>
          </a:bodyPr>
          <a:p>
            <a:pPr algn="ctr"/>
            <a:r>
              <a:rPr lang="zh-CN" altLang="zh-CN" sz="1600" b="1"/>
              <a:t>（</a:t>
            </a:r>
            <a:r>
              <a:rPr lang="zh-CN" altLang="zh-CN" sz="1600" b="1" u="sng"/>
              <a:t>复习思考题</a:t>
            </a:r>
            <a:r>
              <a:rPr lang="en-US" altLang="zh-CN" sz="1600" b="1" u="sng"/>
              <a:t>AI</a:t>
            </a:r>
            <a:r>
              <a:rPr lang="zh-CN" altLang="zh-CN" sz="1600" b="1" u="sng"/>
              <a:t> </a:t>
            </a:r>
            <a:r>
              <a:rPr lang="en-US" altLang="zh-CN" sz="1600" b="1" u="sng">
                <a:sym typeface="+mn-ea"/>
              </a:rPr>
              <a:t>20190919</a:t>
            </a:r>
            <a:r>
              <a:rPr lang="zh-CN" altLang="en-US" sz="1600" b="1"/>
              <a:t>）</a:t>
            </a:r>
            <a:endParaRPr lang="zh-CN" altLang="en-US" sz="16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TABLE_BEAUTIFY" val="smartTable{e235659c-83f7-4d18-90fe-64990f7987f7}"/>
</p:tagLst>
</file>

<file path=ppt/tags/tag2.xml><?xml version="1.0" encoding="utf-8"?>
<p:tagLst xmlns:p="http://schemas.openxmlformats.org/presentationml/2006/main">
  <p:tag name="KSO_WM_UNIT_TABLE_BEAUTIFY" val="smartTable{f942d8bf-aaac-4fec-8def-0f0e565e3288}"/>
</p:tagLst>
</file>

<file path=ppt/tags/tag3.xml><?xml version="1.0" encoding="utf-8"?>
<p:tagLst xmlns:p="http://schemas.openxmlformats.org/presentationml/2006/main">
  <p:tag name="KSO_WM_UNIT_TABLE_BEAUTIFY" val="smartTable{d02abcfb-e219-4f03-a275-4ed271336a77}"/>
</p:tagLst>
</file>

<file path=ppt/tags/tag4.xml><?xml version="1.0" encoding="utf-8"?>
<p:tagLst xmlns:p="http://schemas.openxmlformats.org/presentationml/2006/main">
  <p:tag name="KSO_WM_UNIT_TABLE_BEAUTIFY" val="smartTable{0390d5a0-5cbc-4d7a-9289-7133b7432fea}"/>
</p:tagLst>
</file>

<file path=ppt/tags/tag5.xml><?xml version="1.0" encoding="utf-8"?>
<p:tagLst xmlns:p="http://schemas.openxmlformats.org/presentationml/2006/main">
  <p:tag name="KSO_WM_UNIT_TABLE_BEAUTIFY" val="smartTable{589c4f09-69ed-4a0f-9594-4f1bab2b4800}"/>
</p:tagLst>
</file>

<file path=ppt/tags/tag6.xml><?xml version="1.0" encoding="utf-8"?>
<p:tagLst xmlns:p="http://schemas.openxmlformats.org/presentationml/2006/main">
  <p:tag name="KSO_WM_UNIT_TABLE_BEAUTIFY" val="smartTable{589c4f09-69ed-4a0f-9594-4f1bab2b4800}"/>
</p:tagLst>
</file>

<file path=ppt/tags/tag7.xml><?xml version="1.0" encoding="utf-8"?>
<p:tagLst xmlns:p="http://schemas.openxmlformats.org/presentationml/2006/main">
  <p:tag name="KSO_WM_UNIT_TABLE_BEAUTIFY" val="smartTable{589c4f09-69ed-4a0f-9594-4f1bab2b48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4156</Words>
  <Application>WPS 演示</Application>
  <PresentationFormat>宽屏</PresentationFormat>
  <Paragraphs>417</Paragraphs>
  <Slides>11</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8</vt:i4>
      </vt:variant>
      <vt:variant>
        <vt:lpstr>幻灯片标题</vt:lpstr>
      </vt:variant>
      <vt:variant>
        <vt:i4>11</vt:i4>
      </vt:variant>
    </vt:vector>
  </HeadingPairs>
  <TitlesOfParts>
    <vt:vector size="30" baseType="lpstr">
      <vt:lpstr>Arial</vt:lpstr>
      <vt:lpstr>宋体</vt:lpstr>
      <vt:lpstr>Wingdings</vt:lpstr>
      <vt:lpstr>华文细黑</vt:lpstr>
      <vt:lpstr>Times New Roman</vt:lpstr>
      <vt:lpstr>Calibri</vt:lpstr>
      <vt:lpstr>Wingdings</vt:lpstr>
      <vt:lpstr>微软雅黑</vt:lpstr>
      <vt:lpstr>Arial Unicode MS</vt:lpstr>
      <vt:lpstr>Calibri Light</vt:lpstr>
      <vt:lpstr>Office 主题</vt:lpstr>
      <vt:lpstr>Equation.KSEE3</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njujack</dc:creator>
  <cp:lastModifiedBy>百老汇</cp:lastModifiedBy>
  <cp:revision>53</cp:revision>
  <dcterms:created xsi:type="dcterms:W3CDTF">2017-03-24T01:21:00Z</dcterms:created>
  <dcterms:modified xsi:type="dcterms:W3CDTF">2019-11-07T13:56:07Z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2052-11.1.0.9145</vt:lpwstr>
  </property>
</Properties>
</file>