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39875"/>
            <a:ext cx="10515600" cy="4011930"/>
          </a:xfr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/>
          <a:p>
            <a:r>
              <a:rPr lang="en-US" altLang="zh-CN">
                <a:solidFill>
                  <a:srgbClr val="0000CC"/>
                </a:solidFill>
              </a:rPr>
              <a:t>select statement</a:t>
            </a:r>
            <a:r>
              <a:rPr lang="zh-CN" altLang="zh-CN">
                <a:solidFill>
                  <a:srgbClr val="0000CC"/>
                </a:solidFill>
              </a:rPr>
              <a:t>的语法</a:t>
            </a:r>
            <a:endParaRPr lang="zh-CN" altLang="zh-CN">
              <a:solidFill>
                <a:srgbClr val="0000CC"/>
              </a:solidFill>
            </a:endParaRPr>
          </a:p>
          <a:p>
            <a:endParaRPr lang="zh-CN" altLang="zh-CN">
              <a:solidFill>
                <a:srgbClr val="0000CC"/>
              </a:solidFill>
            </a:endParaRPr>
          </a:p>
          <a:p>
            <a:r>
              <a:rPr lang="zh-CN" altLang="en-US">
                <a:solidFill>
                  <a:srgbClr val="0000CC"/>
                </a:solidFill>
              </a:rPr>
              <a:t>表连接查询</a:t>
            </a:r>
            <a:r>
              <a:rPr lang="en-US" altLang="zh-CN">
                <a:solidFill>
                  <a:srgbClr val="0000CC"/>
                </a:solidFill>
              </a:rPr>
              <a:t>(product, join, thate-join) vs. </a:t>
            </a:r>
            <a:r>
              <a:rPr lang="zh-CN" altLang="en-US">
                <a:solidFill>
                  <a:srgbClr val="0000CC"/>
                </a:solidFill>
              </a:rPr>
              <a:t>子查询</a:t>
            </a:r>
            <a:r>
              <a:rPr lang="en-US" altLang="zh-CN">
                <a:solidFill>
                  <a:srgbClr val="0000CC"/>
                </a:solidFill>
              </a:rPr>
              <a:t>(subquery)</a:t>
            </a:r>
            <a:endParaRPr lang="en-US" altLang="zh-CN">
              <a:solidFill>
                <a:srgbClr val="0000CC"/>
              </a:solidFill>
            </a:endParaRPr>
          </a:p>
          <a:p>
            <a:endParaRPr lang="en-US" altLang="zh-CN">
              <a:solidFill>
                <a:srgbClr val="0000CC"/>
              </a:solidFill>
            </a:endParaRPr>
          </a:p>
          <a:p>
            <a:r>
              <a:rPr lang="zh-CN" altLang="en-US">
                <a:solidFill>
                  <a:srgbClr val="0000CC"/>
                </a:solidFill>
              </a:rPr>
              <a:t>关系代数中的减法在</a:t>
            </a:r>
            <a:r>
              <a:rPr lang="en-US" altLang="zh-CN">
                <a:solidFill>
                  <a:srgbClr val="0000CC"/>
                </a:solidFill>
              </a:rPr>
              <a:t>SQL</a:t>
            </a:r>
            <a:r>
              <a:rPr lang="zh-CN" altLang="en-US">
                <a:solidFill>
                  <a:srgbClr val="0000CC"/>
                </a:solidFill>
              </a:rPr>
              <a:t>中的表示方法？是否可以不用子查询？</a:t>
            </a:r>
            <a:endParaRPr lang="zh-CN" altLang="en-US">
              <a:solidFill>
                <a:srgbClr val="0000CC"/>
              </a:solidFill>
            </a:endParaRPr>
          </a:p>
          <a:p>
            <a:endParaRPr lang="zh-CN" altLang="en-US">
              <a:solidFill>
                <a:srgbClr val="0000CC"/>
              </a:solidFill>
            </a:endParaRPr>
          </a:p>
          <a:p>
            <a:r>
              <a:rPr lang="zh-CN" altLang="en-US">
                <a:solidFill>
                  <a:srgbClr val="0000CC"/>
                </a:solidFill>
              </a:rPr>
              <a:t>在关系代数中用除法表示的查询，在</a:t>
            </a:r>
            <a:r>
              <a:rPr lang="en-US" altLang="zh-CN">
                <a:solidFill>
                  <a:srgbClr val="0000CC"/>
                </a:solidFill>
              </a:rPr>
              <a:t>SQL</a:t>
            </a:r>
            <a:r>
              <a:rPr lang="zh-CN" altLang="en-US">
                <a:solidFill>
                  <a:srgbClr val="0000CC"/>
                </a:solidFill>
              </a:rPr>
              <a:t>中如何表示？是否可以用</a:t>
            </a:r>
            <a:r>
              <a:rPr lang="en-US" altLang="zh-CN">
                <a:solidFill>
                  <a:srgbClr val="0000CC"/>
                </a:solidFill>
              </a:rPr>
              <a:t>SQL</a:t>
            </a:r>
            <a:r>
              <a:rPr lang="zh-CN" altLang="en-US">
                <a:solidFill>
                  <a:srgbClr val="0000CC"/>
                </a:solidFill>
              </a:rPr>
              <a:t>中的量化比较谓词</a:t>
            </a:r>
            <a:r>
              <a:rPr lang="en-US" altLang="zh-CN">
                <a:solidFill>
                  <a:srgbClr val="0000CC"/>
                </a:solidFill>
              </a:rPr>
              <a:t>ALL</a:t>
            </a:r>
            <a:r>
              <a:rPr lang="zh-CN" altLang="en-US">
                <a:solidFill>
                  <a:srgbClr val="0000CC"/>
                </a:solidFill>
              </a:rPr>
              <a:t>来描述</a:t>
            </a:r>
            <a:r>
              <a:rPr lang="en-US" altLang="zh-CN">
                <a:solidFill>
                  <a:srgbClr val="0000CC"/>
                </a:solidFill>
              </a:rPr>
              <a:t>‘</a:t>
            </a:r>
            <a:r>
              <a:rPr lang="zh-CN" altLang="en-US">
                <a:solidFill>
                  <a:srgbClr val="0000CC"/>
                </a:solidFill>
              </a:rPr>
              <a:t>除法</a:t>
            </a:r>
            <a:r>
              <a:rPr lang="en-US" altLang="zh-CN">
                <a:solidFill>
                  <a:srgbClr val="0000CC"/>
                </a:solidFill>
              </a:rPr>
              <a:t>‘</a:t>
            </a:r>
            <a:r>
              <a:rPr lang="zh-CN" altLang="en-US">
                <a:solidFill>
                  <a:srgbClr val="0000CC"/>
                </a:solidFill>
              </a:rPr>
              <a:t>的语义？</a:t>
            </a:r>
            <a:endParaRPr lang="zh-CN" altLang="en-US">
              <a:solidFill>
                <a:srgbClr val="0000CC"/>
              </a:solidFill>
            </a:endParaRPr>
          </a:p>
        </p:txBody>
      </p:sp>
      <p:sp>
        <p:nvSpPr>
          <p:cNvPr id="2" name="副标题 2"/>
          <p:cNvSpPr>
            <a:spLocks noGrp="1"/>
          </p:cNvSpPr>
          <p:nvPr/>
        </p:nvSpPr>
        <p:spPr>
          <a:xfrm>
            <a:off x="838200" y="76835"/>
            <a:ext cx="10516235" cy="922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3200" b="1">
                <a:solidFill>
                  <a:srgbClr val="0000CC"/>
                </a:solidFill>
              </a:rPr>
              <a:t>SQL</a:t>
            </a:r>
            <a:r>
              <a:rPr lang="zh-CN" altLang="en-US" sz="3200" b="1">
                <a:solidFill>
                  <a:srgbClr val="0000CC"/>
                </a:solidFill>
              </a:rPr>
              <a:t>语言的课后复习思考题 </a:t>
            </a:r>
            <a:r>
              <a:rPr lang="zh-CN" altLang="en-US" sz="3200" b="1">
                <a:solidFill>
                  <a:srgbClr val="0000CC"/>
                </a:solidFill>
                <a:sym typeface="+mn-ea"/>
              </a:rPr>
              <a:t>(2019.10.23)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718820"/>
            <a:ext cx="10515600" cy="5631180"/>
          </a:xfrm>
        </p:spPr>
        <p:txBody>
          <a:bodyPr>
            <a:spAutoFit/>
          </a:bodyPr>
          <a:p>
            <a:pPr marL="514350" indent="-514350" fontAlgn="auto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zh-CN" sz="2400">
                <a:solidFill>
                  <a:srgbClr val="0000CC"/>
                </a:solidFill>
                <a:latin typeface="Arial" panose="020B0604020202020204" pitchFamily="34" charset="0"/>
                <a:sym typeface="+mn-ea"/>
              </a:rPr>
              <a:t>请用</a:t>
            </a:r>
            <a:r>
              <a:rPr lang="en-US" altLang="zh-CN" sz="2400">
                <a:solidFill>
                  <a:srgbClr val="0000CC"/>
                </a:solidFill>
                <a:latin typeface="Arial" panose="020B0604020202020204" pitchFamily="34" charset="0"/>
                <a:sym typeface="+mn-ea"/>
              </a:rPr>
              <a:t>SQL</a:t>
            </a:r>
            <a:r>
              <a:rPr lang="zh-CN" altLang="en-US" sz="2400">
                <a:solidFill>
                  <a:srgbClr val="0000CC"/>
                </a:solidFill>
                <a:latin typeface="Arial" panose="020B0604020202020204" pitchFamily="34" charset="0"/>
                <a:sym typeface="+mn-ea"/>
              </a:rPr>
              <a:t>语言来查询满足下述条件的客户的</a:t>
            </a:r>
            <a:r>
              <a:rPr lang="en-US" altLang="zh-CN" sz="2400">
                <a:solidFill>
                  <a:srgbClr val="0000CC"/>
                </a:solidFill>
                <a:latin typeface="Arial" panose="020B0604020202020204" pitchFamily="34" charset="0"/>
                <a:sym typeface="+mn-ea"/>
              </a:rPr>
              <a:t>cid</a:t>
            </a:r>
            <a:r>
              <a:rPr lang="zh-CN" altLang="en-US" sz="2400">
                <a:solidFill>
                  <a:srgbClr val="0000CC"/>
                </a:solidFill>
                <a:latin typeface="Arial" panose="020B0604020202020204" pitchFamily="34" charset="0"/>
                <a:sym typeface="+mn-ea"/>
              </a:rPr>
              <a:t>和</a:t>
            </a:r>
            <a:r>
              <a:rPr lang="en-US" altLang="zh-CN" sz="2400">
                <a:solidFill>
                  <a:srgbClr val="0000CC"/>
                </a:solidFill>
                <a:latin typeface="Arial" panose="020B0604020202020204" pitchFamily="34" charset="0"/>
                <a:sym typeface="+mn-ea"/>
              </a:rPr>
              <a:t>cname</a:t>
            </a:r>
            <a:r>
              <a:rPr lang="zh-CN" sz="2400">
                <a:solidFill>
                  <a:srgbClr val="0000CC"/>
                </a:solidFill>
                <a:latin typeface="Arial" panose="020B0604020202020204" pitchFamily="34" charset="0"/>
                <a:sym typeface="+mn-ea"/>
              </a:rPr>
              <a:t>：</a:t>
            </a:r>
            <a:endParaRPr lang="zh-CN" sz="240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lvl="1" fontAlgn="auto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>
                <a:latin typeface="Arial" panose="020B0604020202020204" pitchFamily="34" charset="0"/>
                <a:sym typeface="+mn-ea"/>
              </a:rPr>
              <a:t>Q1:  </a:t>
            </a:r>
            <a:r>
              <a:rPr lang="zh-CN" altLang="zh-CN" sz="2400">
                <a:latin typeface="Arial" panose="020B0604020202020204" pitchFamily="34" charset="0"/>
                <a:sym typeface="+mn-ea"/>
              </a:rPr>
              <a:t>没有通过纽约市的供应商去购买过商品</a:t>
            </a:r>
            <a:r>
              <a:rPr lang="en-US" altLang="zh-CN" sz="2400">
                <a:latin typeface="Arial" panose="020B0604020202020204" pitchFamily="34" charset="0"/>
                <a:sym typeface="+mn-ea"/>
              </a:rPr>
              <a:t>;</a:t>
            </a:r>
            <a:endParaRPr lang="en-US" altLang="zh-CN" sz="24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 fontAlgn="auto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>
                <a:latin typeface="Arial" panose="020B0604020202020204" pitchFamily="34" charset="0"/>
                <a:sym typeface="+mn-ea"/>
              </a:rPr>
              <a:t>Q2:  </a:t>
            </a:r>
            <a:r>
              <a:rPr lang="zh-CN" altLang="zh-CN" sz="2400">
                <a:latin typeface="Arial" panose="020B0604020202020204" pitchFamily="34" charset="0"/>
                <a:sym typeface="+mn-ea"/>
              </a:rPr>
              <a:t>只购买过两种不同</a:t>
            </a:r>
            <a:r>
              <a:rPr lang="en-US" altLang="zh-CN" sz="2400">
                <a:latin typeface="Arial" panose="020B0604020202020204" pitchFamily="34" charset="0"/>
                <a:sym typeface="+mn-ea"/>
              </a:rPr>
              <a:t>(pid)</a:t>
            </a:r>
            <a:r>
              <a:rPr lang="zh-CN" altLang="zh-CN" sz="2400">
                <a:latin typeface="Arial" panose="020B0604020202020204" pitchFamily="34" charset="0"/>
                <a:sym typeface="+mn-ea"/>
              </a:rPr>
              <a:t>商品</a:t>
            </a:r>
            <a:r>
              <a:rPr lang="en-US" altLang="zh-CN" sz="2400">
                <a:latin typeface="Arial" panose="020B0604020202020204" pitchFamily="34" charset="0"/>
                <a:sym typeface="+mn-ea"/>
              </a:rPr>
              <a:t>;</a:t>
            </a:r>
            <a:endParaRPr lang="en-US" altLang="zh-CN" sz="24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 fontAlgn="auto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>
                <a:latin typeface="Arial" panose="020B0604020202020204" pitchFamily="34" charset="0"/>
                <a:sym typeface="+mn-ea"/>
              </a:rPr>
              <a:t>Q3:  </a:t>
            </a:r>
            <a:r>
              <a:rPr lang="zh-CN" altLang="en-US" sz="2400">
                <a:latin typeface="Arial" panose="020B0604020202020204" pitchFamily="34" charset="0"/>
                <a:sym typeface="+mn-ea"/>
              </a:rPr>
              <a:t>所有订单的购买金额</a:t>
            </a:r>
            <a:r>
              <a:rPr lang="en-US" altLang="zh-CN" sz="2400">
                <a:latin typeface="Arial" panose="020B0604020202020204" pitchFamily="34" charset="0"/>
                <a:sym typeface="+mn-ea"/>
              </a:rPr>
              <a:t>(dols)</a:t>
            </a:r>
            <a:r>
              <a:rPr lang="zh-CN" altLang="en-US" sz="2400">
                <a:latin typeface="Arial" panose="020B0604020202020204" pitchFamily="34" charset="0"/>
                <a:sym typeface="+mn-ea"/>
              </a:rPr>
              <a:t>都超过</a:t>
            </a:r>
            <a:r>
              <a:rPr lang="en-US" altLang="zh-CN" sz="2400">
                <a:latin typeface="Arial" panose="020B0604020202020204" pitchFamily="34" charset="0"/>
                <a:sym typeface="+mn-ea"/>
              </a:rPr>
              <a:t>1000</a:t>
            </a:r>
            <a:r>
              <a:rPr lang="zh-CN" altLang="en-US" sz="2400">
                <a:latin typeface="Arial" panose="020B0604020202020204" pitchFamily="34" charset="0"/>
                <a:sym typeface="+mn-ea"/>
              </a:rPr>
              <a:t>美元</a:t>
            </a:r>
            <a:r>
              <a:rPr lang="en-US" altLang="zh-CN" sz="2400">
                <a:latin typeface="Arial" panose="020B0604020202020204" pitchFamily="34" charset="0"/>
                <a:sym typeface="+mn-ea"/>
              </a:rPr>
              <a:t>;</a:t>
            </a:r>
            <a:endParaRPr lang="en-US" altLang="zh-CN" sz="2400">
              <a:solidFill>
                <a:schemeClr val="tx1"/>
              </a:solidFill>
              <a:latin typeface="Arial" panose="020B0604020202020204" pitchFamily="34" charset="0"/>
              <a:sym typeface="+mn-ea"/>
            </a:endParaRPr>
          </a:p>
          <a:p>
            <a:pPr lvl="1" fontAlgn="auto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>
                <a:latin typeface="Arial" panose="020B0604020202020204" pitchFamily="34" charset="0"/>
                <a:sym typeface="+mn-ea"/>
              </a:rPr>
              <a:t>Q4:  </a:t>
            </a:r>
            <a:r>
              <a:rPr lang="zh-CN" altLang="en-US" sz="2400">
                <a:latin typeface="Arial" panose="020B0604020202020204" pitchFamily="34" charset="0"/>
                <a:sym typeface="+mn-ea"/>
              </a:rPr>
              <a:t>通过纽约市的供应商去购买过所有价格超过</a:t>
            </a:r>
            <a:r>
              <a:rPr lang="en-US" altLang="zh-CN" sz="2400">
                <a:latin typeface="Arial" panose="020B0604020202020204" pitchFamily="34" charset="0"/>
                <a:sym typeface="+mn-ea"/>
              </a:rPr>
              <a:t>1</a:t>
            </a:r>
            <a:r>
              <a:rPr lang="zh-CN" altLang="en-US" sz="2400">
                <a:latin typeface="Arial" panose="020B0604020202020204" pitchFamily="34" charset="0"/>
                <a:sym typeface="+mn-ea"/>
              </a:rPr>
              <a:t>美元的商品</a:t>
            </a:r>
            <a:r>
              <a:rPr lang="en-US" altLang="zh-CN" sz="2400">
                <a:latin typeface="Arial" panose="020B0604020202020204" pitchFamily="34" charset="0"/>
                <a:sym typeface="+mn-ea"/>
              </a:rPr>
              <a:t>;</a:t>
            </a:r>
            <a:endParaRPr lang="zh-CN" altLang="en-US" sz="24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514350" indent="-514350" fontAlgn="auto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zh-CN" altLang="en-US" sz="2400">
                <a:solidFill>
                  <a:srgbClr val="0000CC"/>
                </a:solidFill>
                <a:latin typeface="Arial" panose="020B0604020202020204" pitchFamily="34" charset="0"/>
                <a:sym typeface="+mn-ea"/>
              </a:rPr>
              <a:t>请用</a:t>
            </a:r>
            <a:r>
              <a:rPr lang="en-US" altLang="zh-CN" sz="2400">
                <a:solidFill>
                  <a:srgbClr val="0000CC"/>
                </a:solidFill>
                <a:latin typeface="Arial" panose="020B0604020202020204" pitchFamily="34" charset="0"/>
                <a:sym typeface="+mn-ea"/>
              </a:rPr>
              <a:t>SQL</a:t>
            </a:r>
            <a:r>
              <a:rPr lang="zh-CN" altLang="en-US" sz="2400">
                <a:solidFill>
                  <a:srgbClr val="0000CC"/>
                </a:solidFill>
                <a:latin typeface="Arial" panose="020B0604020202020204" pitchFamily="34" charset="0"/>
                <a:sym typeface="+mn-ea"/>
              </a:rPr>
              <a:t>语言来表示下述查询</a:t>
            </a:r>
            <a:r>
              <a:rPr lang="en-US" altLang="zh-CN" sz="2400">
                <a:solidFill>
                  <a:srgbClr val="0000CC"/>
                </a:solidFill>
                <a:latin typeface="Arial" panose="020B0604020202020204" pitchFamily="34" charset="0"/>
                <a:sym typeface="+mn-ea"/>
              </a:rPr>
              <a:t> (</a:t>
            </a:r>
            <a:r>
              <a:rPr lang="zh-CN" altLang="en-US" sz="2400">
                <a:solidFill>
                  <a:srgbClr val="0000CC"/>
                </a:solidFill>
                <a:latin typeface="Arial" panose="020B0604020202020204" pitchFamily="34" charset="0"/>
                <a:sym typeface="+mn-ea"/>
              </a:rPr>
              <a:t>结果返回</a:t>
            </a:r>
            <a:r>
              <a:rPr lang="en-US" altLang="zh-CN" sz="2400">
                <a:solidFill>
                  <a:srgbClr val="0000CC"/>
                </a:solidFill>
                <a:latin typeface="Arial" panose="020B0604020202020204" pitchFamily="34" charset="0"/>
                <a:sym typeface="+mn-ea"/>
              </a:rPr>
              <a:t>cid</a:t>
            </a:r>
            <a:r>
              <a:rPr lang="zh-CN" altLang="en-US" sz="2400">
                <a:solidFill>
                  <a:srgbClr val="0000CC"/>
                </a:solidFill>
                <a:latin typeface="Arial" panose="020B0604020202020204" pitchFamily="34" charset="0"/>
                <a:sym typeface="+mn-ea"/>
              </a:rPr>
              <a:t>和</a:t>
            </a:r>
            <a:r>
              <a:rPr lang="en-US" altLang="zh-CN" sz="2400">
                <a:solidFill>
                  <a:srgbClr val="0000CC"/>
                </a:solidFill>
                <a:latin typeface="Arial" panose="020B0604020202020204" pitchFamily="34" charset="0"/>
                <a:sym typeface="+mn-ea"/>
              </a:rPr>
              <a:t>pid)</a:t>
            </a:r>
            <a:endParaRPr lang="zh-CN" altLang="en-US" sz="240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lvl="1" fontAlgn="auto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x-none" sz="2400" dirty="0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Q5: 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客户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C</a:t>
            </a:r>
            <a:r>
              <a:rPr lang="zh-CN" altLang="zh-CN" dirty="0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只</a:t>
            </a:r>
            <a:r>
              <a:rPr lang="zh-CN" altLang="x-none" dirty="0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购买过一次</a:t>
            </a:r>
            <a:endParaRPr lang="en-US" altLang="x-none" sz="2400" dirty="0">
              <a:latin typeface="Arial" panose="020B0604020202020204" pitchFamily="34" charset="0"/>
              <a:ea typeface="宋体" panose="02010600030101010101" pitchFamily="2" charset="-122"/>
              <a:cs typeface="+mn-ea"/>
              <a:sym typeface="+mn-ea"/>
            </a:endParaRPr>
          </a:p>
          <a:p>
            <a:pPr lvl="1" fontAlgn="auto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x-none" sz="2400" dirty="0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Q6:  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客户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C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只</a:t>
            </a:r>
            <a:r>
              <a:rPr lang="zh-CN" altLang="x-none" sz="2400" dirty="0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购买过商品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P 1 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次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  <a:cs typeface="+mn-ea"/>
              <a:sym typeface="+mn-ea"/>
            </a:endParaRPr>
          </a:p>
          <a:p>
            <a:pPr lvl="1" fontAlgn="auto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Q7:  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客户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C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只</a:t>
            </a:r>
            <a:r>
              <a:rPr lang="zh-CN" altLang="x-none" sz="2400" dirty="0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购买过商品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P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这一种商品</a:t>
            </a:r>
            <a:endParaRPr lang="zh-CN" altLang="en-US" sz="2400" dirty="0">
              <a:solidFill>
                <a:srgbClr val="0000CC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+mn-ea"/>
            </a:endParaRPr>
          </a:p>
          <a:p>
            <a:pPr marL="514350" indent="-514350" fontAlgn="auto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zh-CN" altLang="en-US" sz="2400">
                <a:solidFill>
                  <a:srgbClr val="0000CC"/>
                </a:solidFill>
                <a:latin typeface="Arial" panose="020B0604020202020204" pitchFamily="34" charset="0"/>
              </a:rPr>
              <a:t>按照下述要求写出对应的</a:t>
            </a:r>
            <a:r>
              <a:rPr lang="en-US" altLang="zh-CN" sz="2400">
                <a:solidFill>
                  <a:srgbClr val="0000CC"/>
                </a:solidFill>
                <a:latin typeface="Arial" panose="020B0604020202020204" pitchFamily="34" charset="0"/>
              </a:rPr>
              <a:t>SQL</a:t>
            </a:r>
            <a:r>
              <a:rPr lang="zh-CN" altLang="en-US" sz="2400">
                <a:solidFill>
                  <a:srgbClr val="0000CC"/>
                </a:solidFill>
                <a:latin typeface="Arial" panose="020B0604020202020204" pitchFamily="34" charset="0"/>
              </a:rPr>
              <a:t>查询语句：</a:t>
            </a:r>
            <a:endParaRPr lang="zh-CN" altLang="en-US" sz="240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lvl="1" fontAlgn="auto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Q8:  </a:t>
            </a:r>
            <a:r>
              <a:rPr lang="zh-CN" altLang="en-US">
                <a:latin typeface="Arial" panose="020B0604020202020204" pitchFamily="34" charset="0"/>
                <a:sym typeface="+mn-ea"/>
              </a:rPr>
              <a:t>在所有有客户的城市中都被销售过的商品的编号</a:t>
            </a:r>
            <a:endParaRPr lang="zh-CN" altLang="en-US">
              <a:latin typeface="Arial" panose="020B0604020202020204" pitchFamily="34" charset="0"/>
              <a:sym typeface="+mn-ea"/>
            </a:endParaRPr>
          </a:p>
          <a:p>
            <a:pPr lvl="1" fontAlgn="auto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Q9:  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返回每一个客户的编号及其最后两份订单的订购日期（订购日期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orddate</a:t>
            </a:r>
            <a:r>
              <a:rPr lang="zh-CN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为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Date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类型的字段，以订单编号的大小来区分订单的先后）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lvl="1" fontAlgn="auto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Q10:  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查询满足下述条件的供应商</a:t>
            </a:r>
            <a:r>
              <a:rPr lang="zh-CN" altLang="en-US" sz="2400">
                <a:solidFill>
                  <a:schemeClr val="tx1"/>
                </a:solidFill>
                <a:latin typeface="Arial" panose="020B0604020202020204" pitchFamily="34" charset="0"/>
              </a:rPr>
              <a:t>的编号和名称：向所有折扣</a:t>
            </a:r>
            <a:r>
              <a:rPr lang="en-US" altLang="zh-CN" sz="2400">
                <a:solidFill>
                  <a:schemeClr val="tx1"/>
                </a:solidFill>
                <a:latin typeface="Arial" panose="020B0604020202020204" pitchFamily="34" charset="0"/>
              </a:rPr>
              <a:t>discnt</a:t>
            </a:r>
            <a:r>
              <a:rPr lang="zh-CN" altLang="zh-CN" sz="2400">
                <a:solidFill>
                  <a:schemeClr val="tx1"/>
                </a:solidFill>
                <a:latin typeface="Arial" panose="020B0604020202020204" pitchFamily="34" charset="0"/>
              </a:rPr>
              <a:t>最高的客户都销售过商品。</a:t>
            </a:r>
            <a:endParaRPr lang="zh-CN" altLang="zh-CN" sz="2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0055" y="106045"/>
            <a:ext cx="105156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一、在</a:t>
            </a:r>
            <a:r>
              <a:rPr lang="en-US" altLang="zh-CN" sz="2800" b="1"/>
              <a:t>MyCAP</a:t>
            </a:r>
            <a:r>
              <a:rPr lang="zh-CN" altLang="en-US" sz="2800" b="1"/>
              <a:t>数据库上，使用</a:t>
            </a:r>
            <a:r>
              <a:rPr lang="en-US" altLang="zh-CN" sz="2800" b="1"/>
              <a:t>SQL</a:t>
            </a:r>
            <a:r>
              <a:rPr lang="zh-CN" altLang="en-US" sz="2800" b="1"/>
              <a:t>语言来表示下述查询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0980" y="467360"/>
            <a:ext cx="11511915" cy="460375"/>
          </a:xfrm>
        </p:spPr>
        <p:txBody>
          <a:bodyPr wrap="square">
            <a:spAutoFit/>
          </a:bodyPr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1">
                <a:solidFill>
                  <a:srgbClr val="0000CC"/>
                </a:solidFill>
                <a:latin typeface="Arial" panose="020B0604020202020204" pitchFamily="34" charset="0"/>
              </a:rPr>
              <a:t>二、</a:t>
            </a:r>
            <a:r>
              <a:rPr sz="2400" b="1">
                <a:solidFill>
                  <a:srgbClr val="0000CC"/>
                </a:solidFill>
                <a:latin typeface="Arial" panose="020B0604020202020204" pitchFamily="34" charset="0"/>
              </a:rPr>
              <a:t>设有一个教务管理数据库，其中的关系模式如下：</a:t>
            </a:r>
            <a:endParaRPr sz="2400" b="1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281305" y="965835"/>
          <a:ext cx="11682095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675"/>
                <a:gridCol w="4886325"/>
                <a:gridCol w="584009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zh-CN" sz="2000">
                          <a:solidFill>
                            <a:schemeClr val="tx1"/>
                          </a:solidFill>
                        </a:rPr>
                        <a:t>关系</a:t>
                      </a:r>
                      <a:endParaRPr lang="zh-CN" altLang="zh-CN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</a:rPr>
                        <a:t>属性</a:t>
                      </a:r>
                      <a:endParaRPr lang="zh-CN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>
                      <a:solidFill>
                        <a:schemeClr val="tx1"/>
                      </a:solidFill>
                      <a:prstDash val="sysDash"/>
                    </a:lnL>
                    <a:lnR w="635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zh-CN" sz="2000">
                          <a:solidFill>
                            <a:schemeClr val="tx1"/>
                          </a:solidFill>
                        </a:rPr>
                        <a:t>关系模式</a:t>
                      </a:r>
                      <a:endParaRPr lang="zh-CN" altLang="zh-CN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solidFill>
                            <a:srgbClr val="0000CC"/>
                          </a:solidFill>
                        </a:rPr>
                        <a:t>学生</a:t>
                      </a:r>
                      <a:endParaRPr lang="zh-CN" altLang="en-US" sz="2000">
                        <a:solidFill>
                          <a:srgbClr val="0000CC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ysDash"/>
                    </a:lnR>
                    <a:lnT w="6350">
                      <a:solidFill>
                        <a:schemeClr val="tx1"/>
                      </a:solidFill>
                      <a:prstDash val="sysDash"/>
                    </a:lnT>
                    <a:lnB w="6350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sym typeface="+mn-ea"/>
                        </a:rPr>
                        <a:t>学号，姓名，就读院系</a:t>
                      </a:r>
                      <a:endParaRPr lang="zh-CN" altLang="en-US" sz="2000" b="1">
                        <a:solidFill>
                          <a:srgbClr val="0000CC"/>
                        </a:solidFill>
                        <a:latin typeface="Arial" panose="020B0604020202020204" pitchFamily="34" charset="0"/>
                        <a:sym typeface="+mn-ea"/>
                      </a:endParaRPr>
                    </a:p>
                  </a:txBody>
                  <a:tcPr anchor="ctr" anchorCtr="0">
                    <a:lnL w="6350">
                      <a:solidFill>
                        <a:schemeClr val="tx1"/>
                      </a:solidFill>
                      <a:prstDash val="sysDash"/>
                    </a:lnL>
                    <a:lnR w="6350">
                      <a:solidFill>
                        <a:schemeClr val="tx1"/>
                      </a:solidFill>
                      <a:prstDash val="sysDash"/>
                    </a:lnR>
                    <a:lnT w="6350">
                      <a:solidFill>
                        <a:schemeClr val="tx1"/>
                      </a:solidFill>
                      <a:prstDash val="sysDash"/>
                    </a:lnT>
                    <a:lnB w="6350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sym typeface="+mn-ea"/>
                        </a:rPr>
                        <a:t>Student(sno, sname, dept)</a:t>
                      </a:r>
                      <a:endParaRPr lang="zh-CN" altLang="en-US" sz="2000" b="1">
                        <a:solidFill>
                          <a:srgbClr val="0000CC"/>
                        </a:solidFill>
                        <a:latin typeface="Arial" panose="020B0604020202020204" pitchFamily="34" charset="0"/>
                        <a:sym typeface="+mn-ea"/>
                      </a:endParaRPr>
                    </a:p>
                  </a:txBody>
                  <a:tcPr anchor="ctr" anchorCtr="0">
                    <a:lnL w="635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ysDash"/>
                    </a:lnT>
                    <a:lnB w="6350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solidFill>
                            <a:srgbClr val="0000CC"/>
                          </a:solidFill>
                        </a:rPr>
                        <a:t>教师</a:t>
                      </a:r>
                      <a:endParaRPr lang="zh-CN" altLang="en-US" sz="2000">
                        <a:solidFill>
                          <a:srgbClr val="0000CC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ysDash"/>
                    </a:lnR>
                    <a:lnT w="6350">
                      <a:solidFill>
                        <a:schemeClr val="tx1"/>
                      </a:solidFill>
                      <a:prstDash val="sysDash"/>
                    </a:lnT>
                    <a:lnB w="6350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sym typeface="+mn-ea"/>
                        </a:rPr>
                        <a:t>工号，姓名，工作院系</a:t>
                      </a:r>
                      <a:endParaRPr lang="zh-CN" altLang="en-US" sz="2000" b="1">
                        <a:solidFill>
                          <a:srgbClr val="0000CC"/>
                        </a:solidFill>
                        <a:latin typeface="Arial" panose="020B0604020202020204" pitchFamily="34" charset="0"/>
                        <a:sym typeface="+mn-ea"/>
                      </a:endParaRPr>
                    </a:p>
                  </a:txBody>
                  <a:tcPr anchor="ctr" anchorCtr="0">
                    <a:lnL w="6350">
                      <a:solidFill>
                        <a:schemeClr val="tx1"/>
                      </a:solidFill>
                      <a:prstDash val="sysDash"/>
                    </a:lnL>
                    <a:lnR w="6350">
                      <a:solidFill>
                        <a:schemeClr val="tx1"/>
                      </a:solidFill>
                      <a:prstDash val="sysDash"/>
                    </a:lnR>
                    <a:lnT w="6350">
                      <a:solidFill>
                        <a:schemeClr val="tx1"/>
                      </a:solidFill>
                      <a:prstDash val="sysDash"/>
                    </a:lnT>
                    <a:lnB w="6350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sym typeface="+mn-ea"/>
                        </a:rPr>
                        <a:t>Instructor(ino, iname, dept)</a:t>
                      </a:r>
                      <a:endParaRPr lang="zh-CN" altLang="en-US" sz="2000" b="1">
                        <a:solidFill>
                          <a:srgbClr val="0000CC"/>
                        </a:solidFill>
                        <a:latin typeface="Arial" panose="020B0604020202020204" pitchFamily="34" charset="0"/>
                        <a:sym typeface="+mn-ea"/>
                      </a:endParaRPr>
                    </a:p>
                  </a:txBody>
                  <a:tcPr anchor="ctr" anchorCtr="0">
                    <a:lnL w="635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ysDash"/>
                    </a:lnT>
                    <a:lnB w="6350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solidFill>
                            <a:srgbClr val="0000CC"/>
                          </a:solidFill>
                        </a:rPr>
                        <a:t>课程</a:t>
                      </a:r>
                      <a:endParaRPr lang="zh-CN" altLang="en-US" sz="2000">
                        <a:solidFill>
                          <a:srgbClr val="0000CC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ysDash"/>
                    </a:lnR>
                    <a:lnT w="6350">
                      <a:solidFill>
                        <a:schemeClr val="tx1"/>
                      </a:solidFill>
                      <a:prstDash val="sysDash"/>
                    </a:lnT>
                    <a:lnB w="6350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sym typeface="+mn-ea"/>
                        </a:rPr>
                        <a:t>课程号，课程名，开课院系，学分，课程类型</a:t>
                      </a:r>
                      <a:endParaRPr lang="zh-CN" altLang="en-US" sz="2000" b="1">
                        <a:solidFill>
                          <a:srgbClr val="0000CC"/>
                        </a:solidFill>
                        <a:latin typeface="Arial" panose="020B0604020202020204" pitchFamily="34" charset="0"/>
                        <a:sym typeface="+mn-ea"/>
                      </a:endParaRPr>
                    </a:p>
                  </a:txBody>
                  <a:tcPr anchor="ctr" anchorCtr="0">
                    <a:lnL w="6350">
                      <a:solidFill>
                        <a:schemeClr val="tx1"/>
                      </a:solidFill>
                      <a:prstDash val="sysDash"/>
                    </a:lnL>
                    <a:lnR w="6350">
                      <a:solidFill>
                        <a:schemeClr val="tx1"/>
                      </a:solidFill>
                      <a:prstDash val="sysDash"/>
                    </a:lnR>
                    <a:lnT w="6350">
                      <a:solidFill>
                        <a:schemeClr val="tx1"/>
                      </a:solidFill>
                      <a:prstDash val="sysDash"/>
                    </a:lnT>
                    <a:lnB w="6350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sym typeface="+mn-ea"/>
                        </a:rPr>
                        <a:t>Course(cno, cname, dept, credit, optional)</a:t>
                      </a:r>
                      <a:endParaRPr lang="zh-CN" altLang="en-US" sz="2000" b="1">
                        <a:solidFill>
                          <a:srgbClr val="0000CC"/>
                        </a:solidFill>
                        <a:latin typeface="Arial" panose="020B0604020202020204" pitchFamily="34" charset="0"/>
                        <a:sym typeface="+mn-ea"/>
                      </a:endParaRPr>
                    </a:p>
                  </a:txBody>
                  <a:tcPr anchor="ctr" anchorCtr="0">
                    <a:lnL w="635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ysDash"/>
                    </a:lnT>
                    <a:lnB w="6350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solidFill>
                            <a:srgbClr val="0000CC"/>
                          </a:solidFill>
                        </a:rPr>
                        <a:t>选课</a:t>
                      </a:r>
                      <a:endParaRPr lang="zh-CN" altLang="en-US" sz="2000">
                        <a:solidFill>
                          <a:srgbClr val="0000CC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ysDash"/>
                    </a:lnR>
                    <a:lnT w="6350">
                      <a:solidFill>
                        <a:schemeClr val="tx1"/>
                      </a:solidFill>
                      <a:prstDash val="sysDash"/>
                    </a:lnT>
                    <a:lnB w="6350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sym typeface="+mn-ea"/>
                        </a:rPr>
                        <a:t>学号，课程号，</a:t>
                      </a:r>
                      <a:r>
                        <a:rPr lang="zh-CN" sz="2000" b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sym typeface="+mn-ea"/>
                        </a:rPr>
                        <a:t>授课教师工号，选修年份，选修学期，</a:t>
                      </a:r>
                      <a:r>
                        <a:rPr sz="2000" b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sym typeface="+mn-ea"/>
                        </a:rPr>
                        <a:t>成绩</a:t>
                      </a:r>
                      <a:endParaRPr lang="zh-CN" altLang="en-US" sz="2000" b="1">
                        <a:solidFill>
                          <a:srgbClr val="0000CC"/>
                        </a:solidFill>
                        <a:latin typeface="Arial" panose="020B0604020202020204" pitchFamily="34" charset="0"/>
                        <a:sym typeface="+mn-ea"/>
                      </a:endParaRPr>
                    </a:p>
                  </a:txBody>
                  <a:tcPr anchor="ctr" anchorCtr="0">
                    <a:lnL w="6350">
                      <a:solidFill>
                        <a:schemeClr val="tx1"/>
                      </a:solidFill>
                      <a:prstDash val="sysDash"/>
                    </a:lnL>
                    <a:lnR w="6350">
                      <a:solidFill>
                        <a:schemeClr val="tx1"/>
                      </a:solidFill>
                      <a:prstDash val="sysDash"/>
                    </a:lnR>
                    <a:lnT w="6350">
                      <a:solidFill>
                        <a:schemeClr val="tx1"/>
                      </a:solidFill>
                      <a:prstDash val="sysDash"/>
                    </a:lnT>
                    <a:lnB w="6350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sym typeface="+mn-ea"/>
                        </a:rPr>
                        <a:t>Study(sno, cno, </a:t>
                      </a:r>
                      <a:r>
                        <a:rPr lang="en-US" altLang="zh-CN" sz="2000" b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sym typeface="+mn-ea"/>
                        </a:rPr>
                        <a:t>ino, syear, semester, </a:t>
                      </a:r>
                      <a:r>
                        <a:rPr sz="2000" b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sym typeface="+mn-ea"/>
                        </a:rPr>
                        <a:t>grade)</a:t>
                      </a:r>
                      <a:endParaRPr lang="zh-CN" altLang="en-US" sz="2000" b="1">
                        <a:solidFill>
                          <a:srgbClr val="0000CC"/>
                        </a:solidFill>
                        <a:latin typeface="Arial" panose="020B0604020202020204" pitchFamily="34" charset="0"/>
                        <a:sym typeface="+mn-ea"/>
                      </a:endParaRPr>
                    </a:p>
                  </a:txBody>
                  <a:tcPr anchor="ctr" anchorCtr="0">
                    <a:lnL w="635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ysDash"/>
                    </a:lnT>
                    <a:lnB w="6350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solidFill>
                            <a:srgbClr val="0000CC"/>
                          </a:solidFill>
                        </a:rPr>
                        <a:t>授课</a:t>
                      </a:r>
                      <a:endParaRPr lang="zh-CN" altLang="en-US" sz="2000">
                        <a:solidFill>
                          <a:srgbClr val="0000CC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ysDash"/>
                    </a:lnR>
                    <a:lnT w="6350">
                      <a:solidFill>
                        <a:schemeClr val="tx1"/>
                      </a:solidFill>
                      <a:prstDash val="sysDash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sym typeface="+mn-ea"/>
                        </a:rPr>
                        <a:t>主讲教师工号，课程号，授课年份，授课学期，课时数</a:t>
                      </a:r>
                      <a:endParaRPr lang="zh-CN" altLang="en-US" sz="2000" b="1">
                        <a:solidFill>
                          <a:srgbClr val="0000CC"/>
                        </a:solidFill>
                        <a:latin typeface="Arial" panose="020B0604020202020204" pitchFamily="34" charset="0"/>
                        <a:sym typeface="+mn-ea"/>
                      </a:endParaRPr>
                    </a:p>
                  </a:txBody>
                  <a:tcPr anchor="ctr" anchorCtr="0">
                    <a:lnL w="6350">
                      <a:solidFill>
                        <a:schemeClr val="tx1"/>
                      </a:solidFill>
                      <a:prstDash val="sysDash"/>
                    </a:lnL>
                    <a:lnR w="6350">
                      <a:solidFill>
                        <a:schemeClr val="tx1"/>
                      </a:solidFill>
                      <a:prstDash val="sysDash"/>
                    </a:lnR>
                    <a:lnT w="6350">
                      <a:solidFill>
                        <a:schemeClr val="tx1"/>
                      </a:solidFill>
                      <a:prstDash val="sysDash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sym typeface="+mn-ea"/>
                        </a:rPr>
                        <a:t>Teach(ino, cno, tyear, semester, </a:t>
                      </a:r>
                      <a:r>
                        <a:rPr lang="en-US" sz="2000" b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sym typeface="+mn-ea"/>
                        </a:rPr>
                        <a:t>hour</a:t>
                      </a:r>
                      <a:r>
                        <a:rPr sz="2000" b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sym typeface="+mn-ea"/>
                        </a:rPr>
                        <a:t>s)</a:t>
                      </a:r>
                      <a:endParaRPr lang="zh-CN" altLang="en-US" sz="2000" b="1">
                        <a:solidFill>
                          <a:srgbClr val="0000CC"/>
                        </a:solidFill>
                        <a:latin typeface="Arial" panose="020B0604020202020204" pitchFamily="34" charset="0"/>
                        <a:sym typeface="+mn-ea"/>
                      </a:endParaRPr>
                    </a:p>
                  </a:txBody>
                  <a:tcPr anchor="ctr" anchorCtr="0">
                    <a:lnL w="635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ysDash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内容占位符 2"/>
          <p:cNvSpPr>
            <a:spLocks noGrp="1"/>
          </p:cNvSpPr>
          <p:nvPr/>
        </p:nvSpPr>
        <p:spPr>
          <a:xfrm>
            <a:off x="220980" y="4354195"/>
            <a:ext cx="11742420" cy="193802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0000CC"/>
                </a:solidFill>
                <a:latin typeface="Arial" panose="020B0604020202020204" pitchFamily="34" charset="0"/>
              </a:rPr>
              <a:t>其中：</a:t>
            </a:r>
            <a:endParaRPr sz="2400" b="1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lvl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CC"/>
                </a:solidFill>
                <a:latin typeface="Arial" panose="020B0604020202020204" pitchFamily="34" charset="0"/>
              </a:rPr>
              <a:t>同一门课同一个学生只能有一条选课记录；</a:t>
            </a:r>
            <a:endParaRPr sz="2400" b="1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lvl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CC"/>
                </a:solidFill>
                <a:latin typeface="Arial" panose="020B0604020202020204" pitchFamily="34" charset="0"/>
              </a:rPr>
              <a:t>成绩全部采用百分制</a:t>
            </a:r>
            <a:r>
              <a:rPr lang="zh-CN" sz="2400" b="1">
                <a:solidFill>
                  <a:srgbClr val="0000CC"/>
                </a:solidFill>
                <a:latin typeface="Arial" panose="020B0604020202020204" pitchFamily="34" charset="0"/>
              </a:rPr>
              <a:t>，</a:t>
            </a:r>
            <a:r>
              <a:rPr sz="2400" b="1">
                <a:solidFill>
                  <a:srgbClr val="0000CC"/>
                </a:solidFill>
                <a:latin typeface="Arial" panose="020B0604020202020204" pitchFamily="34" charset="0"/>
              </a:rPr>
              <a:t>成绩大于或等于60分才能获得该门课程的学分；</a:t>
            </a:r>
            <a:endParaRPr sz="2400" b="1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lvl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CC"/>
                </a:solidFill>
                <a:latin typeface="Arial" panose="020B0604020202020204" pitchFamily="34" charset="0"/>
              </a:rPr>
              <a:t>单门课程的学分绩计算公式是                          ；</a:t>
            </a:r>
            <a:endParaRPr sz="2400" b="1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lvl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CC"/>
                </a:solidFill>
                <a:latin typeface="Arial" panose="020B0604020202020204" pitchFamily="34" charset="0"/>
              </a:rPr>
              <a:t>课程类型分‘必修’和‘选修’两种；</a:t>
            </a:r>
            <a:endParaRPr sz="2400" b="1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" name="对象 -2147482624"/>
          <p:cNvGraphicFramePr>
            <a:graphicFrameLocks noChangeAspect="1"/>
          </p:cNvGraphicFramePr>
          <p:nvPr/>
        </p:nvGraphicFramePr>
        <p:xfrm>
          <a:off x="5048250" y="5490845"/>
          <a:ext cx="2038350" cy="393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054100" imgH="203200" progId="Equation.KSEE3">
                  <p:embed/>
                </p:oleObj>
              </mc:Choice>
              <mc:Fallback>
                <p:oleObj name="" r:id="rId1" imgW="1054100" imgH="203200" progId="Equation.KSEE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48250" y="5490845"/>
                        <a:ext cx="2038350" cy="3930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135" y="33020"/>
            <a:ext cx="12054205" cy="6770370"/>
          </a:xfrm>
        </p:spPr>
        <p:txBody>
          <a:bodyPr wrap="square">
            <a:spAutoFit/>
          </a:bodyPr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400" b="1">
                <a:solidFill>
                  <a:srgbClr val="0000CC"/>
                </a:solidFill>
                <a:latin typeface="Arial" panose="020B0604020202020204" pitchFamily="34" charset="0"/>
              </a:rPr>
              <a:t>请用SQL来表示下述数据访问请求。</a:t>
            </a:r>
            <a:endParaRPr sz="1200" b="1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457200" indent="-4572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sz="2400" b="1">
                <a:solidFill>
                  <a:srgbClr val="0000CC"/>
                </a:solidFill>
                <a:latin typeface="Arial" panose="020B0604020202020204" pitchFamily="34" charset="0"/>
              </a:rPr>
              <a:t>查询满足下述条件的课程的课程名及开课院系：课程名中含‘数据库’的课程；</a:t>
            </a:r>
            <a:endParaRPr sz="2400" b="1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457200" indent="-4572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sz="2400" b="1">
                <a:solidFill>
                  <a:srgbClr val="0000CC"/>
                </a:solidFill>
                <a:latin typeface="Arial" panose="020B0604020202020204" pitchFamily="34" charset="0"/>
              </a:rPr>
              <a:t>查询满足下述条件的课程的课程号和课程名：‘开课院系’为空；</a:t>
            </a:r>
            <a:endParaRPr sz="2400" b="1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457200" indent="-4572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sz="2400" b="1">
                <a:solidFill>
                  <a:srgbClr val="0000CC"/>
                </a:solidFill>
                <a:latin typeface="Arial" panose="020B0604020202020204" pitchFamily="34" charset="0"/>
              </a:rPr>
              <a:t>查询满足下述条件的教师的工号和姓名：在2014至2016年之间没有承担过授课任务；</a:t>
            </a:r>
            <a:endParaRPr sz="2400" b="1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457200" indent="-4572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sz="2400" b="1">
                <a:solidFill>
                  <a:srgbClr val="0000CC"/>
                </a:solidFill>
                <a:latin typeface="Arial" panose="020B0604020202020204" pitchFamily="34" charset="0"/>
              </a:rPr>
              <a:t>查询满足下述条件的教师的工号和姓名：只主讲过自己所在院系开设的课程；</a:t>
            </a:r>
            <a:endParaRPr sz="2400" b="1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457200" indent="-4572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sz="2400" b="1">
                <a:solidFill>
                  <a:srgbClr val="0000CC"/>
                </a:solidFill>
                <a:latin typeface="Arial" panose="020B0604020202020204" pitchFamily="34" charset="0"/>
              </a:rPr>
              <a:t>查询满足下述条件的学生的学号和姓名：所有课程都及格，且修读了‘计算机’系开设的所有‘必修’课；</a:t>
            </a:r>
            <a:endParaRPr sz="2400" b="1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457200" indent="-4572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sz="2400" b="1">
                <a:solidFill>
                  <a:srgbClr val="0000CC"/>
                </a:solidFill>
                <a:latin typeface="Arial" panose="020B0604020202020204" pitchFamily="34" charset="0"/>
              </a:rPr>
              <a:t>查询只有一位老师担任过授课任务的课程，结果返回满足条件课程的课程号，开课院系及累计开课次数；</a:t>
            </a:r>
            <a:endParaRPr sz="2400" b="1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457200" indent="-4572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7"/>
            </a:pPr>
            <a:r>
              <a:rPr sz="2400" b="1">
                <a:solidFill>
                  <a:srgbClr val="0000CC"/>
                </a:solidFill>
                <a:latin typeface="Arial" panose="020B0604020202020204" pitchFamily="34" charset="0"/>
                <a:sym typeface="+mn-ea"/>
              </a:rPr>
              <a:t>查询每一位老师</a:t>
            </a:r>
            <a:r>
              <a:rPr lang="zh-CN" sz="2400" b="1">
                <a:solidFill>
                  <a:srgbClr val="0000CC"/>
                </a:solidFill>
                <a:latin typeface="Arial" panose="020B0604020202020204" pitchFamily="34" charset="0"/>
                <a:sym typeface="+mn-ea"/>
              </a:rPr>
              <a:t>第一次上课和</a:t>
            </a:r>
            <a:r>
              <a:rPr sz="2400" b="1">
                <a:solidFill>
                  <a:srgbClr val="0000CC"/>
                </a:solidFill>
                <a:latin typeface="Arial" panose="020B0604020202020204" pitchFamily="34" charset="0"/>
                <a:sym typeface="+mn-ea"/>
              </a:rPr>
              <a:t>最</a:t>
            </a:r>
            <a:r>
              <a:rPr lang="zh-CN" sz="2400" b="1">
                <a:solidFill>
                  <a:srgbClr val="0000CC"/>
                </a:solidFill>
                <a:latin typeface="Arial" panose="020B0604020202020204" pitchFamily="34" charset="0"/>
                <a:sym typeface="+mn-ea"/>
              </a:rPr>
              <a:t>后一次</a:t>
            </a:r>
            <a:r>
              <a:rPr sz="2400" b="1">
                <a:solidFill>
                  <a:srgbClr val="0000CC"/>
                </a:solidFill>
                <a:latin typeface="Arial" panose="020B0604020202020204" pitchFamily="34" charset="0"/>
                <a:sym typeface="+mn-ea"/>
              </a:rPr>
              <a:t>上课的</a:t>
            </a:r>
            <a:r>
              <a:rPr lang="zh-CN" sz="2400" b="1">
                <a:solidFill>
                  <a:srgbClr val="0000CC"/>
                </a:solidFill>
                <a:latin typeface="Arial" panose="020B0604020202020204" pitchFamily="34" charset="0"/>
                <a:sym typeface="+mn-ea"/>
              </a:rPr>
              <a:t>年份</a:t>
            </a:r>
            <a:r>
              <a:rPr sz="2400" b="1">
                <a:solidFill>
                  <a:srgbClr val="0000CC"/>
                </a:solidFill>
                <a:latin typeface="Arial" panose="020B0604020202020204" pitchFamily="34" charset="0"/>
                <a:sym typeface="+mn-ea"/>
              </a:rPr>
              <a:t>；</a:t>
            </a:r>
            <a:endParaRPr sz="2400" b="1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457200" indent="-4572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7"/>
            </a:pPr>
            <a:r>
              <a:rPr sz="2400" b="1">
                <a:solidFill>
                  <a:srgbClr val="0000CC"/>
                </a:solidFill>
                <a:latin typeface="Arial" panose="020B0604020202020204" pitchFamily="34" charset="0"/>
                <a:sym typeface="+mn-ea"/>
              </a:rPr>
              <a:t>查询每一位教师的授课次数及累计课时数，结果只返回累计课时数超过1000小时的教师的工号，授课次数及累计课时数；</a:t>
            </a:r>
            <a:endParaRPr sz="2400" b="1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457200" indent="-4572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7"/>
            </a:pPr>
            <a:r>
              <a:rPr sz="2400" b="1">
                <a:solidFill>
                  <a:srgbClr val="0000CC"/>
                </a:solidFill>
                <a:latin typeface="Arial" panose="020B0604020202020204" pitchFamily="34" charset="0"/>
                <a:sym typeface="+mn-ea"/>
              </a:rPr>
              <a:t>针对所有‘必修’课程都及格的同学，统计每一个人的平均学分绩，结果返回学号，就读院系，平均学分绩，并按照‘就读院系的升序’和‘平均学分绩的降序’输出结果；</a:t>
            </a:r>
            <a:endParaRPr sz="2400" b="1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457200" indent="-4572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7"/>
            </a:pPr>
            <a:r>
              <a:rPr sz="2400" b="1">
                <a:solidFill>
                  <a:srgbClr val="0000CC"/>
                </a:solidFill>
                <a:latin typeface="Arial" panose="020B0604020202020204" pitchFamily="34" charset="0"/>
                <a:sym typeface="+mn-ea"/>
              </a:rPr>
              <a:t>查询每一位同学的学号，姓名，就读院系，修读课程门数，取得的学分总数，以及‘必修’课程的平均学分绩。</a:t>
            </a:r>
            <a:endParaRPr sz="2400" b="1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1456</Words>
  <Application>WPS 演示</Application>
  <PresentationFormat>宽屏</PresentationFormat>
  <Paragraphs>82</Paragraphs>
  <Slides>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Calibri</vt:lpstr>
      <vt:lpstr>微软雅黑</vt:lpstr>
      <vt:lpstr>Arial Unicode MS</vt:lpstr>
      <vt:lpstr>Calibri Light</vt:lpstr>
      <vt:lpstr>Office 主题</vt:lpstr>
      <vt:lpstr>Equation.KSEE3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njujack</dc:creator>
  <cp:lastModifiedBy>百老汇</cp:lastModifiedBy>
  <cp:revision>10</cp:revision>
  <dcterms:created xsi:type="dcterms:W3CDTF">2017-03-24T01:21:00Z</dcterms:created>
  <dcterms:modified xsi:type="dcterms:W3CDTF">2019-10-23T13:47:43Z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2052-11.1.0.9145</vt:lpwstr>
  </property>
</Properties>
</file>