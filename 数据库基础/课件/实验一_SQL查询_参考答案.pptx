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6" r:id="rId5"/>
    <p:sldId id="275" r:id="rId6"/>
    <p:sldId id="278" r:id="rId7"/>
    <p:sldId id="279" r:id="rId8"/>
    <p:sldId id="280" r:id="rId9"/>
    <p:sldId id="281" r:id="rId10"/>
    <p:sldId id="289" r:id="rId11"/>
    <p:sldId id="282" r:id="rId12"/>
    <p:sldId id="283" r:id="rId13"/>
    <p:sldId id="284" r:id="rId14"/>
    <p:sldId id="285" r:id="rId15"/>
    <p:sldId id="286" r:id="rId16"/>
    <p:sldId id="287" r:id="rId17"/>
    <p:sldId id="290" r:id="rId18"/>
    <p:sldId id="291" r:id="rId19"/>
    <p:sldId id="288"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2DA8"/>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xml"/><Relationship Id="rId1" Type="http://schemas.openxmlformats.org/officeDocument/2006/relationships/tags" Target="../tags/tag1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4.xml"/><Relationship Id="rId1" Type="http://schemas.openxmlformats.org/officeDocument/2006/relationships/tags" Target="../tags/tag13.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6.xml"/><Relationship Id="rId1" Type="http://schemas.openxmlformats.org/officeDocument/2006/relationships/tags" Target="../tags/tag1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8.xml"/><Relationship Id="rId1" Type="http://schemas.openxmlformats.org/officeDocument/2006/relationships/tags" Target="../tags/tag1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0.xml"/><Relationship Id="rId1" Type="http://schemas.openxmlformats.org/officeDocument/2006/relationships/tags" Target="../tags/tag19.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2.xml"/><Relationship Id="rId1" Type="http://schemas.openxmlformats.org/officeDocument/2006/relationships/tags" Target="../tags/tag2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4.xml"/><Relationship Id="rId1" Type="http://schemas.openxmlformats.org/officeDocument/2006/relationships/tags" Target="../tags/tag23.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6.xml"/><Relationship Id="rId1" Type="http://schemas.openxmlformats.org/officeDocument/2006/relationships/tags" Target="../tags/tag25.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8.xml"/><Relationship Id="rId1" Type="http://schemas.openxmlformats.org/officeDocument/2006/relationships/tags" Target="../tags/tag27.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0.xml"/><Relationship Id="rId1" Type="http://schemas.openxmlformats.org/officeDocument/2006/relationships/tags" Target="../tags/tag29.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2.xml"/><Relationship Id="rId1" Type="http://schemas.openxmlformats.org/officeDocument/2006/relationships/tags" Target="../tags/tag31.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tags" Target="../tags/tag3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8.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524000" y="1729423"/>
            <a:ext cx="9144000" cy="1938020"/>
          </a:xfrm>
        </p:spPr>
        <p:txBody>
          <a:bodyPr>
            <a:spAutoFit/>
          </a:bodyPr>
          <a:p>
            <a:pPr>
              <a:lnSpc>
                <a:spcPct val="100000"/>
              </a:lnSpc>
            </a:pPr>
            <a:r>
              <a:rPr lang="en-US" altLang="zh-CN" sz="4000"/>
              <a:t>SQL</a:t>
            </a:r>
            <a:r>
              <a:rPr lang="zh-CN" altLang="en-US" sz="4000"/>
              <a:t>上机实验</a:t>
            </a:r>
            <a:br>
              <a:rPr lang="zh-CN" altLang="en-US" sz="4000"/>
            </a:br>
            <a:br>
              <a:rPr lang="zh-CN" altLang="en-US" sz="4000"/>
            </a:br>
            <a:r>
              <a:rPr lang="zh-CN" altLang="en-US" sz="4000"/>
              <a:t>（</a:t>
            </a:r>
            <a:r>
              <a:rPr lang="en-US" altLang="zh-CN" sz="4000"/>
              <a:t>SQL</a:t>
            </a:r>
            <a:r>
              <a:rPr lang="zh-CN" altLang="en-US" sz="4000"/>
              <a:t>查询）</a:t>
            </a:r>
            <a:endParaRPr lang="zh-CN" altLang="en-US" sz="4000"/>
          </a:p>
        </p:txBody>
      </p:sp>
      <p:sp>
        <p:nvSpPr>
          <p:cNvPr id="3" name="副标题 2"/>
          <p:cNvSpPr>
            <a:spLocks noGrp="1"/>
          </p:cNvSpPr>
          <p:nvPr>
            <p:ph type="subTitle" idx="1"/>
          </p:nvPr>
        </p:nvSpPr>
        <p:spPr>
          <a:xfrm>
            <a:off x="1524000" y="3759518"/>
            <a:ext cx="9144000" cy="423545"/>
          </a:xfrm>
        </p:spPr>
        <p:txBody>
          <a:bodyPr>
            <a:spAutoFit/>
          </a:bodyPr>
          <a:p>
            <a:r>
              <a:rPr lang="zh-CN" altLang="en-US"/>
              <a:t>参考答案</a:t>
            </a:r>
            <a:endParaRPr lang="zh-CN" altLang="en-US"/>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custDataLst>
              <p:tags r:id="rId1"/>
            </p:custDataLst>
          </p:nvPr>
        </p:nvSpPr>
        <p:spPr>
          <a:xfrm>
            <a:off x="1172845" y="1085850"/>
            <a:ext cx="4607560" cy="2247900"/>
          </a:xfrm>
          <a:prstGeom prst="rect">
            <a:avLst/>
          </a:prstGeom>
          <a:noFill/>
          <a:ln>
            <a:solidFill>
              <a:schemeClr val="tx1"/>
            </a:solidFill>
          </a:ln>
        </p:spPr>
        <p:txBody>
          <a:bodyPr wrap="square" lIns="90170" tIns="46990" rIns="90170" bIns="46990" rtlCol="0">
            <a:noAutofit/>
          </a:bodyPr>
          <a:lstStyle>
            <a:defPPr>
              <a:defRPr lang="zh-CN"/>
            </a:defPPr>
            <a:lvl1pPr fontAlgn="auto">
              <a:lnSpc>
                <a:spcPct val="130000"/>
              </a:lnSpc>
              <a:spcAft>
                <a:spcPts val="1000"/>
              </a:spcAft>
              <a:defRPr sz="1600" spc="150"/>
            </a:lvl1pPr>
          </a:lstStyle>
          <a:p>
            <a:pPr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create table customers (</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lvl="1"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cid char(4) not null, </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lvl="1"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cname char(20) not null,</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lvl="1"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city char(20), </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lvl="1"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discnt real, </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lvl="1"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primary key(cid)</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a:t>
            </a:r>
            <a:endParaRPr lang="zh-CN" altLang="en-US" sz="2000" b="1" dirty="0">
              <a:solidFill>
                <a:srgbClr val="1F2DA8"/>
              </a:solidFill>
              <a:uFillTx/>
              <a:latin typeface="Times New Roman" panose="02020603050405020304" charset="0"/>
              <a:ea typeface="微软雅黑" panose="020B0503020204020204" charset="-122"/>
              <a:cs typeface="Times New Roman" panose="02020603050405020304" charset="0"/>
              <a:sym typeface="Arial" panose="020B0604020202020204" pitchFamily="34" charset="0"/>
            </a:endParaRPr>
          </a:p>
        </p:txBody>
      </p:sp>
      <p:sp>
        <p:nvSpPr>
          <p:cNvPr id="7" name="文本框 6"/>
          <p:cNvSpPr txBox="1"/>
          <p:nvPr>
            <p:custDataLst>
              <p:tags r:id="rId2"/>
            </p:custDataLst>
          </p:nvPr>
        </p:nvSpPr>
        <p:spPr>
          <a:xfrm>
            <a:off x="1451969" y="102327"/>
            <a:ext cx="9288062" cy="921215"/>
          </a:xfrm>
          <a:prstGeom prst="rect">
            <a:avLst/>
          </a:prstGeom>
          <a:noFill/>
        </p:spPr>
        <p:txBody>
          <a:bodyPr wrap="square" lIns="90170" tIns="46990" rIns="90170" bIns="46990" rtlCol="0" anchor="b">
            <a:normAutofit/>
          </a:bodyPr>
          <a:lstStyle/>
          <a:p>
            <a:r>
              <a:rPr lang="en-US" altLang="zh-CN" sz="4000" b="1" spc="300" dirty="0">
                <a:solidFill>
                  <a:srgbClr val="000000">
                    <a:lumMod val="75000"/>
                    <a:lumOff val="25000"/>
                  </a:srgbClr>
                </a:solidFill>
                <a:uFillTx/>
                <a:latin typeface="Arial" panose="020B0604020202020204" pitchFamily="34" charset="0"/>
                <a:ea typeface="微软雅黑" panose="020B0503020204020204" charset="-122"/>
                <a:sym typeface="Arial" panose="020B0604020202020204" pitchFamily="34" charset="0"/>
              </a:rPr>
              <a:t>1</a:t>
            </a:r>
            <a:r>
              <a:rPr lang="zh-CN" altLang="en-US" sz="4000" b="1" spc="300" dirty="0">
                <a:solidFill>
                  <a:srgbClr val="000000">
                    <a:lumMod val="75000"/>
                    <a:lumOff val="25000"/>
                  </a:srgbClr>
                </a:solidFill>
                <a:uFillTx/>
                <a:latin typeface="Arial" panose="020B0604020202020204" pitchFamily="34" charset="0"/>
                <a:ea typeface="微软雅黑" panose="020B0503020204020204" charset="-122"/>
                <a:sym typeface="Arial" panose="020B0604020202020204" pitchFamily="34" charset="0"/>
              </a:rPr>
              <a:t>、</a:t>
            </a:r>
            <a:r>
              <a:rPr lang="zh-CN" altLang="en-US" sz="4000" b="1" spc="300" dirty="0">
                <a:solidFill>
                  <a:srgbClr val="000000">
                    <a:lumMod val="75000"/>
                    <a:lumOff val="25000"/>
                  </a:srgbClr>
                </a:solidFill>
                <a:uFillTx/>
                <a:latin typeface="Arial" panose="020B0604020202020204" pitchFamily="34" charset="0"/>
                <a:ea typeface="微软雅黑" panose="020B0503020204020204" charset="-122"/>
                <a:sym typeface="Arial" panose="020B0604020202020204" pitchFamily="34" charset="0"/>
              </a:rPr>
              <a:t>使用SQL语句建立基本表</a:t>
            </a:r>
            <a:endParaRPr lang="zh-CN" altLang="en-US" sz="4000" b="1" spc="300" dirty="0">
              <a:solidFill>
                <a:srgbClr val="000000">
                  <a:lumMod val="75000"/>
                  <a:lumOff val="25000"/>
                </a:srgbClr>
              </a:solidFill>
              <a:uFillTx/>
              <a:latin typeface="Arial" panose="020B0604020202020204" pitchFamily="34" charset="0"/>
              <a:ea typeface="微软雅黑" panose="020B0503020204020204" charset="-122"/>
              <a:sym typeface="Arial" panose="020B0604020202020204" pitchFamily="34" charset="0"/>
            </a:endParaRPr>
          </a:p>
        </p:txBody>
      </p:sp>
      <p:sp>
        <p:nvSpPr>
          <p:cNvPr id="8" name="文本框 7"/>
          <p:cNvSpPr txBox="1"/>
          <p:nvPr>
            <p:custDataLst>
              <p:tags r:id="rId3"/>
            </p:custDataLst>
          </p:nvPr>
        </p:nvSpPr>
        <p:spPr>
          <a:xfrm>
            <a:off x="6537325" y="1085850"/>
            <a:ext cx="4607560" cy="2247900"/>
          </a:xfrm>
          <a:prstGeom prst="rect">
            <a:avLst/>
          </a:prstGeom>
          <a:noFill/>
          <a:ln>
            <a:solidFill>
              <a:schemeClr val="tx1"/>
            </a:solidFill>
          </a:ln>
        </p:spPr>
        <p:txBody>
          <a:bodyPr wrap="square" lIns="90170" tIns="46990" rIns="90170" bIns="46990" rtlCol="0">
            <a:noAutofit/>
          </a:bodyPr>
          <a:lstStyle>
            <a:defPPr>
              <a:defRPr lang="zh-CN"/>
            </a:defPPr>
            <a:lvl1pPr fontAlgn="auto">
              <a:lnSpc>
                <a:spcPct val="130000"/>
              </a:lnSpc>
              <a:spcAft>
                <a:spcPts val="1000"/>
              </a:spcAft>
              <a:defRPr sz="1600" spc="150"/>
            </a:lvl1pPr>
          </a:lstStyle>
          <a:p>
            <a:pPr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create table agents (</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lvl="1"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aid char(3) not null, </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lvl="1"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aname char(20) not null,</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lvl="1"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city char(20), </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lvl="1"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perc smallint, </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lvl="1"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primary key (aid)</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p:txBody>
      </p:sp>
      <p:sp>
        <p:nvSpPr>
          <p:cNvPr id="2" name="文本框 1"/>
          <p:cNvSpPr txBox="1"/>
          <p:nvPr>
            <p:custDataLst>
              <p:tags r:id="rId4"/>
            </p:custDataLst>
          </p:nvPr>
        </p:nvSpPr>
        <p:spPr>
          <a:xfrm>
            <a:off x="1172845" y="3474720"/>
            <a:ext cx="4607560" cy="3171825"/>
          </a:xfrm>
          <a:prstGeom prst="rect">
            <a:avLst/>
          </a:prstGeom>
          <a:noFill/>
          <a:ln>
            <a:solidFill>
              <a:schemeClr val="tx1"/>
            </a:solidFill>
          </a:ln>
        </p:spPr>
        <p:txBody>
          <a:bodyPr wrap="square" lIns="90170" tIns="46990" rIns="90170" bIns="46990" rtlCol="0">
            <a:spAutoFit/>
          </a:bodyPr>
          <a:lstStyle>
            <a:defPPr>
              <a:defRPr lang="zh-CN"/>
            </a:defPPr>
            <a:lvl1pPr fontAlgn="auto">
              <a:lnSpc>
                <a:spcPct val="130000"/>
              </a:lnSpc>
              <a:spcAft>
                <a:spcPts val="1000"/>
              </a:spcAft>
              <a:defRPr sz="1600" spc="150"/>
            </a:lvl1pPr>
          </a:lstStyle>
          <a:p>
            <a:pPr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create table products (</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lvl="1"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pid char(3) not null, </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lvl="1"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pname char(20) not null,</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lvl="1"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city char(20), </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lvl="1"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quantity integer not null, </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lvl="1"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price real not null, </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lvl="1"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primary key(pid)</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indent="0" fontAlgn="ctr">
              <a:lnSpc>
                <a:spcPct val="100000"/>
              </a:lnSpc>
              <a:spcBef>
                <a:spcPts val="0"/>
              </a:spcBef>
              <a:spcAft>
                <a:spcPts val="0"/>
              </a:spcAft>
              <a:buClr>
                <a:srgbClr val="000000">
                  <a:lumMod val="50000"/>
                  <a:lumOff val="50000"/>
                </a:srgbClr>
              </a:buClr>
              <a:buSzPct val="100000"/>
              <a:buNone/>
            </a:pP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indent="0" fontAlgn="ctr">
              <a:lnSpc>
                <a:spcPct val="100000"/>
              </a:lnSpc>
              <a:spcBef>
                <a:spcPts val="0"/>
              </a:spcBef>
              <a:spcAft>
                <a:spcPts val="0"/>
              </a:spcAft>
              <a:buClr>
                <a:srgbClr val="000000">
                  <a:lumMod val="50000"/>
                  <a:lumOff val="50000"/>
                </a:srgbClr>
              </a:buClr>
              <a:buSzPct val="100000"/>
              <a:buNone/>
            </a:pP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p:txBody>
      </p:sp>
      <p:sp>
        <p:nvSpPr>
          <p:cNvPr id="3" name="文本框 2"/>
          <p:cNvSpPr txBox="1"/>
          <p:nvPr>
            <p:custDataLst>
              <p:tags r:id="rId5"/>
            </p:custDataLst>
          </p:nvPr>
        </p:nvSpPr>
        <p:spPr>
          <a:xfrm>
            <a:off x="6537325" y="3474720"/>
            <a:ext cx="4607560" cy="3171825"/>
          </a:xfrm>
          <a:prstGeom prst="rect">
            <a:avLst/>
          </a:prstGeom>
          <a:noFill/>
          <a:ln>
            <a:solidFill>
              <a:schemeClr val="tx1"/>
            </a:solidFill>
          </a:ln>
        </p:spPr>
        <p:txBody>
          <a:bodyPr wrap="square" lIns="90170" tIns="46990" rIns="90170" bIns="46990" rtlCol="0">
            <a:noAutofit/>
          </a:bodyPr>
          <a:lstStyle>
            <a:defPPr>
              <a:defRPr lang="zh-CN"/>
            </a:defPPr>
            <a:lvl1pPr fontAlgn="auto">
              <a:lnSpc>
                <a:spcPct val="130000"/>
              </a:lnSpc>
              <a:spcAft>
                <a:spcPts val="1000"/>
              </a:spcAft>
              <a:defRPr sz="1600" spc="150"/>
            </a:lvl1pPr>
          </a:lstStyle>
          <a:p>
            <a:pPr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create table orders (</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lvl="1"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ordno integer not null, </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lvl="1"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orddate date not null,</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lvl="1"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cid char(4) not null, </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lvl="1"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aid char(3) not null, </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lvl="1"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pid char(3) not null,</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lvl="1"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qty integer, </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lvl="1"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dols real, </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lvl="1"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primary key(ordno)</a:t>
            </a:r>
            <a:endPar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indent="0" fontAlgn="ctr">
              <a:lnSpc>
                <a:spcPct val="100000"/>
              </a:lnSpc>
              <a:spcBef>
                <a:spcPts val="0"/>
              </a:spcBef>
              <a:spcAft>
                <a:spcPts val="0"/>
              </a:spcAft>
              <a:buClr>
                <a:srgbClr val="000000">
                  <a:lumMod val="50000"/>
                  <a:lumOff val="50000"/>
                </a:srgbClr>
              </a:buClr>
              <a:buSzPct val="100000"/>
              <a:buNone/>
            </a:pPr>
            <a:r>
              <a:rPr lang="zh-CN" altLang="en-US"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a:t>
            </a:r>
            <a:r>
              <a:rPr lang="en-US" altLang="zh-CN"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a:t>
            </a:r>
            <a:endParaRPr lang="en-US" altLang="zh-CN" sz="2000" b="1" dirty="0">
              <a:solidFill>
                <a:srgbClr val="1F2DA8"/>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p:txBody>
      </p:sp>
    </p:spTree>
    <p:custDataLst>
      <p:tags r:id="rId6"/>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custDataLst>
              <p:tags r:id="rId1"/>
            </p:custDataLst>
          </p:nvPr>
        </p:nvSpPr>
        <p:spPr>
          <a:xfrm>
            <a:off x="583565" y="950595"/>
            <a:ext cx="11043920" cy="5525135"/>
          </a:xfrm>
          <a:prstGeom prst="rect">
            <a:avLst/>
          </a:prstGeom>
          <a:noFill/>
        </p:spPr>
        <p:txBody>
          <a:bodyPr wrap="square" lIns="90170" tIns="46990" rIns="90170" bIns="46990" rtlCol="0">
            <a:noAutofit/>
          </a:bodyPr>
          <a:lstStyle>
            <a:defPPr>
              <a:defRPr lang="zh-CN"/>
            </a:defPPr>
            <a:lvl1pPr fontAlgn="auto">
              <a:lnSpc>
                <a:spcPct val="130000"/>
              </a:lnSpc>
              <a:spcAft>
                <a:spcPts val="1000"/>
              </a:spcAft>
              <a:defRPr sz="1600" spc="150"/>
            </a:lvl1pPr>
          </a:lstStyle>
          <a:p>
            <a:pPr marL="479425" indent="-479425" fontAlgn="ctr">
              <a:lnSpc>
                <a:spcPct val="100000"/>
              </a:lnSpc>
              <a:spcBef>
                <a:spcPts val="0"/>
              </a:spcBef>
              <a:spcAft>
                <a:spcPts val="0"/>
              </a:spcAft>
              <a:buClr>
                <a:srgbClr val="000000">
                  <a:lumMod val="50000"/>
                  <a:lumOff val="50000"/>
                </a:srgbClr>
              </a:buClr>
              <a:buSzPct val="100000"/>
              <a:buNone/>
            </a:pPr>
            <a:r>
              <a:rPr lang="zh-CN" altLang="en-US" sz="2000" b="1">
                <a:solidFill>
                  <a:srgbClr val="1F2DA8"/>
                </a:solidFill>
                <a:sym typeface="+mn-ea"/>
              </a:rPr>
              <a:t>3.1 检索没有为居住在Duluth的任何客户订购过任何商品的经销商的编号</a:t>
            </a:r>
            <a:endParaRPr lang="zh-CN" altLang="en-US" sz="2000" b="1">
              <a:solidFill>
                <a:srgbClr val="1F2DA8"/>
              </a:solidFill>
            </a:endParaRPr>
          </a:p>
          <a:p>
            <a:pPr marL="479425" indent="-479425" fontAlgn="ctr">
              <a:lnSpc>
                <a:spcPct val="100000"/>
              </a:lnSpc>
              <a:spcBef>
                <a:spcPts val="0"/>
              </a:spcBef>
              <a:spcAft>
                <a:spcPts val="0"/>
              </a:spcAft>
              <a:buClr>
                <a:srgbClr val="000000">
                  <a:lumMod val="50000"/>
                  <a:lumOff val="50000"/>
                </a:srgbClr>
              </a:buClr>
              <a:buSzPct val="100000"/>
              <a:buNone/>
            </a:pPr>
            <a:r>
              <a:rPr lang="zh-CN" altLang="en-US" sz="2000" b="1">
                <a:solidFill>
                  <a:srgbClr val="1F2DA8"/>
                </a:solidFill>
                <a:sym typeface="+mn-ea"/>
              </a:rPr>
              <a:t>3.2 检索为居住在Duluth和Kyoto的所有客户订购过同一种商品的经销商的编号</a:t>
            </a:r>
            <a:endParaRPr lang="zh-CN" altLang="en-US" sz="2000" b="1">
              <a:solidFill>
                <a:srgbClr val="1F2DA8"/>
              </a:solidFill>
            </a:endParaRPr>
          </a:p>
          <a:p>
            <a:pPr marL="479425" indent="-479425" fontAlgn="ctr">
              <a:lnSpc>
                <a:spcPct val="100000"/>
              </a:lnSpc>
              <a:spcBef>
                <a:spcPts val="0"/>
              </a:spcBef>
              <a:spcAft>
                <a:spcPts val="0"/>
              </a:spcAft>
              <a:buClr>
                <a:srgbClr val="000000">
                  <a:lumMod val="50000"/>
                  <a:lumOff val="50000"/>
                </a:srgbClr>
              </a:buClr>
              <a:buSzPct val="100000"/>
              <a:buNone/>
            </a:pPr>
            <a:r>
              <a:rPr lang="zh-CN" altLang="en-US" sz="2000" b="1">
                <a:solidFill>
                  <a:srgbClr val="1F2DA8"/>
                </a:solidFill>
                <a:sym typeface="+mn-ea"/>
              </a:rPr>
              <a:t>3.3 检索仅通过a03和a05两个经销商订购过商品的客户编号</a:t>
            </a:r>
            <a:endParaRPr lang="zh-CN" altLang="en-US" sz="2000" b="1">
              <a:solidFill>
                <a:srgbClr val="1F2DA8"/>
              </a:solidFill>
            </a:endParaRPr>
          </a:p>
          <a:p>
            <a:pPr marL="479425" indent="-479425" fontAlgn="ctr">
              <a:lnSpc>
                <a:spcPct val="100000"/>
              </a:lnSpc>
              <a:spcBef>
                <a:spcPts val="0"/>
              </a:spcBef>
              <a:spcAft>
                <a:spcPts val="0"/>
              </a:spcAft>
              <a:buClr>
                <a:srgbClr val="000000">
                  <a:lumMod val="50000"/>
                  <a:lumOff val="50000"/>
                </a:srgbClr>
              </a:buClr>
              <a:buSzPct val="100000"/>
              <a:buNone/>
            </a:pPr>
            <a:r>
              <a:rPr lang="zh-CN" altLang="en-US" sz="2000" b="1">
                <a:solidFill>
                  <a:srgbClr val="1F2DA8"/>
                </a:solidFill>
                <a:sym typeface="+mn-ea"/>
              </a:rPr>
              <a:t>3.4 在所有有客户的城市中都被销售过的商品的编号</a:t>
            </a:r>
            <a:endParaRPr lang="zh-CN" altLang="en-US" sz="2000" b="1">
              <a:solidFill>
                <a:srgbClr val="1F2DA8"/>
              </a:solidFill>
            </a:endParaRPr>
          </a:p>
          <a:p>
            <a:pPr marL="479425" indent="-479425" fontAlgn="ctr">
              <a:lnSpc>
                <a:spcPct val="100000"/>
              </a:lnSpc>
              <a:spcBef>
                <a:spcPts val="0"/>
              </a:spcBef>
              <a:spcAft>
                <a:spcPts val="0"/>
              </a:spcAft>
              <a:buClr>
                <a:srgbClr val="000000">
                  <a:lumMod val="50000"/>
                  <a:lumOff val="50000"/>
                </a:srgbClr>
              </a:buClr>
              <a:buSzPct val="100000"/>
              <a:buNone/>
            </a:pPr>
            <a:r>
              <a:rPr lang="zh-CN" altLang="en-US" sz="2000" b="1">
                <a:solidFill>
                  <a:srgbClr val="1F2DA8"/>
                </a:solidFill>
                <a:sym typeface="+mn-ea"/>
              </a:rPr>
              <a:t>3.5 返回每一个客户的编号及其最后两份订单的订购日期（按照订单编号的大小区分订单的先后）</a:t>
            </a:r>
            <a:endParaRPr lang="zh-CN" altLang="en-US" sz="2000" b="1">
              <a:solidFill>
                <a:srgbClr val="1F2DA8"/>
              </a:solidFill>
            </a:endParaRPr>
          </a:p>
          <a:p>
            <a:pPr marL="479425" indent="-479425" fontAlgn="ctr">
              <a:lnSpc>
                <a:spcPct val="100000"/>
              </a:lnSpc>
              <a:spcBef>
                <a:spcPts val="0"/>
              </a:spcBef>
              <a:spcAft>
                <a:spcPts val="0"/>
              </a:spcAft>
              <a:buClr>
                <a:srgbClr val="000000">
                  <a:lumMod val="50000"/>
                  <a:lumOff val="50000"/>
                </a:srgbClr>
              </a:buClr>
              <a:buSzPct val="100000"/>
              <a:buNone/>
            </a:pPr>
            <a:r>
              <a:rPr lang="zh-CN" altLang="en-US" sz="2000" b="1">
                <a:solidFill>
                  <a:srgbClr val="1F2DA8"/>
                </a:solidFill>
                <a:sym typeface="+mn-ea"/>
              </a:rPr>
              <a:t>3.6 检索居住在Dallas的所有客户都订购过的商品编号</a:t>
            </a:r>
            <a:endParaRPr lang="zh-CN" altLang="en-US" sz="2000" b="1">
              <a:solidFill>
                <a:srgbClr val="1F2DA8"/>
              </a:solidFill>
            </a:endParaRPr>
          </a:p>
          <a:p>
            <a:pPr marL="479425" indent="-479425" fontAlgn="ctr">
              <a:lnSpc>
                <a:spcPct val="100000"/>
              </a:lnSpc>
              <a:spcBef>
                <a:spcPts val="0"/>
              </a:spcBef>
              <a:spcAft>
                <a:spcPts val="0"/>
              </a:spcAft>
              <a:buClr>
                <a:srgbClr val="000000">
                  <a:lumMod val="50000"/>
                  <a:lumOff val="50000"/>
                </a:srgbClr>
              </a:buClr>
              <a:buSzPct val="100000"/>
              <a:buNone/>
            </a:pPr>
            <a:r>
              <a:rPr lang="zh-CN" altLang="en-US" sz="2000" b="1">
                <a:solidFill>
                  <a:srgbClr val="1F2DA8"/>
                </a:solidFill>
                <a:sym typeface="+mn-ea"/>
              </a:rPr>
              <a:t>3.7 检索为居住在Duluth的所有客户订购过商品的经销商的编号及其佣金百分比，并按照佣金百分比的降序输出查询结果</a:t>
            </a:r>
            <a:endParaRPr lang="zh-CN" altLang="en-US" sz="2000" b="1">
              <a:solidFill>
                <a:srgbClr val="1F2DA8"/>
              </a:solidFill>
            </a:endParaRPr>
          </a:p>
          <a:p>
            <a:pPr marL="479425" indent="-479425" fontAlgn="ctr">
              <a:lnSpc>
                <a:spcPct val="100000"/>
              </a:lnSpc>
              <a:spcBef>
                <a:spcPts val="0"/>
              </a:spcBef>
              <a:spcAft>
                <a:spcPts val="0"/>
              </a:spcAft>
              <a:buClr>
                <a:srgbClr val="000000">
                  <a:lumMod val="50000"/>
                  <a:lumOff val="50000"/>
                </a:srgbClr>
              </a:buClr>
              <a:buSzPct val="100000"/>
              <a:buNone/>
            </a:pPr>
            <a:r>
              <a:rPr lang="zh-CN" altLang="en-US" sz="2000" b="1">
                <a:solidFill>
                  <a:srgbClr val="1F2DA8"/>
                </a:solidFill>
                <a:sym typeface="+mn-ea"/>
              </a:rPr>
              <a:t>3.8 检索符合下述条件的商品的编号：至少有一个客户通过与该客户位于同一个城市的经销商订购过该商品</a:t>
            </a:r>
            <a:endParaRPr lang="zh-CN" altLang="en-US" sz="2000" b="1">
              <a:solidFill>
                <a:srgbClr val="1F2DA8"/>
              </a:solidFill>
            </a:endParaRPr>
          </a:p>
          <a:p>
            <a:pPr marL="479425" indent="-479425" fontAlgn="ctr">
              <a:lnSpc>
                <a:spcPct val="100000"/>
              </a:lnSpc>
              <a:spcBef>
                <a:spcPts val="0"/>
              </a:spcBef>
              <a:spcAft>
                <a:spcPts val="0"/>
              </a:spcAft>
              <a:buClr>
                <a:srgbClr val="000000">
                  <a:lumMod val="50000"/>
                  <a:lumOff val="50000"/>
                </a:srgbClr>
              </a:buClr>
              <a:buSzPct val="100000"/>
              <a:buNone/>
            </a:pPr>
            <a:r>
              <a:rPr lang="zh-CN" altLang="en-US" sz="2000" b="1">
                <a:solidFill>
                  <a:srgbClr val="1F2DA8"/>
                </a:solidFill>
                <a:sym typeface="+mn-ea"/>
              </a:rPr>
              <a:t>3.9 检索享有最高销售提成比例的经销商（请分别写出使用统计函数和不使用统计函数的两种不同表示方法）</a:t>
            </a:r>
            <a:endParaRPr lang="zh-CN" altLang="en-US" sz="2000" b="1">
              <a:solidFill>
                <a:srgbClr val="1F2DA8"/>
              </a:solidFill>
            </a:endParaRPr>
          </a:p>
          <a:p>
            <a:pPr marL="479425" indent="-479425" fontAlgn="ctr">
              <a:lnSpc>
                <a:spcPct val="100000"/>
              </a:lnSpc>
              <a:spcBef>
                <a:spcPts val="0"/>
              </a:spcBef>
              <a:spcAft>
                <a:spcPts val="0"/>
              </a:spcAft>
              <a:buClr>
                <a:srgbClr val="000000">
                  <a:lumMod val="50000"/>
                  <a:lumOff val="50000"/>
                </a:srgbClr>
              </a:buClr>
              <a:buSzPct val="100000"/>
              <a:buNone/>
            </a:pPr>
            <a:r>
              <a:rPr lang="zh-CN" altLang="en-US" sz="2000" b="1">
                <a:solidFill>
                  <a:srgbClr val="1F2DA8"/>
                </a:solidFill>
                <a:sym typeface="+mn-ea"/>
              </a:rPr>
              <a:t>3.10 检索仅仅通过a04号经销商订购过商品的客户编号，并给出每个客户的订购总金额</a:t>
            </a:r>
            <a:endParaRPr lang="zh-CN" altLang="en-US" sz="2000" b="1">
              <a:solidFill>
                <a:srgbClr val="1F2DA8"/>
              </a:solidFill>
            </a:endParaRPr>
          </a:p>
          <a:p>
            <a:pPr marL="479425" indent="-479425" fontAlgn="ctr">
              <a:lnSpc>
                <a:spcPct val="100000"/>
              </a:lnSpc>
              <a:spcBef>
                <a:spcPts val="0"/>
              </a:spcBef>
              <a:spcAft>
                <a:spcPts val="0"/>
              </a:spcAft>
              <a:buClr>
                <a:srgbClr val="000000">
                  <a:lumMod val="50000"/>
                  <a:lumOff val="50000"/>
                </a:srgbClr>
              </a:buClr>
              <a:buSzPct val="100000"/>
              <a:buNone/>
            </a:pPr>
            <a:r>
              <a:rPr lang="zh-CN" altLang="en-US" sz="2000" b="1">
                <a:solidFill>
                  <a:srgbClr val="1F2DA8"/>
                </a:solidFill>
                <a:sym typeface="+mn-ea"/>
              </a:rPr>
              <a:t>3.11 检索每个经销商销售每一种产品的总数量，结果只需要返回每一种商品中，销售总数量排名前三且数量统计超过1000的</a:t>
            </a:r>
            <a:endParaRPr lang="zh-CN" altLang="en-US" sz="2000" b="1">
              <a:solidFill>
                <a:srgbClr val="1F2DA8"/>
              </a:solidFill>
            </a:endParaRPr>
          </a:p>
          <a:p>
            <a:pPr marL="479425" indent="-479425" fontAlgn="ctr">
              <a:lnSpc>
                <a:spcPct val="100000"/>
              </a:lnSpc>
              <a:spcBef>
                <a:spcPts val="0"/>
              </a:spcBef>
              <a:spcAft>
                <a:spcPts val="0"/>
              </a:spcAft>
              <a:buClr>
                <a:srgbClr val="000000">
                  <a:lumMod val="50000"/>
                  <a:lumOff val="50000"/>
                </a:srgbClr>
              </a:buClr>
              <a:buSzPct val="100000"/>
              <a:buNone/>
            </a:pPr>
            <a:r>
              <a:rPr lang="zh-CN" altLang="en-US" sz="2000" b="1">
                <a:solidFill>
                  <a:srgbClr val="1F2DA8"/>
                </a:solidFill>
                <a:sym typeface="+mn-ea"/>
              </a:rPr>
              <a:t>3.12 检索符合下述要求的客户的编号：在该客户订购过的所有商品中，每一种商品的平均每笔订单的订购数量均达到或超过300</a:t>
            </a:r>
            <a:endParaRPr lang="zh-CN" altLang="en-US" sz="2000" b="1" dirty="0">
              <a:solidFill>
                <a:srgbClr val="1F2DA8"/>
              </a:solidFill>
              <a:uFillTx/>
              <a:latin typeface="Arial" panose="020B0604020202020204" pitchFamily="34" charset="0"/>
              <a:ea typeface="微软雅黑" panose="020B0503020204020204" charset="-122"/>
              <a:sym typeface="+mn-ea"/>
            </a:endParaRPr>
          </a:p>
        </p:txBody>
      </p:sp>
      <p:sp>
        <p:nvSpPr>
          <p:cNvPr id="7" name="文本框 6"/>
          <p:cNvSpPr txBox="1"/>
          <p:nvPr>
            <p:custDataLst>
              <p:tags r:id="rId2"/>
            </p:custDataLst>
          </p:nvPr>
        </p:nvSpPr>
        <p:spPr>
          <a:xfrm>
            <a:off x="582930" y="102235"/>
            <a:ext cx="11044555" cy="921385"/>
          </a:xfrm>
          <a:prstGeom prst="rect">
            <a:avLst/>
          </a:prstGeom>
          <a:noFill/>
        </p:spPr>
        <p:txBody>
          <a:bodyPr wrap="square" lIns="90170" tIns="46990" rIns="90170" bIns="46990" rtlCol="0" anchor="ctr" anchorCtr="0">
            <a:noAutofit/>
          </a:bodyPr>
          <a:lstStyle/>
          <a:p>
            <a:r>
              <a:rPr lang="en-US" altLang="zh-CN" sz="2800" b="1" spc="300" dirty="0">
                <a:solidFill>
                  <a:srgbClr val="000000">
                    <a:lumMod val="75000"/>
                    <a:lumOff val="25000"/>
                  </a:srgbClr>
                </a:solidFill>
                <a:uFillTx/>
                <a:latin typeface="Arial" panose="020B0604020202020204" pitchFamily="34" charset="0"/>
                <a:ea typeface="微软雅黑" panose="020B0503020204020204" charset="-122"/>
                <a:sym typeface="Arial" panose="020B0604020202020204" pitchFamily="34" charset="0"/>
              </a:rPr>
              <a:t>3</a:t>
            </a:r>
            <a:r>
              <a:rPr lang="zh-CN" altLang="en-US" sz="2800" b="1" spc="300" dirty="0">
                <a:solidFill>
                  <a:srgbClr val="000000">
                    <a:lumMod val="75000"/>
                    <a:lumOff val="25000"/>
                  </a:srgbClr>
                </a:solidFill>
                <a:uFillTx/>
                <a:latin typeface="Arial" panose="020B0604020202020204" pitchFamily="34" charset="0"/>
                <a:ea typeface="微软雅黑" panose="020B0503020204020204" charset="-122"/>
                <a:sym typeface="Arial" panose="020B0604020202020204" pitchFamily="34" charset="0"/>
              </a:rPr>
              <a:t>、</a:t>
            </a:r>
            <a:r>
              <a:rPr lang="zh-CN" altLang="en-US" sz="2800" b="1" spc="300" dirty="0">
                <a:solidFill>
                  <a:srgbClr val="000000">
                    <a:lumMod val="75000"/>
                    <a:lumOff val="25000"/>
                  </a:srgbClr>
                </a:solidFill>
                <a:uFillTx/>
                <a:latin typeface="Arial" panose="020B0604020202020204" pitchFamily="34" charset="0"/>
                <a:ea typeface="微软雅黑" panose="020B0503020204020204" charset="-122"/>
                <a:sym typeface="Arial" panose="020B0604020202020204" pitchFamily="34" charset="0"/>
              </a:rPr>
              <a:t>请用SQL语言写出下述查询</a:t>
            </a:r>
            <a:endParaRPr lang="zh-CN" altLang="en-US" sz="2800" b="1" spc="300" dirty="0">
              <a:solidFill>
                <a:srgbClr val="000000">
                  <a:lumMod val="75000"/>
                  <a:lumOff val="25000"/>
                </a:srgbClr>
              </a:solidFill>
              <a:uFillTx/>
              <a:latin typeface="Arial" panose="020B0604020202020204" pitchFamily="34" charset="0"/>
              <a:ea typeface="微软雅黑" panose="020B0503020204020204" charset="-122"/>
              <a:sym typeface="Arial" panose="020B0604020202020204" pitchFamily="34" charset="0"/>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custDataLst>
              <p:tags r:id="rId1"/>
            </p:custDataLst>
          </p:nvPr>
        </p:nvSpPr>
        <p:spPr>
          <a:xfrm>
            <a:off x="583565" y="91440"/>
            <a:ext cx="11043920" cy="462915"/>
          </a:xfrm>
          <a:prstGeom prst="rect">
            <a:avLst/>
          </a:prstGeom>
          <a:noFill/>
        </p:spPr>
        <p:txBody>
          <a:bodyPr wrap="square" lIns="90170" tIns="46990" rIns="90170" bIns="46990" rtlCol="0">
            <a:spAutoFit/>
          </a:bodyPr>
          <a:lstStyle>
            <a:defPPr>
              <a:defRPr lang="zh-CN"/>
            </a:defPPr>
            <a:lvl1pPr fontAlgn="auto">
              <a:lnSpc>
                <a:spcPct val="130000"/>
              </a:lnSpc>
              <a:spcAft>
                <a:spcPts val="1000"/>
              </a:spcAft>
              <a:defRPr sz="1600" spc="150"/>
            </a:lvl1pPr>
          </a:lstStyle>
          <a:p>
            <a:pPr marL="479425" indent="-479425" fontAlgn="ctr">
              <a:lnSpc>
                <a:spcPct val="100000"/>
              </a:lnSpc>
              <a:spcBef>
                <a:spcPts val="0"/>
              </a:spcBef>
              <a:spcAft>
                <a:spcPts val="0"/>
              </a:spcAft>
              <a:buClr>
                <a:srgbClr val="000000">
                  <a:lumMod val="50000"/>
                  <a:lumOff val="50000"/>
                </a:srgbClr>
              </a:buClr>
              <a:buSzPct val="100000"/>
              <a:buNone/>
            </a:pPr>
            <a:r>
              <a:rPr lang="zh-CN" altLang="en-US" sz="2400" b="1">
                <a:solidFill>
                  <a:srgbClr val="1F2DA8"/>
                </a:solidFill>
                <a:sym typeface="+mn-ea"/>
              </a:rPr>
              <a:t>3.1 检索没有为居住在Duluth的任何客户订购过任何商品的经销商的编号</a:t>
            </a:r>
            <a:endParaRPr lang="zh-CN" altLang="en-US" sz="2400" b="1" dirty="0">
              <a:solidFill>
                <a:srgbClr val="1F2DA8"/>
              </a:solidFill>
              <a:uFillTx/>
              <a:latin typeface="Arial" panose="020B0604020202020204" pitchFamily="34" charset="0"/>
              <a:ea typeface="微软雅黑" panose="020B0503020204020204" charset="-122"/>
              <a:sym typeface="+mn-ea"/>
            </a:endParaRPr>
          </a:p>
        </p:txBody>
      </p:sp>
      <p:sp>
        <p:nvSpPr>
          <p:cNvPr id="6" name="文本框 5"/>
          <p:cNvSpPr txBox="1"/>
          <p:nvPr/>
        </p:nvSpPr>
        <p:spPr>
          <a:xfrm>
            <a:off x="756285" y="1066800"/>
            <a:ext cx="10513695" cy="2306955"/>
          </a:xfrm>
          <a:prstGeom prst="rect">
            <a:avLst/>
          </a:prstGeom>
          <a:noFill/>
          <a:ln>
            <a:solidFill>
              <a:schemeClr val="accent1"/>
            </a:solidFill>
          </a:ln>
        </p:spPr>
        <p:txBody>
          <a:bodyPr wrap="square" rtlCol="0">
            <a:spAutoFit/>
          </a:bodyPr>
          <a:p>
            <a:r>
              <a:rPr lang="en-US" altLang="zh-CN" sz="2400" b="1"/>
              <a:t>select aid</a:t>
            </a:r>
            <a:endParaRPr lang="en-US" altLang="zh-CN" sz="2400" b="1"/>
          </a:p>
          <a:p>
            <a:r>
              <a:rPr lang="en-US" altLang="zh-CN" sz="2400" b="1"/>
              <a:t>from agents</a:t>
            </a:r>
            <a:endParaRPr lang="en-US" altLang="zh-CN" sz="2400" b="1"/>
          </a:p>
          <a:p>
            <a:r>
              <a:rPr lang="en-US" altLang="zh-CN" sz="2400" b="1"/>
              <a:t>where aid not in (</a:t>
            </a:r>
            <a:endParaRPr lang="en-US" altLang="zh-CN" sz="2400" b="1"/>
          </a:p>
          <a:p>
            <a:pPr lvl="1"/>
            <a:r>
              <a:rPr lang="en-US" altLang="zh-CN" sz="2400" b="1"/>
              <a:t>select aid</a:t>
            </a:r>
            <a:endParaRPr lang="en-US" altLang="zh-CN" sz="2400" b="1"/>
          </a:p>
          <a:p>
            <a:pPr lvl="1"/>
            <a:r>
              <a:rPr lang="en-US" altLang="zh-CN" sz="2400" b="1"/>
              <a:t>from customers c, orders o</a:t>
            </a:r>
            <a:endParaRPr lang="en-US" altLang="zh-CN" sz="2400" b="1"/>
          </a:p>
          <a:p>
            <a:pPr lvl="1"/>
            <a:r>
              <a:rPr lang="en-US" altLang="zh-CN" sz="2400" b="1"/>
              <a:t>where c.cid=o.cid and c.city=‘Duluth’ ) ;</a:t>
            </a:r>
            <a:endParaRPr lang="en-US" altLang="zh-CN" sz="2400" b="1"/>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custDataLst>
              <p:tags r:id="rId1"/>
            </p:custDataLst>
          </p:nvPr>
        </p:nvSpPr>
        <p:spPr>
          <a:xfrm>
            <a:off x="583565" y="91440"/>
            <a:ext cx="11365230" cy="462915"/>
          </a:xfrm>
          <a:prstGeom prst="rect">
            <a:avLst/>
          </a:prstGeom>
          <a:noFill/>
        </p:spPr>
        <p:txBody>
          <a:bodyPr wrap="square" lIns="90170" tIns="46990" rIns="90170" bIns="46990" rtlCol="0">
            <a:spAutoFit/>
          </a:bodyPr>
          <a:lstStyle>
            <a:defPPr>
              <a:defRPr lang="zh-CN"/>
            </a:defPPr>
            <a:lvl1pPr fontAlgn="auto">
              <a:lnSpc>
                <a:spcPct val="130000"/>
              </a:lnSpc>
              <a:spcAft>
                <a:spcPts val="1000"/>
              </a:spcAft>
              <a:defRPr sz="1600" spc="150"/>
            </a:lvl1pPr>
          </a:lstStyle>
          <a:p>
            <a:pPr marL="479425" indent="-479425" fontAlgn="ctr">
              <a:lnSpc>
                <a:spcPct val="100000"/>
              </a:lnSpc>
              <a:spcBef>
                <a:spcPts val="0"/>
              </a:spcBef>
              <a:spcAft>
                <a:spcPts val="0"/>
              </a:spcAft>
              <a:buClr>
                <a:srgbClr val="000000">
                  <a:lumMod val="50000"/>
                  <a:lumOff val="50000"/>
                </a:srgbClr>
              </a:buClr>
              <a:buSzPct val="100000"/>
              <a:buNone/>
            </a:pPr>
            <a:r>
              <a:rPr lang="zh-CN" altLang="en-US" sz="2400" b="1">
                <a:solidFill>
                  <a:srgbClr val="1F2DA8"/>
                </a:solidFill>
                <a:sym typeface="+mn-ea"/>
              </a:rPr>
              <a:t>3.2 检索为居住在Duluth和Kyoto的所有客户订购过同一种商品的经销商的编号</a:t>
            </a:r>
            <a:endParaRPr lang="zh-CN" altLang="en-US" sz="2400" b="1" dirty="0">
              <a:solidFill>
                <a:srgbClr val="1F2DA8"/>
              </a:solidFill>
              <a:uFillTx/>
              <a:latin typeface="Arial" panose="020B0604020202020204" pitchFamily="34" charset="0"/>
              <a:ea typeface="微软雅黑" panose="020B0503020204020204" charset="-122"/>
              <a:sym typeface="+mn-ea"/>
            </a:endParaRPr>
          </a:p>
        </p:txBody>
      </p:sp>
      <p:sp>
        <p:nvSpPr>
          <p:cNvPr id="2" name="文本框 1"/>
          <p:cNvSpPr txBox="1"/>
          <p:nvPr/>
        </p:nvSpPr>
        <p:spPr>
          <a:xfrm>
            <a:off x="179070" y="870585"/>
            <a:ext cx="1708785" cy="398780"/>
          </a:xfrm>
          <a:prstGeom prst="rect">
            <a:avLst/>
          </a:prstGeom>
          <a:noFill/>
        </p:spPr>
        <p:txBody>
          <a:bodyPr wrap="square" rtlCol="0">
            <a:spAutoFit/>
          </a:bodyPr>
          <a:p>
            <a:r>
              <a:rPr lang="zh-CN" altLang="en-US" sz="2000" b="1">
                <a:solidFill>
                  <a:srgbClr val="FF0000"/>
                </a:solidFill>
              </a:rPr>
              <a:t>参考答案 1：</a:t>
            </a:r>
            <a:endParaRPr lang="zh-CN" altLang="en-US" sz="2000" b="1">
              <a:solidFill>
                <a:srgbClr val="FF0000"/>
              </a:solidFill>
            </a:endParaRPr>
          </a:p>
        </p:txBody>
      </p:sp>
      <p:sp>
        <p:nvSpPr>
          <p:cNvPr id="6" name="文本框 5"/>
          <p:cNvSpPr txBox="1"/>
          <p:nvPr/>
        </p:nvSpPr>
        <p:spPr>
          <a:xfrm>
            <a:off x="179070" y="1269365"/>
            <a:ext cx="5814695" cy="3476625"/>
          </a:xfrm>
          <a:prstGeom prst="rect">
            <a:avLst/>
          </a:prstGeom>
          <a:noFill/>
          <a:ln>
            <a:solidFill>
              <a:schemeClr val="accent1"/>
            </a:solidFill>
          </a:ln>
        </p:spPr>
        <p:txBody>
          <a:bodyPr wrap="square" rtlCol="0">
            <a:spAutoFit/>
          </a:bodyPr>
          <a:p>
            <a:r>
              <a:rPr lang="en-US" altLang="zh-CN" sz="2000" b="1"/>
              <a:t>select o1.aid </a:t>
            </a:r>
            <a:endParaRPr lang="en-US" altLang="zh-CN" sz="2000" b="1"/>
          </a:p>
          <a:p>
            <a:r>
              <a:rPr lang="en-US" altLang="zh-CN" sz="2000" b="1"/>
              <a:t>from orders o1</a:t>
            </a:r>
            <a:endParaRPr lang="en-US" altLang="zh-CN" sz="2000" b="1"/>
          </a:p>
          <a:p>
            <a:r>
              <a:rPr lang="en-US" altLang="zh-CN" sz="2000" b="1"/>
              <a:t>where not exist (</a:t>
            </a:r>
            <a:endParaRPr lang="en-US" altLang="zh-CN" sz="2000" b="1"/>
          </a:p>
          <a:p>
            <a:pPr lvl="1"/>
            <a:r>
              <a:rPr lang="en-US" altLang="zh-CN" sz="2000" b="1"/>
              <a:t>select * </a:t>
            </a:r>
            <a:endParaRPr lang="en-US" altLang="zh-CN" sz="2000" b="1"/>
          </a:p>
          <a:p>
            <a:pPr lvl="1"/>
            <a:r>
              <a:rPr lang="en-US" altLang="zh-CN" sz="2000" b="1"/>
              <a:t>from customers c</a:t>
            </a:r>
            <a:endParaRPr lang="en-US" altLang="zh-CN" sz="2000" b="1"/>
          </a:p>
          <a:p>
            <a:pPr lvl="1"/>
            <a:r>
              <a:rPr lang="en-US" altLang="zh-CN" sz="2000" b="1"/>
              <a:t>where (c.city=‘Duluth’ or c.city=‘Kyoto’) and </a:t>
            </a:r>
            <a:endParaRPr lang="en-US" altLang="zh-CN" sz="2000" b="1"/>
          </a:p>
          <a:p>
            <a:pPr lvl="2"/>
            <a:r>
              <a:rPr lang="en-US" altLang="zh-CN" sz="2000" b="1"/>
              <a:t>not exists (</a:t>
            </a:r>
            <a:endParaRPr lang="en-US" altLang="zh-CN" sz="2000" b="1"/>
          </a:p>
          <a:p>
            <a:pPr lvl="3"/>
            <a:r>
              <a:rPr lang="en-US" altLang="zh-CN" sz="2000" b="1"/>
              <a:t>select * </a:t>
            </a:r>
            <a:endParaRPr lang="en-US" altLang="zh-CN" sz="2000" b="1"/>
          </a:p>
          <a:p>
            <a:pPr lvl="3"/>
            <a:r>
              <a:rPr lang="en-US" altLang="zh-CN" sz="2000" b="1"/>
              <a:t>from orders o2</a:t>
            </a:r>
            <a:endParaRPr lang="en-US" altLang="zh-CN" sz="2000" b="1"/>
          </a:p>
          <a:p>
            <a:pPr lvl="3"/>
            <a:r>
              <a:rPr lang="en-US" altLang="zh-CN" sz="2000" b="1"/>
              <a:t>where o2.cid=c.cid and </a:t>
            </a:r>
            <a:endParaRPr lang="en-US" altLang="zh-CN" sz="2000" b="1"/>
          </a:p>
          <a:p>
            <a:pPr lvl="4"/>
            <a:r>
              <a:rPr lang="en-US" altLang="zh-CN" sz="2000" b="1"/>
              <a:t>o2.aid=o1.aid and o2.pid=o1.pid)) ;</a:t>
            </a:r>
            <a:endParaRPr lang="en-US" altLang="zh-CN" sz="2000" b="1"/>
          </a:p>
        </p:txBody>
      </p:sp>
      <p:sp>
        <p:nvSpPr>
          <p:cNvPr id="7" name="文本框 6"/>
          <p:cNvSpPr txBox="1"/>
          <p:nvPr/>
        </p:nvSpPr>
        <p:spPr>
          <a:xfrm>
            <a:off x="6134100" y="1269365"/>
            <a:ext cx="5814695" cy="3476625"/>
          </a:xfrm>
          <a:prstGeom prst="rect">
            <a:avLst/>
          </a:prstGeom>
          <a:noFill/>
          <a:ln>
            <a:solidFill>
              <a:schemeClr val="accent1"/>
            </a:solidFill>
          </a:ln>
        </p:spPr>
        <p:txBody>
          <a:bodyPr wrap="square" rtlCol="0">
            <a:spAutoFit/>
          </a:bodyPr>
          <a:p>
            <a:r>
              <a:rPr lang="en-US" altLang="zh-CN" sz="2000" b="1"/>
              <a:t>select o1.aid </a:t>
            </a:r>
            <a:endParaRPr lang="en-US" altLang="zh-CN" sz="2000" b="1"/>
          </a:p>
          <a:p>
            <a:r>
              <a:rPr lang="en-US" altLang="zh-CN" sz="2000" b="1"/>
              <a:t>from orders o1</a:t>
            </a:r>
            <a:endParaRPr lang="en-US" altLang="zh-CN" sz="2000" b="1"/>
          </a:p>
          <a:p>
            <a:r>
              <a:rPr lang="en-US" altLang="zh-CN" sz="2000" b="1"/>
              <a:t>where not exist (</a:t>
            </a:r>
            <a:endParaRPr lang="en-US" altLang="zh-CN" sz="2000" b="1"/>
          </a:p>
          <a:p>
            <a:pPr lvl="1"/>
            <a:r>
              <a:rPr lang="en-US" altLang="zh-CN" sz="2000" b="1"/>
              <a:t>select * </a:t>
            </a:r>
            <a:endParaRPr lang="en-US" altLang="zh-CN" sz="2000" b="1"/>
          </a:p>
          <a:p>
            <a:pPr lvl="1"/>
            <a:r>
              <a:rPr lang="en-US" altLang="zh-CN" sz="2000" b="1"/>
              <a:t>from customers c</a:t>
            </a:r>
            <a:endParaRPr lang="en-US" altLang="zh-CN" sz="2000" b="1"/>
          </a:p>
          <a:p>
            <a:pPr lvl="1"/>
            <a:r>
              <a:rPr lang="en-US" altLang="zh-CN" sz="2000" b="1"/>
              <a:t>where (c.city=‘Duluth’ or c.city=‘Kyoto’) and </a:t>
            </a:r>
            <a:endParaRPr lang="en-US" altLang="zh-CN" sz="2000" b="1"/>
          </a:p>
          <a:p>
            <a:pPr lvl="2"/>
            <a:r>
              <a:rPr lang="en-US" altLang="zh-CN" sz="2000" b="1"/>
              <a:t>c.cid not in (</a:t>
            </a:r>
            <a:endParaRPr lang="en-US" altLang="zh-CN" sz="2000" b="1"/>
          </a:p>
          <a:p>
            <a:pPr lvl="3"/>
            <a:r>
              <a:rPr lang="en-US" altLang="zh-CN" sz="2000" b="1"/>
              <a:t>select o2.cid </a:t>
            </a:r>
            <a:endParaRPr lang="en-US" altLang="zh-CN" sz="2000" b="1"/>
          </a:p>
          <a:p>
            <a:pPr lvl="3"/>
            <a:r>
              <a:rPr lang="en-US" altLang="zh-CN" sz="2000" b="1"/>
              <a:t>from orders o2</a:t>
            </a:r>
            <a:endParaRPr lang="en-US" altLang="zh-CN" sz="2000" b="1"/>
          </a:p>
          <a:p>
            <a:pPr lvl="3"/>
            <a:r>
              <a:rPr lang="en-US" altLang="zh-CN" sz="2000" b="1"/>
              <a:t>where o2.aid=o1.aid and 2.pid=o1.pid)) ;</a:t>
            </a:r>
            <a:endParaRPr lang="en-US" altLang="zh-CN" sz="2000" b="1"/>
          </a:p>
          <a:p>
            <a:pPr lvl="3"/>
            <a:endParaRPr lang="en-US" altLang="zh-CN" sz="2000" b="1"/>
          </a:p>
        </p:txBody>
      </p:sp>
      <p:sp>
        <p:nvSpPr>
          <p:cNvPr id="8" name="文本框 7"/>
          <p:cNvSpPr txBox="1"/>
          <p:nvPr/>
        </p:nvSpPr>
        <p:spPr>
          <a:xfrm>
            <a:off x="6130290" y="870585"/>
            <a:ext cx="1708785" cy="398780"/>
          </a:xfrm>
          <a:prstGeom prst="rect">
            <a:avLst/>
          </a:prstGeom>
          <a:noFill/>
        </p:spPr>
        <p:txBody>
          <a:bodyPr wrap="square" rtlCol="0">
            <a:spAutoFit/>
          </a:bodyPr>
          <a:p>
            <a:r>
              <a:rPr lang="zh-CN" altLang="en-US" sz="2000" b="1">
                <a:solidFill>
                  <a:srgbClr val="FF0000"/>
                </a:solidFill>
              </a:rPr>
              <a:t>参考答案 </a:t>
            </a:r>
            <a:r>
              <a:rPr lang="en-US" altLang="zh-CN" sz="2000" b="1">
                <a:solidFill>
                  <a:srgbClr val="FF0000"/>
                </a:solidFill>
              </a:rPr>
              <a:t>2</a:t>
            </a:r>
            <a:r>
              <a:rPr lang="zh-CN" altLang="en-US" sz="2000" b="1">
                <a:solidFill>
                  <a:srgbClr val="FF0000"/>
                </a:solidFill>
              </a:rPr>
              <a:t>：</a:t>
            </a:r>
            <a:endParaRPr lang="zh-CN" altLang="en-US" sz="2000" b="1">
              <a:solidFill>
                <a:srgbClr val="FF0000"/>
              </a:solidFill>
            </a:endParaRPr>
          </a:p>
        </p:txBody>
      </p:sp>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custDataLst>
              <p:tags r:id="rId1"/>
            </p:custDataLst>
          </p:nvPr>
        </p:nvSpPr>
        <p:spPr>
          <a:xfrm>
            <a:off x="583565" y="91440"/>
            <a:ext cx="11043920" cy="462915"/>
          </a:xfrm>
          <a:prstGeom prst="rect">
            <a:avLst/>
          </a:prstGeom>
          <a:noFill/>
        </p:spPr>
        <p:txBody>
          <a:bodyPr wrap="square" lIns="90170" tIns="46990" rIns="90170" bIns="46990" rtlCol="0">
            <a:spAutoFit/>
          </a:bodyPr>
          <a:lstStyle>
            <a:defPPr>
              <a:defRPr lang="zh-CN"/>
            </a:defPPr>
            <a:lvl1pPr fontAlgn="auto">
              <a:lnSpc>
                <a:spcPct val="130000"/>
              </a:lnSpc>
              <a:spcAft>
                <a:spcPts val="1000"/>
              </a:spcAft>
              <a:defRPr sz="1600" spc="150"/>
            </a:lvl1pPr>
          </a:lstStyle>
          <a:p>
            <a:pPr marL="479425" indent="-479425" fontAlgn="ctr">
              <a:lnSpc>
                <a:spcPct val="100000"/>
              </a:lnSpc>
              <a:spcBef>
                <a:spcPts val="0"/>
              </a:spcBef>
              <a:spcAft>
                <a:spcPts val="0"/>
              </a:spcAft>
              <a:buClr>
                <a:srgbClr val="000000">
                  <a:lumMod val="50000"/>
                  <a:lumOff val="50000"/>
                </a:srgbClr>
              </a:buClr>
              <a:buSzPct val="100000"/>
              <a:buNone/>
            </a:pPr>
            <a:r>
              <a:rPr lang="zh-CN" altLang="en-US" sz="2400" b="1">
                <a:solidFill>
                  <a:srgbClr val="1F2DA8"/>
                </a:solidFill>
                <a:sym typeface="+mn-ea"/>
              </a:rPr>
              <a:t>3.3 检索仅通过a03和a05两个经销商订购过商品的客户编号</a:t>
            </a:r>
            <a:endParaRPr lang="zh-CN" altLang="en-US" sz="2400" b="1" dirty="0">
              <a:solidFill>
                <a:srgbClr val="1F2DA8"/>
              </a:solidFill>
              <a:uFillTx/>
              <a:latin typeface="Arial" panose="020B0604020202020204" pitchFamily="34" charset="0"/>
              <a:ea typeface="微软雅黑" panose="020B0503020204020204" charset="-122"/>
              <a:sym typeface="+mn-ea"/>
            </a:endParaRPr>
          </a:p>
        </p:txBody>
      </p:sp>
      <p:sp>
        <p:nvSpPr>
          <p:cNvPr id="2" name="文本框 1"/>
          <p:cNvSpPr txBox="1"/>
          <p:nvPr/>
        </p:nvSpPr>
        <p:spPr>
          <a:xfrm>
            <a:off x="179070" y="870585"/>
            <a:ext cx="5814060" cy="706755"/>
          </a:xfrm>
          <a:prstGeom prst="rect">
            <a:avLst/>
          </a:prstGeom>
          <a:noFill/>
        </p:spPr>
        <p:txBody>
          <a:bodyPr wrap="square" rtlCol="0">
            <a:spAutoFit/>
          </a:bodyPr>
          <a:p>
            <a:r>
              <a:rPr lang="zh-CN" altLang="en-US" sz="2000" b="1">
                <a:solidFill>
                  <a:srgbClr val="FF0000"/>
                </a:solidFill>
              </a:rPr>
              <a:t>参考答案 1</a:t>
            </a:r>
            <a:r>
              <a:rPr lang="zh-CN" altLang="en-US" sz="2000" b="1">
                <a:solidFill>
                  <a:srgbClr val="1F2DA8"/>
                </a:solidFill>
              </a:rPr>
              <a:t>（</a:t>
            </a:r>
            <a:r>
              <a:rPr lang="zh-CN" altLang="en-US" sz="2000" b="1">
                <a:solidFill>
                  <a:srgbClr val="1F2DA8"/>
                </a:solidFill>
                <a:latin typeface="+mn-ea"/>
                <a:cs typeface="+mn-ea"/>
              </a:rPr>
              <a:t>结果中包括那些</a:t>
            </a:r>
            <a:r>
              <a:rPr lang="en-US" altLang="zh-CN" sz="2000" b="1">
                <a:solidFill>
                  <a:srgbClr val="1F2DA8"/>
                </a:solidFill>
                <a:latin typeface="+mn-ea"/>
                <a:cs typeface="+mn-ea"/>
              </a:rPr>
              <a:t>“</a:t>
            </a:r>
            <a:r>
              <a:rPr lang="zh-CN" altLang="en-US" sz="2000" b="1">
                <a:solidFill>
                  <a:srgbClr val="1F2DA8"/>
                </a:solidFill>
                <a:latin typeface="+mn-ea"/>
                <a:cs typeface="+mn-ea"/>
              </a:rPr>
              <a:t>仅通过a03或a05中的一个供应商</a:t>
            </a:r>
            <a:r>
              <a:rPr lang="en-US" altLang="zh-CN" sz="2000" b="1">
                <a:solidFill>
                  <a:srgbClr val="1F2DA8"/>
                </a:solidFill>
                <a:latin typeface="+mn-ea"/>
                <a:cs typeface="+mn-ea"/>
              </a:rPr>
              <a:t>”</a:t>
            </a:r>
            <a:r>
              <a:rPr lang="zh-CN" altLang="en-US" sz="2000" b="1">
                <a:solidFill>
                  <a:srgbClr val="1F2DA8"/>
                </a:solidFill>
                <a:latin typeface="+mn-ea"/>
                <a:cs typeface="+mn-ea"/>
              </a:rPr>
              <a:t>去购买过商品的客户</a:t>
            </a:r>
            <a:r>
              <a:rPr lang="zh-CN" altLang="en-US" sz="2000" b="1">
                <a:solidFill>
                  <a:srgbClr val="1F2DA8"/>
                </a:solidFill>
              </a:rPr>
              <a:t>）</a:t>
            </a:r>
            <a:endParaRPr lang="zh-CN" altLang="en-US" sz="2000" b="1">
              <a:solidFill>
                <a:srgbClr val="1F2DA8"/>
              </a:solidFill>
            </a:endParaRPr>
          </a:p>
        </p:txBody>
      </p:sp>
      <p:sp>
        <p:nvSpPr>
          <p:cNvPr id="6" name="文本框 5"/>
          <p:cNvSpPr txBox="1"/>
          <p:nvPr/>
        </p:nvSpPr>
        <p:spPr>
          <a:xfrm>
            <a:off x="186055" y="1590675"/>
            <a:ext cx="5814695" cy="2553335"/>
          </a:xfrm>
          <a:prstGeom prst="rect">
            <a:avLst/>
          </a:prstGeom>
          <a:noFill/>
          <a:ln>
            <a:solidFill>
              <a:schemeClr val="accent1"/>
            </a:solidFill>
          </a:ln>
        </p:spPr>
        <p:txBody>
          <a:bodyPr wrap="square" rtlCol="0">
            <a:spAutoFit/>
          </a:bodyPr>
          <a:p>
            <a:r>
              <a:rPr lang="en-US" altLang="zh-CN" sz="2000" b="1"/>
              <a:t>select o1.cid</a:t>
            </a:r>
            <a:endParaRPr lang="en-US" altLang="zh-CN" sz="2000" b="1"/>
          </a:p>
          <a:p>
            <a:r>
              <a:rPr lang="en-US" altLang="zh-CN" sz="2000" b="1"/>
              <a:t>from orders o1</a:t>
            </a:r>
            <a:endParaRPr lang="en-US" altLang="zh-CN" sz="2000" b="1"/>
          </a:p>
          <a:p>
            <a:r>
              <a:rPr lang="en-US" altLang="zh-CN" sz="2000" b="1"/>
              <a:t>where o1.cid not in (</a:t>
            </a:r>
            <a:endParaRPr lang="en-US" altLang="zh-CN" sz="2000" b="1"/>
          </a:p>
          <a:p>
            <a:pPr lvl="1"/>
            <a:r>
              <a:rPr lang="en-US" altLang="zh-CN" sz="2000" b="1"/>
              <a:t>select o2.cid</a:t>
            </a:r>
            <a:endParaRPr lang="en-US" altLang="zh-CN" sz="2000" b="1"/>
          </a:p>
          <a:p>
            <a:pPr lvl="1"/>
            <a:r>
              <a:rPr lang="en-US" altLang="zh-CN" sz="2000" b="1"/>
              <a:t>from orders o2</a:t>
            </a:r>
            <a:endParaRPr lang="en-US" altLang="zh-CN" sz="2000" b="1"/>
          </a:p>
          <a:p>
            <a:pPr lvl="1"/>
            <a:r>
              <a:rPr lang="en-US" altLang="zh-CN" sz="2000" b="1"/>
              <a:t>where o2.aid&lt;&gt;‘a03’ and o2.aid&lt;&gt;‘a05’ ) ;</a:t>
            </a:r>
            <a:endParaRPr lang="en-US" altLang="zh-CN" sz="2000" b="1"/>
          </a:p>
          <a:p>
            <a:pPr lvl="1"/>
            <a:endParaRPr lang="en-US" altLang="zh-CN" sz="2000" b="1"/>
          </a:p>
          <a:p>
            <a:pPr lvl="1"/>
            <a:endParaRPr lang="en-US" altLang="zh-CN" sz="2000" b="1"/>
          </a:p>
        </p:txBody>
      </p:sp>
      <p:sp>
        <p:nvSpPr>
          <p:cNvPr id="7" name="文本框 6"/>
          <p:cNvSpPr txBox="1"/>
          <p:nvPr/>
        </p:nvSpPr>
        <p:spPr>
          <a:xfrm>
            <a:off x="6134100" y="1590675"/>
            <a:ext cx="5814695" cy="2553335"/>
          </a:xfrm>
          <a:prstGeom prst="rect">
            <a:avLst/>
          </a:prstGeom>
          <a:noFill/>
          <a:ln>
            <a:solidFill>
              <a:schemeClr val="accent1"/>
            </a:solidFill>
          </a:ln>
        </p:spPr>
        <p:txBody>
          <a:bodyPr wrap="square" rtlCol="0">
            <a:spAutoFit/>
          </a:bodyPr>
          <a:p>
            <a:r>
              <a:rPr lang="en-US" altLang="zh-CN" sz="2000" b="1"/>
              <a:t>select o1.cid</a:t>
            </a:r>
            <a:endParaRPr lang="en-US" altLang="zh-CN" sz="2000" b="1"/>
          </a:p>
          <a:p>
            <a:r>
              <a:rPr lang="en-US" altLang="zh-CN" sz="2000" b="1"/>
              <a:t>from orders o1, orders o2</a:t>
            </a:r>
            <a:endParaRPr lang="en-US" altLang="zh-CN" sz="2000" b="1"/>
          </a:p>
          <a:p>
            <a:r>
              <a:rPr lang="en-US" altLang="zh-CN" sz="2000" b="1"/>
              <a:t>where o1.cid=o2.cid and </a:t>
            </a:r>
            <a:endParaRPr lang="en-US" altLang="zh-CN" sz="2000" b="1"/>
          </a:p>
          <a:p>
            <a:pPr lvl="1"/>
            <a:r>
              <a:rPr lang="en-US" altLang="zh-CN" sz="2000" b="1"/>
              <a:t>o1.aid=’a03’ and o2.aid=’a05’ and </a:t>
            </a:r>
            <a:endParaRPr lang="en-US" altLang="zh-CN" sz="2000" b="1"/>
          </a:p>
          <a:p>
            <a:pPr lvl="1"/>
            <a:r>
              <a:rPr lang="en-US" altLang="zh-CN" sz="2000" b="1"/>
              <a:t>o1.cid not in ( select o.cid</a:t>
            </a:r>
            <a:endParaRPr lang="en-US" altLang="zh-CN" sz="2000" b="1"/>
          </a:p>
          <a:p>
            <a:pPr lvl="4"/>
            <a:r>
              <a:rPr lang="en-US" altLang="zh-CN" sz="2000" b="1"/>
              <a:t>  from orders o</a:t>
            </a:r>
            <a:endParaRPr lang="en-US" altLang="zh-CN" sz="2000" b="1"/>
          </a:p>
          <a:p>
            <a:pPr lvl="4"/>
            <a:r>
              <a:rPr lang="en-US" altLang="zh-CN" sz="2000" b="1"/>
              <a:t>  where o.aid&lt;&gt;‘a03’ and </a:t>
            </a:r>
            <a:endParaRPr lang="en-US" altLang="zh-CN" sz="2000" b="1"/>
          </a:p>
          <a:p>
            <a:pPr lvl="6"/>
            <a:r>
              <a:rPr lang="en-US" altLang="zh-CN" sz="2000" b="1"/>
              <a:t>o.aid&lt;&gt;‘a05’ ) ;</a:t>
            </a:r>
            <a:endParaRPr lang="en-US" altLang="zh-CN" sz="2000" b="1"/>
          </a:p>
        </p:txBody>
      </p:sp>
      <p:sp>
        <p:nvSpPr>
          <p:cNvPr id="8" name="文本框 7"/>
          <p:cNvSpPr txBox="1"/>
          <p:nvPr/>
        </p:nvSpPr>
        <p:spPr>
          <a:xfrm>
            <a:off x="6130290" y="870585"/>
            <a:ext cx="5819140" cy="706755"/>
          </a:xfrm>
          <a:prstGeom prst="rect">
            <a:avLst/>
          </a:prstGeom>
          <a:noFill/>
        </p:spPr>
        <p:txBody>
          <a:bodyPr wrap="square" rtlCol="0">
            <a:spAutoFit/>
          </a:bodyPr>
          <a:p>
            <a:r>
              <a:rPr lang="zh-CN" altLang="en-US" sz="2000" b="1">
                <a:solidFill>
                  <a:srgbClr val="FF0000"/>
                </a:solidFill>
              </a:rPr>
              <a:t>参考答案 </a:t>
            </a:r>
            <a:r>
              <a:rPr lang="en-US" altLang="zh-CN" sz="2000" b="1">
                <a:solidFill>
                  <a:srgbClr val="FF0000"/>
                </a:solidFill>
              </a:rPr>
              <a:t>2</a:t>
            </a:r>
            <a:r>
              <a:rPr lang="zh-CN" altLang="en-US" sz="2000" b="1">
                <a:solidFill>
                  <a:srgbClr val="1F2DA8"/>
                </a:solidFill>
              </a:rPr>
              <a:t>（“通过a03和a05都购买过商品”但“没有通过其他供应商购买过商品”的客户）</a:t>
            </a:r>
            <a:endParaRPr lang="zh-CN" altLang="en-US" sz="2000" b="1">
              <a:solidFill>
                <a:srgbClr val="1F2DA8"/>
              </a:solidFill>
            </a:endParaRPr>
          </a:p>
        </p:txBody>
      </p:sp>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custDataLst>
              <p:tags r:id="rId1"/>
            </p:custDataLst>
          </p:nvPr>
        </p:nvSpPr>
        <p:spPr>
          <a:xfrm>
            <a:off x="583565" y="91440"/>
            <a:ext cx="11043920" cy="462915"/>
          </a:xfrm>
          <a:prstGeom prst="rect">
            <a:avLst/>
          </a:prstGeom>
          <a:noFill/>
        </p:spPr>
        <p:txBody>
          <a:bodyPr wrap="square" lIns="90170" tIns="46990" rIns="90170" bIns="46990" rtlCol="0">
            <a:spAutoFit/>
          </a:bodyPr>
          <a:lstStyle>
            <a:defPPr>
              <a:defRPr lang="zh-CN"/>
            </a:defPPr>
            <a:lvl1pPr fontAlgn="auto">
              <a:lnSpc>
                <a:spcPct val="130000"/>
              </a:lnSpc>
              <a:spcAft>
                <a:spcPts val="1000"/>
              </a:spcAft>
              <a:defRPr sz="1600" spc="150"/>
            </a:lvl1pPr>
          </a:lstStyle>
          <a:p>
            <a:pPr marL="479425" indent="-479425" fontAlgn="ctr">
              <a:lnSpc>
                <a:spcPct val="100000"/>
              </a:lnSpc>
              <a:spcBef>
                <a:spcPts val="0"/>
              </a:spcBef>
              <a:spcAft>
                <a:spcPts val="0"/>
              </a:spcAft>
              <a:buClr>
                <a:srgbClr val="000000">
                  <a:lumMod val="50000"/>
                  <a:lumOff val="50000"/>
                </a:srgbClr>
              </a:buClr>
              <a:buSzPct val="100000"/>
              <a:buNone/>
            </a:pPr>
            <a:r>
              <a:rPr lang="zh-CN" altLang="en-US" sz="2400" b="1">
                <a:solidFill>
                  <a:srgbClr val="1F2DA8"/>
                </a:solidFill>
                <a:sym typeface="+mn-ea"/>
              </a:rPr>
              <a:t>3.4 在所有有客户的城市中都被销售过的商品的编号</a:t>
            </a:r>
            <a:endParaRPr lang="zh-CN" altLang="en-US" sz="2400" b="1" dirty="0">
              <a:solidFill>
                <a:srgbClr val="1F2DA8"/>
              </a:solidFill>
              <a:uFillTx/>
              <a:latin typeface="Arial" panose="020B0604020202020204" pitchFamily="34" charset="0"/>
              <a:ea typeface="微软雅黑" panose="020B0503020204020204" charset="-122"/>
              <a:sym typeface="+mn-ea"/>
            </a:endParaRPr>
          </a:p>
        </p:txBody>
      </p:sp>
      <p:sp>
        <p:nvSpPr>
          <p:cNvPr id="6" name="文本框 5"/>
          <p:cNvSpPr txBox="1"/>
          <p:nvPr/>
        </p:nvSpPr>
        <p:spPr>
          <a:xfrm>
            <a:off x="756285" y="1066800"/>
            <a:ext cx="10513695" cy="3415030"/>
          </a:xfrm>
          <a:prstGeom prst="rect">
            <a:avLst/>
          </a:prstGeom>
          <a:noFill/>
          <a:ln>
            <a:solidFill>
              <a:schemeClr val="accent1"/>
            </a:solidFill>
          </a:ln>
        </p:spPr>
        <p:txBody>
          <a:bodyPr wrap="square" rtlCol="0">
            <a:spAutoFit/>
          </a:bodyPr>
          <a:p>
            <a:r>
              <a:rPr lang="en-US" altLang="zh-CN" sz="2400" b="1"/>
              <a:t>select pid</a:t>
            </a:r>
            <a:endParaRPr lang="en-US" altLang="zh-CN" sz="2400" b="1"/>
          </a:p>
          <a:p>
            <a:r>
              <a:rPr lang="en-US" altLang="zh-CN" sz="2400" b="1"/>
              <a:t>from products p</a:t>
            </a:r>
            <a:endParaRPr lang="en-US" altLang="zh-CN" sz="2400" b="1"/>
          </a:p>
          <a:p>
            <a:r>
              <a:rPr lang="en-US" altLang="zh-CN" sz="2400" b="1"/>
              <a:t>where not exists (</a:t>
            </a:r>
            <a:endParaRPr lang="en-US" altLang="zh-CN" sz="2400" b="1"/>
          </a:p>
          <a:p>
            <a:pPr lvl="1"/>
            <a:r>
              <a:rPr lang="en-US" altLang="zh-CN" sz="2400" b="1"/>
              <a:t>select *</a:t>
            </a:r>
            <a:endParaRPr lang="en-US" altLang="zh-CN" sz="2400" b="1"/>
          </a:p>
          <a:p>
            <a:pPr lvl="1"/>
            <a:r>
              <a:rPr lang="en-US" altLang="zh-CN" sz="2400" b="1"/>
              <a:t>from customers c1</a:t>
            </a:r>
            <a:endParaRPr lang="en-US" altLang="zh-CN" sz="2400" b="1"/>
          </a:p>
          <a:p>
            <a:pPr lvl="1"/>
            <a:r>
              <a:rPr lang="en-US" altLang="zh-CN" sz="2400" b="1"/>
              <a:t>where c1.city not in (</a:t>
            </a:r>
            <a:endParaRPr lang="en-US" altLang="zh-CN" sz="2400" b="1"/>
          </a:p>
          <a:p>
            <a:pPr lvl="2"/>
            <a:r>
              <a:rPr lang="en-US" altLang="zh-CN" sz="2400" b="1"/>
              <a:t>select c2.city</a:t>
            </a:r>
            <a:endParaRPr lang="en-US" altLang="zh-CN" sz="2400" b="1"/>
          </a:p>
          <a:p>
            <a:pPr lvl="2"/>
            <a:r>
              <a:rPr lang="en-US" altLang="zh-CN" sz="2400" b="1"/>
              <a:t>from orders o, customers c2</a:t>
            </a:r>
            <a:endParaRPr lang="en-US" altLang="zh-CN" sz="2400" b="1"/>
          </a:p>
          <a:p>
            <a:pPr lvl="2"/>
            <a:r>
              <a:rPr lang="en-US" altLang="zh-CN" sz="2400" b="1"/>
              <a:t>where o.pid=p.pid and o.cid=c2.cid )) ;</a:t>
            </a:r>
            <a:endParaRPr lang="en-US" altLang="zh-CN" sz="2400" b="1"/>
          </a:p>
        </p:txBody>
      </p:sp>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custDataLst>
              <p:tags r:id="rId1"/>
            </p:custDataLst>
          </p:nvPr>
        </p:nvSpPr>
        <p:spPr>
          <a:xfrm>
            <a:off x="583565" y="91440"/>
            <a:ext cx="11043920" cy="832485"/>
          </a:xfrm>
          <a:prstGeom prst="rect">
            <a:avLst/>
          </a:prstGeom>
          <a:noFill/>
        </p:spPr>
        <p:txBody>
          <a:bodyPr wrap="square" lIns="90170" tIns="46990" rIns="90170" bIns="46990" rtlCol="0">
            <a:spAutoFit/>
          </a:bodyPr>
          <a:lstStyle>
            <a:defPPr>
              <a:defRPr lang="zh-CN"/>
            </a:defPPr>
            <a:lvl1pPr fontAlgn="auto">
              <a:lnSpc>
                <a:spcPct val="130000"/>
              </a:lnSpc>
              <a:spcAft>
                <a:spcPts val="1000"/>
              </a:spcAft>
              <a:defRPr sz="1600" spc="150"/>
            </a:lvl1pPr>
          </a:lstStyle>
          <a:p>
            <a:pPr marL="479425" indent="-479425" fontAlgn="ctr">
              <a:lnSpc>
                <a:spcPct val="100000"/>
              </a:lnSpc>
              <a:spcBef>
                <a:spcPts val="0"/>
              </a:spcBef>
              <a:spcAft>
                <a:spcPts val="0"/>
              </a:spcAft>
              <a:buClr>
                <a:srgbClr val="000000">
                  <a:lumMod val="50000"/>
                  <a:lumOff val="50000"/>
                </a:srgbClr>
              </a:buClr>
              <a:buSzPct val="100000"/>
              <a:buNone/>
            </a:pPr>
            <a:r>
              <a:rPr lang="zh-CN" altLang="en-US" sz="2400" b="1">
                <a:solidFill>
                  <a:srgbClr val="1F2DA8"/>
                </a:solidFill>
                <a:sym typeface="+mn-ea"/>
              </a:rPr>
              <a:t>3.5 返回每一个客户的编号及其最后两份订单的订购日期（按照订单编号的大小区分订单的先后）</a:t>
            </a:r>
            <a:endParaRPr lang="zh-CN" altLang="en-US" sz="2400" b="1" dirty="0">
              <a:solidFill>
                <a:srgbClr val="1F2DA8"/>
              </a:solidFill>
              <a:uFillTx/>
              <a:latin typeface="Arial" panose="020B0604020202020204" pitchFamily="34" charset="0"/>
              <a:ea typeface="微软雅黑" panose="020B0503020204020204" charset="-122"/>
              <a:sym typeface="+mn-ea"/>
            </a:endParaRPr>
          </a:p>
        </p:txBody>
      </p:sp>
      <p:sp>
        <p:nvSpPr>
          <p:cNvPr id="2" name="文本框 1"/>
          <p:cNvSpPr txBox="1"/>
          <p:nvPr/>
        </p:nvSpPr>
        <p:spPr>
          <a:xfrm>
            <a:off x="583565" y="1140460"/>
            <a:ext cx="11043920" cy="398780"/>
          </a:xfrm>
          <a:prstGeom prst="rect">
            <a:avLst/>
          </a:prstGeom>
          <a:noFill/>
        </p:spPr>
        <p:txBody>
          <a:bodyPr wrap="square" rtlCol="0">
            <a:spAutoFit/>
          </a:bodyPr>
          <a:p>
            <a:r>
              <a:rPr lang="zh-CN" altLang="en-US" sz="2000" b="1">
                <a:solidFill>
                  <a:srgbClr val="FF0000"/>
                </a:solidFill>
              </a:rPr>
              <a:t>参考答案 1</a:t>
            </a:r>
            <a:r>
              <a:rPr lang="zh-CN" altLang="en-US" sz="2000" b="1">
                <a:solidFill>
                  <a:srgbClr val="1F2DA8"/>
                </a:solidFill>
              </a:rPr>
              <a:t>（</a:t>
            </a:r>
            <a:r>
              <a:rPr lang="zh-CN" altLang="en-US" sz="2000" b="1">
                <a:solidFill>
                  <a:srgbClr val="1F2DA8"/>
                </a:solidFill>
                <a:latin typeface="+mn-ea"/>
                <a:cs typeface="+mn-ea"/>
              </a:rPr>
              <a:t>至少有2条订单的客户</a:t>
            </a:r>
            <a:r>
              <a:rPr lang="zh-CN" altLang="en-US" sz="2000" b="1">
                <a:solidFill>
                  <a:srgbClr val="1F2DA8"/>
                </a:solidFill>
              </a:rPr>
              <a:t>）</a:t>
            </a:r>
            <a:endParaRPr lang="zh-CN" altLang="en-US" sz="2000" b="1">
              <a:solidFill>
                <a:srgbClr val="1F2DA8"/>
              </a:solidFill>
            </a:endParaRPr>
          </a:p>
        </p:txBody>
      </p:sp>
      <p:sp>
        <p:nvSpPr>
          <p:cNvPr id="6" name="文本框 5"/>
          <p:cNvSpPr txBox="1"/>
          <p:nvPr/>
        </p:nvSpPr>
        <p:spPr>
          <a:xfrm>
            <a:off x="583565" y="1548765"/>
            <a:ext cx="11044555" cy="2306955"/>
          </a:xfrm>
          <a:prstGeom prst="rect">
            <a:avLst/>
          </a:prstGeom>
          <a:noFill/>
          <a:ln>
            <a:solidFill>
              <a:schemeClr val="accent1"/>
            </a:solidFill>
          </a:ln>
        </p:spPr>
        <p:txBody>
          <a:bodyPr wrap="square" rtlCol="0">
            <a:spAutoFit/>
          </a:bodyPr>
          <a:p>
            <a:r>
              <a:rPr lang="en-US" altLang="zh-CN" sz="2400" b="1"/>
              <a:t>select o1.cid, o2.orddate as last_ord, o1.orddate as prior_to_last_ord</a:t>
            </a:r>
            <a:endParaRPr lang="en-US" altLang="zh-CN" sz="2400" b="1"/>
          </a:p>
          <a:p>
            <a:r>
              <a:rPr lang="en-US" altLang="zh-CN" sz="2400" b="1"/>
              <a:t>from orders o1, orders o2</a:t>
            </a:r>
            <a:endParaRPr lang="en-US" altLang="zh-CN" sz="2400" b="1"/>
          </a:p>
          <a:p>
            <a:r>
              <a:rPr lang="en-US" altLang="zh-CN" sz="2400" b="1"/>
              <a:t>where o1.cid=o2.cid and o1.ordno&lt;o2.ordno and </a:t>
            </a:r>
            <a:endParaRPr lang="en-US" altLang="zh-CN" sz="2400" b="1"/>
          </a:p>
          <a:p>
            <a:pPr lvl="1"/>
            <a:r>
              <a:rPr lang="en-US" altLang="zh-CN" sz="2400" b="1"/>
              <a:t>not exists (select * </a:t>
            </a:r>
            <a:endParaRPr lang="en-US" altLang="zh-CN" sz="2400" b="1"/>
          </a:p>
          <a:p>
            <a:pPr lvl="4"/>
            <a:r>
              <a:rPr lang="en-US" altLang="zh-CN" sz="2400" b="1"/>
              <a:t>from orders o </a:t>
            </a:r>
            <a:endParaRPr lang="en-US" altLang="zh-CN" sz="2400" b="1"/>
          </a:p>
          <a:p>
            <a:pPr lvl="4"/>
            <a:r>
              <a:rPr lang="en-US" altLang="zh-CN" sz="2400" b="1"/>
              <a:t>where o.cid=o1.cid and o.ordno&gt;o1.ordno and o.ordno&lt;&gt;o2.ordno) ;</a:t>
            </a:r>
            <a:endParaRPr lang="en-US" altLang="zh-CN" sz="2400" b="1"/>
          </a:p>
        </p:txBody>
      </p:sp>
      <p:sp>
        <p:nvSpPr>
          <p:cNvPr id="3" name="文本框 2"/>
          <p:cNvSpPr txBox="1"/>
          <p:nvPr/>
        </p:nvSpPr>
        <p:spPr>
          <a:xfrm>
            <a:off x="573405" y="4060190"/>
            <a:ext cx="11043920" cy="2306955"/>
          </a:xfrm>
          <a:prstGeom prst="rect">
            <a:avLst/>
          </a:prstGeom>
          <a:noFill/>
        </p:spPr>
        <p:txBody>
          <a:bodyPr wrap="square" rtlCol="0">
            <a:spAutoFit/>
          </a:bodyPr>
          <a:p>
            <a:r>
              <a:rPr lang="zh-CN" altLang="en-US" sz="2400" b="1">
                <a:solidFill>
                  <a:srgbClr val="1F2DA8"/>
                </a:solidFill>
              </a:rPr>
              <a:t>注：</a:t>
            </a:r>
            <a:endParaRPr lang="zh-CN" altLang="en-US" sz="2400" b="1">
              <a:solidFill>
                <a:srgbClr val="1F2DA8"/>
              </a:solidFill>
            </a:endParaRPr>
          </a:p>
          <a:p>
            <a:pPr marL="914400" lvl="1" indent="-457200">
              <a:buFont typeface="+mj-ea"/>
              <a:buAutoNum type="circleNumDbPlain"/>
            </a:pPr>
            <a:r>
              <a:rPr lang="zh-CN" altLang="en-US" sz="2400" b="1">
                <a:solidFill>
                  <a:srgbClr val="1F2DA8"/>
                </a:solidFill>
              </a:rPr>
              <a:t>上述查询仅返回</a:t>
            </a:r>
            <a:r>
              <a:rPr lang="zh-CN" altLang="en-US" sz="2400" b="1">
                <a:solidFill>
                  <a:srgbClr val="1F2DA8"/>
                </a:solidFill>
                <a:latin typeface="+mn-ea"/>
                <a:cs typeface="+mn-ea"/>
                <a:sym typeface="+mn-ea"/>
              </a:rPr>
              <a:t>至少有2条订单的客户的信息，其中：</a:t>
            </a:r>
            <a:r>
              <a:rPr lang="en-US" altLang="zh-CN" sz="2400" b="1">
                <a:solidFill>
                  <a:srgbClr val="1F2DA8"/>
                </a:solidFill>
                <a:latin typeface="+mn-ea"/>
                <a:cs typeface="+mn-ea"/>
                <a:sym typeface="+mn-ea"/>
              </a:rPr>
              <a:t>o2</a:t>
            </a:r>
            <a:r>
              <a:rPr lang="zh-CN" altLang="en-US" sz="2400" b="1">
                <a:solidFill>
                  <a:srgbClr val="1F2DA8"/>
                </a:solidFill>
                <a:latin typeface="+mn-ea"/>
                <a:cs typeface="+mn-ea"/>
                <a:sym typeface="+mn-ea"/>
              </a:rPr>
              <a:t>是该客户的最后一份订单，</a:t>
            </a:r>
            <a:r>
              <a:rPr lang="en-US" altLang="zh-CN" sz="2400" b="1">
                <a:solidFill>
                  <a:srgbClr val="1F2DA8"/>
                </a:solidFill>
                <a:latin typeface="+mn-ea"/>
                <a:cs typeface="+mn-ea"/>
                <a:sym typeface="+mn-ea"/>
              </a:rPr>
              <a:t>o1</a:t>
            </a:r>
            <a:r>
              <a:rPr lang="zh-CN" altLang="en-US" sz="2400" b="1">
                <a:solidFill>
                  <a:srgbClr val="1F2DA8"/>
                </a:solidFill>
                <a:latin typeface="+mn-ea"/>
                <a:cs typeface="+mn-ea"/>
                <a:sym typeface="+mn-ea"/>
              </a:rPr>
              <a:t>是他的倒数第二份订单；</a:t>
            </a:r>
            <a:endParaRPr lang="zh-CN" altLang="en-US" sz="2400" b="1">
              <a:solidFill>
                <a:srgbClr val="1F2DA8"/>
              </a:solidFill>
              <a:latin typeface="+mn-ea"/>
              <a:cs typeface="+mn-ea"/>
              <a:sym typeface="+mn-ea"/>
            </a:endParaRPr>
          </a:p>
          <a:p>
            <a:pPr marL="914400" lvl="1" indent="-457200">
              <a:buFont typeface="+mj-ea"/>
              <a:buAutoNum type="circleNumDbPlain"/>
            </a:pPr>
            <a:r>
              <a:rPr lang="zh-CN" altLang="en-US" sz="2400" b="1">
                <a:solidFill>
                  <a:srgbClr val="1F2DA8"/>
                </a:solidFill>
              </a:rPr>
              <a:t>如果也想同时得到只有一份订单（即最后一份订单）、以及没有订单的客户信息，那么需要再分别写两个子查询。或者使用创建视图的方法来实现。</a:t>
            </a:r>
            <a:r>
              <a:rPr lang="en-US" altLang="zh-CN" sz="2400" b="1">
                <a:solidFill>
                  <a:srgbClr val="1F2DA8"/>
                </a:solidFill>
              </a:rPr>
              <a:t>(next slide)</a:t>
            </a:r>
            <a:endParaRPr lang="en-US" altLang="zh-CN" sz="2400" b="1">
              <a:solidFill>
                <a:srgbClr val="1F2DA8"/>
              </a:solidFill>
            </a:endParaRPr>
          </a:p>
        </p:txBody>
      </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custDataLst>
              <p:tags r:id="rId1"/>
            </p:custDataLst>
          </p:nvPr>
        </p:nvSpPr>
        <p:spPr>
          <a:xfrm>
            <a:off x="584200" y="4959350"/>
            <a:ext cx="11043920" cy="832485"/>
          </a:xfrm>
          <a:prstGeom prst="rect">
            <a:avLst/>
          </a:prstGeom>
          <a:noFill/>
        </p:spPr>
        <p:txBody>
          <a:bodyPr wrap="square" lIns="90170" tIns="46990" rIns="90170" bIns="46990" rtlCol="0">
            <a:spAutoFit/>
          </a:bodyPr>
          <a:lstStyle>
            <a:defPPr>
              <a:defRPr lang="zh-CN"/>
            </a:defPPr>
            <a:lvl1pPr fontAlgn="auto">
              <a:lnSpc>
                <a:spcPct val="130000"/>
              </a:lnSpc>
              <a:spcAft>
                <a:spcPts val="1000"/>
              </a:spcAft>
              <a:defRPr sz="1600" spc="150"/>
            </a:lvl1pPr>
          </a:lstStyle>
          <a:p>
            <a:pPr marL="479425" indent="-479425" fontAlgn="ctr">
              <a:lnSpc>
                <a:spcPct val="100000"/>
              </a:lnSpc>
              <a:spcBef>
                <a:spcPts val="0"/>
              </a:spcBef>
              <a:spcAft>
                <a:spcPts val="0"/>
              </a:spcAft>
              <a:buClr>
                <a:srgbClr val="000000">
                  <a:lumMod val="50000"/>
                  <a:lumOff val="50000"/>
                </a:srgbClr>
              </a:buClr>
              <a:buSzPct val="100000"/>
              <a:buFont typeface="Arial" panose="020B0604020202020204" pitchFamily="34" charset="0"/>
              <a:buChar char="•"/>
            </a:pPr>
            <a:r>
              <a:rPr lang="zh-CN" altLang="en-US" sz="2400" b="1">
                <a:solidFill>
                  <a:srgbClr val="1F2DA8"/>
                </a:solidFill>
                <a:sym typeface="+mn-ea"/>
              </a:rPr>
              <a:t>根据用户的需要，可以将上述的子查询用 </a:t>
            </a:r>
            <a:r>
              <a:rPr lang="en-US" altLang="zh-CN" sz="2400" b="1">
                <a:solidFill>
                  <a:srgbClr val="1F2DA8"/>
                </a:solidFill>
                <a:sym typeface="+mn-ea"/>
              </a:rPr>
              <a:t>union </a:t>
            </a:r>
            <a:r>
              <a:rPr lang="zh-CN" altLang="en-US" sz="2400" b="1">
                <a:solidFill>
                  <a:srgbClr val="1F2DA8"/>
                </a:solidFill>
                <a:sym typeface="+mn-ea"/>
              </a:rPr>
              <a:t>操作进行合并，来返回希望获得的结果集</a:t>
            </a:r>
            <a:r>
              <a:rPr lang="zh-CN" altLang="en-US" sz="2400" b="1">
                <a:solidFill>
                  <a:srgbClr val="1F2DA8"/>
                </a:solidFill>
                <a:sym typeface="+mn-ea"/>
              </a:rPr>
              <a:t>。</a:t>
            </a:r>
            <a:endParaRPr lang="zh-CN" altLang="en-US" sz="2400" b="1">
              <a:solidFill>
                <a:srgbClr val="1F2DA8"/>
              </a:solidFill>
              <a:sym typeface="+mn-ea"/>
            </a:endParaRPr>
          </a:p>
        </p:txBody>
      </p:sp>
      <p:sp>
        <p:nvSpPr>
          <p:cNvPr id="2" name="文本框 1"/>
          <p:cNvSpPr txBox="1"/>
          <p:nvPr/>
        </p:nvSpPr>
        <p:spPr>
          <a:xfrm>
            <a:off x="583565" y="106680"/>
            <a:ext cx="11043920" cy="398780"/>
          </a:xfrm>
          <a:prstGeom prst="rect">
            <a:avLst/>
          </a:prstGeom>
          <a:noFill/>
        </p:spPr>
        <p:txBody>
          <a:bodyPr wrap="square" rtlCol="0">
            <a:spAutoFit/>
          </a:bodyPr>
          <a:p>
            <a:r>
              <a:rPr lang="zh-CN" altLang="en-US" sz="2000" b="1">
                <a:solidFill>
                  <a:srgbClr val="1F2DA8"/>
                </a:solidFill>
              </a:rPr>
              <a:t>（</a:t>
            </a:r>
            <a:r>
              <a:rPr lang="zh-CN" altLang="en-US" sz="2000" b="1">
                <a:solidFill>
                  <a:srgbClr val="1F2DA8"/>
                </a:solidFill>
                <a:latin typeface="+mn-ea"/>
                <a:cs typeface="+mn-ea"/>
              </a:rPr>
              <a:t>只有1份</a:t>
            </a:r>
            <a:r>
              <a:rPr lang="zh-CN" altLang="en-US" sz="2000" b="1">
                <a:solidFill>
                  <a:srgbClr val="1F2DA8"/>
                </a:solidFill>
                <a:latin typeface="+mn-ea"/>
                <a:cs typeface="+mn-ea"/>
              </a:rPr>
              <a:t>订单的客户</a:t>
            </a:r>
            <a:r>
              <a:rPr lang="en-US" altLang="zh-CN" sz="2000" b="1">
                <a:solidFill>
                  <a:srgbClr val="1F2DA8"/>
                </a:solidFill>
                <a:latin typeface="+mn-ea"/>
                <a:cs typeface="+mn-ea"/>
              </a:rPr>
              <a:t>, </a:t>
            </a:r>
            <a:r>
              <a:rPr lang="zh-CN" altLang="en-US" sz="2000" b="1">
                <a:solidFill>
                  <a:srgbClr val="1F2DA8"/>
                </a:solidFill>
                <a:latin typeface="+mn-ea"/>
                <a:cs typeface="+mn-ea"/>
              </a:rPr>
              <a:t>倒数第二份订单的订购日期用NULL表示</a:t>
            </a:r>
            <a:r>
              <a:rPr lang="zh-CN" altLang="en-US" sz="2000" b="1">
                <a:solidFill>
                  <a:srgbClr val="1F2DA8"/>
                </a:solidFill>
              </a:rPr>
              <a:t>）</a:t>
            </a:r>
            <a:endParaRPr lang="zh-CN" altLang="en-US" sz="2000" b="1">
              <a:solidFill>
                <a:srgbClr val="1F2DA8"/>
              </a:solidFill>
            </a:endParaRPr>
          </a:p>
        </p:txBody>
      </p:sp>
      <p:sp>
        <p:nvSpPr>
          <p:cNvPr id="6" name="文本框 5"/>
          <p:cNvSpPr txBox="1"/>
          <p:nvPr/>
        </p:nvSpPr>
        <p:spPr>
          <a:xfrm>
            <a:off x="583565" y="514985"/>
            <a:ext cx="11044555" cy="2306955"/>
          </a:xfrm>
          <a:prstGeom prst="rect">
            <a:avLst/>
          </a:prstGeom>
          <a:noFill/>
          <a:ln>
            <a:solidFill>
              <a:schemeClr val="accent1"/>
            </a:solidFill>
          </a:ln>
        </p:spPr>
        <p:txBody>
          <a:bodyPr wrap="square" rtlCol="0">
            <a:spAutoFit/>
          </a:bodyPr>
          <a:p>
            <a:r>
              <a:rPr lang="en-US" altLang="zh-CN" sz="2400" b="1"/>
              <a:t>select o1.cid, o1.orddate as last_ord, NULL</a:t>
            </a:r>
            <a:endParaRPr lang="en-US" altLang="zh-CN" sz="2400" b="1"/>
          </a:p>
          <a:p>
            <a:r>
              <a:rPr lang="en-US" altLang="zh-CN" sz="2400" b="1"/>
              <a:t>from orders o1</a:t>
            </a:r>
            <a:endParaRPr lang="en-US" altLang="zh-CN" sz="2400" b="1"/>
          </a:p>
          <a:p>
            <a:r>
              <a:rPr lang="en-US" altLang="zh-CN" sz="2400" b="1"/>
              <a:t>where not exists (</a:t>
            </a:r>
            <a:endParaRPr lang="en-US" altLang="zh-CN" sz="2400" b="1"/>
          </a:p>
          <a:p>
            <a:pPr lvl="1"/>
            <a:r>
              <a:rPr lang="en-US" altLang="zh-CN" sz="2400" b="1"/>
              <a:t>select * </a:t>
            </a:r>
            <a:endParaRPr lang="en-US" altLang="zh-CN" sz="2400" b="1"/>
          </a:p>
          <a:p>
            <a:pPr lvl="1"/>
            <a:r>
              <a:rPr lang="en-US" altLang="zh-CN" sz="2400" b="1"/>
              <a:t>from orders o </a:t>
            </a:r>
            <a:endParaRPr lang="en-US" altLang="zh-CN" sz="2400" b="1"/>
          </a:p>
          <a:p>
            <a:pPr lvl="1"/>
            <a:r>
              <a:rPr lang="en-US" altLang="zh-CN" sz="2400" b="1"/>
              <a:t>where o.cid=o1.cid and o.ordno&lt;&gt;o1.ordno ) ;</a:t>
            </a:r>
            <a:endParaRPr lang="en-US" altLang="zh-CN" sz="2400" b="1"/>
          </a:p>
        </p:txBody>
      </p:sp>
      <p:sp>
        <p:nvSpPr>
          <p:cNvPr id="3" name="文本框 2"/>
          <p:cNvSpPr txBox="1"/>
          <p:nvPr/>
        </p:nvSpPr>
        <p:spPr>
          <a:xfrm>
            <a:off x="573405" y="3012440"/>
            <a:ext cx="11043920" cy="398780"/>
          </a:xfrm>
          <a:prstGeom prst="rect">
            <a:avLst/>
          </a:prstGeom>
          <a:noFill/>
        </p:spPr>
        <p:txBody>
          <a:bodyPr wrap="square" rtlCol="0">
            <a:spAutoFit/>
          </a:bodyPr>
          <a:p>
            <a:r>
              <a:rPr lang="zh-CN" altLang="en-US" sz="2000" b="1">
                <a:solidFill>
                  <a:srgbClr val="1F2DA8"/>
                </a:solidFill>
                <a:latin typeface="+mn-ea"/>
                <a:cs typeface="+mn-ea"/>
              </a:rPr>
              <a:t>（没有订单的客户, 订购日期都用NULL表示）</a:t>
            </a:r>
            <a:endParaRPr lang="zh-CN" altLang="en-US" sz="2000" b="1">
              <a:solidFill>
                <a:srgbClr val="1F2DA8"/>
              </a:solidFill>
            </a:endParaRPr>
          </a:p>
        </p:txBody>
      </p:sp>
      <p:sp>
        <p:nvSpPr>
          <p:cNvPr id="5" name="文本框 4"/>
          <p:cNvSpPr txBox="1"/>
          <p:nvPr/>
        </p:nvSpPr>
        <p:spPr>
          <a:xfrm>
            <a:off x="573405" y="3420745"/>
            <a:ext cx="11044555" cy="1198880"/>
          </a:xfrm>
          <a:prstGeom prst="rect">
            <a:avLst/>
          </a:prstGeom>
          <a:noFill/>
          <a:ln>
            <a:solidFill>
              <a:schemeClr val="accent1"/>
            </a:solidFill>
          </a:ln>
        </p:spPr>
        <p:txBody>
          <a:bodyPr wrap="square" rtlCol="0">
            <a:spAutoFit/>
          </a:bodyPr>
          <a:p>
            <a:r>
              <a:rPr lang="en-US" altLang="zh-CN" sz="2400" b="1"/>
              <a:t>select cid, NULL, NULL</a:t>
            </a:r>
            <a:endParaRPr lang="en-US" altLang="zh-CN" sz="2400" b="1"/>
          </a:p>
          <a:p>
            <a:r>
              <a:rPr lang="en-US" altLang="zh-CN" sz="2400" b="1"/>
              <a:t>from customers</a:t>
            </a:r>
            <a:endParaRPr lang="en-US" altLang="zh-CN" sz="2400" b="1"/>
          </a:p>
          <a:p>
            <a:r>
              <a:rPr lang="en-US" altLang="zh-CN" sz="2400" b="1"/>
              <a:t>where cid not in (select cid from orders );</a:t>
            </a:r>
            <a:endParaRPr lang="en-US" altLang="zh-CN" sz="2400" b="1"/>
          </a:p>
        </p:txBody>
      </p:sp>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custDataLst>
              <p:tags r:id="rId1"/>
            </p:custDataLst>
          </p:nvPr>
        </p:nvSpPr>
        <p:spPr>
          <a:xfrm>
            <a:off x="583565" y="91440"/>
            <a:ext cx="11043920" cy="462915"/>
          </a:xfrm>
          <a:prstGeom prst="rect">
            <a:avLst/>
          </a:prstGeom>
          <a:noFill/>
        </p:spPr>
        <p:txBody>
          <a:bodyPr wrap="square" lIns="90170" tIns="46990" rIns="90170" bIns="46990" rtlCol="0">
            <a:spAutoFit/>
          </a:bodyPr>
          <a:lstStyle>
            <a:defPPr>
              <a:defRPr lang="zh-CN"/>
            </a:defPPr>
            <a:lvl1pPr fontAlgn="auto">
              <a:lnSpc>
                <a:spcPct val="130000"/>
              </a:lnSpc>
              <a:spcAft>
                <a:spcPts val="1000"/>
              </a:spcAft>
              <a:defRPr sz="1600" spc="150"/>
            </a:lvl1pPr>
          </a:lstStyle>
          <a:p>
            <a:pPr marL="479425" indent="-479425" fontAlgn="ctr">
              <a:lnSpc>
                <a:spcPct val="100000"/>
              </a:lnSpc>
              <a:spcBef>
                <a:spcPts val="0"/>
              </a:spcBef>
              <a:spcAft>
                <a:spcPts val="0"/>
              </a:spcAft>
              <a:buClr>
                <a:srgbClr val="000000">
                  <a:lumMod val="50000"/>
                  <a:lumOff val="50000"/>
                </a:srgbClr>
              </a:buClr>
              <a:buSzPct val="100000"/>
              <a:buNone/>
            </a:pPr>
            <a:r>
              <a:rPr lang="zh-CN" altLang="en-US" sz="2400" b="1">
                <a:solidFill>
                  <a:srgbClr val="1F2DA8"/>
                </a:solidFill>
                <a:sym typeface="+mn-ea"/>
              </a:rPr>
              <a:t>3.6 检索居住在Dallas的所有客户都订购过的商品编号</a:t>
            </a:r>
            <a:endParaRPr lang="zh-CN" altLang="en-US" sz="2400" b="1" dirty="0">
              <a:solidFill>
                <a:srgbClr val="1F2DA8"/>
              </a:solidFill>
              <a:uFillTx/>
              <a:latin typeface="Arial" panose="020B0604020202020204" pitchFamily="34" charset="0"/>
              <a:ea typeface="微软雅黑" panose="020B0503020204020204" charset="-122"/>
              <a:sym typeface="+mn-ea"/>
            </a:endParaRPr>
          </a:p>
        </p:txBody>
      </p:sp>
      <p:sp>
        <p:nvSpPr>
          <p:cNvPr id="6" name="文本框 5"/>
          <p:cNvSpPr txBox="1"/>
          <p:nvPr/>
        </p:nvSpPr>
        <p:spPr>
          <a:xfrm>
            <a:off x="756285" y="1066800"/>
            <a:ext cx="10513695" cy="3415030"/>
          </a:xfrm>
          <a:prstGeom prst="rect">
            <a:avLst/>
          </a:prstGeom>
          <a:noFill/>
          <a:ln>
            <a:solidFill>
              <a:schemeClr val="accent1"/>
            </a:solidFill>
          </a:ln>
        </p:spPr>
        <p:txBody>
          <a:bodyPr wrap="square" rtlCol="0">
            <a:spAutoFit/>
          </a:bodyPr>
          <a:p>
            <a:r>
              <a:rPr lang="en-US" altLang="zh-CN" sz="2400" b="1"/>
              <a:t>select pid</a:t>
            </a:r>
            <a:endParaRPr lang="en-US" altLang="zh-CN" sz="2400" b="1"/>
          </a:p>
          <a:p>
            <a:r>
              <a:rPr lang="en-US" altLang="zh-CN" sz="2400" b="1"/>
              <a:t>from products P</a:t>
            </a:r>
            <a:endParaRPr lang="en-US" altLang="zh-CN" sz="2400" b="1"/>
          </a:p>
          <a:p>
            <a:r>
              <a:rPr lang="en-US" altLang="zh-CN" sz="2400" b="1"/>
              <a:t>where not exist (</a:t>
            </a:r>
            <a:endParaRPr lang="en-US" altLang="zh-CN" sz="2400" b="1"/>
          </a:p>
          <a:p>
            <a:pPr lvl="1"/>
            <a:r>
              <a:rPr lang="en-US" altLang="zh-CN" sz="2400" b="1"/>
              <a:t>select * </a:t>
            </a:r>
            <a:endParaRPr lang="en-US" altLang="zh-CN" sz="2400" b="1"/>
          </a:p>
          <a:p>
            <a:pPr lvl="1"/>
            <a:r>
              <a:rPr lang="en-US" altLang="zh-CN" sz="2400" b="1"/>
              <a:t>from customers c</a:t>
            </a:r>
            <a:endParaRPr lang="en-US" altLang="zh-CN" sz="2400" b="1"/>
          </a:p>
          <a:p>
            <a:pPr lvl="1"/>
            <a:r>
              <a:rPr lang="en-US" altLang="zh-CN" sz="2400" b="1"/>
              <a:t>where c.city=‘Dallas’ and not exists (</a:t>
            </a:r>
            <a:endParaRPr lang="en-US" altLang="zh-CN" sz="2400" b="1"/>
          </a:p>
          <a:p>
            <a:pPr lvl="2"/>
            <a:r>
              <a:rPr lang="en-US" altLang="zh-CN" sz="2400" b="1"/>
              <a:t>select * </a:t>
            </a:r>
            <a:endParaRPr lang="en-US" altLang="zh-CN" sz="2400" b="1"/>
          </a:p>
          <a:p>
            <a:pPr lvl="2"/>
            <a:r>
              <a:rPr lang="en-US" altLang="zh-CN" sz="2400" b="1"/>
              <a:t>from orders o</a:t>
            </a:r>
            <a:endParaRPr lang="en-US" altLang="zh-CN" sz="2400" b="1"/>
          </a:p>
          <a:p>
            <a:pPr lvl="2"/>
            <a:r>
              <a:rPr lang="en-US" altLang="zh-CN" sz="2400" b="1"/>
              <a:t>where o.cid=c.cid and o.pid=P.pid) ) ;</a:t>
            </a:r>
            <a:endParaRPr lang="en-US" altLang="zh-CN" sz="2400" b="1"/>
          </a:p>
        </p:txBody>
      </p:sp>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custDataLst>
              <p:tags r:id="rId1"/>
            </p:custDataLst>
          </p:nvPr>
        </p:nvSpPr>
        <p:spPr>
          <a:xfrm>
            <a:off x="583565" y="91440"/>
            <a:ext cx="11043920" cy="832485"/>
          </a:xfrm>
          <a:prstGeom prst="rect">
            <a:avLst/>
          </a:prstGeom>
          <a:noFill/>
        </p:spPr>
        <p:txBody>
          <a:bodyPr wrap="square" lIns="90170" tIns="46990" rIns="90170" bIns="46990" rtlCol="0">
            <a:spAutoFit/>
          </a:bodyPr>
          <a:lstStyle>
            <a:defPPr>
              <a:defRPr lang="zh-CN"/>
            </a:defPPr>
            <a:lvl1pPr fontAlgn="auto">
              <a:lnSpc>
                <a:spcPct val="130000"/>
              </a:lnSpc>
              <a:spcAft>
                <a:spcPts val="1000"/>
              </a:spcAft>
              <a:defRPr sz="1600" spc="150"/>
            </a:lvl1pPr>
          </a:lstStyle>
          <a:p>
            <a:pPr marL="479425" indent="-479425" fontAlgn="ctr">
              <a:lnSpc>
                <a:spcPct val="100000"/>
              </a:lnSpc>
              <a:spcBef>
                <a:spcPts val="0"/>
              </a:spcBef>
              <a:spcAft>
                <a:spcPts val="0"/>
              </a:spcAft>
              <a:buClr>
                <a:srgbClr val="000000">
                  <a:lumMod val="50000"/>
                  <a:lumOff val="50000"/>
                </a:srgbClr>
              </a:buClr>
              <a:buSzPct val="100000"/>
              <a:buNone/>
            </a:pPr>
            <a:r>
              <a:rPr lang="zh-CN" altLang="en-US" sz="2400" b="1">
                <a:solidFill>
                  <a:srgbClr val="1F2DA8"/>
                </a:solidFill>
                <a:sym typeface="+mn-ea"/>
              </a:rPr>
              <a:t>3.7 检索为居住在Duluth的所有客户订购过商品的经销商的编号及其佣金百分比，并按照佣金百分比的降序输出查询结果</a:t>
            </a:r>
            <a:endParaRPr lang="zh-CN" altLang="en-US" sz="2400" b="1" dirty="0">
              <a:solidFill>
                <a:srgbClr val="1F2DA8"/>
              </a:solidFill>
              <a:uFillTx/>
              <a:latin typeface="Arial" panose="020B0604020202020204" pitchFamily="34" charset="0"/>
              <a:ea typeface="微软雅黑" panose="020B0503020204020204" charset="-122"/>
              <a:sym typeface="+mn-ea"/>
            </a:endParaRPr>
          </a:p>
        </p:txBody>
      </p:sp>
      <p:sp>
        <p:nvSpPr>
          <p:cNvPr id="6" name="文本框 5"/>
          <p:cNvSpPr txBox="1"/>
          <p:nvPr/>
        </p:nvSpPr>
        <p:spPr>
          <a:xfrm>
            <a:off x="756285" y="1066800"/>
            <a:ext cx="10513695" cy="3784600"/>
          </a:xfrm>
          <a:prstGeom prst="rect">
            <a:avLst/>
          </a:prstGeom>
          <a:noFill/>
          <a:ln>
            <a:solidFill>
              <a:schemeClr val="accent1"/>
            </a:solidFill>
          </a:ln>
        </p:spPr>
        <p:txBody>
          <a:bodyPr wrap="square" rtlCol="0">
            <a:spAutoFit/>
          </a:bodyPr>
          <a:p>
            <a:r>
              <a:rPr lang="en-US" altLang="zh-CN" sz="2400" b="1"/>
              <a:t>select aid, perc </a:t>
            </a:r>
            <a:endParaRPr lang="en-US" altLang="zh-CN" sz="2400" b="1"/>
          </a:p>
          <a:p>
            <a:r>
              <a:rPr lang="en-US" altLang="zh-CN" sz="2400" b="1"/>
              <a:t>from agents a</a:t>
            </a:r>
            <a:endParaRPr lang="en-US" altLang="zh-CN" sz="2400" b="1"/>
          </a:p>
          <a:p>
            <a:r>
              <a:rPr lang="en-US" altLang="zh-CN" sz="2400" b="1"/>
              <a:t>where not exist (</a:t>
            </a:r>
            <a:endParaRPr lang="en-US" altLang="zh-CN" sz="2400" b="1"/>
          </a:p>
          <a:p>
            <a:pPr lvl="1"/>
            <a:r>
              <a:rPr lang="en-US" altLang="zh-CN" sz="2400" b="1"/>
              <a:t>select * </a:t>
            </a:r>
            <a:endParaRPr lang="en-US" altLang="zh-CN" sz="2400" b="1"/>
          </a:p>
          <a:p>
            <a:pPr lvl="1"/>
            <a:r>
              <a:rPr lang="en-US" altLang="zh-CN" sz="2400" b="1"/>
              <a:t>from customers c</a:t>
            </a:r>
            <a:endParaRPr lang="en-US" altLang="zh-CN" sz="2400" b="1"/>
          </a:p>
          <a:p>
            <a:pPr lvl="1"/>
            <a:r>
              <a:rPr lang="en-US" altLang="zh-CN" sz="2400" b="1"/>
              <a:t>where c.city=‘Duluth’ and not exists (</a:t>
            </a:r>
            <a:endParaRPr lang="en-US" altLang="zh-CN" sz="2400" b="1"/>
          </a:p>
          <a:p>
            <a:pPr lvl="2"/>
            <a:r>
              <a:rPr lang="en-US" altLang="zh-CN" sz="2400" b="1"/>
              <a:t>select * </a:t>
            </a:r>
            <a:endParaRPr lang="en-US" altLang="zh-CN" sz="2400" b="1"/>
          </a:p>
          <a:p>
            <a:pPr lvl="2"/>
            <a:r>
              <a:rPr lang="en-US" altLang="zh-CN" sz="2400" b="1"/>
              <a:t>from orders o</a:t>
            </a:r>
            <a:endParaRPr lang="en-US" altLang="zh-CN" sz="2400" b="1"/>
          </a:p>
          <a:p>
            <a:pPr lvl="2"/>
            <a:r>
              <a:rPr lang="en-US" altLang="zh-CN" sz="2400" b="1"/>
              <a:t>where o.cid=c.cid and o.aid=a</a:t>
            </a:r>
            <a:r>
              <a:rPr lang="en-US" altLang="zh-CN" sz="2400" b="1"/>
              <a:t>.aid))</a:t>
            </a:r>
            <a:endParaRPr lang="en-US" altLang="zh-CN" sz="2400" b="1"/>
          </a:p>
          <a:p>
            <a:r>
              <a:rPr lang="en-US" altLang="zh-CN" sz="2400" b="1"/>
              <a:t>order by perc desc ;</a:t>
            </a:r>
            <a:endParaRPr lang="en-US" altLang="zh-CN" sz="2400" b="1"/>
          </a:p>
        </p:txBody>
      </p:sp>
    </p:spTree>
    <p:custDataLst>
      <p:tags r:id="rId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custDataLst>
              <p:tags r:id="rId1"/>
            </p:custDataLst>
          </p:nvPr>
        </p:nvSpPr>
        <p:spPr>
          <a:xfrm>
            <a:off x="583565" y="91440"/>
            <a:ext cx="11043920" cy="832485"/>
          </a:xfrm>
          <a:prstGeom prst="rect">
            <a:avLst/>
          </a:prstGeom>
          <a:noFill/>
        </p:spPr>
        <p:txBody>
          <a:bodyPr wrap="square" lIns="90170" tIns="46990" rIns="90170" bIns="46990" rtlCol="0">
            <a:spAutoFit/>
          </a:bodyPr>
          <a:lstStyle>
            <a:defPPr>
              <a:defRPr lang="zh-CN"/>
            </a:defPPr>
            <a:lvl1pPr fontAlgn="auto">
              <a:lnSpc>
                <a:spcPct val="130000"/>
              </a:lnSpc>
              <a:spcAft>
                <a:spcPts val="1000"/>
              </a:spcAft>
              <a:defRPr sz="1600" spc="150"/>
            </a:lvl1pPr>
          </a:lstStyle>
          <a:p>
            <a:pPr marL="479425" indent="-479425" fontAlgn="ctr">
              <a:lnSpc>
                <a:spcPct val="100000"/>
              </a:lnSpc>
              <a:spcBef>
                <a:spcPts val="0"/>
              </a:spcBef>
              <a:spcAft>
                <a:spcPts val="0"/>
              </a:spcAft>
              <a:buClr>
                <a:srgbClr val="000000">
                  <a:lumMod val="50000"/>
                  <a:lumOff val="50000"/>
                </a:srgbClr>
              </a:buClr>
              <a:buSzPct val="100000"/>
              <a:buNone/>
            </a:pPr>
            <a:r>
              <a:rPr lang="zh-CN" altLang="en-US" sz="2400" b="1">
                <a:solidFill>
                  <a:srgbClr val="1F2DA8"/>
                </a:solidFill>
                <a:sym typeface="+mn-ea"/>
              </a:rPr>
              <a:t>3.8 检索符合下述条件的商品的编号：至少有一个客户通过与该客户位于同一个城市的经销商订购过该商品</a:t>
            </a:r>
            <a:endParaRPr lang="zh-CN" altLang="en-US" sz="2400" b="1" dirty="0">
              <a:solidFill>
                <a:srgbClr val="1F2DA8"/>
              </a:solidFill>
              <a:uFillTx/>
              <a:latin typeface="Arial" panose="020B0604020202020204" pitchFamily="34" charset="0"/>
              <a:ea typeface="微软雅黑" panose="020B0503020204020204" charset="-122"/>
              <a:sym typeface="+mn-ea"/>
            </a:endParaRPr>
          </a:p>
        </p:txBody>
      </p:sp>
      <p:sp>
        <p:nvSpPr>
          <p:cNvPr id="6" name="文本框 5"/>
          <p:cNvSpPr txBox="1"/>
          <p:nvPr/>
        </p:nvSpPr>
        <p:spPr>
          <a:xfrm>
            <a:off x="756285" y="1066800"/>
            <a:ext cx="10513695" cy="1198880"/>
          </a:xfrm>
          <a:prstGeom prst="rect">
            <a:avLst/>
          </a:prstGeom>
          <a:noFill/>
          <a:ln>
            <a:solidFill>
              <a:schemeClr val="accent1"/>
            </a:solidFill>
          </a:ln>
        </p:spPr>
        <p:txBody>
          <a:bodyPr wrap="square" rtlCol="0">
            <a:spAutoFit/>
          </a:bodyPr>
          <a:p>
            <a:pPr lvl="1"/>
            <a:r>
              <a:rPr lang="en-US" altLang="zh-CN" sz="2400" b="1"/>
              <a:t>select o.pid</a:t>
            </a:r>
            <a:endParaRPr lang="en-US" altLang="zh-CN" sz="2400" b="1"/>
          </a:p>
          <a:p>
            <a:pPr lvl="1"/>
            <a:r>
              <a:rPr lang="en-US" altLang="zh-CN" sz="2400" b="1"/>
              <a:t>from orders o, customers c, agents a</a:t>
            </a:r>
            <a:endParaRPr lang="en-US" altLang="zh-CN" sz="2400" b="1"/>
          </a:p>
          <a:p>
            <a:pPr lvl="1"/>
            <a:r>
              <a:rPr lang="en-US" altLang="zh-CN" sz="2400" b="1"/>
              <a:t>where o.cid=c.cid and o.aid=a.aid and c.city=a.city ;</a:t>
            </a:r>
            <a:endParaRPr lang="en-US" altLang="zh-CN" sz="2400" b="1"/>
          </a:p>
        </p:txBody>
      </p:sp>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custDataLst>
              <p:tags r:id="rId1"/>
            </p:custDataLst>
          </p:nvPr>
        </p:nvSpPr>
        <p:spPr>
          <a:xfrm>
            <a:off x="583565" y="91440"/>
            <a:ext cx="11043920" cy="832485"/>
          </a:xfrm>
          <a:prstGeom prst="rect">
            <a:avLst/>
          </a:prstGeom>
          <a:noFill/>
        </p:spPr>
        <p:txBody>
          <a:bodyPr wrap="square" lIns="90170" tIns="46990" rIns="90170" bIns="46990" rtlCol="0">
            <a:spAutoFit/>
          </a:bodyPr>
          <a:lstStyle>
            <a:defPPr>
              <a:defRPr lang="zh-CN"/>
            </a:defPPr>
            <a:lvl1pPr fontAlgn="auto">
              <a:lnSpc>
                <a:spcPct val="130000"/>
              </a:lnSpc>
              <a:spcAft>
                <a:spcPts val="1000"/>
              </a:spcAft>
              <a:defRPr sz="1600" spc="150"/>
            </a:lvl1pPr>
          </a:lstStyle>
          <a:p>
            <a:pPr marL="479425" indent="-479425" fontAlgn="ctr">
              <a:lnSpc>
                <a:spcPct val="100000"/>
              </a:lnSpc>
              <a:spcBef>
                <a:spcPts val="0"/>
              </a:spcBef>
              <a:spcAft>
                <a:spcPts val="0"/>
              </a:spcAft>
              <a:buClr>
                <a:srgbClr val="000000">
                  <a:lumMod val="50000"/>
                  <a:lumOff val="50000"/>
                </a:srgbClr>
              </a:buClr>
              <a:buSzPct val="100000"/>
              <a:buNone/>
            </a:pPr>
            <a:r>
              <a:rPr lang="zh-CN" altLang="en-US" sz="2400" b="1">
                <a:solidFill>
                  <a:srgbClr val="1F2DA8"/>
                </a:solidFill>
                <a:sym typeface="+mn-ea"/>
              </a:rPr>
              <a:t>3.9 检索享有最高销售提成比例的经销商（请分别写出使用统计函数和不使用统计函数的两种不同表示方法）</a:t>
            </a:r>
            <a:endParaRPr lang="zh-CN" altLang="en-US" sz="2400" b="1" dirty="0">
              <a:solidFill>
                <a:srgbClr val="1F2DA8"/>
              </a:solidFill>
              <a:uFillTx/>
              <a:latin typeface="Arial" panose="020B0604020202020204" pitchFamily="34" charset="0"/>
              <a:ea typeface="微软雅黑" panose="020B0503020204020204" charset="-122"/>
              <a:sym typeface="+mn-ea"/>
            </a:endParaRPr>
          </a:p>
        </p:txBody>
      </p:sp>
      <p:sp>
        <p:nvSpPr>
          <p:cNvPr id="2" name="文本框 1"/>
          <p:cNvSpPr txBox="1"/>
          <p:nvPr/>
        </p:nvSpPr>
        <p:spPr>
          <a:xfrm>
            <a:off x="179070" y="1184910"/>
            <a:ext cx="5814060" cy="398780"/>
          </a:xfrm>
          <a:prstGeom prst="rect">
            <a:avLst/>
          </a:prstGeom>
          <a:noFill/>
        </p:spPr>
        <p:txBody>
          <a:bodyPr wrap="square" rtlCol="0">
            <a:spAutoFit/>
          </a:bodyPr>
          <a:p>
            <a:r>
              <a:rPr lang="zh-CN" altLang="en-US" sz="2000" b="1">
                <a:solidFill>
                  <a:srgbClr val="FF0000"/>
                </a:solidFill>
              </a:rPr>
              <a:t>参考答案 1</a:t>
            </a:r>
            <a:r>
              <a:rPr lang="zh-CN" altLang="en-US" sz="2000" b="1">
                <a:solidFill>
                  <a:srgbClr val="1F2DA8"/>
                </a:solidFill>
              </a:rPr>
              <a:t>（使用统计函数）</a:t>
            </a:r>
            <a:endParaRPr lang="zh-CN" altLang="en-US" sz="2000" b="1">
              <a:solidFill>
                <a:srgbClr val="1F2DA8"/>
              </a:solidFill>
            </a:endParaRPr>
          </a:p>
        </p:txBody>
      </p:sp>
      <p:sp>
        <p:nvSpPr>
          <p:cNvPr id="3" name="文本框 2"/>
          <p:cNvSpPr txBox="1"/>
          <p:nvPr/>
        </p:nvSpPr>
        <p:spPr>
          <a:xfrm>
            <a:off x="186055" y="1905000"/>
            <a:ext cx="5814695" cy="1938020"/>
          </a:xfrm>
          <a:prstGeom prst="rect">
            <a:avLst/>
          </a:prstGeom>
          <a:noFill/>
          <a:ln>
            <a:solidFill>
              <a:schemeClr val="accent1"/>
            </a:solidFill>
          </a:ln>
        </p:spPr>
        <p:txBody>
          <a:bodyPr wrap="square" rtlCol="0">
            <a:spAutoFit/>
          </a:bodyPr>
          <a:p>
            <a:r>
              <a:rPr lang="en-US" altLang="zh-CN" sz="2400" b="1"/>
              <a:t>select *</a:t>
            </a:r>
            <a:endParaRPr lang="en-US" altLang="zh-CN" sz="2400" b="1"/>
          </a:p>
          <a:p>
            <a:r>
              <a:rPr lang="en-US" altLang="zh-CN" sz="2400" b="1"/>
              <a:t>from agents</a:t>
            </a:r>
            <a:endParaRPr lang="en-US" altLang="zh-CN" sz="2400" b="1"/>
          </a:p>
          <a:p>
            <a:r>
              <a:rPr lang="en-US" altLang="zh-CN" sz="2400" b="1"/>
              <a:t>where perc in (</a:t>
            </a:r>
            <a:endParaRPr lang="en-US" altLang="zh-CN" sz="2400" b="1"/>
          </a:p>
          <a:p>
            <a:pPr lvl="1"/>
            <a:r>
              <a:rPr lang="en-US" altLang="zh-CN" sz="2400" b="1"/>
              <a:t>select max(a.perc)</a:t>
            </a:r>
            <a:endParaRPr lang="en-US" altLang="zh-CN" sz="2400" b="1"/>
          </a:p>
          <a:p>
            <a:pPr lvl="1"/>
            <a:r>
              <a:rPr lang="en-US" altLang="zh-CN" sz="2400" b="1"/>
              <a:t>from agents a )  ;</a:t>
            </a:r>
            <a:endParaRPr lang="zh-CN" altLang="en-US" sz="2400" b="1"/>
          </a:p>
        </p:txBody>
      </p:sp>
      <p:sp>
        <p:nvSpPr>
          <p:cNvPr id="7" name="文本框 6"/>
          <p:cNvSpPr txBox="1"/>
          <p:nvPr/>
        </p:nvSpPr>
        <p:spPr>
          <a:xfrm>
            <a:off x="6134100" y="1905000"/>
            <a:ext cx="5814695" cy="1938020"/>
          </a:xfrm>
          <a:prstGeom prst="rect">
            <a:avLst/>
          </a:prstGeom>
          <a:noFill/>
          <a:ln>
            <a:solidFill>
              <a:schemeClr val="accent1"/>
            </a:solidFill>
          </a:ln>
        </p:spPr>
        <p:txBody>
          <a:bodyPr wrap="square" rtlCol="0">
            <a:spAutoFit/>
          </a:bodyPr>
          <a:p>
            <a:r>
              <a:rPr lang="en-US" altLang="zh-CN" sz="2400" b="1"/>
              <a:t>select * </a:t>
            </a:r>
            <a:endParaRPr lang="en-US" altLang="zh-CN" sz="2400" b="1"/>
          </a:p>
          <a:p>
            <a:r>
              <a:rPr lang="en-US" altLang="zh-CN" sz="2400" b="1"/>
              <a:t>from agents </a:t>
            </a:r>
            <a:endParaRPr lang="en-US" altLang="zh-CN" sz="2400" b="1"/>
          </a:p>
          <a:p>
            <a:r>
              <a:rPr lang="en-US" altLang="zh-CN" sz="2400" b="1"/>
              <a:t>where perc &gt;= all (</a:t>
            </a:r>
            <a:endParaRPr lang="en-US" altLang="zh-CN" sz="2400" b="1"/>
          </a:p>
          <a:p>
            <a:pPr lvl="1"/>
            <a:r>
              <a:rPr lang="en-US" altLang="zh-CN" sz="2400" b="1"/>
              <a:t>select perc </a:t>
            </a:r>
            <a:endParaRPr lang="en-US" altLang="zh-CN" sz="2400" b="1"/>
          </a:p>
          <a:p>
            <a:pPr lvl="1"/>
            <a:r>
              <a:rPr lang="en-US" altLang="zh-CN" sz="2400" b="1"/>
              <a:t>from agents );</a:t>
            </a:r>
            <a:endParaRPr lang="en-US" altLang="zh-CN" sz="2400" b="1"/>
          </a:p>
        </p:txBody>
      </p:sp>
      <p:sp>
        <p:nvSpPr>
          <p:cNvPr id="8" name="文本框 7"/>
          <p:cNvSpPr txBox="1"/>
          <p:nvPr/>
        </p:nvSpPr>
        <p:spPr>
          <a:xfrm>
            <a:off x="6130290" y="1184910"/>
            <a:ext cx="5819140" cy="398780"/>
          </a:xfrm>
          <a:prstGeom prst="rect">
            <a:avLst/>
          </a:prstGeom>
          <a:noFill/>
        </p:spPr>
        <p:txBody>
          <a:bodyPr wrap="square" rtlCol="0">
            <a:spAutoFit/>
          </a:bodyPr>
          <a:p>
            <a:r>
              <a:rPr lang="zh-CN" altLang="en-US" sz="2000" b="1">
                <a:solidFill>
                  <a:srgbClr val="FF0000"/>
                </a:solidFill>
              </a:rPr>
              <a:t>参考答案 </a:t>
            </a:r>
            <a:r>
              <a:rPr lang="en-US" altLang="zh-CN" sz="2000" b="1">
                <a:solidFill>
                  <a:srgbClr val="FF0000"/>
                </a:solidFill>
              </a:rPr>
              <a:t>2</a:t>
            </a:r>
            <a:r>
              <a:rPr lang="zh-CN" altLang="en-US" sz="2000" b="1">
                <a:solidFill>
                  <a:srgbClr val="1F2DA8"/>
                </a:solidFill>
              </a:rPr>
              <a:t>（不使用统计函数）</a:t>
            </a:r>
            <a:endParaRPr lang="zh-CN" altLang="en-US" sz="2000" b="1">
              <a:solidFill>
                <a:srgbClr val="1F2DA8"/>
              </a:solidFill>
            </a:endParaRPr>
          </a:p>
        </p:txBody>
      </p:sp>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custDataLst>
              <p:tags r:id="rId1"/>
            </p:custDataLst>
          </p:nvPr>
        </p:nvSpPr>
        <p:spPr>
          <a:xfrm>
            <a:off x="583565" y="91440"/>
            <a:ext cx="11043920" cy="832485"/>
          </a:xfrm>
          <a:prstGeom prst="rect">
            <a:avLst/>
          </a:prstGeom>
          <a:noFill/>
        </p:spPr>
        <p:txBody>
          <a:bodyPr wrap="square" lIns="90170" tIns="46990" rIns="90170" bIns="46990" rtlCol="0">
            <a:spAutoFit/>
          </a:bodyPr>
          <a:lstStyle>
            <a:defPPr>
              <a:defRPr lang="zh-CN"/>
            </a:defPPr>
            <a:lvl1pPr fontAlgn="auto">
              <a:lnSpc>
                <a:spcPct val="130000"/>
              </a:lnSpc>
              <a:spcAft>
                <a:spcPts val="1000"/>
              </a:spcAft>
              <a:defRPr sz="1600" spc="150"/>
            </a:lvl1pPr>
          </a:lstStyle>
          <a:p>
            <a:pPr marL="479425" indent="-479425" fontAlgn="ctr">
              <a:lnSpc>
                <a:spcPct val="100000"/>
              </a:lnSpc>
              <a:spcBef>
                <a:spcPts val="0"/>
              </a:spcBef>
              <a:spcAft>
                <a:spcPts val="0"/>
              </a:spcAft>
              <a:buClr>
                <a:srgbClr val="000000">
                  <a:lumMod val="50000"/>
                  <a:lumOff val="50000"/>
                </a:srgbClr>
              </a:buClr>
              <a:buSzPct val="100000"/>
              <a:buNone/>
            </a:pPr>
            <a:r>
              <a:rPr lang="zh-CN" altLang="en-US" sz="2400" b="1">
                <a:solidFill>
                  <a:srgbClr val="1F2DA8"/>
                </a:solidFill>
                <a:sym typeface="+mn-ea"/>
              </a:rPr>
              <a:t>3.10 检索仅仅通过a04号经销商订购过商品的客户编号，并给出每个客户的订购总金额</a:t>
            </a:r>
            <a:endParaRPr lang="zh-CN" altLang="en-US" sz="2400" b="1" dirty="0">
              <a:solidFill>
                <a:srgbClr val="1F2DA8"/>
              </a:solidFill>
              <a:uFillTx/>
              <a:latin typeface="Arial" panose="020B0604020202020204" pitchFamily="34" charset="0"/>
              <a:ea typeface="微软雅黑" panose="020B0503020204020204" charset="-122"/>
              <a:sym typeface="+mn-ea"/>
            </a:endParaRPr>
          </a:p>
        </p:txBody>
      </p:sp>
      <p:sp>
        <p:nvSpPr>
          <p:cNvPr id="6" name="文本框 5"/>
          <p:cNvSpPr txBox="1"/>
          <p:nvPr/>
        </p:nvSpPr>
        <p:spPr>
          <a:xfrm>
            <a:off x="756285" y="1157605"/>
            <a:ext cx="10513695" cy="2676525"/>
          </a:xfrm>
          <a:prstGeom prst="rect">
            <a:avLst/>
          </a:prstGeom>
          <a:noFill/>
          <a:ln>
            <a:solidFill>
              <a:schemeClr val="accent1"/>
            </a:solidFill>
          </a:ln>
        </p:spPr>
        <p:txBody>
          <a:bodyPr wrap="square" rtlCol="0">
            <a:spAutoFit/>
          </a:bodyPr>
          <a:p>
            <a:pPr lvl="1"/>
            <a:r>
              <a:rPr lang="en-US" altLang="zh-CN" sz="2400" b="1"/>
              <a:t>select o1.cid, sum(o1.dols)</a:t>
            </a:r>
            <a:endParaRPr lang="en-US" altLang="zh-CN" sz="2400" b="1"/>
          </a:p>
          <a:p>
            <a:pPr lvl="1"/>
            <a:r>
              <a:rPr lang="en-US" altLang="zh-CN" sz="2400" b="1"/>
              <a:t>from orders o1</a:t>
            </a:r>
            <a:endParaRPr lang="en-US" altLang="zh-CN" sz="2400" b="1"/>
          </a:p>
          <a:p>
            <a:pPr lvl="1"/>
            <a:r>
              <a:rPr lang="en-US" altLang="zh-CN" sz="2400" b="1"/>
              <a:t>where o1.cid not in (</a:t>
            </a:r>
            <a:endParaRPr lang="en-US" altLang="zh-CN" sz="2400" b="1"/>
          </a:p>
          <a:p>
            <a:pPr lvl="2"/>
            <a:r>
              <a:rPr lang="en-US" altLang="zh-CN" sz="2400" b="1"/>
              <a:t>select o2.cid</a:t>
            </a:r>
            <a:endParaRPr lang="en-US" altLang="zh-CN" sz="2400" b="1"/>
          </a:p>
          <a:p>
            <a:pPr lvl="2"/>
            <a:r>
              <a:rPr lang="en-US" altLang="zh-CN" sz="2400" b="1"/>
              <a:t>from orders o2</a:t>
            </a:r>
            <a:endParaRPr lang="en-US" altLang="zh-CN" sz="2400" b="1"/>
          </a:p>
          <a:p>
            <a:pPr lvl="2"/>
            <a:r>
              <a:rPr lang="en-US" altLang="zh-CN" sz="2400" b="1"/>
              <a:t>where o2.aid&lt;&gt;‘a04’)</a:t>
            </a:r>
            <a:endParaRPr lang="en-US" altLang="zh-CN" sz="2400" b="1"/>
          </a:p>
          <a:p>
            <a:pPr lvl="1"/>
            <a:r>
              <a:rPr lang="en-US" altLang="zh-CN" sz="2400" b="1"/>
              <a:t>group by o1.cid;</a:t>
            </a:r>
            <a:endParaRPr lang="en-US" altLang="zh-CN" sz="2400" b="1"/>
          </a:p>
        </p:txBody>
      </p:sp>
    </p:spTree>
    <p:custDataLst>
      <p:tags r:id="rId2"/>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custDataLst>
              <p:tags r:id="rId1"/>
            </p:custDataLst>
          </p:nvPr>
        </p:nvSpPr>
        <p:spPr>
          <a:xfrm>
            <a:off x="583565" y="91440"/>
            <a:ext cx="11043920" cy="832485"/>
          </a:xfrm>
          <a:prstGeom prst="rect">
            <a:avLst/>
          </a:prstGeom>
          <a:noFill/>
        </p:spPr>
        <p:txBody>
          <a:bodyPr wrap="square" lIns="90170" tIns="46990" rIns="90170" bIns="46990" rtlCol="0">
            <a:spAutoFit/>
          </a:bodyPr>
          <a:lstStyle>
            <a:defPPr>
              <a:defRPr lang="zh-CN"/>
            </a:defPPr>
            <a:lvl1pPr fontAlgn="auto">
              <a:lnSpc>
                <a:spcPct val="130000"/>
              </a:lnSpc>
              <a:spcAft>
                <a:spcPts val="1000"/>
              </a:spcAft>
              <a:defRPr sz="1600" spc="150"/>
            </a:lvl1pPr>
          </a:lstStyle>
          <a:p>
            <a:pPr marL="479425" indent="-479425" fontAlgn="ctr">
              <a:lnSpc>
                <a:spcPct val="100000"/>
              </a:lnSpc>
              <a:spcBef>
                <a:spcPts val="0"/>
              </a:spcBef>
              <a:spcAft>
                <a:spcPts val="0"/>
              </a:spcAft>
              <a:buClr>
                <a:srgbClr val="000000">
                  <a:lumMod val="50000"/>
                  <a:lumOff val="50000"/>
                </a:srgbClr>
              </a:buClr>
              <a:buSzPct val="100000"/>
              <a:buNone/>
            </a:pPr>
            <a:r>
              <a:rPr lang="zh-CN" altLang="en-US" sz="2400" b="1">
                <a:solidFill>
                  <a:srgbClr val="1F2DA8"/>
                </a:solidFill>
                <a:sym typeface="+mn-ea"/>
              </a:rPr>
              <a:t>3.11 检索每个经销商销售每一种产品的总数量，结果只需要返回每一种商品中，销售总数量排名前三且数量统计超过1000的</a:t>
            </a:r>
            <a:endParaRPr lang="zh-CN" altLang="en-US" sz="2400" b="1" dirty="0">
              <a:solidFill>
                <a:srgbClr val="1F2DA8"/>
              </a:solidFill>
              <a:uFillTx/>
              <a:latin typeface="Arial" panose="020B0604020202020204" pitchFamily="34" charset="0"/>
              <a:ea typeface="微软雅黑" panose="020B0503020204020204" charset="-122"/>
              <a:sym typeface="+mn-ea"/>
            </a:endParaRPr>
          </a:p>
        </p:txBody>
      </p:sp>
      <p:sp>
        <p:nvSpPr>
          <p:cNvPr id="2" name="文本框 1"/>
          <p:cNvSpPr txBox="1"/>
          <p:nvPr>
            <p:custDataLst>
              <p:tags r:id="rId2"/>
            </p:custDataLst>
          </p:nvPr>
        </p:nvSpPr>
        <p:spPr>
          <a:xfrm>
            <a:off x="583565" y="1341120"/>
            <a:ext cx="11043920" cy="832485"/>
          </a:xfrm>
          <a:prstGeom prst="rect">
            <a:avLst/>
          </a:prstGeom>
          <a:noFill/>
        </p:spPr>
        <p:txBody>
          <a:bodyPr wrap="square" lIns="90170" tIns="46990" rIns="90170" bIns="46990" rtlCol="0">
            <a:spAutoFit/>
          </a:bodyPr>
          <a:lstStyle>
            <a:defPPr>
              <a:defRPr lang="zh-CN"/>
            </a:defPPr>
            <a:lvl1pPr fontAlgn="auto">
              <a:lnSpc>
                <a:spcPct val="130000"/>
              </a:lnSpc>
              <a:spcAft>
                <a:spcPts val="1000"/>
              </a:spcAft>
              <a:defRPr sz="1600" spc="150"/>
            </a:lvl1pPr>
          </a:lstStyle>
          <a:p>
            <a:pPr marL="479425" indent="-479425" fontAlgn="ctr">
              <a:lnSpc>
                <a:spcPct val="100000"/>
              </a:lnSpc>
              <a:spcBef>
                <a:spcPts val="0"/>
              </a:spcBef>
              <a:spcAft>
                <a:spcPts val="0"/>
              </a:spcAft>
              <a:buClr>
                <a:srgbClr val="000000">
                  <a:lumMod val="50000"/>
                  <a:lumOff val="50000"/>
                </a:srgbClr>
              </a:buClr>
              <a:buSzPct val="100000"/>
              <a:buFont typeface="Arial" panose="020B0604020202020204" pitchFamily="34" charset="0"/>
              <a:buChar char="•"/>
            </a:pPr>
            <a:r>
              <a:rPr lang="zh-CN" altLang="en-US" sz="2400" b="1">
                <a:solidFill>
                  <a:srgbClr val="1F2DA8"/>
                </a:solidFill>
                <a:sym typeface="+mn-ea"/>
              </a:rPr>
              <a:t>本题无法直接用</a:t>
            </a:r>
            <a:r>
              <a:rPr lang="en-US" altLang="zh-CN" sz="2400" b="1">
                <a:solidFill>
                  <a:srgbClr val="1F2DA8"/>
                </a:solidFill>
                <a:sym typeface="+mn-ea"/>
              </a:rPr>
              <a:t>SQL</a:t>
            </a:r>
            <a:r>
              <a:rPr lang="zh-CN" altLang="en-US" sz="2400" b="1">
                <a:solidFill>
                  <a:srgbClr val="1F2DA8"/>
                </a:solidFill>
                <a:sym typeface="+mn-ea"/>
              </a:rPr>
              <a:t>查询来表示，需要先创建视图，最后用视图上的查询来表示。</a:t>
            </a:r>
            <a:endParaRPr lang="zh-CN" altLang="en-US" sz="2400" b="1">
              <a:solidFill>
                <a:srgbClr val="1F2DA8"/>
              </a:solidFill>
              <a:sym typeface="+mn-ea"/>
            </a:endParaRPr>
          </a:p>
        </p:txBody>
      </p:sp>
      <p:sp>
        <p:nvSpPr>
          <p:cNvPr id="6" name="文本框 5"/>
          <p:cNvSpPr txBox="1"/>
          <p:nvPr/>
        </p:nvSpPr>
        <p:spPr>
          <a:xfrm>
            <a:off x="583565" y="3057525"/>
            <a:ext cx="11044555" cy="1938020"/>
          </a:xfrm>
          <a:prstGeom prst="rect">
            <a:avLst/>
          </a:prstGeom>
          <a:noFill/>
          <a:ln>
            <a:solidFill>
              <a:schemeClr val="accent1"/>
            </a:solidFill>
          </a:ln>
        </p:spPr>
        <p:txBody>
          <a:bodyPr wrap="square" rtlCol="0">
            <a:spAutoFit/>
          </a:bodyPr>
          <a:p>
            <a:pPr lvl="1"/>
            <a:r>
              <a:rPr lang="en-US" altLang="zh-CN" sz="2400" b="1"/>
              <a:t>create view apview(aid, pid, q_sum) as</a:t>
            </a:r>
            <a:endParaRPr lang="en-US" altLang="zh-CN" sz="2400" b="1"/>
          </a:p>
          <a:p>
            <a:pPr lvl="2"/>
            <a:r>
              <a:rPr lang="en-US" altLang="zh-CN" sz="2400" b="1"/>
              <a:t>select aid, pid, sum(qty) </a:t>
            </a:r>
            <a:endParaRPr lang="en-US" altLang="zh-CN" sz="2400" b="1"/>
          </a:p>
          <a:p>
            <a:pPr lvl="2"/>
            <a:r>
              <a:rPr lang="en-US" altLang="zh-CN" sz="2400" b="1"/>
              <a:t>from orders</a:t>
            </a:r>
            <a:endParaRPr lang="en-US" altLang="zh-CN" sz="2400" b="1"/>
          </a:p>
          <a:p>
            <a:pPr lvl="2"/>
            <a:r>
              <a:rPr lang="en-US" altLang="zh-CN" sz="2400" b="1"/>
              <a:t>group by aid, pid </a:t>
            </a:r>
            <a:endParaRPr lang="en-US" altLang="zh-CN" sz="2400" b="1"/>
          </a:p>
          <a:p>
            <a:pPr lvl="2"/>
            <a:r>
              <a:rPr lang="en-US" altLang="zh-CN" sz="2400" b="1"/>
              <a:t>having sum(qty)&gt;1000 ;</a:t>
            </a:r>
            <a:endParaRPr lang="en-US" altLang="zh-CN" sz="2400" b="1"/>
          </a:p>
        </p:txBody>
      </p:sp>
      <p:sp>
        <p:nvSpPr>
          <p:cNvPr id="3" name="文本框 2"/>
          <p:cNvSpPr txBox="1"/>
          <p:nvPr/>
        </p:nvSpPr>
        <p:spPr>
          <a:xfrm>
            <a:off x="583565" y="2320925"/>
            <a:ext cx="11043920" cy="706755"/>
          </a:xfrm>
          <a:prstGeom prst="rect">
            <a:avLst/>
          </a:prstGeom>
          <a:noFill/>
        </p:spPr>
        <p:txBody>
          <a:bodyPr wrap="square" rtlCol="0">
            <a:spAutoFit/>
          </a:bodyPr>
          <a:p>
            <a:pPr marL="890905" indent="-890905"/>
            <a:r>
              <a:rPr lang="zh-CN" altLang="en-US" sz="2000" b="1">
                <a:solidFill>
                  <a:srgbClr val="FF0000"/>
                </a:solidFill>
              </a:rPr>
              <a:t>Step 1：</a:t>
            </a:r>
            <a:r>
              <a:rPr lang="zh-CN" altLang="en-US" sz="2000" b="1"/>
              <a:t>创建一个视图，统计每个经销商销售每一种产品的总数量，只返回销售总数量超过1000的统计结果</a:t>
            </a:r>
            <a:endParaRPr lang="zh-CN" altLang="en-US" sz="2000" b="1"/>
          </a:p>
        </p:txBody>
      </p:sp>
      <p:sp>
        <p:nvSpPr>
          <p:cNvPr id="5" name="文本框 4"/>
          <p:cNvSpPr txBox="1"/>
          <p:nvPr>
            <p:custDataLst>
              <p:tags r:id="rId3"/>
            </p:custDataLst>
          </p:nvPr>
        </p:nvSpPr>
        <p:spPr>
          <a:xfrm>
            <a:off x="584200" y="5266055"/>
            <a:ext cx="11043920" cy="832485"/>
          </a:xfrm>
          <a:prstGeom prst="rect">
            <a:avLst/>
          </a:prstGeom>
          <a:noFill/>
        </p:spPr>
        <p:txBody>
          <a:bodyPr wrap="square" lIns="90170" tIns="46990" rIns="90170" bIns="46990" rtlCol="0">
            <a:spAutoFit/>
          </a:bodyPr>
          <a:lstStyle>
            <a:defPPr>
              <a:defRPr lang="zh-CN"/>
            </a:defPPr>
            <a:lvl1pPr fontAlgn="auto">
              <a:lnSpc>
                <a:spcPct val="130000"/>
              </a:lnSpc>
              <a:spcAft>
                <a:spcPts val="1000"/>
              </a:spcAft>
              <a:defRPr sz="1600" spc="150"/>
            </a:lvl1pPr>
          </a:lstStyle>
          <a:p>
            <a:pPr marL="479425" indent="-479425" fontAlgn="ctr">
              <a:lnSpc>
                <a:spcPct val="100000"/>
              </a:lnSpc>
              <a:spcBef>
                <a:spcPts val="0"/>
              </a:spcBef>
              <a:spcAft>
                <a:spcPts val="0"/>
              </a:spcAft>
              <a:buClr>
                <a:srgbClr val="000000">
                  <a:lumMod val="50000"/>
                  <a:lumOff val="50000"/>
                </a:srgbClr>
              </a:buClr>
              <a:buSzPct val="100000"/>
              <a:buFont typeface="Arial" panose="020B0604020202020204" pitchFamily="34" charset="0"/>
              <a:buChar char="•"/>
            </a:pPr>
            <a:r>
              <a:rPr lang="zh-CN" altLang="en-US" sz="2400" b="1">
                <a:solidFill>
                  <a:srgbClr val="1F2DA8"/>
                </a:solidFill>
                <a:sym typeface="+mn-ea"/>
              </a:rPr>
              <a:t>接下来，基于上述创建的视图</a:t>
            </a:r>
            <a:r>
              <a:rPr lang="en-US" altLang="zh-CN" sz="2400" b="1">
                <a:solidFill>
                  <a:srgbClr val="1F2DA8"/>
                </a:solidFill>
                <a:sym typeface="+mn-ea"/>
              </a:rPr>
              <a:t>apview</a:t>
            </a:r>
            <a:r>
              <a:rPr lang="zh-CN" altLang="en-US" sz="2400" b="1">
                <a:solidFill>
                  <a:srgbClr val="1F2DA8"/>
                </a:solidFill>
                <a:sym typeface="+mn-ea"/>
              </a:rPr>
              <a:t>，我们再创建三个视图，分别返回每一种商品中，销售数量排名第一、第二、第三的供应商</a:t>
            </a:r>
            <a:r>
              <a:rPr lang="zh-CN" altLang="en-US" sz="2400" b="1">
                <a:solidFill>
                  <a:srgbClr val="1F2DA8"/>
                </a:solidFill>
                <a:sym typeface="+mn-ea"/>
              </a:rPr>
              <a:t>。</a:t>
            </a:r>
            <a:endParaRPr lang="zh-CN" altLang="en-US" sz="2400" b="1">
              <a:solidFill>
                <a:srgbClr val="1F2DA8"/>
              </a:solidFill>
              <a:sym typeface="+mn-ea"/>
            </a:endParaRPr>
          </a:p>
        </p:txBody>
      </p:sp>
    </p:spTree>
    <p:custDataLst>
      <p:tags r:id="rId4"/>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 name="组合 9"/>
          <p:cNvGrpSpPr/>
          <p:nvPr/>
        </p:nvGrpSpPr>
        <p:grpSpPr>
          <a:xfrm>
            <a:off x="583565" y="2977515"/>
            <a:ext cx="11044555" cy="3063875"/>
            <a:chOff x="919" y="3655"/>
            <a:chExt cx="17393" cy="4825"/>
          </a:xfrm>
        </p:grpSpPr>
        <p:sp>
          <p:nvSpPr>
            <p:cNvPr id="6" name="文本框 5"/>
            <p:cNvSpPr txBox="1"/>
            <p:nvPr/>
          </p:nvSpPr>
          <p:spPr>
            <a:xfrm>
              <a:off x="919" y="4265"/>
              <a:ext cx="17393" cy="4215"/>
            </a:xfrm>
            <a:prstGeom prst="rect">
              <a:avLst/>
            </a:prstGeom>
            <a:noFill/>
            <a:ln>
              <a:solidFill>
                <a:schemeClr val="accent1"/>
              </a:solidFill>
            </a:ln>
          </p:spPr>
          <p:txBody>
            <a:bodyPr wrap="square" rtlCol="0">
              <a:spAutoFit/>
            </a:bodyPr>
            <a:p>
              <a:pPr lvl="0"/>
              <a:r>
                <a:rPr lang="en-US" altLang="zh-CN" sz="2400" b="1"/>
                <a:t>create view top2(aid, pid, q_sum) as</a:t>
              </a:r>
              <a:endParaRPr lang="en-US" altLang="zh-CN" sz="2400" b="1"/>
            </a:p>
            <a:p>
              <a:pPr lvl="1"/>
              <a:r>
                <a:rPr lang="en-US" altLang="zh-CN" sz="2400" b="1"/>
                <a:t>select x.aid, x.pid, x.q_sum </a:t>
              </a:r>
              <a:endParaRPr lang="en-US" altLang="zh-CN" sz="2400" b="1"/>
            </a:p>
            <a:p>
              <a:pPr lvl="1"/>
              <a:r>
                <a:rPr lang="en-US" altLang="zh-CN" sz="2400" b="1"/>
                <a:t>from apview x, apview y</a:t>
              </a:r>
              <a:endParaRPr lang="en-US" altLang="zh-CN" sz="2400" b="1"/>
            </a:p>
            <a:p>
              <a:pPr lvl="1"/>
              <a:r>
                <a:rPr lang="en-US" altLang="zh-CN" sz="2400" b="1"/>
                <a:t>where x.pid=y.pid and x.q_sum&lt;y.q_sum and </a:t>
              </a:r>
              <a:endParaRPr lang="en-US" altLang="zh-CN" sz="2400" b="1"/>
            </a:p>
            <a:p>
              <a:pPr lvl="3"/>
              <a:r>
                <a:rPr lang="en-US" altLang="zh-CN" sz="2400" b="1"/>
                <a:t>x.q_sum&gt;=all ( select v.q_sum </a:t>
              </a:r>
              <a:endParaRPr lang="en-US" altLang="zh-CN" sz="2400" b="1"/>
            </a:p>
            <a:p>
              <a:pPr lvl="7"/>
              <a:r>
                <a:rPr lang="en-US" altLang="zh-CN" sz="2400" b="1"/>
                <a:t>from apview v </a:t>
              </a:r>
              <a:endParaRPr lang="en-US" altLang="zh-CN" sz="2400" b="1"/>
            </a:p>
            <a:p>
              <a:pPr lvl="7"/>
              <a:r>
                <a:rPr lang="en-US" altLang="zh-CN" sz="2400" b="1"/>
                <a:t>where v.pid=x.pid and v.q_sum&lt;&gt;y.q_sum) ;</a:t>
              </a:r>
              <a:endParaRPr lang="en-US" altLang="zh-CN" sz="2400" b="1"/>
            </a:p>
          </p:txBody>
        </p:sp>
        <p:sp>
          <p:nvSpPr>
            <p:cNvPr id="3" name="文本框 2"/>
            <p:cNvSpPr txBox="1"/>
            <p:nvPr/>
          </p:nvSpPr>
          <p:spPr>
            <a:xfrm>
              <a:off x="919" y="3655"/>
              <a:ext cx="17392" cy="628"/>
            </a:xfrm>
            <a:prstGeom prst="rect">
              <a:avLst/>
            </a:prstGeom>
            <a:noFill/>
          </p:spPr>
          <p:txBody>
            <a:bodyPr wrap="square" rtlCol="0">
              <a:spAutoFit/>
            </a:bodyPr>
            <a:p>
              <a:pPr marL="890905" indent="-890905"/>
              <a:r>
                <a:rPr lang="zh-CN" altLang="en-US" sz="2000" b="1">
                  <a:solidFill>
                    <a:srgbClr val="FF0000"/>
                  </a:solidFill>
                </a:rPr>
                <a:t>Step </a:t>
              </a:r>
              <a:r>
                <a:rPr lang="en-US" altLang="zh-CN" sz="2000" b="1">
                  <a:solidFill>
                    <a:srgbClr val="FF0000"/>
                  </a:solidFill>
                </a:rPr>
                <a:t>3</a:t>
              </a:r>
              <a:r>
                <a:rPr lang="zh-CN" altLang="en-US" sz="2000" b="1">
                  <a:solidFill>
                    <a:srgbClr val="FF0000"/>
                  </a:solidFill>
                </a:rPr>
                <a:t>：</a:t>
              </a:r>
              <a:r>
                <a:rPr lang="zh-CN" altLang="en-US" sz="2000" b="1"/>
                <a:t>创建一个top2视图，在每一种产品中，查找累计销售总数量第二高的供应商</a:t>
              </a:r>
              <a:endParaRPr lang="zh-CN" altLang="en-US" sz="2000" b="1"/>
            </a:p>
          </p:txBody>
        </p:sp>
      </p:grpSp>
      <p:grpSp>
        <p:nvGrpSpPr>
          <p:cNvPr id="9" name="组合 8"/>
          <p:cNvGrpSpPr/>
          <p:nvPr/>
        </p:nvGrpSpPr>
        <p:grpSpPr>
          <a:xfrm>
            <a:off x="584200" y="161290"/>
            <a:ext cx="11044555" cy="1962785"/>
            <a:chOff x="920" y="2542"/>
            <a:chExt cx="17393" cy="3091"/>
          </a:xfrm>
        </p:grpSpPr>
        <p:sp>
          <p:nvSpPr>
            <p:cNvPr id="7" name="文本框 6"/>
            <p:cNvSpPr txBox="1"/>
            <p:nvPr/>
          </p:nvSpPr>
          <p:spPr>
            <a:xfrm>
              <a:off x="920" y="3163"/>
              <a:ext cx="17393" cy="2470"/>
            </a:xfrm>
            <a:prstGeom prst="rect">
              <a:avLst/>
            </a:prstGeom>
            <a:noFill/>
            <a:ln>
              <a:solidFill>
                <a:schemeClr val="accent1"/>
              </a:solidFill>
            </a:ln>
          </p:spPr>
          <p:txBody>
            <a:bodyPr wrap="square" rtlCol="0">
              <a:spAutoFit/>
            </a:bodyPr>
            <a:p>
              <a:pPr lvl="0"/>
              <a:r>
                <a:rPr lang="en-US" altLang="zh-CN" sz="2400" b="1"/>
                <a:t>create view top1(aid, pid, q_sum) as</a:t>
              </a:r>
              <a:endParaRPr lang="en-US" altLang="zh-CN" sz="2400" b="1"/>
            </a:p>
            <a:p>
              <a:pPr lvl="1"/>
              <a:r>
                <a:rPr lang="en-US" altLang="zh-CN" sz="2400" b="1"/>
                <a:t>select x.aid, x.pid, x.q_sum </a:t>
              </a:r>
              <a:endParaRPr lang="en-US" altLang="zh-CN" sz="2400" b="1"/>
            </a:p>
            <a:p>
              <a:pPr lvl="1"/>
              <a:r>
                <a:rPr lang="en-US" altLang="zh-CN" sz="2400" b="1"/>
                <a:t>from apview x</a:t>
              </a:r>
              <a:endParaRPr lang="en-US" altLang="zh-CN" sz="2400" b="1"/>
            </a:p>
            <a:p>
              <a:pPr lvl="1"/>
              <a:r>
                <a:rPr lang="en-US" altLang="zh-CN" sz="2400" b="1"/>
                <a:t>where x.q_sum&gt;=all ( select v.q_sum from apview v where v.pid=x.pid) ;</a:t>
              </a:r>
              <a:endParaRPr lang="en-US" altLang="zh-CN" sz="2400" b="1"/>
            </a:p>
          </p:txBody>
        </p:sp>
        <p:sp>
          <p:nvSpPr>
            <p:cNvPr id="8" name="文本框 7"/>
            <p:cNvSpPr txBox="1"/>
            <p:nvPr/>
          </p:nvSpPr>
          <p:spPr>
            <a:xfrm>
              <a:off x="920" y="2542"/>
              <a:ext cx="17392" cy="628"/>
            </a:xfrm>
            <a:prstGeom prst="rect">
              <a:avLst/>
            </a:prstGeom>
            <a:noFill/>
          </p:spPr>
          <p:txBody>
            <a:bodyPr wrap="square" rtlCol="0">
              <a:spAutoFit/>
            </a:bodyPr>
            <a:p>
              <a:pPr marL="890905" indent="-890905"/>
              <a:r>
                <a:rPr lang="zh-CN" altLang="en-US" sz="2000" b="1">
                  <a:solidFill>
                    <a:srgbClr val="FF0000"/>
                  </a:solidFill>
                </a:rPr>
                <a:t>Step </a:t>
              </a:r>
              <a:r>
                <a:rPr lang="en-US" altLang="zh-CN" sz="2000" b="1">
                  <a:solidFill>
                    <a:srgbClr val="FF0000"/>
                  </a:solidFill>
                </a:rPr>
                <a:t>2</a:t>
              </a:r>
              <a:r>
                <a:rPr lang="zh-CN" altLang="en-US" sz="2000" b="1">
                  <a:solidFill>
                    <a:srgbClr val="FF0000"/>
                  </a:solidFill>
                </a:rPr>
                <a:t>：</a:t>
              </a:r>
              <a:r>
                <a:rPr lang="zh-CN" altLang="en-US" sz="2000" b="1"/>
                <a:t>创建一个top1视图，在每一种产品中，查找累计销售总数量最高的供应商</a:t>
              </a:r>
              <a:endParaRPr lang="zh-CN" altLang="en-US" sz="2000" b="1"/>
            </a:p>
          </p:txBody>
        </p:sp>
      </p:gr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 name="组合 9"/>
          <p:cNvGrpSpPr/>
          <p:nvPr/>
        </p:nvGrpSpPr>
        <p:grpSpPr>
          <a:xfrm>
            <a:off x="583565" y="4870450"/>
            <a:ext cx="11044555" cy="924560"/>
            <a:chOff x="919" y="3655"/>
            <a:chExt cx="17393" cy="1456"/>
          </a:xfrm>
        </p:grpSpPr>
        <p:sp>
          <p:nvSpPr>
            <p:cNvPr id="6" name="文本框 5"/>
            <p:cNvSpPr txBox="1"/>
            <p:nvPr/>
          </p:nvSpPr>
          <p:spPr>
            <a:xfrm>
              <a:off x="919" y="4386"/>
              <a:ext cx="17393" cy="725"/>
            </a:xfrm>
            <a:prstGeom prst="rect">
              <a:avLst/>
            </a:prstGeom>
            <a:noFill/>
            <a:ln>
              <a:noFill/>
            </a:ln>
          </p:spPr>
          <p:txBody>
            <a:bodyPr wrap="square" rtlCol="0">
              <a:spAutoFit/>
            </a:bodyPr>
            <a:p>
              <a:pPr lvl="1"/>
              <a:r>
                <a:rPr lang="en-US" altLang="zh-CN" sz="2400" b="1"/>
                <a:t>(select * from top1) union (select * from top2) union (select * from top3) ;</a:t>
              </a:r>
              <a:endParaRPr lang="en-US" altLang="zh-CN" sz="2400" b="1"/>
            </a:p>
          </p:txBody>
        </p:sp>
        <p:sp>
          <p:nvSpPr>
            <p:cNvPr id="3" name="文本框 2"/>
            <p:cNvSpPr txBox="1"/>
            <p:nvPr/>
          </p:nvSpPr>
          <p:spPr>
            <a:xfrm>
              <a:off x="919" y="3655"/>
              <a:ext cx="17392" cy="628"/>
            </a:xfrm>
            <a:prstGeom prst="rect">
              <a:avLst/>
            </a:prstGeom>
            <a:noFill/>
          </p:spPr>
          <p:txBody>
            <a:bodyPr wrap="square" rtlCol="0">
              <a:spAutoFit/>
            </a:bodyPr>
            <a:p>
              <a:pPr marL="890905" indent="-890905"/>
              <a:r>
                <a:rPr lang="zh-CN" altLang="en-US" sz="2000" b="1">
                  <a:solidFill>
                    <a:srgbClr val="FF0000"/>
                  </a:solidFill>
                </a:rPr>
                <a:t>Step </a:t>
              </a:r>
              <a:r>
                <a:rPr lang="en-US" altLang="zh-CN" sz="2000" b="1">
                  <a:solidFill>
                    <a:srgbClr val="FF0000"/>
                  </a:solidFill>
                </a:rPr>
                <a:t>5</a:t>
              </a:r>
              <a:r>
                <a:rPr lang="zh-CN" altLang="en-US" sz="2000" b="1">
                  <a:solidFill>
                    <a:srgbClr val="FF0000"/>
                  </a:solidFill>
                </a:rPr>
                <a:t>：</a:t>
              </a:r>
              <a:r>
                <a:rPr lang="zh-CN" altLang="en-US" sz="2000" b="1"/>
                <a:t>最终的查询表达式如下</a:t>
              </a:r>
              <a:endParaRPr lang="zh-CN" altLang="en-US" sz="2000" b="1"/>
            </a:p>
          </p:txBody>
        </p:sp>
      </p:grpSp>
      <p:grpSp>
        <p:nvGrpSpPr>
          <p:cNvPr id="9" name="组合 8"/>
          <p:cNvGrpSpPr/>
          <p:nvPr/>
        </p:nvGrpSpPr>
        <p:grpSpPr>
          <a:xfrm>
            <a:off x="584200" y="161290"/>
            <a:ext cx="11044555" cy="3809365"/>
            <a:chOff x="920" y="2542"/>
            <a:chExt cx="17393" cy="5999"/>
          </a:xfrm>
        </p:grpSpPr>
        <p:sp>
          <p:nvSpPr>
            <p:cNvPr id="7" name="文本框 6"/>
            <p:cNvSpPr txBox="1"/>
            <p:nvPr/>
          </p:nvSpPr>
          <p:spPr>
            <a:xfrm>
              <a:off x="920" y="3163"/>
              <a:ext cx="17393" cy="5378"/>
            </a:xfrm>
            <a:prstGeom prst="rect">
              <a:avLst/>
            </a:prstGeom>
            <a:noFill/>
            <a:ln>
              <a:solidFill>
                <a:schemeClr val="accent1"/>
              </a:solidFill>
            </a:ln>
          </p:spPr>
          <p:txBody>
            <a:bodyPr wrap="square" rtlCol="0">
              <a:spAutoFit/>
            </a:bodyPr>
            <a:p>
              <a:pPr lvl="0"/>
              <a:r>
                <a:rPr lang="en-US" altLang="zh-CN" sz="2400" b="1"/>
                <a:t>create view top3(aid, pid, q_sum) as</a:t>
              </a:r>
              <a:endParaRPr lang="en-US" altLang="zh-CN" sz="2400" b="1"/>
            </a:p>
            <a:p>
              <a:pPr lvl="1"/>
              <a:r>
                <a:rPr lang="en-US" altLang="zh-CN" sz="2400" b="1"/>
                <a:t>select x.aid, x.pid, x.q_sum </a:t>
              </a:r>
              <a:endParaRPr lang="en-US" altLang="zh-CN" sz="2400" b="1"/>
            </a:p>
            <a:p>
              <a:pPr lvl="1"/>
              <a:r>
                <a:rPr lang="en-US" altLang="zh-CN" sz="2400" b="1"/>
                <a:t>from apview x, apview y, apview z</a:t>
              </a:r>
              <a:endParaRPr lang="en-US" altLang="zh-CN" sz="2400" b="1"/>
            </a:p>
            <a:p>
              <a:pPr lvl="1"/>
              <a:r>
                <a:rPr lang="en-US" altLang="zh-CN" sz="2400" b="1"/>
                <a:t>where x.pid=y.pid and x.q_sum&lt;y.q_sum and </a:t>
              </a:r>
              <a:endParaRPr lang="en-US" altLang="zh-CN" sz="2400" b="1"/>
            </a:p>
            <a:p>
              <a:pPr lvl="2"/>
              <a:r>
                <a:rPr lang="en-US" altLang="zh-CN" sz="2400" b="1"/>
                <a:t>y.pid=z.pid and y.q_sum&lt;z.q_sum and</a:t>
              </a:r>
              <a:endParaRPr lang="en-US" altLang="zh-CN" sz="2400" b="1"/>
            </a:p>
            <a:p>
              <a:pPr lvl="2"/>
              <a:r>
                <a:rPr lang="en-US" altLang="zh-CN" sz="2400" b="1"/>
                <a:t>x.q_sum&gt;=all ( </a:t>
              </a:r>
              <a:endParaRPr lang="en-US" altLang="zh-CN" sz="2400" b="1"/>
            </a:p>
            <a:p>
              <a:pPr lvl="3"/>
              <a:r>
                <a:rPr lang="en-US" altLang="zh-CN" sz="2400" b="1"/>
                <a:t>select v.q_sum </a:t>
              </a:r>
              <a:endParaRPr lang="en-US" altLang="zh-CN" sz="2400" b="1"/>
            </a:p>
            <a:p>
              <a:pPr lvl="3"/>
              <a:r>
                <a:rPr lang="en-US" altLang="zh-CN" sz="2400" b="1"/>
                <a:t>from apview v </a:t>
              </a:r>
              <a:endParaRPr lang="en-US" altLang="zh-CN" sz="2400" b="1"/>
            </a:p>
            <a:p>
              <a:pPr lvl="3"/>
              <a:r>
                <a:rPr lang="en-US" altLang="zh-CN" sz="2400" b="1"/>
                <a:t>where v.pid=x.pid and v.q_sum&lt;&gt;y.q_sum and v.q_sum&lt;&gt;z.q_sum) ;</a:t>
              </a:r>
              <a:endParaRPr lang="en-US" altLang="zh-CN" sz="2400" b="1"/>
            </a:p>
          </p:txBody>
        </p:sp>
        <p:sp>
          <p:nvSpPr>
            <p:cNvPr id="8" name="文本框 7"/>
            <p:cNvSpPr txBox="1"/>
            <p:nvPr/>
          </p:nvSpPr>
          <p:spPr>
            <a:xfrm>
              <a:off x="920" y="2542"/>
              <a:ext cx="17392" cy="628"/>
            </a:xfrm>
            <a:prstGeom prst="rect">
              <a:avLst/>
            </a:prstGeom>
            <a:noFill/>
          </p:spPr>
          <p:txBody>
            <a:bodyPr wrap="square" rtlCol="0">
              <a:spAutoFit/>
            </a:bodyPr>
            <a:p>
              <a:pPr marL="890905" indent="-890905"/>
              <a:r>
                <a:rPr lang="zh-CN" altLang="en-US" sz="2000" b="1">
                  <a:solidFill>
                    <a:srgbClr val="FF0000"/>
                  </a:solidFill>
                </a:rPr>
                <a:t>Step </a:t>
              </a:r>
              <a:r>
                <a:rPr lang="en-US" altLang="zh-CN" sz="2000" b="1">
                  <a:solidFill>
                    <a:srgbClr val="FF0000"/>
                  </a:solidFill>
                </a:rPr>
                <a:t>4</a:t>
              </a:r>
              <a:r>
                <a:rPr lang="zh-CN" altLang="en-US" sz="2000" b="1">
                  <a:solidFill>
                    <a:srgbClr val="FF0000"/>
                  </a:solidFill>
                </a:rPr>
                <a:t>：</a:t>
              </a:r>
              <a:r>
                <a:rPr lang="zh-CN" altLang="en-US" sz="2000" b="1"/>
                <a:t>创建一个top3视图，在每一种产品中，查找累计销售总数量第三高的供应商</a:t>
              </a:r>
              <a:endParaRPr lang="zh-CN" altLang="en-US" sz="2000" b="1"/>
            </a:p>
          </p:txBody>
        </p:sp>
      </p:gr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custDataLst>
              <p:tags r:id="rId1"/>
            </p:custDataLst>
          </p:nvPr>
        </p:nvSpPr>
        <p:spPr>
          <a:xfrm>
            <a:off x="583565" y="91440"/>
            <a:ext cx="11043920" cy="832485"/>
          </a:xfrm>
          <a:prstGeom prst="rect">
            <a:avLst/>
          </a:prstGeom>
          <a:noFill/>
        </p:spPr>
        <p:txBody>
          <a:bodyPr wrap="square" lIns="90170" tIns="46990" rIns="90170" bIns="46990" rtlCol="0">
            <a:spAutoFit/>
          </a:bodyPr>
          <a:lstStyle>
            <a:defPPr>
              <a:defRPr lang="zh-CN"/>
            </a:defPPr>
            <a:lvl1pPr fontAlgn="auto">
              <a:lnSpc>
                <a:spcPct val="130000"/>
              </a:lnSpc>
              <a:spcAft>
                <a:spcPts val="1000"/>
              </a:spcAft>
              <a:defRPr sz="1600" spc="150"/>
            </a:lvl1pPr>
          </a:lstStyle>
          <a:p>
            <a:pPr marL="479425" indent="-479425" fontAlgn="ctr">
              <a:lnSpc>
                <a:spcPct val="100000"/>
              </a:lnSpc>
              <a:spcBef>
                <a:spcPts val="0"/>
              </a:spcBef>
              <a:spcAft>
                <a:spcPts val="0"/>
              </a:spcAft>
              <a:buClr>
                <a:srgbClr val="000000">
                  <a:lumMod val="50000"/>
                  <a:lumOff val="50000"/>
                </a:srgbClr>
              </a:buClr>
              <a:buSzPct val="100000"/>
              <a:buNone/>
            </a:pPr>
            <a:r>
              <a:rPr lang="zh-CN" altLang="en-US" sz="2400" b="1">
                <a:solidFill>
                  <a:srgbClr val="1F2DA8"/>
                </a:solidFill>
                <a:sym typeface="+mn-ea"/>
              </a:rPr>
              <a:t>3.12 检索符合下述要求的客户的编号：在该客户订购过的所有商品中，每一种商品的平均每笔订单的订购数量均达到或超过300</a:t>
            </a:r>
            <a:endParaRPr lang="zh-CN" altLang="en-US" sz="2400" b="1" dirty="0">
              <a:solidFill>
                <a:srgbClr val="1F2DA8"/>
              </a:solidFill>
              <a:uFillTx/>
              <a:latin typeface="Arial" panose="020B0604020202020204" pitchFamily="34" charset="0"/>
              <a:ea typeface="微软雅黑" panose="020B0503020204020204" charset="-122"/>
              <a:sym typeface="+mn-ea"/>
            </a:endParaRPr>
          </a:p>
        </p:txBody>
      </p:sp>
      <p:sp>
        <p:nvSpPr>
          <p:cNvPr id="6" name="文本框 5"/>
          <p:cNvSpPr txBox="1"/>
          <p:nvPr/>
        </p:nvSpPr>
        <p:spPr>
          <a:xfrm>
            <a:off x="756285" y="1157605"/>
            <a:ext cx="10513695" cy="2306955"/>
          </a:xfrm>
          <a:prstGeom prst="rect">
            <a:avLst/>
          </a:prstGeom>
          <a:noFill/>
          <a:ln>
            <a:solidFill>
              <a:schemeClr val="accent1"/>
            </a:solidFill>
          </a:ln>
        </p:spPr>
        <p:txBody>
          <a:bodyPr wrap="square" rtlCol="0">
            <a:spAutoFit/>
          </a:bodyPr>
          <a:p>
            <a:pPr lvl="1"/>
            <a:r>
              <a:rPr lang="en-US" altLang="zh-CN" sz="2400" b="1"/>
              <a:t>select t.cid</a:t>
            </a:r>
            <a:endParaRPr lang="en-US" altLang="zh-CN" sz="2400" b="1"/>
          </a:p>
          <a:p>
            <a:pPr lvl="1"/>
            <a:r>
              <a:rPr lang="en-US" altLang="zh-CN" sz="2400" b="1"/>
              <a:t>from (  select cid, pid, avg(qty) as q_avg</a:t>
            </a:r>
            <a:endParaRPr lang="en-US" altLang="zh-CN" sz="2400" b="1"/>
          </a:p>
          <a:p>
            <a:pPr lvl="3"/>
            <a:r>
              <a:rPr lang="en-US" altLang="zh-CN" sz="2400" b="1"/>
              <a:t>from orders</a:t>
            </a:r>
            <a:endParaRPr lang="en-US" altLang="zh-CN" sz="2400" b="1"/>
          </a:p>
          <a:p>
            <a:pPr lvl="3"/>
            <a:r>
              <a:rPr lang="en-US" altLang="zh-CN" sz="2400" b="1"/>
              <a:t>group by cid, pid ) t</a:t>
            </a:r>
            <a:endParaRPr lang="en-US" altLang="zh-CN" sz="2400" b="1"/>
          </a:p>
          <a:p>
            <a:pPr lvl="1"/>
            <a:r>
              <a:rPr lang="en-US" altLang="zh-CN" sz="2400" b="1"/>
              <a:t>group by t.cid</a:t>
            </a:r>
            <a:endParaRPr lang="en-US" altLang="zh-CN" sz="2400" b="1"/>
          </a:p>
          <a:p>
            <a:pPr lvl="1"/>
            <a:r>
              <a:rPr lang="en-US" altLang="zh-CN" sz="2400" b="1"/>
              <a:t>having min(t.q_avg)&gt;=300 ;</a:t>
            </a:r>
            <a:endParaRPr lang="en-US" altLang="zh-CN" sz="2400" b="1"/>
          </a:p>
        </p:txBody>
      </p:sp>
      <p:sp>
        <p:nvSpPr>
          <p:cNvPr id="2" name="文本框 1"/>
          <p:cNvSpPr txBox="1"/>
          <p:nvPr>
            <p:custDataLst>
              <p:tags r:id="rId2"/>
            </p:custDataLst>
          </p:nvPr>
        </p:nvSpPr>
        <p:spPr>
          <a:xfrm>
            <a:off x="584200" y="4400550"/>
            <a:ext cx="11043920" cy="832485"/>
          </a:xfrm>
          <a:prstGeom prst="rect">
            <a:avLst/>
          </a:prstGeom>
          <a:noFill/>
        </p:spPr>
        <p:txBody>
          <a:bodyPr wrap="square" lIns="90170" tIns="46990" rIns="90170" bIns="46990" rtlCol="0">
            <a:spAutoFit/>
          </a:bodyPr>
          <a:lstStyle>
            <a:defPPr>
              <a:defRPr lang="zh-CN"/>
            </a:defPPr>
            <a:lvl1pPr fontAlgn="auto">
              <a:lnSpc>
                <a:spcPct val="130000"/>
              </a:lnSpc>
              <a:spcAft>
                <a:spcPts val="1000"/>
              </a:spcAft>
              <a:defRPr sz="1600" spc="150"/>
            </a:lvl1pPr>
          </a:lstStyle>
          <a:p>
            <a:pPr marL="479425" indent="-479425" fontAlgn="ctr">
              <a:lnSpc>
                <a:spcPct val="100000"/>
              </a:lnSpc>
              <a:spcBef>
                <a:spcPts val="0"/>
              </a:spcBef>
              <a:spcAft>
                <a:spcPts val="0"/>
              </a:spcAft>
              <a:buClr>
                <a:srgbClr val="000000">
                  <a:lumMod val="50000"/>
                  <a:lumOff val="50000"/>
                </a:srgbClr>
              </a:buClr>
              <a:buSzPct val="100000"/>
              <a:buFont typeface="Arial" panose="020B0604020202020204" pitchFamily="34" charset="0"/>
              <a:buChar char="•"/>
            </a:pPr>
            <a:r>
              <a:rPr lang="zh-CN" altLang="en-US" sz="2400" b="1">
                <a:solidFill>
                  <a:srgbClr val="1F2DA8"/>
                </a:solidFill>
                <a:sym typeface="+mn-ea"/>
              </a:rPr>
              <a:t>如果选用的DBMS不支持在FROM子句中嵌入子查询的功能，也可以先创建一个视图，然后在视图上实现该查询。</a:t>
            </a:r>
            <a:endParaRPr lang="zh-CN" altLang="en-US" sz="2400" b="1">
              <a:solidFill>
                <a:srgbClr val="1F2DA8"/>
              </a:solidFill>
              <a:sym typeface="+mn-ea"/>
            </a:endParaRPr>
          </a:p>
        </p:txBody>
      </p:sp>
    </p:spTree>
    <p:custDataLst>
      <p:tags r:id="rId3"/>
    </p:custDataLst>
  </p:cSld>
  <p:clrMapOvr>
    <a:masterClrMapping/>
  </p:clrMapOvr>
</p:sld>
</file>

<file path=ppt/tags/tag1.xml><?xml version="1.0" encoding="utf-8"?>
<p:tagLst xmlns:p="http://schemas.openxmlformats.org/presentationml/2006/main">
  <p:tag name="KSO_WM_SLIDE_MODEL_TYPE" val="cover"/>
</p:tagLst>
</file>

<file path=ppt/tags/tag2.xml><?xml version="1.0" encoding="utf-8"?>
<p:tagLst xmlns:p="http://schemas.openxmlformats.org/presentationml/2006/main">
  <p:tag name="KSO_WM_UNIT_TEXT_PART_ID_V2" val="d-3-2"/>
  <p:tag name="KSO_WM_UNIT_COLOR_SCHEME_SHAPE_ID" val="4"/>
  <p:tag name="KSO_WM_UNIT_COLOR_SCHEME_PARENT_PAGE" val="0_1"/>
  <p:tag name="KSO_WM_UNIT_PRESET_TEXT" val="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
  <p:tag name="KSO_WM_UNIT_NOCLEAR" val="1"/>
  <p:tag name="KSO_WM_UNIT_VALUE" val="273"/>
  <p:tag name="KSO_WM_UNIT_HIGHLIGHT" val="0"/>
  <p:tag name="KSO_WM_UNIT_COMPATIBLE" val="0"/>
  <p:tag name="KSO_WM_UNIT_DIAGRAM_ISNUMVISUAL" val="0"/>
  <p:tag name="KSO_WM_UNIT_DIAGRAM_ISREFERUNIT" val="0"/>
  <p:tag name="KSO_WM_UNIT_TYPE" val="f"/>
  <p:tag name="KSO_WM_UNIT_INDEX" val="1"/>
  <p:tag name="KSO_WM_UNIT_ID" val="diagram20194649_1*f*1"/>
  <p:tag name="KSO_WM_TEMPLATE_CATEGORY" val="diagram"/>
  <p:tag name="KSO_WM_TEMPLATE_INDEX" val="20194649"/>
  <p:tag name="KSO_WM_UNIT_LAYERLEVEL" val="1"/>
  <p:tag name="KSO_WM_TAG_VERSION" val="1.0"/>
  <p:tag name="KSO_WM_BEAUTIFY_FLAG" val="#wm#"/>
</p:tagLst>
</file>

<file path=ppt/tags/tag3.xml><?xml version="1.0" encoding="utf-8"?>
<p:tagLst xmlns:p="http://schemas.openxmlformats.org/presentationml/2006/main">
  <p:tag name="KSO_WM_UNIT_TEXT_PART_ID_V2" val="a-1-2"/>
  <p:tag name="KSO_WM_UNIT_COLOR_SCHEME_SHAPE_ID" val="7"/>
  <p:tag name="KSO_WM_UNIT_COLOR_SCHEME_PARENT_PAGE" val="0_1"/>
  <p:tag name="KSO_WM_UNIT_ISCONTENTSTITLE" val="0"/>
  <p:tag name="KSO_WM_UNIT_PRESET_TEXT" val="单击此处添加标题"/>
  <p:tag name="KSO_WM_UNIT_NOCLEAR" val="0"/>
  <p:tag name="KSO_WM_UNIT_VALUE" val="8"/>
  <p:tag name="KSO_WM_UNIT_HIGHLIGHT" val="0"/>
  <p:tag name="KSO_WM_UNIT_COMPATIBLE" val="0"/>
  <p:tag name="KSO_WM_UNIT_DIAGRAM_ISNUMVISUAL" val="0"/>
  <p:tag name="KSO_WM_UNIT_DIAGRAM_ISREFERUNIT" val="0"/>
  <p:tag name="KSO_WM_UNIT_TYPE" val="a"/>
  <p:tag name="KSO_WM_UNIT_INDEX" val="1"/>
  <p:tag name="KSO_WM_UNIT_ID" val="diagram20194649_1*a*1"/>
  <p:tag name="KSO_WM_TEMPLATE_CATEGORY" val="diagram"/>
  <p:tag name="KSO_WM_TEMPLATE_INDEX" val="20194649"/>
  <p:tag name="KSO_WM_UNIT_LAYERLEVEL" val="1"/>
  <p:tag name="KSO_WM_TAG_VERSION" val="1.0"/>
  <p:tag name="KSO_WM_BEAUTIFY_FLAG" val="#wm#"/>
</p:tagLst>
</file>

<file path=ppt/tags/tag4.xml><?xml version="1.0" encoding="utf-8"?>
<p:tagLst xmlns:p="http://schemas.openxmlformats.org/presentationml/2006/main">
  <p:tag name="KSO_WM_UNIT_TEXT_PART_ID_V2" val="d-3-2"/>
  <p:tag name="KSO_WM_UNIT_COLOR_SCHEME_SHAPE_ID" val="4"/>
  <p:tag name="KSO_WM_UNIT_COLOR_SCHEME_PARENT_PAGE" val="0_1"/>
  <p:tag name="KSO_WM_UNIT_PRESET_TEXT" val="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
  <p:tag name="KSO_WM_UNIT_NOCLEAR" val="1"/>
  <p:tag name="KSO_WM_UNIT_VALUE" val="273"/>
  <p:tag name="KSO_WM_UNIT_HIGHLIGHT" val="0"/>
  <p:tag name="KSO_WM_UNIT_COMPATIBLE" val="0"/>
  <p:tag name="KSO_WM_UNIT_DIAGRAM_ISNUMVISUAL" val="0"/>
  <p:tag name="KSO_WM_UNIT_DIAGRAM_ISREFERUNIT" val="0"/>
  <p:tag name="KSO_WM_UNIT_TYPE" val="f"/>
  <p:tag name="KSO_WM_UNIT_INDEX" val="1"/>
  <p:tag name="KSO_WM_UNIT_ID" val="diagram20194649_1*f*1"/>
  <p:tag name="KSO_WM_TEMPLATE_CATEGORY" val="diagram"/>
  <p:tag name="KSO_WM_TEMPLATE_INDEX" val="20194649"/>
  <p:tag name="KSO_WM_UNIT_LAYERLEVEL" val="1"/>
  <p:tag name="KSO_WM_TAG_VERSION" val="1.0"/>
  <p:tag name="KSO_WM_BEAUTIFY_FLAG" val="#wm#"/>
</p:tagLst>
</file>

<file path=ppt/tags/tag5.xml><?xml version="1.0" encoding="utf-8"?>
<p:tagLst xmlns:p="http://schemas.openxmlformats.org/presentationml/2006/main">
  <p:tag name="KSO_WM_UNIT_TEXT_PART_ID_V2" val="d-3-2"/>
  <p:tag name="KSO_WM_UNIT_COLOR_SCHEME_SHAPE_ID" val="4"/>
  <p:tag name="KSO_WM_UNIT_COLOR_SCHEME_PARENT_PAGE" val="0_1"/>
  <p:tag name="KSO_WM_UNIT_PRESET_TEXT" val="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
  <p:tag name="KSO_WM_UNIT_NOCLEAR" val="1"/>
  <p:tag name="KSO_WM_UNIT_VALUE" val="273"/>
  <p:tag name="KSO_WM_UNIT_HIGHLIGHT" val="0"/>
  <p:tag name="KSO_WM_UNIT_COMPATIBLE" val="0"/>
  <p:tag name="KSO_WM_UNIT_DIAGRAM_ISNUMVISUAL" val="0"/>
  <p:tag name="KSO_WM_UNIT_DIAGRAM_ISREFERUNIT" val="0"/>
  <p:tag name="KSO_WM_UNIT_TYPE" val="f"/>
  <p:tag name="KSO_WM_UNIT_INDEX" val="1"/>
  <p:tag name="KSO_WM_UNIT_ID" val="diagram20194649_1*f*1"/>
  <p:tag name="KSO_WM_TEMPLATE_CATEGORY" val="diagram"/>
  <p:tag name="KSO_WM_TEMPLATE_INDEX" val="20194649"/>
  <p:tag name="KSO_WM_UNIT_LAYERLEVEL" val="1"/>
  <p:tag name="KSO_WM_TAG_VERSION" val="1.0"/>
  <p:tag name="KSO_WM_BEAUTIFY_FLAG" val="#wm#"/>
</p:tagLst>
</file>

<file path=ppt/tags/tag6.xml><?xml version="1.0" encoding="utf-8"?>
<p:tagLst xmlns:p="http://schemas.openxmlformats.org/presentationml/2006/main">
  <p:tag name="KSO_WM_UNIT_TEXT_PART_ID_V2" val="d-3-2"/>
  <p:tag name="KSO_WM_UNIT_COLOR_SCHEME_SHAPE_ID" val="4"/>
  <p:tag name="KSO_WM_UNIT_COLOR_SCHEME_PARENT_PAGE" val="0_1"/>
  <p:tag name="KSO_WM_UNIT_PRESET_TEXT" val="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
  <p:tag name="KSO_WM_UNIT_NOCLEAR" val="1"/>
  <p:tag name="KSO_WM_UNIT_VALUE" val="273"/>
  <p:tag name="KSO_WM_UNIT_HIGHLIGHT" val="0"/>
  <p:tag name="KSO_WM_UNIT_COMPATIBLE" val="0"/>
  <p:tag name="KSO_WM_UNIT_DIAGRAM_ISNUMVISUAL" val="0"/>
  <p:tag name="KSO_WM_UNIT_DIAGRAM_ISREFERUNIT" val="0"/>
  <p:tag name="KSO_WM_UNIT_TYPE" val="f"/>
  <p:tag name="KSO_WM_UNIT_INDEX" val="1"/>
  <p:tag name="KSO_WM_UNIT_ID" val="diagram20194649_1*f*1"/>
  <p:tag name="KSO_WM_TEMPLATE_CATEGORY" val="diagram"/>
  <p:tag name="KSO_WM_TEMPLATE_INDEX" val="20194649"/>
  <p:tag name="KSO_WM_UNIT_LAYERLEVEL" val="1"/>
  <p:tag name="KSO_WM_TAG_VERSION" val="1.0"/>
  <p:tag name="KSO_WM_BEAUTIFY_FLAG" val="#wm#"/>
</p:tagLst>
</file>

<file path=ppt/tags/tag7.xml><?xml version="1.0" encoding="utf-8"?>
<p:tagLst xmlns:p="http://schemas.openxmlformats.org/presentationml/2006/main">
  <p:tag name="KSO_WM_SLIDE_COLORSCHEME_VERSION" val="3.2"/>
  <p:tag name="KSO_WM_SLIDE_ID" val="diagram20194649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BEAUTIFY_FLAG" val="#wm#"/>
  <p:tag name="KSO_WM_TEMPLATE_CATEGORY" val="diagram"/>
  <p:tag name="KSO_WM_TEMPLATE_INDEX" val="20194649"/>
  <p:tag name="KSO_WM_SLIDE_LAYOUT" val="a_f_i"/>
  <p:tag name="KSO_WM_SLIDE_LAYOUT_CNT" val="1_1_2"/>
</p:tagLst>
</file>

<file path=ppt/tags/tag8.xml><?xml version="1.0" encoding="utf-8"?>
<p:tagLst xmlns:p="http://schemas.openxmlformats.org/presentationml/2006/main">
  <p:tag name="KSO_WM_UNIT_TEXT_PART_ID_V2" val="d-3-2"/>
  <p:tag name="KSO_WM_UNIT_COLOR_SCHEME_SHAPE_ID" val="4"/>
  <p:tag name="KSO_WM_UNIT_COLOR_SCHEME_PARENT_PAGE" val="0_1"/>
  <p:tag name="KSO_WM_UNIT_PRESET_TEXT" val="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
  <p:tag name="KSO_WM_UNIT_NOCLEAR" val="1"/>
  <p:tag name="KSO_WM_UNIT_VALUE" val="273"/>
  <p:tag name="KSO_WM_UNIT_HIGHLIGHT" val="0"/>
  <p:tag name="KSO_WM_UNIT_COMPATIBLE" val="0"/>
  <p:tag name="KSO_WM_UNIT_DIAGRAM_ISNUMVISUAL" val="0"/>
  <p:tag name="KSO_WM_UNIT_DIAGRAM_ISREFERUNIT" val="0"/>
  <p:tag name="KSO_WM_UNIT_TYPE" val="f"/>
  <p:tag name="KSO_WM_UNIT_INDEX" val="1"/>
  <p:tag name="KSO_WM_UNIT_ID" val="diagram20194649_1*f*1"/>
  <p:tag name="KSO_WM_TEMPLATE_CATEGORY" val="diagram"/>
  <p:tag name="KSO_WM_TEMPLATE_INDEX" val="20194649"/>
  <p:tag name="KSO_WM_UNIT_LAYERLEVEL" val="1"/>
  <p:tag name="KSO_WM_TAG_VERSION" val="1.0"/>
  <p:tag name="KSO_WM_BEAUTIFY_FLAG" val="#wm#"/>
</p:tagLst>
</file>

<file path=ppt/tags/tag9.xml><?xml version="1.0" encoding="utf-8"?>
<p:tagLst xmlns:p="http://schemas.openxmlformats.org/presentationml/2006/main">
  <p:tag name="KSO_WM_UNIT_TEXT_PART_ID_V2" val="a-1-2"/>
  <p:tag name="KSO_WM_UNIT_COLOR_SCHEME_SHAPE_ID" val="7"/>
  <p:tag name="KSO_WM_UNIT_COLOR_SCHEME_PARENT_PAGE" val="0_1"/>
  <p:tag name="KSO_WM_UNIT_ISCONTENTSTITLE" val="0"/>
  <p:tag name="KSO_WM_UNIT_PRESET_TEXT" val="单击此处添加标题"/>
  <p:tag name="KSO_WM_UNIT_NOCLEAR" val="0"/>
  <p:tag name="KSO_WM_UNIT_VALUE" val="8"/>
  <p:tag name="KSO_WM_UNIT_HIGHLIGHT" val="0"/>
  <p:tag name="KSO_WM_UNIT_COMPATIBLE" val="0"/>
  <p:tag name="KSO_WM_UNIT_DIAGRAM_ISNUMVISUAL" val="0"/>
  <p:tag name="KSO_WM_UNIT_DIAGRAM_ISREFERUNIT" val="0"/>
  <p:tag name="KSO_WM_UNIT_TYPE" val="a"/>
  <p:tag name="KSO_WM_UNIT_INDEX" val="1"/>
  <p:tag name="KSO_WM_UNIT_ID" val="diagram20194649_1*a*1"/>
  <p:tag name="KSO_WM_TEMPLATE_CATEGORY" val="diagram"/>
  <p:tag name="KSO_WM_TEMPLATE_INDEX" val="20194649"/>
  <p:tag name="KSO_WM_UNIT_LAYERLEVEL" val="1"/>
  <p:tag name="KSO_WM_TAG_VERSION" val="1.0"/>
  <p:tag name="KSO_WM_BEAUTIFY_FLAG" val="#wm#"/>
</p:tagLst>
</file>

<file path=ppt/tags/tag10.xml><?xml version="1.0" encoding="utf-8"?>
<p:tagLst xmlns:p="http://schemas.openxmlformats.org/presentationml/2006/main">
  <p:tag name="KSO_WM_SLIDE_COLORSCHEME_VERSION" val="3.2"/>
  <p:tag name="KSO_WM_SLIDE_ID" val="diagram20194649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BEAUTIFY_FLAG" val="#wm#"/>
  <p:tag name="KSO_WM_TEMPLATE_CATEGORY" val="diagram"/>
  <p:tag name="KSO_WM_TEMPLATE_INDEX" val="20194649"/>
  <p:tag name="KSO_WM_SLIDE_LAYOUT" val="a_f_i"/>
  <p:tag name="KSO_WM_SLIDE_LAYOUT_CNT" val="1_1_2"/>
</p:tagLst>
</file>

<file path=ppt/tags/tag11.xml><?xml version="1.0" encoding="utf-8"?>
<p:tagLst xmlns:p="http://schemas.openxmlformats.org/presentationml/2006/main">
  <p:tag name="KSO_WM_UNIT_TEXT_PART_ID_V2" val="d-3-2"/>
  <p:tag name="KSO_WM_UNIT_COLOR_SCHEME_SHAPE_ID" val="4"/>
  <p:tag name="KSO_WM_UNIT_COLOR_SCHEME_PARENT_PAGE" val="0_1"/>
  <p:tag name="KSO_WM_UNIT_PRESET_TEXT" val="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
  <p:tag name="KSO_WM_UNIT_NOCLEAR" val="1"/>
  <p:tag name="KSO_WM_UNIT_VALUE" val="273"/>
  <p:tag name="KSO_WM_UNIT_HIGHLIGHT" val="0"/>
  <p:tag name="KSO_WM_UNIT_COMPATIBLE" val="0"/>
  <p:tag name="KSO_WM_UNIT_DIAGRAM_ISNUMVISUAL" val="0"/>
  <p:tag name="KSO_WM_UNIT_DIAGRAM_ISREFERUNIT" val="0"/>
  <p:tag name="KSO_WM_UNIT_TYPE" val="f"/>
  <p:tag name="KSO_WM_UNIT_INDEX" val="1"/>
  <p:tag name="KSO_WM_UNIT_ID" val="diagram20194649_1*f*1"/>
  <p:tag name="KSO_WM_TEMPLATE_CATEGORY" val="diagram"/>
  <p:tag name="KSO_WM_TEMPLATE_INDEX" val="20194649"/>
  <p:tag name="KSO_WM_UNIT_LAYERLEVEL" val="1"/>
  <p:tag name="KSO_WM_TAG_VERSION" val="1.0"/>
  <p:tag name="KSO_WM_BEAUTIFY_FLAG" val="#wm#"/>
</p:tagLst>
</file>

<file path=ppt/tags/tag12.xml><?xml version="1.0" encoding="utf-8"?>
<p:tagLst xmlns:p="http://schemas.openxmlformats.org/presentationml/2006/main">
  <p:tag name="KSO_WM_SLIDE_COLORSCHEME_VERSION" val="3.2"/>
  <p:tag name="KSO_WM_SLIDE_ID" val="diagram20194649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BEAUTIFY_FLAG" val="#wm#"/>
  <p:tag name="KSO_WM_TEMPLATE_CATEGORY" val="diagram"/>
  <p:tag name="KSO_WM_TEMPLATE_INDEX" val="20194649"/>
  <p:tag name="KSO_WM_SLIDE_LAYOUT" val="a_f_i"/>
  <p:tag name="KSO_WM_SLIDE_LAYOUT_CNT" val="1_1_2"/>
</p:tagLst>
</file>

<file path=ppt/tags/tag13.xml><?xml version="1.0" encoding="utf-8"?>
<p:tagLst xmlns:p="http://schemas.openxmlformats.org/presentationml/2006/main">
  <p:tag name="KSO_WM_UNIT_TEXT_PART_ID_V2" val="d-3-2"/>
  <p:tag name="KSO_WM_UNIT_COLOR_SCHEME_SHAPE_ID" val="4"/>
  <p:tag name="KSO_WM_UNIT_COLOR_SCHEME_PARENT_PAGE" val="0_1"/>
  <p:tag name="KSO_WM_UNIT_PRESET_TEXT" val="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
  <p:tag name="KSO_WM_UNIT_NOCLEAR" val="1"/>
  <p:tag name="KSO_WM_UNIT_VALUE" val="273"/>
  <p:tag name="KSO_WM_UNIT_HIGHLIGHT" val="0"/>
  <p:tag name="KSO_WM_UNIT_COMPATIBLE" val="0"/>
  <p:tag name="KSO_WM_UNIT_DIAGRAM_ISNUMVISUAL" val="0"/>
  <p:tag name="KSO_WM_UNIT_DIAGRAM_ISREFERUNIT" val="0"/>
  <p:tag name="KSO_WM_UNIT_TYPE" val="f"/>
  <p:tag name="KSO_WM_UNIT_INDEX" val="1"/>
  <p:tag name="KSO_WM_UNIT_ID" val="diagram20194649_1*f*1"/>
  <p:tag name="KSO_WM_TEMPLATE_CATEGORY" val="diagram"/>
  <p:tag name="KSO_WM_TEMPLATE_INDEX" val="20194649"/>
  <p:tag name="KSO_WM_UNIT_LAYERLEVEL" val="1"/>
  <p:tag name="KSO_WM_TAG_VERSION" val="1.0"/>
  <p:tag name="KSO_WM_BEAUTIFY_FLAG" val="#wm#"/>
</p:tagLst>
</file>

<file path=ppt/tags/tag14.xml><?xml version="1.0" encoding="utf-8"?>
<p:tagLst xmlns:p="http://schemas.openxmlformats.org/presentationml/2006/main">
  <p:tag name="KSO_WM_SLIDE_COLORSCHEME_VERSION" val="3.2"/>
  <p:tag name="KSO_WM_SLIDE_ID" val="diagram20194649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BEAUTIFY_FLAG" val="#wm#"/>
  <p:tag name="KSO_WM_TEMPLATE_CATEGORY" val="diagram"/>
  <p:tag name="KSO_WM_TEMPLATE_INDEX" val="20194649"/>
  <p:tag name="KSO_WM_SLIDE_LAYOUT" val="a_f_i"/>
  <p:tag name="KSO_WM_SLIDE_LAYOUT_CNT" val="1_1_2"/>
</p:tagLst>
</file>

<file path=ppt/tags/tag15.xml><?xml version="1.0" encoding="utf-8"?>
<p:tagLst xmlns:p="http://schemas.openxmlformats.org/presentationml/2006/main">
  <p:tag name="KSO_WM_UNIT_TEXT_PART_ID_V2" val="d-3-2"/>
  <p:tag name="KSO_WM_UNIT_COLOR_SCHEME_SHAPE_ID" val="4"/>
  <p:tag name="KSO_WM_UNIT_COLOR_SCHEME_PARENT_PAGE" val="0_1"/>
  <p:tag name="KSO_WM_UNIT_PRESET_TEXT" val="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
  <p:tag name="KSO_WM_UNIT_NOCLEAR" val="1"/>
  <p:tag name="KSO_WM_UNIT_VALUE" val="273"/>
  <p:tag name="KSO_WM_UNIT_HIGHLIGHT" val="0"/>
  <p:tag name="KSO_WM_UNIT_COMPATIBLE" val="0"/>
  <p:tag name="KSO_WM_UNIT_DIAGRAM_ISNUMVISUAL" val="0"/>
  <p:tag name="KSO_WM_UNIT_DIAGRAM_ISREFERUNIT" val="0"/>
  <p:tag name="KSO_WM_UNIT_TYPE" val="f"/>
  <p:tag name="KSO_WM_UNIT_INDEX" val="1"/>
  <p:tag name="KSO_WM_UNIT_ID" val="diagram20194649_1*f*1"/>
  <p:tag name="KSO_WM_TEMPLATE_CATEGORY" val="diagram"/>
  <p:tag name="KSO_WM_TEMPLATE_INDEX" val="20194649"/>
  <p:tag name="KSO_WM_UNIT_LAYERLEVEL" val="1"/>
  <p:tag name="KSO_WM_TAG_VERSION" val="1.0"/>
  <p:tag name="KSO_WM_BEAUTIFY_FLAG" val="#wm#"/>
</p:tagLst>
</file>

<file path=ppt/tags/tag16.xml><?xml version="1.0" encoding="utf-8"?>
<p:tagLst xmlns:p="http://schemas.openxmlformats.org/presentationml/2006/main">
  <p:tag name="KSO_WM_SLIDE_COLORSCHEME_VERSION" val="3.2"/>
  <p:tag name="KSO_WM_SLIDE_ID" val="diagram20194649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BEAUTIFY_FLAG" val="#wm#"/>
  <p:tag name="KSO_WM_TEMPLATE_CATEGORY" val="diagram"/>
  <p:tag name="KSO_WM_TEMPLATE_INDEX" val="20194649"/>
  <p:tag name="KSO_WM_SLIDE_LAYOUT" val="a_f_i"/>
  <p:tag name="KSO_WM_SLIDE_LAYOUT_CNT" val="1_1_2"/>
</p:tagLst>
</file>

<file path=ppt/tags/tag17.xml><?xml version="1.0" encoding="utf-8"?>
<p:tagLst xmlns:p="http://schemas.openxmlformats.org/presentationml/2006/main">
  <p:tag name="KSO_WM_UNIT_TEXT_PART_ID_V2" val="d-3-2"/>
  <p:tag name="KSO_WM_UNIT_COLOR_SCHEME_SHAPE_ID" val="4"/>
  <p:tag name="KSO_WM_UNIT_COLOR_SCHEME_PARENT_PAGE" val="0_1"/>
  <p:tag name="KSO_WM_UNIT_PRESET_TEXT" val="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
  <p:tag name="KSO_WM_UNIT_NOCLEAR" val="1"/>
  <p:tag name="KSO_WM_UNIT_VALUE" val="273"/>
  <p:tag name="KSO_WM_UNIT_HIGHLIGHT" val="0"/>
  <p:tag name="KSO_WM_UNIT_COMPATIBLE" val="0"/>
  <p:tag name="KSO_WM_UNIT_DIAGRAM_ISNUMVISUAL" val="0"/>
  <p:tag name="KSO_WM_UNIT_DIAGRAM_ISREFERUNIT" val="0"/>
  <p:tag name="KSO_WM_UNIT_TYPE" val="f"/>
  <p:tag name="KSO_WM_UNIT_INDEX" val="1"/>
  <p:tag name="KSO_WM_UNIT_ID" val="diagram20194649_1*f*1"/>
  <p:tag name="KSO_WM_TEMPLATE_CATEGORY" val="diagram"/>
  <p:tag name="KSO_WM_TEMPLATE_INDEX" val="20194649"/>
  <p:tag name="KSO_WM_UNIT_LAYERLEVEL" val="1"/>
  <p:tag name="KSO_WM_TAG_VERSION" val="1.0"/>
  <p:tag name="KSO_WM_BEAUTIFY_FLAG" val="#wm#"/>
</p:tagLst>
</file>

<file path=ppt/tags/tag18.xml><?xml version="1.0" encoding="utf-8"?>
<p:tagLst xmlns:p="http://schemas.openxmlformats.org/presentationml/2006/main">
  <p:tag name="KSO_WM_SLIDE_COLORSCHEME_VERSION" val="3.2"/>
  <p:tag name="KSO_WM_SLIDE_ID" val="diagram20194649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BEAUTIFY_FLAG" val="#wm#"/>
  <p:tag name="KSO_WM_TEMPLATE_CATEGORY" val="diagram"/>
  <p:tag name="KSO_WM_TEMPLATE_INDEX" val="20194649"/>
  <p:tag name="KSO_WM_SLIDE_LAYOUT" val="a_f_i"/>
  <p:tag name="KSO_WM_SLIDE_LAYOUT_CNT" val="1_1_2"/>
</p:tagLst>
</file>

<file path=ppt/tags/tag19.xml><?xml version="1.0" encoding="utf-8"?>
<p:tagLst xmlns:p="http://schemas.openxmlformats.org/presentationml/2006/main">
  <p:tag name="KSO_WM_UNIT_TEXT_PART_ID_V2" val="d-3-2"/>
  <p:tag name="KSO_WM_UNIT_COLOR_SCHEME_SHAPE_ID" val="4"/>
  <p:tag name="KSO_WM_UNIT_COLOR_SCHEME_PARENT_PAGE" val="0_1"/>
  <p:tag name="KSO_WM_UNIT_PRESET_TEXT" val="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
  <p:tag name="KSO_WM_UNIT_NOCLEAR" val="1"/>
  <p:tag name="KSO_WM_UNIT_VALUE" val="273"/>
  <p:tag name="KSO_WM_UNIT_HIGHLIGHT" val="0"/>
  <p:tag name="KSO_WM_UNIT_COMPATIBLE" val="0"/>
  <p:tag name="KSO_WM_UNIT_DIAGRAM_ISNUMVISUAL" val="0"/>
  <p:tag name="KSO_WM_UNIT_DIAGRAM_ISREFERUNIT" val="0"/>
  <p:tag name="KSO_WM_UNIT_TYPE" val="f"/>
  <p:tag name="KSO_WM_UNIT_INDEX" val="1"/>
  <p:tag name="KSO_WM_UNIT_ID" val="diagram20194649_1*f*1"/>
  <p:tag name="KSO_WM_TEMPLATE_CATEGORY" val="diagram"/>
  <p:tag name="KSO_WM_TEMPLATE_INDEX" val="20194649"/>
  <p:tag name="KSO_WM_UNIT_LAYERLEVEL" val="1"/>
  <p:tag name="KSO_WM_TAG_VERSION" val="1.0"/>
  <p:tag name="KSO_WM_BEAUTIFY_FLAG" val="#wm#"/>
</p:tagLst>
</file>

<file path=ppt/tags/tag20.xml><?xml version="1.0" encoding="utf-8"?>
<p:tagLst xmlns:p="http://schemas.openxmlformats.org/presentationml/2006/main">
  <p:tag name="KSO_WM_SLIDE_COLORSCHEME_VERSION" val="3.2"/>
  <p:tag name="KSO_WM_SLIDE_ID" val="diagram20194649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BEAUTIFY_FLAG" val="#wm#"/>
  <p:tag name="KSO_WM_TEMPLATE_CATEGORY" val="diagram"/>
  <p:tag name="KSO_WM_TEMPLATE_INDEX" val="20194649"/>
  <p:tag name="KSO_WM_SLIDE_LAYOUT" val="a_f_i"/>
  <p:tag name="KSO_WM_SLIDE_LAYOUT_CNT" val="1_1_2"/>
</p:tagLst>
</file>

<file path=ppt/tags/tag21.xml><?xml version="1.0" encoding="utf-8"?>
<p:tagLst xmlns:p="http://schemas.openxmlformats.org/presentationml/2006/main">
  <p:tag name="KSO_WM_UNIT_TEXT_PART_ID_V2" val="d-3-2"/>
  <p:tag name="KSO_WM_UNIT_COLOR_SCHEME_SHAPE_ID" val="4"/>
  <p:tag name="KSO_WM_UNIT_COLOR_SCHEME_PARENT_PAGE" val="0_1"/>
  <p:tag name="KSO_WM_UNIT_PRESET_TEXT" val="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
  <p:tag name="KSO_WM_UNIT_NOCLEAR" val="1"/>
  <p:tag name="KSO_WM_UNIT_VALUE" val="273"/>
  <p:tag name="KSO_WM_UNIT_HIGHLIGHT" val="0"/>
  <p:tag name="KSO_WM_UNIT_COMPATIBLE" val="0"/>
  <p:tag name="KSO_WM_UNIT_DIAGRAM_ISNUMVISUAL" val="0"/>
  <p:tag name="KSO_WM_UNIT_DIAGRAM_ISREFERUNIT" val="0"/>
  <p:tag name="KSO_WM_UNIT_TYPE" val="f"/>
  <p:tag name="KSO_WM_UNIT_INDEX" val="1"/>
  <p:tag name="KSO_WM_UNIT_ID" val="diagram20194649_1*f*1"/>
  <p:tag name="KSO_WM_TEMPLATE_CATEGORY" val="diagram"/>
  <p:tag name="KSO_WM_TEMPLATE_INDEX" val="20194649"/>
  <p:tag name="KSO_WM_UNIT_LAYERLEVEL" val="1"/>
  <p:tag name="KSO_WM_TAG_VERSION" val="1.0"/>
  <p:tag name="KSO_WM_BEAUTIFY_FLAG" val="#wm#"/>
</p:tagLst>
</file>

<file path=ppt/tags/tag22.xml><?xml version="1.0" encoding="utf-8"?>
<p:tagLst xmlns:p="http://schemas.openxmlformats.org/presentationml/2006/main">
  <p:tag name="KSO_WM_SLIDE_COLORSCHEME_VERSION" val="3.2"/>
  <p:tag name="KSO_WM_SLIDE_ID" val="diagram20194649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BEAUTIFY_FLAG" val="#wm#"/>
  <p:tag name="KSO_WM_TEMPLATE_CATEGORY" val="diagram"/>
  <p:tag name="KSO_WM_TEMPLATE_INDEX" val="20194649"/>
  <p:tag name="KSO_WM_SLIDE_LAYOUT" val="a_f_i"/>
  <p:tag name="KSO_WM_SLIDE_LAYOUT_CNT" val="1_1_2"/>
</p:tagLst>
</file>

<file path=ppt/tags/tag23.xml><?xml version="1.0" encoding="utf-8"?>
<p:tagLst xmlns:p="http://schemas.openxmlformats.org/presentationml/2006/main">
  <p:tag name="KSO_WM_UNIT_TEXT_PART_ID_V2" val="d-3-2"/>
  <p:tag name="KSO_WM_UNIT_COLOR_SCHEME_SHAPE_ID" val="4"/>
  <p:tag name="KSO_WM_UNIT_COLOR_SCHEME_PARENT_PAGE" val="0_1"/>
  <p:tag name="KSO_WM_UNIT_PRESET_TEXT" val="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
  <p:tag name="KSO_WM_UNIT_NOCLEAR" val="1"/>
  <p:tag name="KSO_WM_UNIT_VALUE" val="273"/>
  <p:tag name="KSO_WM_UNIT_HIGHLIGHT" val="0"/>
  <p:tag name="KSO_WM_UNIT_COMPATIBLE" val="0"/>
  <p:tag name="KSO_WM_UNIT_DIAGRAM_ISNUMVISUAL" val="0"/>
  <p:tag name="KSO_WM_UNIT_DIAGRAM_ISREFERUNIT" val="0"/>
  <p:tag name="KSO_WM_UNIT_TYPE" val="f"/>
  <p:tag name="KSO_WM_UNIT_INDEX" val="1"/>
  <p:tag name="KSO_WM_UNIT_ID" val="diagram20194649_1*f*1"/>
  <p:tag name="KSO_WM_TEMPLATE_CATEGORY" val="diagram"/>
  <p:tag name="KSO_WM_TEMPLATE_INDEX" val="20194649"/>
  <p:tag name="KSO_WM_UNIT_LAYERLEVEL" val="1"/>
  <p:tag name="KSO_WM_TAG_VERSION" val="1.0"/>
  <p:tag name="KSO_WM_BEAUTIFY_FLAG" val="#wm#"/>
</p:tagLst>
</file>

<file path=ppt/tags/tag24.xml><?xml version="1.0" encoding="utf-8"?>
<p:tagLst xmlns:p="http://schemas.openxmlformats.org/presentationml/2006/main">
  <p:tag name="KSO_WM_SLIDE_COLORSCHEME_VERSION" val="3.2"/>
  <p:tag name="KSO_WM_SLIDE_ID" val="diagram20194649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BEAUTIFY_FLAG" val="#wm#"/>
  <p:tag name="KSO_WM_TEMPLATE_CATEGORY" val="diagram"/>
  <p:tag name="KSO_WM_TEMPLATE_INDEX" val="20194649"/>
  <p:tag name="KSO_WM_SLIDE_LAYOUT" val="a_f_i"/>
  <p:tag name="KSO_WM_SLIDE_LAYOUT_CNT" val="1_1_2"/>
</p:tagLst>
</file>

<file path=ppt/tags/tag25.xml><?xml version="1.0" encoding="utf-8"?>
<p:tagLst xmlns:p="http://schemas.openxmlformats.org/presentationml/2006/main">
  <p:tag name="KSO_WM_UNIT_TEXT_PART_ID_V2" val="d-3-2"/>
  <p:tag name="KSO_WM_UNIT_COLOR_SCHEME_SHAPE_ID" val="4"/>
  <p:tag name="KSO_WM_UNIT_COLOR_SCHEME_PARENT_PAGE" val="0_1"/>
  <p:tag name="KSO_WM_UNIT_PRESET_TEXT" val="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
  <p:tag name="KSO_WM_UNIT_NOCLEAR" val="1"/>
  <p:tag name="KSO_WM_UNIT_VALUE" val="273"/>
  <p:tag name="KSO_WM_UNIT_HIGHLIGHT" val="0"/>
  <p:tag name="KSO_WM_UNIT_COMPATIBLE" val="0"/>
  <p:tag name="KSO_WM_UNIT_DIAGRAM_ISNUMVISUAL" val="0"/>
  <p:tag name="KSO_WM_UNIT_DIAGRAM_ISREFERUNIT" val="0"/>
  <p:tag name="KSO_WM_UNIT_TYPE" val="f"/>
  <p:tag name="KSO_WM_UNIT_INDEX" val="1"/>
  <p:tag name="KSO_WM_UNIT_ID" val="diagram20194649_1*f*1"/>
  <p:tag name="KSO_WM_TEMPLATE_CATEGORY" val="diagram"/>
  <p:tag name="KSO_WM_TEMPLATE_INDEX" val="20194649"/>
  <p:tag name="KSO_WM_UNIT_LAYERLEVEL" val="1"/>
  <p:tag name="KSO_WM_TAG_VERSION" val="1.0"/>
  <p:tag name="KSO_WM_BEAUTIFY_FLAG" val="#wm#"/>
</p:tagLst>
</file>

<file path=ppt/tags/tag26.xml><?xml version="1.0" encoding="utf-8"?>
<p:tagLst xmlns:p="http://schemas.openxmlformats.org/presentationml/2006/main">
  <p:tag name="KSO_WM_SLIDE_COLORSCHEME_VERSION" val="3.2"/>
  <p:tag name="KSO_WM_SLIDE_ID" val="diagram20194649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BEAUTIFY_FLAG" val="#wm#"/>
  <p:tag name="KSO_WM_TEMPLATE_CATEGORY" val="diagram"/>
  <p:tag name="KSO_WM_TEMPLATE_INDEX" val="20194649"/>
  <p:tag name="KSO_WM_SLIDE_LAYOUT" val="a_f_i"/>
  <p:tag name="KSO_WM_SLIDE_LAYOUT_CNT" val="1_1_2"/>
</p:tagLst>
</file>

<file path=ppt/tags/tag27.xml><?xml version="1.0" encoding="utf-8"?>
<p:tagLst xmlns:p="http://schemas.openxmlformats.org/presentationml/2006/main">
  <p:tag name="KSO_WM_UNIT_TEXT_PART_ID_V2" val="d-3-2"/>
  <p:tag name="KSO_WM_UNIT_COLOR_SCHEME_SHAPE_ID" val="4"/>
  <p:tag name="KSO_WM_UNIT_COLOR_SCHEME_PARENT_PAGE" val="0_1"/>
  <p:tag name="KSO_WM_UNIT_PRESET_TEXT" val="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
  <p:tag name="KSO_WM_UNIT_NOCLEAR" val="1"/>
  <p:tag name="KSO_WM_UNIT_VALUE" val="273"/>
  <p:tag name="KSO_WM_UNIT_HIGHLIGHT" val="0"/>
  <p:tag name="KSO_WM_UNIT_COMPATIBLE" val="0"/>
  <p:tag name="KSO_WM_UNIT_DIAGRAM_ISNUMVISUAL" val="0"/>
  <p:tag name="KSO_WM_UNIT_DIAGRAM_ISREFERUNIT" val="0"/>
  <p:tag name="KSO_WM_UNIT_TYPE" val="f"/>
  <p:tag name="KSO_WM_UNIT_INDEX" val="1"/>
  <p:tag name="KSO_WM_UNIT_ID" val="diagram20194649_1*f*1"/>
  <p:tag name="KSO_WM_TEMPLATE_CATEGORY" val="diagram"/>
  <p:tag name="KSO_WM_TEMPLATE_INDEX" val="20194649"/>
  <p:tag name="KSO_WM_UNIT_LAYERLEVEL" val="1"/>
  <p:tag name="KSO_WM_TAG_VERSION" val="1.0"/>
  <p:tag name="KSO_WM_BEAUTIFY_FLAG" val="#wm#"/>
</p:tagLst>
</file>

<file path=ppt/tags/tag28.xml><?xml version="1.0" encoding="utf-8"?>
<p:tagLst xmlns:p="http://schemas.openxmlformats.org/presentationml/2006/main">
  <p:tag name="KSO_WM_SLIDE_COLORSCHEME_VERSION" val="3.2"/>
  <p:tag name="KSO_WM_SLIDE_ID" val="diagram20194649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BEAUTIFY_FLAG" val="#wm#"/>
  <p:tag name="KSO_WM_TEMPLATE_CATEGORY" val="diagram"/>
  <p:tag name="KSO_WM_TEMPLATE_INDEX" val="20194649"/>
  <p:tag name="KSO_WM_SLIDE_LAYOUT" val="a_f_i"/>
  <p:tag name="KSO_WM_SLIDE_LAYOUT_CNT" val="1_1_2"/>
</p:tagLst>
</file>

<file path=ppt/tags/tag29.xml><?xml version="1.0" encoding="utf-8"?>
<p:tagLst xmlns:p="http://schemas.openxmlformats.org/presentationml/2006/main">
  <p:tag name="KSO_WM_UNIT_TEXT_PART_ID_V2" val="d-3-2"/>
  <p:tag name="KSO_WM_UNIT_COLOR_SCHEME_SHAPE_ID" val="4"/>
  <p:tag name="KSO_WM_UNIT_COLOR_SCHEME_PARENT_PAGE" val="0_1"/>
  <p:tag name="KSO_WM_UNIT_PRESET_TEXT" val="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
  <p:tag name="KSO_WM_UNIT_NOCLEAR" val="1"/>
  <p:tag name="KSO_WM_UNIT_VALUE" val="273"/>
  <p:tag name="KSO_WM_UNIT_HIGHLIGHT" val="0"/>
  <p:tag name="KSO_WM_UNIT_COMPATIBLE" val="0"/>
  <p:tag name="KSO_WM_UNIT_DIAGRAM_ISNUMVISUAL" val="0"/>
  <p:tag name="KSO_WM_UNIT_DIAGRAM_ISREFERUNIT" val="0"/>
  <p:tag name="KSO_WM_UNIT_TYPE" val="f"/>
  <p:tag name="KSO_WM_UNIT_INDEX" val="1"/>
  <p:tag name="KSO_WM_UNIT_ID" val="diagram20194649_1*f*1"/>
  <p:tag name="KSO_WM_TEMPLATE_CATEGORY" val="diagram"/>
  <p:tag name="KSO_WM_TEMPLATE_INDEX" val="20194649"/>
  <p:tag name="KSO_WM_UNIT_LAYERLEVEL" val="1"/>
  <p:tag name="KSO_WM_TAG_VERSION" val="1.0"/>
  <p:tag name="KSO_WM_BEAUTIFY_FLAG" val="#wm#"/>
</p:tagLst>
</file>

<file path=ppt/tags/tag30.xml><?xml version="1.0" encoding="utf-8"?>
<p:tagLst xmlns:p="http://schemas.openxmlformats.org/presentationml/2006/main">
  <p:tag name="KSO_WM_SLIDE_COLORSCHEME_VERSION" val="3.2"/>
  <p:tag name="KSO_WM_SLIDE_ID" val="diagram20194649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BEAUTIFY_FLAG" val="#wm#"/>
  <p:tag name="KSO_WM_TEMPLATE_CATEGORY" val="diagram"/>
  <p:tag name="KSO_WM_TEMPLATE_INDEX" val="20194649"/>
  <p:tag name="KSO_WM_SLIDE_LAYOUT" val="a_f_i"/>
  <p:tag name="KSO_WM_SLIDE_LAYOUT_CNT" val="1_1_2"/>
</p:tagLst>
</file>

<file path=ppt/tags/tag31.xml><?xml version="1.0" encoding="utf-8"?>
<p:tagLst xmlns:p="http://schemas.openxmlformats.org/presentationml/2006/main">
  <p:tag name="KSO_WM_UNIT_TEXT_PART_ID_V2" val="d-3-2"/>
  <p:tag name="KSO_WM_UNIT_COLOR_SCHEME_SHAPE_ID" val="4"/>
  <p:tag name="KSO_WM_UNIT_COLOR_SCHEME_PARENT_PAGE" val="0_1"/>
  <p:tag name="KSO_WM_UNIT_PRESET_TEXT" val="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
  <p:tag name="KSO_WM_UNIT_NOCLEAR" val="1"/>
  <p:tag name="KSO_WM_UNIT_VALUE" val="273"/>
  <p:tag name="KSO_WM_UNIT_HIGHLIGHT" val="0"/>
  <p:tag name="KSO_WM_UNIT_COMPATIBLE" val="0"/>
  <p:tag name="KSO_WM_UNIT_DIAGRAM_ISNUMVISUAL" val="0"/>
  <p:tag name="KSO_WM_UNIT_DIAGRAM_ISREFERUNIT" val="0"/>
  <p:tag name="KSO_WM_UNIT_TYPE" val="f"/>
  <p:tag name="KSO_WM_UNIT_INDEX" val="1"/>
  <p:tag name="KSO_WM_UNIT_ID" val="diagram20194649_1*f*1"/>
  <p:tag name="KSO_WM_TEMPLATE_CATEGORY" val="diagram"/>
  <p:tag name="KSO_WM_TEMPLATE_INDEX" val="20194649"/>
  <p:tag name="KSO_WM_UNIT_LAYERLEVEL" val="1"/>
  <p:tag name="KSO_WM_TAG_VERSION" val="1.0"/>
  <p:tag name="KSO_WM_BEAUTIFY_FLAG" val="#wm#"/>
</p:tagLst>
</file>

<file path=ppt/tags/tag32.xml><?xml version="1.0" encoding="utf-8"?>
<p:tagLst xmlns:p="http://schemas.openxmlformats.org/presentationml/2006/main">
  <p:tag name="KSO_WM_SLIDE_COLORSCHEME_VERSION" val="3.2"/>
  <p:tag name="KSO_WM_SLIDE_ID" val="diagram20194649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BEAUTIFY_FLAG" val="#wm#"/>
  <p:tag name="KSO_WM_TEMPLATE_CATEGORY" val="diagram"/>
  <p:tag name="KSO_WM_TEMPLATE_INDEX" val="20194649"/>
  <p:tag name="KSO_WM_SLIDE_LAYOUT" val="a_f_i"/>
  <p:tag name="KSO_WM_SLIDE_LAYOUT_CNT" val="1_1_2"/>
</p:tagLst>
</file>

<file path=ppt/tags/tag33.xml><?xml version="1.0" encoding="utf-8"?>
<p:tagLst xmlns:p="http://schemas.openxmlformats.org/presentationml/2006/main">
  <p:tag name="KSO_WM_UNIT_TEXT_PART_ID_V2" val="d-3-2"/>
  <p:tag name="KSO_WM_UNIT_COLOR_SCHEME_SHAPE_ID" val="4"/>
  <p:tag name="KSO_WM_UNIT_COLOR_SCHEME_PARENT_PAGE" val="0_1"/>
  <p:tag name="KSO_WM_UNIT_PRESET_TEXT" val="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
  <p:tag name="KSO_WM_UNIT_NOCLEAR" val="1"/>
  <p:tag name="KSO_WM_UNIT_VALUE" val="273"/>
  <p:tag name="KSO_WM_UNIT_HIGHLIGHT" val="0"/>
  <p:tag name="KSO_WM_UNIT_COMPATIBLE" val="0"/>
  <p:tag name="KSO_WM_UNIT_DIAGRAM_ISNUMVISUAL" val="0"/>
  <p:tag name="KSO_WM_UNIT_DIAGRAM_ISREFERUNIT" val="0"/>
  <p:tag name="KSO_WM_UNIT_TYPE" val="f"/>
  <p:tag name="KSO_WM_UNIT_INDEX" val="1"/>
  <p:tag name="KSO_WM_UNIT_ID" val="diagram20194649_1*f*1"/>
  <p:tag name="KSO_WM_TEMPLATE_CATEGORY" val="diagram"/>
  <p:tag name="KSO_WM_TEMPLATE_INDEX" val="20194649"/>
  <p:tag name="KSO_WM_UNIT_LAYERLEVEL" val="1"/>
  <p:tag name="KSO_WM_TAG_VERSION" val="1.0"/>
  <p:tag name="KSO_WM_BEAUTIFY_FLAG" val="#wm#"/>
</p:tagLst>
</file>

<file path=ppt/tags/tag34.xml><?xml version="1.0" encoding="utf-8"?>
<p:tagLst xmlns:p="http://schemas.openxmlformats.org/presentationml/2006/main">
  <p:tag name="KSO_WM_UNIT_TEXT_PART_ID_V2" val="d-3-2"/>
  <p:tag name="KSO_WM_UNIT_COLOR_SCHEME_SHAPE_ID" val="4"/>
  <p:tag name="KSO_WM_UNIT_COLOR_SCHEME_PARENT_PAGE" val="0_1"/>
  <p:tag name="KSO_WM_UNIT_PRESET_TEXT" val="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
  <p:tag name="KSO_WM_UNIT_NOCLEAR" val="1"/>
  <p:tag name="KSO_WM_UNIT_VALUE" val="273"/>
  <p:tag name="KSO_WM_UNIT_HIGHLIGHT" val="0"/>
  <p:tag name="KSO_WM_UNIT_COMPATIBLE" val="0"/>
  <p:tag name="KSO_WM_UNIT_DIAGRAM_ISNUMVISUAL" val="0"/>
  <p:tag name="KSO_WM_UNIT_DIAGRAM_ISREFERUNIT" val="0"/>
  <p:tag name="KSO_WM_UNIT_TYPE" val="f"/>
  <p:tag name="KSO_WM_UNIT_INDEX" val="1"/>
  <p:tag name="KSO_WM_UNIT_ID" val="diagram20194649_1*f*1"/>
  <p:tag name="KSO_WM_TEMPLATE_CATEGORY" val="diagram"/>
  <p:tag name="KSO_WM_TEMPLATE_INDEX" val="20194649"/>
  <p:tag name="KSO_WM_UNIT_LAYERLEVEL" val="1"/>
  <p:tag name="KSO_WM_TAG_VERSION" val="1.0"/>
  <p:tag name="KSO_WM_BEAUTIFY_FLAG" val="#wm#"/>
</p:tagLst>
</file>

<file path=ppt/tags/tag35.xml><?xml version="1.0" encoding="utf-8"?>
<p:tagLst xmlns:p="http://schemas.openxmlformats.org/presentationml/2006/main">
  <p:tag name="KSO_WM_UNIT_TEXT_PART_ID_V2" val="d-3-2"/>
  <p:tag name="KSO_WM_UNIT_COLOR_SCHEME_SHAPE_ID" val="4"/>
  <p:tag name="KSO_WM_UNIT_COLOR_SCHEME_PARENT_PAGE" val="0_1"/>
  <p:tag name="KSO_WM_UNIT_PRESET_TEXT" val="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
  <p:tag name="KSO_WM_UNIT_NOCLEAR" val="1"/>
  <p:tag name="KSO_WM_UNIT_VALUE" val="273"/>
  <p:tag name="KSO_WM_UNIT_HIGHLIGHT" val="0"/>
  <p:tag name="KSO_WM_UNIT_COMPATIBLE" val="0"/>
  <p:tag name="KSO_WM_UNIT_DIAGRAM_ISNUMVISUAL" val="0"/>
  <p:tag name="KSO_WM_UNIT_DIAGRAM_ISREFERUNIT" val="0"/>
  <p:tag name="KSO_WM_UNIT_TYPE" val="f"/>
  <p:tag name="KSO_WM_UNIT_INDEX" val="1"/>
  <p:tag name="KSO_WM_UNIT_ID" val="diagram20194649_1*f*1"/>
  <p:tag name="KSO_WM_TEMPLATE_CATEGORY" val="diagram"/>
  <p:tag name="KSO_WM_TEMPLATE_INDEX" val="20194649"/>
  <p:tag name="KSO_WM_UNIT_LAYERLEVEL" val="1"/>
  <p:tag name="KSO_WM_TAG_VERSION" val="1.0"/>
  <p:tag name="KSO_WM_BEAUTIFY_FLAG" val="#wm#"/>
</p:tagLst>
</file>

<file path=ppt/tags/tag36.xml><?xml version="1.0" encoding="utf-8"?>
<p:tagLst xmlns:p="http://schemas.openxmlformats.org/presentationml/2006/main">
  <p:tag name="KSO_WM_SLIDE_COLORSCHEME_VERSION" val="3.2"/>
  <p:tag name="KSO_WM_SLIDE_ID" val="diagram20194649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BEAUTIFY_FLAG" val="#wm#"/>
  <p:tag name="KSO_WM_TEMPLATE_CATEGORY" val="diagram"/>
  <p:tag name="KSO_WM_TEMPLATE_INDEX" val="20194649"/>
  <p:tag name="KSO_WM_SLIDE_LAYOUT" val="a_f_i"/>
  <p:tag name="KSO_WM_SLIDE_LAYOUT_CNT" val="1_1_2"/>
</p:tagLst>
</file>

<file path=ppt/tags/tag37.xml><?xml version="1.0" encoding="utf-8"?>
<p:tagLst xmlns:p="http://schemas.openxmlformats.org/presentationml/2006/main">
  <p:tag name="KSO_WM_SLIDE_COLORSCHEME_VERSION" val="3.2"/>
  <p:tag name="KSO_WM_SLIDE_ID" val="diagram20194649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BEAUTIFY_FLAG" val="#wm#"/>
  <p:tag name="KSO_WM_TEMPLATE_CATEGORY" val="diagram"/>
  <p:tag name="KSO_WM_TEMPLATE_INDEX" val="20194649"/>
  <p:tag name="KSO_WM_SLIDE_LAYOUT" val="a_f_i"/>
  <p:tag name="KSO_WM_SLIDE_LAYOUT_CNT" val="1_1_2"/>
</p:tagLst>
</file>

<file path=ppt/tags/tag38.xml><?xml version="1.0" encoding="utf-8"?>
<p:tagLst xmlns:p="http://schemas.openxmlformats.org/presentationml/2006/main">
  <p:tag name="KSO_WM_SLIDE_COLORSCHEME_VERSION" val="3.2"/>
  <p:tag name="KSO_WM_SLIDE_ID" val="diagram20194649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BEAUTIFY_FLAG" val="#wm#"/>
  <p:tag name="KSO_WM_TEMPLATE_CATEGORY" val="diagram"/>
  <p:tag name="KSO_WM_TEMPLATE_INDEX" val="20194649"/>
  <p:tag name="KSO_WM_SLIDE_LAYOUT" val="a_f_i"/>
  <p:tag name="KSO_WM_SLIDE_LAYOUT_CNT" val="1_1_2"/>
</p:tagLst>
</file>

<file path=ppt/tags/tag39.xml><?xml version="1.0" encoding="utf-8"?>
<p:tagLst xmlns:p="http://schemas.openxmlformats.org/presentationml/2006/main">
  <p:tag name="KSO_WM_UNIT_TEXT_PART_ID_V2" val="d-3-2"/>
  <p:tag name="KSO_WM_UNIT_COLOR_SCHEME_SHAPE_ID" val="4"/>
  <p:tag name="KSO_WM_UNIT_COLOR_SCHEME_PARENT_PAGE" val="0_1"/>
  <p:tag name="KSO_WM_UNIT_PRESET_TEXT" val="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
  <p:tag name="KSO_WM_UNIT_NOCLEAR" val="1"/>
  <p:tag name="KSO_WM_UNIT_VALUE" val="273"/>
  <p:tag name="KSO_WM_UNIT_HIGHLIGHT" val="0"/>
  <p:tag name="KSO_WM_UNIT_COMPATIBLE" val="0"/>
  <p:tag name="KSO_WM_UNIT_DIAGRAM_ISNUMVISUAL" val="0"/>
  <p:tag name="KSO_WM_UNIT_DIAGRAM_ISREFERUNIT" val="0"/>
  <p:tag name="KSO_WM_UNIT_TYPE" val="f"/>
  <p:tag name="KSO_WM_UNIT_INDEX" val="1"/>
  <p:tag name="KSO_WM_UNIT_ID" val="diagram20194649_1*f*1"/>
  <p:tag name="KSO_WM_TEMPLATE_CATEGORY" val="diagram"/>
  <p:tag name="KSO_WM_TEMPLATE_INDEX" val="20194649"/>
  <p:tag name="KSO_WM_UNIT_LAYERLEVEL" val="1"/>
  <p:tag name="KSO_WM_TAG_VERSION" val="1.0"/>
  <p:tag name="KSO_WM_BEAUTIFY_FLAG" val="#wm#"/>
</p:tagLst>
</file>

<file path=ppt/tags/tag40.xml><?xml version="1.0" encoding="utf-8"?>
<p:tagLst xmlns:p="http://schemas.openxmlformats.org/presentationml/2006/main">
  <p:tag name="KSO_WM_UNIT_TEXT_PART_ID_V2" val="d-3-2"/>
  <p:tag name="KSO_WM_UNIT_COLOR_SCHEME_SHAPE_ID" val="4"/>
  <p:tag name="KSO_WM_UNIT_COLOR_SCHEME_PARENT_PAGE" val="0_1"/>
  <p:tag name="KSO_WM_UNIT_PRESET_TEXT" val="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
  <p:tag name="KSO_WM_UNIT_NOCLEAR" val="1"/>
  <p:tag name="KSO_WM_UNIT_VALUE" val="273"/>
  <p:tag name="KSO_WM_UNIT_HIGHLIGHT" val="0"/>
  <p:tag name="KSO_WM_UNIT_COMPATIBLE" val="0"/>
  <p:tag name="KSO_WM_UNIT_DIAGRAM_ISNUMVISUAL" val="0"/>
  <p:tag name="KSO_WM_UNIT_DIAGRAM_ISREFERUNIT" val="0"/>
  <p:tag name="KSO_WM_UNIT_TYPE" val="f"/>
  <p:tag name="KSO_WM_UNIT_INDEX" val="1"/>
  <p:tag name="KSO_WM_UNIT_ID" val="diagram20194649_1*f*1"/>
  <p:tag name="KSO_WM_TEMPLATE_CATEGORY" val="diagram"/>
  <p:tag name="KSO_WM_TEMPLATE_INDEX" val="20194649"/>
  <p:tag name="KSO_WM_UNIT_LAYERLEVEL" val="1"/>
  <p:tag name="KSO_WM_TAG_VERSION" val="1.0"/>
  <p:tag name="KSO_WM_BEAUTIFY_FLAG" val="#wm#"/>
</p:tagLst>
</file>

<file path=ppt/tags/tag41.xml><?xml version="1.0" encoding="utf-8"?>
<p:tagLst xmlns:p="http://schemas.openxmlformats.org/presentationml/2006/main">
  <p:tag name="KSO_WM_SLIDE_COLORSCHEME_VERSION" val="3.2"/>
  <p:tag name="KSO_WM_SLIDE_ID" val="diagram20194649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BEAUTIFY_FLAG" val="#wm#"/>
  <p:tag name="KSO_WM_TEMPLATE_CATEGORY" val="diagram"/>
  <p:tag name="KSO_WM_TEMPLATE_INDEX" val="20194649"/>
  <p:tag name="KSO_WM_SLIDE_LAYOUT" val="a_f_i"/>
  <p:tag name="KSO_WM_SLIDE_LAYOUT_CNT" val="1_1_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5507</Words>
  <Application>WPS 演示</Application>
  <PresentationFormat>宽屏</PresentationFormat>
  <Paragraphs>283</Paragraphs>
  <Slides>18</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18</vt:i4>
      </vt:variant>
    </vt:vector>
  </HeadingPairs>
  <TitlesOfParts>
    <vt:vector size="28" baseType="lpstr">
      <vt:lpstr>Arial</vt:lpstr>
      <vt:lpstr>宋体</vt:lpstr>
      <vt:lpstr>Wingdings</vt:lpstr>
      <vt:lpstr>Times New Roman</vt:lpstr>
      <vt:lpstr>微软雅黑</vt:lpstr>
      <vt:lpstr>Wingdings</vt:lpstr>
      <vt:lpstr>Calibri</vt:lpstr>
      <vt:lpstr>Arial Unicode MS</vt:lpstr>
      <vt:lpstr>黑体</vt:lpstr>
      <vt:lpstr>Office 主题</vt:lpstr>
      <vt:lpstr>SQL上机实验（一）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njubwy</dc:creator>
  <cp:lastModifiedBy>百老汇</cp:lastModifiedBy>
  <cp:revision>23</cp:revision>
  <dcterms:created xsi:type="dcterms:W3CDTF">2019-12-20T03:10:00Z</dcterms:created>
  <dcterms:modified xsi:type="dcterms:W3CDTF">2019-12-21T14:40:36Z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2052-11.3.0.8775</vt:lpwstr>
  </property>
</Properties>
</file>