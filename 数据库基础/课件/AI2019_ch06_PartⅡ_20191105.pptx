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9"/>
  </p:notesMasterIdLst>
  <p:handoutMasterIdLst>
    <p:handoutMasterId r:id="rId140"/>
  </p:handoutMasterIdLst>
  <p:sldIdLst>
    <p:sldId id="256" r:id="rId2"/>
    <p:sldId id="306" r:id="rId3"/>
    <p:sldId id="336" r:id="rId4"/>
    <p:sldId id="2959" r:id="rId5"/>
    <p:sldId id="2960" r:id="rId6"/>
    <p:sldId id="2961" r:id="rId7"/>
    <p:sldId id="2962" r:id="rId8"/>
    <p:sldId id="473" r:id="rId9"/>
    <p:sldId id="337" r:id="rId10"/>
    <p:sldId id="3180" r:id="rId11"/>
    <p:sldId id="488" r:id="rId12"/>
    <p:sldId id="489" r:id="rId13"/>
    <p:sldId id="490" r:id="rId14"/>
    <p:sldId id="491" r:id="rId15"/>
    <p:sldId id="492" r:id="rId16"/>
    <p:sldId id="493" r:id="rId17"/>
    <p:sldId id="495" r:id="rId18"/>
    <p:sldId id="496" r:id="rId19"/>
    <p:sldId id="497" r:id="rId20"/>
    <p:sldId id="414" r:id="rId21"/>
    <p:sldId id="499" r:id="rId22"/>
    <p:sldId id="2159" r:id="rId23"/>
    <p:sldId id="474" r:id="rId24"/>
    <p:sldId id="475" r:id="rId25"/>
    <p:sldId id="476" r:id="rId26"/>
    <p:sldId id="498" r:id="rId27"/>
    <p:sldId id="338" r:id="rId28"/>
    <p:sldId id="500" r:id="rId29"/>
    <p:sldId id="339" r:id="rId30"/>
    <p:sldId id="878" r:id="rId31"/>
    <p:sldId id="881" r:id="rId32"/>
    <p:sldId id="340" r:id="rId33"/>
    <p:sldId id="341" r:id="rId34"/>
    <p:sldId id="342" r:id="rId35"/>
    <p:sldId id="343" r:id="rId36"/>
    <p:sldId id="1979" r:id="rId37"/>
    <p:sldId id="345" r:id="rId38"/>
    <p:sldId id="346" r:id="rId39"/>
    <p:sldId id="347" r:id="rId40"/>
    <p:sldId id="2161" r:id="rId41"/>
    <p:sldId id="348" r:id="rId42"/>
    <p:sldId id="501" r:id="rId43"/>
    <p:sldId id="502" r:id="rId44"/>
    <p:sldId id="503" r:id="rId45"/>
    <p:sldId id="504" r:id="rId46"/>
    <p:sldId id="3088" r:id="rId47"/>
    <p:sldId id="505" r:id="rId48"/>
    <p:sldId id="506" r:id="rId49"/>
    <p:sldId id="2074" r:id="rId50"/>
    <p:sldId id="438" r:id="rId51"/>
    <p:sldId id="349" r:id="rId52"/>
    <p:sldId id="3308" r:id="rId53"/>
    <p:sldId id="350" r:id="rId54"/>
    <p:sldId id="3089" r:id="rId55"/>
    <p:sldId id="3090" r:id="rId56"/>
    <p:sldId id="3091" r:id="rId57"/>
    <p:sldId id="3092" r:id="rId58"/>
    <p:sldId id="351" r:id="rId59"/>
    <p:sldId id="463" r:id="rId60"/>
    <p:sldId id="352" r:id="rId61"/>
    <p:sldId id="464" r:id="rId62"/>
    <p:sldId id="465" r:id="rId63"/>
    <p:sldId id="353" r:id="rId64"/>
    <p:sldId id="354" r:id="rId65"/>
    <p:sldId id="415" r:id="rId66"/>
    <p:sldId id="355" r:id="rId67"/>
    <p:sldId id="356" r:id="rId68"/>
    <p:sldId id="1009" r:id="rId69"/>
    <p:sldId id="357" r:id="rId70"/>
    <p:sldId id="1011" r:id="rId71"/>
    <p:sldId id="520" r:id="rId72"/>
    <p:sldId id="483" r:id="rId73"/>
    <p:sldId id="358" r:id="rId74"/>
    <p:sldId id="484" r:id="rId75"/>
    <p:sldId id="411" r:id="rId76"/>
    <p:sldId id="412" r:id="rId77"/>
    <p:sldId id="413" r:id="rId78"/>
    <p:sldId id="485" r:id="rId79"/>
    <p:sldId id="365" r:id="rId80"/>
    <p:sldId id="416" r:id="rId81"/>
    <p:sldId id="366" r:id="rId82"/>
    <p:sldId id="3395" r:id="rId83"/>
    <p:sldId id="368" r:id="rId84"/>
    <p:sldId id="369" r:id="rId85"/>
    <p:sldId id="3396" r:id="rId86"/>
    <p:sldId id="370" r:id="rId87"/>
    <p:sldId id="1078" r:id="rId88"/>
    <p:sldId id="1079" r:id="rId89"/>
    <p:sldId id="371" r:id="rId90"/>
    <p:sldId id="373" r:id="rId91"/>
    <p:sldId id="374" r:id="rId92"/>
    <p:sldId id="417" r:id="rId93"/>
    <p:sldId id="375" r:id="rId94"/>
    <p:sldId id="376" r:id="rId95"/>
    <p:sldId id="377" r:id="rId96"/>
    <p:sldId id="378" r:id="rId97"/>
    <p:sldId id="379" r:id="rId98"/>
    <p:sldId id="380" r:id="rId99"/>
    <p:sldId id="383" r:id="rId100"/>
    <p:sldId id="381" r:id="rId101"/>
    <p:sldId id="440" r:id="rId102"/>
    <p:sldId id="486" r:id="rId103"/>
    <p:sldId id="372" r:id="rId104"/>
    <p:sldId id="384" r:id="rId105"/>
    <p:sldId id="385" r:id="rId106"/>
    <p:sldId id="386" r:id="rId107"/>
    <p:sldId id="387" r:id="rId108"/>
    <p:sldId id="467" r:id="rId109"/>
    <p:sldId id="388" r:id="rId110"/>
    <p:sldId id="450" r:id="rId111"/>
    <p:sldId id="3452" r:id="rId112"/>
    <p:sldId id="3478" r:id="rId113"/>
    <p:sldId id="507" r:id="rId114"/>
    <p:sldId id="382" r:id="rId115"/>
    <p:sldId id="3453" r:id="rId116"/>
    <p:sldId id="418" r:id="rId117"/>
    <p:sldId id="439" r:id="rId118"/>
    <p:sldId id="3454" r:id="rId119"/>
    <p:sldId id="458" r:id="rId120"/>
    <p:sldId id="389" r:id="rId121"/>
    <p:sldId id="459" r:id="rId122"/>
    <p:sldId id="2270" r:id="rId123"/>
    <p:sldId id="390" r:id="rId124"/>
    <p:sldId id="508" r:id="rId125"/>
    <p:sldId id="460" r:id="rId126"/>
    <p:sldId id="441" r:id="rId127"/>
    <p:sldId id="442" r:id="rId128"/>
    <p:sldId id="443" r:id="rId129"/>
    <p:sldId id="444" r:id="rId130"/>
    <p:sldId id="1128" r:id="rId131"/>
    <p:sldId id="446" r:id="rId132"/>
    <p:sldId id="1129" r:id="rId133"/>
    <p:sldId id="392" r:id="rId134"/>
    <p:sldId id="393" r:id="rId135"/>
    <p:sldId id="448" r:id="rId136"/>
    <p:sldId id="449" r:id="rId137"/>
    <p:sldId id="2271" r:id="rId138"/>
  </p:sldIdLst>
  <p:sldSz cx="9144000" cy="6858000" type="screen4x3"/>
  <p:notesSz cx="6858000" cy="9144000"/>
  <p:defaultTextStyle>
    <a:defPPr>
      <a:defRPr lang="en-US"/>
    </a:defPPr>
    <a:lvl1pPr marL="0" lvl="0" indent="0" algn="l" defTabSz="914400" eaLnBrk="1" fontAlgn="base" latinLnBrk="0" hangingPunct="1">
      <a:lnSpc>
        <a:spcPct val="100000"/>
      </a:lnSpc>
      <a:spcBef>
        <a:spcPct val="0"/>
      </a:spcBef>
      <a:spcAft>
        <a:spcPct val="0"/>
      </a:spcAft>
      <a:buFont typeface="Arial" panose="020B0604020202020204" pitchFamily="34" charset="0"/>
      <a:buNone/>
      <a:defRPr sz="2400" b="0" u="none" kern="1200" baseline="0">
        <a:solidFill>
          <a:schemeClr val="tx1"/>
        </a:solidFill>
        <a:latin typeface="Times New Roman" panose="02020603050405020304" pitchFamily="2" charset="0"/>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2400" b="0" u="none" kern="1200" baseline="0">
        <a:solidFill>
          <a:schemeClr val="tx1"/>
        </a:solidFill>
        <a:latin typeface="Times New Roman" panose="02020603050405020304" pitchFamily="2" charset="0"/>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2400" b="0" u="none" kern="1200" baseline="0">
        <a:solidFill>
          <a:schemeClr val="tx1"/>
        </a:solidFill>
        <a:latin typeface="Times New Roman" panose="02020603050405020304" pitchFamily="2" charset="0"/>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2400" b="0" u="none" kern="1200" baseline="0">
        <a:solidFill>
          <a:schemeClr val="tx1"/>
        </a:solidFill>
        <a:latin typeface="Times New Roman" panose="02020603050405020304" pitchFamily="2" charset="0"/>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2400" b="0" u="none" kern="1200" baseline="0">
        <a:solidFill>
          <a:schemeClr val="tx1"/>
        </a:solidFill>
        <a:latin typeface="Times New Roman" panose="02020603050405020304" pitchFamily="2" charset="0"/>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2400" b="0" u="none" kern="1200" baseline="0">
        <a:solidFill>
          <a:schemeClr val="tx1"/>
        </a:solidFill>
        <a:latin typeface="Times New Roman" panose="02020603050405020304" pitchFamily="2" charset="0"/>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2400" b="0" u="none" kern="1200" baseline="0">
        <a:solidFill>
          <a:schemeClr val="tx1"/>
        </a:solidFill>
        <a:latin typeface="Times New Roman" panose="02020603050405020304" pitchFamily="2" charset="0"/>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2400" b="0" u="none" kern="1200" baseline="0">
        <a:solidFill>
          <a:schemeClr val="tx1"/>
        </a:solidFill>
        <a:latin typeface="Times New Roman" panose="02020603050405020304" pitchFamily="2" charset="0"/>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2400" b="0" u="none" kern="1200" baseline="0">
        <a:solidFill>
          <a:schemeClr val="tx1"/>
        </a:solidFill>
        <a:latin typeface="Times New Roman" panose="02020603050405020304" pitchFamily="2" charset="0"/>
      </a:defRPr>
    </a:lvl9pPr>
  </p:defaultTextStyle>
  <p:extLst>
    <p:ext uri="{EFAFB233-063F-42B5-8137-9DF3F51BA10A}">
      <p15:sldGuideLst xmlns:p15="http://schemas.microsoft.com/office/powerpoint/2012/main">
        <p15:guide id="1" orient="horz" pos="2048">
          <p15:clr>
            <a:srgbClr val="A4A3A4"/>
          </p15:clr>
        </p15:guide>
        <p15:guide id="2" pos="2830">
          <p15:clr>
            <a:srgbClr val="A4A3A4"/>
          </p15:clr>
        </p15:guide>
      </p15:sldGuideLst>
    </p:ext>
    <p:ext uri="{505F2C04-C923-438B-8C0F-E0CD2BADF298}">
      <wppc:fontMiss xmlns="" xmlns:wppc="http://www.wps.cn/officeDocument/PresentationCustomData" type="true"/>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CC"/>
    <a:srgbClr val="A50021"/>
    <a:srgbClr val="3333FF"/>
    <a:srgbClr val="993366"/>
    <a:srgbClr val="CCFFFF"/>
    <a:srgbClr val="66FFFF"/>
    <a:srgbClr val="996600"/>
    <a:srgbClr val="C0C0C0"/>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33" autoAdjust="0"/>
    <p:restoredTop sz="94660"/>
  </p:normalViewPr>
  <p:slideViewPr>
    <p:cSldViewPr showGuides="1">
      <p:cViewPr varScale="1">
        <p:scale>
          <a:sx n="55" d="100"/>
          <a:sy n="55" d="100"/>
        </p:scale>
        <p:origin x="48" y="686"/>
      </p:cViewPr>
      <p:guideLst>
        <p:guide orient="horz" pos="2048"/>
        <p:guide pos="2830"/>
      </p:guideLst>
    </p:cSldViewPr>
  </p:slideViewPr>
  <p:notesTextViewPr>
    <p:cViewPr>
      <p:scale>
        <a:sx n="1" d="1"/>
        <a:sy n="1" d="1"/>
      </p:scale>
      <p:origin x="0" y="0"/>
    </p:cViewPr>
  </p:notesTextViewPr>
  <p:gridSpacing cx="72005" cy="72005"/>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image" Target="../media/image3.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9.wmf"/><Relationship Id="rId7" Type="http://schemas.openxmlformats.org/officeDocument/2006/relationships/image" Target="../media/image13.wmf"/><Relationship Id="rId2" Type="http://schemas.openxmlformats.org/officeDocument/2006/relationships/image" Target="../media/image8.wmf"/><Relationship Id="rId1" Type="http://schemas.openxmlformats.org/officeDocument/2006/relationships/image" Target="../media/image7.wmf"/><Relationship Id="rId6" Type="http://schemas.openxmlformats.org/officeDocument/2006/relationships/image" Target="../media/image12.wmf"/><Relationship Id="rId5" Type="http://schemas.openxmlformats.org/officeDocument/2006/relationships/image" Target="../media/image11.wmf"/><Relationship Id="rId4" Type="http://schemas.openxmlformats.org/officeDocument/2006/relationships/image" Target="../media/image10.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 Id="rId4" Type="http://schemas.openxmlformats.org/officeDocument/2006/relationships/image" Target="../media/image17.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 Id="rId4" Type="http://schemas.openxmlformats.org/officeDocument/2006/relationships/image" Target="../media/image21.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 Id="rId5" Type="http://schemas.openxmlformats.org/officeDocument/2006/relationships/image" Target="../media/image26.wmf"/><Relationship Id="rId4" Type="http://schemas.openxmlformats.org/officeDocument/2006/relationships/image" Target="../media/image25.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2020/1/1</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p:cNvSpPr>
          <p:nvPr>
            <p:ph type="hdr" sz="quarter"/>
          </p:nvPr>
        </p:nvSpPr>
        <p:spPr>
          <a:xfrm>
            <a:off x="0" y="0"/>
            <a:ext cx="2971800" cy="457200"/>
          </a:xfrm>
          <a:prstGeom prst="rect">
            <a:avLst/>
          </a:prstGeom>
          <a:noFill/>
          <a:ln w="9525">
            <a:noFill/>
            <a:miter/>
          </a:ln>
        </p:spPr>
        <p:txBody>
          <a:bodyPr/>
          <a:lstStyle/>
          <a:p>
            <a:pPr lvl="0" algn="l" eaLnBrk="1" fontAlgn="base" hangingPunct="1"/>
            <a:endParaRPr lang="zh-CN" altLang="en-US" sz="1200" strike="noStrike" noProof="1">
              <a:ea typeface="宋体" panose="02010600030101010101" pitchFamily="2" charset="-122"/>
            </a:endParaRPr>
          </a:p>
        </p:txBody>
      </p:sp>
      <p:sp>
        <p:nvSpPr>
          <p:cNvPr id="2051" name="Rectangle 3"/>
          <p:cNvSpPr>
            <a:spLocks noGrp="1"/>
          </p:cNvSpPr>
          <p:nvPr>
            <p:ph type="dt" idx="1"/>
          </p:nvPr>
        </p:nvSpPr>
        <p:spPr>
          <a:xfrm>
            <a:off x="3886200" y="0"/>
            <a:ext cx="2971800" cy="457200"/>
          </a:xfrm>
          <a:prstGeom prst="rect">
            <a:avLst/>
          </a:prstGeom>
          <a:noFill/>
          <a:ln w="9525">
            <a:noFill/>
            <a:miter/>
          </a:ln>
        </p:spPr>
        <p:txBody>
          <a:bodyPr/>
          <a:lstStyle/>
          <a:p>
            <a:pPr lvl="0" algn="r" eaLnBrk="1" fontAlgn="base" hangingPunct="1"/>
            <a:endParaRPr lang="en-US" altLang="x-none" sz="1200" strike="noStrike" noProof="1">
              <a:ea typeface="宋体" panose="02010600030101010101" pitchFamily="2" charset="-122"/>
            </a:endParaRPr>
          </a:p>
        </p:txBody>
      </p:sp>
      <p:sp>
        <p:nvSpPr>
          <p:cNvPr id="2052" name="Rectangle 4"/>
          <p:cNvSpPr>
            <a:spLocks noGrp="1" noRot="1" noChangeAspect="1"/>
          </p:cNvSpPr>
          <p:nvPr>
            <p:ph type="sldImg"/>
          </p:nvPr>
        </p:nvSpPr>
        <p:spPr>
          <a:xfrm>
            <a:off x="1143000" y="685800"/>
            <a:ext cx="4572000" cy="3429000"/>
          </a:xfrm>
          <a:prstGeom prst="rect">
            <a:avLst/>
          </a:prstGeom>
          <a:noFill/>
          <a:ln w="9525">
            <a:noFill/>
          </a:ln>
        </p:spPr>
      </p:sp>
      <p:sp>
        <p:nvSpPr>
          <p:cNvPr id="2053" name="Rectangle 5"/>
          <p:cNvSpPr>
            <a:spLocks noGrp="1"/>
          </p:cNvSpPr>
          <p:nvPr>
            <p:ph type="body" sz="quarter"/>
          </p:nvPr>
        </p:nvSpPr>
        <p:spPr>
          <a:xfrm>
            <a:off x="914400" y="4343400"/>
            <a:ext cx="5029200" cy="4114800"/>
          </a:xfrm>
          <a:prstGeom prst="rect">
            <a:avLst/>
          </a:prstGeom>
          <a:noFill/>
          <a:ln w="9525">
            <a:noFill/>
          </a:ln>
        </p:spPr>
        <p:txBody>
          <a:bodyPr anchor="ctr"/>
          <a:lstStyle/>
          <a:p>
            <a:pPr lvl="0"/>
            <a:r>
              <a:rPr lang="zh-CN" altLang="en-US" dirty="0"/>
              <a:t>单击此处编辑母版文本样式</a:t>
            </a:r>
          </a:p>
          <a:p>
            <a:pPr lvl="1" indent="0"/>
            <a:r>
              <a:rPr lang="zh-CN" altLang="en-US" dirty="0"/>
              <a:t>第二级</a:t>
            </a:r>
          </a:p>
          <a:p>
            <a:pPr lvl="2" indent="0"/>
            <a:r>
              <a:rPr lang="zh-CN" altLang="en-US" dirty="0"/>
              <a:t>第三级</a:t>
            </a:r>
          </a:p>
          <a:p>
            <a:pPr lvl="3" indent="0"/>
            <a:r>
              <a:rPr lang="zh-CN" altLang="en-US" dirty="0"/>
              <a:t>第四级</a:t>
            </a:r>
          </a:p>
          <a:p>
            <a:pPr lvl="4" indent="0"/>
            <a:r>
              <a:rPr lang="zh-CN" altLang="en-US" dirty="0"/>
              <a:t>第五级</a:t>
            </a:r>
          </a:p>
        </p:txBody>
      </p:sp>
      <p:sp>
        <p:nvSpPr>
          <p:cNvPr id="2054" name="Rectangle 6"/>
          <p:cNvSpPr>
            <a:spLocks noGrp="1"/>
          </p:cNvSpPr>
          <p:nvPr>
            <p:ph type="ftr" sz="quarter" idx="4"/>
          </p:nvPr>
        </p:nvSpPr>
        <p:spPr>
          <a:xfrm>
            <a:off x="0" y="8686800"/>
            <a:ext cx="2971800" cy="457200"/>
          </a:xfrm>
          <a:prstGeom prst="rect">
            <a:avLst/>
          </a:prstGeom>
          <a:noFill/>
          <a:ln w="9525">
            <a:noFill/>
            <a:miter/>
          </a:ln>
        </p:spPr>
        <p:txBody>
          <a:bodyPr anchor="b"/>
          <a:lstStyle/>
          <a:p>
            <a:pPr lvl="0" algn="l" eaLnBrk="1" fontAlgn="base" hangingPunct="1"/>
            <a:endParaRPr lang="en-US" altLang="x-none" sz="1200" strike="noStrike" noProof="1">
              <a:ea typeface="宋体" panose="02010600030101010101" pitchFamily="2" charset="-122"/>
            </a:endParaRPr>
          </a:p>
        </p:txBody>
      </p:sp>
      <p:sp>
        <p:nvSpPr>
          <p:cNvPr id="2055" name="Rectangle 7"/>
          <p:cNvSpPr>
            <a:spLocks noGrp="1"/>
          </p:cNvSpPr>
          <p:nvPr>
            <p:ph type="sldNum" sz="quarter" idx="5"/>
          </p:nvPr>
        </p:nvSpPr>
        <p:spPr>
          <a:xfrm>
            <a:off x="3886200" y="8686800"/>
            <a:ext cx="2971800" cy="457200"/>
          </a:xfrm>
          <a:prstGeom prst="rect">
            <a:avLst/>
          </a:prstGeom>
          <a:noFill/>
          <a:ln w="9525">
            <a:noFill/>
            <a:miter/>
          </a:ln>
        </p:spPr>
        <p:txBody>
          <a:bodyPr anchor="b"/>
          <a:lstStyle/>
          <a:p>
            <a:pPr lvl="0" algn="r" eaLnBrk="1" fontAlgn="base" hangingPunct="1"/>
            <a:fld id="{9A0DB2DC-4C9A-4742-B13C-FB6460FD3503}" type="slidenum">
              <a:rPr lang="zh-CN" altLang="en-US" sz="1200" strike="noStrike" noProof="1" dirty="0">
                <a:latin typeface="Times New Roman" panose="02020603050405020304" pitchFamily="2" charset="0"/>
                <a:ea typeface="宋体" panose="02010600030101010101" pitchFamily="2" charset="-122"/>
                <a:cs typeface="+mn-ea"/>
              </a:rPr>
              <a:t>‹#›</a:t>
            </a:fld>
            <a:endParaRPr lang="en-US" altLang="x-none" sz="1200" strike="noStrike" noProof="1">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marL="0" lvl="0" indent="0" algn="l" defTabSz="914400" eaLnBrk="0" fontAlgn="base" latinLnBrk="0" hangingPunct="0">
      <a:lnSpc>
        <a:spcPct val="100000"/>
      </a:lnSpc>
      <a:spcBef>
        <a:spcPct val="30000"/>
      </a:spcBef>
      <a:spcAft>
        <a:spcPct val="0"/>
      </a:spcAft>
      <a:buNone/>
      <a:defRPr sz="1200" b="0" u="none" kern="1200" baseline="0">
        <a:solidFill>
          <a:schemeClr val="tx1"/>
        </a:solidFill>
        <a:latin typeface="+mn-lt"/>
        <a:ea typeface="+mn-ea"/>
        <a:cs typeface="+mn-cs"/>
      </a:defRPr>
    </a:lvl1pPr>
    <a:lvl2pPr marL="457200" lvl="1" indent="0" algn="l" defTabSz="914400" eaLnBrk="0" fontAlgn="base" latinLnBrk="0" hangingPunct="0">
      <a:lnSpc>
        <a:spcPct val="100000"/>
      </a:lnSpc>
      <a:spcBef>
        <a:spcPct val="30000"/>
      </a:spcBef>
      <a:spcAft>
        <a:spcPct val="0"/>
      </a:spcAft>
      <a:buNone/>
      <a:defRPr sz="1200" b="0" u="none" kern="1200" baseline="0">
        <a:solidFill>
          <a:schemeClr val="tx1"/>
        </a:solidFill>
        <a:latin typeface="+mn-lt"/>
        <a:ea typeface="+mn-ea"/>
        <a:cs typeface="+mn-cs"/>
      </a:defRPr>
    </a:lvl2pPr>
    <a:lvl3pPr marL="914400" lvl="2" indent="0" algn="l" defTabSz="914400" eaLnBrk="0" fontAlgn="base" latinLnBrk="0" hangingPunct="0">
      <a:lnSpc>
        <a:spcPct val="100000"/>
      </a:lnSpc>
      <a:spcBef>
        <a:spcPct val="30000"/>
      </a:spcBef>
      <a:spcAft>
        <a:spcPct val="0"/>
      </a:spcAft>
      <a:buNone/>
      <a:defRPr sz="1200" b="0" u="none" kern="1200" baseline="0">
        <a:solidFill>
          <a:schemeClr val="tx1"/>
        </a:solidFill>
        <a:latin typeface="+mn-lt"/>
        <a:ea typeface="+mn-ea"/>
        <a:cs typeface="+mn-cs"/>
      </a:defRPr>
    </a:lvl3pPr>
    <a:lvl4pPr marL="1371600" lvl="3" indent="0" algn="l" defTabSz="914400" eaLnBrk="0" fontAlgn="base" latinLnBrk="0" hangingPunct="0">
      <a:lnSpc>
        <a:spcPct val="100000"/>
      </a:lnSpc>
      <a:spcBef>
        <a:spcPct val="30000"/>
      </a:spcBef>
      <a:spcAft>
        <a:spcPct val="0"/>
      </a:spcAft>
      <a:buNone/>
      <a:defRPr sz="1200" b="0" u="none" kern="1200" baseline="0">
        <a:solidFill>
          <a:schemeClr val="tx1"/>
        </a:solidFill>
        <a:latin typeface="+mn-lt"/>
        <a:ea typeface="+mn-ea"/>
        <a:cs typeface="+mn-cs"/>
      </a:defRPr>
    </a:lvl4pPr>
    <a:lvl5pPr marL="1828800" lvl="4" indent="0" algn="l" defTabSz="914400" eaLnBrk="0" fontAlgn="base" latinLnBrk="0" hangingPunct="0">
      <a:lnSpc>
        <a:spcPct val="100000"/>
      </a:lnSpc>
      <a:spcBef>
        <a:spcPct val="30000"/>
      </a:spcBef>
      <a:spcAft>
        <a:spcPct val="0"/>
      </a:spcAft>
      <a:buNone/>
      <a:defRPr sz="1200" b="0" u="none" kern="1200" baseline="0">
        <a:solidFill>
          <a:schemeClr val="tx1"/>
        </a:solidFill>
        <a:latin typeface="+mn-lt"/>
        <a:ea typeface="+mn-ea"/>
        <a:cs typeface="+mn-cs"/>
      </a:defRPr>
    </a:lvl5pPr>
    <a:lvl6pPr marL="2286000" lvl="5" indent="0" algn="l" defTabSz="914400" eaLnBrk="0" fontAlgn="base" latinLnBrk="0" hangingPunct="0">
      <a:lnSpc>
        <a:spcPct val="100000"/>
      </a:lnSpc>
      <a:spcBef>
        <a:spcPct val="30000"/>
      </a:spcBef>
      <a:spcAft>
        <a:spcPct val="0"/>
      </a:spcAft>
      <a:buNone/>
      <a:defRPr sz="1200" b="0" u="none" kern="1200" baseline="0">
        <a:solidFill>
          <a:schemeClr val="tx1"/>
        </a:solidFill>
        <a:latin typeface="+mn-lt"/>
        <a:ea typeface="+mn-ea"/>
        <a:cs typeface="+mn-cs"/>
      </a:defRPr>
    </a:lvl6pPr>
    <a:lvl7pPr marL="2743200" lvl="6" indent="0" algn="l" defTabSz="914400" eaLnBrk="0" fontAlgn="base" latinLnBrk="0" hangingPunct="0">
      <a:lnSpc>
        <a:spcPct val="100000"/>
      </a:lnSpc>
      <a:spcBef>
        <a:spcPct val="30000"/>
      </a:spcBef>
      <a:spcAft>
        <a:spcPct val="0"/>
      </a:spcAft>
      <a:buNone/>
      <a:defRPr sz="1200" b="0" u="none" kern="1200" baseline="0">
        <a:solidFill>
          <a:schemeClr val="tx1"/>
        </a:solidFill>
        <a:latin typeface="+mn-lt"/>
        <a:ea typeface="+mn-ea"/>
        <a:cs typeface="+mn-cs"/>
      </a:defRPr>
    </a:lvl7pPr>
    <a:lvl8pPr marL="3200400" lvl="7" indent="0" algn="l" defTabSz="914400" eaLnBrk="0" fontAlgn="base" latinLnBrk="0" hangingPunct="0">
      <a:lnSpc>
        <a:spcPct val="100000"/>
      </a:lnSpc>
      <a:spcBef>
        <a:spcPct val="30000"/>
      </a:spcBef>
      <a:spcAft>
        <a:spcPct val="0"/>
      </a:spcAft>
      <a:buNone/>
      <a:defRPr sz="1200" b="0" u="none" kern="1200" baseline="0">
        <a:solidFill>
          <a:schemeClr val="tx1"/>
        </a:solidFill>
        <a:latin typeface="+mn-lt"/>
        <a:ea typeface="+mn-ea"/>
        <a:cs typeface="+mn-cs"/>
      </a:defRPr>
    </a:lvl8pPr>
    <a:lvl9pPr marL="3657600" lvl="8" indent="0" algn="l" defTabSz="914400" eaLnBrk="0" fontAlgn="base" latinLnBrk="0" hangingPunct="0">
      <a:lnSpc>
        <a:spcPct val="100000"/>
      </a:lnSpc>
      <a:spcBef>
        <a:spcPct val="30000"/>
      </a:spcBef>
      <a:spcAft>
        <a:spcPct val="0"/>
      </a:spcAft>
      <a:buNone/>
      <a:defRPr sz="1200" b="0" u="none" kern="1200" baseline="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en-US" altLang="zh-CN"/>
              <a:t>XZ </a:t>
            </a:r>
            <a:r>
              <a:rPr lang="zh-CN" altLang="en-US"/>
              <a:t>是集合</a:t>
            </a:r>
            <a:r>
              <a:rPr lang="en-US" altLang="zh-CN"/>
              <a:t>X</a:t>
            </a:r>
            <a:r>
              <a:rPr lang="zh-CN" altLang="en-US"/>
              <a:t>和集合</a:t>
            </a:r>
            <a:r>
              <a:rPr lang="en-US" altLang="zh-CN"/>
              <a:t>Z</a:t>
            </a:r>
            <a:r>
              <a:rPr lang="zh-CN" altLang="en-US"/>
              <a:t>的并集，</a:t>
            </a:r>
            <a:r>
              <a:rPr lang="zh-CN" altLang="zh-CN"/>
              <a:t>是  </a:t>
            </a:r>
            <a:r>
              <a:rPr lang="en-US" altLang="zh-CN"/>
              <a:t>X</a:t>
            </a:r>
            <a:r>
              <a:rPr lang="en-US" altLang="zh-CN">
                <a:latin typeface="微软雅黑" panose="020B0503020204020204" charset="-122"/>
                <a:ea typeface="微软雅黑" panose="020B0503020204020204" charset="-122"/>
              </a:rPr>
              <a:t>∪Z </a:t>
            </a:r>
            <a:r>
              <a:rPr lang="zh-CN" altLang="en-US">
                <a:latin typeface="微软雅黑" panose="020B0503020204020204" charset="-122"/>
                <a:ea typeface="微软雅黑" panose="020B0503020204020204" charset="-122"/>
              </a:rPr>
              <a:t>的一种简化表示</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en-US" altLang="zh-CN"/>
              <a:t>List a minimal set of functional dependencies satisfied by the table, below, where we assume that it is the intent of the designer that exactly this set of rows lies in the table. Once again, we point out that it is unusual to derive FDs from the content of a table. Normally we determine functional dependencies from understanding the data items and rules of the enterprise.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en-US" altLang="zh-CN"/>
              <a:t>List a minimal set of functional dependencies satisfied by the table, below, where we assume that it is the intent of the designer that exactly this set of rows lies in the table. Once again, we point out that it is unusual to derive FDs from the content of a table. Normally we determine functional dependencies from understanding the data items and rules of the enterprise.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zh-CN"/>
              <a:t>采用由简单到复杂的思路，首先考虑单个属性之间的函数依赖（共</a:t>
            </a:r>
            <a:r>
              <a:rPr lang="en-US" altLang="zh-CN"/>
              <a:t>12</a:t>
            </a:r>
            <a:r>
              <a:rPr lang="zh-CN" altLang="en-US"/>
              <a:t>种情况）</a:t>
            </a:r>
            <a:r>
              <a:rPr lang="zh-CN" altLang="zh-CN"/>
              <a:t>。</a:t>
            </a:r>
            <a:r>
              <a:rPr lang="zh-CN" altLang="zh-CN">
                <a:sym typeface="+mn-ea"/>
              </a:rPr>
              <a:t>（注：不考虑应用 </a:t>
            </a:r>
            <a:r>
              <a:rPr lang="en-US" altLang="zh-CN">
                <a:sym typeface="+mn-ea"/>
              </a:rPr>
              <a:t>Inclusion rule </a:t>
            </a:r>
            <a:r>
              <a:rPr lang="zh-CN" altLang="zh-CN">
                <a:sym typeface="+mn-ea"/>
              </a:rPr>
              <a:t>可以得到的平凡函数依赖）</a:t>
            </a:r>
          </a:p>
          <a:p>
            <a:r>
              <a:rPr lang="zh-CN" altLang="zh-CN"/>
              <a:t>具体思考过程如下：</a:t>
            </a:r>
          </a:p>
          <a:p>
            <a:r>
              <a:rPr lang="en-US" altLang="zh-CN"/>
              <a:t>1</a:t>
            </a:r>
            <a:r>
              <a:rPr lang="zh-CN" altLang="en-US"/>
              <a:t>、根据各个属性上的取值分布情况，可以快速排除或确认某些函数依赖（如下所述）</a:t>
            </a:r>
          </a:p>
          <a:p>
            <a:r>
              <a:rPr lang="en-US" altLang="zh-CN"/>
              <a:t>2</a:t>
            </a:r>
            <a:r>
              <a:rPr lang="zh-CN" altLang="en-US"/>
              <a:t>、因为</a:t>
            </a:r>
            <a:r>
              <a:rPr lang="en-US" altLang="zh-CN"/>
              <a:t>“</a:t>
            </a:r>
            <a:r>
              <a:rPr lang="zh-CN" altLang="en-US"/>
              <a:t>所有元组在属性</a:t>
            </a:r>
            <a:r>
              <a:rPr lang="en-US" altLang="zh-CN"/>
              <a:t>B</a:t>
            </a:r>
            <a:r>
              <a:rPr lang="zh-CN" altLang="en-US"/>
              <a:t>上的取值都相等，在其他属性上都有取值不等的情况</a:t>
            </a:r>
            <a:r>
              <a:rPr lang="en-US" altLang="zh-CN"/>
              <a:t>”</a:t>
            </a:r>
            <a:r>
              <a:rPr lang="zh-CN" altLang="en-US"/>
              <a:t>，因此有如下结论：</a:t>
            </a:r>
          </a:p>
          <a:p>
            <a:r>
              <a:rPr lang="zh-CN" altLang="en-US"/>
              <a:t>      </a:t>
            </a:r>
            <a:r>
              <a:rPr lang="en-US" altLang="zh-CN"/>
              <a:t>1</a:t>
            </a:r>
            <a:r>
              <a:rPr lang="zh-CN" altLang="en-US"/>
              <a:t>）所有</a:t>
            </a:r>
            <a:r>
              <a:rPr lang="en-US" altLang="zh-CN"/>
              <a:t>‘</a:t>
            </a:r>
            <a:r>
              <a:rPr lang="zh-CN" altLang="en-US"/>
              <a:t>以</a:t>
            </a:r>
            <a:r>
              <a:rPr lang="en-US" altLang="zh-CN"/>
              <a:t>B</a:t>
            </a:r>
            <a:r>
              <a:rPr lang="zh-CN" altLang="en-US"/>
              <a:t>作为决定因素</a:t>
            </a:r>
            <a:r>
              <a:rPr lang="en-US" altLang="zh-CN"/>
              <a:t>’</a:t>
            </a:r>
            <a:r>
              <a:rPr lang="zh-CN" altLang="en-US"/>
              <a:t>的函数依赖都不成立；     </a:t>
            </a:r>
            <a:r>
              <a:rPr lang="en-US" altLang="zh-CN"/>
              <a:t>2</a:t>
            </a:r>
            <a:r>
              <a:rPr lang="zh-CN" altLang="en-US"/>
              <a:t>）所有</a:t>
            </a:r>
            <a:r>
              <a:rPr lang="en-US" altLang="zh-CN"/>
              <a:t>‘</a:t>
            </a:r>
            <a:r>
              <a:rPr lang="zh-CN" altLang="en-US"/>
              <a:t>以</a:t>
            </a:r>
            <a:r>
              <a:rPr lang="en-US" altLang="zh-CN"/>
              <a:t>B</a:t>
            </a:r>
            <a:r>
              <a:rPr lang="zh-CN" altLang="en-US"/>
              <a:t>作为依赖因素</a:t>
            </a:r>
            <a:r>
              <a:rPr lang="en-US" altLang="zh-CN"/>
              <a:t>’</a:t>
            </a:r>
            <a:r>
              <a:rPr lang="zh-CN" altLang="en-US"/>
              <a:t>的函数依赖都成立。</a:t>
            </a:r>
          </a:p>
          <a:p>
            <a:r>
              <a:rPr lang="en-US" altLang="zh-CN"/>
              <a:t>3</a:t>
            </a:r>
            <a:r>
              <a:rPr lang="zh-CN" altLang="en-US"/>
              <a:t>、对剩下的另外</a:t>
            </a:r>
            <a:r>
              <a:rPr lang="en-US" altLang="zh-CN"/>
              <a:t>6</a:t>
            </a:r>
            <a:r>
              <a:rPr lang="zh-CN" altLang="en-US"/>
              <a:t>种情况，分别用函数依赖的定义进行检查。例如：对于</a:t>
            </a:r>
            <a:r>
              <a:rPr lang="en-US" altLang="zh-CN"/>
              <a:t>A</a:t>
            </a:r>
            <a:r>
              <a:rPr lang="en-US" altLang="zh-CN">
                <a:cs typeface="宋体" panose="02010600030101010101" pitchFamily="2" charset="-122"/>
              </a:rPr>
              <a:t>→C</a:t>
            </a:r>
            <a:r>
              <a:rPr lang="zh-CN" altLang="en-US">
                <a:cs typeface="宋体" panose="02010600030101010101" pitchFamily="2" charset="-122"/>
              </a:rPr>
              <a:t>，如果能够从该关系中找到</a:t>
            </a:r>
            <a:r>
              <a:rPr lang="en-US" altLang="zh-CN">
                <a:cs typeface="宋体" panose="02010600030101010101" pitchFamily="2" charset="-122"/>
              </a:rPr>
              <a:t>‘</a:t>
            </a:r>
            <a:r>
              <a:rPr lang="zh-CN" altLang="en-US">
                <a:cs typeface="宋体" panose="02010600030101010101" pitchFamily="2" charset="-122"/>
              </a:rPr>
              <a:t>反例</a:t>
            </a:r>
            <a:r>
              <a:rPr lang="en-US" altLang="zh-CN">
                <a:cs typeface="宋体" panose="02010600030101010101" pitchFamily="2" charset="-122"/>
              </a:rPr>
              <a:t>’</a:t>
            </a:r>
            <a:r>
              <a:rPr lang="zh-CN" altLang="en-US">
                <a:cs typeface="宋体" panose="02010600030101010101" pitchFamily="2" charset="-122"/>
              </a:rPr>
              <a:t>（即找到两个元组，它们在</a:t>
            </a:r>
            <a:r>
              <a:rPr lang="en-US" altLang="zh-CN">
                <a:cs typeface="宋体" panose="02010600030101010101" pitchFamily="2" charset="-122"/>
              </a:rPr>
              <a:t>A</a:t>
            </a:r>
            <a:r>
              <a:rPr lang="zh-CN" altLang="en-US">
                <a:cs typeface="宋体" panose="02010600030101010101" pitchFamily="2" charset="-122"/>
              </a:rPr>
              <a:t>上的取值相同但在</a:t>
            </a:r>
            <a:r>
              <a:rPr lang="en-US" altLang="zh-CN">
                <a:cs typeface="宋体" panose="02010600030101010101" pitchFamily="2" charset="-122"/>
              </a:rPr>
              <a:t>C</a:t>
            </a:r>
            <a:r>
              <a:rPr lang="zh-CN" altLang="en-US">
                <a:cs typeface="宋体" panose="02010600030101010101" pitchFamily="2" charset="-122"/>
              </a:rPr>
              <a:t>上的取值不同），则</a:t>
            </a:r>
            <a:r>
              <a:rPr lang="en-US" altLang="zh-CN">
                <a:cs typeface="宋体" panose="02010600030101010101" pitchFamily="2" charset="-122"/>
              </a:rPr>
              <a:t>A</a:t>
            </a:r>
            <a:r>
              <a:rPr lang="en-US" altLang="zh-CN">
                <a:cs typeface="宋体" panose="02010600030101010101" pitchFamily="2" charset="-122"/>
                <a:sym typeface="+mn-ea"/>
              </a:rPr>
              <a:t>→C</a:t>
            </a:r>
            <a:r>
              <a:rPr lang="zh-CN" altLang="en-US">
                <a:cs typeface="宋体" panose="02010600030101010101" pitchFamily="2" charset="-122"/>
                <a:sym typeface="+mn-ea"/>
              </a:rPr>
              <a:t>不成立；否则（即找不到反例），则</a:t>
            </a:r>
            <a:r>
              <a:rPr lang="en-US" altLang="zh-CN">
                <a:sym typeface="+mn-ea"/>
              </a:rPr>
              <a:t>A</a:t>
            </a:r>
            <a:r>
              <a:rPr lang="en-US" altLang="zh-CN">
                <a:cs typeface="宋体" panose="02010600030101010101" pitchFamily="2" charset="-122"/>
                <a:sym typeface="+mn-ea"/>
              </a:rPr>
              <a:t>→C</a:t>
            </a:r>
            <a:r>
              <a:rPr lang="zh-CN" altLang="en-US">
                <a:cs typeface="宋体" panose="02010600030101010101" pitchFamily="2" charset="-122"/>
                <a:sym typeface="+mn-ea"/>
              </a:rPr>
              <a:t>成立。</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还有一种情况，能够帮助我们快速确认某些函数依赖。</a:t>
            </a:r>
          </a:p>
          <a:p>
            <a:r>
              <a:rPr lang="zh-CN" altLang="en-US"/>
              <a:t>在本例中，任意两个元组在属性</a:t>
            </a:r>
            <a:r>
              <a:rPr lang="en-US" altLang="zh-CN"/>
              <a:t>D</a:t>
            </a:r>
            <a:r>
              <a:rPr lang="zh-CN" altLang="en-US"/>
              <a:t>上的取值都不相等（即属性</a:t>
            </a:r>
            <a:r>
              <a:rPr lang="en-US" altLang="zh-CN"/>
              <a:t>D</a:t>
            </a:r>
            <a:r>
              <a:rPr lang="zh-CN" altLang="en-US"/>
              <a:t>的取值，在该关系中具有唯一性），那么，所有</a:t>
            </a:r>
            <a:r>
              <a:rPr lang="en-US" altLang="zh-CN"/>
              <a:t>‘</a:t>
            </a:r>
            <a:r>
              <a:rPr lang="zh-CN" altLang="en-US"/>
              <a:t>以属性</a:t>
            </a:r>
            <a:r>
              <a:rPr lang="en-US" altLang="zh-CN"/>
              <a:t>D</a:t>
            </a:r>
            <a:r>
              <a:rPr lang="zh-CN" altLang="en-US"/>
              <a:t>作为决定因素</a:t>
            </a:r>
            <a:r>
              <a:rPr lang="en-US" altLang="zh-CN"/>
              <a:t>’</a:t>
            </a:r>
            <a:r>
              <a:rPr lang="zh-CN" altLang="en-US"/>
              <a:t>的函数都成立！（因为找不到</a:t>
            </a:r>
            <a:r>
              <a:rPr lang="en-US" altLang="zh-CN"/>
              <a:t>‘</a:t>
            </a:r>
            <a:r>
              <a:rPr lang="zh-CN" altLang="en-US"/>
              <a:t>不满足函数依赖要求</a:t>
            </a:r>
            <a:r>
              <a:rPr lang="en-US" altLang="zh-CN"/>
              <a:t>’</a:t>
            </a:r>
            <a:r>
              <a:rPr lang="zh-CN" altLang="en-US"/>
              <a:t>的一对元组）</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第一，为了简化工作，这里不需要考虑右边的依赖因素是</a:t>
            </a:r>
            <a:r>
              <a:rPr lang="en-US" altLang="zh-CN"/>
              <a:t>‘</a:t>
            </a:r>
            <a:r>
              <a:rPr lang="zh-CN" altLang="en-US"/>
              <a:t>多个属性</a:t>
            </a:r>
            <a:r>
              <a:rPr lang="en-US" altLang="zh-CN"/>
              <a:t>’</a:t>
            </a:r>
            <a:r>
              <a:rPr lang="zh-CN" altLang="en-US"/>
              <a:t>的情况！（原因：如果存在这样的函数依赖，那么一定可以通过我们所找到的右边是单个属性的函数依赖，然后调用</a:t>
            </a:r>
            <a:r>
              <a:rPr lang="en-US" altLang="zh-CN"/>
              <a:t>‘</a:t>
            </a:r>
            <a:r>
              <a:rPr lang="zh-CN" altLang="en-US"/>
              <a:t>合并规则</a:t>
            </a:r>
            <a:r>
              <a:rPr lang="en-US" altLang="zh-CN"/>
              <a:t>’</a:t>
            </a:r>
            <a:r>
              <a:rPr lang="zh-CN" altLang="en-US"/>
              <a:t>推理得到）</a:t>
            </a:r>
          </a:p>
          <a:p>
            <a:endParaRPr lang="zh-CN" altLang="en-US"/>
          </a:p>
          <a:p>
            <a:r>
              <a:rPr lang="zh-CN" altLang="en-US"/>
              <a:t>第二，在本例中</a:t>
            </a:r>
          </a:p>
          <a:p>
            <a:r>
              <a:rPr lang="zh-CN" altLang="en-US"/>
              <a:t>    </a:t>
            </a:r>
            <a:r>
              <a:rPr lang="en-US" altLang="zh-CN"/>
              <a:t>1</a:t>
            </a:r>
            <a:r>
              <a:rPr lang="zh-CN" altLang="en-US"/>
              <a:t>）如果左边含属性</a:t>
            </a:r>
            <a:r>
              <a:rPr lang="en-US" altLang="zh-CN"/>
              <a:t>D</a:t>
            </a:r>
            <a:r>
              <a:rPr lang="zh-CN" altLang="en-US"/>
              <a:t>，那么这样的函数依赖肯定成立，且</a:t>
            </a:r>
            <a:r>
              <a:rPr lang="en-US" altLang="zh-CN"/>
              <a:t>/</a:t>
            </a:r>
            <a:r>
              <a:rPr lang="zh-CN" altLang="en-US"/>
              <a:t>但  可以通过我们已经找到的</a:t>
            </a:r>
            <a:r>
              <a:rPr lang="en-US" altLang="zh-CN"/>
              <a:t>D</a:t>
            </a:r>
            <a:r>
              <a:rPr lang="en-US" altLang="zh-CN">
                <a:cs typeface="宋体" panose="02010600030101010101" pitchFamily="2" charset="-122"/>
              </a:rPr>
              <a:t>→ABC</a:t>
            </a:r>
            <a:r>
              <a:rPr lang="zh-CN" altLang="en-US">
                <a:cs typeface="宋体" panose="02010600030101010101" pitchFamily="2" charset="-122"/>
              </a:rPr>
              <a:t>推导得到；</a:t>
            </a:r>
          </a:p>
          <a:p>
            <a:r>
              <a:rPr lang="zh-CN" altLang="en-US">
                <a:cs typeface="宋体" panose="02010600030101010101" pitchFamily="2" charset="-122"/>
              </a:rPr>
              <a:t>    </a:t>
            </a:r>
            <a:r>
              <a:rPr lang="en-US" altLang="zh-CN">
                <a:cs typeface="宋体" panose="02010600030101010101" pitchFamily="2" charset="-122"/>
              </a:rPr>
              <a:t>2</a:t>
            </a:r>
            <a:r>
              <a:rPr lang="zh-CN" altLang="en-US">
                <a:cs typeface="宋体" panose="02010600030101010101" pitchFamily="2" charset="-122"/>
              </a:rPr>
              <a:t>）如果存在一个左边含属性</a:t>
            </a:r>
            <a:r>
              <a:rPr lang="en-US" altLang="zh-CN">
                <a:cs typeface="宋体" panose="02010600030101010101" pitchFamily="2" charset="-122"/>
              </a:rPr>
              <a:t>B</a:t>
            </a:r>
            <a:r>
              <a:rPr lang="zh-CN" altLang="en-US">
                <a:cs typeface="宋体" panose="02010600030101010101" pitchFamily="2" charset="-122"/>
              </a:rPr>
              <a:t>的函数依赖</a:t>
            </a:r>
            <a:r>
              <a:rPr lang="en-US" altLang="zh-CN">
                <a:cs typeface="宋体" panose="02010600030101010101" pitchFamily="2" charset="-122"/>
              </a:rPr>
              <a:t>F1</a:t>
            </a:r>
            <a:r>
              <a:rPr lang="zh-CN" altLang="en-US">
                <a:cs typeface="宋体" panose="02010600030101010101" pitchFamily="2" charset="-122"/>
              </a:rPr>
              <a:t>，那么一定存在着另一个左边不含属性</a:t>
            </a:r>
            <a:r>
              <a:rPr lang="en-US" altLang="zh-CN">
                <a:cs typeface="宋体" panose="02010600030101010101" pitchFamily="2" charset="-122"/>
              </a:rPr>
              <a:t>B</a:t>
            </a:r>
            <a:r>
              <a:rPr lang="zh-CN" altLang="en-US">
                <a:cs typeface="宋体" panose="02010600030101010101" pitchFamily="2" charset="-122"/>
              </a:rPr>
              <a:t>的函数依赖</a:t>
            </a:r>
            <a:r>
              <a:rPr lang="en-US" altLang="zh-CN">
                <a:cs typeface="宋体" panose="02010600030101010101" pitchFamily="2" charset="-122"/>
              </a:rPr>
              <a:t>F2</a:t>
            </a:r>
            <a:r>
              <a:rPr lang="zh-CN" altLang="en-US">
                <a:cs typeface="宋体" panose="02010600030101010101" pitchFamily="2" charset="-122"/>
              </a:rPr>
              <a:t>，且可以由</a:t>
            </a:r>
            <a:r>
              <a:rPr lang="en-US" altLang="zh-CN">
                <a:cs typeface="宋体" panose="02010600030101010101" pitchFamily="2" charset="-122"/>
              </a:rPr>
              <a:t>F2</a:t>
            </a:r>
            <a:r>
              <a:rPr lang="zh-CN" altLang="en-US">
                <a:cs typeface="宋体" panose="02010600030101010101" pitchFamily="2" charset="-122"/>
              </a:rPr>
              <a:t>推导得到</a:t>
            </a:r>
            <a:r>
              <a:rPr lang="en-US" altLang="zh-CN">
                <a:cs typeface="宋体" panose="02010600030101010101" pitchFamily="2" charset="-122"/>
              </a:rPr>
              <a:t>F1</a:t>
            </a:r>
            <a:r>
              <a:rPr lang="zh-CN" altLang="en-US">
                <a:cs typeface="宋体" panose="02010600030101010101" pitchFamily="2" charset="-122"/>
              </a:rPr>
              <a:t>。</a:t>
            </a:r>
          </a:p>
          <a:p>
            <a:r>
              <a:rPr lang="zh-CN" altLang="en-US">
                <a:cs typeface="宋体" panose="02010600030101010101" pitchFamily="2" charset="-122"/>
              </a:rPr>
              <a:t>         在本例中，</a:t>
            </a:r>
            <a:r>
              <a:rPr lang="en-US" altLang="zh-CN">
                <a:cs typeface="宋体" panose="02010600030101010101" pitchFamily="2" charset="-122"/>
              </a:rPr>
              <a:t>BX→Y </a:t>
            </a:r>
            <a:r>
              <a:rPr lang="zh-CN" altLang="en-US">
                <a:cs typeface="宋体" panose="02010600030101010101" pitchFamily="2" charset="-122"/>
              </a:rPr>
              <a:t>和 </a:t>
            </a:r>
            <a:r>
              <a:rPr lang="en-US" altLang="zh-CN">
                <a:cs typeface="宋体" panose="02010600030101010101" pitchFamily="2" charset="-122"/>
              </a:rPr>
              <a:t>X→Y “</a:t>
            </a:r>
            <a:r>
              <a:rPr lang="zh-CN" altLang="en-US">
                <a:cs typeface="宋体" panose="02010600030101010101" pitchFamily="2" charset="-122"/>
              </a:rPr>
              <a:t>要么都成立，要么都不成立</a:t>
            </a:r>
            <a:r>
              <a:rPr lang="en-US" altLang="zh-CN">
                <a:cs typeface="宋体" panose="02010600030101010101" pitchFamily="2" charset="-122"/>
              </a:rPr>
              <a:t>”</a:t>
            </a:r>
            <a:r>
              <a:rPr lang="zh-CN" altLang="en-US">
                <a:cs typeface="宋体" panose="02010600030101010101" pitchFamily="2" charset="-122"/>
              </a:rPr>
              <a:t>！（因为：</a:t>
            </a:r>
            <a:r>
              <a:rPr lang="en-US" altLang="zh-CN">
                <a:cs typeface="宋体" panose="02010600030101010101" pitchFamily="2" charset="-122"/>
              </a:rPr>
              <a:t>B</a:t>
            </a:r>
            <a:r>
              <a:rPr lang="zh-CN" altLang="en-US">
                <a:cs typeface="宋体" panose="02010600030101010101" pitchFamily="2" charset="-122"/>
              </a:rPr>
              <a:t>的取值不变）</a:t>
            </a:r>
          </a:p>
          <a:p>
            <a:r>
              <a:rPr lang="zh-CN" altLang="en-US">
                <a:cs typeface="宋体" panose="02010600030101010101" pitchFamily="2" charset="-122"/>
              </a:rPr>
              <a:t>         如果</a:t>
            </a:r>
            <a:r>
              <a:rPr lang="en-US" altLang="zh-CN">
                <a:cs typeface="宋体" panose="02010600030101010101" pitchFamily="2" charset="-122"/>
              </a:rPr>
              <a:t>‘</a:t>
            </a:r>
            <a:r>
              <a:rPr lang="en-US" altLang="zh-CN">
                <a:cs typeface="宋体" panose="02010600030101010101" pitchFamily="2" charset="-122"/>
                <a:sym typeface="+mn-ea"/>
              </a:rPr>
              <a:t>X→Y </a:t>
            </a:r>
            <a:r>
              <a:rPr lang="zh-CN" altLang="en-US">
                <a:cs typeface="宋体" panose="02010600030101010101" pitchFamily="2" charset="-122"/>
                <a:sym typeface="+mn-ea"/>
              </a:rPr>
              <a:t>成立</a:t>
            </a:r>
            <a:r>
              <a:rPr lang="en-US" altLang="zh-CN">
                <a:cs typeface="宋体" panose="02010600030101010101" pitchFamily="2" charset="-122"/>
                <a:sym typeface="+mn-ea"/>
              </a:rPr>
              <a:t>’</a:t>
            </a:r>
            <a:r>
              <a:rPr lang="zh-CN" altLang="en-US">
                <a:cs typeface="宋体" panose="02010600030101010101" pitchFamily="2" charset="-122"/>
                <a:sym typeface="+mn-ea"/>
              </a:rPr>
              <a:t>，由 </a:t>
            </a:r>
            <a:r>
              <a:rPr lang="en-US" altLang="zh-CN">
                <a:cs typeface="宋体" panose="02010600030101010101" pitchFamily="2" charset="-122"/>
                <a:sym typeface="+mn-ea"/>
              </a:rPr>
              <a:t>BX→X </a:t>
            </a:r>
            <a:r>
              <a:rPr lang="zh-CN" altLang="en-US">
                <a:cs typeface="宋体" panose="02010600030101010101" pitchFamily="2" charset="-122"/>
                <a:sym typeface="+mn-ea"/>
              </a:rPr>
              <a:t>及 </a:t>
            </a:r>
            <a:r>
              <a:rPr lang="en-US" altLang="zh-CN">
                <a:cs typeface="宋体" panose="02010600030101010101" pitchFamily="2" charset="-122"/>
                <a:sym typeface="+mn-ea"/>
              </a:rPr>
              <a:t>X→Y </a:t>
            </a:r>
            <a:r>
              <a:rPr lang="zh-CN" altLang="en-US">
                <a:cs typeface="宋体" panose="02010600030101010101" pitchFamily="2" charset="-122"/>
                <a:sym typeface="+mn-ea"/>
              </a:rPr>
              <a:t>可得 </a:t>
            </a:r>
            <a:r>
              <a:rPr lang="en-US" altLang="zh-CN">
                <a:cs typeface="宋体" panose="02010600030101010101" pitchFamily="2" charset="-122"/>
                <a:sym typeface="+mn-ea"/>
              </a:rPr>
              <a:t>BX→Y </a:t>
            </a:r>
            <a:r>
              <a:rPr lang="zh-CN" altLang="en-US">
                <a:cs typeface="宋体" panose="02010600030101010101" pitchFamily="2" charset="-122"/>
                <a:sym typeface="+mn-ea"/>
              </a:rPr>
              <a:t>； 如果</a:t>
            </a:r>
            <a:r>
              <a:rPr lang="en-US" altLang="zh-CN">
                <a:cs typeface="宋体" panose="02010600030101010101" pitchFamily="2" charset="-122"/>
                <a:sym typeface="+mn-ea"/>
              </a:rPr>
              <a:t>‘X→Y </a:t>
            </a:r>
            <a:r>
              <a:rPr lang="zh-CN" altLang="en-US">
                <a:cs typeface="宋体" panose="02010600030101010101" pitchFamily="2" charset="-122"/>
                <a:sym typeface="+mn-ea"/>
              </a:rPr>
              <a:t>不成立</a:t>
            </a:r>
            <a:r>
              <a:rPr lang="en-US" altLang="zh-CN">
                <a:cs typeface="宋体" panose="02010600030101010101" pitchFamily="2" charset="-122"/>
                <a:sym typeface="+mn-ea"/>
              </a:rPr>
              <a:t>’</a:t>
            </a:r>
            <a:r>
              <a:rPr lang="zh-CN" altLang="en-US">
                <a:cs typeface="宋体" panose="02010600030101010101" pitchFamily="2" charset="-122"/>
                <a:sym typeface="+mn-ea"/>
              </a:rPr>
              <a:t>，那么肯定存在不满足要求的</a:t>
            </a:r>
            <a:r>
              <a:rPr lang="en-US" altLang="zh-CN">
                <a:cs typeface="宋体" panose="02010600030101010101" pitchFamily="2" charset="-122"/>
                <a:sym typeface="+mn-ea"/>
              </a:rPr>
              <a:t>‘</a:t>
            </a:r>
            <a:r>
              <a:rPr lang="zh-CN" altLang="en-US">
                <a:cs typeface="宋体" panose="02010600030101010101" pitchFamily="2" charset="-122"/>
                <a:sym typeface="+mn-ea"/>
              </a:rPr>
              <a:t>反例</a:t>
            </a:r>
            <a:r>
              <a:rPr lang="en-US" altLang="zh-CN">
                <a:cs typeface="宋体" panose="02010600030101010101" pitchFamily="2" charset="-122"/>
                <a:sym typeface="+mn-ea"/>
              </a:rPr>
              <a:t>’</a:t>
            </a:r>
            <a:r>
              <a:rPr lang="zh-CN" altLang="en-US">
                <a:cs typeface="宋体" panose="02010600030101010101" pitchFamily="2" charset="-122"/>
                <a:sym typeface="+mn-ea"/>
              </a:rPr>
              <a:t>，该</a:t>
            </a:r>
            <a:r>
              <a:rPr lang="en-US" altLang="zh-CN">
                <a:cs typeface="宋体" panose="02010600030101010101" pitchFamily="2" charset="-122"/>
                <a:sym typeface="+mn-ea"/>
              </a:rPr>
              <a:t>‘</a:t>
            </a:r>
            <a:r>
              <a:rPr lang="zh-CN" altLang="en-US">
                <a:cs typeface="宋体" panose="02010600030101010101" pitchFamily="2" charset="-122"/>
                <a:sym typeface="+mn-ea"/>
              </a:rPr>
              <a:t>反例</a:t>
            </a:r>
            <a:r>
              <a:rPr lang="en-US" altLang="zh-CN">
                <a:cs typeface="宋体" panose="02010600030101010101" pitchFamily="2" charset="-122"/>
                <a:sym typeface="+mn-ea"/>
              </a:rPr>
              <a:t>’</a:t>
            </a:r>
            <a:r>
              <a:rPr lang="zh-CN" altLang="en-US">
                <a:cs typeface="宋体" panose="02010600030101010101" pitchFamily="2" charset="-122"/>
                <a:sym typeface="+mn-ea"/>
              </a:rPr>
              <a:t>也是 </a:t>
            </a:r>
            <a:r>
              <a:rPr lang="en-US" altLang="zh-CN">
                <a:cs typeface="宋体" panose="02010600030101010101" pitchFamily="2" charset="-122"/>
                <a:sym typeface="+mn-ea"/>
              </a:rPr>
              <a:t>BX→Y </a:t>
            </a:r>
            <a:r>
              <a:rPr lang="zh-CN" altLang="en-US">
                <a:cs typeface="宋体" panose="02010600030101010101" pitchFamily="2" charset="-122"/>
                <a:sym typeface="+mn-ea"/>
              </a:rPr>
              <a:t>的</a:t>
            </a:r>
            <a:r>
              <a:rPr lang="en-US" altLang="zh-CN">
                <a:cs typeface="宋体" panose="02010600030101010101" pitchFamily="2" charset="-122"/>
                <a:sym typeface="+mn-ea"/>
              </a:rPr>
              <a:t>‘</a:t>
            </a:r>
            <a:r>
              <a:rPr lang="zh-CN" altLang="en-US">
                <a:cs typeface="宋体" panose="02010600030101010101" pitchFamily="2" charset="-122"/>
                <a:sym typeface="+mn-ea"/>
              </a:rPr>
              <a:t>反例</a:t>
            </a:r>
            <a:r>
              <a:rPr lang="en-US" altLang="zh-CN">
                <a:cs typeface="宋体" panose="02010600030101010101" pitchFamily="2" charset="-122"/>
                <a:sym typeface="+mn-ea"/>
              </a:rPr>
              <a:t>’</a:t>
            </a:r>
            <a:r>
              <a:rPr lang="zh-CN" altLang="en-US">
                <a:cs typeface="宋体" panose="02010600030101010101" pitchFamily="2" charset="-122"/>
                <a:sym typeface="+mn-ea"/>
              </a:rPr>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在这里不用考虑 </a:t>
            </a:r>
            <a:r>
              <a:rPr lang="en-US" altLang="zh-CN"/>
              <a:t>AC</a:t>
            </a:r>
            <a:r>
              <a:rPr lang="en-US" altLang="zh-CN">
                <a:cs typeface="宋体" panose="02010600030101010101" pitchFamily="2" charset="-122"/>
              </a:rPr>
              <a:t>→B </a:t>
            </a:r>
            <a:r>
              <a:rPr lang="zh-CN" altLang="en-US">
                <a:cs typeface="宋体" panose="02010600030101010101" pitchFamily="2" charset="-122"/>
              </a:rPr>
              <a:t>，是因为该函数依赖肯定成立（</a:t>
            </a:r>
            <a:r>
              <a:rPr lang="zh-CN" altLang="en-US">
                <a:latin typeface="宋体" panose="02010600030101010101" pitchFamily="2" charset="-122"/>
                <a:ea typeface="宋体" panose="02010600030101010101" pitchFamily="2" charset="-122"/>
                <a:cs typeface="宋体" panose="02010600030101010101" pitchFamily="2" charset="-122"/>
              </a:rPr>
              <a:t>∵</a:t>
            </a:r>
            <a:r>
              <a:rPr lang="en-US" altLang="zh-CN">
                <a:cs typeface="宋体" panose="02010600030101010101" pitchFamily="2" charset="-122"/>
              </a:rPr>
              <a:t>B</a:t>
            </a:r>
            <a:r>
              <a:rPr lang="zh-CN" altLang="en-US">
                <a:cs typeface="宋体" panose="02010600030101010101" pitchFamily="2" charset="-122"/>
              </a:rPr>
              <a:t>的取值不变），且可以由之前我们已经找到的函数依赖推导得到（</a:t>
            </a:r>
            <a:r>
              <a:rPr lang="zh-CN" altLang="en-US">
                <a:latin typeface="宋体" panose="02010600030101010101" pitchFamily="2" charset="-122"/>
                <a:ea typeface="宋体" panose="02010600030101010101" pitchFamily="2" charset="-122"/>
                <a:cs typeface="宋体" panose="02010600030101010101" pitchFamily="2" charset="-122"/>
              </a:rPr>
              <a:t>∵决定因素中的属性数量由少到多考虑的</a:t>
            </a:r>
            <a:r>
              <a:rPr lang="zh-CN" altLang="en-US">
                <a:cs typeface="宋体" panose="02010600030101010101" pitchFamily="2" charset="-122"/>
              </a:rPr>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zh-CN"/>
              <a:t>利用</a:t>
            </a:r>
            <a:r>
              <a:rPr lang="en-US" altLang="zh-CN"/>
              <a:t>‘</a:t>
            </a:r>
            <a:r>
              <a:rPr lang="zh-CN" altLang="en-US"/>
              <a:t>合并规则</a:t>
            </a:r>
            <a:r>
              <a:rPr lang="en-US" altLang="zh-CN"/>
              <a:t>’</a:t>
            </a:r>
            <a:r>
              <a:rPr lang="zh-CN" altLang="en-US"/>
              <a:t>可以将 </a:t>
            </a:r>
            <a:r>
              <a:rPr lang="en-US" altLang="zh-CN"/>
              <a:t>D</a:t>
            </a:r>
            <a:r>
              <a:rPr lang="en-US" altLang="zh-CN">
                <a:cs typeface="宋体" panose="02010600030101010101" pitchFamily="2" charset="-122"/>
              </a:rPr>
              <a:t>→A, D→B, D→C </a:t>
            </a:r>
            <a:r>
              <a:rPr lang="zh-CN" altLang="en-US">
                <a:cs typeface="宋体" panose="02010600030101010101" pitchFamily="2" charset="-122"/>
              </a:rPr>
              <a:t>合并为一个 </a:t>
            </a:r>
            <a:r>
              <a:rPr lang="en-US" altLang="zh-CN">
                <a:cs typeface="宋体" panose="02010600030101010101" pitchFamily="2" charset="-122"/>
              </a:rPr>
              <a:t>D→ABC</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en-US" altLang="zh-CN"/>
              <a:t>35</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en-US" altLang="zh-CN"/>
              <a:t>1</a:t>
            </a:r>
            <a:r>
              <a:rPr lang="zh-CN" altLang="en-US"/>
              <a:t>）和 </a:t>
            </a:r>
            <a:r>
              <a:rPr lang="en-US" altLang="zh-CN"/>
              <a:t>2</a:t>
            </a:r>
            <a:r>
              <a:rPr lang="zh-CN" altLang="en-US"/>
              <a:t>）是无损分解，</a:t>
            </a:r>
            <a:r>
              <a:rPr lang="en-US" altLang="zh-CN"/>
              <a:t>3</a:t>
            </a:r>
            <a:r>
              <a:rPr lang="zh-CN" altLang="en-US"/>
              <a:t>）和 </a:t>
            </a:r>
            <a:r>
              <a:rPr lang="en-US" altLang="zh-CN"/>
              <a:t>4</a:t>
            </a:r>
            <a:r>
              <a:rPr lang="zh-CN" altLang="en-US"/>
              <a:t>）不是无损分解。</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en-US" altLang="zh-CN"/>
              <a:t>R</a:t>
            </a:r>
            <a:r>
              <a:rPr lang="en-US" altLang="zh-CN" baseline="-25000"/>
              <a:t>2</a:t>
            </a:r>
            <a:r>
              <a:rPr lang="zh-CN" altLang="zh-CN"/>
              <a:t>有两个关键字，分别是由单个属性</a:t>
            </a:r>
            <a:r>
              <a:rPr lang="en-US" altLang="zh-CN"/>
              <a:t>A</a:t>
            </a:r>
            <a:r>
              <a:rPr lang="zh-CN" altLang="en-US"/>
              <a:t>构成的</a:t>
            </a:r>
            <a:r>
              <a:rPr lang="zh-CN" altLang="zh-CN"/>
              <a:t>关键字</a:t>
            </a:r>
            <a:r>
              <a:rPr lang="zh-CN" altLang="en-US"/>
              <a:t>和</a:t>
            </a:r>
            <a:r>
              <a:rPr lang="zh-CN" altLang="zh-CN">
                <a:sym typeface="+mn-ea"/>
              </a:rPr>
              <a:t>由单个属性</a:t>
            </a:r>
            <a:r>
              <a:rPr lang="en-US" altLang="zh-CN">
                <a:sym typeface="+mn-ea"/>
              </a:rPr>
              <a:t>B</a:t>
            </a:r>
            <a:r>
              <a:rPr lang="zh-CN" altLang="en-US">
                <a:sym typeface="+mn-ea"/>
              </a:rPr>
              <a:t>构成的</a:t>
            </a:r>
            <a:r>
              <a:rPr lang="zh-CN" altLang="en-US"/>
              <a:t>关键字</a:t>
            </a:r>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en-US" altLang="zh-CN"/>
              <a:t>4</a:t>
            </a:r>
            <a:r>
              <a:rPr lang="zh-CN" altLang="zh-CN"/>
              <a:t>个关系都满足</a:t>
            </a:r>
            <a:r>
              <a:rPr lang="en-US" altLang="zh-CN"/>
              <a:t>BCNF</a:t>
            </a:r>
            <a:r>
              <a:rPr lang="zh-CN" altLang="en-US"/>
              <a:t>的定义</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t>2020/1/1</a:t>
            </a:fld>
            <a:endParaRPr lang="zh-CN" altLang="en-US" strike="noStrike" noProof="1">
              <a:latin typeface="Times New Roman" panose="02020603050405020304" pitchFamily="2" charset="0"/>
              <a:ea typeface="宋体" panose="02010600030101010101" pitchFamily="2" charset="-122"/>
              <a:cs typeface="+mn-ea"/>
            </a:endParaRPr>
          </a:p>
        </p:txBody>
      </p:sp>
      <p:sp>
        <p:nvSpPr>
          <p:cNvPr id="5" name="页脚占位符 4"/>
          <p:cNvSpPr>
            <a:spLocks noGrp="1"/>
          </p:cNvSpPr>
          <p:nvPr>
            <p:ph type="ftr" sz="quarter" idx="11"/>
          </p:nvPr>
        </p:nvSpPr>
        <p:spPr/>
        <p:txBody>
          <a:bodyPr/>
          <a:lstStyle/>
          <a:p>
            <a:pPr lvl="0" eaLnBrk="1" fontAlgn="base" hangingPunct="1"/>
            <a:r>
              <a:rPr lang="zh-CN" altLang="en-US" strike="noStrike" noProof="1">
                <a:latin typeface="Times New Roman" panose="02020603050405020304" pitchFamily="2" charset="0"/>
                <a:ea typeface="宋体" panose="02010600030101010101" pitchFamily="2" charset="-122"/>
                <a:cs typeface="+mn-ea"/>
              </a:rPr>
              <a:t>Database Principles &amp; Programming</a:t>
            </a:r>
            <a:endParaRPr lang="en-US" altLang="x-none" sz="1200" b="1" i="1" strike="noStrike" noProof="1">
              <a:ea typeface="宋体" panose="02010600030101010101" pitchFamily="2" charset="-122"/>
            </a:endParaRPr>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t>2020/1/1</a:t>
            </a:fld>
            <a:endParaRPr lang="zh-CN" altLang="en-US" strike="noStrike" noProof="1">
              <a:latin typeface="Times New Roman" panose="02020603050405020304" pitchFamily="2" charset="0"/>
              <a:ea typeface="宋体" panose="02010600030101010101" pitchFamily="2" charset="-122"/>
              <a:cs typeface="+mn-ea"/>
            </a:endParaRPr>
          </a:p>
        </p:txBody>
      </p:sp>
      <p:sp>
        <p:nvSpPr>
          <p:cNvPr id="5" name="页脚占位符 4"/>
          <p:cNvSpPr>
            <a:spLocks noGrp="1"/>
          </p:cNvSpPr>
          <p:nvPr>
            <p:ph type="ftr" sz="quarter" idx="11"/>
          </p:nvPr>
        </p:nvSpPr>
        <p:spPr/>
        <p:txBody>
          <a:bodyPr/>
          <a:lstStyle/>
          <a:p>
            <a:pPr lvl="0" eaLnBrk="1" fontAlgn="base" hangingPunct="1"/>
            <a:r>
              <a:rPr lang="zh-CN" altLang="en-US" strike="noStrike" noProof="1">
                <a:latin typeface="Times New Roman" panose="02020603050405020304" pitchFamily="2" charset="0"/>
                <a:ea typeface="宋体" panose="02010600030101010101" pitchFamily="2" charset="-122"/>
                <a:cs typeface="+mn-ea"/>
              </a:rPr>
              <a:t>Database Principles &amp; Programming</a:t>
            </a:r>
            <a:endParaRPr lang="en-US" altLang="x-none" sz="1200" b="1" i="1" strike="noStrike" noProof="1">
              <a:ea typeface="宋体" panose="02010600030101010101" pitchFamily="2" charset="-122"/>
            </a:endParaRPr>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t>2020/1/1</a:t>
            </a:fld>
            <a:endParaRPr lang="zh-CN" altLang="en-US" strike="noStrike" noProof="1">
              <a:latin typeface="Times New Roman" panose="02020603050405020304" pitchFamily="2" charset="0"/>
              <a:ea typeface="宋体" panose="02010600030101010101" pitchFamily="2" charset="-122"/>
              <a:cs typeface="+mn-ea"/>
            </a:endParaRPr>
          </a:p>
        </p:txBody>
      </p:sp>
      <p:sp>
        <p:nvSpPr>
          <p:cNvPr id="5" name="页脚占位符 4"/>
          <p:cNvSpPr>
            <a:spLocks noGrp="1"/>
          </p:cNvSpPr>
          <p:nvPr>
            <p:ph type="ftr" sz="quarter" idx="11"/>
          </p:nvPr>
        </p:nvSpPr>
        <p:spPr/>
        <p:txBody>
          <a:bodyPr/>
          <a:lstStyle/>
          <a:p>
            <a:pPr lvl="0" eaLnBrk="1" fontAlgn="base" hangingPunct="1"/>
            <a:r>
              <a:rPr lang="zh-CN" altLang="en-US" strike="noStrike" noProof="1">
                <a:latin typeface="Times New Roman" panose="02020603050405020304" pitchFamily="2" charset="0"/>
                <a:ea typeface="宋体" panose="02010600030101010101" pitchFamily="2" charset="-122"/>
                <a:cs typeface="+mn-ea"/>
              </a:rPr>
              <a:t>Database Principles &amp; Programming</a:t>
            </a:r>
            <a:endParaRPr lang="en-US" altLang="x-none" sz="1200" b="1" i="1" strike="noStrike" noProof="1">
              <a:ea typeface="宋体" panose="02010600030101010101" pitchFamily="2" charset="-122"/>
            </a:endParaRPr>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838200"/>
            <a:ext cx="4032504" cy="5638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54296" y="838200"/>
            <a:ext cx="4032504" cy="5638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t>2020/1/1</a:t>
            </a:fld>
            <a:endParaRPr lang="zh-CN" altLang="en-US" strike="noStrike" noProof="1">
              <a:latin typeface="Times New Roman" panose="02020603050405020304" pitchFamily="2" charset="0"/>
              <a:ea typeface="宋体" panose="02010600030101010101" pitchFamily="2" charset="-122"/>
              <a:cs typeface="+mn-ea"/>
            </a:endParaRPr>
          </a:p>
        </p:txBody>
      </p:sp>
      <p:sp>
        <p:nvSpPr>
          <p:cNvPr id="6" name="页脚占位符 5"/>
          <p:cNvSpPr>
            <a:spLocks noGrp="1"/>
          </p:cNvSpPr>
          <p:nvPr>
            <p:ph type="ftr" sz="quarter" idx="11"/>
          </p:nvPr>
        </p:nvSpPr>
        <p:spPr/>
        <p:txBody>
          <a:bodyPr/>
          <a:lstStyle/>
          <a:p>
            <a:pPr lvl="0" eaLnBrk="1" fontAlgn="base" hangingPunct="1"/>
            <a:r>
              <a:rPr lang="zh-CN" altLang="en-US" strike="noStrike" noProof="1">
                <a:latin typeface="Times New Roman" panose="02020603050405020304" pitchFamily="2" charset="0"/>
                <a:ea typeface="宋体" panose="02010600030101010101" pitchFamily="2" charset="-122"/>
                <a:cs typeface="+mn-ea"/>
              </a:rPr>
              <a:t>Database Principles &amp; Programming</a:t>
            </a:r>
            <a:endParaRPr lang="en-US" altLang="x-none" sz="1200" b="1" i="1" strike="noStrike" noProof="1">
              <a:ea typeface="宋体" panose="02010600030101010101" pitchFamily="2" charset="-122"/>
            </a:endParaRPr>
          </a:p>
        </p:txBody>
      </p:sp>
      <p:sp>
        <p:nvSpPr>
          <p:cNvPr id="7" name="灯片编号占位符 6"/>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t>2020/1/1</a:t>
            </a:fld>
            <a:endParaRPr lang="zh-CN" altLang="en-US" strike="noStrike" noProof="1">
              <a:latin typeface="Times New Roman" panose="02020603050405020304" pitchFamily="2" charset="0"/>
              <a:ea typeface="宋体" panose="02010600030101010101" pitchFamily="2" charset="-122"/>
              <a:cs typeface="+mn-ea"/>
            </a:endParaRPr>
          </a:p>
        </p:txBody>
      </p:sp>
      <p:sp>
        <p:nvSpPr>
          <p:cNvPr id="8" name="页脚占位符 7"/>
          <p:cNvSpPr>
            <a:spLocks noGrp="1"/>
          </p:cNvSpPr>
          <p:nvPr>
            <p:ph type="ftr" sz="quarter" idx="11"/>
          </p:nvPr>
        </p:nvSpPr>
        <p:spPr/>
        <p:txBody>
          <a:bodyPr/>
          <a:lstStyle/>
          <a:p>
            <a:pPr lvl="0" eaLnBrk="1" fontAlgn="base" hangingPunct="1"/>
            <a:r>
              <a:rPr lang="zh-CN" altLang="en-US" strike="noStrike" noProof="1">
                <a:latin typeface="Times New Roman" panose="02020603050405020304" pitchFamily="2" charset="0"/>
                <a:ea typeface="宋体" panose="02010600030101010101" pitchFamily="2" charset="-122"/>
                <a:cs typeface="+mn-ea"/>
              </a:rPr>
              <a:t>Database Principles &amp; Programming</a:t>
            </a:r>
            <a:endParaRPr lang="en-US" altLang="x-none" sz="1200" b="1" i="1" strike="noStrike" noProof="1">
              <a:ea typeface="宋体" panose="02010600030101010101" pitchFamily="2" charset="-122"/>
            </a:endParaRPr>
          </a:p>
        </p:txBody>
      </p:sp>
      <p:sp>
        <p:nvSpPr>
          <p:cNvPr id="9" name="灯片编号占位符 8"/>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t>2020/1/1</a:t>
            </a:fld>
            <a:endParaRPr lang="zh-CN" altLang="en-US" strike="noStrike" noProof="1">
              <a:latin typeface="Times New Roman" panose="02020603050405020304" pitchFamily="2" charset="0"/>
              <a:ea typeface="宋体" panose="02010600030101010101" pitchFamily="2" charset="-122"/>
              <a:cs typeface="+mn-ea"/>
            </a:endParaRPr>
          </a:p>
        </p:txBody>
      </p:sp>
      <p:sp>
        <p:nvSpPr>
          <p:cNvPr id="4" name="页脚占位符 3"/>
          <p:cNvSpPr>
            <a:spLocks noGrp="1"/>
          </p:cNvSpPr>
          <p:nvPr>
            <p:ph type="ftr" sz="quarter" idx="11"/>
          </p:nvPr>
        </p:nvSpPr>
        <p:spPr/>
        <p:txBody>
          <a:bodyPr/>
          <a:lstStyle/>
          <a:p>
            <a:pPr lvl="0" eaLnBrk="1" fontAlgn="base" hangingPunct="1"/>
            <a:r>
              <a:rPr lang="zh-CN" altLang="en-US" strike="noStrike" noProof="1">
                <a:latin typeface="Times New Roman" panose="02020603050405020304" pitchFamily="2" charset="0"/>
                <a:ea typeface="宋体" panose="02010600030101010101" pitchFamily="2" charset="-122"/>
                <a:cs typeface="+mn-ea"/>
              </a:rPr>
              <a:t>Database Principles &amp; Programming</a:t>
            </a:r>
            <a:endParaRPr lang="en-US" altLang="x-none" sz="1200" b="1" i="1" strike="noStrike" noProof="1">
              <a:ea typeface="宋体" panose="02010600030101010101" pitchFamily="2" charset="-122"/>
            </a:endParaRPr>
          </a:p>
        </p:txBody>
      </p:sp>
      <p:sp>
        <p:nvSpPr>
          <p:cNvPr id="5" name="灯片编号占位符 4"/>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t>2020/1/1</a:t>
            </a:fld>
            <a:endParaRPr lang="zh-CN" altLang="en-US" strike="noStrike" noProof="1">
              <a:latin typeface="Times New Roman" panose="02020603050405020304" pitchFamily="2" charset="0"/>
              <a:ea typeface="宋体" panose="02010600030101010101" pitchFamily="2" charset="-122"/>
              <a:cs typeface="+mn-ea"/>
            </a:endParaRPr>
          </a:p>
        </p:txBody>
      </p:sp>
      <p:sp>
        <p:nvSpPr>
          <p:cNvPr id="3" name="页脚占位符 2"/>
          <p:cNvSpPr>
            <a:spLocks noGrp="1"/>
          </p:cNvSpPr>
          <p:nvPr>
            <p:ph type="ftr" sz="quarter" idx="11"/>
          </p:nvPr>
        </p:nvSpPr>
        <p:spPr/>
        <p:txBody>
          <a:bodyPr/>
          <a:lstStyle/>
          <a:p>
            <a:pPr lvl="0" eaLnBrk="1" fontAlgn="base" hangingPunct="1"/>
            <a:r>
              <a:rPr lang="zh-CN" altLang="en-US" strike="noStrike" noProof="1">
                <a:latin typeface="Times New Roman" panose="02020603050405020304" pitchFamily="2" charset="0"/>
                <a:ea typeface="宋体" panose="02010600030101010101" pitchFamily="2" charset="-122"/>
                <a:cs typeface="+mn-ea"/>
              </a:rPr>
              <a:t>Database Principles &amp; Programming</a:t>
            </a:r>
            <a:endParaRPr lang="en-US" altLang="x-none" sz="1200" b="1" i="1" strike="noStrike" noProof="1">
              <a:ea typeface="宋体" panose="02010600030101010101" pitchFamily="2" charset="-122"/>
            </a:endParaRPr>
          </a:p>
        </p:txBody>
      </p:sp>
      <p:sp>
        <p:nvSpPr>
          <p:cNvPr id="4" name="灯片编号占位符 3"/>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t>2020/1/1</a:t>
            </a:fld>
            <a:endParaRPr lang="zh-CN" altLang="en-US" strike="noStrike" noProof="1">
              <a:latin typeface="Times New Roman" panose="02020603050405020304" pitchFamily="2" charset="0"/>
              <a:ea typeface="宋体" panose="02010600030101010101" pitchFamily="2" charset="-122"/>
              <a:cs typeface="+mn-ea"/>
            </a:endParaRPr>
          </a:p>
        </p:txBody>
      </p:sp>
      <p:sp>
        <p:nvSpPr>
          <p:cNvPr id="6" name="页脚占位符 5"/>
          <p:cNvSpPr>
            <a:spLocks noGrp="1"/>
          </p:cNvSpPr>
          <p:nvPr>
            <p:ph type="ftr" sz="quarter" idx="11"/>
          </p:nvPr>
        </p:nvSpPr>
        <p:spPr/>
        <p:txBody>
          <a:bodyPr/>
          <a:lstStyle/>
          <a:p>
            <a:pPr lvl="0" eaLnBrk="1" fontAlgn="base" hangingPunct="1"/>
            <a:r>
              <a:rPr lang="zh-CN" altLang="en-US" strike="noStrike" noProof="1">
                <a:latin typeface="Times New Roman" panose="02020603050405020304" pitchFamily="2" charset="0"/>
                <a:ea typeface="宋体" panose="02010600030101010101" pitchFamily="2" charset="-122"/>
                <a:cs typeface="+mn-ea"/>
              </a:rPr>
              <a:t>Database Principles &amp; Programming</a:t>
            </a:r>
            <a:endParaRPr lang="en-US" altLang="x-none" sz="1200" b="1" i="1" strike="noStrike" noProof="1">
              <a:ea typeface="宋体" panose="02010600030101010101" pitchFamily="2" charset="-122"/>
            </a:endParaRPr>
          </a:p>
        </p:txBody>
      </p:sp>
      <p:sp>
        <p:nvSpPr>
          <p:cNvPr id="7" name="灯片编号占位符 6"/>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t>2020/1/1</a:t>
            </a:fld>
            <a:endParaRPr lang="zh-CN" altLang="en-US" strike="noStrike" noProof="1">
              <a:latin typeface="Times New Roman" panose="02020603050405020304" pitchFamily="2" charset="0"/>
              <a:ea typeface="宋体" panose="02010600030101010101" pitchFamily="2" charset="-122"/>
              <a:cs typeface="+mn-ea"/>
            </a:endParaRPr>
          </a:p>
        </p:txBody>
      </p:sp>
      <p:sp>
        <p:nvSpPr>
          <p:cNvPr id="6" name="页脚占位符 5"/>
          <p:cNvSpPr>
            <a:spLocks noGrp="1"/>
          </p:cNvSpPr>
          <p:nvPr>
            <p:ph type="ftr" sz="quarter" idx="11"/>
          </p:nvPr>
        </p:nvSpPr>
        <p:spPr/>
        <p:txBody>
          <a:bodyPr/>
          <a:lstStyle/>
          <a:p>
            <a:pPr lvl="0" eaLnBrk="1" fontAlgn="base" hangingPunct="1"/>
            <a:r>
              <a:rPr lang="zh-CN" altLang="en-US" strike="noStrike" noProof="1">
                <a:latin typeface="Times New Roman" panose="02020603050405020304" pitchFamily="2" charset="0"/>
                <a:ea typeface="宋体" panose="02010600030101010101" pitchFamily="2" charset="-122"/>
                <a:cs typeface="+mn-ea"/>
              </a:rPr>
              <a:t>Database Principles &amp; Programming</a:t>
            </a:r>
            <a:endParaRPr lang="en-US" altLang="x-none" sz="1200" b="1" i="1" strike="noStrike" noProof="1">
              <a:ea typeface="宋体" panose="02010600030101010101" pitchFamily="2" charset="-122"/>
            </a:endParaRPr>
          </a:p>
        </p:txBody>
      </p:sp>
      <p:sp>
        <p:nvSpPr>
          <p:cNvPr id="7" name="灯片编号占位符 6"/>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t>2020/1/1</a:t>
            </a:fld>
            <a:endParaRPr lang="zh-CN" altLang="en-US" strike="noStrike" noProof="1">
              <a:latin typeface="Times New Roman" panose="02020603050405020304" pitchFamily="2" charset="0"/>
              <a:ea typeface="宋体" panose="02010600030101010101" pitchFamily="2" charset="-122"/>
              <a:cs typeface="+mn-ea"/>
            </a:endParaRPr>
          </a:p>
        </p:txBody>
      </p:sp>
      <p:sp>
        <p:nvSpPr>
          <p:cNvPr id="5" name="页脚占位符 4"/>
          <p:cNvSpPr>
            <a:spLocks noGrp="1"/>
          </p:cNvSpPr>
          <p:nvPr>
            <p:ph type="ftr" sz="quarter" idx="11"/>
          </p:nvPr>
        </p:nvSpPr>
        <p:spPr/>
        <p:txBody>
          <a:bodyPr/>
          <a:lstStyle/>
          <a:p>
            <a:pPr lvl="0" eaLnBrk="1" fontAlgn="base" hangingPunct="1"/>
            <a:r>
              <a:rPr lang="zh-CN" altLang="en-US" strike="noStrike" noProof="1">
                <a:latin typeface="Times New Roman" panose="02020603050405020304" pitchFamily="2" charset="0"/>
                <a:ea typeface="宋体" panose="02010600030101010101" pitchFamily="2" charset="-122"/>
                <a:cs typeface="+mn-ea"/>
              </a:rPr>
              <a:t>Database Principles &amp; Programming</a:t>
            </a:r>
            <a:endParaRPr lang="en-US" altLang="x-none" sz="1200" b="1" i="1" strike="noStrike" noProof="1">
              <a:ea typeface="宋体" panose="02010600030101010101" pitchFamily="2" charset="-122"/>
            </a:endParaRPr>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4770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0" y="0"/>
            <a:ext cx="6725478" cy="64770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t>2020/1/1</a:t>
            </a:fld>
            <a:endParaRPr lang="zh-CN" altLang="en-US" strike="noStrike" noProof="1">
              <a:latin typeface="Times New Roman" panose="02020603050405020304" pitchFamily="2" charset="0"/>
              <a:ea typeface="宋体" panose="02010600030101010101" pitchFamily="2" charset="-122"/>
              <a:cs typeface="+mn-ea"/>
            </a:endParaRPr>
          </a:p>
        </p:txBody>
      </p:sp>
      <p:sp>
        <p:nvSpPr>
          <p:cNvPr id="5" name="页脚占位符 4"/>
          <p:cNvSpPr>
            <a:spLocks noGrp="1"/>
          </p:cNvSpPr>
          <p:nvPr>
            <p:ph type="ftr" sz="quarter" idx="11"/>
          </p:nvPr>
        </p:nvSpPr>
        <p:spPr/>
        <p:txBody>
          <a:bodyPr/>
          <a:lstStyle/>
          <a:p>
            <a:pPr lvl="0" eaLnBrk="1" fontAlgn="base" hangingPunct="1"/>
            <a:r>
              <a:rPr lang="zh-CN" altLang="en-US" strike="noStrike" noProof="1">
                <a:latin typeface="Times New Roman" panose="02020603050405020304" pitchFamily="2" charset="0"/>
                <a:ea typeface="宋体" panose="02010600030101010101" pitchFamily="2" charset="-122"/>
                <a:cs typeface="+mn-ea"/>
              </a:rPr>
              <a:t>Database Principles &amp; Programming</a:t>
            </a:r>
            <a:endParaRPr lang="en-US" altLang="x-none" sz="1200" b="1" i="1" strike="noStrike" noProof="1">
              <a:ea typeface="宋体" panose="02010600030101010101" pitchFamily="2" charset="-122"/>
            </a:endParaRPr>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0" y="0"/>
            <a:ext cx="9144000" cy="685800"/>
          </a:xfrm>
          <a:prstGeom prst="rect">
            <a:avLst/>
          </a:prstGeom>
          <a:solidFill>
            <a:srgbClr val="DDDDDD">
              <a:alpha val="50000"/>
            </a:srgbClr>
          </a:solidFill>
          <a:ln w="9525">
            <a:noFill/>
          </a:ln>
        </p:spPr>
        <p:txBody>
          <a:bodyPr anchor="ctr"/>
          <a:lstStyle/>
          <a:p>
            <a:pPr lvl="0"/>
            <a:r>
              <a:rPr lang="zh-CN" altLang="en-US"/>
              <a:t>单击此处编辑母版标题样式</a:t>
            </a:r>
          </a:p>
        </p:txBody>
      </p:sp>
      <p:sp>
        <p:nvSpPr>
          <p:cNvPr id="1027" name="Rectangle 3"/>
          <p:cNvSpPr>
            <a:spLocks noGrp="1"/>
          </p:cNvSpPr>
          <p:nvPr>
            <p:ph type="body"/>
          </p:nvPr>
        </p:nvSpPr>
        <p:spPr>
          <a:xfrm>
            <a:off x="457200" y="838200"/>
            <a:ext cx="8229600" cy="5638800"/>
          </a:xfrm>
          <a:prstGeom prst="rect">
            <a:avLst/>
          </a:prstGeom>
          <a:noFill/>
          <a:ln w="9525">
            <a:noFill/>
          </a:ln>
        </p:spPr>
        <p:txBody>
          <a:bodyPr anchor="t"/>
          <a:lstStyle/>
          <a:p>
            <a:pPr lvl="0"/>
            <a:r>
              <a:rPr lang="zh-CN" altLang="en-US"/>
              <a:t>单击此处编辑母版文本样式</a:t>
            </a:r>
          </a:p>
          <a:p>
            <a:pPr lvl="1" indent="-285750"/>
            <a:r>
              <a:rPr lang="zh-CN" altLang="en-US"/>
              <a:t>第二级</a:t>
            </a:r>
          </a:p>
          <a:p>
            <a:pPr lvl="2" indent="-228600"/>
            <a:r>
              <a:rPr lang="zh-CN" altLang="en-US"/>
              <a:t>第三级</a:t>
            </a:r>
          </a:p>
          <a:p>
            <a:pPr lvl="3" indent="-228600"/>
            <a:r>
              <a:rPr lang="zh-CN" altLang="en-US"/>
              <a:t>第四级</a:t>
            </a:r>
          </a:p>
          <a:p>
            <a:pPr lvl="4" indent="-228600"/>
            <a:r>
              <a:rPr lang="zh-CN" altLang="en-US"/>
              <a:t>第五级</a:t>
            </a:r>
          </a:p>
        </p:txBody>
      </p:sp>
      <p:sp>
        <p:nvSpPr>
          <p:cNvPr id="1028" name="Rectangle 4"/>
          <p:cNvSpPr>
            <a:spLocks noGrp="1"/>
          </p:cNvSpPr>
          <p:nvPr>
            <p:ph type="dt" sz="half" idx="2"/>
          </p:nvPr>
        </p:nvSpPr>
        <p:spPr>
          <a:xfrm>
            <a:off x="76200" y="6629400"/>
            <a:ext cx="1905000" cy="228600"/>
          </a:xfrm>
          <a:prstGeom prst="rect">
            <a:avLst/>
          </a:prstGeom>
          <a:noFill/>
          <a:ln w="9525">
            <a:noFill/>
            <a:miter/>
          </a:ln>
        </p:spPr>
        <p:txBody>
          <a:bodyPr/>
          <a:lstStyle>
            <a:lvl1pPr algn="l">
              <a:defRPr sz="1200" b="1" i="1">
                <a:ea typeface="宋体" panose="02010600030101010101" pitchFamily="2" charset="-122"/>
              </a:defRPr>
            </a:lvl1pPr>
          </a:lstStyle>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t>2020/1/1</a:t>
            </a:fld>
            <a:endParaRPr lang="zh-CN" altLang="en-US" strike="noStrike" noProof="1">
              <a:latin typeface="Times New Roman" panose="02020603050405020304" pitchFamily="2" charset="0"/>
              <a:ea typeface="宋体" panose="02010600030101010101" pitchFamily="2" charset="-122"/>
              <a:cs typeface="+mn-ea"/>
            </a:endParaRPr>
          </a:p>
        </p:txBody>
      </p:sp>
      <p:sp>
        <p:nvSpPr>
          <p:cNvPr id="1029" name="Rectangle 5"/>
          <p:cNvSpPr>
            <a:spLocks noGrp="1"/>
          </p:cNvSpPr>
          <p:nvPr>
            <p:ph type="ftr" sz="quarter" idx="3"/>
          </p:nvPr>
        </p:nvSpPr>
        <p:spPr>
          <a:xfrm>
            <a:off x="2590800" y="6629400"/>
            <a:ext cx="3962400" cy="228600"/>
          </a:xfrm>
          <a:prstGeom prst="rect">
            <a:avLst/>
          </a:prstGeom>
          <a:noFill/>
          <a:ln w="9525">
            <a:noFill/>
            <a:miter/>
          </a:ln>
        </p:spPr>
        <p:txBody>
          <a:bodyPr/>
          <a:lstStyle>
            <a:lvl1pPr>
              <a:defRPr sz="1200" b="1" i="1">
                <a:ea typeface="宋体" panose="02010600030101010101" pitchFamily="2" charset="-122"/>
              </a:defRPr>
            </a:lvl1pPr>
          </a:lstStyle>
          <a:p>
            <a:pPr lvl="0" eaLnBrk="1" fontAlgn="base" hangingPunct="1"/>
            <a:r>
              <a:rPr lang="zh-CN" altLang="en-US" strike="noStrike" noProof="1">
                <a:latin typeface="Times New Roman" panose="02020603050405020304" pitchFamily="2" charset="0"/>
                <a:ea typeface="宋体" panose="02010600030101010101" pitchFamily="2" charset="-122"/>
                <a:cs typeface="+mn-ea"/>
              </a:rPr>
              <a:t>Database Principles &amp; Programming</a:t>
            </a:r>
            <a:endParaRPr lang="en-US" altLang="x-none" sz="1200" b="1" i="1" strike="noStrike" noProof="1">
              <a:ea typeface="宋体" panose="02010600030101010101" pitchFamily="2" charset="-122"/>
            </a:endParaRPr>
          </a:p>
        </p:txBody>
      </p:sp>
      <p:sp>
        <p:nvSpPr>
          <p:cNvPr id="1030" name="Rectangle 6"/>
          <p:cNvSpPr>
            <a:spLocks noGrp="1"/>
          </p:cNvSpPr>
          <p:nvPr>
            <p:ph type="sldNum" sz="quarter" idx="4"/>
          </p:nvPr>
        </p:nvSpPr>
        <p:spPr>
          <a:xfrm>
            <a:off x="7162800" y="6629400"/>
            <a:ext cx="1905000" cy="228600"/>
          </a:xfrm>
          <a:prstGeom prst="rect">
            <a:avLst/>
          </a:prstGeom>
          <a:noFill/>
          <a:ln w="9525">
            <a:noFill/>
            <a:miter/>
          </a:ln>
        </p:spPr>
        <p:txBody>
          <a:bodyPr/>
          <a:lstStyle>
            <a:lvl1pPr algn="r">
              <a:defRPr sz="1200" b="1" i="1">
                <a:ea typeface="宋体" panose="02010600030101010101" pitchFamily="2" charset="-122"/>
              </a:defRPr>
            </a:lvl1p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0" fontAlgn="base" latinLnBrk="0" hangingPunct="0">
        <a:lnSpc>
          <a:spcPct val="100000"/>
        </a:lnSpc>
        <a:spcBef>
          <a:spcPct val="0"/>
        </a:spcBef>
        <a:spcAft>
          <a:spcPct val="0"/>
        </a:spcAft>
        <a:buNone/>
        <a:defRPr sz="3200" b="1" u="none" kern="1200" baseline="0">
          <a:solidFill>
            <a:schemeClr val="tx2"/>
          </a:solidFill>
          <a:latin typeface="+mj-lt"/>
          <a:ea typeface="+mj-ea"/>
          <a:cs typeface="+mj-cs"/>
        </a:defRPr>
      </a:lvl1pPr>
    </p:titleStyle>
    <p:body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800" b="1" u="none" kern="1200" baseline="0">
          <a:solidFill>
            <a:srgbClr val="FF0000"/>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Ø"/>
        <a:defRPr sz="2800" b="1" u="none" kern="1200" baseline="0">
          <a:solidFill>
            <a:schemeClr val="accent2"/>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accent2"/>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9pPr>
    </p:bodyStyle>
    <p:otherStyle>
      <a:lvl1pPr marL="0" lvl="0" indent="0" algn="ctr" defTabSz="914400" eaLnBrk="0" fontAlgn="base" latinLnBrk="0" hangingPunct="0">
        <a:lnSpc>
          <a:spcPct val="100000"/>
        </a:lnSpc>
        <a:spcBef>
          <a:spcPct val="0"/>
        </a:spcBef>
        <a:spcAft>
          <a:spcPct val="0"/>
        </a:spcAft>
        <a:buFont typeface="Arial" panose="020B0604020202020204" pitchFamily="34" charset="0"/>
        <a:buNone/>
        <a:defRPr sz="2400" b="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Font typeface="Arial" panose="020B0604020202020204" pitchFamily="34" charset="0"/>
        <a:buNone/>
        <a:defRPr sz="2400" b="0" u="none" kern="1200" baseline="0">
          <a:solidFill>
            <a:schemeClr val="tx1"/>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Font typeface="Arial" panose="020B0604020202020204" pitchFamily="34" charset="0"/>
        <a:buNone/>
        <a:defRPr sz="2400" b="0" u="none" kern="1200" baseline="0">
          <a:solidFill>
            <a:schemeClr val="tx1"/>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Font typeface="Arial" panose="020B0604020202020204" pitchFamily="34" charset="0"/>
        <a:buNone/>
        <a:defRPr sz="2400" b="0" u="none" kern="1200" baseline="0">
          <a:solidFill>
            <a:schemeClr val="tx1"/>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Font typeface="Arial" panose="020B0604020202020204" pitchFamily="34" charset="0"/>
        <a:buNone/>
        <a:defRPr sz="2400" b="0" u="none" kern="1200" baseline="0">
          <a:solidFill>
            <a:schemeClr val="tx1"/>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Font typeface="Arial" panose="020B0604020202020204" pitchFamily="34" charset="0"/>
        <a:buNone/>
        <a:defRPr sz="2400" b="0" u="none" kern="1200" baseline="0">
          <a:solidFill>
            <a:schemeClr val="tx1"/>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Font typeface="Arial" panose="020B0604020202020204" pitchFamily="34" charset="0"/>
        <a:buNone/>
        <a:defRPr sz="2400" b="0" u="none" kern="1200" baseline="0">
          <a:solidFill>
            <a:schemeClr val="tx1"/>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Font typeface="Arial" panose="020B0604020202020204" pitchFamily="34" charset="0"/>
        <a:buNone/>
        <a:defRPr sz="2400" b="0" u="none" kern="1200" baseline="0">
          <a:solidFill>
            <a:schemeClr val="tx1"/>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Font typeface="Arial" panose="020B0604020202020204" pitchFamily="34" charset="0"/>
        <a:buNone/>
        <a:defRPr sz="2400" b="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1.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1.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2.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3.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2.emf"/><Relationship Id="rId5" Type="http://schemas.openxmlformats.org/officeDocument/2006/relationships/oleObject" Target="../embeddings/oleObject7.bin"/><Relationship Id="rId4" Type="http://schemas.openxmlformats.org/officeDocument/2006/relationships/image" Target="../media/image3.emf"/></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8" Type="http://schemas.openxmlformats.org/officeDocument/2006/relationships/image" Target="../media/image9.wmf"/><Relationship Id="rId13" Type="http://schemas.openxmlformats.org/officeDocument/2006/relationships/oleObject" Target="../embeddings/oleObject13.bin"/><Relationship Id="rId3" Type="http://schemas.openxmlformats.org/officeDocument/2006/relationships/oleObject" Target="../embeddings/oleObject8.bin"/><Relationship Id="rId7" Type="http://schemas.openxmlformats.org/officeDocument/2006/relationships/oleObject" Target="../embeddings/oleObject10.bin"/><Relationship Id="rId12" Type="http://schemas.openxmlformats.org/officeDocument/2006/relationships/image" Target="../media/image11.wmf"/><Relationship Id="rId2" Type="http://schemas.openxmlformats.org/officeDocument/2006/relationships/slideLayout" Target="../slideLayouts/slideLayout7.xml"/><Relationship Id="rId16" Type="http://schemas.openxmlformats.org/officeDocument/2006/relationships/image" Target="../media/image13.wmf"/><Relationship Id="rId1" Type="http://schemas.openxmlformats.org/officeDocument/2006/relationships/vmlDrawing" Target="../drawings/vmlDrawing7.vml"/><Relationship Id="rId6" Type="http://schemas.openxmlformats.org/officeDocument/2006/relationships/image" Target="../media/image8.wmf"/><Relationship Id="rId11" Type="http://schemas.openxmlformats.org/officeDocument/2006/relationships/oleObject" Target="../embeddings/oleObject12.bin"/><Relationship Id="rId5" Type="http://schemas.openxmlformats.org/officeDocument/2006/relationships/oleObject" Target="../embeddings/oleObject9.bin"/><Relationship Id="rId15" Type="http://schemas.openxmlformats.org/officeDocument/2006/relationships/oleObject" Target="../embeddings/oleObject14.bin"/><Relationship Id="rId10" Type="http://schemas.openxmlformats.org/officeDocument/2006/relationships/image" Target="../media/image10.wmf"/><Relationship Id="rId4" Type="http://schemas.openxmlformats.org/officeDocument/2006/relationships/image" Target="../media/image7.wmf"/><Relationship Id="rId9" Type="http://schemas.openxmlformats.org/officeDocument/2006/relationships/oleObject" Target="../embeddings/oleObject11.bin"/><Relationship Id="rId14" Type="http://schemas.openxmlformats.org/officeDocument/2006/relationships/image" Target="../media/image12.wmf"/></Relationships>
</file>

<file path=ppt/slides/_rels/slide37.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15.bin"/><Relationship Id="rId7"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15.wmf"/><Relationship Id="rId5" Type="http://schemas.openxmlformats.org/officeDocument/2006/relationships/oleObject" Target="../embeddings/oleObject16.bin"/><Relationship Id="rId10" Type="http://schemas.openxmlformats.org/officeDocument/2006/relationships/image" Target="../media/image17.wmf"/><Relationship Id="rId4" Type="http://schemas.openxmlformats.org/officeDocument/2006/relationships/image" Target="../media/image14.wmf"/><Relationship Id="rId9" Type="http://schemas.openxmlformats.org/officeDocument/2006/relationships/oleObject" Target="../embeddings/oleObject18.bin"/></Relationships>
</file>

<file path=ppt/slides/_rels/slide38.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19.bin"/><Relationship Id="rId7" Type="http://schemas.openxmlformats.org/officeDocument/2006/relationships/oleObject" Target="../embeddings/oleObject21.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19.wmf"/><Relationship Id="rId5" Type="http://schemas.openxmlformats.org/officeDocument/2006/relationships/oleObject" Target="../embeddings/oleObject20.bin"/><Relationship Id="rId10" Type="http://schemas.openxmlformats.org/officeDocument/2006/relationships/image" Target="../media/image21.wmf"/><Relationship Id="rId4" Type="http://schemas.openxmlformats.org/officeDocument/2006/relationships/image" Target="../media/image18.wmf"/><Relationship Id="rId9" Type="http://schemas.openxmlformats.org/officeDocument/2006/relationships/oleObject" Target="../embeddings/oleObject22.bin"/></Relationships>
</file>

<file path=ppt/slides/_rels/slide39.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23.bin"/><Relationship Id="rId7" Type="http://schemas.openxmlformats.org/officeDocument/2006/relationships/oleObject" Target="../embeddings/oleObject25.bin"/><Relationship Id="rId12" Type="http://schemas.openxmlformats.org/officeDocument/2006/relationships/image" Target="../media/image26.wmf"/><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23.wmf"/><Relationship Id="rId11" Type="http://schemas.openxmlformats.org/officeDocument/2006/relationships/oleObject" Target="../embeddings/oleObject27.bin"/><Relationship Id="rId5" Type="http://schemas.openxmlformats.org/officeDocument/2006/relationships/oleObject" Target="../embeddings/oleObject24.bin"/><Relationship Id="rId10" Type="http://schemas.openxmlformats.org/officeDocument/2006/relationships/image" Target="../media/image25.wmf"/><Relationship Id="rId4" Type="http://schemas.openxmlformats.org/officeDocument/2006/relationships/image" Target="../media/image22.wmf"/><Relationship Id="rId9" Type="http://schemas.openxmlformats.org/officeDocument/2006/relationships/oleObject" Target="../embeddings/oleObject26.bin"/></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7.xml"/><Relationship Id="rId1" Type="http://schemas.openxmlformats.org/officeDocument/2006/relationships/vmlDrawing" Target="../drawings/vmlDrawing11.vml"/><Relationship Id="rId4" Type="http://schemas.openxmlformats.org/officeDocument/2006/relationships/image" Target="../media/image27.wm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hyperlink" Target="ch06_exp_of_668.ppt" TargetMode="Externa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hyperlink" Target="ch06_exp_of_min_cover.ppt" TargetMode="Externa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slide" Target="slide80.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slide" Target="slide109.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slide" Target="slide11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slide" Target="slide124.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Rectangle 2"/>
          <p:cNvSpPr>
            <a:spLocks noGrp="1"/>
          </p:cNvSpPr>
          <p:nvPr>
            <p:ph type="ctrTitle"/>
          </p:nvPr>
        </p:nvSpPr>
        <p:spPr>
          <a:xfrm>
            <a:off x="381000" y="762000"/>
            <a:ext cx="8382000" cy="4114800"/>
          </a:xfrm>
        </p:spPr>
        <p:txBody>
          <a:bodyPr wrap="square" anchor="ctr"/>
          <a:lstStyle>
            <a:lvl1pPr lvl="0">
              <a:defRPr/>
            </a:lvl1pPr>
          </a:lstStyle>
          <a:p>
            <a:pPr lvl="0" eaLnBrk="1" hangingPunct="1">
              <a:lnSpc>
                <a:spcPct val="150000"/>
              </a:lnSpc>
            </a:pPr>
            <a:r>
              <a:rPr lang="en-US" altLang="x-none" sz="4400" dirty="0">
                <a:solidFill>
                  <a:schemeClr val="accent2"/>
                </a:solidFill>
                <a:latin typeface="Arial" panose="020B0604020202020204" pitchFamily="34" charset="0"/>
                <a:ea typeface="宋体" panose="02010600030101010101" pitchFamily="2" charset="-122"/>
              </a:rPr>
              <a:t>Chapter 6</a:t>
            </a:r>
            <a:br>
              <a:rPr lang="en-US" altLang="x-none" sz="4400" dirty="0">
                <a:solidFill>
                  <a:schemeClr val="accent2"/>
                </a:solidFill>
                <a:latin typeface="Arial" panose="020B0604020202020204" pitchFamily="34" charset="0"/>
                <a:ea typeface="宋体" panose="02010600030101010101" pitchFamily="2" charset="-122"/>
              </a:rPr>
            </a:br>
            <a:r>
              <a:rPr lang="en-US" altLang="x-none" sz="4400" dirty="0">
                <a:solidFill>
                  <a:schemeClr val="accent2"/>
                </a:solidFill>
                <a:latin typeface="Arial" panose="020B0604020202020204" pitchFamily="34" charset="0"/>
                <a:ea typeface="宋体" panose="02010600030101010101" pitchFamily="2" charset="-122"/>
              </a:rPr>
              <a:t> </a:t>
            </a:r>
            <a:r>
              <a:rPr lang="en-US" altLang="x-none" sz="4400" dirty="0">
                <a:solidFill>
                  <a:srgbClr val="FF0066"/>
                </a:solidFill>
                <a:ea typeface="宋体" panose="02010600030101010101" pitchFamily="2" charset="-122"/>
              </a:rPr>
              <a:t>Database Design</a:t>
            </a:r>
            <a:br>
              <a:rPr lang="en-US" altLang="x-none" sz="4400" dirty="0">
                <a:solidFill>
                  <a:srgbClr val="FF0066"/>
                </a:solidFill>
                <a:ea typeface="宋体" panose="02010600030101010101" pitchFamily="2" charset="-122"/>
              </a:rPr>
            </a:br>
            <a:r>
              <a:rPr lang="en-US" altLang="x-none" sz="4400" dirty="0">
                <a:solidFill>
                  <a:srgbClr val="FF0066"/>
                </a:solidFill>
                <a:ea typeface="宋体" panose="02010600030101010101" pitchFamily="2" charset="-122"/>
              </a:rPr>
              <a:t>(</a:t>
            </a:r>
            <a:r>
              <a:rPr lang="en-US" altLang="x-none" sz="4400" b="0" dirty="0">
                <a:solidFill>
                  <a:srgbClr val="FF0066"/>
                </a:solidFill>
                <a:latin typeface="Arial" panose="020B0604020202020204" pitchFamily="34" charset="0"/>
                <a:ea typeface="宋体" panose="02010600030101010101" pitchFamily="2" charset="-122"/>
              </a:rPr>
              <a:t>Part </a:t>
            </a:r>
            <a:r>
              <a:rPr lang="en-US" altLang="x-none" sz="4400" b="0" dirty="0">
                <a:solidFill>
                  <a:srgbClr val="FF0066"/>
                </a:solidFill>
                <a:latin typeface="Arial" panose="020B0604020202020204" pitchFamily="34" charset="0"/>
                <a:ea typeface="微软雅黑" panose="020B0503020204020204" charset="-122"/>
              </a:rPr>
              <a:t>Ⅱ</a:t>
            </a:r>
            <a:r>
              <a:rPr lang="en-US" altLang="x-none" sz="4400" dirty="0">
                <a:solidFill>
                  <a:srgbClr val="FF0066"/>
                </a:solidFill>
                <a:latin typeface="微软雅黑" panose="020B0503020204020204" charset="-122"/>
                <a:ea typeface="微软雅黑" panose="020B0503020204020204" charset="-122"/>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8434"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8435"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2</a:t>
            </a:fld>
            <a:endParaRPr lang="zh-CN" altLang="en-US" sz="1200" b="1" i="1" dirty="0">
              <a:latin typeface="Times New Roman" panose="02020603050405020304" pitchFamily="2" charset="0"/>
              <a:ea typeface="宋体" panose="02010600030101010101" pitchFamily="2" charset="-122"/>
            </a:endParaRPr>
          </a:p>
        </p:txBody>
      </p:sp>
      <p:sp>
        <p:nvSpPr>
          <p:cNvPr id="18436" name="Rectangle 2"/>
          <p:cNvSpPr>
            <a:spLocks noGrp="1"/>
          </p:cNvSpPr>
          <p:nvPr>
            <p:ph type="title"/>
          </p:nvPr>
        </p:nvSpPr>
        <p:spPr/>
        <p:txBody>
          <a:bodyPr wrap="square" anchor="ctr"/>
          <a:lstStyle/>
          <a:p>
            <a:pPr lvl="0" eaLnBrk="1" hangingPunct="1"/>
            <a:r>
              <a:rPr lang="en-US" altLang="x-none" dirty="0">
                <a:ea typeface="宋体" panose="02010600030101010101" pitchFamily="2" charset="-122"/>
              </a:rPr>
              <a:t>Contents</a:t>
            </a:r>
          </a:p>
        </p:txBody>
      </p:sp>
      <p:sp>
        <p:nvSpPr>
          <p:cNvPr id="18437" name="Rectangle 3"/>
          <p:cNvSpPr>
            <a:spLocks noGrp="1"/>
          </p:cNvSpPr>
          <p:nvPr>
            <p:ph type="body"/>
          </p:nvPr>
        </p:nvSpPr>
        <p:spPr/>
        <p:txBody>
          <a:bodyPr wrap="square" anchor="t"/>
          <a:lstStyle/>
          <a:p>
            <a:pPr lvl="0" eaLnBrk="1" hangingPunct="1">
              <a:lnSpc>
                <a:spcPct val="150000"/>
              </a:lnSpc>
              <a:spcBef>
                <a:spcPct val="0"/>
              </a:spcBef>
              <a:buNone/>
            </a:pPr>
            <a:r>
              <a:rPr lang="en-US" altLang="x-none" dirty="0">
                <a:solidFill>
                  <a:schemeClr val="accent6"/>
                </a:solidFill>
                <a:ea typeface="宋体" panose="02010600030101010101" pitchFamily="2" charset="-122"/>
              </a:rPr>
              <a:t>6.1  Introduction to E-R Concepts</a:t>
            </a:r>
          </a:p>
          <a:p>
            <a:pPr lvl="0" eaLnBrk="1" hangingPunct="1">
              <a:lnSpc>
                <a:spcPct val="150000"/>
              </a:lnSpc>
              <a:spcBef>
                <a:spcPct val="0"/>
              </a:spcBef>
              <a:buNone/>
            </a:pPr>
            <a:r>
              <a:rPr lang="en-US" altLang="x-none" dirty="0">
                <a:solidFill>
                  <a:schemeClr val="accent6"/>
                </a:solidFill>
                <a:ea typeface="宋体" panose="02010600030101010101" pitchFamily="2" charset="-122"/>
              </a:rPr>
              <a:t>6.2  Further Details of E-R Diagrams</a:t>
            </a:r>
          </a:p>
          <a:p>
            <a:pPr lvl="0" eaLnBrk="1" hangingPunct="1">
              <a:lnSpc>
                <a:spcPct val="150000"/>
              </a:lnSpc>
              <a:spcBef>
                <a:spcPct val="0"/>
              </a:spcBef>
              <a:buNone/>
            </a:pPr>
            <a:r>
              <a:rPr lang="en-US" altLang="x-none" dirty="0">
                <a:solidFill>
                  <a:schemeClr val="accent6"/>
                </a:solidFill>
                <a:ea typeface="宋体" panose="02010600030101010101" pitchFamily="2" charset="-122"/>
              </a:rPr>
              <a:t>6.3  Additional E-R Concepts</a:t>
            </a:r>
          </a:p>
          <a:p>
            <a:pPr lvl="0" eaLnBrk="1" hangingPunct="1">
              <a:lnSpc>
                <a:spcPct val="150000"/>
              </a:lnSpc>
              <a:spcBef>
                <a:spcPct val="0"/>
              </a:spcBef>
              <a:buNone/>
            </a:pPr>
            <a:r>
              <a:rPr lang="en-US" altLang="x-none" dirty="0">
                <a:solidFill>
                  <a:schemeClr val="accent6"/>
                </a:solidFill>
                <a:ea typeface="宋体" panose="02010600030101010101" pitchFamily="2" charset="-122"/>
              </a:rPr>
              <a:t>6.4  Case Study</a:t>
            </a:r>
          </a:p>
          <a:p>
            <a:pPr lvl="0" eaLnBrk="1" hangingPunct="1">
              <a:lnSpc>
                <a:spcPct val="150000"/>
              </a:lnSpc>
              <a:spcBef>
                <a:spcPct val="0"/>
              </a:spcBef>
              <a:buNone/>
            </a:pPr>
            <a:r>
              <a:rPr lang="en-US" altLang="x-none" dirty="0">
                <a:solidFill>
                  <a:srgbClr val="FF0000"/>
                </a:solidFill>
                <a:ea typeface="宋体" panose="02010600030101010101" pitchFamily="2" charset="-122"/>
              </a:rPr>
              <a:t>6.5  Normalization: Preliminaries</a:t>
            </a:r>
          </a:p>
          <a:p>
            <a:pPr lvl="0" eaLnBrk="1" hangingPunct="1">
              <a:lnSpc>
                <a:spcPct val="150000"/>
              </a:lnSpc>
              <a:spcBef>
                <a:spcPct val="0"/>
              </a:spcBef>
              <a:buNone/>
            </a:pPr>
            <a:r>
              <a:rPr lang="en-US" altLang="x-none" dirty="0">
                <a:solidFill>
                  <a:srgbClr val="FF0000"/>
                </a:solidFill>
                <a:ea typeface="宋体" panose="02010600030101010101" pitchFamily="2" charset="-122"/>
              </a:rPr>
              <a:t>6.6  Functional Dependencies</a:t>
            </a:r>
          </a:p>
          <a:p>
            <a:pPr lvl="0" eaLnBrk="1" hangingPunct="1">
              <a:lnSpc>
                <a:spcPct val="150000"/>
              </a:lnSpc>
              <a:spcBef>
                <a:spcPct val="0"/>
              </a:spcBef>
              <a:buNone/>
            </a:pPr>
            <a:r>
              <a:rPr lang="en-US" altLang="x-none" dirty="0">
                <a:solidFill>
                  <a:srgbClr val="FF0000"/>
                </a:solidFill>
                <a:ea typeface="宋体" panose="02010600030101010101" pitchFamily="2" charset="-122"/>
              </a:rPr>
              <a:t>6.7  Lossless Decompositions</a:t>
            </a:r>
          </a:p>
          <a:p>
            <a:pPr lvl="0" eaLnBrk="1" hangingPunct="1">
              <a:lnSpc>
                <a:spcPct val="150000"/>
              </a:lnSpc>
              <a:spcBef>
                <a:spcPct val="0"/>
              </a:spcBef>
              <a:buNone/>
            </a:pPr>
            <a:r>
              <a:rPr lang="en-US" altLang="x-none" dirty="0">
                <a:solidFill>
                  <a:srgbClr val="FF0000"/>
                </a:solidFill>
                <a:ea typeface="宋体" panose="02010600030101010101" pitchFamily="2" charset="-122"/>
              </a:rPr>
              <a:t>6.8  Normal Forms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82946"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82947"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3</a:t>
            </a:fld>
            <a:endParaRPr lang="zh-CN" altLang="en-US" sz="1200" b="1" i="1" dirty="0">
              <a:latin typeface="Times New Roman" panose="02020603050405020304" pitchFamily="2" charset="0"/>
              <a:ea typeface="宋体" panose="02010600030101010101" pitchFamily="2" charset="-122"/>
            </a:endParaRPr>
          </a:p>
        </p:txBody>
      </p:sp>
      <p:sp>
        <p:nvSpPr>
          <p:cNvPr id="82948"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6.5 </a:t>
            </a:r>
            <a:r>
              <a:rPr lang="en-US" altLang="x-none" dirty="0">
                <a:ea typeface="宋体" panose="02010600030101010101" pitchFamily="2" charset="-122"/>
              </a:rPr>
              <a:t>Normalization(</a:t>
            </a:r>
            <a:r>
              <a:rPr lang="zh-CN" altLang="en-US" dirty="0">
                <a:ea typeface="宋体" panose="02010600030101010101" pitchFamily="2" charset="-122"/>
              </a:rPr>
              <a:t>规范化</a:t>
            </a:r>
            <a:r>
              <a:rPr lang="en-US" altLang="x-none" dirty="0">
                <a:ea typeface="宋体" panose="02010600030101010101" pitchFamily="2" charset="-122"/>
              </a:rPr>
              <a:t>): Preliminaries</a:t>
            </a:r>
          </a:p>
        </p:txBody>
      </p:sp>
      <p:sp>
        <p:nvSpPr>
          <p:cNvPr id="82949" name="Rectangle 3"/>
          <p:cNvSpPr>
            <a:spLocks noGrp="1"/>
          </p:cNvSpPr>
          <p:nvPr>
            <p:ph type="body"/>
          </p:nvPr>
        </p:nvSpPr>
        <p:spPr/>
        <p:txBody>
          <a:bodyPr wrap="square" anchor="t"/>
          <a:lstStyle/>
          <a:p>
            <a:pPr lvl="0" eaLnBrk="1" hangingPunct="1"/>
            <a:r>
              <a:rPr lang="en-US" altLang="x-none" dirty="0">
                <a:ea typeface="宋体" panose="02010600030101010101" pitchFamily="2" charset="-122"/>
              </a:rPr>
              <a:t>Normalization &amp; Normal Form (NF</a:t>
            </a:r>
            <a:r>
              <a:rPr lang="zh-CN" altLang="en-US" dirty="0">
                <a:ea typeface="宋体" panose="02010600030101010101" pitchFamily="2" charset="-122"/>
              </a:rPr>
              <a:t>，范式</a:t>
            </a:r>
            <a:r>
              <a:rPr lang="en-US" altLang="x-none" dirty="0">
                <a:ea typeface="宋体" panose="02010600030101010101" pitchFamily="2" charset="-122"/>
              </a:rPr>
              <a:t>)</a:t>
            </a:r>
          </a:p>
          <a:p>
            <a:pPr lvl="0" eaLnBrk="1" hangingPunct="1"/>
            <a:endParaRPr lang="en-US" altLang="x-none" dirty="0">
              <a:ea typeface="宋体" panose="02010600030101010101" pitchFamily="2" charset="-122"/>
            </a:endParaRPr>
          </a:p>
          <a:p>
            <a:pPr lvl="0" eaLnBrk="1" hangingPunct="1"/>
            <a:r>
              <a:rPr lang="en-US" altLang="x-none" dirty="0">
                <a:ea typeface="宋体" panose="02010600030101010101" pitchFamily="2" charset="-122"/>
              </a:rPr>
              <a:t>A Running Example</a:t>
            </a:r>
          </a:p>
          <a:p>
            <a:pPr lvl="1" indent="-285750" eaLnBrk="1" hangingPunct="1"/>
            <a:r>
              <a:rPr lang="en-US" altLang="x-none" dirty="0">
                <a:ea typeface="宋体" panose="02010600030101010101" pitchFamily="2" charset="-122"/>
              </a:rPr>
              <a:t>Figure 6.15 (pg. 354)</a:t>
            </a:r>
          </a:p>
          <a:p>
            <a:pPr lvl="2" indent="-228600" eaLnBrk="1" hangingPunct="1"/>
            <a:r>
              <a:rPr lang="en-US" altLang="x-none" dirty="0">
                <a:ea typeface="宋体" panose="02010600030101010101" pitchFamily="2" charset="-122"/>
              </a:rPr>
              <a:t>Employee,  Department,  Skill</a:t>
            </a:r>
          </a:p>
          <a:p>
            <a:pPr lvl="2" indent="-228600" eaLnBrk="1" hangingPunct="1"/>
            <a:endParaRPr lang="en-US" altLang="x-none" dirty="0">
              <a:ea typeface="宋体" panose="02010600030101010101" pitchFamily="2" charset="-122"/>
            </a:endParaRPr>
          </a:p>
          <a:p>
            <a:pPr lvl="0" indent="-228600" eaLnBrk="1" hangingPunct="1"/>
            <a:r>
              <a:rPr lang="en-US" altLang="x-none" dirty="0">
                <a:ea typeface="宋体" panose="02010600030101010101" pitchFamily="2" charset="-122"/>
              </a:rPr>
              <a:t>Anomalies of a Bad Database Design</a:t>
            </a:r>
          </a:p>
          <a:p>
            <a:pPr lvl="1" indent="-285750" eaLnBrk="1" hangingPunct="1"/>
            <a:r>
              <a:rPr lang="en-US" altLang="x-none" dirty="0">
                <a:ea typeface="宋体" panose="02010600030101010101" pitchFamily="2" charset="-122"/>
              </a:rPr>
              <a:t>Def. 6.5.1 Update Anomaly</a:t>
            </a:r>
          </a:p>
          <a:p>
            <a:pPr lvl="1" indent="-285750" eaLnBrk="1" hangingPunct="1"/>
            <a:r>
              <a:rPr lang="en-US" altLang="x-none" dirty="0">
                <a:ea typeface="宋体" panose="02010600030101010101" pitchFamily="2" charset="-122"/>
              </a:rPr>
              <a:t>Def. 6.5.2 Delete Anomaly, Insert Anomaly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ea typeface="宋体" panose="02010600030101010101" pitchFamily="2" charset="-122"/>
                <a:sym typeface="+mn-ea"/>
              </a:rPr>
              <a:t>6.5 </a:t>
            </a:r>
            <a:r>
              <a:rPr lang="en-US" altLang="x-none" dirty="0">
                <a:ea typeface="宋体" panose="02010600030101010101" pitchFamily="2" charset="-122"/>
                <a:sym typeface="+mn-ea"/>
              </a:rPr>
              <a:t>Normalization(</a:t>
            </a:r>
            <a:r>
              <a:rPr lang="zh-CN" altLang="en-US" dirty="0">
                <a:ea typeface="宋体" panose="02010600030101010101" pitchFamily="2" charset="-122"/>
                <a:sym typeface="+mn-ea"/>
              </a:rPr>
              <a:t>规范化</a:t>
            </a:r>
            <a:r>
              <a:rPr lang="en-US" altLang="x-none" dirty="0">
                <a:ea typeface="宋体" panose="02010600030101010101" pitchFamily="2" charset="-122"/>
                <a:sym typeface="+mn-ea"/>
              </a:rPr>
              <a:t>): Preliminaries</a:t>
            </a:r>
            <a:endParaRPr lang="zh-CN" altLang="en-US"/>
          </a:p>
        </p:txBody>
      </p:sp>
      <p:sp>
        <p:nvSpPr>
          <p:cNvPr id="3" name="内容占位符 2"/>
          <p:cNvSpPr>
            <a:spLocks noGrp="1"/>
          </p:cNvSpPr>
          <p:nvPr>
            <p:ph idx="1"/>
          </p:nvPr>
        </p:nvSpPr>
        <p:spPr>
          <a:xfrm>
            <a:off x="457200" y="766445"/>
            <a:ext cx="8229600" cy="953135"/>
          </a:xfrm>
        </p:spPr>
        <p:txBody>
          <a:bodyPr>
            <a:spAutoFit/>
          </a:bodyPr>
          <a:lstStyle/>
          <a:p>
            <a:r>
              <a:rPr lang="en-US" altLang="x-none" dirty="0">
                <a:solidFill>
                  <a:schemeClr val="accent6"/>
                </a:solidFill>
                <a:ea typeface="宋体" panose="02010600030101010101" pitchFamily="2" charset="-122"/>
                <a:sym typeface="+mn-ea"/>
              </a:rPr>
              <a:t>Normalization is another approach to logical design of a relational database.</a:t>
            </a:r>
            <a:endParaRPr lang="en-US" altLang="zh-CN">
              <a:solidFill>
                <a:schemeClr val="accent6"/>
              </a:solidFill>
            </a:endParaRPr>
          </a:p>
        </p:txBody>
      </p:sp>
      <p:sp>
        <p:nvSpPr>
          <p:cNvPr id="4" name="矩形 3"/>
          <p:cNvSpPr/>
          <p:nvPr/>
        </p:nvSpPr>
        <p:spPr>
          <a:xfrm>
            <a:off x="809625" y="1827530"/>
            <a:ext cx="2592070" cy="12600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chemeClr val="accent6"/>
                </a:solidFill>
              </a:rPr>
              <a:t>all data items (as columns) in the same table</a:t>
            </a:r>
          </a:p>
        </p:txBody>
      </p:sp>
      <p:sp>
        <p:nvSpPr>
          <p:cNvPr id="5" name="矩形 4"/>
          <p:cNvSpPr/>
          <p:nvPr/>
        </p:nvSpPr>
        <p:spPr>
          <a:xfrm>
            <a:off x="5741670" y="1827530"/>
            <a:ext cx="2592070" cy="12600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chemeClr val="accent6"/>
                </a:solidFill>
                <a:sym typeface="+mn-ea"/>
              </a:rPr>
              <a:t>logical design of a relational database</a:t>
            </a:r>
          </a:p>
        </p:txBody>
      </p:sp>
      <p:sp>
        <p:nvSpPr>
          <p:cNvPr id="6" name="右箭头 5"/>
          <p:cNvSpPr/>
          <p:nvPr/>
        </p:nvSpPr>
        <p:spPr>
          <a:xfrm>
            <a:off x="3492500" y="2067560"/>
            <a:ext cx="2188845" cy="72009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rgbClr val="FF0000"/>
                </a:solidFill>
              </a:rPr>
              <a:t>normalization</a:t>
            </a:r>
          </a:p>
        </p:txBody>
      </p:sp>
      <p:grpSp>
        <p:nvGrpSpPr>
          <p:cNvPr id="20" name="组合 19"/>
          <p:cNvGrpSpPr/>
          <p:nvPr/>
        </p:nvGrpSpPr>
        <p:grpSpPr>
          <a:xfrm>
            <a:off x="290830" y="4681220"/>
            <a:ext cx="8657590" cy="1583690"/>
            <a:chOff x="458" y="7372"/>
            <a:chExt cx="13634" cy="2494"/>
          </a:xfrm>
        </p:grpSpPr>
        <p:sp>
          <p:nvSpPr>
            <p:cNvPr id="7" name="矩形 6"/>
            <p:cNvSpPr/>
            <p:nvPr/>
          </p:nvSpPr>
          <p:spPr>
            <a:xfrm>
              <a:off x="458" y="7372"/>
              <a:ext cx="1805" cy="249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chemeClr val="accent6"/>
                  </a:solidFill>
                </a:rPr>
                <a:t>all data items</a:t>
              </a:r>
            </a:p>
          </p:txBody>
        </p:sp>
        <p:sp>
          <p:nvSpPr>
            <p:cNvPr id="13" name="右箭头 12"/>
            <p:cNvSpPr/>
            <p:nvPr/>
          </p:nvSpPr>
          <p:spPr>
            <a:xfrm>
              <a:off x="2441" y="8089"/>
              <a:ext cx="1515" cy="1134"/>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2000" b="1">
                  <a:solidFill>
                    <a:srgbClr val="FF0000"/>
                  </a:solidFill>
                </a:rPr>
                <a:t>建模</a:t>
              </a:r>
            </a:p>
          </p:txBody>
        </p:sp>
        <p:sp>
          <p:nvSpPr>
            <p:cNvPr id="14" name="矩形 13"/>
            <p:cNvSpPr/>
            <p:nvPr/>
          </p:nvSpPr>
          <p:spPr>
            <a:xfrm>
              <a:off x="4091" y="7372"/>
              <a:ext cx="1805" cy="249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chemeClr val="accent6"/>
                  </a:solidFill>
                </a:rPr>
                <a:t>E-R</a:t>
              </a:r>
            </a:p>
            <a:p>
              <a:pPr algn="ctr"/>
              <a:r>
                <a:rPr lang="en-US" altLang="zh-CN" b="1">
                  <a:solidFill>
                    <a:schemeClr val="accent6"/>
                  </a:solidFill>
                </a:rPr>
                <a:t>model</a:t>
              </a:r>
            </a:p>
          </p:txBody>
        </p:sp>
        <p:sp>
          <p:nvSpPr>
            <p:cNvPr id="15" name="右箭头 14"/>
            <p:cNvSpPr/>
            <p:nvPr/>
          </p:nvSpPr>
          <p:spPr>
            <a:xfrm>
              <a:off x="6056" y="8089"/>
              <a:ext cx="1515" cy="1134"/>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solidFill>
                    <a:srgbClr val="FF0000"/>
                  </a:solidFill>
                </a:rPr>
                <a:t>转换</a:t>
              </a:r>
            </a:p>
          </p:txBody>
        </p:sp>
        <p:sp>
          <p:nvSpPr>
            <p:cNvPr id="16" name="矩形 15"/>
            <p:cNvSpPr/>
            <p:nvPr/>
          </p:nvSpPr>
          <p:spPr>
            <a:xfrm>
              <a:off x="7731" y="7372"/>
              <a:ext cx="1805" cy="249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chemeClr val="accent6"/>
                  </a:solidFill>
                </a:rPr>
                <a:t>set of tables</a:t>
              </a:r>
            </a:p>
          </p:txBody>
        </p:sp>
        <p:sp>
          <p:nvSpPr>
            <p:cNvPr id="17" name="矩形 16"/>
            <p:cNvSpPr/>
            <p:nvPr/>
          </p:nvSpPr>
          <p:spPr>
            <a:xfrm>
              <a:off x="11344" y="7372"/>
              <a:ext cx="2749" cy="249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chemeClr val="accent6"/>
                  </a:solidFill>
                </a:rPr>
                <a:t>logical design of a RDB</a:t>
              </a:r>
            </a:p>
          </p:txBody>
        </p:sp>
        <p:sp>
          <p:nvSpPr>
            <p:cNvPr id="18" name="右箭头 17"/>
            <p:cNvSpPr/>
            <p:nvPr/>
          </p:nvSpPr>
          <p:spPr>
            <a:xfrm>
              <a:off x="9716" y="8052"/>
              <a:ext cx="1515" cy="1134"/>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2000" b="1">
                  <a:solidFill>
                    <a:srgbClr val="FF0000"/>
                  </a:solidFill>
                </a:rPr>
                <a:t>规范化</a:t>
              </a:r>
            </a:p>
          </p:txBody>
        </p:sp>
      </p:grpSp>
      <p:sp>
        <p:nvSpPr>
          <p:cNvPr id="19" name="内容占位符 2"/>
          <p:cNvSpPr>
            <a:spLocks noGrp="1"/>
          </p:cNvSpPr>
          <p:nvPr/>
        </p:nvSpPr>
        <p:spPr>
          <a:xfrm>
            <a:off x="457200" y="3641090"/>
            <a:ext cx="8229600" cy="953135"/>
          </a:xfrm>
          <a:prstGeom prst="rect">
            <a:avLst/>
          </a:prstGeom>
          <a:noFill/>
          <a:ln w="9525">
            <a:noFill/>
          </a:ln>
        </p:spPr>
        <p:txBody>
          <a:bodyPr anchor="t">
            <a:spAutoFit/>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800" b="1" u="none" kern="1200" baseline="0">
                <a:solidFill>
                  <a:srgbClr val="FF0000"/>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Ø"/>
              <a:defRPr sz="2800" b="1" u="none" kern="1200" baseline="0">
                <a:solidFill>
                  <a:schemeClr val="accent2"/>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accent2"/>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9pPr>
          </a:lstStyle>
          <a:p>
            <a:r>
              <a:rPr lang="en-US" altLang="zh-CN">
                <a:solidFill>
                  <a:schemeClr val="accent6"/>
                </a:solidFill>
              </a:rPr>
              <a:t>The two approaches (Normalization &amp; E-R model) reinforce each other.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500"/>
                                        <p:tgtEl>
                                          <p:spTgt spid="19"/>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blinds(horizontal)">
                                      <p:cBhvr>
                                        <p:cTn id="1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ea typeface="宋体" panose="02010600030101010101" pitchFamily="2" charset="-122"/>
                <a:sym typeface="+mn-ea"/>
              </a:rPr>
              <a:t>6.5 </a:t>
            </a:r>
            <a:r>
              <a:rPr lang="en-US" altLang="x-none" dirty="0">
                <a:ea typeface="宋体" panose="02010600030101010101" pitchFamily="2" charset="-122"/>
                <a:sym typeface="+mn-ea"/>
              </a:rPr>
              <a:t>Normalization(</a:t>
            </a:r>
            <a:r>
              <a:rPr lang="zh-CN" altLang="en-US" dirty="0">
                <a:ea typeface="宋体" panose="02010600030101010101" pitchFamily="2" charset="-122"/>
                <a:sym typeface="+mn-ea"/>
              </a:rPr>
              <a:t>规范化</a:t>
            </a:r>
            <a:r>
              <a:rPr lang="en-US" altLang="x-none" dirty="0">
                <a:ea typeface="宋体" panose="02010600030101010101" pitchFamily="2" charset="-122"/>
                <a:sym typeface="+mn-ea"/>
              </a:rPr>
              <a:t>): Preliminaries</a:t>
            </a:r>
            <a:endParaRPr lang="zh-CN" altLang="en-US"/>
          </a:p>
        </p:txBody>
      </p:sp>
      <p:sp>
        <p:nvSpPr>
          <p:cNvPr id="3" name="内容占位符 2"/>
          <p:cNvSpPr>
            <a:spLocks noGrp="1"/>
          </p:cNvSpPr>
          <p:nvPr>
            <p:ph idx="1"/>
          </p:nvPr>
        </p:nvSpPr>
        <p:spPr>
          <a:xfrm>
            <a:off x="457200" y="838200"/>
            <a:ext cx="8229600" cy="3267075"/>
          </a:xfrm>
        </p:spPr>
        <p:txBody>
          <a:bodyPr>
            <a:spAutoFit/>
          </a:bodyPr>
          <a:lstStyle/>
          <a:p>
            <a:r>
              <a:rPr lang="zh-CN" altLang="zh-CN" sz="2400"/>
              <a:t>规范化设计的目标：</a:t>
            </a:r>
          </a:p>
          <a:p>
            <a:pPr lvl="1"/>
            <a:r>
              <a:rPr lang="zh-CN" altLang="zh-CN" sz="2400"/>
              <a:t>在一个关系中，属性与属性之间需要满足一定的约束条件，这样的约束条件，我们称之为</a:t>
            </a:r>
            <a:r>
              <a:rPr lang="en-US" altLang="zh-CN" sz="2400"/>
              <a:t>‘</a:t>
            </a:r>
            <a:r>
              <a:rPr lang="zh-CN" altLang="en-US" sz="2400"/>
              <a:t>范式</a:t>
            </a:r>
            <a:r>
              <a:rPr lang="en-US" altLang="zh-CN" sz="2400"/>
              <a:t>’ (Normal From)</a:t>
            </a:r>
          </a:p>
          <a:p>
            <a:pPr lvl="1"/>
            <a:r>
              <a:rPr lang="zh-CN" altLang="en-US" sz="2400"/>
              <a:t>不同的约束条件，就构成了不同级别的范式定义</a:t>
            </a:r>
            <a:endParaRPr lang="en-US" altLang="zh-CN" sz="2400"/>
          </a:p>
          <a:p>
            <a:pPr lvl="1"/>
            <a:r>
              <a:rPr lang="zh-CN" altLang="zh-CN" sz="2400"/>
              <a:t>规范化设计的目标，是希望最终设计得到的每一个关系都能满足到特定范式（通常是</a:t>
            </a:r>
            <a:r>
              <a:rPr lang="en-US" altLang="zh-CN" sz="2400"/>
              <a:t>3NF</a:t>
            </a:r>
            <a:r>
              <a:rPr lang="zh-CN" altLang="zh-CN" sz="2400"/>
              <a:t>）的要求，从而避免出现过高的数据冗余存储和操作异常现象。</a:t>
            </a:r>
            <a:endParaRPr lang="en-US" altLang="zh-CN" sz="2400"/>
          </a:p>
        </p:txBody>
      </p:sp>
      <p:sp>
        <p:nvSpPr>
          <p:cNvPr id="4" name="内容占位符 2"/>
          <p:cNvSpPr>
            <a:spLocks noGrp="1"/>
          </p:cNvSpPr>
          <p:nvPr/>
        </p:nvSpPr>
        <p:spPr>
          <a:xfrm>
            <a:off x="457200" y="4199255"/>
            <a:ext cx="8229600" cy="2159000"/>
          </a:xfrm>
          <a:prstGeom prst="rect">
            <a:avLst/>
          </a:prstGeom>
          <a:noFill/>
          <a:ln w="9525">
            <a:noFill/>
          </a:ln>
        </p:spPr>
        <p:txBody>
          <a:bodyPr anchor="t">
            <a:spAutoFit/>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800" b="1" u="none" kern="1200" baseline="0">
                <a:solidFill>
                  <a:srgbClr val="FF0000"/>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Ø"/>
              <a:defRPr sz="2800" b="1" u="none" kern="1200" baseline="0">
                <a:solidFill>
                  <a:schemeClr val="accent2"/>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accent2"/>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9pPr>
          </a:lstStyle>
          <a:p>
            <a:r>
              <a:rPr lang="en-US" altLang="zh-CN" sz="2400"/>
              <a:t>Normal Form</a:t>
            </a:r>
          </a:p>
          <a:p>
            <a:pPr lvl="1"/>
            <a:r>
              <a:rPr lang="en-US" altLang="zh-CN" sz="2400"/>
              <a:t>the first Normal Form (</a:t>
            </a:r>
            <a:r>
              <a:rPr lang="en-US" altLang="zh-CN" sz="2400">
                <a:solidFill>
                  <a:srgbClr val="FF0000"/>
                </a:solidFill>
              </a:rPr>
              <a:t>1NF</a:t>
            </a:r>
            <a:r>
              <a:rPr lang="en-US" altLang="zh-CN" sz="2400"/>
              <a:t>): relational rule 1 in section 2.3</a:t>
            </a:r>
          </a:p>
          <a:p>
            <a:pPr lvl="1"/>
            <a:r>
              <a:rPr lang="en-US" altLang="zh-CN" sz="2400">
                <a:solidFill>
                  <a:srgbClr val="FF0000"/>
                </a:solidFill>
              </a:rPr>
              <a:t>2NF</a:t>
            </a:r>
            <a:r>
              <a:rPr lang="en-US" altLang="zh-CN" sz="2400"/>
              <a:t>,  </a:t>
            </a:r>
            <a:r>
              <a:rPr lang="en-US" altLang="zh-CN" sz="2400">
                <a:solidFill>
                  <a:srgbClr val="FF0000"/>
                </a:solidFill>
              </a:rPr>
              <a:t>3NF</a:t>
            </a:r>
            <a:r>
              <a:rPr lang="en-US" altLang="zh-CN" sz="2400"/>
              <a:t>,  </a:t>
            </a:r>
            <a:r>
              <a:rPr lang="en-US" altLang="zh-CN" sz="2400">
                <a:solidFill>
                  <a:srgbClr val="FF0000"/>
                </a:solidFill>
              </a:rPr>
              <a:t>BCNF</a:t>
            </a:r>
          </a:p>
          <a:p>
            <a:pPr lvl="1"/>
            <a:r>
              <a:rPr lang="en-US" altLang="zh-CN" sz="240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ea typeface="宋体" panose="02010600030101010101" pitchFamily="2" charset="-122"/>
                <a:sym typeface="+mn-ea"/>
              </a:rPr>
              <a:t>6.5 </a:t>
            </a:r>
            <a:r>
              <a:rPr lang="en-US" altLang="x-none" dirty="0">
                <a:ea typeface="宋体" panose="02010600030101010101" pitchFamily="2" charset="-122"/>
                <a:sym typeface="+mn-ea"/>
              </a:rPr>
              <a:t>Normalization(</a:t>
            </a:r>
            <a:r>
              <a:rPr lang="zh-CN" altLang="en-US" dirty="0">
                <a:ea typeface="宋体" panose="02010600030101010101" pitchFamily="2" charset="-122"/>
                <a:sym typeface="+mn-ea"/>
              </a:rPr>
              <a:t>规范化</a:t>
            </a:r>
            <a:r>
              <a:rPr lang="en-US" altLang="x-none" dirty="0">
                <a:ea typeface="宋体" panose="02010600030101010101" pitchFamily="2" charset="-122"/>
                <a:sym typeface="+mn-ea"/>
              </a:rPr>
              <a:t>): Preliminaries</a:t>
            </a:r>
            <a:endParaRPr lang="zh-CN" altLang="en-US"/>
          </a:p>
        </p:txBody>
      </p:sp>
      <p:sp>
        <p:nvSpPr>
          <p:cNvPr id="3" name="内容占位符 2"/>
          <p:cNvSpPr>
            <a:spLocks noGrp="1"/>
          </p:cNvSpPr>
          <p:nvPr>
            <p:ph idx="1"/>
          </p:nvPr>
        </p:nvSpPr>
        <p:spPr>
          <a:xfrm>
            <a:off x="457200" y="5574030"/>
            <a:ext cx="8229600" cy="829945"/>
          </a:xfrm>
        </p:spPr>
        <p:txBody>
          <a:bodyPr wrap="square">
            <a:spAutoFit/>
          </a:bodyPr>
          <a:lstStyle/>
          <a:p>
            <a:pPr marL="1809750" indent="-1809750">
              <a:buNone/>
            </a:pPr>
            <a:r>
              <a:rPr lang="en-US" altLang="zh-CN" sz="2400">
                <a:solidFill>
                  <a:schemeClr val="tx1"/>
                </a:solidFill>
              </a:rPr>
              <a:t>Figure 6.15: Unnormalized Data Items for Employee Information</a:t>
            </a:r>
          </a:p>
        </p:txBody>
      </p:sp>
      <p:sp>
        <p:nvSpPr>
          <p:cNvPr id="4" name="文本框 3"/>
          <p:cNvSpPr txBox="1"/>
          <p:nvPr/>
        </p:nvSpPr>
        <p:spPr>
          <a:xfrm>
            <a:off x="457200" y="734695"/>
            <a:ext cx="8228965" cy="4829810"/>
          </a:xfrm>
          <a:prstGeom prst="rect">
            <a:avLst/>
          </a:prstGeom>
          <a:noFill/>
          <a:ln>
            <a:solidFill>
              <a:schemeClr val="accent1"/>
            </a:solidFill>
          </a:ln>
        </p:spPr>
        <p:txBody>
          <a:bodyPr wrap="square" rtlCol="0">
            <a:spAutoFit/>
          </a:bodyPr>
          <a:lstStyle/>
          <a:p>
            <a:pPr lvl="1">
              <a:lnSpc>
                <a:spcPct val="110000"/>
              </a:lnSpc>
              <a:spcBef>
                <a:spcPts val="0"/>
              </a:spcBef>
              <a:spcAft>
                <a:spcPts val="0"/>
              </a:spcAft>
            </a:pPr>
            <a:r>
              <a:rPr lang="en-US" altLang="zh-CN" sz="2800" b="1">
                <a:solidFill>
                  <a:srgbClr val="0000CC"/>
                </a:solidFill>
                <a:latin typeface="微软雅黑" panose="020B0503020204020204" charset="-122"/>
                <a:ea typeface="微软雅黑" panose="020B0503020204020204" charset="-122"/>
              </a:rPr>
              <a:t>emp_id</a:t>
            </a:r>
          </a:p>
          <a:p>
            <a:pPr lvl="1">
              <a:lnSpc>
                <a:spcPct val="110000"/>
              </a:lnSpc>
              <a:spcBef>
                <a:spcPts val="0"/>
              </a:spcBef>
              <a:spcAft>
                <a:spcPts val="0"/>
              </a:spcAft>
            </a:pPr>
            <a:r>
              <a:rPr lang="en-US" altLang="zh-CN" sz="2800" b="1">
                <a:solidFill>
                  <a:srgbClr val="0000CC"/>
                </a:solidFill>
                <a:latin typeface="微软雅黑" panose="020B0503020204020204" charset="-122"/>
                <a:ea typeface="微软雅黑" panose="020B0503020204020204" charset="-122"/>
              </a:rPr>
              <a:t>emp_name</a:t>
            </a:r>
          </a:p>
          <a:p>
            <a:pPr lvl="1">
              <a:lnSpc>
                <a:spcPct val="110000"/>
              </a:lnSpc>
              <a:spcBef>
                <a:spcPts val="0"/>
              </a:spcBef>
              <a:spcAft>
                <a:spcPts val="0"/>
              </a:spcAft>
            </a:pPr>
            <a:r>
              <a:rPr lang="en-US" altLang="zh-CN" sz="2800" b="1">
                <a:solidFill>
                  <a:srgbClr val="0000CC"/>
                </a:solidFill>
                <a:latin typeface="微软雅黑" panose="020B0503020204020204" charset="-122"/>
                <a:ea typeface="微软雅黑" panose="020B0503020204020204" charset="-122"/>
              </a:rPr>
              <a:t>emp_phone</a:t>
            </a:r>
          </a:p>
          <a:p>
            <a:pPr lvl="1">
              <a:lnSpc>
                <a:spcPct val="110000"/>
              </a:lnSpc>
              <a:spcBef>
                <a:spcPts val="0"/>
              </a:spcBef>
              <a:spcAft>
                <a:spcPts val="0"/>
              </a:spcAft>
            </a:pPr>
            <a:r>
              <a:rPr lang="en-US" altLang="zh-CN" sz="2800" b="1">
                <a:solidFill>
                  <a:srgbClr val="0000CC"/>
                </a:solidFill>
                <a:latin typeface="微软雅黑" panose="020B0503020204020204" charset="-122"/>
                <a:ea typeface="微软雅黑" panose="020B0503020204020204" charset="-122"/>
              </a:rPr>
              <a:t>dept_name</a:t>
            </a:r>
          </a:p>
          <a:p>
            <a:pPr lvl="1">
              <a:lnSpc>
                <a:spcPct val="110000"/>
              </a:lnSpc>
              <a:spcBef>
                <a:spcPts val="0"/>
              </a:spcBef>
              <a:spcAft>
                <a:spcPts val="0"/>
              </a:spcAft>
            </a:pPr>
            <a:r>
              <a:rPr lang="en-US" altLang="zh-CN" sz="2800" b="1">
                <a:solidFill>
                  <a:srgbClr val="0000CC"/>
                </a:solidFill>
                <a:latin typeface="微软雅黑" panose="020B0503020204020204" charset="-122"/>
                <a:ea typeface="微软雅黑" panose="020B0503020204020204" charset="-122"/>
              </a:rPr>
              <a:t>dept_phone</a:t>
            </a:r>
          </a:p>
          <a:p>
            <a:pPr lvl="1">
              <a:lnSpc>
                <a:spcPct val="110000"/>
              </a:lnSpc>
              <a:spcBef>
                <a:spcPts val="0"/>
              </a:spcBef>
              <a:spcAft>
                <a:spcPts val="0"/>
              </a:spcAft>
            </a:pPr>
            <a:r>
              <a:rPr lang="en-US" altLang="zh-CN" sz="2800" b="1">
                <a:solidFill>
                  <a:srgbClr val="0000CC"/>
                </a:solidFill>
                <a:latin typeface="微软雅黑" panose="020B0503020204020204" charset="-122"/>
                <a:ea typeface="微软雅黑" panose="020B0503020204020204" charset="-122"/>
              </a:rPr>
              <a:t>dept_mgrname</a:t>
            </a:r>
          </a:p>
          <a:p>
            <a:pPr lvl="1">
              <a:lnSpc>
                <a:spcPct val="110000"/>
              </a:lnSpc>
              <a:spcBef>
                <a:spcPts val="0"/>
              </a:spcBef>
              <a:spcAft>
                <a:spcPts val="0"/>
              </a:spcAft>
            </a:pPr>
            <a:r>
              <a:rPr lang="en-US" altLang="zh-CN" sz="2800" b="1">
                <a:solidFill>
                  <a:srgbClr val="0000CC"/>
                </a:solidFill>
                <a:latin typeface="微软雅黑" panose="020B0503020204020204" charset="-122"/>
                <a:ea typeface="微软雅黑" panose="020B0503020204020204" charset="-122"/>
              </a:rPr>
              <a:t>skill_id</a:t>
            </a:r>
          </a:p>
          <a:p>
            <a:pPr lvl="1">
              <a:lnSpc>
                <a:spcPct val="110000"/>
              </a:lnSpc>
              <a:spcBef>
                <a:spcPts val="0"/>
              </a:spcBef>
              <a:spcAft>
                <a:spcPts val="0"/>
              </a:spcAft>
            </a:pPr>
            <a:r>
              <a:rPr lang="en-US" altLang="zh-CN" sz="2800" b="1">
                <a:solidFill>
                  <a:srgbClr val="0000CC"/>
                </a:solidFill>
                <a:latin typeface="微软雅黑" panose="020B0503020204020204" charset="-122"/>
                <a:ea typeface="微软雅黑" panose="020B0503020204020204" charset="-122"/>
              </a:rPr>
              <a:t>skill_name</a:t>
            </a:r>
          </a:p>
          <a:p>
            <a:pPr lvl="1">
              <a:lnSpc>
                <a:spcPct val="110000"/>
              </a:lnSpc>
              <a:spcBef>
                <a:spcPts val="0"/>
              </a:spcBef>
              <a:spcAft>
                <a:spcPts val="0"/>
              </a:spcAft>
            </a:pPr>
            <a:r>
              <a:rPr lang="en-US" altLang="zh-CN" sz="2800" b="1">
                <a:solidFill>
                  <a:srgbClr val="0000CC"/>
                </a:solidFill>
                <a:latin typeface="微软雅黑" panose="020B0503020204020204" charset="-122"/>
                <a:ea typeface="微软雅黑" panose="020B0503020204020204" charset="-122"/>
              </a:rPr>
              <a:t>skill_date</a:t>
            </a:r>
          </a:p>
          <a:p>
            <a:pPr lvl="1">
              <a:lnSpc>
                <a:spcPct val="110000"/>
              </a:lnSpc>
              <a:spcBef>
                <a:spcPts val="0"/>
              </a:spcBef>
              <a:spcAft>
                <a:spcPts val="0"/>
              </a:spcAft>
            </a:pPr>
            <a:r>
              <a:rPr lang="en-US" altLang="zh-CN" sz="2800" b="1">
                <a:solidFill>
                  <a:srgbClr val="0000CC"/>
                </a:solidFill>
                <a:latin typeface="微软雅黑" panose="020B0503020204020204" charset="-122"/>
                <a:ea typeface="微软雅黑" panose="020B0503020204020204" charset="-122"/>
              </a:rPr>
              <a:t>skill_lvl</a:t>
            </a:r>
          </a:p>
        </p:txBody>
      </p:sp>
      <p:sp>
        <p:nvSpPr>
          <p:cNvPr id="5" name="文本框 4"/>
          <p:cNvSpPr txBox="1"/>
          <p:nvPr/>
        </p:nvSpPr>
        <p:spPr>
          <a:xfrm>
            <a:off x="3873500" y="4269105"/>
            <a:ext cx="5158740" cy="1198880"/>
          </a:xfrm>
          <a:prstGeom prst="rect">
            <a:avLst/>
          </a:prstGeom>
          <a:solidFill>
            <a:schemeClr val="bg1"/>
          </a:solidFill>
          <a:ln>
            <a:solidFill>
              <a:schemeClr val="accent1"/>
            </a:solidFill>
          </a:ln>
        </p:spPr>
        <p:txBody>
          <a:bodyPr wrap="square" rtlCol="0">
            <a:spAutoFit/>
          </a:bodyPr>
          <a:lstStyle/>
          <a:p>
            <a:r>
              <a:rPr lang="en-US" altLang="zh-CN" b="1">
                <a:solidFill>
                  <a:srgbClr val="FF0000"/>
                </a:solidFill>
              </a:rPr>
              <a:t>emp_id is identifier of employee</a:t>
            </a:r>
          </a:p>
          <a:p>
            <a:r>
              <a:rPr lang="en-US" altLang="zh-CN" b="1">
                <a:solidFill>
                  <a:srgbClr val="FF0000"/>
                </a:solidFill>
              </a:rPr>
              <a:t>dept_name </a:t>
            </a:r>
            <a:r>
              <a:rPr lang="en-US" altLang="zh-CN" b="1">
                <a:solidFill>
                  <a:srgbClr val="FF0000"/>
                </a:solidFill>
                <a:sym typeface="+mn-ea"/>
              </a:rPr>
              <a:t>is identifier of department</a:t>
            </a:r>
          </a:p>
          <a:p>
            <a:r>
              <a:rPr lang="en-US" altLang="zh-CN" b="1">
                <a:solidFill>
                  <a:srgbClr val="FF0000"/>
                </a:solidFill>
                <a:sym typeface="+mn-ea"/>
              </a:rPr>
              <a:t>skill_id is identifier of skill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ea typeface="宋体" panose="02010600030101010101" pitchFamily="2" charset="-122"/>
                <a:sym typeface="+mn-ea"/>
              </a:rPr>
              <a:t>6.5 </a:t>
            </a:r>
            <a:r>
              <a:rPr lang="en-US" altLang="x-none" dirty="0">
                <a:ea typeface="宋体" panose="02010600030101010101" pitchFamily="2" charset="-122"/>
                <a:sym typeface="+mn-ea"/>
              </a:rPr>
              <a:t>Normalization(</a:t>
            </a:r>
            <a:r>
              <a:rPr lang="zh-CN" altLang="en-US" dirty="0">
                <a:ea typeface="宋体" panose="02010600030101010101" pitchFamily="2" charset="-122"/>
                <a:sym typeface="+mn-ea"/>
              </a:rPr>
              <a:t>规范化</a:t>
            </a:r>
            <a:r>
              <a:rPr lang="en-US" altLang="x-none" dirty="0">
                <a:ea typeface="宋体" panose="02010600030101010101" pitchFamily="2" charset="-122"/>
                <a:sym typeface="+mn-ea"/>
              </a:rPr>
              <a:t>): Preliminaries</a:t>
            </a:r>
            <a:endParaRPr lang="zh-CN" altLang="en-US"/>
          </a:p>
        </p:txBody>
      </p:sp>
      <p:graphicFrame>
        <p:nvGraphicFramePr>
          <p:cNvPr id="4" name="表格 3"/>
          <p:cNvGraphicFramePr/>
          <p:nvPr/>
        </p:nvGraphicFramePr>
        <p:xfrm>
          <a:off x="291465" y="885190"/>
          <a:ext cx="8623300" cy="4457700"/>
        </p:xfrm>
        <a:graphic>
          <a:graphicData uri="http://schemas.openxmlformats.org/drawingml/2006/table">
            <a:tbl>
              <a:tblPr firstRow="1" bandRow="1">
                <a:tableStyleId>{5C22544A-7EE6-4342-B048-85BDC9FD1C3A}</a:tableStyleId>
              </a:tblPr>
              <a:tblGrid>
                <a:gridCol w="1231900">
                  <a:extLst>
                    <a:ext uri="{9D8B030D-6E8A-4147-A177-3AD203B41FA5}">
                      <a16:colId xmlns:a16="http://schemas.microsoft.com/office/drawing/2014/main" val="20000"/>
                    </a:ext>
                  </a:extLst>
                </a:gridCol>
                <a:gridCol w="1473200">
                  <a:extLst>
                    <a:ext uri="{9D8B030D-6E8A-4147-A177-3AD203B41FA5}">
                      <a16:colId xmlns:a16="http://schemas.microsoft.com/office/drawing/2014/main" val="20001"/>
                    </a:ext>
                  </a:extLst>
                </a:gridCol>
                <a:gridCol w="749935">
                  <a:extLst>
                    <a:ext uri="{9D8B030D-6E8A-4147-A177-3AD203B41FA5}">
                      <a16:colId xmlns:a16="http://schemas.microsoft.com/office/drawing/2014/main" val="20002"/>
                    </a:ext>
                  </a:extLst>
                </a:gridCol>
                <a:gridCol w="1082040">
                  <a:extLst>
                    <a:ext uri="{9D8B030D-6E8A-4147-A177-3AD203B41FA5}">
                      <a16:colId xmlns:a16="http://schemas.microsoft.com/office/drawing/2014/main" val="20003"/>
                    </a:ext>
                  </a:extLst>
                </a:gridCol>
                <a:gridCol w="1622425">
                  <a:extLst>
                    <a:ext uri="{9D8B030D-6E8A-4147-A177-3AD203B41FA5}">
                      <a16:colId xmlns:a16="http://schemas.microsoft.com/office/drawing/2014/main" val="20004"/>
                    </a:ext>
                  </a:extLst>
                </a:gridCol>
                <a:gridCol w="1231900">
                  <a:extLst>
                    <a:ext uri="{9D8B030D-6E8A-4147-A177-3AD203B41FA5}">
                      <a16:colId xmlns:a16="http://schemas.microsoft.com/office/drawing/2014/main" val="20005"/>
                    </a:ext>
                  </a:extLst>
                </a:gridCol>
                <a:gridCol w="1231900">
                  <a:extLst>
                    <a:ext uri="{9D8B030D-6E8A-4147-A177-3AD203B41FA5}">
                      <a16:colId xmlns:a16="http://schemas.microsoft.com/office/drawing/2014/main" val="20006"/>
                    </a:ext>
                  </a:extLst>
                </a:gridCol>
              </a:tblGrid>
              <a:tr h="445770">
                <a:tc>
                  <a:txBody>
                    <a:bodyPr/>
                    <a:lstStyle/>
                    <a:p>
                      <a:pPr>
                        <a:buNone/>
                      </a:pPr>
                      <a:r>
                        <a:rPr lang="en-US" altLang="zh-CN" sz="2000">
                          <a:solidFill>
                            <a:schemeClr val="accent6"/>
                          </a:solidFill>
                        </a:rPr>
                        <a:t>emp_id</a:t>
                      </a:r>
                    </a:p>
                  </a:txBody>
                  <a:tcPr marL="0" marR="0">
                    <a:lnL w="19050">
                      <a:solidFill>
                        <a:schemeClr val="tx1"/>
                      </a:solidFill>
                      <a:prstDash val="solid"/>
                    </a:lnL>
                    <a:lnR w="12700">
                      <a:solidFill>
                        <a:schemeClr val="tx1"/>
                      </a:solidFill>
                      <a:prstDash val="dot"/>
                    </a:lnR>
                    <a:lnT w="19050">
                      <a:solidFill>
                        <a:schemeClr val="tx1"/>
                      </a:solidFill>
                      <a:prstDash val="solid"/>
                    </a:lnT>
                    <a:lnB w="19050">
                      <a:solidFill>
                        <a:schemeClr val="tx1"/>
                      </a:solidFill>
                      <a:prstDash val="solid"/>
                    </a:lnB>
                    <a:noFill/>
                  </a:tcPr>
                </a:tc>
                <a:tc>
                  <a:txBody>
                    <a:bodyPr/>
                    <a:lstStyle/>
                    <a:p>
                      <a:pPr>
                        <a:buNone/>
                      </a:pPr>
                      <a:r>
                        <a:rPr lang="en-US" altLang="zh-CN" sz="2000">
                          <a:solidFill>
                            <a:schemeClr val="accent6"/>
                          </a:solidFill>
                        </a:rPr>
                        <a:t>emp_name</a:t>
                      </a:r>
                    </a:p>
                  </a:txBody>
                  <a:tcPr marL="0" marR="0">
                    <a:lnL w="12700">
                      <a:solidFill>
                        <a:schemeClr val="tx1"/>
                      </a:solidFill>
                      <a:prstDash val="dot"/>
                    </a:lnL>
                    <a:lnR w="12700">
                      <a:solidFill>
                        <a:schemeClr val="tx1"/>
                      </a:solidFill>
                      <a:prstDash val="dot"/>
                    </a:lnR>
                    <a:lnT w="19050">
                      <a:solidFill>
                        <a:schemeClr val="tx1"/>
                      </a:solidFill>
                      <a:prstDash val="solid"/>
                    </a:lnT>
                    <a:lnB w="19050">
                      <a:solidFill>
                        <a:schemeClr val="tx1"/>
                      </a:solidFill>
                      <a:prstDash val="solid"/>
                    </a:lnB>
                    <a:noFill/>
                  </a:tcPr>
                </a:tc>
                <a:tc>
                  <a:txBody>
                    <a:bodyPr/>
                    <a:lstStyle/>
                    <a:p>
                      <a:pPr>
                        <a:buNone/>
                      </a:pPr>
                      <a:r>
                        <a:rPr lang="en-US" altLang="zh-CN" sz="2000">
                          <a:solidFill>
                            <a:schemeClr val="accent6"/>
                          </a:solidFill>
                        </a:rPr>
                        <a:t>...</a:t>
                      </a:r>
                    </a:p>
                  </a:txBody>
                  <a:tcPr marL="0" marR="0">
                    <a:lnL w="12700">
                      <a:solidFill>
                        <a:schemeClr val="tx1"/>
                      </a:solidFill>
                      <a:prstDash val="dot"/>
                    </a:lnL>
                    <a:lnR w="12700">
                      <a:solidFill>
                        <a:schemeClr val="tx1"/>
                      </a:solidFill>
                      <a:prstDash val="dot"/>
                    </a:lnR>
                    <a:lnT w="19050">
                      <a:solidFill>
                        <a:schemeClr val="tx1"/>
                      </a:solidFill>
                      <a:prstDash val="solid"/>
                    </a:lnT>
                    <a:lnB w="19050">
                      <a:solidFill>
                        <a:schemeClr val="tx1"/>
                      </a:solidFill>
                      <a:prstDash val="solid"/>
                    </a:lnB>
                    <a:noFill/>
                  </a:tcPr>
                </a:tc>
                <a:tc>
                  <a:txBody>
                    <a:bodyPr/>
                    <a:lstStyle/>
                    <a:p>
                      <a:pPr>
                        <a:buNone/>
                      </a:pPr>
                      <a:r>
                        <a:rPr lang="en-US" altLang="zh-CN" sz="2000">
                          <a:solidFill>
                            <a:schemeClr val="accent6"/>
                          </a:solidFill>
                        </a:rPr>
                        <a:t>skill_id</a:t>
                      </a:r>
                    </a:p>
                  </a:txBody>
                  <a:tcPr marL="0" marR="0">
                    <a:lnL w="12700">
                      <a:solidFill>
                        <a:schemeClr val="tx1"/>
                      </a:solidFill>
                      <a:prstDash val="dot"/>
                    </a:lnL>
                    <a:lnR w="12700">
                      <a:solidFill>
                        <a:schemeClr val="tx1"/>
                      </a:solidFill>
                      <a:prstDash val="dot"/>
                    </a:lnR>
                    <a:lnT w="19050">
                      <a:solidFill>
                        <a:schemeClr val="tx1"/>
                      </a:solidFill>
                      <a:prstDash val="solid"/>
                    </a:lnT>
                    <a:lnB w="19050">
                      <a:solidFill>
                        <a:schemeClr val="tx1"/>
                      </a:solidFill>
                      <a:prstDash val="solid"/>
                    </a:lnB>
                    <a:noFill/>
                  </a:tcPr>
                </a:tc>
                <a:tc>
                  <a:txBody>
                    <a:bodyPr/>
                    <a:lstStyle/>
                    <a:p>
                      <a:pPr>
                        <a:buNone/>
                      </a:pPr>
                      <a:r>
                        <a:rPr lang="en-US" altLang="zh-CN" sz="2000">
                          <a:solidFill>
                            <a:schemeClr val="accent6"/>
                          </a:solidFill>
                        </a:rPr>
                        <a:t>skill_name</a:t>
                      </a:r>
                    </a:p>
                  </a:txBody>
                  <a:tcPr marL="0" marR="0">
                    <a:lnL w="12700">
                      <a:solidFill>
                        <a:schemeClr val="tx1"/>
                      </a:solidFill>
                      <a:prstDash val="dot"/>
                    </a:lnL>
                    <a:lnR w="12700">
                      <a:solidFill>
                        <a:schemeClr val="tx1"/>
                      </a:solidFill>
                      <a:prstDash val="dot"/>
                    </a:lnR>
                    <a:lnT w="19050">
                      <a:solidFill>
                        <a:schemeClr val="tx1"/>
                      </a:solidFill>
                      <a:prstDash val="solid"/>
                    </a:lnT>
                    <a:lnB w="19050">
                      <a:solidFill>
                        <a:schemeClr val="tx1"/>
                      </a:solidFill>
                      <a:prstDash val="solid"/>
                    </a:lnB>
                    <a:noFill/>
                  </a:tcPr>
                </a:tc>
                <a:tc>
                  <a:txBody>
                    <a:bodyPr/>
                    <a:lstStyle/>
                    <a:p>
                      <a:pPr>
                        <a:buNone/>
                      </a:pPr>
                      <a:r>
                        <a:rPr lang="en-US" altLang="zh-CN" sz="2000">
                          <a:solidFill>
                            <a:schemeClr val="accent6"/>
                          </a:solidFill>
                        </a:rPr>
                        <a:t>skill_date</a:t>
                      </a:r>
                    </a:p>
                  </a:txBody>
                  <a:tcPr marL="0" marR="0">
                    <a:lnL w="12700">
                      <a:solidFill>
                        <a:schemeClr val="tx1"/>
                      </a:solidFill>
                      <a:prstDash val="dot"/>
                    </a:lnL>
                    <a:lnR w="12700">
                      <a:solidFill>
                        <a:schemeClr val="tx1"/>
                      </a:solidFill>
                      <a:prstDash val="dot"/>
                    </a:lnR>
                    <a:lnT w="19050">
                      <a:solidFill>
                        <a:schemeClr val="tx1"/>
                      </a:solidFill>
                      <a:prstDash val="solid"/>
                    </a:lnT>
                    <a:lnB w="19050">
                      <a:solidFill>
                        <a:schemeClr val="tx1"/>
                      </a:solidFill>
                      <a:prstDash val="solid"/>
                    </a:lnB>
                    <a:noFill/>
                  </a:tcPr>
                </a:tc>
                <a:tc>
                  <a:txBody>
                    <a:bodyPr/>
                    <a:lstStyle/>
                    <a:p>
                      <a:pPr>
                        <a:buNone/>
                      </a:pPr>
                      <a:r>
                        <a:rPr lang="en-US" altLang="zh-CN" sz="2000">
                          <a:solidFill>
                            <a:schemeClr val="accent6"/>
                          </a:solidFill>
                        </a:rPr>
                        <a:t>skill_lvl</a:t>
                      </a:r>
                    </a:p>
                  </a:txBody>
                  <a:tcPr marL="0" marR="0">
                    <a:lnL w="12700">
                      <a:solidFill>
                        <a:schemeClr val="tx1"/>
                      </a:solidFill>
                      <a:prstDash val="dot"/>
                    </a:lnL>
                    <a:lnR w="19050">
                      <a:solidFill>
                        <a:schemeClr val="tx1"/>
                      </a:solidFill>
                      <a:prstDash val="solid"/>
                    </a:lnR>
                    <a:lnT w="19050">
                      <a:solidFill>
                        <a:schemeClr val="tx1"/>
                      </a:solidFill>
                      <a:prstDash val="solid"/>
                    </a:lnT>
                    <a:lnB w="19050">
                      <a:solidFill>
                        <a:schemeClr val="tx1"/>
                      </a:solidFill>
                      <a:prstDash val="solid"/>
                    </a:lnB>
                    <a:noFill/>
                  </a:tcPr>
                </a:tc>
                <a:extLst>
                  <a:ext uri="{0D108BD9-81ED-4DB2-BD59-A6C34878D82A}">
                    <a16:rowId xmlns:a16="http://schemas.microsoft.com/office/drawing/2014/main" val="10000"/>
                  </a:ext>
                </a:extLst>
              </a:tr>
              <a:tr h="445770">
                <a:tc>
                  <a:txBody>
                    <a:bodyPr/>
                    <a:lstStyle/>
                    <a:p>
                      <a:pPr>
                        <a:buNone/>
                      </a:pPr>
                      <a:r>
                        <a:rPr lang="en-US" altLang="zh-CN" sz="2000">
                          <a:solidFill>
                            <a:schemeClr val="accent6"/>
                          </a:solidFill>
                        </a:rPr>
                        <a:t>09112</a:t>
                      </a:r>
                    </a:p>
                  </a:txBody>
                  <a:tcPr marL="0" marR="0">
                    <a:lnL w="19050">
                      <a:solidFill>
                        <a:schemeClr val="tx1"/>
                      </a:solidFill>
                      <a:prstDash val="solid"/>
                    </a:lnL>
                    <a:lnR w="12700">
                      <a:solidFill>
                        <a:schemeClr val="tx1"/>
                      </a:solidFill>
                      <a:prstDash val="dot"/>
                    </a:lnR>
                    <a:lnT w="19050">
                      <a:solidFill>
                        <a:schemeClr val="tx1"/>
                      </a:solidFill>
                      <a:prstDash val="solid"/>
                    </a:lnT>
                    <a:lnB w="12700">
                      <a:solidFill>
                        <a:schemeClr val="tx1"/>
                      </a:solidFill>
                      <a:prstDash val="dot"/>
                    </a:lnB>
                    <a:noFill/>
                  </a:tcPr>
                </a:tc>
                <a:tc>
                  <a:txBody>
                    <a:bodyPr/>
                    <a:lstStyle/>
                    <a:p>
                      <a:pPr>
                        <a:buNone/>
                      </a:pPr>
                      <a:r>
                        <a:rPr lang="en-US" altLang="zh-CN" sz="2000">
                          <a:solidFill>
                            <a:schemeClr val="accent6"/>
                          </a:solidFill>
                        </a:rPr>
                        <a:t>Jones</a:t>
                      </a:r>
                    </a:p>
                  </a:txBody>
                  <a:tcPr marL="0" marR="0">
                    <a:lnL w="12700">
                      <a:solidFill>
                        <a:schemeClr val="tx1"/>
                      </a:solidFill>
                      <a:prstDash val="dot"/>
                    </a:lnL>
                    <a:lnR w="12700">
                      <a:solidFill>
                        <a:schemeClr val="tx1"/>
                      </a:solidFill>
                      <a:prstDash val="dot"/>
                    </a:lnR>
                    <a:lnT w="19050">
                      <a:solidFill>
                        <a:schemeClr val="tx1"/>
                      </a:solidFill>
                      <a:prstDash val="solid"/>
                    </a:lnT>
                    <a:lnB w="12700">
                      <a:solidFill>
                        <a:schemeClr val="tx1"/>
                      </a:solidFill>
                      <a:prstDash val="dot"/>
                    </a:lnB>
                    <a:noFill/>
                  </a:tcPr>
                </a:tc>
                <a:tc>
                  <a:txBody>
                    <a:bodyPr/>
                    <a:lstStyle/>
                    <a:p>
                      <a:pPr>
                        <a:buNone/>
                      </a:pPr>
                      <a:r>
                        <a:rPr lang="en-US" altLang="zh-CN" sz="2000">
                          <a:solidFill>
                            <a:schemeClr val="accent6"/>
                          </a:solidFill>
                          <a:sym typeface="+mn-ea"/>
                        </a:rPr>
                        <a:t>...</a:t>
                      </a:r>
                      <a:endParaRPr lang="zh-CN" altLang="en-US" sz="2000">
                        <a:solidFill>
                          <a:schemeClr val="accent6"/>
                        </a:solidFill>
                      </a:endParaRPr>
                    </a:p>
                  </a:txBody>
                  <a:tcPr marL="0" marR="0">
                    <a:lnL w="12700">
                      <a:solidFill>
                        <a:schemeClr val="tx1"/>
                      </a:solidFill>
                      <a:prstDash val="dot"/>
                    </a:lnL>
                    <a:lnR w="12700">
                      <a:solidFill>
                        <a:schemeClr val="tx1"/>
                      </a:solidFill>
                      <a:prstDash val="dot"/>
                    </a:lnR>
                    <a:lnT w="19050">
                      <a:solidFill>
                        <a:schemeClr val="tx1"/>
                      </a:solidFill>
                      <a:prstDash val="solid"/>
                    </a:lnT>
                    <a:lnB w="12700">
                      <a:solidFill>
                        <a:schemeClr val="tx1"/>
                      </a:solidFill>
                      <a:prstDash val="dot"/>
                    </a:lnB>
                    <a:noFill/>
                  </a:tcPr>
                </a:tc>
                <a:tc>
                  <a:txBody>
                    <a:bodyPr/>
                    <a:lstStyle/>
                    <a:p>
                      <a:pPr>
                        <a:buNone/>
                      </a:pPr>
                      <a:r>
                        <a:rPr lang="en-US" altLang="zh-CN" sz="2000">
                          <a:solidFill>
                            <a:schemeClr val="accent6"/>
                          </a:solidFill>
                        </a:rPr>
                        <a:t>44</a:t>
                      </a:r>
                    </a:p>
                  </a:txBody>
                  <a:tcPr marL="0" marR="0">
                    <a:lnL w="12700">
                      <a:solidFill>
                        <a:schemeClr val="tx1"/>
                      </a:solidFill>
                      <a:prstDash val="dot"/>
                    </a:lnL>
                    <a:lnR w="12700">
                      <a:solidFill>
                        <a:schemeClr val="tx1"/>
                      </a:solidFill>
                      <a:prstDash val="dot"/>
                    </a:lnR>
                    <a:lnT w="19050">
                      <a:solidFill>
                        <a:schemeClr val="tx1"/>
                      </a:solidFill>
                      <a:prstDash val="solid"/>
                    </a:lnT>
                    <a:lnB w="12700">
                      <a:solidFill>
                        <a:schemeClr val="tx1"/>
                      </a:solidFill>
                      <a:prstDash val="dot"/>
                    </a:lnB>
                    <a:noFill/>
                  </a:tcPr>
                </a:tc>
                <a:tc>
                  <a:txBody>
                    <a:bodyPr/>
                    <a:lstStyle/>
                    <a:p>
                      <a:pPr>
                        <a:buNone/>
                      </a:pPr>
                      <a:r>
                        <a:rPr lang="en-US" altLang="zh-CN" sz="2000">
                          <a:solidFill>
                            <a:schemeClr val="accent6"/>
                          </a:solidFill>
                        </a:rPr>
                        <a:t>librarian</a:t>
                      </a:r>
                    </a:p>
                  </a:txBody>
                  <a:tcPr marL="0" marR="0">
                    <a:lnL w="12700">
                      <a:solidFill>
                        <a:schemeClr val="tx1"/>
                      </a:solidFill>
                      <a:prstDash val="dot"/>
                    </a:lnL>
                    <a:lnR w="12700">
                      <a:solidFill>
                        <a:schemeClr val="tx1"/>
                      </a:solidFill>
                      <a:prstDash val="dot"/>
                    </a:lnR>
                    <a:lnT w="19050">
                      <a:solidFill>
                        <a:schemeClr val="tx1"/>
                      </a:solidFill>
                      <a:prstDash val="solid"/>
                    </a:lnT>
                    <a:lnB w="12700">
                      <a:solidFill>
                        <a:schemeClr val="tx1"/>
                      </a:solidFill>
                      <a:prstDash val="dot"/>
                    </a:lnB>
                    <a:noFill/>
                  </a:tcPr>
                </a:tc>
                <a:tc>
                  <a:txBody>
                    <a:bodyPr/>
                    <a:lstStyle/>
                    <a:p>
                      <a:pPr>
                        <a:buNone/>
                      </a:pPr>
                      <a:r>
                        <a:rPr lang="en-US" altLang="zh-CN" sz="2000">
                          <a:solidFill>
                            <a:schemeClr val="accent6"/>
                          </a:solidFill>
                        </a:rPr>
                        <a:t>03-15-99</a:t>
                      </a:r>
                    </a:p>
                  </a:txBody>
                  <a:tcPr marL="0" marR="0">
                    <a:lnL w="12700">
                      <a:solidFill>
                        <a:schemeClr val="tx1"/>
                      </a:solidFill>
                      <a:prstDash val="dot"/>
                    </a:lnL>
                    <a:lnR w="12700">
                      <a:solidFill>
                        <a:schemeClr val="tx1"/>
                      </a:solidFill>
                      <a:prstDash val="dot"/>
                    </a:lnR>
                    <a:lnT w="19050">
                      <a:solidFill>
                        <a:schemeClr val="tx1"/>
                      </a:solidFill>
                      <a:prstDash val="solid"/>
                    </a:lnT>
                    <a:lnB w="12700">
                      <a:solidFill>
                        <a:schemeClr val="tx1"/>
                      </a:solidFill>
                      <a:prstDash val="dot"/>
                    </a:lnB>
                    <a:noFill/>
                  </a:tcPr>
                </a:tc>
                <a:tc>
                  <a:txBody>
                    <a:bodyPr/>
                    <a:lstStyle/>
                    <a:p>
                      <a:pPr>
                        <a:buNone/>
                      </a:pPr>
                      <a:r>
                        <a:rPr lang="en-US" altLang="zh-CN" sz="2000">
                          <a:solidFill>
                            <a:schemeClr val="accent6"/>
                          </a:solidFill>
                        </a:rPr>
                        <a:t>12</a:t>
                      </a:r>
                    </a:p>
                  </a:txBody>
                  <a:tcPr marL="0" marR="0">
                    <a:lnL w="12700">
                      <a:solidFill>
                        <a:schemeClr val="tx1"/>
                      </a:solidFill>
                      <a:prstDash val="dot"/>
                    </a:lnL>
                    <a:lnR w="19050">
                      <a:solidFill>
                        <a:schemeClr val="tx1"/>
                      </a:solidFill>
                      <a:prstDash val="solid"/>
                    </a:lnR>
                    <a:lnT w="19050">
                      <a:solidFill>
                        <a:schemeClr val="tx1"/>
                      </a:solidFill>
                      <a:prstDash val="solid"/>
                    </a:lnT>
                    <a:lnB w="12700">
                      <a:solidFill>
                        <a:schemeClr val="tx1"/>
                      </a:solidFill>
                      <a:prstDash val="dot"/>
                    </a:lnB>
                    <a:noFill/>
                  </a:tcPr>
                </a:tc>
                <a:extLst>
                  <a:ext uri="{0D108BD9-81ED-4DB2-BD59-A6C34878D82A}">
                    <a16:rowId xmlns:a16="http://schemas.microsoft.com/office/drawing/2014/main" val="10001"/>
                  </a:ext>
                </a:extLst>
              </a:tr>
              <a:tr h="445770">
                <a:tc>
                  <a:txBody>
                    <a:bodyPr/>
                    <a:lstStyle/>
                    <a:p>
                      <a:pPr>
                        <a:buNone/>
                      </a:pPr>
                      <a:r>
                        <a:rPr lang="en-US" altLang="zh-CN" sz="2000">
                          <a:solidFill>
                            <a:schemeClr val="accent6"/>
                          </a:solidFill>
                        </a:rPr>
                        <a:t>09112</a:t>
                      </a:r>
                    </a:p>
                  </a:txBody>
                  <a:tcPr marL="0" marR="0">
                    <a:lnL w="19050">
                      <a:solidFill>
                        <a:schemeClr val="tx1"/>
                      </a:solidFill>
                      <a:prstDash val="solid"/>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rPr>
                        <a:t>Jones</a:t>
                      </a: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sym typeface="+mn-ea"/>
                        </a:rPr>
                        <a:t>...</a:t>
                      </a:r>
                      <a:endParaRPr lang="zh-CN" altLang="en-US" sz="2000">
                        <a:solidFill>
                          <a:schemeClr val="accent6"/>
                        </a:solidFill>
                      </a:endParaRP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rPr>
                        <a:t>26</a:t>
                      </a: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rPr>
                        <a:t>PC-admin</a:t>
                      </a: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rPr>
                        <a:t>06-30-98</a:t>
                      </a: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rPr>
                        <a:t>10</a:t>
                      </a:r>
                    </a:p>
                  </a:txBody>
                  <a:tcPr marL="0" marR="0">
                    <a:lnL w="12700">
                      <a:solidFill>
                        <a:schemeClr val="tx1"/>
                      </a:solidFill>
                      <a:prstDash val="dot"/>
                    </a:lnL>
                    <a:lnR w="19050">
                      <a:solidFill>
                        <a:schemeClr val="tx1"/>
                      </a:solidFill>
                      <a:prstDash val="solid"/>
                    </a:lnR>
                    <a:lnT w="12700">
                      <a:solidFill>
                        <a:schemeClr val="tx1"/>
                      </a:solidFill>
                      <a:prstDash val="dot"/>
                    </a:lnT>
                    <a:lnB w="12700">
                      <a:solidFill>
                        <a:schemeClr val="tx1"/>
                      </a:solidFill>
                      <a:prstDash val="dot"/>
                    </a:lnB>
                    <a:noFill/>
                  </a:tcPr>
                </a:tc>
                <a:extLst>
                  <a:ext uri="{0D108BD9-81ED-4DB2-BD59-A6C34878D82A}">
                    <a16:rowId xmlns:a16="http://schemas.microsoft.com/office/drawing/2014/main" val="10002"/>
                  </a:ext>
                </a:extLst>
              </a:tr>
              <a:tr h="445770">
                <a:tc>
                  <a:txBody>
                    <a:bodyPr/>
                    <a:lstStyle/>
                    <a:p>
                      <a:pPr>
                        <a:buNone/>
                      </a:pPr>
                      <a:r>
                        <a:rPr lang="en-US" altLang="zh-CN" sz="2000">
                          <a:solidFill>
                            <a:schemeClr val="accent6"/>
                          </a:solidFill>
                        </a:rPr>
                        <a:t>09112</a:t>
                      </a:r>
                    </a:p>
                  </a:txBody>
                  <a:tcPr marL="0" marR="0">
                    <a:lnL w="19050">
                      <a:solidFill>
                        <a:schemeClr val="tx1"/>
                      </a:solidFill>
                      <a:prstDash val="solid"/>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rPr>
                        <a:t>Jones</a:t>
                      </a: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sym typeface="+mn-ea"/>
                        </a:rPr>
                        <a:t>...</a:t>
                      </a:r>
                      <a:endParaRPr lang="zh-CN" altLang="en-US" sz="2000">
                        <a:solidFill>
                          <a:schemeClr val="accent6"/>
                        </a:solidFill>
                      </a:endParaRP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rPr>
                        <a:t>89</a:t>
                      </a: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rPr>
                        <a:t>word-proc</a:t>
                      </a: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rPr>
                        <a:t>01-15-00</a:t>
                      </a: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rPr>
                        <a:t>12</a:t>
                      </a:r>
                    </a:p>
                  </a:txBody>
                  <a:tcPr marL="0" marR="0">
                    <a:lnL w="12700">
                      <a:solidFill>
                        <a:schemeClr val="tx1"/>
                      </a:solidFill>
                      <a:prstDash val="dot"/>
                    </a:lnL>
                    <a:lnR w="19050">
                      <a:solidFill>
                        <a:schemeClr val="tx1"/>
                      </a:solidFill>
                      <a:prstDash val="solid"/>
                    </a:lnR>
                    <a:lnT w="12700">
                      <a:solidFill>
                        <a:schemeClr val="tx1"/>
                      </a:solidFill>
                      <a:prstDash val="dot"/>
                    </a:lnT>
                    <a:lnB w="12700">
                      <a:solidFill>
                        <a:schemeClr val="tx1"/>
                      </a:solidFill>
                      <a:prstDash val="dot"/>
                    </a:lnB>
                    <a:noFill/>
                  </a:tcPr>
                </a:tc>
                <a:extLst>
                  <a:ext uri="{0D108BD9-81ED-4DB2-BD59-A6C34878D82A}">
                    <a16:rowId xmlns:a16="http://schemas.microsoft.com/office/drawing/2014/main" val="10003"/>
                  </a:ext>
                </a:extLst>
              </a:tr>
              <a:tr h="445770">
                <a:tc>
                  <a:txBody>
                    <a:bodyPr/>
                    <a:lstStyle/>
                    <a:p>
                      <a:pPr>
                        <a:buNone/>
                      </a:pPr>
                      <a:r>
                        <a:rPr lang="en-US" altLang="zh-CN" sz="2000">
                          <a:solidFill>
                            <a:schemeClr val="accent6"/>
                          </a:solidFill>
                        </a:rPr>
                        <a:t>12231</a:t>
                      </a:r>
                    </a:p>
                  </a:txBody>
                  <a:tcPr marL="0" marR="0">
                    <a:lnL w="19050">
                      <a:solidFill>
                        <a:schemeClr val="tx1"/>
                      </a:solidFill>
                      <a:prstDash val="solid"/>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rPr>
                        <a:t>Smith</a:t>
                      </a: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sym typeface="+mn-ea"/>
                        </a:rPr>
                        <a:t>...</a:t>
                      </a:r>
                      <a:endParaRPr lang="zh-CN" altLang="en-US" sz="2000">
                        <a:solidFill>
                          <a:schemeClr val="accent6"/>
                        </a:solidFill>
                      </a:endParaRP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rPr>
                        <a:t>26</a:t>
                      </a: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sym typeface="+mn-ea"/>
                        </a:rPr>
                        <a:t>PC-admin</a:t>
                      </a:r>
                      <a:endParaRPr lang="zh-CN" altLang="en-US" sz="2000">
                        <a:solidFill>
                          <a:schemeClr val="accent6"/>
                        </a:solidFill>
                      </a:endParaRP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rPr>
                        <a:t>04-15-99</a:t>
                      </a: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rPr>
                        <a:t>5</a:t>
                      </a:r>
                    </a:p>
                  </a:txBody>
                  <a:tcPr marL="0" marR="0">
                    <a:lnL w="12700">
                      <a:solidFill>
                        <a:schemeClr val="tx1"/>
                      </a:solidFill>
                      <a:prstDash val="dot"/>
                    </a:lnL>
                    <a:lnR w="19050">
                      <a:solidFill>
                        <a:schemeClr val="tx1"/>
                      </a:solidFill>
                      <a:prstDash val="solid"/>
                    </a:lnR>
                    <a:lnT w="12700">
                      <a:solidFill>
                        <a:schemeClr val="tx1"/>
                      </a:solidFill>
                      <a:prstDash val="dot"/>
                    </a:lnT>
                    <a:lnB w="12700">
                      <a:solidFill>
                        <a:schemeClr val="tx1"/>
                      </a:solidFill>
                      <a:prstDash val="dot"/>
                    </a:lnB>
                    <a:noFill/>
                  </a:tcPr>
                </a:tc>
                <a:extLst>
                  <a:ext uri="{0D108BD9-81ED-4DB2-BD59-A6C34878D82A}">
                    <a16:rowId xmlns:a16="http://schemas.microsoft.com/office/drawing/2014/main" val="10004"/>
                  </a:ext>
                </a:extLst>
              </a:tr>
              <a:tr h="445770">
                <a:tc>
                  <a:txBody>
                    <a:bodyPr/>
                    <a:lstStyle/>
                    <a:p>
                      <a:pPr>
                        <a:buNone/>
                      </a:pPr>
                      <a:r>
                        <a:rPr lang="en-US" altLang="zh-CN" sz="2000">
                          <a:solidFill>
                            <a:schemeClr val="accent6"/>
                          </a:solidFill>
                        </a:rPr>
                        <a:t>12231</a:t>
                      </a:r>
                    </a:p>
                  </a:txBody>
                  <a:tcPr marL="0" marR="0">
                    <a:lnL w="19050">
                      <a:solidFill>
                        <a:schemeClr val="tx1"/>
                      </a:solidFill>
                      <a:prstDash val="solid"/>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rPr>
                        <a:t>Smith</a:t>
                      </a: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sym typeface="+mn-ea"/>
                        </a:rPr>
                        <a:t>...</a:t>
                      </a:r>
                      <a:endParaRPr lang="zh-CN" altLang="en-US" sz="2000">
                        <a:solidFill>
                          <a:schemeClr val="accent6"/>
                        </a:solidFill>
                      </a:endParaRP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rPr>
                        <a:t>39</a:t>
                      </a: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rPr>
                        <a:t>bookkeeping</a:t>
                      </a: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rPr>
                        <a:t>07-30-97</a:t>
                      </a: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rPr>
                        <a:t>7</a:t>
                      </a:r>
                    </a:p>
                  </a:txBody>
                  <a:tcPr marL="0" marR="0">
                    <a:lnL w="12700">
                      <a:solidFill>
                        <a:schemeClr val="tx1"/>
                      </a:solidFill>
                      <a:prstDash val="dot"/>
                    </a:lnL>
                    <a:lnR w="19050">
                      <a:solidFill>
                        <a:schemeClr val="tx1"/>
                      </a:solidFill>
                      <a:prstDash val="solid"/>
                    </a:lnR>
                    <a:lnT w="12700">
                      <a:solidFill>
                        <a:schemeClr val="tx1"/>
                      </a:solidFill>
                      <a:prstDash val="dot"/>
                    </a:lnT>
                    <a:lnB w="12700">
                      <a:solidFill>
                        <a:schemeClr val="tx1"/>
                      </a:solidFill>
                      <a:prstDash val="dot"/>
                    </a:lnB>
                    <a:noFill/>
                  </a:tcPr>
                </a:tc>
                <a:extLst>
                  <a:ext uri="{0D108BD9-81ED-4DB2-BD59-A6C34878D82A}">
                    <a16:rowId xmlns:a16="http://schemas.microsoft.com/office/drawing/2014/main" val="10005"/>
                  </a:ext>
                </a:extLst>
              </a:tr>
              <a:tr h="445770">
                <a:tc>
                  <a:txBody>
                    <a:bodyPr/>
                    <a:lstStyle/>
                    <a:p>
                      <a:pPr>
                        <a:buNone/>
                      </a:pPr>
                      <a:r>
                        <a:rPr lang="en-US" altLang="zh-CN" sz="2000">
                          <a:solidFill>
                            <a:schemeClr val="accent6"/>
                          </a:solidFill>
                        </a:rPr>
                        <a:t>13597</a:t>
                      </a:r>
                    </a:p>
                  </a:txBody>
                  <a:tcPr marL="0" marR="0">
                    <a:lnL w="19050">
                      <a:solidFill>
                        <a:schemeClr val="tx1"/>
                      </a:solidFill>
                      <a:prstDash val="solid"/>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rPr>
                        <a:t>Brown</a:t>
                      </a: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sym typeface="+mn-ea"/>
                        </a:rPr>
                        <a:t>...</a:t>
                      </a:r>
                      <a:endParaRPr lang="zh-CN" altLang="en-US" sz="2000">
                        <a:solidFill>
                          <a:schemeClr val="accent6"/>
                        </a:solidFill>
                      </a:endParaRP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rPr>
                        <a:t>27</a:t>
                      </a: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rPr>
                        <a:t>statistics</a:t>
                      </a: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rPr>
                        <a:t>09-15-99</a:t>
                      </a: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rPr>
                        <a:t>6</a:t>
                      </a:r>
                    </a:p>
                  </a:txBody>
                  <a:tcPr marL="0" marR="0">
                    <a:lnL w="12700">
                      <a:solidFill>
                        <a:schemeClr val="tx1"/>
                      </a:solidFill>
                      <a:prstDash val="dot"/>
                    </a:lnL>
                    <a:lnR w="19050">
                      <a:solidFill>
                        <a:schemeClr val="tx1"/>
                      </a:solidFill>
                      <a:prstDash val="solid"/>
                    </a:lnR>
                    <a:lnT w="12700">
                      <a:solidFill>
                        <a:schemeClr val="tx1"/>
                      </a:solidFill>
                      <a:prstDash val="dot"/>
                    </a:lnT>
                    <a:lnB w="12700">
                      <a:solidFill>
                        <a:schemeClr val="tx1"/>
                      </a:solidFill>
                      <a:prstDash val="dot"/>
                    </a:lnB>
                    <a:noFill/>
                  </a:tcPr>
                </a:tc>
                <a:extLst>
                  <a:ext uri="{0D108BD9-81ED-4DB2-BD59-A6C34878D82A}">
                    <a16:rowId xmlns:a16="http://schemas.microsoft.com/office/drawing/2014/main" val="10006"/>
                  </a:ext>
                </a:extLst>
              </a:tr>
              <a:tr h="445770">
                <a:tc>
                  <a:txBody>
                    <a:bodyPr/>
                    <a:lstStyle/>
                    <a:p>
                      <a:pPr>
                        <a:buNone/>
                      </a:pPr>
                      <a:r>
                        <a:rPr lang="en-US" altLang="zh-CN" sz="2000">
                          <a:solidFill>
                            <a:schemeClr val="accent6"/>
                          </a:solidFill>
                        </a:rPr>
                        <a:t>14131</a:t>
                      </a:r>
                    </a:p>
                  </a:txBody>
                  <a:tcPr marL="0" marR="0">
                    <a:lnL w="19050">
                      <a:solidFill>
                        <a:schemeClr val="tx1"/>
                      </a:solidFill>
                      <a:prstDash val="solid"/>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rPr>
                        <a:t>Blake</a:t>
                      </a: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sym typeface="+mn-ea"/>
                        </a:rPr>
                        <a:t>...</a:t>
                      </a:r>
                      <a:endParaRPr lang="zh-CN" altLang="en-US" sz="2000">
                        <a:solidFill>
                          <a:schemeClr val="accent6"/>
                        </a:solidFill>
                      </a:endParaRP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rPr>
                        <a:t>26</a:t>
                      </a: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sym typeface="+mn-ea"/>
                        </a:rPr>
                        <a:t>PC-admin</a:t>
                      </a:r>
                      <a:endParaRPr lang="zh-CN" altLang="en-US" sz="2000">
                        <a:solidFill>
                          <a:schemeClr val="accent6"/>
                        </a:solidFill>
                      </a:endParaRP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rPr>
                        <a:t>05-30-98</a:t>
                      </a: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rPr>
                        <a:t>9</a:t>
                      </a:r>
                    </a:p>
                  </a:txBody>
                  <a:tcPr marL="0" marR="0">
                    <a:lnL w="12700">
                      <a:solidFill>
                        <a:schemeClr val="tx1"/>
                      </a:solidFill>
                      <a:prstDash val="dot"/>
                    </a:lnL>
                    <a:lnR w="19050">
                      <a:solidFill>
                        <a:schemeClr val="tx1"/>
                      </a:solidFill>
                      <a:prstDash val="solid"/>
                    </a:lnR>
                    <a:lnT w="12700">
                      <a:solidFill>
                        <a:schemeClr val="tx1"/>
                      </a:solidFill>
                      <a:prstDash val="dot"/>
                    </a:lnT>
                    <a:lnB w="12700">
                      <a:solidFill>
                        <a:schemeClr val="tx1"/>
                      </a:solidFill>
                      <a:prstDash val="dot"/>
                    </a:lnB>
                    <a:noFill/>
                  </a:tcPr>
                </a:tc>
                <a:extLst>
                  <a:ext uri="{0D108BD9-81ED-4DB2-BD59-A6C34878D82A}">
                    <a16:rowId xmlns:a16="http://schemas.microsoft.com/office/drawing/2014/main" val="10007"/>
                  </a:ext>
                </a:extLst>
              </a:tr>
              <a:tr h="445770">
                <a:tc>
                  <a:txBody>
                    <a:bodyPr/>
                    <a:lstStyle/>
                    <a:p>
                      <a:pPr>
                        <a:buNone/>
                      </a:pPr>
                      <a:r>
                        <a:rPr lang="en-US" altLang="zh-CN" sz="2000">
                          <a:solidFill>
                            <a:schemeClr val="accent6"/>
                          </a:solidFill>
                        </a:rPr>
                        <a:t>14131</a:t>
                      </a:r>
                    </a:p>
                  </a:txBody>
                  <a:tcPr marL="0" marR="0">
                    <a:lnL w="19050">
                      <a:solidFill>
                        <a:schemeClr val="tx1"/>
                      </a:solidFill>
                      <a:prstDash val="solid"/>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rPr>
                        <a:t>Blake</a:t>
                      </a: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sym typeface="+mn-ea"/>
                        </a:rPr>
                        <a:t>...</a:t>
                      </a:r>
                      <a:endParaRPr lang="zh-CN" altLang="en-US" sz="2000">
                        <a:solidFill>
                          <a:schemeClr val="accent6"/>
                        </a:solidFill>
                      </a:endParaRP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rPr>
                        <a:t>89</a:t>
                      </a: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sym typeface="+mn-ea"/>
                        </a:rPr>
                        <a:t>word-proc</a:t>
                      </a:r>
                      <a:endParaRPr lang="zh-CN" altLang="en-US" sz="2000">
                        <a:solidFill>
                          <a:schemeClr val="accent6"/>
                        </a:solidFill>
                      </a:endParaRP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rPr>
                        <a:t>09-30-99</a:t>
                      </a:r>
                    </a:p>
                  </a:txBody>
                  <a:tcPr marL="0" marR="0">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noFill/>
                  </a:tcPr>
                </a:tc>
                <a:tc>
                  <a:txBody>
                    <a:bodyPr/>
                    <a:lstStyle/>
                    <a:p>
                      <a:pPr>
                        <a:buNone/>
                      </a:pPr>
                      <a:r>
                        <a:rPr lang="en-US" altLang="zh-CN" sz="2000">
                          <a:solidFill>
                            <a:schemeClr val="accent6"/>
                          </a:solidFill>
                        </a:rPr>
                        <a:t>10</a:t>
                      </a:r>
                    </a:p>
                  </a:txBody>
                  <a:tcPr marL="0" marR="0">
                    <a:lnL w="12700">
                      <a:solidFill>
                        <a:schemeClr val="tx1"/>
                      </a:solidFill>
                      <a:prstDash val="dot"/>
                    </a:lnL>
                    <a:lnR w="19050">
                      <a:solidFill>
                        <a:schemeClr val="tx1"/>
                      </a:solidFill>
                      <a:prstDash val="solid"/>
                    </a:lnR>
                    <a:lnT w="12700">
                      <a:solidFill>
                        <a:schemeClr val="tx1"/>
                      </a:solidFill>
                      <a:prstDash val="dot"/>
                    </a:lnT>
                    <a:lnB w="12700">
                      <a:solidFill>
                        <a:schemeClr val="tx1"/>
                      </a:solidFill>
                      <a:prstDash val="dot"/>
                    </a:lnB>
                    <a:noFill/>
                  </a:tcPr>
                </a:tc>
                <a:extLst>
                  <a:ext uri="{0D108BD9-81ED-4DB2-BD59-A6C34878D82A}">
                    <a16:rowId xmlns:a16="http://schemas.microsoft.com/office/drawing/2014/main" val="10008"/>
                  </a:ext>
                </a:extLst>
              </a:tr>
              <a:tr h="445770">
                <a:tc>
                  <a:txBody>
                    <a:bodyPr/>
                    <a:lstStyle/>
                    <a:p>
                      <a:pPr>
                        <a:buNone/>
                      </a:pPr>
                      <a:r>
                        <a:rPr lang="en-US" altLang="zh-CN" sz="2000">
                          <a:solidFill>
                            <a:schemeClr val="accent6"/>
                          </a:solidFill>
                          <a:sym typeface="+mn-ea"/>
                        </a:rPr>
                        <a:t>...</a:t>
                      </a:r>
                      <a:endParaRPr lang="zh-CN" altLang="en-US" sz="2000">
                        <a:solidFill>
                          <a:schemeClr val="accent6"/>
                        </a:solidFill>
                      </a:endParaRPr>
                    </a:p>
                  </a:txBody>
                  <a:tcPr marL="0" marR="0">
                    <a:lnL w="19050">
                      <a:solidFill>
                        <a:schemeClr val="tx1"/>
                      </a:solidFill>
                      <a:prstDash val="solid"/>
                    </a:lnL>
                    <a:lnR w="12700">
                      <a:solidFill>
                        <a:schemeClr val="tx1"/>
                      </a:solidFill>
                      <a:prstDash val="dot"/>
                    </a:lnR>
                    <a:lnT w="12700">
                      <a:solidFill>
                        <a:schemeClr val="tx1"/>
                      </a:solidFill>
                      <a:prstDash val="dot"/>
                    </a:lnT>
                    <a:lnB w="19050">
                      <a:solidFill>
                        <a:schemeClr val="tx1"/>
                      </a:solidFill>
                      <a:prstDash val="solid"/>
                    </a:lnB>
                    <a:noFill/>
                  </a:tcPr>
                </a:tc>
                <a:tc>
                  <a:txBody>
                    <a:bodyPr/>
                    <a:lstStyle/>
                    <a:p>
                      <a:pPr>
                        <a:buNone/>
                      </a:pPr>
                      <a:r>
                        <a:rPr lang="en-US" altLang="zh-CN" sz="2000">
                          <a:solidFill>
                            <a:schemeClr val="accent6"/>
                          </a:solidFill>
                          <a:sym typeface="+mn-ea"/>
                        </a:rPr>
                        <a:t>...</a:t>
                      </a:r>
                      <a:endParaRPr lang="zh-CN" altLang="en-US" sz="2000">
                        <a:solidFill>
                          <a:schemeClr val="accent6"/>
                        </a:solidFill>
                      </a:endParaRPr>
                    </a:p>
                  </a:txBody>
                  <a:tcPr marL="0" marR="0">
                    <a:lnL w="12700">
                      <a:solidFill>
                        <a:schemeClr val="tx1"/>
                      </a:solidFill>
                      <a:prstDash val="dot"/>
                    </a:lnL>
                    <a:lnR w="12700">
                      <a:solidFill>
                        <a:schemeClr val="tx1"/>
                      </a:solidFill>
                      <a:prstDash val="dot"/>
                    </a:lnR>
                    <a:lnT w="12700">
                      <a:solidFill>
                        <a:schemeClr val="tx1"/>
                      </a:solidFill>
                      <a:prstDash val="dot"/>
                    </a:lnT>
                    <a:lnB w="19050">
                      <a:solidFill>
                        <a:schemeClr val="tx1"/>
                      </a:solidFill>
                      <a:prstDash val="solid"/>
                    </a:lnB>
                    <a:noFill/>
                  </a:tcPr>
                </a:tc>
                <a:tc>
                  <a:txBody>
                    <a:bodyPr/>
                    <a:lstStyle/>
                    <a:p>
                      <a:pPr>
                        <a:buNone/>
                      </a:pPr>
                      <a:r>
                        <a:rPr lang="en-US" altLang="zh-CN" sz="2000">
                          <a:solidFill>
                            <a:schemeClr val="accent6"/>
                          </a:solidFill>
                          <a:sym typeface="+mn-ea"/>
                        </a:rPr>
                        <a:t>...</a:t>
                      </a:r>
                      <a:endParaRPr lang="zh-CN" altLang="en-US" sz="2000">
                        <a:solidFill>
                          <a:schemeClr val="accent6"/>
                        </a:solidFill>
                      </a:endParaRPr>
                    </a:p>
                  </a:txBody>
                  <a:tcPr marL="0" marR="0">
                    <a:lnL w="12700">
                      <a:solidFill>
                        <a:schemeClr val="tx1"/>
                      </a:solidFill>
                      <a:prstDash val="dot"/>
                    </a:lnL>
                    <a:lnR w="12700">
                      <a:solidFill>
                        <a:schemeClr val="tx1"/>
                      </a:solidFill>
                      <a:prstDash val="dot"/>
                    </a:lnR>
                    <a:lnT w="12700">
                      <a:solidFill>
                        <a:schemeClr val="tx1"/>
                      </a:solidFill>
                      <a:prstDash val="dot"/>
                    </a:lnT>
                    <a:lnB w="19050">
                      <a:solidFill>
                        <a:schemeClr val="tx1"/>
                      </a:solidFill>
                      <a:prstDash val="solid"/>
                    </a:lnB>
                    <a:noFill/>
                  </a:tcPr>
                </a:tc>
                <a:tc>
                  <a:txBody>
                    <a:bodyPr/>
                    <a:lstStyle/>
                    <a:p>
                      <a:pPr>
                        <a:buNone/>
                      </a:pPr>
                      <a:r>
                        <a:rPr lang="en-US" altLang="zh-CN" sz="2000">
                          <a:solidFill>
                            <a:schemeClr val="accent6"/>
                          </a:solidFill>
                          <a:sym typeface="+mn-ea"/>
                        </a:rPr>
                        <a:t>...</a:t>
                      </a:r>
                      <a:endParaRPr lang="zh-CN" altLang="en-US" sz="2000">
                        <a:solidFill>
                          <a:schemeClr val="accent6"/>
                        </a:solidFill>
                      </a:endParaRPr>
                    </a:p>
                  </a:txBody>
                  <a:tcPr marL="0" marR="0">
                    <a:lnL w="12700">
                      <a:solidFill>
                        <a:schemeClr val="tx1"/>
                      </a:solidFill>
                      <a:prstDash val="dot"/>
                    </a:lnL>
                    <a:lnR w="12700">
                      <a:solidFill>
                        <a:schemeClr val="tx1"/>
                      </a:solidFill>
                      <a:prstDash val="dot"/>
                    </a:lnR>
                    <a:lnT w="12700">
                      <a:solidFill>
                        <a:schemeClr val="tx1"/>
                      </a:solidFill>
                      <a:prstDash val="dot"/>
                    </a:lnT>
                    <a:lnB w="19050">
                      <a:solidFill>
                        <a:schemeClr val="tx1"/>
                      </a:solidFill>
                      <a:prstDash val="solid"/>
                    </a:lnB>
                    <a:noFill/>
                  </a:tcPr>
                </a:tc>
                <a:tc>
                  <a:txBody>
                    <a:bodyPr/>
                    <a:lstStyle/>
                    <a:p>
                      <a:pPr>
                        <a:buNone/>
                      </a:pPr>
                      <a:r>
                        <a:rPr lang="en-US" altLang="zh-CN" sz="2000">
                          <a:solidFill>
                            <a:schemeClr val="accent6"/>
                          </a:solidFill>
                          <a:sym typeface="+mn-ea"/>
                        </a:rPr>
                        <a:t>...</a:t>
                      </a:r>
                      <a:endParaRPr lang="zh-CN" altLang="en-US" sz="2000">
                        <a:solidFill>
                          <a:schemeClr val="accent6"/>
                        </a:solidFill>
                      </a:endParaRPr>
                    </a:p>
                  </a:txBody>
                  <a:tcPr marL="0" marR="0">
                    <a:lnL w="12700">
                      <a:solidFill>
                        <a:schemeClr val="tx1"/>
                      </a:solidFill>
                      <a:prstDash val="dot"/>
                    </a:lnL>
                    <a:lnR w="12700">
                      <a:solidFill>
                        <a:schemeClr val="tx1"/>
                      </a:solidFill>
                      <a:prstDash val="dot"/>
                    </a:lnR>
                    <a:lnT w="12700">
                      <a:solidFill>
                        <a:schemeClr val="tx1"/>
                      </a:solidFill>
                      <a:prstDash val="dot"/>
                    </a:lnT>
                    <a:lnB w="19050">
                      <a:solidFill>
                        <a:schemeClr val="tx1"/>
                      </a:solidFill>
                      <a:prstDash val="solid"/>
                    </a:lnB>
                    <a:noFill/>
                  </a:tcPr>
                </a:tc>
                <a:tc>
                  <a:txBody>
                    <a:bodyPr/>
                    <a:lstStyle/>
                    <a:p>
                      <a:pPr>
                        <a:buNone/>
                      </a:pPr>
                      <a:r>
                        <a:rPr lang="en-US" altLang="zh-CN" sz="2000">
                          <a:solidFill>
                            <a:schemeClr val="accent6"/>
                          </a:solidFill>
                          <a:sym typeface="+mn-ea"/>
                        </a:rPr>
                        <a:t>...</a:t>
                      </a:r>
                      <a:endParaRPr lang="zh-CN" altLang="en-US" sz="2000">
                        <a:solidFill>
                          <a:schemeClr val="accent6"/>
                        </a:solidFill>
                      </a:endParaRPr>
                    </a:p>
                  </a:txBody>
                  <a:tcPr marL="0" marR="0">
                    <a:lnL w="12700">
                      <a:solidFill>
                        <a:schemeClr val="tx1"/>
                      </a:solidFill>
                      <a:prstDash val="dot"/>
                    </a:lnL>
                    <a:lnR w="12700">
                      <a:solidFill>
                        <a:schemeClr val="tx1"/>
                      </a:solidFill>
                      <a:prstDash val="dot"/>
                    </a:lnR>
                    <a:lnT w="12700">
                      <a:solidFill>
                        <a:schemeClr val="tx1"/>
                      </a:solidFill>
                      <a:prstDash val="dot"/>
                    </a:lnT>
                    <a:lnB w="19050">
                      <a:solidFill>
                        <a:schemeClr val="tx1"/>
                      </a:solidFill>
                      <a:prstDash val="solid"/>
                    </a:lnB>
                    <a:noFill/>
                  </a:tcPr>
                </a:tc>
                <a:tc>
                  <a:txBody>
                    <a:bodyPr/>
                    <a:lstStyle/>
                    <a:p>
                      <a:pPr>
                        <a:buNone/>
                      </a:pPr>
                      <a:r>
                        <a:rPr lang="en-US" altLang="zh-CN" sz="2000">
                          <a:solidFill>
                            <a:schemeClr val="accent6"/>
                          </a:solidFill>
                          <a:sym typeface="+mn-ea"/>
                        </a:rPr>
                        <a:t>...</a:t>
                      </a:r>
                      <a:endParaRPr lang="zh-CN" altLang="en-US" sz="2000">
                        <a:solidFill>
                          <a:schemeClr val="accent6"/>
                        </a:solidFill>
                      </a:endParaRPr>
                    </a:p>
                  </a:txBody>
                  <a:tcPr marL="0" marR="0">
                    <a:lnL w="12700">
                      <a:solidFill>
                        <a:schemeClr val="tx1"/>
                      </a:solidFill>
                      <a:prstDash val="dot"/>
                    </a:lnL>
                    <a:lnR w="19050">
                      <a:solidFill>
                        <a:schemeClr val="tx1"/>
                      </a:solidFill>
                      <a:prstDash val="solid"/>
                    </a:lnR>
                    <a:lnT w="12700">
                      <a:solidFill>
                        <a:schemeClr val="tx1"/>
                      </a:solidFill>
                      <a:prstDash val="dot"/>
                    </a:lnT>
                    <a:lnB w="19050">
                      <a:solidFill>
                        <a:schemeClr val="tx1"/>
                      </a:solidFill>
                      <a:prstDash val="solid"/>
                    </a:lnB>
                    <a:noFill/>
                  </a:tcPr>
                </a:tc>
                <a:extLst>
                  <a:ext uri="{0D108BD9-81ED-4DB2-BD59-A6C34878D82A}">
                    <a16:rowId xmlns:a16="http://schemas.microsoft.com/office/drawing/2014/main" val="10009"/>
                  </a:ext>
                </a:extLst>
              </a:tr>
            </a:tbl>
          </a:graphicData>
        </a:graphic>
      </p:graphicFrame>
      <p:sp>
        <p:nvSpPr>
          <p:cNvPr id="8" name="内容占位符 7"/>
          <p:cNvSpPr>
            <a:spLocks noGrp="1"/>
          </p:cNvSpPr>
          <p:nvPr>
            <p:ph idx="1"/>
          </p:nvPr>
        </p:nvSpPr>
        <p:spPr>
          <a:xfrm>
            <a:off x="457200" y="5430520"/>
            <a:ext cx="8229600" cy="903605"/>
          </a:xfrm>
        </p:spPr>
        <p:txBody>
          <a:bodyPr wrap="square">
            <a:spAutoFit/>
          </a:bodyPr>
          <a:lstStyle/>
          <a:p>
            <a:pPr marL="1809750" indent="-1809750">
              <a:buNone/>
            </a:pPr>
            <a:r>
              <a:rPr lang="en-US" altLang="zh-CN" sz="2400"/>
              <a:t>Figure 6.16: Single Employee Information Table,</a:t>
            </a:r>
          </a:p>
          <a:p>
            <a:pPr marL="2724150" lvl="2" indent="-1809750">
              <a:buNone/>
            </a:pPr>
            <a:r>
              <a:rPr lang="en-US" altLang="zh-CN" sz="2400">
                <a:solidFill>
                  <a:srgbClr val="FF0000"/>
                </a:solidFill>
              </a:rPr>
              <a:t>emp_info, in First Normal Form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83970"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83971"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8</a:t>
            </a:fld>
            <a:endParaRPr lang="zh-CN" altLang="en-US" sz="1200" b="1" i="1" dirty="0">
              <a:latin typeface="Times New Roman" panose="02020603050405020304" pitchFamily="2" charset="0"/>
              <a:ea typeface="宋体" panose="02010600030101010101" pitchFamily="2" charset="-122"/>
            </a:endParaRPr>
          </a:p>
        </p:txBody>
      </p:sp>
      <p:sp>
        <p:nvSpPr>
          <p:cNvPr id="83972" name="Rectangle 3"/>
          <p:cNvSpPr>
            <a:spLocks noGrp="1"/>
          </p:cNvSpPr>
          <p:nvPr>
            <p:ph type="body"/>
          </p:nvPr>
        </p:nvSpPr>
        <p:spPr>
          <a:xfrm>
            <a:off x="457200" y="479425"/>
            <a:ext cx="8229600" cy="5638800"/>
          </a:xfrm>
        </p:spPr>
        <p:txBody>
          <a:bodyPr wrap="square" anchor="t"/>
          <a:lstStyle/>
          <a:p>
            <a:pPr lvl="0" eaLnBrk="1" hangingPunct="1"/>
            <a:r>
              <a:rPr lang="en-US" altLang="x-none" dirty="0">
                <a:ea typeface="宋体" panose="02010600030101010101" pitchFamily="2" charset="-122"/>
              </a:rPr>
              <a:t>Functional Dependency (FD, </a:t>
            </a:r>
            <a:r>
              <a:rPr lang="zh-CN" altLang="en-US" dirty="0">
                <a:ea typeface="宋体" panose="02010600030101010101" pitchFamily="2" charset="-122"/>
              </a:rPr>
              <a:t>函数依赖</a:t>
            </a:r>
            <a:r>
              <a:rPr lang="en-US" altLang="x-none" dirty="0">
                <a:ea typeface="宋体" panose="02010600030101010101" pitchFamily="2" charset="-122"/>
              </a:rPr>
              <a:t>)</a:t>
            </a:r>
          </a:p>
          <a:p>
            <a:pPr marL="459105" lvl="2" indent="0" eaLnBrk="1" hangingPunct="1">
              <a:buNone/>
            </a:pPr>
            <a:r>
              <a:rPr lang="zh-CN" altLang="en-US" dirty="0">
                <a:solidFill>
                  <a:srgbClr val="FF0000"/>
                </a:solidFill>
                <a:ea typeface="宋体" panose="02010600030101010101" pitchFamily="2" charset="-122"/>
              </a:rPr>
              <a:t>A</a:t>
            </a:r>
            <a:r>
              <a:rPr lang="zh-CN" altLang="en-US" dirty="0">
                <a:solidFill>
                  <a:srgbClr val="FF0000"/>
                </a:solidFill>
                <a:ea typeface="宋体" panose="02010600030101010101" pitchFamily="2" charset="-122"/>
                <a:sym typeface="Arial" panose="020B0604020202020204" pitchFamily="34" charset="0"/>
              </a:rPr>
              <a:t>→B</a:t>
            </a:r>
            <a:endParaRPr lang="zh-CN" altLang="en-US" dirty="0">
              <a:ea typeface="宋体" panose="02010600030101010101" pitchFamily="2" charset="-122"/>
              <a:sym typeface="Arial" panose="020B0604020202020204" pitchFamily="34" charset="0"/>
            </a:endParaRPr>
          </a:p>
          <a:p>
            <a:pPr marL="731520" lvl="3" indent="-271780" eaLnBrk="1" hangingPunct="1">
              <a:buFont typeface="Arial" panose="020B0604020202020204" pitchFamily="34" charset="0"/>
              <a:buChar char="•"/>
            </a:pPr>
            <a:r>
              <a:rPr lang="zh-CN" altLang="en-US" dirty="0">
                <a:latin typeface="Arial" panose="020B0604020202020204" pitchFamily="34" charset="0"/>
                <a:ea typeface="宋体" panose="02010600030101010101" pitchFamily="2" charset="-122"/>
                <a:sym typeface="+mn-ea"/>
              </a:rPr>
              <a:t>常被读作</a:t>
            </a:r>
            <a:r>
              <a:rPr lang="zh-CN" altLang="en-US" dirty="0">
                <a:solidFill>
                  <a:srgbClr val="FF0000"/>
                </a:solidFill>
                <a:latin typeface="Arial" panose="020B0604020202020204" pitchFamily="34" charset="0"/>
                <a:ea typeface="宋体" panose="02010600030101010101" pitchFamily="2" charset="-122"/>
                <a:sym typeface="+mn-ea"/>
              </a:rPr>
              <a:t>“</a:t>
            </a:r>
            <a:r>
              <a:rPr lang="en-US" altLang="x-none" dirty="0">
                <a:solidFill>
                  <a:srgbClr val="FF0000"/>
                </a:solidFill>
                <a:latin typeface="Arial" panose="020B0604020202020204" pitchFamily="34" charset="0"/>
                <a:ea typeface="宋体" panose="02010600030101010101" pitchFamily="2" charset="-122"/>
                <a:sym typeface="+mn-ea"/>
              </a:rPr>
              <a:t>A</a:t>
            </a:r>
            <a:r>
              <a:rPr lang="zh-CN" altLang="en-US" dirty="0">
                <a:solidFill>
                  <a:srgbClr val="FF0000"/>
                </a:solidFill>
                <a:latin typeface="Arial" panose="020B0604020202020204" pitchFamily="34" charset="0"/>
                <a:ea typeface="宋体" panose="02010600030101010101" pitchFamily="2" charset="-122"/>
                <a:sym typeface="+mn-ea"/>
              </a:rPr>
              <a:t>函数决定</a:t>
            </a:r>
            <a:r>
              <a:rPr lang="en-US" altLang="x-none" dirty="0">
                <a:solidFill>
                  <a:srgbClr val="FF0000"/>
                </a:solidFill>
                <a:latin typeface="Arial" panose="020B0604020202020204" pitchFamily="34" charset="0"/>
                <a:ea typeface="宋体" panose="02010600030101010101" pitchFamily="2" charset="-122"/>
                <a:sym typeface="+mn-ea"/>
              </a:rPr>
              <a:t>B”</a:t>
            </a:r>
            <a:r>
              <a:rPr lang="zh-CN" altLang="en-US" dirty="0">
                <a:solidFill>
                  <a:srgbClr val="FF0000"/>
                </a:solidFill>
                <a:latin typeface="Arial" panose="020B0604020202020204" pitchFamily="34" charset="0"/>
                <a:ea typeface="宋体" panose="02010600030101010101" pitchFamily="2" charset="-122"/>
                <a:sym typeface="+mn-ea"/>
              </a:rPr>
              <a:t>，</a:t>
            </a:r>
            <a:r>
              <a:rPr lang="zh-CN" altLang="en-US" dirty="0">
                <a:latin typeface="Arial" panose="020B0604020202020204" pitchFamily="34" charset="0"/>
                <a:ea typeface="宋体" panose="02010600030101010101" pitchFamily="2" charset="-122"/>
                <a:sym typeface="+mn-ea"/>
              </a:rPr>
              <a:t>或者读作</a:t>
            </a:r>
            <a:r>
              <a:rPr lang="zh-CN" altLang="en-US" dirty="0">
                <a:solidFill>
                  <a:srgbClr val="FF0000"/>
                </a:solidFill>
                <a:latin typeface="Arial" panose="020B0604020202020204" pitchFamily="34" charset="0"/>
                <a:ea typeface="宋体" panose="02010600030101010101" pitchFamily="2" charset="-122"/>
                <a:sym typeface="+mn-ea"/>
              </a:rPr>
              <a:t>“</a:t>
            </a:r>
            <a:r>
              <a:rPr lang="en-US" altLang="x-none" dirty="0">
                <a:solidFill>
                  <a:srgbClr val="FF0000"/>
                </a:solidFill>
                <a:latin typeface="Arial" panose="020B0604020202020204" pitchFamily="34" charset="0"/>
                <a:ea typeface="宋体" panose="02010600030101010101" pitchFamily="2" charset="-122"/>
                <a:sym typeface="+mn-ea"/>
              </a:rPr>
              <a:t>B</a:t>
            </a:r>
            <a:r>
              <a:rPr lang="zh-CN" altLang="en-US" dirty="0">
                <a:solidFill>
                  <a:srgbClr val="FF0000"/>
                </a:solidFill>
                <a:latin typeface="Arial" panose="020B0604020202020204" pitchFamily="34" charset="0"/>
                <a:ea typeface="宋体" panose="02010600030101010101" pitchFamily="2" charset="-122"/>
                <a:sym typeface="+mn-ea"/>
              </a:rPr>
              <a:t>函数依赖于</a:t>
            </a:r>
            <a:r>
              <a:rPr lang="en-US" altLang="x-none" dirty="0">
                <a:solidFill>
                  <a:srgbClr val="FF0000"/>
                </a:solidFill>
                <a:latin typeface="Arial" panose="020B0604020202020204" pitchFamily="34" charset="0"/>
                <a:ea typeface="宋体" panose="02010600030101010101" pitchFamily="2" charset="-122"/>
                <a:sym typeface="+mn-ea"/>
              </a:rPr>
              <a:t>A” </a:t>
            </a:r>
            <a:r>
              <a:rPr lang="en-US" altLang="x-none" dirty="0">
                <a:ea typeface="仿宋_GB2312" pitchFamily="1" charset="-122"/>
                <a:sym typeface="+mn-ea"/>
              </a:rPr>
              <a:t>(</a:t>
            </a:r>
            <a:r>
              <a:rPr lang="en-US" altLang="x-none" dirty="0">
                <a:solidFill>
                  <a:schemeClr val="tx1"/>
                </a:solidFill>
                <a:ea typeface="宋体" panose="02010600030101010101" pitchFamily="2" charset="-122"/>
                <a:sym typeface="+mn-ea"/>
              </a:rPr>
              <a:t>A </a:t>
            </a:r>
            <a:r>
              <a:rPr lang="en-US" altLang="x-none" u="sng" dirty="0">
                <a:solidFill>
                  <a:schemeClr val="tx1"/>
                </a:solidFill>
                <a:ea typeface="宋体" panose="02010600030101010101" pitchFamily="2" charset="-122"/>
                <a:sym typeface="+mn-ea"/>
              </a:rPr>
              <a:t>functionally determines</a:t>
            </a:r>
            <a:r>
              <a:rPr lang="en-US" altLang="x-none" dirty="0">
                <a:solidFill>
                  <a:schemeClr val="tx1"/>
                </a:solidFill>
                <a:ea typeface="宋体" panose="02010600030101010101" pitchFamily="2" charset="-122"/>
                <a:sym typeface="+mn-ea"/>
              </a:rPr>
              <a:t> B, or B is </a:t>
            </a:r>
            <a:r>
              <a:rPr lang="en-US" altLang="x-none" u="sng" dirty="0">
                <a:solidFill>
                  <a:schemeClr val="tx1"/>
                </a:solidFill>
                <a:ea typeface="宋体" panose="02010600030101010101" pitchFamily="2" charset="-122"/>
                <a:sym typeface="+mn-ea"/>
              </a:rPr>
              <a:t>functionally dependent</a:t>
            </a:r>
            <a:r>
              <a:rPr lang="en-US" altLang="x-none" dirty="0">
                <a:solidFill>
                  <a:schemeClr val="tx1"/>
                </a:solidFill>
                <a:ea typeface="宋体" panose="02010600030101010101" pitchFamily="2" charset="-122"/>
                <a:sym typeface="+mn-ea"/>
              </a:rPr>
              <a:t> on A</a:t>
            </a:r>
            <a:r>
              <a:rPr lang="en-US" altLang="x-none" dirty="0">
                <a:ea typeface="宋体" panose="02010600030101010101" pitchFamily="2" charset="-122"/>
                <a:sym typeface="+mn-ea"/>
              </a:rPr>
              <a:t>)</a:t>
            </a:r>
            <a:endParaRPr lang="zh-CN" altLang="en-US" dirty="0">
              <a:solidFill>
                <a:schemeClr val="accent2"/>
              </a:solidFill>
              <a:ea typeface="宋体" panose="02010600030101010101" pitchFamily="2" charset="-122"/>
              <a:sym typeface="Arial" panose="020B0604020202020204" pitchFamily="34" charset="0"/>
            </a:endParaRPr>
          </a:p>
          <a:p>
            <a:pPr marL="731520" lvl="3" indent="-271780" eaLnBrk="1" hangingPunct="1">
              <a:buFont typeface="Arial" panose="020B0604020202020204" pitchFamily="34" charset="0"/>
              <a:buChar char="•"/>
            </a:pPr>
            <a:r>
              <a:rPr lang="zh-CN" altLang="en-US" dirty="0">
                <a:solidFill>
                  <a:schemeClr val="accent2"/>
                </a:solidFill>
                <a:ea typeface="宋体" panose="02010600030101010101" pitchFamily="2" charset="-122"/>
                <a:sym typeface="Arial" panose="020B0604020202020204" pitchFamily="34" charset="0"/>
              </a:rPr>
              <a:t>A和B是两个属性集合，且来自于同一个关系</a:t>
            </a:r>
          </a:p>
          <a:p>
            <a:pPr marL="731520" lvl="3" indent="-271780" eaLnBrk="1" hangingPunct="1">
              <a:buFont typeface="Arial" panose="020B0604020202020204" pitchFamily="34" charset="0"/>
              <a:buChar char="•"/>
            </a:pPr>
            <a:r>
              <a:rPr lang="zh-CN" altLang="en-US" dirty="0">
                <a:solidFill>
                  <a:schemeClr val="accent2"/>
                </a:solidFill>
                <a:ea typeface="宋体" panose="02010600030101010101" pitchFamily="2" charset="-122"/>
                <a:sym typeface="Arial" panose="020B0604020202020204" pitchFamily="34" charset="0"/>
              </a:rPr>
              <a:t>函数依赖来自于对现实世界中数据约束的抽象</a:t>
            </a:r>
          </a:p>
          <a:p>
            <a:pPr marL="1905" lvl="1" indent="455295" eaLnBrk="1" hangingPunct="1"/>
            <a:endParaRPr lang="en-US" altLang="x-none" dirty="0">
              <a:ea typeface="宋体" panose="02010600030101010101" pitchFamily="2" charset="-122"/>
            </a:endParaRPr>
          </a:p>
          <a:p>
            <a:pPr lvl="0" eaLnBrk="1" hangingPunct="1"/>
            <a:r>
              <a:rPr lang="en-US" altLang="x-none" dirty="0">
                <a:ea typeface="宋体" panose="02010600030101010101" pitchFamily="2" charset="-122"/>
              </a:rPr>
              <a:t>Armstrong’s Axioms (Armstrong</a:t>
            </a:r>
            <a:r>
              <a:rPr lang="zh-CN" altLang="en-US" dirty="0">
                <a:ea typeface="宋体" panose="02010600030101010101" pitchFamily="2" charset="-122"/>
              </a:rPr>
              <a:t>公理</a:t>
            </a:r>
            <a:r>
              <a:rPr lang="en-US" altLang="x-none" dirty="0">
                <a:ea typeface="宋体" panose="02010600030101010101" pitchFamily="2" charset="-122"/>
              </a:rPr>
              <a:t>)</a:t>
            </a:r>
          </a:p>
          <a:p>
            <a:pPr marL="720725" lvl="2" indent="-260985" eaLnBrk="1" hangingPunct="1">
              <a:buFont typeface="Arial" panose="020B0604020202020204" pitchFamily="34" charset="0"/>
              <a:buChar char="•"/>
            </a:pPr>
            <a:r>
              <a:rPr lang="zh-CN" altLang="en-US" dirty="0">
                <a:solidFill>
                  <a:srgbClr val="0000CC"/>
                </a:solidFill>
                <a:ea typeface="宋体" panose="02010600030101010101" pitchFamily="2" charset="-122"/>
              </a:rPr>
              <a:t>基本规则：</a:t>
            </a:r>
            <a:r>
              <a:rPr lang="zh-CN" altLang="en-US" dirty="0">
                <a:solidFill>
                  <a:srgbClr val="FF0000"/>
                </a:solidFill>
                <a:ea typeface="宋体" panose="02010600030101010101" pitchFamily="2" charset="-122"/>
              </a:rPr>
              <a:t>自反规则，传递规则，增广规则</a:t>
            </a:r>
          </a:p>
          <a:p>
            <a:pPr marL="720725" lvl="2" indent="-260985" eaLnBrk="1" hangingPunct="1">
              <a:buFont typeface="Arial" panose="020B0604020202020204" pitchFamily="34" charset="0"/>
              <a:buChar char="•"/>
            </a:pPr>
            <a:r>
              <a:rPr lang="zh-CN" altLang="en-US" dirty="0">
                <a:solidFill>
                  <a:srgbClr val="0000CC"/>
                </a:solidFill>
                <a:ea typeface="宋体" panose="02010600030101010101" pitchFamily="2" charset="-122"/>
              </a:rPr>
              <a:t>扩充规则：</a:t>
            </a:r>
            <a:r>
              <a:rPr lang="zh-CN" altLang="en-US" dirty="0">
                <a:solidFill>
                  <a:srgbClr val="FF0000"/>
                </a:solidFill>
                <a:ea typeface="宋体" panose="02010600030101010101" pitchFamily="2" charset="-122"/>
              </a:rPr>
              <a:t>合并规则，分解规则</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9</a:t>
            </a:fld>
            <a:endParaRPr lang="zh-CN" altLang="en-US" sz="1200" b="1" i="1" dirty="0">
              <a:latin typeface="Times New Roman" panose="02020603050405020304" pitchFamily="2" charset="0"/>
              <a:ea typeface="宋体" panose="02010600030101010101" pitchFamily="2" charset="-122"/>
            </a:endParaRPr>
          </a:p>
        </p:txBody>
      </p:sp>
      <p:sp>
        <p:nvSpPr>
          <p:cNvPr id="2"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6.6 </a:t>
            </a:r>
            <a:r>
              <a:rPr lang="en-US" altLang="x-none" dirty="0">
                <a:ea typeface="宋体" panose="02010600030101010101" pitchFamily="2" charset="-122"/>
              </a:rPr>
              <a:t>Functional Dependencies</a:t>
            </a:r>
          </a:p>
        </p:txBody>
      </p:sp>
      <p:sp>
        <p:nvSpPr>
          <p:cNvPr id="84998" name="Rectangle 3"/>
          <p:cNvSpPr>
            <a:spLocks noGrp="1"/>
          </p:cNvSpPr>
          <p:nvPr>
            <p:ph type="body"/>
          </p:nvPr>
        </p:nvSpPr>
        <p:spPr>
          <a:xfrm>
            <a:off x="62230" y="693420"/>
            <a:ext cx="8862060" cy="2681605"/>
          </a:xfrm>
          <a:solidFill>
            <a:schemeClr val="bg1"/>
          </a:solidFill>
        </p:spPr>
        <p:txBody>
          <a:bodyPr wrap="square" anchor="t">
            <a:spAutoFit/>
          </a:bodyPr>
          <a:lstStyle/>
          <a:p>
            <a:pPr lvl="0" eaLnBrk="1" hangingPunct="1">
              <a:lnSpc>
                <a:spcPct val="100000"/>
              </a:lnSpc>
            </a:pPr>
            <a:r>
              <a:rPr lang="en-US" altLang="x-none" dirty="0">
                <a:ea typeface="宋体" panose="02010600030101010101" pitchFamily="2" charset="-122"/>
              </a:rPr>
              <a:t>Functional Dependency (FD)</a:t>
            </a:r>
          </a:p>
          <a:p>
            <a:pPr lvl="1" eaLnBrk="1" hangingPunct="1">
              <a:lnSpc>
                <a:spcPct val="100000"/>
              </a:lnSpc>
            </a:pPr>
            <a:r>
              <a:rPr lang="en-US" altLang="x-none" sz="2600" dirty="0">
                <a:solidFill>
                  <a:schemeClr val="accent2"/>
                </a:solidFill>
                <a:ea typeface="宋体" panose="02010600030101010101" pitchFamily="2" charset="-122"/>
              </a:rPr>
              <a:t>a </a:t>
            </a:r>
            <a:r>
              <a:rPr lang="en-US" altLang="x-none" sz="2600" i="1" u="sng" dirty="0">
                <a:solidFill>
                  <a:srgbClr val="FF0000"/>
                </a:solidFill>
                <a:ea typeface="宋体" panose="02010600030101010101" pitchFamily="2" charset="-122"/>
              </a:rPr>
              <a:t>functional dependency</a:t>
            </a:r>
            <a:r>
              <a:rPr lang="en-US" altLang="x-none" sz="2600" dirty="0">
                <a:solidFill>
                  <a:schemeClr val="accent2"/>
                </a:solidFill>
                <a:ea typeface="宋体" panose="02010600030101010101" pitchFamily="2" charset="-122"/>
              </a:rPr>
              <a:t> is </a:t>
            </a:r>
            <a:r>
              <a:rPr lang="en-US" altLang="x-none" sz="2600" u="sng" dirty="0">
                <a:solidFill>
                  <a:schemeClr val="accent2"/>
                </a:solidFill>
                <a:ea typeface="宋体" panose="02010600030101010101" pitchFamily="2" charset="-122"/>
              </a:rPr>
              <a:t>a constraint between two sets of attributes in a relation</a:t>
            </a:r>
            <a:r>
              <a:rPr lang="en-US" altLang="x-none" sz="2600" dirty="0">
                <a:solidFill>
                  <a:schemeClr val="accent2"/>
                </a:solidFill>
                <a:ea typeface="宋体" panose="02010600030101010101" pitchFamily="2" charset="-122"/>
              </a:rPr>
              <a:t> from a database. </a:t>
            </a:r>
          </a:p>
          <a:p>
            <a:pPr lvl="1" eaLnBrk="1" hangingPunct="1">
              <a:lnSpc>
                <a:spcPct val="100000"/>
              </a:lnSpc>
            </a:pPr>
            <a:r>
              <a:rPr lang="en-US" altLang="x-none" sz="2600" dirty="0">
                <a:solidFill>
                  <a:schemeClr val="accent2"/>
                </a:solidFill>
                <a:ea typeface="宋体" panose="02010600030101010101" pitchFamily="2" charset="-122"/>
              </a:rPr>
              <a:t>In other words, </a:t>
            </a:r>
            <a:r>
              <a:rPr lang="en-US" altLang="x-none" sz="2600" i="1" u="sng" dirty="0">
                <a:solidFill>
                  <a:srgbClr val="FF0000"/>
                </a:solidFill>
                <a:ea typeface="宋体" panose="02010600030101010101" pitchFamily="2" charset="-122"/>
              </a:rPr>
              <a:t>functional dependency</a:t>
            </a:r>
            <a:r>
              <a:rPr lang="en-US" altLang="x-none" sz="2600" dirty="0">
                <a:solidFill>
                  <a:schemeClr val="accent2"/>
                </a:solidFill>
                <a:ea typeface="宋体" panose="02010600030101010101" pitchFamily="2" charset="-122"/>
              </a:rPr>
              <a:t> is </a:t>
            </a:r>
            <a:r>
              <a:rPr lang="en-US" altLang="x-none" sz="2600" u="sng" dirty="0">
                <a:solidFill>
                  <a:schemeClr val="accent2"/>
                </a:solidFill>
                <a:ea typeface="宋体" panose="02010600030101010101" pitchFamily="2" charset="-122"/>
              </a:rPr>
              <a:t>a constraint that describes the relationship between attributes in a relation</a:t>
            </a:r>
            <a:r>
              <a:rPr lang="en-US" altLang="x-none" sz="2600" dirty="0">
                <a:solidFill>
                  <a:schemeClr val="accent2"/>
                </a:solidFill>
                <a:ea typeface="宋体" panose="02010600030101010101" pitchFamily="2" charset="-122"/>
              </a:rPr>
              <a:t>.</a:t>
            </a:r>
          </a:p>
        </p:txBody>
      </p:sp>
      <p:sp>
        <p:nvSpPr>
          <p:cNvPr id="3" name="Rectangle 3"/>
          <p:cNvSpPr>
            <a:spLocks noGrp="1"/>
          </p:cNvSpPr>
          <p:nvPr/>
        </p:nvSpPr>
        <p:spPr>
          <a:xfrm>
            <a:off x="62230" y="3453130"/>
            <a:ext cx="8862695" cy="460375"/>
          </a:xfrm>
          <a:prstGeom prst="rect">
            <a:avLst/>
          </a:prstGeom>
          <a:solidFill>
            <a:schemeClr val="bg1"/>
          </a:solidFill>
          <a:ln w="9525">
            <a:noFill/>
          </a:ln>
        </p:spPr>
        <p:txBody>
          <a:bodyPr wrap="square" anchor="t">
            <a:spAutoFit/>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800" b="1" u="none" kern="1200" baseline="0">
                <a:solidFill>
                  <a:srgbClr val="FF0000"/>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Ø"/>
              <a:defRPr sz="2800" b="1" u="none" kern="1200" baseline="0">
                <a:solidFill>
                  <a:schemeClr val="accent2"/>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accent2"/>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9pPr>
          </a:lstStyle>
          <a:p>
            <a:pPr lvl="0" eaLnBrk="1" hangingPunct="1"/>
            <a:r>
              <a:rPr lang="en-US" altLang="x-none" sz="2400" dirty="0">
                <a:ea typeface="宋体" panose="02010600030101010101" pitchFamily="2" charset="-122"/>
              </a:rPr>
              <a:t>notations</a:t>
            </a:r>
            <a:endParaRPr lang="en-US" altLang="zh-CN" sz="2400" baseline="-25000" dirty="0">
              <a:solidFill>
                <a:schemeClr val="accent2"/>
              </a:solidFill>
              <a:ea typeface="宋体" panose="02010600030101010101" pitchFamily="2" charset="-122"/>
            </a:endParaRPr>
          </a:p>
        </p:txBody>
      </p:sp>
      <p:graphicFrame>
        <p:nvGraphicFramePr>
          <p:cNvPr id="4" name="表格 3"/>
          <p:cNvGraphicFramePr/>
          <p:nvPr/>
        </p:nvGraphicFramePr>
        <p:xfrm>
          <a:off x="468630" y="3864610"/>
          <a:ext cx="8455660" cy="2743200"/>
        </p:xfrm>
        <a:graphic>
          <a:graphicData uri="http://schemas.openxmlformats.org/drawingml/2006/table">
            <a:tbl>
              <a:tblPr firstRow="1" bandRow="1">
                <a:tableStyleId>{5C22544A-7EE6-4342-B048-85BDC9FD1C3A}</a:tableStyleId>
              </a:tblPr>
              <a:tblGrid>
                <a:gridCol w="1498600">
                  <a:extLst>
                    <a:ext uri="{9D8B030D-6E8A-4147-A177-3AD203B41FA5}">
                      <a16:colId xmlns:a16="http://schemas.microsoft.com/office/drawing/2014/main" val="20000"/>
                    </a:ext>
                  </a:extLst>
                </a:gridCol>
                <a:gridCol w="6957060">
                  <a:extLst>
                    <a:ext uri="{9D8B030D-6E8A-4147-A177-3AD203B41FA5}">
                      <a16:colId xmlns:a16="http://schemas.microsoft.com/office/drawing/2014/main" val="20001"/>
                    </a:ext>
                  </a:extLst>
                </a:gridCol>
              </a:tblGrid>
              <a:tr h="381000">
                <a:tc>
                  <a:txBody>
                    <a:bodyPr/>
                    <a:lstStyle/>
                    <a:p>
                      <a:pPr>
                        <a:buNone/>
                      </a:pPr>
                      <a:r>
                        <a:rPr lang="en-US" altLang="x-none" sz="2400" b="1" dirty="0">
                          <a:solidFill>
                            <a:schemeClr val="accent2"/>
                          </a:solidFill>
                          <a:ea typeface="宋体" panose="02010600030101010101" pitchFamily="2" charset="-122"/>
                          <a:sym typeface="+mn-ea"/>
                        </a:rPr>
                        <a:t>A, B, C</a:t>
                      </a: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l">
                        <a:buNone/>
                      </a:pPr>
                      <a:r>
                        <a:rPr lang="en-US" altLang="zh-CN" sz="2400" b="1" dirty="0">
                          <a:solidFill>
                            <a:schemeClr val="accent2"/>
                          </a:solidFill>
                          <a:ea typeface="宋体" panose="02010600030101010101" pitchFamily="2" charset="-122"/>
                          <a:sym typeface="+mn-ea"/>
                        </a:rPr>
                        <a:t>attribute name,  ABC = {A, B, C}</a:t>
                      </a:r>
                    </a:p>
                  </a:txBody>
                  <a:tcPr marL="144145">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0"/>
                  </a:ext>
                </a:extLst>
              </a:tr>
              <a:tr h="381000">
                <a:tc>
                  <a:txBody>
                    <a:bodyPr/>
                    <a:lstStyle/>
                    <a:p>
                      <a:pPr>
                        <a:buNone/>
                      </a:pPr>
                      <a:r>
                        <a:rPr lang="en-US" altLang="zh-CN" sz="2400" b="1" dirty="0">
                          <a:solidFill>
                            <a:schemeClr val="accent2"/>
                          </a:solidFill>
                          <a:ea typeface="宋体" panose="02010600030101010101" pitchFamily="2" charset="-122"/>
                          <a:sym typeface="+mn-ea"/>
                        </a:rPr>
                        <a:t>X, Y, Z</a:t>
                      </a: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l">
                        <a:buNone/>
                      </a:pPr>
                      <a:r>
                        <a:rPr lang="en-US" altLang="zh-CN" sz="2400" b="1" dirty="0">
                          <a:solidFill>
                            <a:schemeClr val="accent2"/>
                          </a:solidFill>
                          <a:ea typeface="宋体" panose="02010600030101010101" pitchFamily="2" charset="-122"/>
                          <a:sym typeface="+mn-ea"/>
                        </a:rPr>
                        <a:t>subset of attribute names,   XY = X </a:t>
                      </a:r>
                      <a:r>
                        <a:rPr lang="en-US" altLang="zh-CN" sz="2400" b="1" u="sng" dirty="0">
                          <a:solidFill>
                            <a:schemeClr val="accent2"/>
                          </a:solidFill>
                          <a:latin typeface="微软雅黑" panose="020B0503020204020204" charset="-122"/>
                          <a:ea typeface="微软雅黑" panose="020B0503020204020204" charset="-122"/>
                          <a:sym typeface="+mn-ea"/>
                        </a:rPr>
                        <a:t>union</a:t>
                      </a:r>
                      <a:r>
                        <a:rPr lang="en-US" altLang="zh-CN" sz="2400" b="1" dirty="0">
                          <a:solidFill>
                            <a:schemeClr val="accent2"/>
                          </a:solidFill>
                          <a:latin typeface="微软雅黑" panose="020B0503020204020204" charset="-122"/>
                          <a:ea typeface="微软雅黑" panose="020B0503020204020204" charset="-122"/>
                          <a:sym typeface="+mn-ea"/>
                        </a:rPr>
                        <a:t> Y</a:t>
                      </a:r>
                    </a:p>
                  </a:txBody>
                  <a:tcPr marL="144145">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1"/>
                  </a:ext>
                </a:extLst>
              </a:tr>
              <a:tr h="381000">
                <a:tc>
                  <a:txBody>
                    <a:bodyPr/>
                    <a:lstStyle/>
                    <a:p>
                      <a:pPr>
                        <a:buNone/>
                      </a:pPr>
                      <a:r>
                        <a:rPr lang="en-US" altLang="zh-CN" sz="2400" b="1" dirty="0">
                          <a:solidFill>
                            <a:schemeClr val="accent2"/>
                          </a:solidFill>
                          <a:ea typeface="宋体" panose="02010600030101010101" pitchFamily="2" charset="-122"/>
                          <a:sym typeface="+mn-ea"/>
                        </a:rPr>
                        <a:t>R, S, T</a:t>
                      </a: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l">
                        <a:buNone/>
                      </a:pPr>
                      <a:r>
                        <a:rPr lang="en-US" altLang="zh-CN" sz="2400" b="1" dirty="0">
                          <a:solidFill>
                            <a:schemeClr val="accent2"/>
                          </a:solidFill>
                          <a:ea typeface="宋体" panose="02010600030101010101" pitchFamily="2" charset="-122"/>
                          <a:sym typeface="+mn-ea"/>
                        </a:rPr>
                        <a:t>relation name (relation schema, table heading)</a:t>
                      </a:r>
                    </a:p>
                  </a:txBody>
                  <a:tcPr marL="144145">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2"/>
                  </a:ext>
                </a:extLst>
              </a:tr>
              <a:tr h="381000">
                <a:tc>
                  <a:txBody>
                    <a:bodyPr/>
                    <a:lstStyle/>
                    <a:p>
                      <a:pPr>
                        <a:buNone/>
                      </a:pPr>
                      <a:r>
                        <a:rPr lang="en-US" altLang="zh-CN" sz="2400" b="1" dirty="0">
                          <a:solidFill>
                            <a:schemeClr val="accent2"/>
                          </a:solidFill>
                          <a:ea typeface="宋体" panose="02010600030101010101" pitchFamily="2" charset="-122"/>
                          <a:sym typeface="+mn-ea"/>
                        </a:rPr>
                        <a:t>r, s, t</a:t>
                      </a: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l">
                        <a:buNone/>
                      </a:pPr>
                      <a:r>
                        <a:rPr lang="en-US" altLang="zh-CN" sz="2400" b="1" dirty="0">
                          <a:solidFill>
                            <a:schemeClr val="accent2"/>
                          </a:solidFill>
                          <a:ea typeface="宋体" panose="02010600030101010101" pitchFamily="2" charset="-122"/>
                          <a:sym typeface="+mn-ea"/>
                        </a:rPr>
                        <a:t>relation instance (the set of rows in a relation)</a:t>
                      </a:r>
                    </a:p>
                  </a:txBody>
                  <a:tcPr marL="144145">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3"/>
                  </a:ext>
                </a:extLst>
              </a:tr>
              <a:tr h="381000">
                <a:tc>
                  <a:txBody>
                    <a:bodyPr/>
                    <a:lstStyle/>
                    <a:p>
                      <a:pPr>
                        <a:buNone/>
                      </a:pPr>
                      <a:r>
                        <a:rPr lang="en-US" altLang="zh-CN" sz="2400" b="1" dirty="0">
                          <a:solidFill>
                            <a:schemeClr val="accent2"/>
                          </a:solidFill>
                          <a:ea typeface="宋体" panose="02010600030101010101" pitchFamily="2" charset="-122"/>
                          <a:sym typeface="+mn-ea"/>
                        </a:rPr>
                        <a:t>r</a:t>
                      </a:r>
                      <a:r>
                        <a:rPr lang="en-US" altLang="zh-CN" sz="2400" b="1" baseline="-25000" dirty="0">
                          <a:solidFill>
                            <a:schemeClr val="accent2"/>
                          </a:solidFill>
                          <a:ea typeface="宋体" panose="02010600030101010101" pitchFamily="2" charset="-122"/>
                          <a:sym typeface="+mn-ea"/>
                        </a:rPr>
                        <a:t>1</a:t>
                      </a:r>
                      <a:r>
                        <a:rPr lang="en-US" altLang="zh-CN" sz="2400" b="1" dirty="0">
                          <a:solidFill>
                            <a:schemeClr val="accent2"/>
                          </a:solidFill>
                          <a:ea typeface="宋体" panose="02010600030101010101" pitchFamily="2" charset="-122"/>
                          <a:sym typeface="+mn-ea"/>
                        </a:rPr>
                        <a:t>, r</a:t>
                      </a:r>
                      <a:r>
                        <a:rPr lang="en-US" altLang="zh-CN" sz="2400" b="1" baseline="-25000" dirty="0">
                          <a:solidFill>
                            <a:schemeClr val="accent2"/>
                          </a:solidFill>
                          <a:ea typeface="宋体" panose="02010600030101010101" pitchFamily="2" charset="-122"/>
                          <a:sym typeface="+mn-ea"/>
                        </a:rPr>
                        <a:t>2</a:t>
                      </a:r>
                      <a:r>
                        <a:rPr lang="en-US" altLang="zh-CN" sz="2400" b="1" dirty="0">
                          <a:solidFill>
                            <a:schemeClr val="accent2"/>
                          </a:solidFill>
                          <a:ea typeface="宋体" panose="02010600030101010101" pitchFamily="2" charset="-122"/>
                          <a:sym typeface="+mn-ea"/>
                        </a:rPr>
                        <a:t>, r</a:t>
                      </a:r>
                      <a:r>
                        <a:rPr lang="en-US" altLang="zh-CN" sz="2400" b="1" baseline="-25000" dirty="0">
                          <a:solidFill>
                            <a:schemeClr val="accent2"/>
                          </a:solidFill>
                          <a:ea typeface="宋体" panose="02010600030101010101" pitchFamily="2" charset="-122"/>
                          <a:sym typeface="+mn-ea"/>
                        </a:rPr>
                        <a:t>3</a:t>
                      </a:r>
                      <a:endParaRPr lang="zh-CN" altLang="en-US" b="1">
                        <a:solidFill>
                          <a:schemeClr val="accent6"/>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l">
                        <a:buNone/>
                      </a:pPr>
                      <a:r>
                        <a:rPr lang="en-US" altLang="zh-CN" sz="2400" b="1" dirty="0">
                          <a:solidFill>
                            <a:schemeClr val="accent2"/>
                          </a:solidFill>
                          <a:ea typeface="宋体" panose="02010600030101010101" pitchFamily="2" charset="-122"/>
                          <a:sym typeface="+mn-ea"/>
                        </a:rPr>
                        <a:t>rows in relation R</a:t>
                      </a:r>
                    </a:p>
                  </a:txBody>
                  <a:tcPr marL="144145">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4"/>
                  </a:ext>
                </a:extLst>
              </a:tr>
              <a:tr h="381000">
                <a:tc>
                  <a:txBody>
                    <a:bodyPr/>
                    <a:lstStyle/>
                    <a:p>
                      <a:pPr>
                        <a:buNone/>
                      </a:pPr>
                      <a:r>
                        <a:rPr lang="en-US" altLang="zh-CN" sz="2400" b="1" dirty="0">
                          <a:solidFill>
                            <a:schemeClr val="accent2"/>
                          </a:solidFill>
                          <a:ea typeface="宋体" panose="02010600030101010101" pitchFamily="2" charset="-122"/>
                          <a:sym typeface="+mn-ea"/>
                        </a:rPr>
                        <a:t>r</a:t>
                      </a:r>
                      <a:r>
                        <a:rPr lang="en-US" altLang="zh-CN" sz="2400" b="1" baseline="-25000" dirty="0">
                          <a:solidFill>
                            <a:schemeClr val="accent2"/>
                          </a:solidFill>
                          <a:ea typeface="宋体" panose="02010600030101010101" pitchFamily="2" charset="-122"/>
                          <a:sym typeface="+mn-ea"/>
                        </a:rPr>
                        <a:t>1</a:t>
                      </a:r>
                      <a:r>
                        <a:rPr lang="en-US" altLang="zh-CN" sz="2400" b="1" dirty="0">
                          <a:solidFill>
                            <a:schemeClr val="accent2"/>
                          </a:solidFill>
                          <a:ea typeface="宋体" panose="02010600030101010101" pitchFamily="2" charset="-122"/>
                          <a:sym typeface="+mn-ea"/>
                        </a:rPr>
                        <a:t>(A)</a:t>
                      </a:r>
                      <a:endParaRPr lang="zh-CN" altLang="en-US" b="1">
                        <a:solidFill>
                          <a:schemeClr val="accent6"/>
                        </a:solidFill>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l">
                        <a:buNone/>
                      </a:pPr>
                      <a:r>
                        <a:rPr lang="en-US" altLang="zh-CN" sz="2400" b="1" dirty="0">
                          <a:solidFill>
                            <a:schemeClr val="accent2"/>
                          </a:solidFill>
                          <a:ea typeface="宋体" panose="02010600030101010101" pitchFamily="2" charset="-122"/>
                          <a:sym typeface="+mn-ea"/>
                        </a:rPr>
                        <a:t>the value of row r</a:t>
                      </a:r>
                      <a:r>
                        <a:rPr lang="en-US" altLang="zh-CN" sz="2400" b="1" baseline="-25000" dirty="0">
                          <a:solidFill>
                            <a:schemeClr val="accent2"/>
                          </a:solidFill>
                          <a:ea typeface="宋体" panose="02010600030101010101" pitchFamily="2" charset="-122"/>
                          <a:sym typeface="+mn-ea"/>
                        </a:rPr>
                        <a:t>1</a:t>
                      </a:r>
                      <a:r>
                        <a:rPr lang="en-US" altLang="zh-CN" sz="2400" b="1" dirty="0">
                          <a:solidFill>
                            <a:schemeClr val="accent2"/>
                          </a:solidFill>
                          <a:ea typeface="宋体" panose="02010600030101010101" pitchFamily="2" charset="-122"/>
                          <a:sym typeface="+mn-ea"/>
                        </a:rPr>
                        <a:t> at attribute A</a:t>
                      </a:r>
                      <a:endParaRPr lang="zh-CN" altLang="en-US" b="1">
                        <a:solidFill>
                          <a:schemeClr val="accent6"/>
                        </a:solidFill>
                      </a:endParaRPr>
                    </a:p>
                  </a:txBody>
                  <a:tcPr marL="144145">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84994"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84995"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10</a:t>
            </a:fld>
            <a:endParaRPr lang="zh-CN" altLang="en-US" sz="1200" b="1" i="1" dirty="0">
              <a:latin typeface="Times New Roman" panose="02020603050405020304" pitchFamily="2" charset="0"/>
              <a:ea typeface="宋体" panose="02010600030101010101" pitchFamily="2" charset="-122"/>
            </a:endParaRPr>
          </a:p>
        </p:txBody>
      </p:sp>
      <p:sp>
        <p:nvSpPr>
          <p:cNvPr id="2"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6.6 </a:t>
            </a:r>
            <a:r>
              <a:rPr lang="en-US" altLang="x-none" dirty="0">
                <a:ea typeface="宋体" panose="02010600030101010101" pitchFamily="2" charset="-122"/>
              </a:rPr>
              <a:t>Functional Dependencies</a:t>
            </a:r>
          </a:p>
        </p:txBody>
      </p:sp>
      <p:sp>
        <p:nvSpPr>
          <p:cNvPr id="84998" name="Rectangle 3"/>
          <p:cNvSpPr>
            <a:spLocks noGrp="1"/>
          </p:cNvSpPr>
          <p:nvPr>
            <p:ph type="body"/>
          </p:nvPr>
        </p:nvSpPr>
        <p:spPr>
          <a:xfrm>
            <a:off x="253048" y="693103"/>
            <a:ext cx="8229600" cy="1038860"/>
          </a:xfrm>
          <a:solidFill>
            <a:schemeClr val="bg1"/>
          </a:solidFill>
        </p:spPr>
        <p:txBody>
          <a:bodyPr wrap="square" anchor="t">
            <a:spAutoFit/>
          </a:bodyPr>
          <a:lstStyle/>
          <a:p>
            <a:pPr lvl="0" eaLnBrk="1" hangingPunct="1"/>
            <a:r>
              <a:rPr lang="en-US" altLang="x-none" dirty="0">
                <a:ea typeface="宋体" panose="02010600030101010101" pitchFamily="2" charset="-122"/>
              </a:rPr>
              <a:t>Def. 6.6.1 </a:t>
            </a:r>
            <a:r>
              <a:rPr lang="en-US" altLang="x-none" dirty="0">
                <a:solidFill>
                  <a:schemeClr val="accent2"/>
                </a:solidFill>
                <a:ea typeface="宋体" panose="02010600030101010101" pitchFamily="2" charset="-122"/>
              </a:rPr>
              <a:t>A</a:t>
            </a:r>
            <a:r>
              <a:rPr lang="en-US" altLang="x-none" dirty="0">
                <a:solidFill>
                  <a:schemeClr val="accent2"/>
                </a:solidFill>
                <a:ea typeface="仿宋_GB2312" pitchFamily="1" charset="-122"/>
              </a:rPr>
              <a:t>→B</a:t>
            </a:r>
          </a:p>
          <a:p>
            <a:pPr lvl="1" eaLnBrk="1" hangingPunct="1"/>
            <a:r>
              <a:rPr lang="en-US" altLang="x-none" dirty="0">
                <a:solidFill>
                  <a:schemeClr val="accent2"/>
                </a:solidFill>
                <a:ea typeface="宋体" panose="02010600030101010101" pitchFamily="2" charset="-122"/>
              </a:rPr>
              <a:t>A and B is attributes in the same relation T</a:t>
            </a:r>
          </a:p>
        </p:txBody>
      </p:sp>
      <p:sp>
        <p:nvSpPr>
          <p:cNvPr id="85000" name="Rectangle 6"/>
          <p:cNvSpPr/>
          <p:nvPr/>
        </p:nvSpPr>
        <p:spPr>
          <a:xfrm>
            <a:off x="253048" y="3863658"/>
            <a:ext cx="8675687" cy="2072640"/>
          </a:xfrm>
          <a:prstGeom prst="rect">
            <a:avLst/>
          </a:prstGeom>
          <a:noFill/>
          <a:ln w="9525">
            <a:noFill/>
          </a:ln>
        </p:spPr>
        <p:txBody>
          <a:bodyPr anchor="t">
            <a:spAutoFit/>
          </a:bodyPr>
          <a:lstStyle/>
          <a:p>
            <a:pPr marL="342900" lvl="0" indent="-342900">
              <a:spcBef>
                <a:spcPct val="20000"/>
              </a:spcBef>
              <a:buClr>
                <a:srgbClr val="996633"/>
              </a:buClr>
              <a:buFont typeface="Wingdings" panose="05000000000000000000" pitchFamily="2" charset="2"/>
              <a:buChar char="q"/>
            </a:pPr>
            <a:r>
              <a:rPr lang="en-US" altLang="x-none" sz="2800" b="1" dirty="0">
                <a:solidFill>
                  <a:srgbClr val="FF0000"/>
                </a:solidFill>
                <a:latin typeface="Arial" panose="020B0604020202020204" pitchFamily="34" charset="0"/>
                <a:ea typeface="宋体" panose="02010600030101010101" pitchFamily="2" charset="-122"/>
              </a:rPr>
              <a:t>Example 6.6.1</a:t>
            </a:r>
          </a:p>
          <a:p>
            <a:pPr marL="742950" lvl="1" indent="-285750">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emp_id</a:t>
            </a:r>
            <a:r>
              <a:rPr lang="en-US" altLang="x-none" sz="2800" dirty="0">
                <a:solidFill>
                  <a:schemeClr val="accent2"/>
                </a:solidFill>
                <a:ea typeface="仿宋_GB2312" pitchFamily="1" charset="-122"/>
                <a:sym typeface="+mn-ea"/>
              </a:rPr>
              <a:t>→</a:t>
            </a:r>
            <a:r>
              <a:rPr lang="en-US" altLang="x-none" sz="2800" b="1" dirty="0">
                <a:solidFill>
                  <a:schemeClr val="accent2"/>
                </a:solidFill>
                <a:latin typeface="Arial" panose="020B0604020202020204" pitchFamily="34" charset="0"/>
                <a:ea typeface="宋体" panose="02010600030101010101" pitchFamily="2" charset="-122"/>
              </a:rPr>
              <a:t>emp_name</a:t>
            </a:r>
          </a:p>
          <a:p>
            <a:pPr marL="742950" lvl="1" indent="-285750">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sym typeface="+mn-ea"/>
              </a:rPr>
              <a:t>emp_id</a:t>
            </a:r>
            <a:r>
              <a:rPr lang="en-US" altLang="x-none" sz="2800" dirty="0">
                <a:solidFill>
                  <a:schemeClr val="accent2"/>
                </a:solidFill>
                <a:ea typeface="仿宋_GB2312" pitchFamily="1" charset="-122"/>
                <a:sym typeface="+mn-ea"/>
              </a:rPr>
              <a:t>→</a:t>
            </a:r>
            <a:r>
              <a:rPr lang="en-US" altLang="x-none" sz="2800" b="1" dirty="0">
                <a:solidFill>
                  <a:schemeClr val="accent2"/>
                </a:solidFill>
                <a:latin typeface="Arial" panose="020B0604020202020204" pitchFamily="34" charset="0"/>
                <a:ea typeface="宋体" panose="02010600030101010101" pitchFamily="2" charset="-122"/>
              </a:rPr>
              <a:t>emp_phone</a:t>
            </a:r>
          </a:p>
          <a:p>
            <a:pPr marL="742950" lvl="1" indent="-285750">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sym typeface="+mn-ea"/>
              </a:rPr>
              <a:t>emp_id</a:t>
            </a:r>
            <a:r>
              <a:rPr lang="en-US" altLang="x-none" sz="2800" dirty="0">
                <a:solidFill>
                  <a:schemeClr val="accent2"/>
                </a:solidFill>
                <a:ea typeface="仿宋_GB2312" pitchFamily="1" charset="-122"/>
                <a:sym typeface="+mn-ea"/>
              </a:rPr>
              <a:t>→</a:t>
            </a:r>
            <a:r>
              <a:rPr lang="en-US" altLang="x-none" sz="2800" b="1" dirty="0">
                <a:solidFill>
                  <a:schemeClr val="accent2"/>
                </a:solidFill>
                <a:latin typeface="Arial" panose="020B0604020202020204" pitchFamily="34" charset="0"/>
                <a:ea typeface="宋体" panose="02010600030101010101" pitchFamily="2" charset="-122"/>
              </a:rPr>
              <a:t>dept_name</a:t>
            </a:r>
          </a:p>
        </p:txBody>
      </p:sp>
      <p:sp>
        <p:nvSpPr>
          <p:cNvPr id="85001" name="Rectangle 5"/>
          <p:cNvSpPr/>
          <p:nvPr/>
        </p:nvSpPr>
        <p:spPr>
          <a:xfrm>
            <a:off x="466725" y="1776095"/>
            <a:ext cx="8041005" cy="1515110"/>
          </a:xfrm>
          <a:prstGeom prst="rect">
            <a:avLst/>
          </a:prstGeom>
          <a:solidFill>
            <a:schemeClr val="bg1"/>
          </a:solidFill>
          <a:ln w="9525">
            <a:solidFill>
              <a:schemeClr val="accent1"/>
            </a:solidFill>
          </a:ln>
        </p:spPr>
        <p:txBody>
          <a:bodyPr wrap="square" anchor="t">
            <a:spAutoFit/>
          </a:bodyPr>
          <a:lstStyle/>
          <a:p>
            <a:pPr lvl="1">
              <a:lnSpc>
                <a:spcPct val="110000"/>
              </a:lnSpc>
              <a:spcBef>
                <a:spcPts val="20"/>
              </a:spcBef>
              <a:spcAft>
                <a:spcPts val="0"/>
              </a:spcAft>
              <a:buClr>
                <a:srgbClr val="996633"/>
              </a:buClr>
            </a:pPr>
            <a:r>
              <a:rPr lang="en-US" altLang="x-none" sz="2800" b="1" dirty="0">
                <a:solidFill>
                  <a:schemeClr val="accent2"/>
                </a:solidFill>
                <a:latin typeface="Arial" panose="020B0604020202020204" pitchFamily="34" charset="0"/>
                <a:ea typeface="宋体" panose="02010600030101010101" pitchFamily="2" charset="-122"/>
              </a:rPr>
              <a:t>A</a:t>
            </a:r>
            <a:r>
              <a:rPr lang="en-US" altLang="x-none" sz="2800" b="1" dirty="0">
                <a:solidFill>
                  <a:schemeClr val="accent2"/>
                </a:solidFill>
                <a:latin typeface="Arial" panose="020B0604020202020204" pitchFamily="34" charset="0"/>
                <a:ea typeface="仿宋_GB2312" pitchFamily="1" charset="-122"/>
                <a:sym typeface="+mn-ea"/>
              </a:rPr>
              <a:t>→B  </a:t>
            </a:r>
            <a:r>
              <a:rPr lang="en-US" altLang="x-none" sz="2800" b="1" u="sng" dirty="0">
                <a:solidFill>
                  <a:srgbClr val="FF0000"/>
                </a:solidFill>
                <a:latin typeface="Arial" panose="020B0604020202020204" pitchFamily="34" charset="0"/>
                <a:ea typeface="仿宋_GB2312" pitchFamily="1" charset="-122"/>
                <a:sym typeface="+mn-ea"/>
              </a:rPr>
              <a:t>if and only if</a:t>
            </a:r>
          </a:p>
          <a:p>
            <a:pPr lvl="1">
              <a:lnSpc>
                <a:spcPct val="110000"/>
              </a:lnSpc>
              <a:spcBef>
                <a:spcPts val="20"/>
              </a:spcBef>
              <a:spcAft>
                <a:spcPts val="0"/>
              </a:spcAft>
              <a:buClr>
                <a:srgbClr val="996633"/>
              </a:buClr>
            </a:pPr>
            <a:r>
              <a:rPr lang="en-US" altLang="x-none" sz="2800" b="1" dirty="0">
                <a:solidFill>
                  <a:schemeClr val="accent2"/>
                </a:solidFill>
                <a:latin typeface="Arial" panose="020B0604020202020204" pitchFamily="34" charset="0"/>
                <a:ea typeface="宋体" panose="02010600030101010101" pitchFamily="2" charset="-122"/>
              </a:rPr>
              <a:t>For any rows r</a:t>
            </a:r>
            <a:r>
              <a:rPr lang="en-US" altLang="x-none" sz="2800" b="1" baseline="-25000" dirty="0">
                <a:solidFill>
                  <a:schemeClr val="accent2"/>
                </a:solidFill>
                <a:latin typeface="Arial" panose="020B0604020202020204" pitchFamily="34" charset="0"/>
                <a:ea typeface="宋体" panose="02010600030101010101" pitchFamily="2" charset="-122"/>
              </a:rPr>
              <a:t>1</a:t>
            </a:r>
            <a:r>
              <a:rPr lang="en-US" altLang="x-none" sz="2800" b="1" dirty="0">
                <a:solidFill>
                  <a:schemeClr val="accent2"/>
                </a:solidFill>
                <a:latin typeface="Arial" panose="020B0604020202020204" pitchFamily="34" charset="0"/>
                <a:ea typeface="宋体" panose="02010600030101010101" pitchFamily="2" charset="-122"/>
              </a:rPr>
              <a:t> and r</a:t>
            </a:r>
            <a:r>
              <a:rPr lang="en-US" altLang="x-none" sz="2800" b="1" baseline="-25000" dirty="0">
                <a:solidFill>
                  <a:schemeClr val="accent2"/>
                </a:solidFill>
                <a:latin typeface="Arial" panose="020B0604020202020204" pitchFamily="34" charset="0"/>
                <a:ea typeface="宋体" panose="02010600030101010101" pitchFamily="2" charset="-122"/>
              </a:rPr>
              <a:t>2</a:t>
            </a:r>
            <a:r>
              <a:rPr lang="en-US" altLang="x-none" sz="2800" b="1" dirty="0">
                <a:solidFill>
                  <a:schemeClr val="accent2"/>
                </a:solidFill>
                <a:latin typeface="Arial" panose="020B0604020202020204" pitchFamily="34" charset="0"/>
                <a:ea typeface="宋体" panose="02010600030101010101" pitchFamily="2" charset="-122"/>
              </a:rPr>
              <a:t> in any instance of relation T, if r</a:t>
            </a:r>
            <a:r>
              <a:rPr lang="en-US" altLang="x-none" sz="2800" b="1" baseline="-25000" dirty="0">
                <a:solidFill>
                  <a:schemeClr val="accent2"/>
                </a:solidFill>
                <a:latin typeface="Arial" panose="020B0604020202020204" pitchFamily="34" charset="0"/>
                <a:ea typeface="宋体" panose="02010600030101010101" pitchFamily="2" charset="-122"/>
              </a:rPr>
              <a:t>1</a:t>
            </a:r>
            <a:r>
              <a:rPr lang="en-US" altLang="x-none" sz="2800" b="1" dirty="0">
                <a:solidFill>
                  <a:schemeClr val="accent2"/>
                </a:solidFill>
                <a:latin typeface="Arial" panose="020B0604020202020204" pitchFamily="34" charset="0"/>
                <a:ea typeface="宋体" panose="02010600030101010101" pitchFamily="2" charset="-122"/>
              </a:rPr>
              <a:t>(A) = r</a:t>
            </a:r>
            <a:r>
              <a:rPr lang="en-US" altLang="x-none" sz="2800" b="1" baseline="-25000" dirty="0">
                <a:solidFill>
                  <a:schemeClr val="accent2"/>
                </a:solidFill>
                <a:latin typeface="Arial" panose="020B0604020202020204" pitchFamily="34" charset="0"/>
                <a:ea typeface="宋体" panose="02010600030101010101" pitchFamily="2" charset="-122"/>
              </a:rPr>
              <a:t>2</a:t>
            </a:r>
            <a:r>
              <a:rPr lang="en-US" altLang="x-none" sz="2800" b="1" dirty="0">
                <a:solidFill>
                  <a:schemeClr val="accent2"/>
                </a:solidFill>
                <a:latin typeface="Arial" panose="020B0604020202020204" pitchFamily="34" charset="0"/>
                <a:ea typeface="宋体" panose="02010600030101010101" pitchFamily="2" charset="-122"/>
              </a:rPr>
              <a:t>(A) then r</a:t>
            </a:r>
            <a:r>
              <a:rPr lang="en-US" altLang="x-none" sz="2800" b="1" baseline="-25000" dirty="0">
                <a:solidFill>
                  <a:schemeClr val="accent2"/>
                </a:solidFill>
                <a:latin typeface="Arial" panose="020B0604020202020204" pitchFamily="34" charset="0"/>
                <a:ea typeface="宋体" panose="02010600030101010101" pitchFamily="2" charset="-122"/>
              </a:rPr>
              <a:t>1</a:t>
            </a:r>
            <a:r>
              <a:rPr lang="en-US" altLang="x-none" sz="2800" b="1" dirty="0">
                <a:solidFill>
                  <a:schemeClr val="accent2"/>
                </a:solidFill>
                <a:latin typeface="Arial" panose="020B0604020202020204" pitchFamily="34" charset="0"/>
                <a:ea typeface="宋体" panose="02010600030101010101" pitchFamily="2" charset="-122"/>
              </a:rPr>
              <a:t>(B) = r</a:t>
            </a:r>
            <a:r>
              <a:rPr lang="en-US" altLang="x-none" sz="2800" b="1" baseline="-25000" dirty="0">
                <a:solidFill>
                  <a:schemeClr val="accent2"/>
                </a:solidFill>
                <a:latin typeface="Arial" panose="020B0604020202020204" pitchFamily="34" charset="0"/>
                <a:ea typeface="宋体" panose="02010600030101010101" pitchFamily="2" charset="-122"/>
              </a:rPr>
              <a:t>2</a:t>
            </a:r>
            <a:r>
              <a:rPr lang="en-US" altLang="x-none" sz="2800" b="1" dirty="0">
                <a:solidFill>
                  <a:schemeClr val="accent2"/>
                </a:solidFill>
                <a:latin typeface="Arial" panose="020B0604020202020204" pitchFamily="34" charset="0"/>
                <a:ea typeface="宋体" panose="02010600030101010101" pitchFamily="2" charset="-122"/>
              </a:rPr>
              <a:t>(B).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5001"/>
                                        </p:tgtEl>
                                        <p:attrNameLst>
                                          <p:attrName>style.visibility</p:attrName>
                                        </p:attrNameLst>
                                      </p:cBhvr>
                                      <p:to>
                                        <p:strVal val="visible"/>
                                      </p:to>
                                    </p:set>
                                    <p:animEffect transition="in" filter="blinds(horizontal)">
                                      <p:cBhvr>
                                        <p:cTn id="7" dur="500"/>
                                        <p:tgtEl>
                                          <p:spTgt spid="8500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5000"/>
                                        </p:tgtEl>
                                        <p:attrNameLst>
                                          <p:attrName>style.visibility</p:attrName>
                                        </p:attrNameLst>
                                      </p:cBhvr>
                                      <p:to>
                                        <p:strVal val="visible"/>
                                      </p:to>
                                    </p:set>
                                    <p:animEffect transition="in" filter="blinds(horizontal)">
                                      <p:cBhvr>
                                        <p:cTn id="12" dur="500"/>
                                        <p:tgtEl>
                                          <p:spTgt spid="850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00" grpId="0"/>
      <p:bldP spid="85001"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4" name="Rectangle 4"/>
          <p:cNvSpPr>
            <a:spLocks noGrp="1"/>
          </p:cNvSpPr>
          <p:nvPr>
            <p:ph type="title"/>
          </p:nvPr>
        </p:nvSpPr>
        <p:spPr>
          <a:xfrm>
            <a:off x="0" y="0"/>
            <a:ext cx="9144000" cy="476250"/>
          </a:xfrm>
        </p:spPr>
        <p:txBody>
          <a:bodyPr wrap="square" anchor="ctr"/>
          <a:lstStyle/>
          <a:p>
            <a:pPr lvl="0" eaLnBrk="1" hangingPunct="1"/>
            <a:r>
              <a:rPr lang="en-US" altLang="x-none" sz="2800" dirty="0">
                <a:latin typeface="Arial" panose="020B0604020202020204" pitchFamily="34" charset="0"/>
                <a:ea typeface="宋体" panose="02010600030101010101" pitchFamily="2" charset="-122"/>
              </a:rPr>
              <a:t>The SCG database</a:t>
            </a:r>
          </a:p>
        </p:txBody>
      </p:sp>
      <p:graphicFrame>
        <p:nvGraphicFramePr>
          <p:cNvPr id="87046" name="内容占位符 87045"/>
          <p:cNvGraphicFramePr>
            <a:graphicFrameLocks noGrp="1"/>
          </p:cNvGraphicFramePr>
          <p:nvPr>
            <p:ph idx="1"/>
          </p:nvPr>
        </p:nvGraphicFramePr>
        <p:xfrm>
          <a:off x="250825" y="476250"/>
          <a:ext cx="8680450" cy="4968875"/>
        </p:xfrm>
        <a:graphic>
          <a:graphicData uri="http://schemas.openxmlformats.org/drawingml/2006/table">
            <a:tbl>
              <a:tblPr/>
              <a:tblGrid>
                <a:gridCol w="1241425">
                  <a:extLst>
                    <a:ext uri="{9D8B030D-6E8A-4147-A177-3AD203B41FA5}">
                      <a16:colId xmlns:a16="http://schemas.microsoft.com/office/drawing/2014/main" val="20000"/>
                    </a:ext>
                  </a:extLst>
                </a:gridCol>
                <a:gridCol w="2009775">
                  <a:extLst>
                    <a:ext uri="{9D8B030D-6E8A-4147-A177-3AD203B41FA5}">
                      <a16:colId xmlns:a16="http://schemas.microsoft.com/office/drawing/2014/main" val="20001"/>
                    </a:ext>
                  </a:extLst>
                </a:gridCol>
                <a:gridCol w="1085850">
                  <a:extLst>
                    <a:ext uri="{9D8B030D-6E8A-4147-A177-3AD203B41FA5}">
                      <a16:colId xmlns:a16="http://schemas.microsoft.com/office/drawing/2014/main" val="20002"/>
                    </a:ext>
                  </a:extLst>
                </a:gridCol>
                <a:gridCol w="1085850">
                  <a:extLst>
                    <a:ext uri="{9D8B030D-6E8A-4147-A177-3AD203B41FA5}">
                      <a16:colId xmlns:a16="http://schemas.microsoft.com/office/drawing/2014/main" val="20003"/>
                    </a:ext>
                  </a:extLst>
                </a:gridCol>
                <a:gridCol w="1085850">
                  <a:extLst>
                    <a:ext uri="{9D8B030D-6E8A-4147-A177-3AD203B41FA5}">
                      <a16:colId xmlns:a16="http://schemas.microsoft.com/office/drawing/2014/main" val="20004"/>
                    </a:ext>
                  </a:extLst>
                </a:gridCol>
                <a:gridCol w="1085850">
                  <a:extLst>
                    <a:ext uri="{9D8B030D-6E8A-4147-A177-3AD203B41FA5}">
                      <a16:colId xmlns:a16="http://schemas.microsoft.com/office/drawing/2014/main" val="20005"/>
                    </a:ext>
                  </a:extLst>
                </a:gridCol>
                <a:gridCol w="1085850">
                  <a:extLst>
                    <a:ext uri="{9D8B030D-6E8A-4147-A177-3AD203B41FA5}">
                      <a16:colId xmlns:a16="http://schemas.microsoft.com/office/drawing/2014/main" val="20006"/>
                    </a:ext>
                  </a:extLst>
                </a:gridCol>
              </a:tblGrid>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Sno</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Sname</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Dept</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Sage</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Cno</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Cname</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Grade</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extLst>
                  <a:ext uri="{0D108BD9-81ED-4DB2-BD59-A6C34878D82A}">
                    <a16:rowId xmlns:a16="http://schemas.microsoft.com/office/drawing/2014/main" val="10000"/>
                  </a:ext>
                </a:extLst>
              </a:tr>
              <a:tr h="550863">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WangJian</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ABC</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5</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S0001</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WangJian</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ACD</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5</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S0001</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WangJian</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BBC</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S0001</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WangJian</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AEF</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S0001</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WangJian</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C110</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BCF</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S0002</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ChenYin</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MA</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19</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BBC</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6"/>
                  </a:ext>
                </a:extLst>
              </a:tr>
              <a:tr h="550862">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S0002</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ChenYin</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MA</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19</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AEF</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7"/>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S0003</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ZhangFei</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C107</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BHD</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87128" name="Text Box 110"/>
          <p:cNvSpPr txBox="1"/>
          <p:nvPr/>
        </p:nvSpPr>
        <p:spPr>
          <a:xfrm>
            <a:off x="323850" y="5573713"/>
            <a:ext cx="3168650" cy="538162"/>
          </a:xfrm>
          <a:prstGeom prst="rect">
            <a:avLst/>
          </a:prstGeom>
          <a:solidFill>
            <a:schemeClr val="bg1"/>
          </a:solidFill>
          <a:ln w="19050" cap="flat" cmpd="sng">
            <a:solidFill>
              <a:schemeClr val="accent2"/>
            </a:solidFill>
            <a:prstDash val="sysDot"/>
            <a:miter/>
            <a:headEnd type="none" w="med" len="med"/>
            <a:tailEnd type="none" w="med" len="med"/>
          </a:ln>
        </p:spPr>
        <p:txBody>
          <a:bodyPr anchor="t">
            <a:spAutoFit/>
          </a:bodyPr>
          <a:lstStyle/>
          <a:p>
            <a:pPr lvl="0" algn="ctr"/>
            <a:r>
              <a:rPr lang="en-US" altLang="x-none" sz="2800" b="1" dirty="0">
                <a:solidFill>
                  <a:srgbClr val="FF0000"/>
                </a:solidFill>
                <a:latin typeface="Arial" panose="020B0604020202020204" pitchFamily="34" charset="0"/>
                <a:ea typeface="宋体" panose="02010600030101010101" pitchFamily="2" charset="-122"/>
              </a:rPr>
              <a:t>Sno → Sname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7128"/>
                                        </p:tgtEl>
                                        <p:attrNameLst>
                                          <p:attrName>style.visibility</p:attrName>
                                        </p:attrNameLst>
                                      </p:cBhvr>
                                      <p:to>
                                        <p:strVal val="visible"/>
                                      </p:to>
                                    </p:set>
                                    <p:anim calcmode="lin" valueType="num">
                                      <p:cBhvr>
                                        <p:cTn id="7" dur="500" fill="hold"/>
                                        <p:tgtEl>
                                          <p:spTgt spid="87128"/>
                                        </p:tgtEl>
                                        <p:attrNameLst>
                                          <p:attrName>ppt_x</p:attrName>
                                        </p:attrNameLst>
                                      </p:cBhvr>
                                      <p:tavLst>
                                        <p:tav tm="0">
                                          <p:val>
                                            <p:strVal val="#ppt_x"/>
                                          </p:val>
                                        </p:tav>
                                        <p:tav tm="100000">
                                          <p:val>
                                            <p:strVal val="#ppt_x"/>
                                          </p:val>
                                        </p:tav>
                                      </p:tavLst>
                                    </p:anim>
                                    <p:anim calcmode="lin" valueType="num">
                                      <p:cBhvr>
                                        <p:cTn id="8" dur="500" fill="hold"/>
                                        <p:tgtEl>
                                          <p:spTgt spid="871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12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8" name="Rectangle 2"/>
          <p:cNvSpPr>
            <a:spLocks noGrp="1"/>
          </p:cNvSpPr>
          <p:nvPr>
            <p:ph type="title"/>
          </p:nvPr>
        </p:nvSpPr>
        <p:spPr>
          <a:xfrm>
            <a:off x="0" y="0"/>
            <a:ext cx="9144000" cy="476250"/>
          </a:xfrm>
        </p:spPr>
        <p:txBody>
          <a:bodyPr wrap="square" anchor="ctr"/>
          <a:lstStyle/>
          <a:p>
            <a:pPr lvl="0" eaLnBrk="1" hangingPunct="1"/>
            <a:r>
              <a:rPr lang="en-US" altLang="x-none" sz="2800" dirty="0">
                <a:latin typeface="Arial" panose="020B0604020202020204" pitchFamily="34" charset="0"/>
                <a:ea typeface="宋体" panose="02010600030101010101" pitchFamily="2" charset="-122"/>
              </a:rPr>
              <a:t>The SCG database</a:t>
            </a:r>
          </a:p>
        </p:txBody>
      </p:sp>
      <p:graphicFrame>
        <p:nvGraphicFramePr>
          <p:cNvPr id="88070" name="内容占位符 88069"/>
          <p:cNvGraphicFramePr>
            <a:graphicFrameLocks noGrp="1"/>
          </p:cNvGraphicFramePr>
          <p:nvPr>
            <p:ph idx="1"/>
          </p:nvPr>
        </p:nvGraphicFramePr>
        <p:xfrm>
          <a:off x="250825" y="476250"/>
          <a:ext cx="8680450" cy="4968875"/>
        </p:xfrm>
        <a:graphic>
          <a:graphicData uri="http://schemas.openxmlformats.org/drawingml/2006/table">
            <a:tbl>
              <a:tblPr/>
              <a:tblGrid>
                <a:gridCol w="1241425">
                  <a:extLst>
                    <a:ext uri="{9D8B030D-6E8A-4147-A177-3AD203B41FA5}">
                      <a16:colId xmlns:a16="http://schemas.microsoft.com/office/drawing/2014/main" val="20000"/>
                    </a:ext>
                  </a:extLst>
                </a:gridCol>
                <a:gridCol w="2009775">
                  <a:extLst>
                    <a:ext uri="{9D8B030D-6E8A-4147-A177-3AD203B41FA5}">
                      <a16:colId xmlns:a16="http://schemas.microsoft.com/office/drawing/2014/main" val="20001"/>
                    </a:ext>
                  </a:extLst>
                </a:gridCol>
                <a:gridCol w="1085850">
                  <a:extLst>
                    <a:ext uri="{9D8B030D-6E8A-4147-A177-3AD203B41FA5}">
                      <a16:colId xmlns:a16="http://schemas.microsoft.com/office/drawing/2014/main" val="20002"/>
                    </a:ext>
                  </a:extLst>
                </a:gridCol>
                <a:gridCol w="1085850">
                  <a:extLst>
                    <a:ext uri="{9D8B030D-6E8A-4147-A177-3AD203B41FA5}">
                      <a16:colId xmlns:a16="http://schemas.microsoft.com/office/drawing/2014/main" val="20003"/>
                    </a:ext>
                  </a:extLst>
                </a:gridCol>
                <a:gridCol w="1085850">
                  <a:extLst>
                    <a:ext uri="{9D8B030D-6E8A-4147-A177-3AD203B41FA5}">
                      <a16:colId xmlns:a16="http://schemas.microsoft.com/office/drawing/2014/main" val="20004"/>
                    </a:ext>
                  </a:extLst>
                </a:gridCol>
                <a:gridCol w="1085850">
                  <a:extLst>
                    <a:ext uri="{9D8B030D-6E8A-4147-A177-3AD203B41FA5}">
                      <a16:colId xmlns:a16="http://schemas.microsoft.com/office/drawing/2014/main" val="20005"/>
                    </a:ext>
                  </a:extLst>
                </a:gridCol>
                <a:gridCol w="1085850">
                  <a:extLst>
                    <a:ext uri="{9D8B030D-6E8A-4147-A177-3AD203B41FA5}">
                      <a16:colId xmlns:a16="http://schemas.microsoft.com/office/drawing/2014/main" val="20006"/>
                    </a:ext>
                  </a:extLst>
                </a:gridCol>
              </a:tblGrid>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Sno</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Sname</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Dept</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Sage</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Cno</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Cname</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Grade</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extLst>
                  <a:ext uri="{0D108BD9-81ED-4DB2-BD59-A6C34878D82A}">
                    <a16:rowId xmlns:a16="http://schemas.microsoft.com/office/drawing/2014/main" val="10000"/>
                  </a:ext>
                </a:extLst>
              </a:tr>
              <a:tr h="550863">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WangJian</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ABC</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5</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S0001</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WangJian</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ACD</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5</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S0001</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WangJian</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BBC</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S0001</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WangJian</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AEF</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S0001</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WangJian</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C110</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BCF</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S0002</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ChenYin</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MA</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19</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BBC</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6"/>
                  </a:ext>
                </a:extLst>
              </a:tr>
              <a:tr h="550862">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S0002</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ChenYin</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MA</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19</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AEF</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7"/>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S0003</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ZhangFei</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C107</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BHD</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88151" name="Text Box 85"/>
          <p:cNvSpPr txBox="1"/>
          <p:nvPr/>
        </p:nvSpPr>
        <p:spPr>
          <a:xfrm>
            <a:off x="323850" y="5573713"/>
            <a:ext cx="2879725" cy="519112"/>
          </a:xfrm>
          <a:prstGeom prst="rect">
            <a:avLst/>
          </a:prstGeom>
          <a:solidFill>
            <a:schemeClr val="hlink"/>
          </a:solidFill>
          <a:ln w="9525">
            <a:noFill/>
          </a:ln>
        </p:spPr>
        <p:txBody>
          <a:bodyPr anchor="t">
            <a:spAutoFit/>
          </a:bodyPr>
          <a:lstStyle/>
          <a:p>
            <a:pPr lvl="0"/>
            <a:r>
              <a:rPr lang="en-US" altLang="x-none" sz="2800" b="1" dirty="0">
                <a:solidFill>
                  <a:schemeClr val="accent2"/>
                </a:solidFill>
                <a:latin typeface="Arial" panose="020B0604020202020204" pitchFamily="34" charset="0"/>
                <a:ea typeface="宋体" panose="02010600030101010101" pitchFamily="2" charset="-122"/>
              </a:rPr>
              <a:t>Sno → Sname</a:t>
            </a:r>
            <a:r>
              <a:rPr lang="en-US" altLang="x-none" sz="2800" b="1" dirty="0">
                <a:solidFill>
                  <a:srgbClr val="FF0000"/>
                </a:solidFill>
                <a:latin typeface="Arial" panose="020B0604020202020204" pitchFamily="34" charset="0"/>
                <a:ea typeface="宋体" panose="02010600030101010101" pitchFamily="2" charset="-122"/>
              </a:rPr>
              <a:t>  </a:t>
            </a:r>
          </a:p>
        </p:txBody>
      </p:sp>
      <p:sp>
        <p:nvSpPr>
          <p:cNvPr id="88153" name="Text Box 86"/>
          <p:cNvSpPr txBox="1"/>
          <p:nvPr/>
        </p:nvSpPr>
        <p:spPr>
          <a:xfrm>
            <a:off x="3419475" y="5554663"/>
            <a:ext cx="2879725" cy="538162"/>
          </a:xfrm>
          <a:prstGeom prst="rect">
            <a:avLst/>
          </a:prstGeom>
          <a:solidFill>
            <a:schemeClr val="bg1"/>
          </a:solidFill>
          <a:ln w="19050" cap="flat" cmpd="sng">
            <a:solidFill>
              <a:schemeClr val="accent2"/>
            </a:solidFill>
            <a:prstDash val="sysDot"/>
            <a:miter/>
            <a:headEnd type="none" w="med" len="med"/>
            <a:tailEnd type="none" w="med" len="med"/>
          </a:ln>
        </p:spPr>
        <p:txBody>
          <a:bodyPr anchor="t">
            <a:spAutoFit/>
          </a:bodyPr>
          <a:lstStyle/>
          <a:p>
            <a:pPr lvl="0"/>
            <a:r>
              <a:rPr lang="en-US" altLang="x-none" sz="2800" b="1" dirty="0">
                <a:solidFill>
                  <a:srgbClr val="FF0000"/>
                </a:solidFill>
                <a:latin typeface="Arial" panose="020B0604020202020204" pitchFamily="34" charset="0"/>
                <a:ea typeface="宋体" panose="02010600030101010101" pitchFamily="2" charset="-122"/>
              </a:rPr>
              <a:t>Sno → Dept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8153"/>
                                        </p:tgtEl>
                                        <p:attrNameLst>
                                          <p:attrName>style.visibility</p:attrName>
                                        </p:attrNameLst>
                                      </p:cBhvr>
                                      <p:to>
                                        <p:strVal val="visible"/>
                                      </p:to>
                                    </p:set>
                                    <p:anim calcmode="lin" valueType="num">
                                      <p:cBhvr>
                                        <p:cTn id="7" dur="500" fill="hold"/>
                                        <p:tgtEl>
                                          <p:spTgt spid="88153"/>
                                        </p:tgtEl>
                                        <p:attrNameLst>
                                          <p:attrName>ppt_x</p:attrName>
                                        </p:attrNameLst>
                                      </p:cBhvr>
                                      <p:tavLst>
                                        <p:tav tm="0">
                                          <p:val>
                                            <p:strVal val="#ppt_x"/>
                                          </p:val>
                                        </p:tav>
                                        <p:tav tm="100000">
                                          <p:val>
                                            <p:strVal val="#ppt_x"/>
                                          </p:val>
                                        </p:tav>
                                      </p:tavLst>
                                    </p:anim>
                                    <p:anim calcmode="lin" valueType="num">
                                      <p:cBhvr>
                                        <p:cTn id="8" dur="500" fill="hold"/>
                                        <p:tgtEl>
                                          <p:spTgt spid="881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15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Rectangle 2"/>
          <p:cNvSpPr>
            <a:spLocks noGrp="1"/>
          </p:cNvSpPr>
          <p:nvPr>
            <p:ph type="title"/>
          </p:nvPr>
        </p:nvSpPr>
        <p:spPr>
          <a:xfrm>
            <a:off x="0" y="0"/>
            <a:ext cx="9144000" cy="476250"/>
          </a:xfrm>
        </p:spPr>
        <p:txBody>
          <a:bodyPr wrap="square" anchor="ctr"/>
          <a:lstStyle/>
          <a:p>
            <a:pPr lvl="0" eaLnBrk="1" hangingPunct="1"/>
            <a:r>
              <a:rPr lang="en-US" altLang="x-none" sz="2800" dirty="0">
                <a:latin typeface="Arial" panose="020B0604020202020204" pitchFamily="34" charset="0"/>
                <a:ea typeface="宋体" panose="02010600030101010101" pitchFamily="2" charset="-122"/>
              </a:rPr>
              <a:t>The SCG database</a:t>
            </a:r>
          </a:p>
        </p:txBody>
      </p:sp>
      <p:graphicFrame>
        <p:nvGraphicFramePr>
          <p:cNvPr id="89094" name="内容占位符 89093"/>
          <p:cNvGraphicFramePr>
            <a:graphicFrameLocks noGrp="1"/>
          </p:cNvGraphicFramePr>
          <p:nvPr>
            <p:ph idx="1"/>
          </p:nvPr>
        </p:nvGraphicFramePr>
        <p:xfrm>
          <a:off x="250825" y="476250"/>
          <a:ext cx="8680450" cy="4968875"/>
        </p:xfrm>
        <a:graphic>
          <a:graphicData uri="http://schemas.openxmlformats.org/drawingml/2006/table">
            <a:tbl>
              <a:tblPr/>
              <a:tblGrid>
                <a:gridCol w="1241425">
                  <a:extLst>
                    <a:ext uri="{9D8B030D-6E8A-4147-A177-3AD203B41FA5}">
                      <a16:colId xmlns:a16="http://schemas.microsoft.com/office/drawing/2014/main" val="20000"/>
                    </a:ext>
                  </a:extLst>
                </a:gridCol>
                <a:gridCol w="2009775">
                  <a:extLst>
                    <a:ext uri="{9D8B030D-6E8A-4147-A177-3AD203B41FA5}">
                      <a16:colId xmlns:a16="http://schemas.microsoft.com/office/drawing/2014/main" val="20001"/>
                    </a:ext>
                  </a:extLst>
                </a:gridCol>
                <a:gridCol w="1085850">
                  <a:extLst>
                    <a:ext uri="{9D8B030D-6E8A-4147-A177-3AD203B41FA5}">
                      <a16:colId xmlns:a16="http://schemas.microsoft.com/office/drawing/2014/main" val="20002"/>
                    </a:ext>
                  </a:extLst>
                </a:gridCol>
                <a:gridCol w="1085850">
                  <a:extLst>
                    <a:ext uri="{9D8B030D-6E8A-4147-A177-3AD203B41FA5}">
                      <a16:colId xmlns:a16="http://schemas.microsoft.com/office/drawing/2014/main" val="20003"/>
                    </a:ext>
                  </a:extLst>
                </a:gridCol>
                <a:gridCol w="1085850">
                  <a:extLst>
                    <a:ext uri="{9D8B030D-6E8A-4147-A177-3AD203B41FA5}">
                      <a16:colId xmlns:a16="http://schemas.microsoft.com/office/drawing/2014/main" val="20004"/>
                    </a:ext>
                  </a:extLst>
                </a:gridCol>
                <a:gridCol w="1085850">
                  <a:extLst>
                    <a:ext uri="{9D8B030D-6E8A-4147-A177-3AD203B41FA5}">
                      <a16:colId xmlns:a16="http://schemas.microsoft.com/office/drawing/2014/main" val="20005"/>
                    </a:ext>
                  </a:extLst>
                </a:gridCol>
                <a:gridCol w="1085850">
                  <a:extLst>
                    <a:ext uri="{9D8B030D-6E8A-4147-A177-3AD203B41FA5}">
                      <a16:colId xmlns:a16="http://schemas.microsoft.com/office/drawing/2014/main" val="20006"/>
                    </a:ext>
                  </a:extLst>
                </a:gridCol>
              </a:tblGrid>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Sno</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Sname</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Dept</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Sage</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Cno</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Cname</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Grade</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extLst>
                  <a:ext uri="{0D108BD9-81ED-4DB2-BD59-A6C34878D82A}">
                    <a16:rowId xmlns:a16="http://schemas.microsoft.com/office/drawing/2014/main" val="10000"/>
                  </a:ext>
                </a:extLst>
              </a:tr>
              <a:tr h="550863">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WangJian</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ABC</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5</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S0001</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WangJian</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ACD</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5</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S0001</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WangJian</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BBC</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S0001</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WangJian</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AEF</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S0001</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WangJian</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C110</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BCF</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S0002</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ChenYin</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MA</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19</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BBC</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6"/>
                  </a:ext>
                </a:extLst>
              </a:tr>
              <a:tr h="550862">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S0002</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ChenYin</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MA</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19</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AEF</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7"/>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S0003</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ZhangFei</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C107</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BHD</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89175" name="Text Box 85"/>
          <p:cNvSpPr txBox="1"/>
          <p:nvPr/>
        </p:nvSpPr>
        <p:spPr>
          <a:xfrm>
            <a:off x="323850" y="5573713"/>
            <a:ext cx="2663825" cy="519112"/>
          </a:xfrm>
          <a:prstGeom prst="rect">
            <a:avLst/>
          </a:prstGeom>
          <a:solidFill>
            <a:schemeClr val="hlink"/>
          </a:solidFill>
          <a:ln w="9525">
            <a:noFill/>
          </a:ln>
        </p:spPr>
        <p:txBody>
          <a:bodyPr anchor="t">
            <a:spAutoFit/>
          </a:bodyPr>
          <a:lstStyle/>
          <a:p>
            <a:pPr lvl="0"/>
            <a:r>
              <a:rPr lang="en-US" altLang="x-none" sz="2800" b="1" dirty="0">
                <a:solidFill>
                  <a:schemeClr val="accent2"/>
                </a:solidFill>
                <a:latin typeface="Arial" panose="020B0604020202020204" pitchFamily="34" charset="0"/>
                <a:ea typeface="宋体" panose="02010600030101010101" pitchFamily="2" charset="-122"/>
              </a:rPr>
              <a:t>Sno → Sname</a:t>
            </a:r>
            <a:r>
              <a:rPr lang="en-US" altLang="x-none" sz="2800" b="1" dirty="0">
                <a:solidFill>
                  <a:srgbClr val="FF0000"/>
                </a:solidFill>
                <a:latin typeface="Arial" panose="020B0604020202020204" pitchFamily="34" charset="0"/>
                <a:ea typeface="宋体" panose="02010600030101010101" pitchFamily="2" charset="-122"/>
              </a:rPr>
              <a:t>  </a:t>
            </a:r>
          </a:p>
        </p:txBody>
      </p:sp>
      <p:sp>
        <p:nvSpPr>
          <p:cNvPr id="89176" name="Text Box 86"/>
          <p:cNvSpPr txBox="1"/>
          <p:nvPr/>
        </p:nvSpPr>
        <p:spPr>
          <a:xfrm>
            <a:off x="3275013" y="5554663"/>
            <a:ext cx="2520950" cy="519112"/>
          </a:xfrm>
          <a:prstGeom prst="rect">
            <a:avLst/>
          </a:prstGeom>
          <a:solidFill>
            <a:schemeClr val="hlink"/>
          </a:solidFill>
          <a:ln w="9525">
            <a:noFill/>
          </a:ln>
        </p:spPr>
        <p:txBody>
          <a:bodyPr anchor="t">
            <a:spAutoFit/>
          </a:bodyPr>
          <a:lstStyle/>
          <a:p>
            <a:pPr lvl="0"/>
            <a:r>
              <a:rPr lang="en-US" altLang="x-none" sz="2800" b="1" dirty="0">
                <a:solidFill>
                  <a:schemeClr val="accent2"/>
                </a:solidFill>
                <a:latin typeface="Arial" panose="020B0604020202020204" pitchFamily="34" charset="0"/>
                <a:ea typeface="宋体" panose="02010600030101010101" pitchFamily="2" charset="-122"/>
              </a:rPr>
              <a:t>Sno → Dept</a:t>
            </a:r>
          </a:p>
        </p:txBody>
      </p:sp>
      <p:sp>
        <p:nvSpPr>
          <p:cNvPr id="89178" name="Text Box 87"/>
          <p:cNvSpPr txBox="1"/>
          <p:nvPr/>
        </p:nvSpPr>
        <p:spPr>
          <a:xfrm>
            <a:off x="6013450" y="5516563"/>
            <a:ext cx="2879725" cy="538162"/>
          </a:xfrm>
          <a:prstGeom prst="rect">
            <a:avLst/>
          </a:prstGeom>
          <a:solidFill>
            <a:schemeClr val="bg1"/>
          </a:solidFill>
          <a:ln w="19050" cap="flat" cmpd="sng">
            <a:solidFill>
              <a:schemeClr val="accent2"/>
            </a:solidFill>
            <a:prstDash val="sysDot"/>
            <a:miter/>
            <a:headEnd type="none" w="med" len="med"/>
            <a:tailEnd type="none" w="med" len="med"/>
          </a:ln>
        </p:spPr>
        <p:txBody>
          <a:bodyPr anchor="t">
            <a:spAutoFit/>
          </a:bodyPr>
          <a:lstStyle/>
          <a:p>
            <a:pPr lvl="0"/>
            <a:r>
              <a:rPr lang="en-US" altLang="x-none" sz="2800" b="1" dirty="0">
                <a:solidFill>
                  <a:srgbClr val="FF0000"/>
                </a:solidFill>
                <a:latin typeface="Arial" panose="020B0604020202020204" pitchFamily="34" charset="0"/>
                <a:ea typeface="宋体" panose="02010600030101010101" pitchFamily="2" charset="-122"/>
              </a:rPr>
              <a:t>Sno → Cno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9178"/>
                                        </p:tgtEl>
                                        <p:attrNameLst>
                                          <p:attrName>style.visibility</p:attrName>
                                        </p:attrNameLst>
                                      </p:cBhvr>
                                      <p:to>
                                        <p:strVal val="visible"/>
                                      </p:to>
                                    </p:set>
                                    <p:anim calcmode="lin" valueType="num">
                                      <p:cBhvr>
                                        <p:cTn id="7" dur="500" fill="hold"/>
                                        <p:tgtEl>
                                          <p:spTgt spid="89178"/>
                                        </p:tgtEl>
                                        <p:attrNameLst>
                                          <p:attrName>ppt_x</p:attrName>
                                        </p:attrNameLst>
                                      </p:cBhvr>
                                      <p:tavLst>
                                        <p:tav tm="0">
                                          <p:val>
                                            <p:strVal val="#ppt_x"/>
                                          </p:val>
                                        </p:tav>
                                        <p:tav tm="100000">
                                          <p:val>
                                            <p:strVal val="#ppt_x"/>
                                          </p:val>
                                        </p:tav>
                                      </p:tavLst>
                                    </p:anim>
                                    <p:anim calcmode="lin" valueType="num">
                                      <p:cBhvr>
                                        <p:cTn id="8" dur="500" fill="hold"/>
                                        <p:tgtEl>
                                          <p:spTgt spid="891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7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6" name="Rectangle 2"/>
          <p:cNvSpPr>
            <a:spLocks noGrp="1"/>
          </p:cNvSpPr>
          <p:nvPr>
            <p:ph type="title"/>
          </p:nvPr>
        </p:nvSpPr>
        <p:spPr>
          <a:xfrm>
            <a:off x="0" y="0"/>
            <a:ext cx="9144000" cy="476250"/>
          </a:xfrm>
        </p:spPr>
        <p:txBody>
          <a:bodyPr wrap="square" anchor="ctr"/>
          <a:lstStyle/>
          <a:p>
            <a:pPr lvl="0" eaLnBrk="1" hangingPunct="1"/>
            <a:r>
              <a:rPr lang="en-US" altLang="x-none" sz="2800" dirty="0">
                <a:latin typeface="Arial" panose="020B0604020202020204" pitchFamily="34" charset="0"/>
                <a:ea typeface="宋体" panose="02010600030101010101" pitchFamily="2" charset="-122"/>
              </a:rPr>
              <a:t>The SCG database</a:t>
            </a:r>
          </a:p>
        </p:txBody>
      </p:sp>
      <p:graphicFrame>
        <p:nvGraphicFramePr>
          <p:cNvPr id="90118" name="内容占位符 90117"/>
          <p:cNvGraphicFramePr>
            <a:graphicFrameLocks noGrp="1"/>
          </p:cNvGraphicFramePr>
          <p:nvPr>
            <p:ph idx="1"/>
          </p:nvPr>
        </p:nvGraphicFramePr>
        <p:xfrm>
          <a:off x="250825" y="476250"/>
          <a:ext cx="8680450" cy="4968875"/>
        </p:xfrm>
        <a:graphic>
          <a:graphicData uri="http://schemas.openxmlformats.org/drawingml/2006/table">
            <a:tbl>
              <a:tblPr/>
              <a:tblGrid>
                <a:gridCol w="1241425">
                  <a:extLst>
                    <a:ext uri="{9D8B030D-6E8A-4147-A177-3AD203B41FA5}">
                      <a16:colId xmlns:a16="http://schemas.microsoft.com/office/drawing/2014/main" val="20000"/>
                    </a:ext>
                  </a:extLst>
                </a:gridCol>
                <a:gridCol w="2009775">
                  <a:extLst>
                    <a:ext uri="{9D8B030D-6E8A-4147-A177-3AD203B41FA5}">
                      <a16:colId xmlns:a16="http://schemas.microsoft.com/office/drawing/2014/main" val="20001"/>
                    </a:ext>
                  </a:extLst>
                </a:gridCol>
                <a:gridCol w="1085850">
                  <a:extLst>
                    <a:ext uri="{9D8B030D-6E8A-4147-A177-3AD203B41FA5}">
                      <a16:colId xmlns:a16="http://schemas.microsoft.com/office/drawing/2014/main" val="20002"/>
                    </a:ext>
                  </a:extLst>
                </a:gridCol>
                <a:gridCol w="1085850">
                  <a:extLst>
                    <a:ext uri="{9D8B030D-6E8A-4147-A177-3AD203B41FA5}">
                      <a16:colId xmlns:a16="http://schemas.microsoft.com/office/drawing/2014/main" val="20003"/>
                    </a:ext>
                  </a:extLst>
                </a:gridCol>
                <a:gridCol w="1085850">
                  <a:extLst>
                    <a:ext uri="{9D8B030D-6E8A-4147-A177-3AD203B41FA5}">
                      <a16:colId xmlns:a16="http://schemas.microsoft.com/office/drawing/2014/main" val="20004"/>
                    </a:ext>
                  </a:extLst>
                </a:gridCol>
                <a:gridCol w="1085850">
                  <a:extLst>
                    <a:ext uri="{9D8B030D-6E8A-4147-A177-3AD203B41FA5}">
                      <a16:colId xmlns:a16="http://schemas.microsoft.com/office/drawing/2014/main" val="20005"/>
                    </a:ext>
                  </a:extLst>
                </a:gridCol>
                <a:gridCol w="1085850">
                  <a:extLst>
                    <a:ext uri="{9D8B030D-6E8A-4147-A177-3AD203B41FA5}">
                      <a16:colId xmlns:a16="http://schemas.microsoft.com/office/drawing/2014/main" val="20006"/>
                    </a:ext>
                  </a:extLst>
                </a:gridCol>
              </a:tblGrid>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Sno</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Sname</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Dept</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Sage</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Cno</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Cname</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Grade</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extLst>
                  <a:ext uri="{0D108BD9-81ED-4DB2-BD59-A6C34878D82A}">
                    <a16:rowId xmlns:a16="http://schemas.microsoft.com/office/drawing/2014/main" val="10000"/>
                  </a:ext>
                </a:extLst>
              </a:tr>
              <a:tr h="550863">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WangJian</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ABC</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5</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S0001</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WangJian</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ACD</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5</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S0001</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WangJian</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BBC</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S0001</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WangJian</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AEF</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S0001</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WangJian</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C110</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BCF</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S0002</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ChenYin</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MA</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19</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BBC</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6"/>
                  </a:ext>
                </a:extLst>
              </a:tr>
              <a:tr h="550862">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S0002</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ChenYin</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MA</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19</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AEF</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7"/>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S0003</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ZhangFei</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C107</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BHD</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90199" name="Text Box 85"/>
          <p:cNvSpPr txBox="1"/>
          <p:nvPr/>
        </p:nvSpPr>
        <p:spPr>
          <a:xfrm>
            <a:off x="323850" y="5573713"/>
            <a:ext cx="2663825" cy="519112"/>
          </a:xfrm>
          <a:prstGeom prst="rect">
            <a:avLst/>
          </a:prstGeom>
          <a:solidFill>
            <a:schemeClr val="hlink"/>
          </a:solidFill>
          <a:ln w="9525">
            <a:noFill/>
          </a:ln>
        </p:spPr>
        <p:txBody>
          <a:bodyPr anchor="t">
            <a:spAutoFit/>
          </a:bodyPr>
          <a:lstStyle/>
          <a:p>
            <a:pPr lvl="0"/>
            <a:r>
              <a:rPr lang="en-US" altLang="x-none" sz="2800" b="1" dirty="0">
                <a:solidFill>
                  <a:schemeClr val="accent2"/>
                </a:solidFill>
                <a:latin typeface="Arial" panose="020B0604020202020204" pitchFamily="34" charset="0"/>
                <a:ea typeface="宋体" panose="02010600030101010101" pitchFamily="2" charset="-122"/>
              </a:rPr>
              <a:t>Sno → Sname</a:t>
            </a:r>
            <a:r>
              <a:rPr lang="en-US" altLang="x-none" sz="2800" b="1" dirty="0">
                <a:solidFill>
                  <a:srgbClr val="FF0000"/>
                </a:solidFill>
                <a:latin typeface="Arial" panose="020B0604020202020204" pitchFamily="34" charset="0"/>
                <a:ea typeface="宋体" panose="02010600030101010101" pitchFamily="2" charset="-122"/>
              </a:rPr>
              <a:t>  </a:t>
            </a:r>
          </a:p>
        </p:txBody>
      </p:sp>
      <p:sp>
        <p:nvSpPr>
          <p:cNvPr id="90200" name="Text Box 86"/>
          <p:cNvSpPr txBox="1"/>
          <p:nvPr/>
        </p:nvSpPr>
        <p:spPr>
          <a:xfrm>
            <a:off x="3275013" y="5554663"/>
            <a:ext cx="2520950" cy="519112"/>
          </a:xfrm>
          <a:prstGeom prst="rect">
            <a:avLst/>
          </a:prstGeom>
          <a:solidFill>
            <a:schemeClr val="hlink"/>
          </a:solidFill>
          <a:ln w="9525">
            <a:noFill/>
          </a:ln>
        </p:spPr>
        <p:txBody>
          <a:bodyPr anchor="t">
            <a:spAutoFit/>
          </a:bodyPr>
          <a:lstStyle/>
          <a:p>
            <a:pPr lvl="0"/>
            <a:r>
              <a:rPr lang="en-US" altLang="x-none" sz="2800" b="1" dirty="0">
                <a:solidFill>
                  <a:schemeClr val="accent2"/>
                </a:solidFill>
                <a:latin typeface="Arial" panose="020B0604020202020204" pitchFamily="34" charset="0"/>
                <a:ea typeface="宋体" panose="02010600030101010101" pitchFamily="2" charset="-122"/>
              </a:rPr>
              <a:t>Sno → Dept</a:t>
            </a:r>
          </a:p>
        </p:txBody>
      </p:sp>
      <p:sp>
        <p:nvSpPr>
          <p:cNvPr id="90201" name="Text Box 87"/>
          <p:cNvSpPr txBox="1"/>
          <p:nvPr/>
        </p:nvSpPr>
        <p:spPr>
          <a:xfrm>
            <a:off x="6013450" y="5516563"/>
            <a:ext cx="2879725" cy="579437"/>
          </a:xfrm>
          <a:prstGeom prst="rect">
            <a:avLst/>
          </a:prstGeom>
          <a:solidFill>
            <a:schemeClr val="hlink"/>
          </a:solidFill>
          <a:ln w="9525">
            <a:noFill/>
          </a:ln>
        </p:spPr>
        <p:txBody>
          <a:bodyPr anchor="t">
            <a:spAutoFit/>
          </a:bodyPr>
          <a:lstStyle/>
          <a:p>
            <a:pPr lvl="0"/>
            <a:r>
              <a:rPr lang="en-US" altLang="x-none" sz="2800" b="1" dirty="0">
                <a:solidFill>
                  <a:schemeClr val="accent2"/>
                </a:solidFill>
                <a:latin typeface="Arial" panose="020B0604020202020204" pitchFamily="34" charset="0"/>
                <a:ea typeface="宋体" panose="02010600030101010101" pitchFamily="2" charset="-122"/>
              </a:rPr>
              <a:t>Sno → Cno</a:t>
            </a:r>
            <a:r>
              <a:rPr lang="en-US" altLang="x-none" sz="2800" b="1" dirty="0">
                <a:solidFill>
                  <a:srgbClr val="FF0000"/>
                </a:solidFill>
                <a:latin typeface="Arial" panose="020B0604020202020204" pitchFamily="34" charset="0"/>
                <a:ea typeface="宋体" panose="02010600030101010101" pitchFamily="2" charset="-122"/>
              </a:rPr>
              <a:t>  </a:t>
            </a:r>
            <a:r>
              <a:rPr lang="en-US" altLang="x-none" sz="3200" b="1" dirty="0">
                <a:solidFill>
                  <a:srgbClr val="FF0000"/>
                </a:solidFill>
                <a:latin typeface="Times New Roman" panose="02020603050405020304" pitchFamily="2" charset="0"/>
                <a:ea typeface="宋体" panose="02010600030101010101" pitchFamily="2" charset="-122"/>
              </a:rPr>
              <a:t>×</a:t>
            </a:r>
          </a:p>
        </p:txBody>
      </p:sp>
      <p:sp>
        <p:nvSpPr>
          <p:cNvPr id="90203" name="Text Box 88"/>
          <p:cNvSpPr txBox="1"/>
          <p:nvPr/>
        </p:nvSpPr>
        <p:spPr>
          <a:xfrm>
            <a:off x="323850" y="6203950"/>
            <a:ext cx="3311525" cy="538163"/>
          </a:xfrm>
          <a:prstGeom prst="rect">
            <a:avLst/>
          </a:prstGeom>
          <a:solidFill>
            <a:schemeClr val="bg1"/>
          </a:solidFill>
          <a:ln w="19050" cap="flat" cmpd="sng">
            <a:solidFill>
              <a:schemeClr val="accent2"/>
            </a:solidFill>
            <a:prstDash val="sysDot"/>
            <a:miter/>
            <a:headEnd type="none" w="med" len="med"/>
            <a:tailEnd type="none" w="med" len="med"/>
          </a:ln>
        </p:spPr>
        <p:txBody>
          <a:bodyPr anchor="t">
            <a:spAutoFit/>
          </a:bodyPr>
          <a:lstStyle/>
          <a:p>
            <a:pPr lvl="0"/>
            <a:r>
              <a:rPr lang="en-US" altLang="x-none" sz="2800" b="1" dirty="0">
                <a:solidFill>
                  <a:srgbClr val="FF0000"/>
                </a:solidFill>
                <a:latin typeface="Arial" panose="020B0604020202020204" pitchFamily="34" charset="0"/>
                <a:ea typeface="宋体" panose="02010600030101010101" pitchFamily="2" charset="-122"/>
              </a:rPr>
              <a:t>Cno → Cname  ?</a:t>
            </a:r>
          </a:p>
        </p:txBody>
      </p:sp>
      <p:graphicFrame>
        <p:nvGraphicFramePr>
          <p:cNvPr id="2" name="对象 90203"/>
          <p:cNvGraphicFramePr>
            <a:graphicFrameLocks noChangeAspect="1"/>
          </p:cNvGraphicFramePr>
          <p:nvPr/>
        </p:nvGraphicFramePr>
        <p:xfrm>
          <a:off x="1524000" y="1397000"/>
          <a:ext cx="6096000" cy="4064000"/>
        </p:xfrm>
        <a:graphic>
          <a:graphicData uri="http://schemas.openxmlformats.org/presentationml/2006/ole">
            <mc:AlternateContent xmlns:mc="http://schemas.openxmlformats.org/markup-compatibility/2006">
              <mc:Choice xmlns:v="urn:schemas-microsoft-com:vml" Requires="v">
                <p:oleObj spid="_x0000_s3093" r:id="rId3" imgW="116840" imgH="220980" progId="Equation.3">
                  <p:embed/>
                </p:oleObj>
              </mc:Choice>
              <mc:Fallback>
                <p:oleObj r:id="rId3" imgW="116840" imgH="220980" progId="Equation.3">
                  <p:embed/>
                  <p:pic>
                    <p:nvPicPr>
                      <p:cNvPr id="0" name="图片 3085"/>
                      <p:cNvPicPr/>
                      <p:nvPr/>
                    </p:nvPicPr>
                    <p:blipFill>
                      <a:blip r:embed="rId4"/>
                      <a:stretch>
                        <a:fillRect/>
                      </a:stretch>
                    </p:blipFill>
                    <p:spPr>
                      <a:xfrm>
                        <a:off x="1524000" y="1397000"/>
                        <a:ext cx="6096000" cy="40640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90203"/>
                                        </p:tgtEl>
                                        <p:attrNameLst>
                                          <p:attrName>style.visibility</p:attrName>
                                        </p:attrNameLst>
                                      </p:cBhvr>
                                      <p:to>
                                        <p:strVal val="visible"/>
                                      </p:to>
                                    </p:set>
                                    <p:anim calcmode="lin" valueType="num">
                                      <p:cBhvr>
                                        <p:cTn id="7" dur="500" fill="hold"/>
                                        <p:tgtEl>
                                          <p:spTgt spid="90203"/>
                                        </p:tgtEl>
                                        <p:attrNameLst>
                                          <p:attrName>ppt_x</p:attrName>
                                        </p:attrNameLst>
                                      </p:cBhvr>
                                      <p:tavLst>
                                        <p:tav tm="0">
                                          <p:val>
                                            <p:strVal val="#ppt_x"/>
                                          </p:val>
                                        </p:tav>
                                        <p:tav tm="100000">
                                          <p:val>
                                            <p:strVal val="#ppt_x"/>
                                          </p:val>
                                        </p:tav>
                                      </p:tavLst>
                                    </p:anim>
                                    <p:anim calcmode="lin" valueType="num">
                                      <p:cBhvr>
                                        <p:cTn id="8" dur="500" fill="hold"/>
                                        <p:tgtEl>
                                          <p:spTgt spid="902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20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0" name="Rectangle 2"/>
          <p:cNvSpPr>
            <a:spLocks noGrp="1"/>
          </p:cNvSpPr>
          <p:nvPr>
            <p:ph type="title"/>
          </p:nvPr>
        </p:nvSpPr>
        <p:spPr>
          <a:xfrm>
            <a:off x="0" y="0"/>
            <a:ext cx="9144000" cy="476250"/>
          </a:xfrm>
        </p:spPr>
        <p:txBody>
          <a:bodyPr wrap="square" anchor="ctr"/>
          <a:lstStyle/>
          <a:p>
            <a:pPr lvl="0" eaLnBrk="1" hangingPunct="1"/>
            <a:r>
              <a:rPr lang="en-US" altLang="x-none" sz="2800" dirty="0">
                <a:latin typeface="Arial" panose="020B0604020202020204" pitchFamily="34" charset="0"/>
                <a:ea typeface="宋体" panose="02010600030101010101" pitchFamily="2" charset="-122"/>
              </a:rPr>
              <a:t>The SCG database</a:t>
            </a:r>
          </a:p>
        </p:txBody>
      </p:sp>
      <p:graphicFrame>
        <p:nvGraphicFramePr>
          <p:cNvPr id="91142" name="内容占位符 91141"/>
          <p:cNvGraphicFramePr>
            <a:graphicFrameLocks noGrp="1"/>
          </p:cNvGraphicFramePr>
          <p:nvPr>
            <p:ph idx="1"/>
          </p:nvPr>
        </p:nvGraphicFramePr>
        <p:xfrm>
          <a:off x="250825" y="476250"/>
          <a:ext cx="8680450" cy="4968875"/>
        </p:xfrm>
        <a:graphic>
          <a:graphicData uri="http://schemas.openxmlformats.org/drawingml/2006/table">
            <a:tbl>
              <a:tblPr/>
              <a:tblGrid>
                <a:gridCol w="1241425">
                  <a:extLst>
                    <a:ext uri="{9D8B030D-6E8A-4147-A177-3AD203B41FA5}">
                      <a16:colId xmlns:a16="http://schemas.microsoft.com/office/drawing/2014/main" val="20000"/>
                    </a:ext>
                  </a:extLst>
                </a:gridCol>
                <a:gridCol w="2009775">
                  <a:extLst>
                    <a:ext uri="{9D8B030D-6E8A-4147-A177-3AD203B41FA5}">
                      <a16:colId xmlns:a16="http://schemas.microsoft.com/office/drawing/2014/main" val="20001"/>
                    </a:ext>
                  </a:extLst>
                </a:gridCol>
                <a:gridCol w="1085850">
                  <a:extLst>
                    <a:ext uri="{9D8B030D-6E8A-4147-A177-3AD203B41FA5}">
                      <a16:colId xmlns:a16="http://schemas.microsoft.com/office/drawing/2014/main" val="20002"/>
                    </a:ext>
                  </a:extLst>
                </a:gridCol>
                <a:gridCol w="1085850">
                  <a:extLst>
                    <a:ext uri="{9D8B030D-6E8A-4147-A177-3AD203B41FA5}">
                      <a16:colId xmlns:a16="http://schemas.microsoft.com/office/drawing/2014/main" val="20003"/>
                    </a:ext>
                  </a:extLst>
                </a:gridCol>
                <a:gridCol w="1085850">
                  <a:extLst>
                    <a:ext uri="{9D8B030D-6E8A-4147-A177-3AD203B41FA5}">
                      <a16:colId xmlns:a16="http://schemas.microsoft.com/office/drawing/2014/main" val="20004"/>
                    </a:ext>
                  </a:extLst>
                </a:gridCol>
                <a:gridCol w="1085850">
                  <a:extLst>
                    <a:ext uri="{9D8B030D-6E8A-4147-A177-3AD203B41FA5}">
                      <a16:colId xmlns:a16="http://schemas.microsoft.com/office/drawing/2014/main" val="20005"/>
                    </a:ext>
                  </a:extLst>
                </a:gridCol>
                <a:gridCol w="1085850">
                  <a:extLst>
                    <a:ext uri="{9D8B030D-6E8A-4147-A177-3AD203B41FA5}">
                      <a16:colId xmlns:a16="http://schemas.microsoft.com/office/drawing/2014/main" val="20006"/>
                    </a:ext>
                  </a:extLst>
                </a:gridCol>
              </a:tblGrid>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Sno</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Sname</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Dept</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Sage</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Cno</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Cname</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Grade</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extLst>
                  <a:ext uri="{0D108BD9-81ED-4DB2-BD59-A6C34878D82A}">
                    <a16:rowId xmlns:a16="http://schemas.microsoft.com/office/drawing/2014/main" val="10000"/>
                  </a:ext>
                </a:extLst>
              </a:tr>
              <a:tr h="550863">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WangJian</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ABC</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5</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S0001</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WangJian</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ACD</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5</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S0001</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WangJian</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BBC</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S0001</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WangJian</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AEF</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S0001</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WangJian</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C110</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BCF</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S0002</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ChenYin</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MA</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19</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BBC</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6"/>
                  </a:ext>
                </a:extLst>
              </a:tr>
              <a:tr h="550862">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S0002</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ChenYin</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MA</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19</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AEF</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7"/>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S0003</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ZhangFei</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C107</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BHD</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91223" name="Text Box 85"/>
          <p:cNvSpPr txBox="1"/>
          <p:nvPr/>
        </p:nvSpPr>
        <p:spPr>
          <a:xfrm>
            <a:off x="323850" y="5573713"/>
            <a:ext cx="2808288" cy="519112"/>
          </a:xfrm>
          <a:prstGeom prst="rect">
            <a:avLst/>
          </a:prstGeom>
          <a:solidFill>
            <a:schemeClr val="hlink"/>
          </a:solidFill>
          <a:ln w="9525">
            <a:noFill/>
          </a:ln>
        </p:spPr>
        <p:txBody>
          <a:bodyPr anchor="t">
            <a:spAutoFit/>
          </a:bodyPr>
          <a:lstStyle/>
          <a:p>
            <a:pPr lvl="0"/>
            <a:r>
              <a:rPr lang="en-US" altLang="x-none" sz="2800" b="1" dirty="0">
                <a:solidFill>
                  <a:schemeClr val="accent2"/>
                </a:solidFill>
                <a:latin typeface="Arial" panose="020B0604020202020204" pitchFamily="34" charset="0"/>
                <a:ea typeface="宋体" panose="02010600030101010101" pitchFamily="2" charset="-122"/>
              </a:rPr>
              <a:t>Sno → Sname</a:t>
            </a:r>
            <a:r>
              <a:rPr lang="en-US" altLang="x-none" sz="2800" b="1" dirty="0">
                <a:solidFill>
                  <a:srgbClr val="FF0000"/>
                </a:solidFill>
                <a:latin typeface="Arial" panose="020B0604020202020204" pitchFamily="34" charset="0"/>
                <a:ea typeface="宋体" panose="02010600030101010101" pitchFamily="2" charset="-122"/>
              </a:rPr>
              <a:t>  </a:t>
            </a:r>
          </a:p>
        </p:txBody>
      </p:sp>
      <p:sp>
        <p:nvSpPr>
          <p:cNvPr id="91224" name="Text Box 86"/>
          <p:cNvSpPr txBox="1"/>
          <p:nvPr/>
        </p:nvSpPr>
        <p:spPr>
          <a:xfrm>
            <a:off x="3275013" y="5554663"/>
            <a:ext cx="2520950" cy="519112"/>
          </a:xfrm>
          <a:prstGeom prst="rect">
            <a:avLst/>
          </a:prstGeom>
          <a:solidFill>
            <a:schemeClr val="hlink"/>
          </a:solidFill>
          <a:ln w="9525">
            <a:noFill/>
          </a:ln>
        </p:spPr>
        <p:txBody>
          <a:bodyPr anchor="t">
            <a:spAutoFit/>
          </a:bodyPr>
          <a:lstStyle/>
          <a:p>
            <a:pPr lvl="0"/>
            <a:r>
              <a:rPr lang="en-US" altLang="x-none" sz="2800" b="1" dirty="0">
                <a:solidFill>
                  <a:schemeClr val="accent2"/>
                </a:solidFill>
                <a:latin typeface="Arial" panose="020B0604020202020204" pitchFamily="34" charset="0"/>
                <a:ea typeface="宋体" panose="02010600030101010101" pitchFamily="2" charset="-122"/>
              </a:rPr>
              <a:t>Sno → Dept</a:t>
            </a:r>
          </a:p>
        </p:txBody>
      </p:sp>
      <p:sp>
        <p:nvSpPr>
          <p:cNvPr id="91225" name="Text Box 87"/>
          <p:cNvSpPr txBox="1"/>
          <p:nvPr/>
        </p:nvSpPr>
        <p:spPr>
          <a:xfrm>
            <a:off x="6013450" y="5516563"/>
            <a:ext cx="2879725" cy="579437"/>
          </a:xfrm>
          <a:prstGeom prst="rect">
            <a:avLst/>
          </a:prstGeom>
          <a:solidFill>
            <a:schemeClr val="hlink"/>
          </a:solidFill>
          <a:ln w="9525">
            <a:noFill/>
          </a:ln>
        </p:spPr>
        <p:txBody>
          <a:bodyPr anchor="t">
            <a:spAutoFit/>
          </a:bodyPr>
          <a:lstStyle/>
          <a:p>
            <a:pPr lvl="0"/>
            <a:r>
              <a:rPr lang="en-US" altLang="x-none" sz="2800" b="1" dirty="0">
                <a:solidFill>
                  <a:schemeClr val="accent2"/>
                </a:solidFill>
                <a:latin typeface="Arial" panose="020B0604020202020204" pitchFamily="34" charset="0"/>
                <a:ea typeface="宋体" panose="02010600030101010101" pitchFamily="2" charset="-122"/>
              </a:rPr>
              <a:t>Sno → Cno</a:t>
            </a:r>
            <a:r>
              <a:rPr lang="en-US" altLang="x-none" sz="2800" b="1" dirty="0">
                <a:solidFill>
                  <a:srgbClr val="FF0000"/>
                </a:solidFill>
                <a:latin typeface="Arial" panose="020B0604020202020204" pitchFamily="34" charset="0"/>
                <a:ea typeface="宋体" panose="02010600030101010101" pitchFamily="2" charset="-122"/>
              </a:rPr>
              <a:t>  </a:t>
            </a:r>
            <a:r>
              <a:rPr lang="en-US" altLang="x-none" sz="3200" b="1" dirty="0">
                <a:solidFill>
                  <a:srgbClr val="FF0000"/>
                </a:solidFill>
                <a:latin typeface="Times New Roman" panose="02020603050405020304" pitchFamily="2" charset="0"/>
                <a:ea typeface="宋体" panose="02010600030101010101" pitchFamily="2" charset="-122"/>
              </a:rPr>
              <a:t>×</a:t>
            </a:r>
          </a:p>
        </p:txBody>
      </p:sp>
      <p:sp>
        <p:nvSpPr>
          <p:cNvPr id="91226" name="Text Box 88"/>
          <p:cNvSpPr txBox="1"/>
          <p:nvPr/>
        </p:nvSpPr>
        <p:spPr>
          <a:xfrm>
            <a:off x="323850" y="6165850"/>
            <a:ext cx="2808288" cy="519113"/>
          </a:xfrm>
          <a:prstGeom prst="rect">
            <a:avLst/>
          </a:prstGeom>
          <a:solidFill>
            <a:schemeClr val="hlink"/>
          </a:solidFill>
          <a:ln w="9525">
            <a:noFill/>
          </a:ln>
        </p:spPr>
        <p:txBody>
          <a:bodyPr anchor="t">
            <a:spAutoFit/>
          </a:bodyPr>
          <a:lstStyle/>
          <a:p>
            <a:pPr lvl="0"/>
            <a:r>
              <a:rPr lang="en-US" altLang="x-none" sz="2800" b="1" dirty="0">
                <a:solidFill>
                  <a:schemeClr val="accent2"/>
                </a:solidFill>
                <a:latin typeface="Arial" panose="020B0604020202020204" pitchFamily="34" charset="0"/>
                <a:ea typeface="宋体" panose="02010600030101010101" pitchFamily="2" charset="-122"/>
              </a:rPr>
              <a:t>Cno → Cname</a:t>
            </a:r>
            <a:r>
              <a:rPr lang="en-US" altLang="x-none" sz="2800" b="1" dirty="0">
                <a:solidFill>
                  <a:srgbClr val="FF0000"/>
                </a:solidFill>
                <a:latin typeface="Arial" panose="020B0604020202020204" pitchFamily="34" charset="0"/>
                <a:ea typeface="宋体" panose="02010600030101010101" pitchFamily="2" charset="-122"/>
              </a:rPr>
              <a:t> </a:t>
            </a:r>
          </a:p>
        </p:txBody>
      </p:sp>
      <p:graphicFrame>
        <p:nvGraphicFramePr>
          <p:cNvPr id="91227" name="对象 91227"/>
          <p:cNvGraphicFramePr>
            <a:graphicFrameLocks noChangeAspect="1"/>
          </p:cNvGraphicFramePr>
          <p:nvPr/>
        </p:nvGraphicFramePr>
        <p:xfrm>
          <a:off x="1524000" y="1397000"/>
          <a:ext cx="6096000" cy="4064000"/>
        </p:xfrm>
        <a:graphic>
          <a:graphicData uri="http://schemas.openxmlformats.org/presentationml/2006/ole">
            <mc:AlternateContent xmlns:mc="http://schemas.openxmlformats.org/markup-compatibility/2006">
              <mc:Choice xmlns:v="urn:schemas-microsoft-com:vml" Requires="v">
                <p:oleObj spid="_x0000_s4102" r:id="rId3" imgW="116840" imgH="220980" progId="Equation.3">
                  <p:embed/>
                </p:oleObj>
              </mc:Choice>
              <mc:Fallback>
                <p:oleObj r:id="rId3" imgW="116840" imgH="220980" progId="Equation.3">
                  <p:embed/>
                  <p:pic>
                    <p:nvPicPr>
                      <p:cNvPr id="0" name="图片 3086"/>
                      <p:cNvPicPr/>
                      <p:nvPr/>
                    </p:nvPicPr>
                    <p:blipFill>
                      <a:blip r:embed="rId4"/>
                      <a:stretch>
                        <a:fillRect/>
                      </a:stretch>
                    </p:blipFill>
                    <p:spPr>
                      <a:xfrm>
                        <a:off x="1524000" y="1397000"/>
                        <a:ext cx="6096000" cy="4064000"/>
                      </a:xfrm>
                      <a:prstGeom prst="rect">
                        <a:avLst/>
                      </a:prstGeom>
                      <a:noFill/>
                      <a:ln w="38100">
                        <a:noFill/>
                        <a:miter/>
                      </a:ln>
                    </p:spPr>
                  </p:pic>
                </p:oleObj>
              </mc:Fallback>
            </mc:AlternateContent>
          </a:graphicData>
        </a:graphic>
      </p:graphicFrame>
      <p:sp>
        <p:nvSpPr>
          <p:cNvPr id="91229" name="Text Box 90"/>
          <p:cNvSpPr txBox="1"/>
          <p:nvPr/>
        </p:nvSpPr>
        <p:spPr>
          <a:xfrm>
            <a:off x="6011863" y="6165850"/>
            <a:ext cx="2879725" cy="538163"/>
          </a:xfrm>
          <a:prstGeom prst="rect">
            <a:avLst/>
          </a:prstGeom>
          <a:solidFill>
            <a:schemeClr val="bg1"/>
          </a:solidFill>
          <a:ln w="19050" cap="flat" cmpd="sng">
            <a:solidFill>
              <a:schemeClr val="accent2"/>
            </a:solidFill>
            <a:prstDash val="sysDot"/>
            <a:miter/>
            <a:headEnd type="none" w="med" len="med"/>
            <a:tailEnd type="none" w="med" len="med"/>
          </a:ln>
        </p:spPr>
        <p:txBody>
          <a:bodyPr anchor="t">
            <a:spAutoFit/>
          </a:bodyPr>
          <a:lstStyle/>
          <a:p>
            <a:pPr lvl="0"/>
            <a:r>
              <a:rPr lang="en-US" altLang="x-none" sz="2800" b="1" dirty="0">
                <a:solidFill>
                  <a:srgbClr val="FF0000"/>
                </a:solidFill>
                <a:latin typeface="Arial" panose="020B0604020202020204" pitchFamily="34" charset="0"/>
                <a:ea typeface="宋体" panose="02010600030101010101" pitchFamily="2" charset="-122"/>
              </a:rPr>
              <a:t>Cno → Sno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91229"/>
                                        </p:tgtEl>
                                        <p:attrNameLst>
                                          <p:attrName>style.visibility</p:attrName>
                                        </p:attrNameLst>
                                      </p:cBhvr>
                                      <p:to>
                                        <p:strVal val="visible"/>
                                      </p:to>
                                    </p:set>
                                    <p:anim calcmode="lin" valueType="num">
                                      <p:cBhvr>
                                        <p:cTn id="7" dur="500" fill="hold"/>
                                        <p:tgtEl>
                                          <p:spTgt spid="91229"/>
                                        </p:tgtEl>
                                        <p:attrNameLst>
                                          <p:attrName>ppt_x</p:attrName>
                                        </p:attrNameLst>
                                      </p:cBhvr>
                                      <p:tavLst>
                                        <p:tav tm="0">
                                          <p:val>
                                            <p:strVal val="#ppt_x"/>
                                          </p:val>
                                        </p:tav>
                                        <p:tav tm="100000">
                                          <p:val>
                                            <p:strVal val="#ppt_x"/>
                                          </p:val>
                                        </p:tav>
                                      </p:tavLst>
                                    </p:anim>
                                    <p:anim calcmode="lin" valueType="num">
                                      <p:cBhvr>
                                        <p:cTn id="8" dur="500" fill="hold"/>
                                        <p:tgtEl>
                                          <p:spTgt spid="912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22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4" name="Rectangle 2"/>
          <p:cNvSpPr>
            <a:spLocks noGrp="1"/>
          </p:cNvSpPr>
          <p:nvPr>
            <p:ph type="title"/>
          </p:nvPr>
        </p:nvSpPr>
        <p:spPr>
          <a:xfrm>
            <a:off x="0" y="0"/>
            <a:ext cx="9144000" cy="476250"/>
          </a:xfrm>
        </p:spPr>
        <p:txBody>
          <a:bodyPr wrap="square" anchor="ctr"/>
          <a:lstStyle/>
          <a:p>
            <a:pPr lvl="0" eaLnBrk="1" hangingPunct="1"/>
            <a:r>
              <a:rPr lang="en-US" altLang="x-none" sz="2800" dirty="0">
                <a:latin typeface="Arial" panose="020B0604020202020204" pitchFamily="34" charset="0"/>
                <a:ea typeface="宋体" panose="02010600030101010101" pitchFamily="2" charset="-122"/>
              </a:rPr>
              <a:t>The SCG database</a:t>
            </a:r>
          </a:p>
        </p:txBody>
      </p:sp>
      <p:graphicFrame>
        <p:nvGraphicFramePr>
          <p:cNvPr id="92166" name="内容占位符 92165"/>
          <p:cNvGraphicFramePr>
            <a:graphicFrameLocks noGrp="1"/>
          </p:cNvGraphicFramePr>
          <p:nvPr>
            <p:ph idx="1"/>
          </p:nvPr>
        </p:nvGraphicFramePr>
        <p:xfrm>
          <a:off x="250825" y="476250"/>
          <a:ext cx="8680450" cy="4968875"/>
        </p:xfrm>
        <a:graphic>
          <a:graphicData uri="http://schemas.openxmlformats.org/drawingml/2006/table">
            <a:tbl>
              <a:tblPr/>
              <a:tblGrid>
                <a:gridCol w="1241425">
                  <a:extLst>
                    <a:ext uri="{9D8B030D-6E8A-4147-A177-3AD203B41FA5}">
                      <a16:colId xmlns:a16="http://schemas.microsoft.com/office/drawing/2014/main" val="20000"/>
                    </a:ext>
                  </a:extLst>
                </a:gridCol>
                <a:gridCol w="2009775">
                  <a:extLst>
                    <a:ext uri="{9D8B030D-6E8A-4147-A177-3AD203B41FA5}">
                      <a16:colId xmlns:a16="http://schemas.microsoft.com/office/drawing/2014/main" val="20001"/>
                    </a:ext>
                  </a:extLst>
                </a:gridCol>
                <a:gridCol w="1085850">
                  <a:extLst>
                    <a:ext uri="{9D8B030D-6E8A-4147-A177-3AD203B41FA5}">
                      <a16:colId xmlns:a16="http://schemas.microsoft.com/office/drawing/2014/main" val="20002"/>
                    </a:ext>
                  </a:extLst>
                </a:gridCol>
                <a:gridCol w="1085850">
                  <a:extLst>
                    <a:ext uri="{9D8B030D-6E8A-4147-A177-3AD203B41FA5}">
                      <a16:colId xmlns:a16="http://schemas.microsoft.com/office/drawing/2014/main" val="20003"/>
                    </a:ext>
                  </a:extLst>
                </a:gridCol>
                <a:gridCol w="1085850">
                  <a:extLst>
                    <a:ext uri="{9D8B030D-6E8A-4147-A177-3AD203B41FA5}">
                      <a16:colId xmlns:a16="http://schemas.microsoft.com/office/drawing/2014/main" val="20004"/>
                    </a:ext>
                  </a:extLst>
                </a:gridCol>
                <a:gridCol w="1085850">
                  <a:extLst>
                    <a:ext uri="{9D8B030D-6E8A-4147-A177-3AD203B41FA5}">
                      <a16:colId xmlns:a16="http://schemas.microsoft.com/office/drawing/2014/main" val="20005"/>
                    </a:ext>
                  </a:extLst>
                </a:gridCol>
                <a:gridCol w="1085850">
                  <a:extLst>
                    <a:ext uri="{9D8B030D-6E8A-4147-A177-3AD203B41FA5}">
                      <a16:colId xmlns:a16="http://schemas.microsoft.com/office/drawing/2014/main" val="20006"/>
                    </a:ext>
                  </a:extLst>
                </a:gridCol>
              </a:tblGrid>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Sno</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Sname</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Dept</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Sage</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Cno</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Cname</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Grade</a:t>
                      </a:r>
                      <a:endParaRPr lang="en-US" altLang="x-none" dirty="0">
                        <a:solidFill>
                          <a:srgbClr val="FF0000"/>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extLst>
                  <a:ext uri="{0D108BD9-81ED-4DB2-BD59-A6C34878D82A}">
                    <a16:rowId xmlns:a16="http://schemas.microsoft.com/office/drawing/2014/main" val="10000"/>
                  </a:ext>
                </a:extLst>
              </a:tr>
              <a:tr h="550863">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WangJian</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ABC</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5</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S0001</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WangJian</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ACD</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5</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S0001</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WangJian</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BBC</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S0001</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WangJian</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AEF</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S0001</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WangJian</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C110</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BCF</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S0002</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ChenYin</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MA</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19</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BBC</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6"/>
                  </a:ext>
                </a:extLst>
              </a:tr>
              <a:tr h="550862">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S0002</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ChenYin</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MA</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19</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AEF</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7"/>
                  </a:ext>
                </a:extLst>
              </a:tr>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S0003</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ZhangFei</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CS</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17</a:t>
                      </a:r>
                      <a:endParaRPr lang="zh-CN" altLang="en-US" sz="28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C107</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BHD</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92247" name="Text Box 85"/>
          <p:cNvSpPr txBox="1"/>
          <p:nvPr/>
        </p:nvSpPr>
        <p:spPr>
          <a:xfrm>
            <a:off x="323850" y="5573713"/>
            <a:ext cx="2808288" cy="519112"/>
          </a:xfrm>
          <a:prstGeom prst="rect">
            <a:avLst/>
          </a:prstGeom>
          <a:solidFill>
            <a:schemeClr val="hlink"/>
          </a:solidFill>
          <a:ln w="9525">
            <a:noFill/>
          </a:ln>
        </p:spPr>
        <p:txBody>
          <a:bodyPr anchor="t">
            <a:spAutoFit/>
          </a:bodyPr>
          <a:lstStyle/>
          <a:p>
            <a:pPr lvl="0"/>
            <a:r>
              <a:rPr lang="en-US" altLang="x-none" sz="2800" b="1" dirty="0">
                <a:solidFill>
                  <a:schemeClr val="accent2"/>
                </a:solidFill>
                <a:latin typeface="Arial" panose="020B0604020202020204" pitchFamily="34" charset="0"/>
                <a:ea typeface="宋体" panose="02010600030101010101" pitchFamily="2" charset="-122"/>
              </a:rPr>
              <a:t>Sno → Sname</a:t>
            </a:r>
            <a:r>
              <a:rPr lang="en-US" altLang="x-none" sz="2800" b="1" dirty="0">
                <a:solidFill>
                  <a:srgbClr val="FF0000"/>
                </a:solidFill>
                <a:latin typeface="Arial" panose="020B0604020202020204" pitchFamily="34" charset="0"/>
                <a:ea typeface="宋体" panose="02010600030101010101" pitchFamily="2" charset="-122"/>
              </a:rPr>
              <a:t>  </a:t>
            </a:r>
          </a:p>
        </p:txBody>
      </p:sp>
      <p:sp>
        <p:nvSpPr>
          <p:cNvPr id="92248" name="Text Box 86"/>
          <p:cNvSpPr txBox="1"/>
          <p:nvPr/>
        </p:nvSpPr>
        <p:spPr>
          <a:xfrm>
            <a:off x="3275013" y="5554663"/>
            <a:ext cx="2520950" cy="519112"/>
          </a:xfrm>
          <a:prstGeom prst="rect">
            <a:avLst/>
          </a:prstGeom>
          <a:solidFill>
            <a:schemeClr val="hlink"/>
          </a:solidFill>
          <a:ln w="9525">
            <a:noFill/>
          </a:ln>
        </p:spPr>
        <p:txBody>
          <a:bodyPr anchor="t">
            <a:spAutoFit/>
          </a:bodyPr>
          <a:lstStyle/>
          <a:p>
            <a:pPr lvl="0"/>
            <a:r>
              <a:rPr lang="en-US" altLang="x-none" sz="2800" b="1" dirty="0">
                <a:solidFill>
                  <a:schemeClr val="accent2"/>
                </a:solidFill>
                <a:latin typeface="Arial" panose="020B0604020202020204" pitchFamily="34" charset="0"/>
                <a:ea typeface="宋体" panose="02010600030101010101" pitchFamily="2" charset="-122"/>
              </a:rPr>
              <a:t>Sno → Dept</a:t>
            </a:r>
          </a:p>
        </p:txBody>
      </p:sp>
      <p:sp>
        <p:nvSpPr>
          <p:cNvPr id="92249" name="Text Box 87"/>
          <p:cNvSpPr txBox="1"/>
          <p:nvPr/>
        </p:nvSpPr>
        <p:spPr>
          <a:xfrm>
            <a:off x="6013450" y="5516563"/>
            <a:ext cx="2879725" cy="579437"/>
          </a:xfrm>
          <a:prstGeom prst="rect">
            <a:avLst/>
          </a:prstGeom>
          <a:solidFill>
            <a:schemeClr val="hlink"/>
          </a:solidFill>
          <a:ln w="9525">
            <a:noFill/>
          </a:ln>
        </p:spPr>
        <p:txBody>
          <a:bodyPr anchor="t">
            <a:spAutoFit/>
          </a:bodyPr>
          <a:lstStyle/>
          <a:p>
            <a:pPr lvl="0"/>
            <a:r>
              <a:rPr lang="en-US" altLang="x-none" sz="2800" b="1" dirty="0">
                <a:solidFill>
                  <a:schemeClr val="accent2"/>
                </a:solidFill>
                <a:latin typeface="Arial" panose="020B0604020202020204" pitchFamily="34" charset="0"/>
                <a:ea typeface="宋体" panose="02010600030101010101" pitchFamily="2" charset="-122"/>
              </a:rPr>
              <a:t>Sno → Cno</a:t>
            </a:r>
            <a:r>
              <a:rPr lang="en-US" altLang="x-none" sz="2800" b="1" dirty="0">
                <a:solidFill>
                  <a:srgbClr val="FF0000"/>
                </a:solidFill>
                <a:latin typeface="Arial" panose="020B0604020202020204" pitchFamily="34" charset="0"/>
                <a:ea typeface="宋体" panose="02010600030101010101" pitchFamily="2" charset="-122"/>
              </a:rPr>
              <a:t>  </a:t>
            </a:r>
            <a:r>
              <a:rPr lang="en-US" altLang="x-none" sz="3200" b="1" dirty="0">
                <a:solidFill>
                  <a:srgbClr val="FF0000"/>
                </a:solidFill>
                <a:latin typeface="Arial" panose="020B0604020202020204" pitchFamily="34" charset="0"/>
                <a:ea typeface="宋体" panose="02010600030101010101" pitchFamily="2" charset="-122"/>
              </a:rPr>
              <a:t>×</a:t>
            </a:r>
          </a:p>
        </p:txBody>
      </p:sp>
      <p:sp>
        <p:nvSpPr>
          <p:cNvPr id="92250" name="Text Box 88"/>
          <p:cNvSpPr txBox="1"/>
          <p:nvPr/>
        </p:nvSpPr>
        <p:spPr>
          <a:xfrm>
            <a:off x="323850" y="6165850"/>
            <a:ext cx="2808288" cy="519113"/>
          </a:xfrm>
          <a:prstGeom prst="rect">
            <a:avLst/>
          </a:prstGeom>
          <a:solidFill>
            <a:schemeClr val="hlink"/>
          </a:solidFill>
          <a:ln w="9525">
            <a:noFill/>
          </a:ln>
        </p:spPr>
        <p:txBody>
          <a:bodyPr anchor="t">
            <a:spAutoFit/>
          </a:bodyPr>
          <a:lstStyle/>
          <a:p>
            <a:pPr lvl="0"/>
            <a:r>
              <a:rPr lang="en-US" altLang="x-none" sz="2800" b="1" dirty="0">
                <a:solidFill>
                  <a:schemeClr val="accent2"/>
                </a:solidFill>
                <a:latin typeface="Arial" panose="020B0604020202020204" pitchFamily="34" charset="0"/>
                <a:ea typeface="宋体" panose="02010600030101010101" pitchFamily="2" charset="-122"/>
              </a:rPr>
              <a:t>Cno → Cname</a:t>
            </a:r>
            <a:r>
              <a:rPr lang="en-US" altLang="x-none" sz="2800" b="1" dirty="0">
                <a:solidFill>
                  <a:srgbClr val="FF0000"/>
                </a:solidFill>
                <a:latin typeface="Arial" panose="020B0604020202020204" pitchFamily="34" charset="0"/>
                <a:ea typeface="宋体" panose="02010600030101010101" pitchFamily="2" charset="-122"/>
              </a:rPr>
              <a:t> </a:t>
            </a:r>
          </a:p>
        </p:txBody>
      </p:sp>
      <p:graphicFrame>
        <p:nvGraphicFramePr>
          <p:cNvPr id="92251" name="对象 92251"/>
          <p:cNvGraphicFramePr>
            <a:graphicFrameLocks noChangeAspect="1"/>
          </p:cNvGraphicFramePr>
          <p:nvPr/>
        </p:nvGraphicFramePr>
        <p:xfrm>
          <a:off x="1524000" y="1397000"/>
          <a:ext cx="6096000" cy="4064000"/>
        </p:xfrm>
        <a:graphic>
          <a:graphicData uri="http://schemas.openxmlformats.org/presentationml/2006/ole">
            <mc:AlternateContent xmlns:mc="http://schemas.openxmlformats.org/markup-compatibility/2006">
              <mc:Choice xmlns:v="urn:schemas-microsoft-com:vml" Requires="v">
                <p:oleObj spid="_x0000_s5126" r:id="rId3" imgW="116840" imgH="220980" progId="Equation.3">
                  <p:embed/>
                </p:oleObj>
              </mc:Choice>
              <mc:Fallback>
                <p:oleObj r:id="rId3" imgW="116840" imgH="220980" progId="Equation.3">
                  <p:embed/>
                  <p:pic>
                    <p:nvPicPr>
                      <p:cNvPr id="0" name="图片 3087"/>
                      <p:cNvPicPr/>
                      <p:nvPr/>
                    </p:nvPicPr>
                    <p:blipFill>
                      <a:blip r:embed="rId4"/>
                      <a:stretch>
                        <a:fillRect/>
                      </a:stretch>
                    </p:blipFill>
                    <p:spPr>
                      <a:xfrm>
                        <a:off x="1524000" y="1397000"/>
                        <a:ext cx="6096000" cy="4064000"/>
                      </a:xfrm>
                      <a:prstGeom prst="rect">
                        <a:avLst/>
                      </a:prstGeom>
                      <a:noFill/>
                      <a:ln w="38100">
                        <a:noFill/>
                        <a:miter/>
                      </a:ln>
                    </p:spPr>
                  </p:pic>
                </p:oleObj>
              </mc:Fallback>
            </mc:AlternateContent>
          </a:graphicData>
        </a:graphic>
      </p:graphicFrame>
      <p:sp>
        <p:nvSpPr>
          <p:cNvPr id="92252" name="Text Box 90"/>
          <p:cNvSpPr txBox="1"/>
          <p:nvPr/>
        </p:nvSpPr>
        <p:spPr>
          <a:xfrm>
            <a:off x="6011863" y="6165850"/>
            <a:ext cx="2879725" cy="579438"/>
          </a:xfrm>
          <a:prstGeom prst="rect">
            <a:avLst/>
          </a:prstGeom>
          <a:solidFill>
            <a:schemeClr val="hlink"/>
          </a:solidFill>
          <a:ln w="9525">
            <a:noFill/>
          </a:ln>
        </p:spPr>
        <p:txBody>
          <a:bodyPr anchor="t">
            <a:spAutoFit/>
          </a:bodyPr>
          <a:lstStyle/>
          <a:p>
            <a:pPr lvl="0"/>
            <a:r>
              <a:rPr lang="en-US" altLang="x-none" sz="2800" b="1" dirty="0">
                <a:solidFill>
                  <a:schemeClr val="accent2"/>
                </a:solidFill>
                <a:latin typeface="Arial" panose="020B0604020202020204" pitchFamily="34" charset="0"/>
                <a:ea typeface="宋体" panose="02010600030101010101" pitchFamily="2" charset="-122"/>
              </a:rPr>
              <a:t>Cno → Sno  </a:t>
            </a:r>
            <a:r>
              <a:rPr lang="en-US" altLang="x-none" sz="3200" b="1" dirty="0">
                <a:solidFill>
                  <a:srgbClr val="FF0000"/>
                </a:solidFill>
                <a:latin typeface="Arial" panose="020B0604020202020204" pitchFamily="34" charset="0"/>
                <a:ea typeface="宋体" panose="02010600030101010101" pitchFamily="2" charset="-122"/>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日期占位符 1"/>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93186" name="页脚占位符 2"/>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93187" name="灯片编号占位符 3"/>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17</a:t>
            </a:fld>
            <a:endParaRPr lang="zh-CN" altLang="en-US" sz="1200" b="1" i="1" dirty="0">
              <a:latin typeface="Times New Roman" panose="02020603050405020304" pitchFamily="2" charset="0"/>
              <a:ea typeface="宋体" panose="02010600030101010101" pitchFamily="2" charset="-122"/>
            </a:endParaRPr>
          </a:p>
        </p:txBody>
      </p:sp>
      <p:graphicFrame>
        <p:nvGraphicFramePr>
          <p:cNvPr id="93188" name="Object 4"/>
          <p:cNvGraphicFramePr>
            <a:graphicFrameLocks noChangeAspect="1"/>
          </p:cNvGraphicFramePr>
          <p:nvPr/>
        </p:nvGraphicFramePr>
        <p:xfrm>
          <a:off x="684213" y="549275"/>
          <a:ext cx="7343775" cy="4824413"/>
        </p:xfrm>
        <a:graphic>
          <a:graphicData uri="http://schemas.openxmlformats.org/presentationml/2006/ole">
            <mc:AlternateContent xmlns:mc="http://schemas.openxmlformats.org/markup-compatibility/2006">
              <mc:Choice xmlns:v="urn:schemas-microsoft-com:vml" Requires="v">
                <p:oleObj spid="_x0000_s6150" r:id="rId3" imgW="5461000" imgH="3759200" progId="">
                  <p:embed/>
                </p:oleObj>
              </mc:Choice>
              <mc:Fallback>
                <p:oleObj r:id="rId3" imgW="5461000" imgH="3759200" progId="">
                  <p:embed/>
                  <p:pic>
                    <p:nvPicPr>
                      <p:cNvPr id="0" name="图片 3088"/>
                      <p:cNvPicPr/>
                      <p:nvPr/>
                    </p:nvPicPr>
                    <p:blipFill>
                      <a:blip r:embed="rId4"/>
                      <a:stretch>
                        <a:fillRect/>
                      </a:stretch>
                    </p:blipFill>
                    <p:spPr>
                      <a:xfrm>
                        <a:off x="684213" y="549275"/>
                        <a:ext cx="7343775" cy="4824413"/>
                      </a:xfrm>
                      <a:prstGeom prst="rect">
                        <a:avLst/>
                      </a:prstGeom>
                      <a:noFill/>
                      <a:ln w="38100">
                        <a:noFill/>
                        <a:miter/>
                      </a:ln>
                    </p:spPr>
                  </p:pic>
                </p:oleObj>
              </mc:Fallback>
            </mc:AlternateContent>
          </a:graphicData>
        </a:graphic>
      </p:graphicFrame>
      <p:sp>
        <p:nvSpPr>
          <p:cNvPr id="93189" name="Text Box 6"/>
          <p:cNvSpPr txBox="1"/>
          <p:nvPr/>
        </p:nvSpPr>
        <p:spPr>
          <a:xfrm>
            <a:off x="755650" y="5445125"/>
            <a:ext cx="7848600" cy="561975"/>
          </a:xfrm>
          <a:prstGeom prst="rect">
            <a:avLst/>
          </a:prstGeom>
          <a:noFill/>
          <a:ln w="9525">
            <a:noFill/>
          </a:ln>
        </p:spPr>
        <p:txBody>
          <a:bodyPr anchor="t">
            <a:spAutoFit/>
          </a:bodyPr>
          <a:lstStyle/>
          <a:p>
            <a:pPr lvl="0" algn="ctr">
              <a:lnSpc>
                <a:spcPct val="110000"/>
              </a:lnSpc>
              <a:spcBef>
                <a:spcPct val="50000"/>
              </a:spcBef>
            </a:pPr>
            <a:r>
              <a:rPr lang="en-US" altLang="x-none" sz="2800" b="1" dirty="0">
                <a:solidFill>
                  <a:schemeClr val="accent2"/>
                </a:solidFill>
                <a:latin typeface="Arial" panose="020B0604020202020204" pitchFamily="34" charset="0"/>
                <a:ea typeface="宋体" panose="02010600030101010101" pitchFamily="2" charset="-122"/>
              </a:rPr>
              <a:t>A functionally determines B.</a:t>
            </a:r>
          </a:p>
        </p:txBody>
      </p:sp>
      <p:sp>
        <p:nvSpPr>
          <p:cNvPr id="93190" name="Text Box 7"/>
          <p:cNvSpPr txBox="1"/>
          <p:nvPr/>
        </p:nvSpPr>
        <p:spPr>
          <a:xfrm>
            <a:off x="0" y="6281738"/>
            <a:ext cx="9144000" cy="603250"/>
          </a:xfrm>
          <a:prstGeom prst="rect">
            <a:avLst/>
          </a:prstGeom>
          <a:solidFill>
            <a:schemeClr val="bg1"/>
          </a:solidFill>
          <a:ln w="9525">
            <a:noFill/>
          </a:ln>
        </p:spPr>
        <p:txBody>
          <a:bodyPr lIns="0" tIns="118800" rIns="0" bIns="118800" anchor="t">
            <a:spAutoFit/>
          </a:bodyPr>
          <a:lstStyle/>
          <a:p>
            <a:pPr lvl="0" algn="ctr">
              <a:spcBef>
                <a:spcPct val="50000"/>
              </a:spcBef>
            </a:pPr>
            <a:r>
              <a:rPr lang="en-US" altLang="x-none" dirty="0">
                <a:latin typeface="Arial" panose="020B0604020202020204" pitchFamily="34" charset="0"/>
                <a:ea typeface="宋体" panose="02010600030101010101" pitchFamily="2" charset="-122"/>
              </a:rPr>
              <a:t>Figure 6.18(a)  Graphical Depiction of Functional Dependency</a:t>
            </a:r>
          </a:p>
        </p:txBody>
      </p:sp>
      <p:sp>
        <p:nvSpPr>
          <p:cNvPr id="93192" name="Line 8"/>
          <p:cNvSpPr/>
          <p:nvPr/>
        </p:nvSpPr>
        <p:spPr>
          <a:xfrm>
            <a:off x="2771775" y="2349500"/>
            <a:ext cx="0" cy="2286000"/>
          </a:xfrm>
          <a:prstGeom prst="line">
            <a:avLst/>
          </a:prstGeom>
          <a:ln w="63500" cap="flat" cmpd="sng">
            <a:solidFill>
              <a:srgbClr val="FF0000"/>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93193" name="Line 9"/>
          <p:cNvSpPr/>
          <p:nvPr/>
        </p:nvSpPr>
        <p:spPr>
          <a:xfrm>
            <a:off x="4787900" y="2349500"/>
            <a:ext cx="0" cy="2286000"/>
          </a:xfrm>
          <a:prstGeom prst="line">
            <a:avLst/>
          </a:prstGeom>
          <a:ln w="63500" cap="flat" cmpd="sng">
            <a:solidFill>
              <a:srgbClr val="FF0000"/>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93194" name="Text Box 10"/>
          <p:cNvSpPr txBox="1"/>
          <p:nvPr/>
        </p:nvSpPr>
        <p:spPr>
          <a:xfrm>
            <a:off x="3348038" y="477838"/>
            <a:ext cx="5580062" cy="1041400"/>
          </a:xfrm>
          <a:prstGeom prst="rect">
            <a:avLst/>
          </a:prstGeom>
          <a:noFill/>
          <a:ln w="9525" cap="flat" cmpd="sng">
            <a:solidFill>
              <a:schemeClr val="accent2"/>
            </a:solidFill>
            <a:prstDash val="solid"/>
            <a:miter/>
            <a:headEnd type="none" w="med" len="med"/>
            <a:tailEnd type="none" w="med" len="med"/>
          </a:ln>
        </p:spPr>
        <p:txBody>
          <a:bodyPr anchor="t">
            <a:spAutoFit/>
          </a:bodyPr>
          <a:lstStyle/>
          <a:p>
            <a:pPr lvl="0">
              <a:lnSpc>
                <a:spcPct val="110000"/>
              </a:lnSpc>
              <a:spcBef>
                <a:spcPct val="50000"/>
              </a:spcBef>
            </a:pPr>
            <a:r>
              <a:rPr lang="en-US" altLang="x-none" sz="2800" b="1" dirty="0">
                <a:solidFill>
                  <a:schemeClr val="accent2"/>
                </a:solidFill>
                <a:latin typeface="Arial" panose="020B0604020202020204" pitchFamily="34" charset="0"/>
                <a:ea typeface="宋体" panose="02010600030101010101" pitchFamily="2" charset="-122"/>
              </a:rPr>
              <a:t>Each value of A corresponds to only one value of 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4" fill="hold" nodeType="clickEffect">
                                  <p:stCondLst>
                                    <p:cond delay="0"/>
                                  </p:stCondLst>
                                  <p:childTnLst>
                                    <p:set>
                                      <p:cBhvr>
                                        <p:cTn id="6" dur="1" fill="hold">
                                          <p:stCondLst>
                                            <p:cond delay="0"/>
                                          </p:stCondLst>
                                        </p:cTn>
                                        <p:tgtEl>
                                          <p:spTgt spid="93192"/>
                                        </p:tgtEl>
                                        <p:attrNameLst>
                                          <p:attrName>style.visibility</p:attrName>
                                        </p:attrNameLst>
                                      </p:cBhvr>
                                      <p:to>
                                        <p:strVal val="visible"/>
                                      </p:to>
                                    </p:set>
                                    <p:anim calcmode="lin" valueType="num">
                                      <p:cBhvr>
                                        <p:cTn id="7" dur="500" fill="hold"/>
                                        <p:tgtEl>
                                          <p:spTgt spid="93192"/>
                                        </p:tgtEl>
                                        <p:attrNameLst>
                                          <p:attrName>ppt_x</p:attrName>
                                        </p:attrNameLst>
                                      </p:cBhvr>
                                      <p:tavLst>
                                        <p:tav tm="0">
                                          <p:val>
                                            <p:strVal val="#ppt_x"/>
                                          </p:val>
                                        </p:tav>
                                        <p:tav tm="100000">
                                          <p:val>
                                            <p:strVal val="#ppt_x"/>
                                          </p:val>
                                        </p:tav>
                                      </p:tavLst>
                                    </p:anim>
                                    <p:anim calcmode="lin" valueType="num">
                                      <p:cBhvr>
                                        <p:cTn id="8" dur="500" fill="hold"/>
                                        <p:tgtEl>
                                          <p:spTgt spid="93192"/>
                                        </p:tgtEl>
                                        <p:attrNameLst>
                                          <p:attrName>ppt_y</p:attrName>
                                        </p:attrNameLst>
                                      </p:cBhvr>
                                      <p:tavLst>
                                        <p:tav tm="0">
                                          <p:val>
                                            <p:strVal val="#ppt_y+#ppt_h/2"/>
                                          </p:val>
                                        </p:tav>
                                        <p:tav tm="100000">
                                          <p:val>
                                            <p:strVal val="#ppt_y"/>
                                          </p:val>
                                        </p:tav>
                                      </p:tavLst>
                                    </p:anim>
                                    <p:anim calcmode="lin" valueType="num">
                                      <p:cBhvr>
                                        <p:cTn id="9" dur="500" fill="hold"/>
                                        <p:tgtEl>
                                          <p:spTgt spid="93192"/>
                                        </p:tgtEl>
                                        <p:attrNameLst>
                                          <p:attrName>ppt_w</p:attrName>
                                        </p:attrNameLst>
                                      </p:cBhvr>
                                      <p:tavLst>
                                        <p:tav tm="0">
                                          <p:val>
                                            <p:strVal val="#ppt_w"/>
                                          </p:val>
                                        </p:tav>
                                        <p:tav tm="100000">
                                          <p:val>
                                            <p:strVal val="#ppt_w"/>
                                          </p:val>
                                        </p:tav>
                                      </p:tavLst>
                                    </p:anim>
                                    <p:anim calcmode="lin" valueType="num">
                                      <p:cBhvr>
                                        <p:cTn id="10" dur="500" fill="hold"/>
                                        <p:tgtEl>
                                          <p:spTgt spid="93192"/>
                                        </p:tgtEl>
                                        <p:attrNameLst>
                                          <p:attrName>ppt_h</p:attrName>
                                        </p:attrNameLst>
                                      </p:cBhvr>
                                      <p:tavLst>
                                        <p:tav tm="0">
                                          <p:val>
                                            <p:fltVal val="0"/>
                                          </p:val>
                                        </p:tav>
                                        <p:tav tm="100000">
                                          <p:val>
                                            <p:strVal val="#ppt_h"/>
                                          </p:val>
                                        </p:tav>
                                      </p:tavLst>
                                    </p:anim>
                                  </p:childTnLst>
                                </p:cTn>
                              </p:par>
                            </p:childTnLst>
                          </p:cTn>
                        </p:par>
                        <p:par>
                          <p:cTn id="11" fill="hold">
                            <p:stCondLst>
                              <p:cond delay="500"/>
                            </p:stCondLst>
                            <p:childTnLst>
                              <p:par>
                                <p:cTn id="12" presetID="3" presetClass="entr" presetSubtype="10" fill="hold" grpId="0" nodeType="afterEffect">
                                  <p:stCondLst>
                                    <p:cond delay="0"/>
                                  </p:stCondLst>
                                  <p:childTnLst>
                                    <p:set>
                                      <p:cBhvr>
                                        <p:cTn id="13" dur="1" fill="hold">
                                          <p:stCondLst>
                                            <p:cond delay="0"/>
                                          </p:stCondLst>
                                        </p:cTn>
                                        <p:tgtEl>
                                          <p:spTgt spid="93194"/>
                                        </p:tgtEl>
                                        <p:attrNameLst>
                                          <p:attrName>style.visibility</p:attrName>
                                        </p:attrNameLst>
                                      </p:cBhvr>
                                      <p:to>
                                        <p:strVal val="visible"/>
                                      </p:to>
                                    </p:set>
                                    <p:animEffect transition="in" filter="blinds(horizontal)">
                                      <p:cBhvr>
                                        <p:cTn id="14" dur="500"/>
                                        <p:tgtEl>
                                          <p:spTgt spid="93194"/>
                                        </p:tgtEl>
                                      </p:cBhvr>
                                    </p:animEffect>
                                  </p:childTnLst>
                                </p:cTn>
                              </p:par>
                            </p:childTnLst>
                          </p:cTn>
                        </p:par>
                      </p:childTnLst>
                    </p:cTn>
                  </p:par>
                  <p:par>
                    <p:cTn id="15" fill="hold">
                      <p:stCondLst>
                        <p:cond delay="indefinite"/>
                      </p:stCondLst>
                      <p:childTnLst>
                        <p:par>
                          <p:cTn id="16" fill="hold">
                            <p:stCondLst>
                              <p:cond delay="0"/>
                            </p:stCondLst>
                            <p:childTnLst>
                              <p:par>
                                <p:cTn id="17" presetID="17" presetClass="entr" presetSubtype="4" fill="hold" nodeType="clickEffect">
                                  <p:stCondLst>
                                    <p:cond delay="0"/>
                                  </p:stCondLst>
                                  <p:childTnLst>
                                    <p:set>
                                      <p:cBhvr>
                                        <p:cTn id="18" dur="1" fill="hold">
                                          <p:stCondLst>
                                            <p:cond delay="0"/>
                                          </p:stCondLst>
                                        </p:cTn>
                                        <p:tgtEl>
                                          <p:spTgt spid="93193"/>
                                        </p:tgtEl>
                                        <p:attrNameLst>
                                          <p:attrName>style.visibility</p:attrName>
                                        </p:attrNameLst>
                                      </p:cBhvr>
                                      <p:to>
                                        <p:strVal val="visible"/>
                                      </p:to>
                                    </p:set>
                                    <p:anim calcmode="lin" valueType="num">
                                      <p:cBhvr>
                                        <p:cTn id="19" dur="500" fill="hold"/>
                                        <p:tgtEl>
                                          <p:spTgt spid="93193"/>
                                        </p:tgtEl>
                                        <p:attrNameLst>
                                          <p:attrName>ppt_x</p:attrName>
                                        </p:attrNameLst>
                                      </p:cBhvr>
                                      <p:tavLst>
                                        <p:tav tm="0">
                                          <p:val>
                                            <p:strVal val="#ppt_x"/>
                                          </p:val>
                                        </p:tav>
                                        <p:tav tm="100000">
                                          <p:val>
                                            <p:strVal val="#ppt_x"/>
                                          </p:val>
                                        </p:tav>
                                      </p:tavLst>
                                    </p:anim>
                                    <p:anim calcmode="lin" valueType="num">
                                      <p:cBhvr>
                                        <p:cTn id="20" dur="500" fill="hold"/>
                                        <p:tgtEl>
                                          <p:spTgt spid="93193"/>
                                        </p:tgtEl>
                                        <p:attrNameLst>
                                          <p:attrName>ppt_y</p:attrName>
                                        </p:attrNameLst>
                                      </p:cBhvr>
                                      <p:tavLst>
                                        <p:tav tm="0">
                                          <p:val>
                                            <p:strVal val="#ppt_y+#ppt_h/2"/>
                                          </p:val>
                                        </p:tav>
                                        <p:tav tm="100000">
                                          <p:val>
                                            <p:strVal val="#ppt_y"/>
                                          </p:val>
                                        </p:tav>
                                      </p:tavLst>
                                    </p:anim>
                                    <p:anim calcmode="lin" valueType="num">
                                      <p:cBhvr>
                                        <p:cTn id="21" dur="500" fill="hold"/>
                                        <p:tgtEl>
                                          <p:spTgt spid="93193"/>
                                        </p:tgtEl>
                                        <p:attrNameLst>
                                          <p:attrName>ppt_w</p:attrName>
                                        </p:attrNameLst>
                                      </p:cBhvr>
                                      <p:tavLst>
                                        <p:tav tm="0">
                                          <p:val>
                                            <p:strVal val="#ppt_w"/>
                                          </p:val>
                                        </p:tav>
                                        <p:tav tm="100000">
                                          <p:val>
                                            <p:strVal val="#ppt_w"/>
                                          </p:val>
                                        </p:tav>
                                      </p:tavLst>
                                    </p:anim>
                                    <p:anim calcmode="lin" valueType="num">
                                      <p:cBhvr>
                                        <p:cTn id="22" dur="500" fill="hold"/>
                                        <p:tgtEl>
                                          <p:spTgt spid="9319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94"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日期占位符 1"/>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94210" name="页脚占位符 2"/>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94211" name="灯片编号占位符 3"/>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18</a:t>
            </a:fld>
            <a:endParaRPr lang="zh-CN" altLang="en-US" sz="1200" b="1" i="1" dirty="0">
              <a:latin typeface="Times New Roman" panose="02020603050405020304" pitchFamily="2" charset="0"/>
              <a:ea typeface="宋体" panose="02010600030101010101" pitchFamily="2" charset="-122"/>
            </a:endParaRPr>
          </a:p>
        </p:txBody>
      </p:sp>
      <p:graphicFrame>
        <p:nvGraphicFramePr>
          <p:cNvPr id="94212" name="Object 9"/>
          <p:cNvGraphicFramePr>
            <a:graphicFrameLocks noChangeAspect="1"/>
          </p:cNvGraphicFramePr>
          <p:nvPr/>
        </p:nvGraphicFramePr>
        <p:xfrm>
          <a:off x="827088" y="835025"/>
          <a:ext cx="7345362" cy="4465638"/>
        </p:xfrm>
        <a:graphic>
          <a:graphicData uri="http://schemas.openxmlformats.org/presentationml/2006/ole">
            <mc:AlternateContent xmlns:mc="http://schemas.openxmlformats.org/markup-compatibility/2006">
              <mc:Choice xmlns:v="urn:schemas-microsoft-com:vml" Requires="v">
                <p:oleObj spid="_x0000_s7174" r:id="rId3" imgW="5461000" imgH="3759200" progId="">
                  <p:embed/>
                </p:oleObj>
              </mc:Choice>
              <mc:Fallback>
                <p:oleObj r:id="rId3" imgW="5461000" imgH="3759200" progId="">
                  <p:embed/>
                  <p:pic>
                    <p:nvPicPr>
                      <p:cNvPr id="0" name="图片 3089"/>
                      <p:cNvPicPr/>
                      <p:nvPr/>
                    </p:nvPicPr>
                    <p:blipFill>
                      <a:blip r:embed="rId4"/>
                      <a:stretch>
                        <a:fillRect/>
                      </a:stretch>
                    </p:blipFill>
                    <p:spPr>
                      <a:xfrm>
                        <a:off x="827088" y="835025"/>
                        <a:ext cx="7345362" cy="4465638"/>
                      </a:xfrm>
                      <a:prstGeom prst="rect">
                        <a:avLst/>
                      </a:prstGeom>
                      <a:noFill/>
                      <a:ln w="38100">
                        <a:noFill/>
                        <a:miter/>
                      </a:ln>
                    </p:spPr>
                  </p:pic>
                </p:oleObj>
              </mc:Fallback>
            </mc:AlternateContent>
          </a:graphicData>
        </a:graphic>
      </p:graphicFrame>
      <p:sp>
        <p:nvSpPr>
          <p:cNvPr id="94213" name="Text Box 4"/>
          <p:cNvSpPr txBox="1"/>
          <p:nvPr/>
        </p:nvSpPr>
        <p:spPr>
          <a:xfrm>
            <a:off x="755650" y="5445125"/>
            <a:ext cx="7848600" cy="561975"/>
          </a:xfrm>
          <a:prstGeom prst="rect">
            <a:avLst/>
          </a:prstGeom>
          <a:noFill/>
          <a:ln w="9525">
            <a:noFill/>
          </a:ln>
        </p:spPr>
        <p:txBody>
          <a:bodyPr anchor="t">
            <a:spAutoFit/>
          </a:bodyPr>
          <a:lstStyle/>
          <a:p>
            <a:pPr lvl="0" algn="ctr">
              <a:lnSpc>
                <a:spcPct val="110000"/>
              </a:lnSpc>
              <a:spcBef>
                <a:spcPct val="50000"/>
              </a:spcBef>
            </a:pPr>
            <a:r>
              <a:rPr lang="en-US" altLang="x-none" sz="2800" b="1" dirty="0">
                <a:solidFill>
                  <a:schemeClr val="accent2"/>
                </a:solidFill>
                <a:latin typeface="Arial" panose="020B0604020202020204" pitchFamily="34" charset="0"/>
                <a:ea typeface="宋体" panose="02010600030101010101" pitchFamily="2" charset="-122"/>
              </a:rPr>
              <a:t>A does not functionally determine B.</a:t>
            </a:r>
          </a:p>
        </p:txBody>
      </p:sp>
      <p:sp>
        <p:nvSpPr>
          <p:cNvPr id="94214" name="Text Box 5"/>
          <p:cNvSpPr txBox="1"/>
          <p:nvPr/>
        </p:nvSpPr>
        <p:spPr>
          <a:xfrm>
            <a:off x="0" y="6281738"/>
            <a:ext cx="9144000" cy="603250"/>
          </a:xfrm>
          <a:prstGeom prst="rect">
            <a:avLst/>
          </a:prstGeom>
          <a:solidFill>
            <a:schemeClr val="bg1"/>
          </a:solidFill>
          <a:ln w="9525">
            <a:noFill/>
          </a:ln>
        </p:spPr>
        <p:txBody>
          <a:bodyPr lIns="0" tIns="118800" rIns="0" bIns="118800" anchor="t">
            <a:spAutoFit/>
          </a:bodyPr>
          <a:lstStyle/>
          <a:p>
            <a:pPr lvl="0" algn="ctr">
              <a:spcBef>
                <a:spcPct val="50000"/>
              </a:spcBef>
            </a:pPr>
            <a:r>
              <a:rPr lang="en-US" altLang="x-none" dirty="0">
                <a:latin typeface="Arial" panose="020B0604020202020204" pitchFamily="34" charset="0"/>
                <a:ea typeface="宋体" panose="02010600030101010101" pitchFamily="2" charset="-122"/>
              </a:rPr>
              <a:t>Figure 6.18(b)  Graphical Depiction of Functional Dependency</a:t>
            </a:r>
          </a:p>
        </p:txBody>
      </p:sp>
      <p:sp>
        <p:nvSpPr>
          <p:cNvPr id="94216" name="Line 6"/>
          <p:cNvSpPr/>
          <p:nvPr/>
        </p:nvSpPr>
        <p:spPr>
          <a:xfrm>
            <a:off x="3635375" y="1771650"/>
            <a:ext cx="0" cy="2789238"/>
          </a:xfrm>
          <a:prstGeom prst="line">
            <a:avLst/>
          </a:prstGeom>
          <a:ln w="63500" cap="flat" cmpd="sng">
            <a:solidFill>
              <a:srgbClr val="FF0000"/>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94217" name="Text Box 8"/>
          <p:cNvSpPr txBox="1"/>
          <p:nvPr/>
        </p:nvSpPr>
        <p:spPr>
          <a:xfrm>
            <a:off x="3348038" y="260350"/>
            <a:ext cx="5580062" cy="1041400"/>
          </a:xfrm>
          <a:prstGeom prst="rect">
            <a:avLst/>
          </a:prstGeom>
          <a:noFill/>
          <a:ln w="9525" cap="flat" cmpd="sng">
            <a:solidFill>
              <a:schemeClr val="accent2"/>
            </a:solidFill>
            <a:prstDash val="solid"/>
            <a:miter/>
            <a:headEnd type="none" w="med" len="med"/>
            <a:tailEnd type="none" w="med" len="med"/>
          </a:ln>
        </p:spPr>
        <p:txBody>
          <a:bodyPr anchor="t">
            <a:spAutoFit/>
          </a:bodyPr>
          <a:lstStyle/>
          <a:p>
            <a:pPr lvl="0">
              <a:lnSpc>
                <a:spcPct val="110000"/>
              </a:lnSpc>
              <a:spcBef>
                <a:spcPct val="50000"/>
              </a:spcBef>
            </a:pPr>
            <a:r>
              <a:rPr lang="en-US" altLang="x-none" sz="2800" b="1" dirty="0">
                <a:solidFill>
                  <a:schemeClr val="accent2"/>
                </a:solidFill>
                <a:latin typeface="Arial" panose="020B0604020202020204" pitchFamily="34" charset="0"/>
                <a:ea typeface="宋体" panose="02010600030101010101" pitchFamily="2" charset="-122"/>
              </a:rPr>
              <a:t>Some values of A correspond to more than one value of 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4" fill="hold" nodeType="clickEffect">
                                  <p:stCondLst>
                                    <p:cond delay="0"/>
                                  </p:stCondLst>
                                  <p:childTnLst>
                                    <p:set>
                                      <p:cBhvr>
                                        <p:cTn id="6" dur="1" fill="hold">
                                          <p:stCondLst>
                                            <p:cond delay="0"/>
                                          </p:stCondLst>
                                        </p:cTn>
                                        <p:tgtEl>
                                          <p:spTgt spid="94216"/>
                                        </p:tgtEl>
                                        <p:attrNameLst>
                                          <p:attrName>style.visibility</p:attrName>
                                        </p:attrNameLst>
                                      </p:cBhvr>
                                      <p:to>
                                        <p:strVal val="visible"/>
                                      </p:to>
                                    </p:set>
                                    <p:anim calcmode="lin" valueType="num">
                                      <p:cBhvr>
                                        <p:cTn id="7" dur="500" fill="hold"/>
                                        <p:tgtEl>
                                          <p:spTgt spid="94216"/>
                                        </p:tgtEl>
                                        <p:attrNameLst>
                                          <p:attrName>ppt_x</p:attrName>
                                        </p:attrNameLst>
                                      </p:cBhvr>
                                      <p:tavLst>
                                        <p:tav tm="0">
                                          <p:val>
                                            <p:strVal val="#ppt_x"/>
                                          </p:val>
                                        </p:tav>
                                        <p:tav tm="100000">
                                          <p:val>
                                            <p:strVal val="#ppt_x"/>
                                          </p:val>
                                        </p:tav>
                                      </p:tavLst>
                                    </p:anim>
                                    <p:anim calcmode="lin" valueType="num">
                                      <p:cBhvr>
                                        <p:cTn id="8" dur="500" fill="hold"/>
                                        <p:tgtEl>
                                          <p:spTgt spid="94216"/>
                                        </p:tgtEl>
                                        <p:attrNameLst>
                                          <p:attrName>ppt_y</p:attrName>
                                        </p:attrNameLst>
                                      </p:cBhvr>
                                      <p:tavLst>
                                        <p:tav tm="0">
                                          <p:val>
                                            <p:strVal val="#ppt_y+#ppt_h/2"/>
                                          </p:val>
                                        </p:tav>
                                        <p:tav tm="100000">
                                          <p:val>
                                            <p:strVal val="#ppt_y"/>
                                          </p:val>
                                        </p:tav>
                                      </p:tavLst>
                                    </p:anim>
                                    <p:anim calcmode="lin" valueType="num">
                                      <p:cBhvr>
                                        <p:cTn id="9" dur="500" fill="hold"/>
                                        <p:tgtEl>
                                          <p:spTgt spid="94216"/>
                                        </p:tgtEl>
                                        <p:attrNameLst>
                                          <p:attrName>ppt_w</p:attrName>
                                        </p:attrNameLst>
                                      </p:cBhvr>
                                      <p:tavLst>
                                        <p:tav tm="0">
                                          <p:val>
                                            <p:strVal val="#ppt_w"/>
                                          </p:val>
                                        </p:tav>
                                        <p:tav tm="100000">
                                          <p:val>
                                            <p:strVal val="#ppt_w"/>
                                          </p:val>
                                        </p:tav>
                                      </p:tavLst>
                                    </p:anim>
                                    <p:anim calcmode="lin" valueType="num">
                                      <p:cBhvr>
                                        <p:cTn id="10" dur="500" fill="hold"/>
                                        <p:tgtEl>
                                          <p:spTgt spid="94216"/>
                                        </p:tgtEl>
                                        <p:attrNameLst>
                                          <p:attrName>ppt_h</p:attrName>
                                        </p:attrNameLst>
                                      </p:cBhvr>
                                      <p:tavLst>
                                        <p:tav tm="0">
                                          <p:val>
                                            <p:fltVal val="0"/>
                                          </p:val>
                                        </p:tav>
                                        <p:tav tm="100000">
                                          <p:val>
                                            <p:strVal val="#ppt_h"/>
                                          </p:val>
                                        </p:tav>
                                      </p:tavLst>
                                    </p:anim>
                                  </p:childTnLst>
                                </p:cTn>
                              </p:par>
                            </p:childTnLst>
                          </p:cTn>
                        </p:par>
                        <p:par>
                          <p:cTn id="11" fill="hold">
                            <p:stCondLst>
                              <p:cond delay="500"/>
                            </p:stCondLst>
                            <p:childTnLst>
                              <p:par>
                                <p:cTn id="12" presetID="3" presetClass="entr" presetSubtype="10" fill="hold" grpId="0" nodeType="afterEffect">
                                  <p:stCondLst>
                                    <p:cond delay="0"/>
                                  </p:stCondLst>
                                  <p:childTnLst>
                                    <p:set>
                                      <p:cBhvr>
                                        <p:cTn id="13" dur="1" fill="hold">
                                          <p:stCondLst>
                                            <p:cond delay="0"/>
                                          </p:stCondLst>
                                        </p:cTn>
                                        <p:tgtEl>
                                          <p:spTgt spid="94217"/>
                                        </p:tgtEl>
                                        <p:attrNameLst>
                                          <p:attrName>style.visibility</p:attrName>
                                        </p:attrNameLst>
                                      </p:cBhvr>
                                      <p:to>
                                        <p:strVal val="visible"/>
                                      </p:to>
                                    </p:set>
                                    <p:animEffect transition="in" filter="blinds(horizontal)">
                                      <p:cBhvr>
                                        <p:cTn id="14" dur="500"/>
                                        <p:tgtEl>
                                          <p:spTgt spid="942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日期占位符 1"/>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95234" name="页脚占位符 2"/>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95235" name="灯片编号占位符 3"/>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19</a:t>
            </a:fld>
            <a:endParaRPr lang="zh-CN" altLang="en-US" sz="1200" b="1" i="1" dirty="0">
              <a:latin typeface="Times New Roman" panose="02020603050405020304" pitchFamily="2" charset="0"/>
              <a:ea typeface="宋体" panose="02010600030101010101" pitchFamily="2" charset="-122"/>
            </a:endParaRPr>
          </a:p>
        </p:txBody>
      </p:sp>
      <p:graphicFrame>
        <p:nvGraphicFramePr>
          <p:cNvPr id="95236" name="Object 2"/>
          <p:cNvGraphicFramePr>
            <a:graphicFrameLocks noChangeAspect="1"/>
          </p:cNvGraphicFramePr>
          <p:nvPr/>
        </p:nvGraphicFramePr>
        <p:xfrm>
          <a:off x="4606925" y="0"/>
          <a:ext cx="4537075" cy="4292600"/>
        </p:xfrm>
        <a:graphic>
          <a:graphicData uri="http://schemas.openxmlformats.org/presentationml/2006/ole">
            <mc:AlternateContent xmlns:mc="http://schemas.openxmlformats.org/markup-compatibility/2006">
              <mc:Choice xmlns:v="urn:schemas-microsoft-com:vml" Requires="v">
                <p:oleObj spid="_x0000_s8203" r:id="rId3" imgW="5461000" imgH="3759200" progId="">
                  <p:embed/>
                </p:oleObj>
              </mc:Choice>
              <mc:Fallback>
                <p:oleObj r:id="rId3" imgW="5461000" imgH="3759200" progId="">
                  <p:embed/>
                  <p:pic>
                    <p:nvPicPr>
                      <p:cNvPr id="0" name="图片 3090"/>
                      <p:cNvPicPr/>
                      <p:nvPr/>
                    </p:nvPicPr>
                    <p:blipFill>
                      <a:blip r:embed="rId4"/>
                      <a:stretch>
                        <a:fillRect/>
                      </a:stretch>
                    </p:blipFill>
                    <p:spPr>
                      <a:xfrm>
                        <a:off x="4606925" y="0"/>
                        <a:ext cx="4537075" cy="4292600"/>
                      </a:xfrm>
                      <a:prstGeom prst="rect">
                        <a:avLst/>
                      </a:prstGeom>
                      <a:noFill/>
                      <a:ln w="38100">
                        <a:noFill/>
                        <a:miter/>
                      </a:ln>
                    </p:spPr>
                  </p:pic>
                </p:oleObj>
              </mc:Fallback>
            </mc:AlternateContent>
          </a:graphicData>
        </a:graphic>
      </p:graphicFrame>
      <p:sp>
        <p:nvSpPr>
          <p:cNvPr id="95237" name="Text Box 4"/>
          <p:cNvSpPr txBox="1"/>
          <p:nvPr/>
        </p:nvSpPr>
        <p:spPr>
          <a:xfrm>
            <a:off x="4716463" y="4154488"/>
            <a:ext cx="4464050" cy="2227262"/>
          </a:xfrm>
          <a:prstGeom prst="rect">
            <a:avLst/>
          </a:prstGeom>
          <a:noFill/>
          <a:ln w="9525">
            <a:noFill/>
          </a:ln>
        </p:spPr>
        <p:txBody>
          <a:bodyPr anchor="t">
            <a:spAutoFit/>
          </a:bodyPr>
          <a:lstStyle/>
          <a:p>
            <a:pPr lvl="0"/>
            <a:r>
              <a:rPr lang="en-US" altLang="x-none" sz="2800" b="1" dirty="0">
                <a:solidFill>
                  <a:schemeClr val="accent2"/>
                </a:solidFill>
                <a:latin typeface="Arial" panose="020B0604020202020204" pitchFamily="34" charset="0"/>
                <a:ea typeface="宋体" panose="02010600030101010101" pitchFamily="2" charset="-122"/>
              </a:rPr>
              <a:t>A does not functionally determine B. Some values of A correspond to more than one value of B.</a:t>
            </a:r>
          </a:p>
        </p:txBody>
      </p:sp>
      <p:sp>
        <p:nvSpPr>
          <p:cNvPr id="95238" name="Text Box 5"/>
          <p:cNvSpPr txBox="1"/>
          <p:nvPr/>
        </p:nvSpPr>
        <p:spPr>
          <a:xfrm>
            <a:off x="0" y="6281738"/>
            <a:ext cx="9144000" cy="603250"/>
          </a:xfrm>
          <a:prstGeom prst="rect">
            <a:avLst/>
          </a:prstGeom>
          <a:solidFill>
            <a:schemeClr val="bg1"/>
          </a:solidFill>
          <a:ln w="9525">
            <a:noFill/>
          </a:ln>
        </p:spPr>
        <p:txBody>
          <a:bodyPr lIns="0" tIns="118800" rIns="0" bIns="118800" anchor="t">
            <a:spAutoFit/>
          </a:bodyPr>
          <a:lstStyle/>
          <a:p>
            <a:pPr lvl="0" algn="ctr">
              <a:spcBef>
                <a:spcPct val="50000"/>
              </a:spcBef>
            </a:pPr>
            <a:r>
              <a:rPr lang="en-US" altLang="x-none" b="1" dirty="0">
                <a:latin typeface="Arial" panose="020B0604020202020204" pitchFamily="34" charset="0"/>
                <a:ea typeface="宋体" panose="02010600030101010101" pitchFamily="2" charset="-122"/>
              </a:rPr>
              <a:t>Figure 6.18  Graphical Depiction of Functional Dependency</a:t>
            </a:r>
          </a:p>
        </p:txBody>
      </p:sp>
      <p:graphicFrame>
        <p:nvGraphicFramePr>
          <p:cNvPr id="95239" name="Object 9"/>
          <p:cNvGraphicFramePr>
            <a:graphicFrameLocks noChangeAspect="1"/>
          </p:cNvGraphicFramePr>
          <p:nvPr/>
        </p:nvGraphicFramePr>
        <p:xfrm>
          <a:off x="0" y="0"/>
          <a:ext cx="4537075" cy="4292600"/>
        </p:xfrm>
        <a:graphic>
          <a:graphicData uri="http://schemas.openxmlformats.org/presentationml/2006/ole">
            <mc:AlternateContent xmlns:mc="http://schemas.openxmlformats.org/markup-compatibility/2006">
              <mc:Choice xmlns:v="urn:schemas-microsoft-com:vml" Requires="v">
                <p:oleObj spid="_x0000_s8204" r:id="rId5" imgW="5461000" imgH="3759200" progId="">
                  <p:embed/>
                </p:oleObj>
              </mc:Choice>
              <mc:Fallback>
                <p:oleObj r:id="rId5" imgW="5461000" imgH="3759200" progId="">
                  <p:embed/>
                  <p:pic>
                    <p:nvPicPr>
                      <p:cNvPr id="0" name="图片 3091"/>
                      <p:cNvPicPr/>
                      <p:nvPr/>
                    </p:nvPicPr>
                    <p:blipFill>
                      <a:blip r:embed="rId6"/>
                      <a:stretch>
                        <a:fillRect/>
                      </a:stretch>
                    </p:blipFill>
                    <p:spPr>
                      <a:xfrm>
                        <a:off x="0" y="0"/>
                        <a:ext cx="4537075" cy="4292600"/>
                      </a:xfrm>
                      <a:prstGeom prst="rect">
                        <a:avLst/>
                      </a:prstGeom>
                      <a:noFill/>
                      <a:ln w="38100">
                        <a:noFill/>
                        <a:miter/>
                      </a:ln>
                    </p:spPr>
                  </p:pic>
                </p:oleObj>
              </mc:Fallback>
            </mc:AlternateContent>
          </a:graphicData>
        </a:graphic>
      </p:graphicFrame>
      <p:sp>
        <p:nvSpPr>
          <p:cNvPr id="95240" name="Line 10"/>
          <p:cNvSpPr/>
          <p:nvPr/>
        </p:nvSpPr>
        <p:spPr>
          <a:xfrm flipV="1">
            <a:off x="4572000" y="2852738"/>
            <a:ext cx="0" cy="3313112"/>
          </a:xfrm>
          <a:prstGeom prst="line">
            <a:avLst/>
          </a:prstGeom>
          <a:ln w="9525"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95241" name="Text Box 11"/>
          <p:cNvSpPr txBox="1"/>
          <p:nvPr/>
        </p:nvSpPr>
        <p:spPr>
          <a:xfrm>
            <a:off x="34925" y="4149725"/>
            <a:ext cx="4464050" cy="1971675"/>
          </a:xfrm>
          <a:prstGeom prst="rect">
            <a:avLst/>
          </a:prstGeom>
          <a:noFill/>
          <a:ln w="9525">
            <a:noFill/>
          </a:ln>
        </p:spPr>
        <p:txBody>
          <a:bodyPr anchor="t">
            <a:spAutoFit/>
          </a:bodyPr>
          <a:lstStyle/>
          <a:p>
            <a:pPr lvl="0">
              <a:lnSpc>
                <a:spcPct val="110000"/>
              </a:lnSpc>
              <a:spcBef>
                <a:spcPct val="50000"/>
              </a:spcBef>
            </a:pPr>
            <a:r>
              <a:rPr lang="en-US" altLang="x-none" sz="2800" b="1" dirty="0">
                <a:solidFill>
                  <a:schemeClr val="accent2"/>
                </a:solidFill>
                <a:latin typeface="Arial" panose="020B0604020202020204" pitchFamily="34" charset="0"/>
                <a:ea typeface="宋体" panose="02010600030101010101" pitchFamily="2" charset="-122"/>
              </a:rPr>
              <a:t>A functionally determines B. Each value of A corresponds to only one value of B.</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日期占位符 1"/>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96258" name="页脚占位符 2"/>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96259" name="灯片编号占位符 3"/>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20</a:t>
            </a:fld>
            <a:endParaRPr lang="zh-CN" altLang="en-US" sz="1200" b="1" i="1" dirty="0">
              <a:latin typeface="Times New Roman" panose="02020603050405020304" pitchFamily="2" charset="0"/>
              <a:ea typeface="宋体" panose="02010600030101010101" pitchFamily="2" charset="-122"/>
            </a:endParaRPr>
          </a:p>
        </p:txBody>
      </p:sp>
      <p:sp>
        <p:nvSpPr>
          <p:cNvPr id="96262" name="Text Box 1030"/>
          <p:cNvSpPr txBox="1"/>
          <p:nvPr/>
        </p:nvSpPr>
        <p:spPr>
          <a:xfrm>
            <a:off x="0" y="3521393"/>
            <a:ext cx="9144000" cy="2646045"/>
          </a:xfrm>
          <a:prstGeom prst="rect">
            <a:avLst/>
          </a:prstGeom>
          <a:solidFill>
            <a:schemeClr val="bg1"/>
          </a:solidFill>
          <a:ln w="9525">
            <a:noFill/>
          </a:ln>
        </p:spPr>
        <p:txBody>
          <a:bodyPr anchor="b">
            <a:spAutoFit/>
          </a:bodyPr>
          <a:lstStyle/>
          <a:p>
            <a:pPr marL="357505" lvl="0" indent="-357505">
              <a:spcBef>
                <a:spcPct val="50000"/>
              </a:spcBef>
              <a:buFont typeface="Wingdings" panose="05000000000000000000" pitchFamily="2" charset="2"/>
              <a:buChar char="p"/>
            </a:pPr>
            <a:endParaRPr lang="zh-CN" altLang="en-US" b="1" dirty="0">
              <a:solidFill>
                <a:schemeClr val="accent2"/>
              </a:solidFill>
              <a:latin typeface="Arial" panose="020B0604020202020204" pitchFamily="34" charset="0"/>
              <a:ea typeface="宋体" panose="02010600030101010101" pitchFamily="2" charset="-122"/>
            </a:endParaRPr>
          </a:p>
          <a:p>
            <a:pPr marL="357505" lvl="0" indent="-357505">
              <a:spcBef>
                <a:spcPct val="50000"/>
              </a:spcBef>
              <a:buFont typeface="Wingdings" panose="05000000000000000000" pitchFamily="2" charset="2"/>
              <a:buChar char="p"/>
            </a:pPr>
            <a:endParaRPr lang="zh-CN" altLang="en-US" b="1" dirty="0">
              <a:solidFill>
                <a:schemeClr val="accent2"/>
              </a:solidFill>
              <a:latin typeface="Arial" panose="020B0604020202020204" pitchFamily="34" charset="0"/>
              <a:ea typeface="宋体" panose="02010600030101010101" pitchFamily="2" charset="-122"/>
            </a:endParaRPr>
          </a:p>
          <a:p>
            <a:pPr marL="357505" lvl="0" indent="-357505">
              <a:spcBef>
                <a:spcPct val="50000"/>
              </a:spcBef>
              <a:buFont typeface="Wingdings" panose="05000000000000000000" pitchFamily="2" charset="2"/>
              <a:buChar char="p"/>
            </a:pPr>
            <a:endParaRPr lang="zh-CN" altLang="en-US" b="1" dirty="0">
              <a:solidFill>
                <a:schemeClr val="accent2"/>
              </a:solidFill>
              <a:latin typeface="Arial" panose="020B0604020202020204" pitchFamily="34" charset="0"/>
              <a:ea typeface="宋体" panose="02010600030101010101" pitchFamily="2" charset="-122"/>
            </a:endParaRPr>
          </a:p>
          <a:p>
            <a:pPr marL="357505" lvl="0" indent="-357505">
              <a:spcBef>
                <a:spcPct val="50000"/>
              </a:spcBef>
              <a:buFont typeface="Wingdings" panose="05000000000000000000" pitchFamily="2" charset="2"/>
              <a:buChar char="p"/>
            </a:pPr>
            <a:r>
              <a:rPr lang="zh-CN" altLang="en-US" sz="2800" b="1" dirty="0">
                <a:solidFill>
                  <a:schemeClr val="accent2"/>
                </a:solidFill>
                <a:latin typeface="Arial" panose="020B0604020202020204" pitchFamily="34" charset="0"/>
                <a:ea typeface="宋体" panose="02010600030101010101" pitchFamily="2" charset="-122"/>
              </a:rPr>
              <a:t>我们借用前面的图</a:t>
            </a:r>
            <a:r>
              <a:rPr lang="en-US" altLang="x-none" sz="2800" b="1" dirty="0">
                <a:solidFill>
                  <a:schemeClr val="accent2"/>
                </a:solidFill>
                <a:latin typeface="Arial" panose="020B0604020202020204" pitchFamily="34" charset="0"/>
                <a:ea typeface="宋体" panose="02010600030101010101" pitchFamily="2" charset="-122"/>
              </a:rPr>
              <a:t>6.6</a:t>
            </a:r>
            <a:r>
              <a:rPr lang="zh-CN" altLang="en-US" sz="2800" b="1" dirty="0">
                <a:solidFill>
                  <a:schemeClr val="accent2"/>
                </a:solidFill>
                <a:latin typeface="Arial" panose="020B0604020202020204" pitchFamily="34" charset="0"/>
                <a:ea typeface="宋体" panose="02010600030101010101" pitchFamily="2" charset="-122"/>
              </a:rPr>
              <a:t>，假设这里的</a:t>
            </a:r>
            <a:r>
              <a:rPr lang="en-US" altLang="x-none" sz="2800" b="1" dirty="0">
                <a:solidFill>
                  <a:schemeClr val="accent2"/>
                </a:solidFill>
                <a:latin typeface="Arial" panose="020B0604020202020204" pitchFamily="34" charset="0"/>
                <a:ea typeface="宋体" panose="02010600030101010101" pitchFamily="2" charset="-122"/>
              </a:rPr>
              <a:t>E</a:t>
            </a:r>
            <a:r>
              <a:rPr lang="zh-CN" altLang="en-US" sz="2800" b="1" dirty="0">
                <a:solidFill>
                  <a:schemeClr val="accent2"/>
                </a:solidFill>
                <a:latin typeface="Arial" panose="020B0604020202020204" pitchFamily="34" charset="0"/>
                <a:ea typeface="宋体" panose="02010600030101010101" pitchFamily="2" charset="-122"/>
              </a:rPr>
              <a:t>和</a:t>
            </a:r>
            <a:r>
              <a:rPr lang="en-US" altLang="x-none" sz="2800" b="1" dirty="0">
                <a:solidFill>
                  <a:schemeClr val="accent2"/>
                </a:solidFill>
                <a:latin typeface="Arial" panose="020B0604020202020204" pitchFamily="34" charset="0"/>
                <a:ea typeface="宋体" panose="02010600030101010101" pitchFamily="2" charset="-122"/>
              </a:rPr>
              <a:t>F</a:t>
            </a:r>
            <a:r>
              <a:rPr lang="zh-CN" altLang="en-US" sz="2800" b="1" dirty="0">
                <a:solidFill>
                  <a:schemeClr val="accent2"/>
                </a:solidFill>
                <a:latin typeface="Arial" panose="020B0604020202020204" pitchFamily="34" charset="0"/>
                <a:ea typeface="宋体" panose="02010600030101010101" pitchFamily="2" charset="-122"/>
              </a:rPr>
              <a:t>为两个属性，连线表示：</a:t>
            </a:r>
            <a:r>
              <a:rPr lang="zh-CN" altLang="en-US" sz="2800" b="1" i="1" u="sng" dirty="0">
                <a:solidFill>
                  <a:schemeClr val="accent2"/>
                </a:solidFill>
                <a:latin typeface="Arial" panose="020B0604020202020204" pitchFamily="34" charset="0"/>
                <a:ea typeface="宋体" panose="02010600030101010101" pitchFamily="2" charset="-122"/>
              </a:rPr>
              <a:t>在关系</a:t>
            </a:r>
            <a:r>
              <a:rPr lang="en-US" altLang="x-none" sz="2800" b="1" i="1" u="sng" dirty="0">
                <a:solidFill>
                  <a:schemeClr val="accent2"/>
                </a:solidFill>
                <a:latin typeface="Arial" panose="020B0604020202020204" pitchFamily="34" charset="0"/>
                <a:ea typeface="宋体" panose="02010600030101010101" pitchFamily="2" charset="-122"/>
              </a:rPr>
              <a:t>R</a:t>
            </a:r>
            <a:r>
              <a:rPr lang="zh-CN" altLang="en-US" sz="2800" b="1" i="1" u="sng" dirty="0">
                <a:solidFill>
                  <a:schemeClr val="accent2"/>
                </a:solidFill>
                <a:latin typeface="Arial" panose="020B0604020202020204" pitchFamily="34" charset="0"/>
                <a:ea typeface="宋体" panose="02010600030101010101" pitchFamily="2" charset="-122"/>
              </a:rPr>
              <a:t>中，</a:t>
            </a:r>
            <a:r>
              <a:rPr lang="en-US" altLang="x-none" sz="2800" b="1" i="1" u="sng" dirty="0">
                <a:solidFill>
                  <a:schemeClr val="accent2"/>
                </a:solidFill>
                <a:latin typeface="Arial" panose="020B0604020202020204" pitchFamily="34" charset="0"/>
                <a:ea typeface="宋体" panose="02010600030101010101" pitchFamily="2" charset="-122"/>
              </a:rPr>
              <a:t>E</a:t>
            </a:r>
            <a:r>
              <a:rPr lang="zh-CN" altLang="en-US" sz="2800" b="1" i="1" u="sng" dirty="0">
                <a:solidFill>
                  <a:schemeClr val="accent2"/>
                </a:solidFill>
                <a:latin typeface="Arial" panose="020B0604020202020204" pitchFamily="34" charset="0"/>
                <a:ea typeface="宋体" panose="02010600030101010101" pitchFamily="2" charset="-122"/>
              </a:rPr>
              <a:t>和</a:t>
            </a:r>
            <a:r>
              <a:rPr lang="en-US" altLang="x-none" sz="2800" b="1" i="1" u="sng" dirty="0">
                <a:solidFill>
                  <a:schemeClr val="accent2"/>
                </a:solidFill>
                <a:latin typeface="Arial" panose="020B0604020202020204" pitchFamily="34" charset="0"/>
                <a:ea typeface="宋体" panose="02010600030101010101" pitchFamily="2" charset="-122"/>
              </a:rPr>
              <a:t>F</a:t>
            </a:r>
            <a:r>
              <a:rPr lang="zh-CN" altLang="en-US" sz="2800" b="1" i="1" u="sng" dirty="0">
                <a:solidFill>
                  <a:schemeClr val="accent2"/>
                </a:solidFill>
                <a:latin typeface="Arial" panose="020B0604020202020204" pitchFamily="34" charset="0"/>
                <a:ea typeface="宋体" panose="02010600030101010101" pitchFamily="2" charset="-122"/>
              </a:rPr>
              <a:t>之间的取值对应关系</a:t>
            </a:r>
            <a:endParaRPr lang="en-US" altLang="x-none" sz="2800" b="1" i="1" u="sng" dirty="0">
              <a:solidFill>
                <a:schemeClr val="accent2"/>
              </a:solidFill>
              <a:latin typeface="Arial" panose="020B0604020202020204" pitchFamily="34" charset="0"/>
              <a:ea typeface="宋体" panose="02010600030101010101" pitchFamily="2" charset="-122"/>
            </a:endParaRPr>
          </a:p>
        </p:txBody>
      </p:sp>
      <p:sp>
        <p:nvSpPr>
          <p:cNvPr id="96263" name="Text Box 1027"/>
          <p:cNvSpPr txBox="1"/>
          <p:nvPr/>
        </p:nvSpPr>
        <p:spPr>
          <a:xfrm>
            <a:off x="611188" y="3708028"/>
            <a:ext cx="1944687" cy="1168400"/>
          </a:xfrm>
          <a:prstGeom prst="rect">
            <a:avLst/>
          </a:prstGeom>
          <a:solidFill>
            <a:schemeClr val="bg1"/>
          </a:solidFill>
          <a:ln w="9525">
            <a:noFill/>
          </a:ln>
        </p:spPr>
        <p:txBody>
          <a:bodyPr anchor="t">
            <a:spAutoFit/>
          </a:bodyPr>
          <a:lstStyle/>
          <a:p>
            <a:pPr lvl="0" algn="ctr">
              <a:lnSpc>
                <a:spcPct val="100000"/>
              </a:lnSpc>
              <a:spcBef>
                <a:spcPct val="50000"/>
              </a:spcBef>
            </a:pPr>
            <a:r>
              <a:rPr lang="en-US" altLang="x-none" sz="2800" b="1" dirty="0">
                <a:solidFill>
                  <a:srgbClr val="FF0000"/>
                </a:solidFill>
                <a:latin typeface="Arial" panose="020B0604020202020204" pitchFamily="34" charset="0"/>
                <a:ea typeface="宋体" panose="02010600030101010101" pitchFamily="2" charset="-122"/>
              </a:rPr>
              <a:t>E → F</a:t>
            </a:r>
          </a:p>
          <a:p>
            <a:pPr lvl="0" algn="ctr">
              <a:lnSpc>
                <a:spcPct val="100000"/>
              </a:lnSpc>
              <a:spcBef>
                <a:spcPct val="50000"/>
              </a:spcBef>
            </a:pPr>
            <a:r>
              <a:rPr lang="en-US" altLang="x-none" sz="2800" b="1" dirty="0">
                <a:solidFill>
                  <a:srgbClr val="FF0000"/>
                </a:solidFill>
                <a:latin typeface="Arial" panose="020B0604020202020204" pitchFamily="34" charset="0"/>
                <a:ea typeface="宋体" panose="02010600030101010101" pitchFamily="2" charset="-122"/>
              </a:rPr>
              <a:t>F → E</a:t>
            </a:r>
          </a:p>
        </p:txBody>
      </p:sp>
      <p:sp>
        <p:nvSpPr>
          <p:cNvPr id="96264" name="Text Box 1028"/>
          <p:cNvSpPr txBox="1"/>
          <p:nvPr/>
        </p:nvSpPr>
        <p:spPr>
          <a:xfrm>
            <a:off x="3599815" y="3708028"/>
            <a:ext cx="1944688" cy="1168400"/>
          </a:xfrm>
          <a:prstGeom prst="rect">
            <a:avLst/>
          </a:prstGeom>
          <a:solidFill>
            <a:schemeClr val="bg1"/>
          </a:solidFill>
          <a:ln w="9525">
            <a:noFill/>
          </a:ln>
        </p:spPr>
        <p:txBody>
          <a:bodyPr anchor="t">
            <a:spAutoFit/>
          </a:bodyPr>
          <a:lstStyle/>
          <a:p>
            <a:pPr lvl="0" algn="ctr">
              <a:lnSpc>
                <a:spcPct val="100000"/>
              </a:lnSpc>
              <a:spcBef>
                <a:spcPct val="50000"/>
              </a:spcBef>
            </a:pPr>
            <a:endParaRPr lang="en-US" altLang="x-none" sz="2800" b="1" dirty="0">
              <a:solidFill>
                <a:srgbClr val="FF0000"/>
              </a:solidFill>
              <a:latin typeface="Arial" panose="020B0604020202020204" pitchFamily="34" charset="0"/>
              <a:ea typeface="宋体" panose="02010600030101010101" pitchFamily="2" charset="-122"/>
            </a:endParaRPr>
          </a:p>
          <a:p>
            <a:pPr lvl="0" algn="ctr">
              <a:lnSpc>
                <a:spcPct val="100000"/>
              </a:lnSpc>
              <a:spcBef>
                <a:spcPct val="50000"/>
              </a:spcBef>
            </a:pPr>
            <a:r>
              <a:rPr lang="en-US" altLang="x-none" sz="2800" b="1" dirty="0">
                <a:solidFill>
                  <a:srgbClr val="FF0000"/>
                </a:solidFill>
                <a:latin typeface="Arial" panose="020B0604020202020204" pitchFamily="34" charset="0"/>
                <a:ea typeface="宋体" panose="02010600030101010101" pitchFamily="2" charset="-122"/>
              </a:rPr>
              <a:t>F → E</a:t>
            </a:r>
          </a:p>
        </p:txBody>
      </p:sp>
      <p:sp>
        <p:nvSpPr>
          <p:cNvPr id="96265" name="Text Box 1029"/>
          <p:cNvSpPr txBox="1"/>
          <p:nvPr/>
        </p:nvSpPr>
        <p:spPr>
          <a:xfrm>
            <a:off x="6443663" y="3816028"/>
            <a:ext cx="1944687" cy="521970"/>
          </a:xfrm>
          <a:prstGeom prst="rect">
            <a:avLst/>
          </a:prstGeom>
          <a:solidFill>
            <a:schemeClr val="bg1"/>
          </a:solidFill>
          <a:ln w="9525">
            <a:noFill/>
          </a:ln>
        </p:spPr>
        <p:txBody>
          <a:bodyPr anchor="t">
            <a:spAutoFit/>
          </a:bodyPr>
          <a:lstStyle/>
          <a:p>
            <a:pPr lvl="0" algn="ctr">
              <a:spcBef>
                <a:spcPct val="50000"/>
              </a:spcBef>
            </a:pPr>
            <a:r>
              <a:rPr lang="en-US" altLang="x-none" sz="2800" b="1" dirty="0">
                <a:solidFill>
                  <a:srgbClr val="FF0000"/>
                </a:solidFill>
                <a:latin typeface="Arial" panose="020B0604020202020204" pitchFamily="34" charset="0"/>
                <a:ea typeface="宋体" panose="02010600030101010101" pitchFamily="2" charset="-122"/>
              </a:rPr>
              <a:t>(none)</a:t>
            </a:r>
          </a:p>
        </p:txBody>
      </p:sp>
      <p:sp>
        <p:nvSpPr>
          <p:cNvPr id="96266" name="Line 1031"/>
          <p:cNvSpPr/>
          <p:nvPr/>
        </p:nvSpPr>
        <p:spPr>
          <a:xfrm>
            <a:off x="3060065" y="333375"/>
            <a:ext cx="0" cy="4536034"/>
          </a:xfrm>
          <a:prstGeom prst="line">
            <a:avLst/>
          </a:prstGeom>
          <a:ln w="25400" cap="flat" cmpd="sng">
            <a:solidFill>
              <a:srgbClr val="000080"/>
            </a:solidFill>
            <a:prstDash val="sysDot"/>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96267" name="Line 1032"/>
          <p:cNvSpPr/>
          <p:nvPr/>
        </p:nvSpPr>
        <p:spPr>
          <a:xfrm>
            <a:off x="6156643" y="333375"/>
            <a:ext cx="0" cy="4536034"/>
          </a:xfrm>
          <a:prstGeom prst="line">
            <a:avLst/>
          </a:prstGeom>
          <a:ln w="25400" cap="flat" cmpd="sng">
            <a:solidFill>
              <a:srgbClr val="000080"/>
            </a:solidFill>
            <a:prstDash val="sysDot"/>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pic>
        <p:nvPicPr>
          <p:cNvPr id="49" name="内容占位符 48"/>
          <p:cNvPicPr preferRelativeResize="0"/>
          <p:nvPr/>
        </p:nvPicPr>
        <p:blipFill>
          <a:blip r:embed="rId2"/>
          <a:stretch>
            <a:fillRect/>
          </a:stretch>
        </p:blipFill>
        <p:spPr>
          <a:xfrm>
            <a:off x="158115" y="595630"/>
            <a:ext cx="2736020" cy="2700020"/>
          </a:xfrm>
          <a:prstGeom prst="rect">
            <a:avLst/>
          </a:prstGeom>
          <a:noFill/>
          <a:ln w="9525">
            <a:noFill/>
          </a:ln>
        </p:spPr>
      </p:pic>
      <p:pic>
        <p:nvPicPr>
          <p:cNvPr id="50" name="图片 49"/>
          <p:cNvPicPr preferRelativeResize="0"/>
          <p:nvPr/>
        </p:nvPicPr>
        <p:blipFill>
          <a:blip r:embed="rId3"/>
          <a:stretch>
            <a:fillRect/>
          </a:stretch>
        </p:blipFill>
        <p:spPr>
          <a:xfrm>
            <a:off x="3204210" y="595630"/>
            <a:ext cx="2736020" cy="2700020"/>
          </a:xfrm>
          <a:prstGeom prst="rect">
            <a:avLst/>
          </a:prstGeom>
        </p:spPr>
      </p:pic>
      <p:pic>
        <p:nvPicPr>
          <p:cNvPr id="51" name="图片 50"/>
          <p:cNvPicPr preferRelativeResize="0"/>
          <p:nvPr/>
        </p:nvPicPr>
        <p:blipFill>
          <a:blip r:embed="rId4"/>
          <a:stretch>
            <a:fillRect/>
          </a:stretch>
        </p:blipFill>
        <p:spPr>
          <a:xfrm>
            <a:off x="6334125" y="595630"/>
            <a:ext cx="2736020" cy="27000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6263"/>
                                        </p:tgtEl>
                                        <p:attrNameLst>
                                          <p:attrName>style.visibility</p:attrName>
                                        </p:attrNameLst>
                                      </p:cBhvr>
                                      <p:to>
                                        <p:strVal val="visible"/>
                                      </p:to>
                                    </p:set>
                                    <p:anim calcmode="lin" valueType="num">
                                      <p:cBhvr>
                                        <p:cTn id="7" dur="500" fill="hold"/>
                                        <p:tgtEl>
                                          <p:spTgt spid="96263"/>
                                        </p:tgtEl>
                                        <p:attrNameLst>
                                          <p:attrName>ppt_x</p:attrName>
                                        </p:attrNameLst>
                                      </p:cBhvr>
                                      <p:tavLst>
                                        <p:tav tm="0">
                                          <p:val>
                                            <p:strVal val="#ppt_x"/>
                                          </p:val>
                                        </p:tav>
                                        <p:tav tm="100000">
                                          <p:val>
                                            <p:strVal val="#ppt_x"/>
                                          </p:val>
                                        </p:tav>
                                      </p:tavLst>
                                    </p:anim>
                                    <p:anim calcmode="lin" valueType="num">
                                      <p:cBhvr>
                                        <p:cTn id="8" dur="500" fill="hold"/>
                                        <p:tgtEl>
                                          <p:spTgt spid="9626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6264"/>
                                        </p:tgtEl>
                                        <p:attrNameLst>
                                          <p:attrName>style.visibility</p:attrName>
                                        </p:attrNameLst>
                                      </p:cBhvr>
                                      <p:to>
                                        <p:strVal val="visible"/>
                                      </p:to>
                                    </p:set>
                                    <p:anim calcmode="lin" valueType="num">
                                      <p:cBhvr>
                                        <p:cTn id="13" dur="500" fill="hold"/>
                                        <p:tgtEl>
                                          <p:spTgt spid="96264"/>
                                        </p:tgtEl>
                                        <p:attrNameLst>
                                          <p:attrName>ppt_x</p:attrName>
                                        </p:attrNameLst>
                                      </p:cBhvr>
                                      <p:tavLst>
                                        <p:tav tm="0">
                                          <p:val>
                                            <p:strVal val="#ppt_x"/>
                                          </p:val>
                                        </p:tav>
                                        <p:tav tm="100000">
                                          <p:val>
                                            <p:strVal val="#ppt_x"/>
                                          </p:val>
                                        </p:tav>
                                      </p:tavLst>
                                    </p:anim>
                                    <p:anim calcmode="lin" valueType="num">
                                      <p:cBhvr>
                                        <p:cTn id="14" dur="500" fill="hold"/>
                                        <p:tgtEl>
                                          <p:spTgt spid="9626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6265"/>
                                        </p:tgtEl>
                                        <p:attrNameLst>
                                          <p:attrName>style.visibility</p:attrName>
                                        </p:attrNameLst>
                                      </p:cBhvr>
                                      <p:to>
                                        <p:strVal val="visible"/>
                                      </p:to>
                                    </p:set>
                                    <p:anim calcmode="lin" valueType="num">
                                      <p:cBhvr>
                                        <p:cTn id="19" dur="500" fill="hold"/>
                                        <p:tgtEl>
                                          <p:spTgt spid="96265"/>
                                        </p:tgtEl>
                                        <p:attrNameLst>
                                          <p:attrName>ppt_x</p:attrName>
                                        </p:attrNameLst>
                                      </p:cBhvr>
                                      <p:tavLst>
                                        <p:tav tm="0">
                                          <p:val>
                                            <p:strVal val="#ppt_x"/>
                                          </p:val>
                                        </p:tav>
                                        <p:tav tm="100000">
                                          <p:val>
                                            <p:strVal val="#ppt_x"/>
                                          </p:val>
                                        </p:tav>
                                      </p:tavLst>
                                    </p:anim>
                                    <p:anim calcmode="lin" valueType="num">
                                      <p:cBhvr>
                                        <p:cTn id="20" dur="500" fill="hold"/>
                                        <p:tgtEl>
                                          <p:spTgt spid="962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3" grpId="0" bldLvl="0" animBg="1"/>
      <p:bldP spid="96264" grpId="0" bldLvl="0" animBg="1"/>
      <p:bldP spid="96265"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灯片编号占位符 3"/>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21</a:t>
            </a:fld>
            <a:endParaRPr lang="zh-CN" altLang="en-US" sz="1200" b="1" i="1" dirty="0">
              <a:latin typeface="Times New Roman" panose="02020603050405020304" pitchFamily="2" charset="0"/>
              <a:ea typeface="宋体" panose="02010600030101010101" pitchFamily="2" charset="-122"/>
            </a:endParaRPr>
          </a:p>
        </p:txBody>
      </p:sp>
      <p:sp>
        <p:nvSpPr>
          <p:cNvPr id="102404" name="Line 34"/>
          <p:cNvSpPr/>
          <p:nvPr/>
        </p:nvSpPr>
        <p:spPr>
          <a:xfrm>
            <a:off x="2987675" y="0"/>
            <a:ext cx="0" cy="6858000"/>
          </a:xfrm>
          <a:prstGeom prst="line">
            <a:avLst/>
          </a:prstGeom>
          <a:ln w="38100" cap="flat" cmpd="sng">
            <a:solidFill>
              <a:schemeClr val="accent2"/>
            </a:solidFill>
            <a:prstDash val="dash"/>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2405" name="Line 35"/>
          <p:cNvSpPr/>
          <p:nvPr/>
        </p:nvSpPr>
        <p:spPr>
          <a:xfrm>
            <a:off x="6084888" y="-15875"/>
            <a:ext cx="0" cy="6846888"/>
          </a:xfrm>
          <a:prstGeom prst="line">
            <a:avLst/>
          </a:prstGeom>
          <a:ln w="38100" cap="flat" cmpd="sng">
            <a:solidFill>
              <a:schemeClr val="accent2"/>
            </a:solidFill>
            <a:prstDash val="dash"/>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grpSp>
        <p:nvGrpSpPr>
          <p:cNvPr id="102406" name="组合 102406"/>
          <p:cNvGrpSpPr/>
          <p:nvPr/>
        </p:nvGrpSpPr>
        <p:grpSpPr>
          <a:xfrm>
            <a:off x="0" y="188913"/>
            <a:ext cx="2843068" cy="6408737"/>
            <a:chOff x="0" y="0"/>
            <a:chExt cx="1791" cy="4037"/>
          </a:xfrm>
        </p:grpSpPr>
        <p:sp>
          <p:nvSpPr>
            <p:cNvPr id="102407" name="Text Box 4"/>
            <p:cNvSpPr txBox="1"/>
            <p:nvPr/>
          </p:nvSpPr>
          <p:spPr>
            <a:xfrm>
              <a:off x="340" y="3306"/>
              <a:ext cx="1008" cy="731"/>
            </a:xfrm>
            <a:prstGeom prst="rect">
              <a:avLst/>
            </a:prstGeom>
            <a:noFill/>
            <a:ln w="9525">
              <a:noFill/>
            </a:ln>
          </p:spPr>
          <p:txBody>
            <a:bodyPr anchor="t">
              <a:spAutoFit/>
            </a:bodyPr>
            <a:lstStyle/>
            <a:p>
              <a:pPr lvl="0" algn="ctr">
                <a:spcBef>
                  <a:spcPct val="50000"/>
                </a:spcBef>
              </a:pPr>
              <a:r>
                <a:rPr lang="en-US" altLang="x-none" sz="2800" b="1" dirty="0">
                  <a:solidFill>
                    <a:schemeClr val="accent2"/>
                  </a:solidFill>
                  <a:latin typeface="Arial" panose="020B0604020202020204" pitchFamily="34" charset="0"/>
                  <a:ea typeface="宋体" panose="02010600030101010101" pitchFamily="2" charset="-122"/>
                </a:rPr>
                <a:t>A → B</a:t>
              </a:r>
            </a:p>
            <a:p>
              <a:pPr lvl="0" algn="ctr">
                <a:spcBef>
                  <a:spcPct val="50000"/>
                </a:spcBef>
              </a:pPr>
              <a:r>
                <a:rPr lang="en-US" altLang="x-none" sz="2800" b="1" dirty="0">
                  <a:solidFill>
                    <a:schemeClr val="accent2"/>
                  </a:solidFill>
                  <a:latin typeface="Arial" panose="020B0604020202020204" pitchFamily="34" charset="0"/>
                  <a:ea typeface="宋体" panose="02010600030101010101" pitchFamily="2" charset="-122"/>
                </a:rPr>
                <a:t>B → A</a:t>
              </a:r>
            </a:p>
          </p:txBody>
        </p:sp>
        <p:grpSp>
          <p:nvGrpSpPr>
            <p:cNvPr id="102408" name="组合 102408"/>
            <p:cNvGrpSpPr/>
            <p:nvPr/>
          </p:nvGrpSpPr>
          <p:grpSpPr>
            <a:xfrm>
              <a:off x="0" y="363"/>
              <a:ext cx="1791" cy="2866"/>
              <a:chOff x="0" y="0"/>
              <a:chExt cx="2632" cy="2861"/>
            </a:xfrm>
          </p:grpSpPr>
          <p:sp>
            <p:nvSpPr>
              <p:cNvPr id="102409" name="Oval 6"/>
              <p:cNvSpPr/>
              <p:nvPr/>
            </p:nvSpPr>
            <p:spPr>
              <a:xfrm>
                <a:off x="0" y="398"/>
                <a:ext cx="842" cy="2463"/>
              </a:xfrm>
              <a:prstGeom prst="ellipse">
                <a:avLst/>
              </a:prstGeom>
              <a:noFill/>
              <a:ln w="25400" cap="flat" cmpd="sng">
                <a:solidFill>
                  <a:schemeClr val="tx1"/>
                </a:solidFill>
                <a:prstDash val="solid"/>
                <a:round/>
                <a:headEnd type="none" w="med" len="med"/>
                <a:tailEnd type="none" w="med" len="med"/>
              </a:ln>
            </p:spPr>
            <p:txBody>
              <a:bodyPr lIns="0" tIns="0" bIns="0" anchor="t">
                <a:spAutoFit/>
              </a:bodyPr>
              <a:lstStyle/>
              <a:p>
                <a:pPr lvl="0" algn="ctr">
                  <a:lnSpc>
                    <a:spcPct val="150000"/>
                  </a:lnSpc>
                  <a:spcBef>
                    <a:spcPct val="50000"/>
                  </a:spcBef>
                </a:pPr>
                <a:r>
                  <a:rPr lang="en-US" altLang="x-none" dirty="0">
                    <a:latin typeface="Arial" panose="020B0604020202020204" pitchFamily="34" charset="0"/>
                    <a:ea typeface="宋体" panose="02010600030101010101" pitchFamily="2" charset="-122"/>
                  </a:rPr>
                  <a:t>X</a:t>
                </a:r>
                <a:r>
                  <a:rPr lang="en-US" altLang="x-none" baseline="-25000" dirty="0">
                    <a:latin typeface="Arial" panose="020B0604020202020204" pitchFamily="34" charset="0"/>
                    <a:ea typeface="宋体" panose="02010600030101010101" pitchFamily="2" charset="-122"/>
                  </a:rPr>
                  <a:t>1</a:t>
                </a:r>
              </a:p>
              <a:p>
                <a:pPr lvl="0" algn="ctr">
                  <a:lnSpc>
                    <a:spcPct val="150000"/>
                  </a:lnSpc>
                  <a:spcBef>
                    <a:spcPct val="50000"/>
                  </a:spcBef>
                </a:pPr>
                <a:r>
                  <a:rPr lang="en-US" altLang="x-none" dirty="0">
                    <a:latin typeface="Arial" panose="020B0604020202020204" pitchFamily="34" charset="0"/>
                    <a:ea typeface="宋体" panose="02010600030101010101" pitchFamily="2" charset="-122"/>
                  </a:rPr>
                  <a:t>X</a:t>
                </a:r>
                <a:r>
                  <a:rPr lang="en-US" altLang="x-none" baseline="-25000" dirty="0">
                    <a:latin typeface="Arial" panose="020B0604020202020204" pitchFamily="34" charset="0"/>
                    <a:ea typeface="宋体" panose="02010600030101010101" pitchFamily="2" charset="-122"/>
                  </a:rPr>
                  <a:t>2</a:t>
                </a:r>
              </a:p>
              <a:p>
                <a:pPr lvl="0" algn="ctr">
                  <a:lnSpc>
                    <a:spcPct val="150000"/>
                  </a:lnSpc>
                  <a:spcBef>
                    <a:spcPct val="50000"/>
                  </a:spcBef>
                </a:pPr>
                <a:r>
                  <a:rPr lang="en-US" altLang="x-none" dirty="0">
                    <a:latin typeface="Arial" panose="020B0604020202020204" pitchFamily="34" charset="0"/>
                    <a:ea typeface="宋体" panose="02010600030101010101" pitchFamily="2" charset="-122"/>
                  </a:rPr>
                  <a:t>X</a:t>
                </a:r>
                <a:r>
                  <a:rPr lang="en-US" altLang="x-none" baseline="-25000" dirty="0">
                    <a:latin typeface="Arial" panose="020B0604020202020204" pitchFamily="34" charset="0"/>
                    <a:ea typeface="宋体" panose="02010600030101010101" pitchFamily="2" charset="-122"/>
                  </a:rPr>
                  <a:t>3</a:t>
                </a:r>
              </a:p>
              <a:p>
                <a:pPr lvl="0" algn="ctr">
                  <a:lnSpc>
                    <a:spcPct val="150000"/>
                  </a:lnSpc>
                  <a:spcBef>
                    <a:spcPct val="50000"/>
                  </a:spcBef>
                </a:pPr>
                <a:r>
                  <a:rPr lang="en-US" altLang="x-none" dirty="0">
                    <a:latin typeface="Arial" panose="020B0604020202020204" pitchFamily="34" charset="0"/>
                    <a:ea typeface="宋体" panose="02010600030101010101" pitchFamily="2" charset="-122"/>
                  </a:rPr>
                  <a:t>X</a:t>
                </a:r>
                <a:r>
                  <a:rPr lang="en-US" altLang="x-none" baseline="-25000" dirty="0">
                    <a:latin typeface="Arial" panose="020B0604020202020204" pitchFamily="34" charset="0"/>
                    <a:ea typeface="宋体" panose="02010600030101010101" pitchFamily="2" charset="-122"/>
                  </a:rPr>
                  <a:t>4</a:t>
                </a:r>
              </a:p>
            </p:txBody>
          </p:sp>
          <p:sp>
            <p:nvSpPr>
              <p:cNvPr id="102410" name="Text Box 7"/>
              <p:cNvSpPr txBox="1"/>
              <p:nvPr/>
            </p:nvSpPr>
            <p:spPr>
              <a:xfrm>
                <a:off x="72" y="0"/>
                <a:ext cx="726" cy="327"/>
              </a:xfrm>
              <a:prstGeom prst="rect">
                <a:avLst/>
              </a:prstGeom>
              <a:noFill/>
              <a:ln w="9525">
                <a:noFill/>
              </a:ln>
            </p:spPr>
            <p:txBody>
              <a:bodyPr anchor="t">
                <a:spAutoFit/>
              </a:bodyPr>
              <a:lstStyle/>
              <a:p>
                <a:pPr lvl="0" algn="ctr">
                  <a:spcBef>
                    <a:spcPct val="50000"/>
                  </a:spcBef>
                </a:pPr>
                <a:r>
                  <a:rPr lang="en-US" altLang="x-none" sz="2800" b="1" dirty="0">
                    <a:solidFill>
                      <a:srgbClr val="FF0000"/>
                    </a:solidFill>
                    <a:latin typeface="Arial" panose="020B0604020202020204" pitchFamily="34" charset="0"/>
                    <a:ea typeface="宋体" panose="02010600030101010101" pitchFamily="2" charset="-122"/>
                  </a:rPr>
                  <a:t>A</a:t>
                </a:r>
              </a:p>
            </p:txBody>
          </p:sp>
          <p:sp>
            <p:nvSpPr>
              <p:cNvPr id="102411" name="Oval 8"/>
              <p:cNvSpPr/>
              <p:nvPr/>
            </p:nvSpPr>
            <p:spPr>
              <a:xfrm>
                <a:off x="1790" y="398"/>
                <a:ext cx="842" cy="2463"/>
              </a:xfrm>
              <a:prstGeom prst="ellipse">
                <a:avLst/>
              </a:prstGeom>
              <a:noFill/>
              <a:ln w="25400" cap="flat" cmpd="sng">
                <a:solidFill>
                  <a:schemeClr val="tx1"/>
                </a:solidFill>
                <a:prstDash val="solid"/>
                <a:round/>
                <a:headEnd type="none" w="med" len="med"/>
                <a:tailEnd type="none" w="med" len="med"/>
              </a:ln>
            </p:spPr>
            <p:txBody>
              <a:bodyPr tIns="0" rIns="0" bIns="0" anchor="t">
                <a:spAutoFit/>
              </a:bodyPr>
              <a:lstStyle/>
              <a:p>
                <a:pPr lvl="0" algn="ctr">
                  <a:lnSpc>
                    <a:spcPct val="150000"/>
                  </a:lnSpc>
                  <a:spcBef>
                    <a:spcPct val="50000"/>
                  </a:spcBef>
                </a:pPr>
                <a:r>
                  <a:rPr lang="en-US" altLang="x-none" dirty="0">
                    <a:latin typeface="Arial" panose="020B0604020202020204" pitchFamily="34" charset="0"/>
                    <a:ea typeface="宋体" panose="02010600030101010101" pitchFamily="2" charset="-122"/>
                  </a:rPr>
                  <a:t>Y</a:t>
                </a:r>
                <a:r>
                  <a:rPr lang="en-US" altLang="x-none" baseline="-25000" dirty="0">
                    <a:latin typeface="Arial" panose="020B0604020202020204" pitchFamily="34" charset="0"/>
                    <a:ea typeface="宋体" panose="02010600030101010101" pitchFamily="2" charset="-122"/>
                  </a:rPr>
                  <a:t>1</a:t>
                </a:r>
              </a:p>
              <a:p>
                <a:pPr lvl="0" algn="ctr">
                  <a:lnSpc>
                    <a:spcPct val="150000"/>
                  </a:lnSpc>
                  <a:spcBef>
                    <a:spcPct val="50000"/>
                  </a:spcBef>
                </a:pPr>
                <a:r>
                  <a:rPr lang="en-US" altLang="x-none" dirty="0">
                    <a:latin typeface="Arial" panose="020B0604020202020204" pitchFamily="34" charset="0"/>
                    <a:ea typeface="宋体" panose="02010600030101010101" pitchFamily="2" charset="-122"/>
                  </a:rPr>
                  <a:t>Y</a:t>
                </a:r>
                <a:r>
                  <a:rPr lang="en-US" altLang="x-none" baseline="-25000" dirty="0">
                    <a:latin typeface="Arial" panose="020B0604020202020204" pitchFamily="34" charset="0"/>
                    <a:ea typeface="宋体" panose="02010600030101010101" pitchFamily="2" charset="-122"/>
                  </a:rPr>
                  <a:t>2</a:t>
                </a:r>
              </a:p>
              <a:p>
                <a:pPr lvl="0" algn="ctr">
                  <a:lnSpc>
                    <a:spcPct val="150000"/>
                  </a:lnSpc>
                  <a:spcBef>
                    <a:spcPct val="50000"/>
                  </a:spcBef>
                </a:pPr>
                <a:r>
                  <a:rPr lang="en-US" altLang="x-none" dirty="0">
                    <a:latin typeface="Arial" panose="020B0604020202020204" pitchFamily="34" charset="0"/>
                    <a:ea typeface="宋体" panose="02010600030101010101" pitchFamily="2" charset="-122"/>
                  </a:rPr>
                  <a:t>Y</a:t>
                </a:r>
                <a:r>
                  <a:rPr lang="en-US" altLang="x-none" baseline="-25000" dirty="0">
                    <a:latin typeface="Arial" panose="020B0604020202020204" pitchFamily="34" charset="0"/>
                    <a:ea typeface="宋体" panose="02010600030101010101" pitchFamily="2" charset="-122"/>
                  </a:rPr>
                  <a:t>3</a:t>
                </a:r>
              </a:p>
              <a:p>
                <a:pPr lvl="0" algn="ctr">
                  <a:lnSpc>
                    <a:spcPct val="150000"/>
                  </a:lnSpc>
                  <a:spcBef>
                    <a:spcPct val="50000"/>
                  </a:spcBef>
                </a:pPr>
                <a:r>
                  <a:rPr lang="en-US" altLang="x-none" dirty="0">
                    <a:latin typeface="Arial" panose="020B0604020202020204" pitchFamily="34" charset="0"/>
                    <a:ea typeface="宋体" panose="02010600030101010101" pitchFamily="2" charset="-122"/>
                  </a:rPr>
                  <a:t>Y</a:t>
                </a:r>
                <a:r>
                  <a:rPr lang="en-US" altLang="x-none" baseline="-25000" dirty="0">
                    <a:latin typeface="Arial" panose="020B0604020202020204" pitchFamily="34" charset="0"/>
                    <a:ea typeface="宋体" panose="02010600030101010101" pitchFamily="2" charset="-122"/>
                  </a:rPr>
                  <a:t>4</a:t>
                </a:r>
              </a:p>
            </p:txBody>
          </p:sp>
          <p:sp>
            <p:nvSpPr>
              <p:cNvPr id="102412" name="Text Box 9"/>
              <p:cNvSpPr txBox="1"/>
              <p:nvPr/>
            </p:nvSpPr>
            <p:spPr>
              <a:xfrm>
                <a:off x="1796" y="0"/>
                <a:ext cx="726" cy="327"/>
              </a:xfrm>
              <a:prstGeom prst="rect">
                <a:avLst/>
              </a:prstGeom>
              <a:noFill/>
              <a:ln w="9525">
                <a:noFill/>
              </a:ln>
            </p:spPr>
            <p:txBody>
              <a:bodyPr anchor="t">
                <a:spAutoFit/>
              </a:bodyPr>
              <a:lstStyle/>
              <a:p>
                <a:pPr lvl="0" algn="ctr">
                  <a:spcBef>
                    <a:spcPct val="50000"/>
                  </a:spcBef>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102413" name="Line 10"/>
              <p:cNvSpPr/>
              <p:nvPr/>
            </p:nvSpPr>
            <p:spPr>
              <a:xfrm>
                <a:off x="617" y="998"/>
                <a:ext cx="1406" cy="0"/>
              </a:xfrm>
              <a:prstGeom prst="line">
                <a:avLst/>
              </a:prstGeom>
              <a:ln w="25400" cap="flat" cmpd="sng">
                <a:solidFill>
                  <a:schemeClr val="tx1"/>
                </a:solidFill>
                <a:prstDash val="solid"/>
                <a:round/>
                <a:headEnd type="oval" w="med" len="med"/>
                <a:tailEnd type="oval"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2414" name="Line 11"/>
              <p:cNvSpPr/>
              <p:nvPr/>
            </p:nvSpPr>
            <p:spPr>
              <a:xfrm>
                <a:off x="617" y="1452"/>
                <a:ext cx="1406" cy="861"/>
              </a:xfrm>
              <a:prstGeom prst="line">
                <a:avLst/>
              </a:prstGeom>
              <a:ln w="25400" cap="flat" cmpd="sng">
                <a:solidFill>
                  <a:srgbClr val="008000"/>
                </a:solidFill>
                <a:prstDash val="solid"/>
                <a:round/>
                <a:headEnd type="oval" w="med" len="med"/>
                <a:tailEnd type="oval"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2415" name="Line 12"/>
              <p:cNvSpPr/>
              <p:nvPr/>
            </p:nvSpPr>
            <p:spPr>
              <a:xfrm flipV="1">
                <a:off x="617" y="1406"/>
                <a:ext cx="1360" cy="453"/>
              </a:xfrm>
              <a:prstGeom prst="line">
                <a:avLst/>
              </a:prstGeom>
              <a:ln w="25400" cap="flat" cmpd="sng">
                <a:solidFill>
                  <a:srgbClr val="800080"/>
                </a:solidFill>
                <a:prstDash val="solid"/>
                <a:round/>
                <a:headEnd type="oval" w="med" len="med"/>
                <a:tailEnd type="oval"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2416" name="Line 13"/>
              <p:cNvSpPr/>
              <p:nvPr/>
            </p:nvSpPr>
            <p:spPr>
              <a:xfrm flipV="1">
                <a:off x="617" y="1905"/>
                <a:ext cx="1360" cy="453"/>
              </a:xfrm>
              <a:prstGeom prst="line">
                <a:avLst/>
              </a:prstGeom>
              <a:ln w="25400" cap="flat" cmpd="sng">
                <a:solidFill>
                  <a:srgbClr val="FF0000"/>
                </a:solidFill>
                <a:prstDash val="solid"/>
                <a:round/>
                <a:headEnd type="oval" w="med" len="med"/>
                <a:tailEnd type="oval"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grpSp>
        <p:sp>
          <p:nvSpPr>
            <p:cNvPr id="102417" name="Text Box 36"/>
            <p:cNvSpPr txBox="1"/>
            <p:nvPr/>
          </p:nvSpPr>
          <p:spPr>
            <a:xfrm>
              <a:off x="158" y="0"/>
              <a:ext cx="1543" cy="327"/>
            </a:xfrm>
            <a:prstGeom prst="rect">
              <a:avLst/>
            </a:prstGeom>
            <a:noFill/>
            <a:ln w="9525">
              <a:noFill/>
            </a:ln>
          </p:spPr>
          <p:txBody>
            <a:bodyPr anchor="t">
              <a:spAutoFit/>
            </a:bodyPr>
            <a:lstStyle/>
            <a:p>
              <a:pPr lvl="0" algn="ctr">
                <a:spcBef>
                  <a:spcPct val="50000"/>
                </a:spcBef>
              </a:pPr>
              <a:r>
                <a:rPr lang="zh-CN" altLang="en-US" sz="2800" dirty="0">
                  <a:latin typeface="黑体" panose="02010609060101010101" pitchFamily="1" charset="-122"/>
                  <a:ea typeface="黑体" panose="02010609060101010101" pitchFamily="1" charset="-122"/>
                </a:rPr>
                <a:t>（一对一）</a:t>
              </a:r>
            </a:p>
          </p:txBody>
        </p:sp>
      </p:grpSp>
      <p:grpSp>
        <p:nvGrpSpPr>
          <p:cNvPr id="102419" name="组合 102418"/>
          <p:cNvGrpSpPr/>
          <p:nvPr/>
        </p:nvGrpSpPr>
        <p:grpSpPr>
          <a:xfrm>
            <a:off x="3203575" y="188913"/>
            <a:ext cx="2735263" cy="5775325"/>
            <a:chOff x="0" y="0"/>
            <a:chExt cx="1723" cy="3638"/>
          </a:xfrm>
        </p:grpSpPr>
        <p:sp>
          <p:nvSpPr>
            <p:cNvPr id="2" name="Text Box 14"/>
            <p:cNvSpPr txBox="1"/>
            <p:nvPr/>
          </p:nvSpPr>
          <p:spPr>
            <a:xfrm>
              <a:off x="318" y="3311"/>
              <a:ext cx="1008" cy="327"/>
            </a:xfrm>
            <a:prstGeom prst="rect">
              <a:avLst/>
            </a:prstGeom>
            <a:noFill/>
            <a:ln w="9525">
              <a:noFill/>
            </a:ln>
          </p:spPr>
          <p:txBody>
            <a:bodyPr anchor="t">
              <a:spAutoFit/>
            </a:bodyPr>
            <a:lstStyle/>
            <a:p>
              <a:pPr lvl="0" algn="ctr">
                <a:spcBef>
                  <a:spcPct val="50000"/>
                </a:spcBef>
              </a:pPr>
              <a:r>
                <a:rPr lang="en-US" altLang="x-none" sz="2800" b="1" dirty="0">
                  <a:solidFill>
                    <a:schemeClr val="accent2"/>
                  </a:solidFill>
                  <a:latin typeface="Arial" panose="020B0604020202020204" pitchFamily="34" charset="0"/>
                  <a:ea typeface="宋体" panose="02010600030101010101" pitchFamily="2" charset="-122"/>
                </a:rPr>
                <a:t>B → A</a:t>
              </a:r>
            </a:p>
          </p:txBody>
        </p:sp>
        <p:grpSp>
          <p:nvGrpSpPr>
            <p:cNvPr id="102420" name="组合 102420"/>
            <p:cNvGrpSpPr/>
            <p:nvPr/>
          </p:nvGrpSpPr>
          <p:grpSpPr>
            <a:xfrm>
              <a:off x="0" y="363"/>
              <a:ext cx="1723" cy="2864"/>
              <a:chOff x="0" y="0"/>
              <a:chExt cx="2567" cy="2864"/>
            </a:xfrm>
          </p:grpSpPr>
          <p:sp>
            <p:nvSpPr>
              <p:cNvPr id="102421" name="Oval 16"/>
              <p:cNvSpPr/>
              <p:nvPr/>
            </p:nvSpPr>
            <p:spPr>
              <a:xfrm>
                <a:off x="0" y="397"/>
                <a:ext cx="843" cy="2467"/>
              </a:xfrm>
              <a:prstGeom prst="ellipse">
                <a:avLst/>
              </a:prstGeom>
              <a:noFill/>
              <a:ln w="25400" cap="flat" cmpd="sng">
                <a:solidFill>
                  <a:schemeClr val="tx1"/>
                </a:solidFill>
                <a:prstDash val="solid"/>
                <a:round/>
                <a:headEnd type="none" w="med" len="med"/>
                <a:tailEnd type="none" w="med" len="med"/>
              </a:ln>
            </p:spPr>
            <p:txBody>
              <a:bodyPr lIns="0" tIns="0" bIns="0" anchor="t">
                <a:spAutoFit/>
              </a:bodyPr>
              <a:lstStyle/>
              <a:p>
                <a:pPr lvl="0" algn="ctr">
                  <a:lnSpc>
                    <a:spcPct val="150000"/>
                  </a:lnSpc>
                  <a:spcBef>
                    <a:spcPct val="50000"/>
                  </a:spcBef>
                </a:pPr>
                <a:r>
                  <a:rPr lang="en-US" altLang="x-none" dirty="0">
                    <a:latin typeface="Arial" panose="020B0604020202020204" pitchFamily="34" charset="0"/>
                    <a:ea typeface="宋体" panose="02010600030101010101" pitchFamily="2" charset="-122"/>
                  </a:rPr>
                  <a:t>X</a:t>
                </a:r>
                <a:r>
                  <a:rPr lang="en-US" altLang="x-none" baseline="-25000" dirty="0">
                    <a:latin typeface="Arial" panose="020B0604020202020204" pitchFamily="34" charset="0"/>
                    <a:ea typeface="宋体" panose="02010600030101010101" pitchFamily="2" charset="-122"/>
                  </a:rPr>
                  <a:t>1</a:t>
                </a:r>
              </a:p>
              <a:p>
                <a:pPr lvl="0" algn="ctr">
                  <a:lnSpc>
                    <a:spcPct val="150000"/>
                  </a:lnSpc>
                  <a:spcBef>
                    <a:spcPct val="50000"/>
                  </a:spcBef>
                </a:pPr>
                <a:r>
                  <a:rPr lang="en-US" altLang="x-none" dirty="0">
                    <a:latin typeface="Arial" panose="020B0604020202020204" pitchFamily="34" charset="0"/>
                    <a:ea typeface="宋体" panose="02010600030101010101" pitchFamily="2" charset="-122"/>
                  </a:rPr>
                  <a:t>X</a:t>
                </a:r>
                <a:r>
                  <a:rPr lang="en-US" altLang="x-none" baseline="-25000" dirty="0">
                    <a:latin typeface="Arial" panose="020B0604020202020204" pitchFamily="34" charset="0"/>
                    <a:ea typeface="宋体" panose="02010600030101010101" pitchFamily="2" charset="-122"/>
                  </a:rPr>
                  <a:t>2</a:t>
                </a:r>
              </a:p>
              <a:p>
                <a:pPr lvl="0" algn="ctr">
                  <a:lnSpc>
                    <a:spcPct val="150000"/>
                  </a:lnSpc>
                  <a:spcBef>
                    <a:spcPct val="50000"/>
                  </a:spcBef>
                </a:pPr>
                <a:r>
                  <a:rPr lang="en-US" altLang="x-none" dirty="0">
                    <a:latin typeface="Arial" panose="020B0604020202020204" pitchFamily="34" charset="0"/>
                    <a:ea typeface="宋体" panose="02010600030101010101" pitchFamily="2" charset="-122"/>
                  </a:rPr>
                  <a:t>X</a:t>
                </a:r>
                <a:r>
                  <a:rPr lang="en-US" altLang="x-none" baseline="-25000" dirty="0">
                    <a:latin typeface="Arial" panose="020B0604020202020204" pitchFamily="34" charset="0"/>
                    <a:ea typeface="宋体" panose="02010600030101010101" pitchFamily="2" charset="-122"/>
                  </a:rPr>
                  <a:t>3</a:t>
                </a:r>
              </a:p>
              <a:p>
                <a:pPr lvl="0" algn="ctr">
                  <a:lnSpc>
                    <a:spcPct val="150000"/>
                  </a:lnSpc>
                  <a:spcBef>
                    <a:spcPct val="50000"/>
                  </a:spcBef>
                </a:pPr>
                <a:endParaRPr lang="en-US" altLang="x-none" dirty="0">
                  <a:latin typeface="Arial" panose="020B0604020202020204" pitchFamily="34" charset="0"/>
                  <a:ea typeface="宋体" panose="02010600030101010101" pitchFamily="2" charset="-122"/>
                </a:endParaRPr>
              </a:p>
            </p:txBody>
          </p:sp>
          <p:sp>
            <p:nvSpPr>
              <p:cNvPr id="102422" name="Text Box 17"/>
              <p:cNvSpPr txBox="1"/>
              <p:nvPr/>
            </p:nvSpPr>
            <p:spPr>
              <a:xfrm>
                <a:off x="72" y="0"/>
                <a:ext cx="726" cy="327"/>
              </a:xfrm>
              <a:prstGeom prst="rect">
                <a:avLst/>
              </a:prstGeom>
              <a:noFill/>
              <a:ln w="9525">
                <a:noFill/>
              </a:ln>
            </p:spPr>
            <p:txBody>
              <a:bodyPr anchor="t">
                <a:spAutoFit/>
              </a:bodyPr>
              <a:lstStyle/>
              <a:p>
                <a:pPr lvl="0" algn="ctr">
                  <a:spcBef>
                    <a:spcPct val="50000"/>
                  </a:spcBef>
                </a:pPr>
                <a:r>
                  <a:rPr lang="en-US" altLang="x-none" sz="2800" b="1" dirty="0">
                    <a:solidFill>
                      <a:srgbClr val="FF0000"/>
                    </a:solidFill>
                    <a:latin typeface="Arial" panose="020B0604020202020204" pitchFamily="34" charset="0"/>
                    <a:ea typeface="宋体" panose="02010600030101010101" pitchFamily="2" charset="-122"/>
                  </a:rPr>
                  <a:t>A</a:t>
                </a:r>
              </a:p>
            </p:txBody>
          </p:sp>
          <p:sp>
            <p:nvSpPr>
              <p:cNvPr id="102423" name="Oval 18"/>
              <p:cNvSpPr/>
              <p:nvPr/>
            </p:nvSpPr>
            <p:spPr>
              <a:xfrm>
                <a:off x="1724" y="397"/>
                <a:ext cx="843" cy="2467"/>
              </a:xfrm>
              <a:prstGeom prst="ellipse">
                <a:avLst/>
              </a:prstGeom>
              <a:noFill/>
              <a:ln w="25400" cap="flat" cmpd="sng">
                <a:solidFill>
                  <a:schemeClr val="tx1"/>
                </a:solidFill>
                <a:prstDash val="solid"/>
                <a:round/>
                <a:headEnd type="none" w="med" len="med"/>
                <a:tailEnd type="none" w="med" len="med"/>
              </a:ln>
            </p:spPr>
            <p:txBody>
              <a:bodyPr lIns="144145" tIns="0" rIns="0" bIns="0" anchor="t">
                <a:spAutoFit/>
              </a:bodyPr>
              <a:lstStyle/>
              <a:p>
                <a:pPr lvl="0" algn="ctr">
                  <a:lnSpc>
                    <a:spcPct val="150000"/>
                  </a:lnSpc>
                  <a:spcBef>
                    <a:spcPct val="50000"/>
                  </a:spcBef>
                </a:pPr>
                <a:r>
                  <a:rPr lang="en-US" altLang="x-none" dirty="0">
                    <a:latin typeface="Arial" panose="020B0604020202020204" pitchFamily="34" charset="0"/>
                    <a:ea typeface="宋体" panose="02010600030101010101" pitchFamily="2" charset="-122"/>
                  </a:rPr>
                  <a:t>Y</a:t>
                </a:r>
                <a:r>
                  <a:rPr lang="en-US" altLang="x-none" baseline="-25000" dirty="0">
                    <a:latin typeface="Arial" panose="020B0604020202020204" pitchFamily="34" charset="0"/>
                    <a:ea typeface="宋体" panose="02010600030101010101" pitchFamily="2" charset="-122"/>
                  </a:rPr>
                  <a:t>1</a:t>
                </a:r>
              </a:p>
              <a:p>
                <a:pPr lvl="0" algn="ctr">
                  <a:lnSpc>
                    <a:spcPct val="150000"/>
                  </a:lnSpc>
                  <a:spcBef>
                    <a:spcPct val="50000"/>
                  </a:spcBef>
                </a:pPr>
                <a:r>
                  <a:rPr lang="en-US" altLang="x-none" dirty="0">
                    <a:latin typeface="Arial" panose="020B0604020202020204" pitchFamily="34" charset="0"/>
                    <a:ea typeface="宋体" panose="02010600030101010101" pitchFamily="2" charset="-122"/>
                  </a:rPr>
                  <a:t>Y</a:t>
                </a:r>
                <a:r>
                  <a:rPr lang="en-US" altLang="x-none" baseline="-25000" dirty="0">
                    <a:latin typeface="Arial" panose="020B0604020202020204" pitchFamily="34" charset="0"/>
                    <a:ea typeface="宋体" panose="02010600030101010101" pitchFamily="2" charset="-122"/>
                  </a:rPr>
                  <a:t>2</a:t>
                </a:r>
              </a:p>
              <a:p>
                <a:pPr lvl="0" algn="ctr">
                  <a:lnSpc>
                    <a:spcPct val="150000"/>
                  </a:lnSpc>
                  <a:spcBef>
                    <a:spcPct val="50000"/>
                  </a:spcBef>
                </a:pPr>
                <a:r>
                  <a:rPr lang="en-US" altLang="x-none" dirty="0">
                    <a:latin typeface="Arial" panose="020B0604020202020204" pitchFamily="34" charset="0"/>
                    <a:ea typeface="宋体" panose="02010600030101010101" pitchFamily="2" charset="-122"/>
                  </a:rPr>
                  <a:t>Y</a:t>
                </a:r>
                <a:r>
                  <a:rPr lang="en-US" altLang="x-none" baseline="-25000" dirty="0">
                    <a:latin typeface="Arial" panose="020B0604020202020204" pitchFamily="34" charset="0"/>
                    <a:ea typeface="宋体" panose="02010600030101010101" pitchFamily="2" charset="-122"/>
                  </a:rPr>
                  <a:t>3</a:t>
                </a:r>
              </a:p>
              <a:p>
                <a:pPr lvl="0" algn="ctr">
                  <a:lnSpc>
                    <a:spcPct val="150000"/>
                  </a:lnSpc>
                  <a:spcBef>
                    <a:spcPct val="50000"/>
                  </a:spcBef>
                </a:pPr>
                <a:r>
                  <a:rPr lang="en-US" altLang="x-none" dirty="0">
                    <a:latin typeface="Arial" panose="020B0604020202020204" pitchFamily="34" charset="0"/>
                    <a:ea typeface="宋体" panose="02010600030101010101" pitchFamily="2" charset="-122"/>
                  </a:rPr>
                  <a:t>Y</a:t>
                </a:r>
                <a:r>
                  <a:rPr lang="en-US" altLang="x-none" baseline="-25000" dirty="0">
                    <a:latin typeface="Arial" panose="020B0604020202020204" pitchFamily="34" charset="0"/>
                    <a:ea typeface="宋体" panose="02010600030101010101" pitchFamily="2" charset="-122"/>
                  </a:rPr>
                  <a:t>4</a:t>
                </a:r>
              </a:p>
            </p:txBody>
          </p:sp>
          <p:sp>
            <p:nvSpPr>
              <p:cNvPr id="102424" name="Text Box 19"/>
              <p:cNvSpPr txBox="1"/>
              <p:nvPr/>
            </p:nvSpPr>
            <p:spPr>
              <a:xfrm>
                <a:off x="1796" y="0"/>
                <a:ext cx="726" cy="327"/>
              </a:xfrm>
              <a:prstGeom prst="rect">
                <a:avLst/>
              </a:prstGeom>
              <a:noFill/>
              <a:ln w="9525">
                <a:noFill/>
              </a:ln>
            </p:spPr>
            <p:txBody>
              <a:bodyPr anchor="t">
                <a:spAutoFit/>
              </a:bodyPr>
              <a:lstStyle/>
              <a:p>
                <a:pPr lvl="0" algn="ctr">
                  <a:spcBef>
                    <a:spcPct val="50000"/>
                  </a:spcBef>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102425" name="Line 20"/>
              <p:cNvSpPr/>
              <p:nvPr/>
            </p:nvSpPr>
            <p:spPr>
              <a:xfrm>
                <a:off x="617" y="998"/>
                <a:ext cx="1406" cy="0"/>
              </a:xfrm>
              <a:prstGeom prst="line">
                <a:avLst/>
              </a:prstGeom>
              <a:ln w="25400" cap="flat" cmpd="sng">
                <a:solidFill>
                  <a:schemeClr val="tx1"/>
                </a:solidFill>
                <a:prstDash val="solid"/>
                <a:round/>
                <a:headEnd type="oval" w="med" len="med"/>
                <a:tailEnd type="oval"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2426" name="Line 21"/>
              <p:cNvSpPr/>
              <p:nvPr/>
            </p:nvSpPr>
            <p:spPr>
              <a:xfrm>
                <a:off x="617" y="1452"/>
                <a:ext cx="1360" cy="453"/>
              </a:xfrm>
              <a:prstGeom prst="line">
                <a:avLst/>
              </a:prstGeom>
              <a:ln w="25400" cap="flat" cmpd="sng">
                <a:solidFill>
                  <a:srgbClr val="FF0000"/>
                </a:solidFill>
                <a:prstDash val="solid"/>
                <a:round/>
                <a:headEnd type="oval" w="med" len="med"/>
                <a:tailEnd type="oval"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2427" name="Line 22"/>
              <p:cNvSpPr/>
              <p:nvPr/>
            </p:nvSpPr>
            <p:spPr>
              <a:xfrm flipV="1">
                <a:off x="617" y="1406"/>
                <a:ext cx="1360" cy="453"/>
              </a:xfrm>
              <a:prstGeom prst="line">
                <a:avLst/>
              </a:prstGeom>
              <a:ln w="25400" cap="flat" cmpd="sng">
                <a:solidFill>
                  <a:srgbClr val="800080"/>
                </a:solidFill>
                <a:prstDash val="solid"/>
                <a:round/>
                <a:headEnd type="oval" w="med" len="med"/>
                <a:tailEnd type="oval"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2428" name="Line 23"/>
              <p:cNvSpPr/>
              <p:nvPr/>
            </p:nvSpPr>
            <p:spPr>
              <a:xfrm>
                <a:off x="617" y="1451"/>
                <a:ext cx="1360" cy="862"/>
              </a:xfrm>
              <a:prstGeom prst="line">
                <a:avLst/>
              </a:prstGeom>
              <a:ln w="25400" cap="flat" cmpd="sng">
                <a:solidFill>
                  <a:srgbClr val="FF0000"/>
                </a:solidFill>
                <a:prstDash val="solid"/>
                <a:round/>
                <a:headEnd type="oval" w="med" len="med"/>
                <a:tailEnd type="oval"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grpSp>
        <p:sp>
          <p:nvSpPr>
            <p:cNvPr id="102429" name="Text Box 37"/>
            <p:cNvSpPr txBox="1"/>
            <p:nvPr/>
          </p:nvSpPr>
          <p:spPr>
            <a:xfrm>
              <a:off x="90" y="0"/>
              <a:ext cx="1543" cy="327"/>
            </a:xfrm>
            <a:prstGeom prst="rect">
              <a:avLst/>
            </a:prstGeom>
            <a:noFill/>
            <a:ln w="9525">
              <a:noFill/>
            </a:ln>
          </p:spPr>
          <p:txBody>
            <a:bodyPr anchor="t">
              <a:spAutoFit/>
            </a:bodyPr>
            <a:lstStyle/>
            <a:p>
              <a:pPr lvl="0" algn="ctr">
                <a:spcBef>
                  <a:spcPct val="50000"/>
                </a:spcBef>
              </a:pPr>
              <a:r>
                <a:rPr lang="zh-CN" altLang="en-US" sz="2800" dirty="0">
                  <a:latin typeface="黑体" panose="02010609060101010101" pitchFamily="1" charset="-122"/>
                  <a:ea typeface="黑体" panose="02010609060101010101" pitchFamily="1" charset="-122"/>
                </a:rPr>
                <a:t>（一对多）</a:t>
              </a:r>
            </a:p>
          </p:txBody>
        </p:sp>
      </p:grpSp>
      <p:grpSp>
        <p:nvGrpSpPr>
          <p:cNvPr id="102431" name="组合 102430"/>
          <p:cNvGrpSpPr/>
          <p:nvPr/>
        </p:nvGrpSpPr>
        <p:grpSpPr>
          <a:xfrm>
            <a:off x="6300788" y="188913"/>
            <a:ext cx="2773362" cy="5775325"/>
            <a:chOff x="0" y="0"/>
            <a:chExt cx="1747" cy="3638"/>
          </a:xfrm>
        </p:grpSpPr>
        <p:sp>
          <p:nvSpPr>
            <p:cNvPr id="3" name="Text Box 24"/>
            <p:cNvSpPr txBox="1"/>
            <p:nvPr/>
          </p:nvSpPr>
          <p:spPr>
            <a:xfrm>
              <a:off x="363" y="3311"/>
              <a:ext cx="1008" cy="327"/>
            </a:xfrm>
            <a:prstGeom prst="rect">
              <a:avLst/>
            </a:prstGeom>
            <a:noFill/>
            <a:ln w="9525">
              <a:noFill/>
            </a:ln>
          </p:spPr>
          <p:txBody>
            <a:bodyPr anchor="t">
              <a:spAutoFit/>
            </a:bodyPr>
            <a:lstStyle/>
            <a:p>
              <a:pPr lvl="0" algn="ctr">
                <a:spcBef>
                  <a:spcPct val="50000"/>
                </a:spcBef>
              </a:pPr>
              <a:r>
                <a:rPr lang="en-US" altLang="x-none" sz="2800" b="1" dirty="0">
                  <a:solidFill>
                    <a:schemeClr val="accent2"/>
                  </a:solidFill>
                  <a:latin typeface="Arial" panose="020B0604020202020204" pitchFamily="34" charset="0"/>
                  <a:ea typeface="宋体" panose="02010600030101010101" pitchFamily="2" charset="-122"/>
                </a:rPr>
                <a:t>(none)</a:t>
              </a:r>
            </a:p>
          </p:txBody>
        </p:sp>
        <p:grpSp>
          <p:nvGrpSpPr>
            <p:cNvPr id="102432" name="组合 102432"/>
            <p:cNvGrpSpPr/>
            <p:nvPr/>
          </p:nvGrpSpPr>
          <p:grpSpPr>
            <a:xfrm>
              <a:off x="0" y="363"/>
              <a:ext cx="1747" cy="2864"/>
              <a:chOff x="0" y="0"/>
              <a:chExt cx="2567" cy="2864"/>
            </a:xfrm>
          </p:grpSpPr>
          <p:sp>
            <p:nvSpPr>
              <p:cNvPr id="102433" name="Oval 26"/>
              <p:cNvSpPr/>
              <p:nvPr/>
            </p:nvSpPr>
            <p:spPr>
              <a:xfrm>
                <a:off x="0" y="397"/>
                <a:ext cx="843" cy="2467"/>
              </a:xfrm>
              <a:prstGeom prst="ellipse">
                <a:avLst/>
              </a:prstGeom>
              <a:noFill/>
              <a:ln w="25400" cap="flat" cmpd="sng">
                <a:solidFill>
                  <a:schemeClr val="tx1"/>
                </a:solidFill>
                <a:prstDash val="solid"/>
                <a:round/>
                <a:headEnd type="none" w="med" len="med"/>
                <a:tailEnd type="none" w="med" len="med"/>
              </a:ln>
            </p:spPr>
            <p:txBody>
              <a:bodyPr lIns="0" tIns="0" bIns="0" anchor="t">
                <a:spAutoFit/>
              </a:bodyPr>
              <a:lstStyle/>
              <a:p>
                <a:pPr lvl="0" algn="ctr">
                  <a:lnSpc>
                    <a:spcPct val="150000"/>
                  </a:lnSpc>
                  <a:spcBef>
                    <a:spcPct val="50000"/>
                  </a:spcBef>
                </a:pPr>
                <a:r>
                  <a:rPr lang="en-US" altLang="x-none" dirty="0">
                    <a:latin typeface="Arial" panose="020B0604020202020204" pitchFamily="34" charset="0"/>
                    <a:ea typeface="宋体" panose="02010600030101010101" pitchFamily="2" charset="-122"/>
                  </a:rPr>
                  <a:t>X</a:t>
                </a:r>
                <a:r>
                  <a:rPr lang="en-US" altLang="x-none" baseline="-25000" dirty="0">
                    <a:latin typeface="Arial" panose="020B0604020202020204" pitchFamily="34" charset="0"/>
                    <a:ea typeface="宋体" panose="02010600030101010101" pitchFamily="2" charset="-122"/>
                  </a:rPr>
                  <a:t>1</a:t>
                </a:r>
              </a:p>
              <a:p>
                <a:pPr lvl="0" algn="ctr">
                  <a:lnSpc>
                    <a:spcPct val="150000"/>
                  </a:lnSpc>
                  <a:spcBef>
                    <a:spcPct val="50000"/>
                  </a:spcBef>
                </a:pPr>
                <a:r>
                  <a:rPr lang="en-US" altLang="x-none" dirty="0">
                    <a:latin typeface="Arial" panose="020B0604020202020204" pitchFamily="34" charset="0"/>
                    <a:ea typeface="宋体" panose="02010600030101010101" pitchFamily="2" charset="-122"/>
                  </a:rPr>
                  <a:t>X</a:t>
                </a:r>
                <a:r>
                  <a:rPr lang="en-US" altLang="x-none" baseline="-25000" dirty="0">
                    <a:latin typeface="Arial" panose="020B0604020202020204" pitchFamily="34" charset="0"/>
                    <a:ea typeface="宋体" panose="02010600030101010101" pitchFamily="2" charset="-122"/>
                  </a:rPr>
                  <a:t>2</a:t>
                </a:r>
              </a:p>
              <a:p>
                <a:pPr lvl="0" algn="ctr">
                  <a:lnSpc>
                    <a:spcPct val="150000"/>
                  </a:lnSpc>
                  <a:spcBef>
                    <a:spcPct val="50000"/>
                  </a:spcBef>
                </a:pPr>
                <a:r>
                  <a:rPr lang="en-US" altLang="x-none" dirty="0">
                    <a:latin typeface="Arial" panose="020B0604020202020204" pitchFamily="34" charset="0"/>
                    <a:ea typeface="宋体" panose="02010600030101010101" pitchFamily="2" charset="-122"/>
                  </a:rPr>
                  <a:t>X</a:t>
                </a:r>
                <a:r>
                  <a:rPr lang="en-US" altLang="x-none" baseline="-25000" dirty="0">
                    <a:latin typeface="Arial" panose="020B0604020202020204" pitchFamily="34" charset="0"/>
                    <a:ea typeface="宋体" panose="02010600030101010101" pitchFamily="2" charset="-122"/>
                  </a:rPr>
                  <a:t>3</a:t>
                </a:r>
              </a:p>
              <a:p>
                <a:pPr lvl="0" algn="ctr">
                  <a:lnSpc>
                    <a:spcPct val="150000"/>
                  </a:lnSpc>
                  <a:spcBef>
                    <a:spcPct val="50000"/>
                  </a:spcBef>
                </a:pPr>
                <a:endParaRPr lang="en-US" altLang="x-none" dirty="0">
                  <a:latin typeface="Arial" panose="020B0604020202020204" pitchFamily="34" charset="0"/>
                  <a:ea typeface="宋体" panose="02010600030101010101" pitchFamily="2" charset="-122"/>
                </a:endParaRPr>
              </a:p>
            </p:txBody>
          </p:sp>
          <p:sp>
            <p:nvSpPr>
              <p:cNvPr id="102434" name="Text Box 27"/>
              <p:cNvSpPr txBox="1"/>
              <p:nvPr/>
            </p:nvSpPr>
            <p:spPr>
              <a:xfrm>
                <a:off x="72" y="0"/>
                <a:ext cx="726" cy="327"/>
              </a:xfrm>
              <a:prstGeom prst="rect">
                <a:avLst/>
              </a:prstGeom>
              <a:noFill/>
              <a:ln w="9525">
                <a:noFill/>
              </a:ln>
            </p:spPr>
            <p:txBody>
              <a:bodyPr anchor="t">
                <a:spAutoFit/>
              </a:bodyPr>
              <a:lstStyle/>
              <a:p>
                <a:pPr lvl="0" algn="ctr">
                  <a:spcBef>
                    <a:spcPct val="50000"/>
                  </a:spcBef>
                </a:pPr>
                <a:r>
                  <a:rPr lang="en-US" altLang="x-none" sz="2800" b="1" dirty="0">
                    <a:solidFill>
                      <a:srgbClr val="FF0000"/>
                    </a:solidFill>
                    <a:latin typeface="Arial" panose="020B0604020202020204" pitchFamily="34" charset="0"/>
                    <a:ea typeface="宋体" panose="02010600030101010101" pitchFamily="2" charset="-122"/>
                  </a:rPr>
                  <a:t>A</a:t>
                </a:r>
              </a:p>
            </p:txBody>
          </p:sp>
          <p:sp>
            <p:nvSpPr>
              <p:cNvPr id="102435" name="Oval 28"/>
              <p:cNvSpPr/>
              <p:nvPr/>
            </p:nvSpPr>
            <p:spPr>
              <a:xfrm>
                <a:off x="1724" y="397"/>
                <a:ext cx="843" cy="2467"/>
              </a:xfrm>
              <a:prstGeom prst="ellipse">
                <a:avLst/>
              </a:prstGeom>
              <a:noFill/>
              <a:ln w="25400" cap="flat" cmpd="sng">
                <a:solidFill>
                  <a:schemeClr val="tx1"/>
                </a:solidFill>
                <a:prstDash val="solid"/>
                <a:round/>
                <a:headEnd type="none" w="med" len="med"/>
                <a:tailEnd type="none" w="med" len="med"/>
              </a:ln>
            </p:spPr>
            <p:txBody>
              <a:bodyPr lIns="179705" tIns="0" rIns="0" bIns="0" anchor="t">
                <a:spAutoFit/>
              </a:bodyPr>
              <a:lstStyle/>
              <a:p>
                <a:pPr lvl="0" algn="ctr">
                  <a:lnSpc>
                    <a:spcPct val="150000"/>
                  </a:lnSpc>
                  <a:spcBef>
                    <a:spcPct val="50000"/>
                  </a:spcBef>
                </a:pPr>
                <a:r>
                  <a:rPr lang="en-US" altLang="x-none" dirty="0">
                    <a:latin typeface="Arial" panose="020B0604020202020204" pitchFamily="34" charset="0"/>
                    <a:ea typeface="宋体" panose="02010600030101010101" pitchFamily="2" charset="-122"/>
                  </a:rPr>
                  <a:t>Y</a:t>
                </a:r>
                <a:r>
                  <a:rPr lang="en-US" altLang="x-none" baseline="-25000" dirty="0">
                    <a:latin typeface="Arial" panose="020B0604020202020204" pitchFamily="34" charset="0"/>
                    <a:ea typeface="宋体" panose="02010600030101010101" pitchFamily="2" charset="-122"/>
                  </a:rPr>
                  <a:t>1</a:t>
                </a:r>
              </a:p>
              <a:p>
                <a:pPr lvl="0" algn="ctr">
                  <a:lnSpc>
                    <a:spcPct val="150000"/>
                  </a:lnSpc>
                  <a:spcBef>
                    <a:spcPct val="50000"/>
                  </a:spcBef>
                </a:pPr>
                <a:r>
                  <a:rPr lang="en-US" altLang="x-none" dirty="0">
                    <a:latin typeface="Arial" panose="020B0604020202020204" pitchFamily="34" charset="0"/>
                    <a:ea typeface="宋体" panose="02010600030101010101" pitchFamily="2" charset="-122"/>
                  </a:rPr>
                  <a:t>Y</a:t>
                </a:r>
                <a:r>
                  <a:rPr lang="en-US" altLang="x-none" baseline="-25000" dirty="0">
                    <a:latin typeface="Arial" panose="020B0604020202020204" pitchFamily="34" charset="0"/>
                    <a:ea typeface="宋体" panose="02010600030101010101" pitchFamily="2" charset="-122"/>
                  </a:rPr>
                  <a:t>2</a:t>
                </a:r>
              </a:p>
              <a:p>
                <a:pPr lvl="0" algn="ctr">
                  <a:lnSpc>
                    <a:spcPct val="150000"/>
                  </a:lnSpc>
                  <a:spcBef>
                    <a:spcPct val="50000"/>
                  </a:spcBef>
                </a:pPr>
                <a:r>
                  <a:rPr lang="en-US" altLang="x-none" dirty="0">
                    <a:latin typeface="Arial" panose="020B0604020202020204" pitchFamily="34" charset="0"/>
                    <a:ea typeface="宋体" panose="02010600030101010101" pitchFamily="2" charset="-122"/>
                  </a:rPr>
                  <a:t>Y</a:t>
                </a:r>
                <a:r>
                  <a:rPr lang="en-US" altLang="x-none" baseline="-25000" dirty="0">
                    <a:latin typeface="Arial" panose="020B0604020202020204" pitchFamily="34" charset="0"/>
                    <a:ea typeface="宋体" panose="02010600030101010101" pitchFamily="2" charset="-122"/>
                  </a:rPr>
                  <a:t>3</a:t>
                </a:r>
              </a:p>
              <a:p>
                <a:pPr lvl="0" algn="ctr">
                  <a:lnSpc>
                    <a:spcPct val="150000"/>
                  </a:lnSpc>
                  <a:spcBef>
                    <a:spcPct val="50000"/>
                  </a:spcBef>
                </a:pPr>
                <a:endParaRPr lang="en-US" altLang="x-none" dirty="0">
                  <a:latin typeface="Arial" panose="020B0604020202020204" pitchFamily="34" charset="0"/>
                  <a:ea typeface="宋体" panose="02010600030101010101" pitchFamily="2" charset="-122"/>
                </a:endParaRPr>
              </a:p>
            </p:txBody>
          </p:sp>
          <p:sp>
            <p:nvSpPr>
              <p:cNvPr id="102436" name="Text Box 29"/>
              <p:cNvSpPr txBox="1"/>
              <p:nvPr/>
            </p:nvSpPr>
            <p:spPr>
              <a:xfrm>
                <a:off x="1796" y="0"/>
                <a:ext cx="726" cy="327"/>
              </a:xfrm>
              <a:prstGeom prst="rect">
                <a:avLst/>
              </a:prstGeom>
              <a:noFill/>
              <a:ln w="9525">
                <a:noFill/>
              </a:ln>
            </p:spPr>
            <p:txBody>
              <a:bodyPr anchor="t">
                <a:spAutoFit/>
              </a:bodyPr>
              <a:lstStyle/>
              <a:p>
                <a:pPr lvl="0" algn="ctr">
                  <a:spcBef>
                    <a:spcPct val="50000"/>
                  </a:spcBef>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102437" name="Line 30"/>
              <p:cNvSpPr/>
              <p:nvPr/>
            </p:nvSpPr>
            <p:spPr>
              <a:xfrm>
                <a:off x="617" y="998"/>
                <a:ext cx="1406" cy="0"/>
              </a:xfrm>
              <a:prstGeom prst="line">
                <a:avLst/>
              </a:prstGeom>
              <a:ln w="25400" cap="flat" cmpd="sng">
                <a:solidFill>
                  <a:schemeClr val="tx1"/>
                </a:solidFill>
                <a:prstDash val="solid"/>
                <a:round/>
                <a:headEnd type="oval" w="med" len="med"/>
                <a:tailEnd type="oval"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2438" name="Line 31"/>
              <p:cNvSpPr/>
              <p:nvPr/>
            </p:nvSpPr>
            <p:spPr>
              <a:xfrm>
                <a:off x="617" y="1452"/>
                <a:ext cx="1360" cy="453"/>
              </a:xfrm>
              <a:prstGeom prst="line">
                <a:avLst/>
              </a:prstGeom>
              <a:ln w="25400" cap="flat" cmpd="sng">
                <a:solidFill>
                  <a:srgbClr val="FF0000"/>
                </a:solidFill>
                <a:prstDash val="solid"/>
                <a:round/>
                <a:headEnd type="oval" w="med" len="med"/>
                <a:tailEnd type="oval"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2439" name="Line 32"/>
              <p:cNvSpPr/>
              <p:nvPr/>
            </p:nvSpPr>
            <p:spPr>
              <a:xfrm flipV="1">
                <a:off x="617" y="1406"/>
                <a:ext cx="1360" cy="453"/>
              </a:xfrm>
              <a:prstGeom prst="line">
                <a:avLst/>
              </a:prstGeom>
              <a:ln w="25400" cap="flat" cmpd="sng">
                <a:solidFill>
                  <a:srgbClr val="800080"/>
                </a:solidFill>
                <a:prstDash val="solid"/>
                <a:round/>
                <a:headEnd type="oval" w="med" len="med"/>
                <a:tailEnd type="oval"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2440" name="Line 33"/>
              <p:cNvSpPr/>
              <p:nvPr/>
            </p:nvSpPr>
            <p:spPr>
              <a:xfrm flipV="1">
                <a:off x="635" y="1406"/>
                <a:ext cx="1360" cy="45"/>
              </a:xfrm>
              <a:prstGeom prst="line">
                <a:avLst/>
              </a:prstGeom>
              <a:ln w="25400" cap="flat" cmpd="sng">
                <a:solidFill>
                  <a:srgbClr val="FF0000"/>
                </a:solidFill>
                <a:prstDash val="solid"/>
                <a:round/>
                <a:headEnd type="oval" w="med" len="med"/>
                <a:tailEnd type="oval"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grpSp>
        <p:sp>
          <p:nvSpPr>
            <p:cNvPr id="102441" name="Text Box 38"/>
            <p:cNvSpPr txBox="1"/>
            <p:nvPr/>
          </p:nvSpPr>
          <p:spPr>
            <a:xfrm>
              <a:off x="44" y="0"/>
              <a:ext cx="1543" cy="327"/>
            </a:xfrm>
            <a:prstGeom prst="rect">
              <a:avLst/>
            </a:prstGeom>
            <a:noFill/>
            <a:ln w="9525">
              <a:noFill/>
            </a:ln>
          </p:spPr>
          <p:txBody>
            <a:bodyPr anchor="t">
              <a:spAutoFit/>
            </a:bodyPr>
            <a:lstStyle/>
            <a:p>
              <a:pPr lvl="0" algn="ctr">
                <a:spcBef>
                  <a:spcPct val="50000"/>
                </a:spcBef>
              </a:pPr>
              <a:r>
                <a:rPr lang="zh-CN" altLang="en-US" sz="2800" dirty="0">
                  <a:latin typeface="黑体" panose="02010609060101010101" pitchFamily="1" charset="-122"/>
                  <a:ea typeface="黑体" panose="02010609060101010101" pitchFamily="1" charset="-122"/>
                </a:rPr>
                <a:t>（多对多）</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419"/>
                                        </p:tgtEl>
                                        <p:attrNameLst>
                                          <p:attrName>style.visibility</p:attrName>
                                        </p:attrNameLst>
                                      </p:cBhvr>
                                      <p:to>
                                        <p:strVal val="visible"/>
                                      </p:to>
                                    </p:set>
                                    <p:animEffect transition="in" filter="blinds(horizontal)">
                                      <p:cBhvr>
                                        <p:cTn id="7" dur="500"/>
                                        <p:tgtEl>
                                          <p:spTgt spid="10241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2431"/>
                                        </p:tgtEl>
                                        <p:attrNameLst>
                                          <p:attrName>style.visibility</p:attrName>
                                        </p:attrNameLst>
                                      </p:cBhvr>
                                      <p:to>
                                        <p:strVal val="visible"/>
                                      </p:to>
                                    </p:set>
                                    <p:animEffect transition="in" filter="blinds(horizontal)">
                                      <p:cBhvr>
                                        <p:cTn id="12" dur="500"/>
                                        <p:tgtEl>
                                          <p:spTgt spid="1024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5565" y="5461000"/>
            <a:ext cx="8896350" cy="1371600"/>
          </a:xfrm>
          <a:prstGeom prst="rect">
            <a:avLst/>
          </a:prstGeom>
          <a:solidFill>
            <a:schemeClr val="bg1"/>
          </a:solidFill>
          <a:ln>
            <a:solidFill>
              <a:schemeClr val="accent1"/>
            </a:solidFill>
          </a:ln>
        </p:spPr>
        <p:txBody>
          <a:bodyPr wrap="square" rtlCol="0">
            <a:spAutoFit/>
          </a:bodyPr>
          <a:lstStyle/>
          <a:p>
            <a:pPr marL="560705" indent="-560705"/>
            <a:r>
              <a:rPr lang="en-US" altLang="zh-CN" sz="2800" b="1" u="sng">
                <a:solidFill>
                  <a:srgbClr val="0000CC"/>
                </a:solidFill>
                <a:sym typeface="+mn-ea"/>
              </a:rPr>
              <a:t>Assume</a:t>
            </a:r>
            <a:r>
              <a:rPr lang="en-US" altLang="zh-CN" sz="2800">
                <a:solidFill>
                  <a:srgbClr val="0000CC"/>
                </a:solidFill>
                <a:sym typeface="+mn-ea"/>
              </a:rPr>
              <a:t>: It is the intent of the designer that exactly this set of rows should lie in each table -- no changes will ever occur in the tables.</a:t>
            </a:r>
          </a:p>
        </p:txBody>
      </p:sp>
      <p:sp>
        <p:nvSpPr>
          <p:cNvPr id="97284" name="Rectangle 2"/>
          <p:cNvSpPr>
            <a:spLocks noGrp="1"/>
          </p:cNvSpPr>
          <p:nvPr/>
        </p:nvSpPr>
        <p:spPr>
          <a:xfrm>
            <a:off x="0" y="0"/>
            <a:ext cx="9144000" cy="685800"/>
          </a:xfrm>
          <a:prstGeom prst="rect">
            <a:avLst/>
          </a:prstGeom>
          <a:solidFill>
            <a:srgbClr val="DDDDDD">
              <a:alpha val="50000"/>
            </a:srgbClr>
          </a:solidFill>
          <a:ln w="9525">
            <a:noFill/>
          </a:ln>
        </p:spPr>
        <p:txBody>
          <a:bodyPr wrap="square" anchor="ctr"/>
          <a:lstStyle>
            <a:lvl1pPr marL="0" lvl="0" indent="0" algn="ctr" defTabSz="914400" eaLnBrk="0" fontAlgn="base" latinLnBrk="0" hangingPunct="0">
              <a:lnSpc>
                <a:spcPct val="100000"/>
              </a:lnSpc>
              <a:spcBef>
                <a:spcPct val="0"/>
              </a:spcBef>
              <a:spcAft>
                <a:spcPct val="0"/>
              </a:spcAft>
              <a:buNone/>
              <a:defRPr sz="3200" b="1" u="none" kern="1200" baseline="0">
                <a:solidFill>
                  <a:schemeClr val="tx2"/>
                </a:solidFill>
                <a:latin typeface="+mj-lt"/>
                <a:ea typeface="+mj-ea"/>
                <a:cs typeface="+mj-cs"/>
              </a:defRPr>
            </a:lvl1pPr>
          </a:lstStyle>
          <a:p>
            <a:pPr lvl="0" eaLnBrk="1" hangingPunct="1"/>
            <a:r>
              <a:rPr lang="zh-CN" altLang="en-US" dirty="0">
                <a:ea typeface="宋体" panose="02010600030101010101" pitchFamily="2" charset="-122"/>
              </a:rPr>
              <a:t>6.6 </a:t>
            </a:r>
            <a:r>
              <a:rPr lang="en-US" altLang="x-none" dirty="0">
                <a:ea typeface="宋体" panose="02010600030101010101" pitchFamily="2" charset="-122"/>
              </a:rPr>
              <a:t>Functional Dependencies</a:t>
            </a:r>
          </a:p>
        </p:txBody>
      </p:sp>
      <p:sp>
        <p:nvSpPr>
          <p:cNvPr id="97285" name="Rectangle 3"/>
          <p:cNvSpPr>
            <a:spLocks noGrp="1"/>
          </p:cNvSpPr>
          <p:nvPr/>
        </p:nvSpPr>
        <p:spPr>
          <a:xfrm>
            <a:off x="468313" y="596583"/>
            <a:ext cx="8229600" cy="5638800"/>
          </a:xfrm>
          <a:prstGeom prst="rect">
            <a:avLst/>
          </a:prstGeom>
          <a:noFill/>
          <a:ln w="9525">
            <a:noFill/>
          </a:ln>
        </p:spPr>
        <p:txBody>
          <a:bodyPr wrap="square" anchor="t"/>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800" b="1" u="none" kern="1200" baseline="0">
                <a:solidFill>
                  <a:srgbClr val="FF0000"/>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Ø"/>
              <a:defRPr sz="2800" b="1" u="none" kern="1200" baseline="0">
                <a:solidFill>
                  <a:schemeClr val="accent2"/>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accent2"/>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9pPr>
          </a:lstStyle>
          <a:p>
            <a:pPr lvl="0" eaLnBrk="1" hangingPunct="1"/>
            <a:r>
              <a:rPr lang="en-US" altLang="x-none" dirty="0">
                <a:ea typeface="宋体" panose="02010600030101010101" pitchFamily="2" charset="-122"/>
              </a:rPr>
              <a:t>Example 6.6.2 (modified)</a:t>
            </a:r>
          </a:p>
        </p:txBody>
      </p:sp>
      <p:graphicFrame>
        <p:nvGraphicFramePr>
          <p:cNvPr id="97287" name="表格 97286"/>
          <p:cNvGraphicFramePr/>
          <p:nvPr/>
        </p:nvGraphicFramePr>
        <p:xfrm>
          <a:off x="479425" y="1475740"/>
          <a:ext cx="1808480" cy="3887788"/>
        </p:xfrm>
        <a:graphic>
          <a:graphicData uri="http://schemas.openxmlformats.org/drawingml/2006/table">
            <a:tbl>
              <a:tblPr/>
              <a:tblGrid>
                <a:gridCol w="864235">
                  <a:extLst>
                    <a:ext uri="{9D8B030D-6E8A-4147-A177-3AD203B41FA5}">
                      <a16:colId xmlns:a16="http://schemas.microsoft.com/office/drawing/2014/main" val="20000"/>
                    </a:ext>
                  </a:extLst>
                </a:gridCol>
                <a:gridCol w="944245">
                  <a:extLst>
                    <a:ext uri="{9D8B030D-6E8A-4147-A177-3AD203B41FA5}">
                      <a16:colId xmlns:a16="http://schemas.microsoft.com/office/drawing/2014/main" val="20001"/>
                    </a:ext>
                  </a:extLst>
                </a:gridCol>
              </a:tblGrid>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55562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1"/>
                  </a:ext>
                </a:extLst>
              </a:tr>
              <a:tr h="55562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2"/>
                  </a:ext>
                </a:extLst>
              </a:tr>
              <a:tr h="560388">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3"/>
                  </a:ext>
                </a:extLst>
              </a:tr>
              <a:tr h="554037">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x4</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4"/>
                  </a:ext>
                </a:extLst>
              </a:tr>
              <a:tr h="55562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x5</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5"/>
                  </a:ext>
                </a:extLst>
              </a:tr>
              <a:tr h="554038">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x6</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6"/>
                  </a:ext>
                </a:extLst>
              </a:tr>
            </a:tbl>
          </a:graphicData>
        </a:graphic>
      </p:graphicFrame>
      <p:sp>
        <p:nvSpPr>
          <p:cNvPr id="97312" name="Text Box 30"/>
          <p:cNvSpPr txBox="1"/>
          <p:nvPr/>
        </p:nvSpPr>
        <p:spPr>
          <a:xfrm>
            <a:off x="649470" y="1080000"/>
            <a:ext cx="1295400" cy="457200"/>
          </a:xfrm>
          <a:prstGeom prst="rect">
            <a:avLst/>
          </a:prstGeom>
          <a:noFill/>
          <a:ln w="9525">
            <a:noFill/>
          </a:ln>
        </p:spPr>
        <p:txBody>
          <a:bodyPr anchor="t">
            <a:spAutoFit/>
          </a:bodyPr>
          <a:lstStyle/>
          <a:p>
            <a:pPr lvl="0" algn="ctr">
              <a:spcBef>
                <a:spcPct val="50000"/>
              </a:spcBef>
            </a:pPr>
            <a:r>
              <a:rPr lang="en-US" altLang="x-none" b="1" dirty="0">
                <a:latin typeface="Arial" panose="020B0604020202020204" pitchFamily="34" charset="0"/>
                <a:ea typeface="宋体" panose="02010600030101010101" pitchFamily="2" charset="-122"/>
              </a:rPr>
              <a:t>T1</a:t>
            </a:r>
          </a:p>
        </p:txBody>
      </p:sp>
      <p:graphicFrame>
        <p:nvGraphicFramePr>
          <p:cNvPr id="98311" name="表格 98310"/>
          <p:cNvGraphicFramePr/>
          <p:nvPr/>
        </p:nvGraphicFramePr>
        <p:xfrm>
          <a:off x="2477770" y="1475740"/>
          <a:ext cx="1816735" cy="2806065"/>
        </p:xfrm>
        <a:graphic>
          <a:graphicData uri="http://schemas.openxmlformats.org/drawingml/2006/table">
            <a:tbl>
              <a:tblPr/>
              <a:tblGrid>
                <a:gridCol w="856615">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tblGrid>
              <a:tr h="556895">
                <a:tc>
                  <a:txBody>
                    <a:bodyPr/>
                    <a:lstStyle/>
                    <a:p>
                      <a:pPr marL="0" lvl="0" indent="0" algn="ctr" eaLnBrk="1" hangingPunct="1">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p>
                      <a:pPr marL="0" lvl="0" indent="0" algn="ctr" eaLnBrk="1" hangingPunct="1">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539115">
                <a:tc>
                  <a:txBody>
                    <a:bodyPr/>
                    <a:lstStyle/>
                    <a:p>
                      <a:pPr marL="0" lvl="0" indent="0" algn="ctr" eaLnBrk="1" hangingPunct="1">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x1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p>
                      <a:pPr marL="0" lvl="0" indent="0" algn="ctr" eaLnBrk="1" hangingPunct="1">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y1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1"/>
                  </a:ext>
                </a:extLst>
              </a:tr>
              <a:tr h="548005">
                <a:tc>
                  <a:txBody>
                    <a:bodyPr/>
                    <a:lstStyle/>
                    <a:p>
                      <a:pPr marL="0" lvl="0" indent="0" algn="ctr" eaLnBrk="1" hangingPunct="1">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x2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p>
                      <a:pPr marL="0" lvl="0" indent="0" algn="ctr" eaLnBrk="1" hangingPunct="1">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y4</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2"/>
                  </a:ext>
                </a:extLst>
              </a:tr>
              <a:tr h="593090">
                <a:tc>
                  <a:txBody>
                    <a:bodyPr/>
                    <a:lstStyle/>
                    <a:p>
                      <a:pPr marL="0" lvl="0" indent="0" algn="ctr" eaLnBrk="1" hangingPunct="1">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x3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p>
                      <a:pPr marL="0" lvl="0" indent="0" algn="ctr" eaLnBrk="1" hangingPunct="1">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y2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3"/>
                  </a:ext>
                </a:extLst>
              </a:tr>
              <a:tr h="568960">
                <a:tc>
                  <a:txBody>
                    <a:bodyPr/>
                    <a:lstStyle/>
                    <a:p>
                      <a:pPr marL="0" lvl="0" indent="0" algn="ctr" eaLnBrk="1" hangingPunct="1">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x4</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p>
                      <a:pPr marL="0" lvl="0" indent="0" algn="ctr" eaLnBrk="1" hangingPunct="1">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y3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4"/>
                  </a:ext>
                </a:extLst>
              </a:tr>
            </a:tbl>
          </a:graphicData>
        </a:graphic>
      </p:graphicFrame>
      <p:sp>
        <p:nvSpPr>
          <p:cNvPr id="98330" name="Text Box 30"/>
          <p:cNvSpPr txBox="1"/>
          <p:nvPr/>
        </p:nvSpPr>
        <p:spPr>
          <a:xfrm>
            <a:off x="2651125" y="1080000"/>
            <a:ext cx="1295400" cy="457200"/>
          </a:xfrm>
          <a:prstGeom prst="rect">
            <a:avLst/>
          </a:prstGeom>
          <a:noFill/>
          <a:ln w="9525">
            <a:noFill/>
          </a:ln>
        </p:spPr>
        <p:txBody>
          <a:bodyPr anchor="t">
            <a:spAutoFit/>
          </a:bodyPr>
          <a:lstStyle/>
          <a:p>
            <a:pPr lvl="0" algn="ctr">
              <a:spcBef>
                <a:spcPct val="50000"/>
              </a:spcBef>
            </a:pPr>
            <a:r>
              <a:rPr lang="en-US" altLang="x-none" b="1" dirty="0">
                <a:latin typeface="Arial" panose="020B0604020202020204" pitchFamily="34" charset="0"/>
                <a:ea typeface="宋体" panose="02010600030101010101" pitchFamily="2" charset="-122"/>
              </a:rPr>
              <a:t>T2</a:t>
            </a:r>
          </a:p>
        </p:txBody>
      </p:sp>
      <p:graphicFrame>
        <p:nvGraphicFramePr>
          <p:cNvPr id="99335" name="表格 99334"/>
          <p:cNvGraphicFramePr/>
          <p:nvPr/>
        </p:nvGraphicFramePr>
        <p:xfrm>
          <a:off x="4486910" y="1475740"/>
          <a:ext cx="1816735" cy="2849880"/>
        </p:xfrm>
        <a:graphic>
          <a:graphicData uri="http://schemas.openxmlformats.org/drawingml/2006/table">
            <a:tbl>
              <a:tblPr/>
              <a:tblGrid>
                <a:gridCol w="868045">
                  <a:extLst>
                    <a:ext uri="{9D8B030D-6E8A-4147-A177-3AD203B41FA5}">
                      <a16:colId xmlns:a16="http://schemas.microsoft.com/office/drawing/2014/main" val="20000"/>
                    </a:ext>
                  </a:extLst>
                </a:gridCol>
                <a:gridCol w="948690">
                  <a:extLst>
                    <a:ext uri="{9D8B030D-6E8A-4147-A177-3AD203B41FA5}">
                      <a16:colId xmlns:a16="http://schemas.microsoft.com/office/drawing/2014/main" val="20001"/>
                    </a:ext>
                  </a:extLst>
                </a:gridCol>
              </a:tblGrid>
              <a:tr h="567690">
                <a:tc>
                  <a:txBody>
                    <a:bodyPr/>
                    <a:lstStyle/>
                    <a:p>
                      <a:pPr marL="0" lvl="0" indent="0" algn="ctr" eaLnBrk="1" hangingPunct="1">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p>
                      <a:pPr marL="0" lvl="0" indent="0" algn="ctr" eaLnBrk="1" hangingPunct="1">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560705">
                <a:tc>
                  <a:txBody>
                    <a:bodyPr/>
                    <a:lstStyle/>
                    <a:p>
                      <a:pPr marL="0" lvl="0" indent="0" algn="ctr" eaLnBrk="1" hangingPunct="1">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x1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p>
                      <a:pPr marL="0" lvl="0" indent="0" algn="ctr" eaLnBrk="1" hangingPunct="1">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y1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1"/>
                  </a:ext>
                </a:extLst>
              </a:tr>
              <a:tr h="504825">
                <a:tc>
                  <a:txBody>
                    <a:bodyPr/>
                    <a:lstStyle/>
                    <a:p>
                      <a:pPr marL="0" lvl="0" indent="0" algn="ctr" eaLnBrk="1" hangingPunct="1">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x2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p>
                      <a:pPr marL="0" lvl="0" indent="0" algn="ctr" eaLnBrk="1" hangingPunct="1">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y3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2"/>
                  </a:ext>
                </a:extLst>
              </a:tr>
              <a:tr h="593090">
                <a:tc>
                  <a:txBody>
                    <a:bodyPr/>
                    <a:lstStyle/>
                    <a:p>
                      <a:pPr marL="0" lvl="0" indent="0" algn="ctr" eaLnBrk="1" hangingPunct="1">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x3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p>
                      <a:pPr marL="0" lvl="0" indent="0" algn="ctr" eaLnBrk="1" hangingPunct="1">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y2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3"/>
                  </a:ext>
                </a:extLst>
              </a:tr>
              <a:tr h="623570">
                <a:tc>
                  <a:txBody>
                    <a:bodyPr/>
                    <a:lstStyle/>
                    <a:p>
                      <a:pPr marL="0" lvl="0" indent="0" algn="ctr" eaLnBrk="1" hangingPunct="1">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x2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p>
                      <a:pPr marL="0" lvl="0" indent="0" algn="ctr" eaLnBrk="1" hangingPunct="1">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y4</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4"/>
                  </a:ext>
                </a:extLst>
              </a:tr>
            </a:tbl>
          </a:graphicData>
        </a:graphic>
      </p:graphicFrame>
      <p:sp>
        <p:nvSpPr>
          <p:cNvPr id="99354" name="Text Box 24"/>
          <p:cNvSpPr txBox="1"/>
          <p:nvPr/>
        </p:nvSpPr>
        <p:spPr>
          <a:xfrm>
            <a:off x="4660265" y="1080000"/>
            <a:ext cx="1295400" cy="457200"/>
          </a:xfrm>
          <a:prstGeom prst="rect">
            <a:avLst/>
          </a:prstGeom>
          <a:noFill/>
          <a:ln w="9525">
            <a:noFill/>
          </a:ln>
        </p:spPr>
        <p:txBody>
          <a:bodyPr anchor="t">
            <a:spAutoFit/>
          </a:bodyPr>
          <a:lstStyle/>
          <a:p>
            <a:pPr lvl="0" algn="ctr">
              <a:spcBef>
                <a:spcPct val="50000"/>
              </a:spcBef>
            </a:pPr>
            <a:r>
              <a:rPr lang="en-US" altLang="x-none" b="1" dirty="0">
                <a:latin typeface="Arial" panose="020B0604020202020204" pitchFamily="34" charset="0"/>
                <a:ea typeface="宋体" panose="02010600030101010101" pitchFamily="2" charset="-122"/>
              </a:rPr>
              <a:t>T3</a:t>
            </a:r>
          </a:p>
        </p:txBody>
      </p:sp>
      <p:graphicFrame>
        <p:nvGraphicFramePr>
          <p:cNvPr id="100359" name="表格 100358"/>
          <p:cNvGraphicFramePr/>
          <p:nvPr/>
        </p:nvGraphicFramePr>
        <p:xfrm>
          <a:off x="6496050" y="1475740"/>
          <a:ext cx="1816100" cy="2828925"/>
        </p:xfrm>
        <a:graphic>
          <a:graphicData uri="http://schemas.openxmlformats.org/drawingml/2006/table">
            <a:tbl>
              <a:tblPr/>
              <a:tblGrid>
                <a:gridCol w="868045">
                  <a:extLst>
                    <a:ext uri="{9D8B030D-6E8A-4147-A177-3AD203B41FA5}">
                      <a16:colId xmlns:a16="http://schemas.microsoft.com/office/drawing/2014/main" val="20000"/>
                    </a:ext>
                  </a:extLst>
                </a:gridCol>
                <a:gridCol w="948055">
                  <a:extLst>
                    <a:ext uri="{9D8B030D-6E8A-4147-A177-3AD203B41FA5}">
                      <a16:colId xmlns:a16="http://schemas.microsoft.com/office/drawing/2014/main" val="20001"/>
                    </a:ext>
                  </a:extLst>
                </a:gridCol>
              </a:tblGrid>
              <a:tr h="567690">
                <a:tc>
                  <a:txBody>
                    <a:bodyPr/>
                    <a:lstStyle/>
                    <a:p>
                      <a:pPr marL="0" lvl="0" indent="0" algn="ctr" eaLnBrk="1" hangingPunct="1">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p>
                      <a:pPr marL="0" lvl="0" indent="0" algn="ctr" eaLnBrk="1" hangingPunct="1">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528320">
                <a:tc>
                  <a:txBody>
                    <a:bodyPr/>
                    <a:lstStyle/>
                    <a:p>
                      <a:pPr marL="0" lvl="0" indent="0" algn="ctr" eaLnBrk="1" hangingPunct="1">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x1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p>
                      <a:pPr marL="0" lvl="0" indent="0" algn="ctr" eaLnBrk="1" hangingPunct="1">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y1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1"/>
                  </a:ext>
                </a:extLst>
              </a:tr>
              <a:tr h="559435">
                <a:tc>
                  <a:txBody>
                    <a:bodyPr/>
                    <a:lstStyle/>
                    <a:p>
                      <a:pPr marL="0" lvl="0" indent="0" algn="ctr" eaLnBrk="1" hangingPunct="1">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x2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p>
                      <a:pPr marL="0" lvl="0" indent="0" algn="ctr" eaLnBrk="1" hangingPunct="1">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y2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2"/>
                  </a:ext>
                </a:extLst>
              </a:tr>
              <a:tr h="593090">
                <a:tc>
                  <a:txBody>
                    <a:bodyPr/>
                    <a:lstStyle/>
                    <a:p>
                      <a:pPr marL="0" lvl="0" indent="0" algn="ctr" eaLnBrk="1" hangingPunct="1">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x3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p>
                      <a:pPr marL="0" lvl="0" indent="0" algn="ctr" eaLnBrk="1" hangingPunct="1">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y2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3"/>
                  </a:ext>
                </a:extLst>
              </a:tr>
              <a:tr h="580390">
                <a:tc>
                  <a:txBody>
                    <a:bodyPr/>
                    <a:lstStyle/>
                    <a:p>
                      <a:pPr marL="0" lvl="0" indent="0" algn="ctr" eaLnBrk="1" hangingPunct="1">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x2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p>
                      <a:pPr marL="0" lvl="0" indent="0" algn="ctr" eaLnBrk="1" hangingPunct="1">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y3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4"/>
                  </a:ext>
                </a:extLst>
              </a:tr>
            </a:tbl>
          </a:graphicData>
        </a:graphic>
      </p:graphicFrame>
      <p:sp>
        <p:nvSpPr>
          <p:cNvPr id="100378" name="Text Box 24"/>
          <p:cNvSpPr txBox="1"/>
          <p:nvPr/>
        </p:nvSpPr>
        <p:spPr>
          <a:xfrm>
            <a:off x="6741160" y="1080000"/>
            <a:ext cx="1295400" cy="457200"/>
          </a:xfrm>
          <a:prstGeom prst="rect">
            <a:avLst/>
          </a:prstGeom>
          <a:noFill/>
          <a:ln w="9525">
            <a:noFill/>
          </a:ln>
        </p:spPr>
        <p:txBody>
          <a:bodyPr anchor="t">
            <a:spAutoFit/>
          </a:bodyPr>
          <a:lstStyle/>
          <a:p>
            <a:pPr lvl="0" algn="ctr">
              <a:spcBef>
                <a:spcPct val="50000"/>
              </a:spcBef>
            </a:pPr>
            <a:r>
              <a:rPr lang="en-US" altLang="x-none" b="1" dirty="0">
                <a:latin typeface="Arial" panose="020B0604020202020204" pitchFamily="34" charset="0"/>
                <a:ea typeface="宋体" panose="02010600030101010101" pitchFamily="2" charset="-122"/>
              </a:rPr>
              <a:t>T4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1"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23</a:t>
            </a:fld>
            <a:endParaRPr lang="zh-CN" altLang="en-US" sz="1200" b="1" i="1" dirty="0">
              <a:latin typeface="Times New Roman" panose="02020603050405020304" pitchFamily="2" charset="0"/>
              <a:ea typeface="宋体" panose="02010600030101010101" pitchFamily="2" charset="-122"/>
            </a:endParaRPr>
          </a:p>
        </p:txBody>
      </p:sp>
      <p:sp>
        <p:nvSpPr>
          <p:cNvPr id="97284"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6.6 </a:t>
            </a:r>
            <a:r>
              <a:rPr lang="en-US" altLang="x-none" dirty="0">
                <a:ea typeface="宋体" panose="02010600030101010101" pitchFamily="2" charset="-122"/>
              </a:rPr>
              <a:t>Functional Dependencies</a:t>
            </a:r>
          </a:p>
        </p:txBody>
      </p:sp>
      <p:sp>
        <p:nvSpPr>
          <p:cNvPr id="97285" name="Rectangle 3"/>
          <p:cNvSpPr>
            <a:spLocks noGrp="1"/>
          </p:cNvSpPr>
          <p:nvPr>
            <p:ph type="body"/>
          </p:nvPr>
        </p:nvSpPr>
        <p:spPr>
          <a:xfrm>
            <a:off x="468313" y="668338"/>
            <a:ext cx="8229600" cy="5638800"/>
          </a:xfrm>
        </p:spPr>
        <p:txBody>
          <a:bodyPr wrap="square" anchor="t"/>
          <a:lstStyle/>
          <a:p>
            <a:pPr lvl="0" eaLnBrk="1" hangingPunct="1"/>
            <a:r>
              <a:rPr lang="en-US" altLang="x-none" dirty="0">
                <a:ea typeface="宋体" panose="02010600030101010101" pitchFamily="2" charset="-122"/>
              </a:rPr>
              <a:t>Example 6.6.2</a:t>
            </a:r>
          </a:p>
        </p:txBody>
      </p:sp>
      <p:graphicFrame>
        <p:nvGraphicFramePr>
          <p:cNvPr id="97287" name="表格 97286"/>
          <p:cNvGraphicFramePr/>
          <p:nvPr/>
        </p:nvGraphicFramePr>
        <p:xfrm>
          <a:off x="479425" y="1604963"/>
          <a:ext cx="2198688" cy="3887788"/>
        </p:xfrm>
        <a:graphic>
          <a:graphicData uri="http://schemas.openxmlformats.org/drawingml/2006/table">
            <a:tbl>
              <a:tblPr/>
              <a:tblGrid>
                <a:gridCol w="1050925">
                  <a:extLst>
                    <a:ext uri="{9D8B030D-6E8A-4147-A177-3AD203B41FA5}">
                      <a16:colId xmlns:a16="http://schemas.microsoft.com/office/drawing/2014/main" val="20000"/>
                    </a:ext>
                  </a:extLst>
                </a:gridCol>
                <a:gridCol w="1147763">
                  <a:extLst>
                    <a:ext uri="{9D8B030D-6E8A-4147-A177-3AD203B41FA5}">
                      <a16:colId xmlns:a16="http://schemas.microsoft.com/office/drawing/2014/main" val="20001"/>
                    </a:ext>
                  </a:extLst>
                </a:gridCol>
              </a:tblGrid>
              <a:tr h="5524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55562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1"/>
                  </a:ext>
                </a:extLst>
              </a:tr>
              <a:tr h="55562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2"/>
                  </a:ext>
                </a:extLst>
              </a:tr>
              <a:tr h="560388">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3"/>
                  </a:ext>
                </a:extLst>
              </a:tr>
              <a:tr h="554037">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x4</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4"/>
                  </a:ext>
                </a:extLst>
              </a:tr>
              <a:tr h="55562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x5</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5"/>
                  </a:ext>
                </a:extLst>
              </a:tr>
              <a:tr h="554038">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x6</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6"/>
                  </a:ext>
                </a:extLst>
              </a:tr>
            </a:tbl>
          </a:graphicData>
        </a:graphic>
      </p:graphicFrame>
      <p:sp>
        <p:nvSpPr>
          <p:cNvPr id="97312" name="Text Box 30"/>
          <p:cNvSpPr txBox="1"/>
          <p:nvPr/>
        </p:nvSpPr>
        <p:spPr>
          <a:xfrm>
            <a:off x="1227138" y="1173163"/>
            <a:ext cx="1295400" cy="457200"/>
          </a:xfrm>
          <a:prstGeom prst="rect">
            <a:avLst/>
          </a:prstGeom>
          <a:noFill/>
          <a:ln w="9525">
            <a:noFill/>
          </a:ln>
        </p:spPr>
        <p:txBody>
          <a:bodyPr anchor="t">
            <a:spAutoFit/>
          </a:bodyPr>
          <a:lstStyle/>
          <a:p>
            <a:pPr lvl="0" algn="ctr">
              <a:spcBef>
                <a:spcPct val="50000"/>
              </a:spcBef>
            </a:pPr>
            <a:r>
              <a:rPr lang="en-US" altLang="x-none" b="1" dirty="0">
                <a:latin typeface="Arial" panose="020B0604020202020204" pitchFamily="34" charset="0"/>
                <a:ea typeface="宋体" panose="02010600030101010101" pitchFamily="2" charset="-122"/>
              </a:rPr>
              <a:t>T1</a:t>
            </a:r>
          </a:p>
        </p:txBody>
      </p:sp>
      <p:sp>
        <p:nvSpPr>
          <p:cNvPr id="97314" name="Text Box 85"/>
          <p:cNvSpPr txBox="1"/>
          <p:nvPr/>
        </p:nvSpPr>
        <p:spPr>
          <a:xfrm>
            <a:off x="5635625" y="5780088"/>
            <a:ext cx="1600200" cy="519112"/>
          </a:xfrm>
          <a:prstGeom prst="rect">
            <a:avLst/>
          </a:prstGeom>
          <a:noFill/>
          <a:ln w="9525">
            <a:noFill/>
          </a:ln>
        </p:spPr>
        <p:txBody>
          <a:bodyPr anchor="t">
            <a:spAutoFit/>
          </a:bodyPr>
          <a:lstStyle/>
          <a:p>
            <a:pPr lvl="0" algn="ctr">
              <a:spcBef>
                <a:spcPct val="50000"/>
              </a:spcBef>
            </a:pPr>
            <a:r>
              <a:rPr lang="en-US" altLang="x-none" sz="2800" b="1" dirty="0">
                <a:solidFill>
                  <a:srgbClr val="FF0000"/>
                </a:solidFill>
                <a:latin typeface="Arial" panose="020B0604020202020204" pitchFamily="34" charset="0"/>
                <a:ea typeface="宋体" panose="02010600030101010101" pitchFamily="2" charset="-122"/>
              </a:rPr>
              <a:t>A → B</a:t>
            </a:r>
          </a:p>
        </p:txBody>
      </p:sp>
      <p:grpSp>
        <p:nvGrpSpPr>
          <p:cNvPr id="97315" name="组合 97314"/>
          <p:cNvGrpSpPr/>
          <p:nvPr/>
        </p:nvGrpSpPr>
        <p:grpSpPr>
          <a:xfrm>
            <a:off x="4313238" y="765175"/>
            <a:ext cx="4075112" cy="4992688"/>
            <a:chOff x="0" y="0"/>
            <a:chExt cx="2567" cy="3145"/>
          </a:xfrm>
        </p:grpSpPr>
        <p:sp>
          <p:nvSpPr>
            <p:cNvPr id="2" name="Oval 88"/>
            <p:cNvSpPr/>
            <p:nvPr/>
          </p:nvSpPr>
          <p:spPr>
            <a:xfrm>
              <a:off x="0" y="349"/>
              <a:ext cx="843" cy="2796"/>
            </a:xfrm>
            <a:prstGeom prst="ellipse">
              <a:avLst/>
            </a:prstGeom>
            <a:noFill/>
            <a:ln w="25400" cap="flat" cmpd="sng">
              <a:solidFill>
                <a:schemeClr val="tx1"/>
              </a:solidFill>
              <a:prstDash val="solid"/>
              <a:round/>
              <a:headEnd type="none" w="med" len="med"/>
              <a:tailEnd type="none" w="med" len="med"/>
            </a:ln>
          </p:spPr>
          <p:txBody>
            <a:bodyPr tIns="0" bIns="0" anchor="t">
              <a:spAutoFit/>
            </a:bodyPr>
            <a:lstStyle/>
            <a:p>
              <a:pPr lvl="0" algn="ctr">
                <a:spcBef>
                  <a:spcPct val="50000"/>
                </a:spcBef>
              </a:pPr>
              <a:r>
                <a:rPr lang="en-US" altLang="x-none" dirty="0">
                  <a:latin typeface="Arial" panose="020B0604020202020204" pitchFamily="34" charset="0"/>
                  <a:ea typeface="宋体" panose="02010600030101010101" pitchFamily="2" charset="-122"/>
                </a:rPr>
                <a:t>x1</a:t>
              </a:r>
            </a:p>
            <a:p>
              <a:pPr lvl="0" algn="ctr">
                <a:spcBef>
                  <a:spcPct val="50000"/>
                </a:spcBef>
              </a:pPr>
              <a:r>
                <a:rPr lang="en-US" altLang="x-none" dirty="0">
                  <a:latin typeface="Arial" panose="020B0604020202020204" pitchFamily="34" charset="0"/>
                  <a:ea typeface="宋体" panose="02010600030101010101" pitchFamily="2" charset="-122"/>
                </a:rPr>
                <a:t>x2</a:t>
              </a:r>
            </a:p>
            <a:p>
              <a:pPr lvl="0" algn="ctr">
                <a:spcBef>
                  <a:spcPct val="50000"/>
                </a:spcBef>
              </a:pPr>
              <a:r>
                <a:rPr lang="en-US" altLang="x-none" dirty="0">
                  <a:latin typeface="Arial" panose="020B0604020202020204" pitchFamily="34" charset="0"/>
                  <a:ea typeface="宋体" panose="02010600030101010101" pitchFamily="2" charset="-122"/>
                </a:rPr>
                <a:t>x3</a:t>
              </a:r>
            </a:p>
            <a:p>
              <a:pPr lvl="0" algn="ctr">
                <a:spcBef>
                  <a:spcPct val="50000"/>
                </a:spcBef>
              </a:pPr>
              <a:r>
                <a:rPr lang="en-US" altLang="x-none" dirty="0">
                  <a:latin typeface="Arial" panose="020B0604020202020204" pitchFamily="34" charset="0"/>
                  <a:ea typeface="宋体" panose="02010600030101010101" pitchFamily="2" charset="-122"/>
                </a:rPr>
                <a:t>x4</a:t>
              </a:r>
            </a:p>
            <a:p>
              <a:pPr lvl="0" algn="ctr">
                <a:spcBef>
                  <a:spcPct val="50000"/>
                </a:spcBef>
              </a:pPr>
              <a:r>
                <a:rPr lang="en-US" altLang="x-none" dirty="0">
                  <a:latin typeface="Arial" panose="020B0604020202020204" pitchFamily="34" charset="0"/>
                  <a:ea typeface="宋体" panose="02010600030101010101" pitchFamily="2" charset="-122"/>
                </a:rPr>
                <a:t>x5</a:t>
              </a:r>
            </a:p>
            <a:p>
              <a:pPr lvl="0" algn="ctr">
                <a:spcBef>
                  <a:spcPct val="50000"/>
                </a:spcBef>
              </a:pPr>
              <a:r>
                <a:rPr lang="en-US" altLang="x-none" dirty="0">
                  <a:latin typeface="Arial" panose="020B0604020202020204" pitchFamily="34" charset="0"/>
                  <a:ea typeface="宋体" panose="02010600030101010101" pitchFamily="2" charset="-122"/>
                </a:rPr>
                <a:t>x6</a:t>
              </a:r>
            </a:p>
          </p:txBody>
        </p:sp>
        <p:sp>
          <p:nvSpPr>
            <p:cNvPr id="97316" name="Text Box 89"/>
            <p:cNvSpPr txBox="1"/>
            <p:nvPr/>
          </p:nvSpPr>
          <p:spPr>
            <a:xfrm>
              <a:off x="72" y="0"/>
              <a:ext cx="726" cy="327"/>
            </a:xfrm>
            <a:prstGeom prst="rect">
              <a:avLst/>
            </a:prstGeom>
            <a:noFill/>
            <a:ln w="9525">
              <a:noFill/>
            </a:ln>
          </p:spPr>
          <p:txBody>
            <a:bodyPr anchor="t">
              <a:spAutoFit/>
            </a:bodyPr>
            <a:lstStyle/>
            <a:p>
              <a:pPr lvl="0" algn="ctr">
                <a:spcBef>
                  <a:spcPct val="50000"/>
                </a:spcBef>
              </a:pPr>
              <a:r>
                <a:rPr lang="en-US" altLang="x-none" sz="2800" b="1" dirty="0">
                  <a:solidFill>
                    <a:srgbClr val="FF0000"/>
                  </a:solidFill>
                  <a:latin typeface="Arial" panose="020B0604020202020204" pitchFamily="34" charset="0"/>
                  <a:ea typeface="宋体" panose="02010600030101010101" pitchFamily="2" charset="-122"/>
                </a:rPr>
                <a:t>A</a:t>
              </a:r>
            </a:p>
          </p:txBody>
        </p:sp>
        <p:sp>
          <p:nvSpPr>
            <p:cNvPr id="97317" name="Oval 90"/>
            <p:cNvSpPr/>
            <p:nvPr/>
          </p:nvSpPr>
          <p:spPr>
            <a:xfrm>
              <a:off x="1724" y="349"/>
              <a:ext cx="843" cy="2795"/>
            </a:xfrm>
            <a:prstGeom prst="ellipse">
              <a:avLst/>
            </a:prstGeom>
            <a:noFill/>
            <a:ln w="25400" cap="flat" cmpd="sng">
              <a:solidFill>
                <a:schemeClr val="tx1"/>
              </a:solidFill>
              <a:prstDash val="solid"/>
              <a:round/>
              <a:headEnd type="none" w="med" len="med"/>
              <a:tailEnd type="none" w="med" len="med"/>
            </a:ln>
          </p:spPr>
          <p:txBody>
            <a:bodyPr tIns="0" bIns="0" anchor="t">
              <a:spAutoFit/>
            </a:bodyPr>
            <a:lstStyle/>
            <a:p>
              <a:pPr lvl="0" algn="ctr">
                <a:spcBef>
                  <a:spcPct val="50000"/>
                </a:spcBef>
              </a:pPr>
              <a:endParaRPr lang="en-US" altLang="x-none" dirty="0">
                <a:latin typeface="Arial" panose="020B0604020202020204" pitchFamily="34" charset="0"/>
                <a:ea typeface="宋体" panose="02010600030101010101" pitchFamily="2" charset="-122"/>
              </a:endParaRPr>
            </a:p>
            <a:p>
              <a:pPr lvl="0" algn="ctr">
                <a:spcBef>
                  <a:spcPct val="50000"/>
                </a:spcBef>
              </a:pPr>
              <a:r>
                <a:rPr lang="en-US" altLang="x-none" dirty="0">
                  <a:latin typeface="Arial" panose="020B0604020202020204" pitchFamily="34" charset="0"/>
                  <a:ea typeface="宋体" panose="02010600030101010101" pitchFamily="2" charset="-122"/>
                </a:rPr>
                <a:t>y1</a:t>
              </a:r>
            </a:p>
            <a:p>
              <a:pPr lvl="0" algn="ctr">
                <a:spcBef>
                  <a:spcPct val="50000"/>
                </a:spcBef>
              </a:pPr>
              <a:endParaRPr lang="en-US" altLang="x-none" dirty="0">
                <a:latin typeface="Arial" panose="020B0604020202020204" pitchFamily="34" charset="0"/>
                <a:ea typeface="宋体" panose="02010600030101010101" pitchFamily="2" charset="-122"/>
              </a:endParaRPr>
            </a:p>
            <a:p>
              <a:pPr lvl="0" algn="ctr">
                <a:spcBef>
                  <a:spcPct val="50000"/>
                </a:spcBef>
              </a:pPr>
              <a:endParaRPr lang="en-US" altLang="x-none" dirty="0">
                <a:latin typeface="Arial" panose="020B0604020202020204" pitchFamily="34" charset="0"/>
                <a:ea typeface="宋体" panose="02010600030101010101" pitchFamily="2" charset="-122"/>
              </a:endParaRPr>
            </a:p>
            <a:p>
              <a:pPr lvl="0" algn="ctr">
                <a:spcBef>
                  <a:spcPct val="50000"/>
                </a:spcBef>
              </a:pPr>
              <a:r>
                <a:rPr lang="en-US" altLang="x-none" dirty="0">
                  <a:latin typeface="Arial" panose="020B0604020202020204" pitchFamily="34" charset="0"/>
                  <a:ea typeface="宋体" panose="02010600030101010101" pitchFamily="2" charset="-122"/>
                </a:rPr>
                <a:t>y2</a:t>
              </a:r>
            </a:p>
            <a:p>
              <a:pPr lvl="0" algn="ctr">
                <a:spcBef>
                  <a:spcPct val="50000"/>
                </a:spcBef>
              </a:pPr>
              <a:endParaRPr lang="en-US" altLang="x-none" dirty="0">
                <a:latin typeface="Arial" panose="020B0604020202020204" pitchFamily="34" charset="0"/>
                <a:ea typeface="宋体" panose="02010600030101010101" pitchFamily="2" charset="-122"/>
              </a:endParaRPr>
            </a:p>
          </p:txBody>
        </p:sp>
        <p:sp>
          <p:nvSpPr>
            <p:cNvPr id="97318" name="Text Box 91"/>
            <p:cNvSpPr txBox="1"/>
            <p:nvPr/>
          </p:nvSpPr>
          <p:spPr>
            <a:xfrm>
              <a:off x="1796" y="0"/>
              <a:ext cx="726" cy="327"/>
            </a:xfrm>
            <a:prstGeom prst="rect">
              <a:avLst/>
            </a:prstGeom>
            <a:noFill/>
            <a:ln w="9525">
              <a:noFill/>
            </a:ln>
          </p:spPr>
          <p:txBody>
            <a:bodyPr anchor="t">
              <a:spAutoFit/>
            </a:bodyPr>
            <a:lstStyle/>
            <a:p>
              <a:pPr lvl="0" algn="ctr">
                <a:spcBef>
                  <a:spcPct val="50000"/>
                </a:spcBef>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97319" name="Line 92"/>
            <p:cNvSpPr/>
            <p:nvPr/>
          </p:nvSpPr>
          <p:spPr>
            <a:xfrm>
              <a:off x="617" y="907"/>
              <a:ext cx="1360" cy="317"/>
            </a:xfrm>
            <a:prstGeom prst="line">
              <a:avLst/>
            </a:prstGeom>
            <a:ln w="25400" cap="flat" cmpd="sng">
              <a:solidFill>
                <a:schemeClr val="tx1"/>
              </a:solidFill>
              <a:prstDash val="solid"/>
              <a:round/>
              <a:headEnd type="oval" w="med" len="med"/>
              <a:tailEnd type="oval"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97320" name="Line 93"/>
            <p:cNvSpPr/>
            <p:nvPr/>
          </p:nvSpPr>
          <p:spPr>
            <a:xfrm flipV="1">
              <a:off x="617" y="1224"/>
              <a:ext cx="1360" cy="318"/>
            </a:xfrm>
            <a:prstGeom prst="line">
              <a:avLst/>
            </a:prstGeom>
            <a:ln w="25400" cap="flat" cmpd="sng">
              <a:solidFill>
                <a:schemeClr val="tx1"/>
              </a:solidFill>
              <a:prstDash val="solid"/>
              <a:round/>
              <a:headEnd type="oval" w="med" len="med"/>
              <a:tailEnd type="oval"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97321" name="Line 94"/>
            <p:cNvSpPr/>
            <p:nvPr/>
          </p:nvSpPr>
          <p:spPr>
            <a:xfrm flipV="1">
              <a:off x="617" y="1224"/>
              <a:ext cx="1360" cy="635"/>
            </a:xfrm>
            <a:prstGeom prst="line">
              <a:avLst/>
            </a:prstGeom>
            <a:ln w="25400" cap="flat" cmpd="sng">
              <a:solidFill>
                <a:schemeClr val="tx1"/>
              </a:solidFill>
              <a:prstDash val="solid"/>
              <a:round/>
              <a:headEnd type="oval" w="med" len="med"/>
              <a:tailEnd type="oval"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97322" name="Line 95"/>
            <p:cNvSpPr/>
            <p:nvPr/>
          </p:nvSpPr>
          <p:spPr>
            <a:xfrm>
              <a:off x="617" y="1224"/>
              <a:ext cx="1360" cy="1044"/>
            </a:xfrm>
            <a:prstGeom prst="line">
              <a:avLst/>
            </a:prstGeom>
            <a:ln w="25400" cap="flat" cmpd="sng">
              <a:solidFill>
                <a:srgbClr val="FF0000"/>
              </a:solidFill>
              <a:prstDash val="solid"/>
              <a:round/>
              <a:headEnd type="oval" w="med" len="med"/>
              <a:tailEnd type="oval"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97323" name="Line 96"/>
            <p:cNvSpPr/>
            <p:nvPr/>
          </p:nvSpPr>
          <p:spPr>
            <a:xfrm>
              <a:off x="571" y="2222"/>
              <a:ext cx="1406" cy="46"/>
            </a:xfrm>
            <a:prstGeom prst="line">
              <a:avLst/>
            </a:prstGeom>
            <a:ln w="25400" cap="flat" cmpd="sng">
              <a:solidFill>
                <a:srgbClr val="FF0000"/>
              </a:solidFill>
              <a:prstDash val="solid"/>
              <a:round/>
              <a:headEnd type="oval" w="med" len="med"/>
              <a:tailEnd type="oval"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97324" name="Line 97"/>
            <p:cNvSpPr/>
            <p:nvPr/>
          </p:nvSpPr>
          <p:spPr>
            <a:xfrm flipV="1">
              <a:off x="571" y="2268"/>
              <a:ext cx="1406" cy="317"/>
            </a:xfrm>
            <a:prstGeom prst="line">
              <a:avLst/>
            </a:prstGeom>
            <a:ln w="25400" cap="flat" cmpd="sng">
              <a:solidFill>
                <a:srgbClr val="FF0000"/>
              </a:solidFill>
              <a:prstDash val="solid"/>
              <a:round/>
              <a:headEnd type="oval" w="med" len="med"/>
              <a:tailEnd type="oval"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grpSp>
      <p:sp>
        <p:nvSpPr>
          <p:cNvPr id="97326" name="AutoShape 98"/>
          <p:cNvSpPr/>
          <p:nvPr/>
        </p:nvSpPr>
        <p:spPr>
          <a:xfrm>
            <a:off x="2987675" y="3141663"/>
            <a:ext cx="936625" cy="647700"/>
          </a:xfrm>
          <a:prstGeom prst="rightArrow">
            <a:avLst>
              <a:gd name="adj1" fmla="val 50000"/>
              <a:gd name="adj2" fmla="val 36098"/>
            </a:avLst>
          </a:prstGeom>
          <a:solidFill>
            <a:srgbClr val="C0C0C0"/>
          </a:solidFill>
          <a:ln w="9525" cap="flat" cmpd="sng">
            <a:solidFill>
              <a:schemeClr val="tx1"/>
            </a:solidFill>
            <a:prstDash val="solid"/>
            <a:miter/>
            <a:headEnd type="none" w="med" len="med"/>
            <a:tailEnd type="none" w="med" len="med"/>
          </a:ln>
        </p:spPr>
        <p:txBody>
          <a:bodyPr wrap="none" anchor="ctr"/>
          <a:lstStyle/>
          <a:p>
            <a:pPr lvl="0" algn="ctr"/>
            <a:endParaRPr lang="zh-CN" altLang="en-US" dirty="0">
              <a:latin typeface="Times New Roman" panose="02020603050405020304" pitchFamily="2" charset="0"/>
              <a:ea typeface="宋体" panose="02010600030101010101" pitchFamily="2" charset="-122"/>
            </a:endParaRPr>
          </a:p>
        </p:txBody>
      </p:sp>
      <p:sp>
        <p:nvSpPr>
          <p:cNvPr id="3" name="Text Box 102"/>
          <p:cNvSpPr txBox="1"/>
          <p:nvPr/>
        </p:nvSpPr>
        <p:spPr>
          <a:xfrm>
            <a:off x="766763" y="5565775"/>
            <a:ext cx="1600200" cy="1031875"/>
          </a:xfrm>
          <a:prstGeom prst="rect">
            <a:avLst/>
          </a:prstGeom>
          <a:noFill/>
          <a:ln w="9525">
            <a:noFill/>
          </a:ln>
        </p:spPr>
        <p:txBody>
          <a:bodyPr anchor="t">
            <a:spAutoFit/>
          </a:bodyPr>
          <a:lstStyle/>
          <a:p>
            <a:pPr lvl="0" algn="ctr">
              <a:spcBef>
                <a:spcPct val="20000"/>
              </a:spcBef>
            </a:pPr>
            <a:r>
              <a:rPr lang="en-US" altLang="x-none" sz="2800" b="1" dirty="0">
                <a:latin typeface="Arial" panose="020B0604020202020204" pitchFamily="34" charset="0"/>
                <a:ea typeface="宋体" panose="02010600030101010101" pitchFamily="2" charset="-122"/>
              </a:rPr>
              <a:t>A→B ?</a:t>
            </a:r>
          </a:p>
          <a:p>
            <a:pPr lvl="0" algn="ctr">
              <a:spcBef>
                <a:spcPct val="20000"/>
              </a:spcBef>
            </a:pPr>
            <a:r>
              <a:rPr lang="en-US" altLang="x-none" sz="2800" b="1" dirty="0">
                <a:latin typeface="Arial" panose="020B0604020202020204" pitchFamily="34" charset="0"/>
                <a:ea typeface="宋体" panose="02010600030101010101" pitchFamily="2" charset="-122"/>
              </a:rPr>
              <a:t>B→A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97326"/>
                                        </p:tgtEl>
                                        <p:attrNameLst>
                                          <p:attrName>style.visibility</p:attrName>
                                        </p:attrNameLst>
                                      </p:cBhvr>
                                      <p:to>
                                        <p:strVal val="visible"/>
                                      </p:to>
                                    </p:set>
                                    <p:anim calcmode="lin" valueType="num">
                                      <p:cBhvr>
                                        <p:cTn id="7" dur="500" fill="hold"/>
                                        <p:tgtEl>
                                          <p:spTgt spid="97326"/>
                                        </p:tgtEl>
                                        <p:attrNameLst>
                                          <p:attrName>ppt_x</p:attrName>
                                        </p:attrNameLst>
                                      </p:cBhvr>
                                      <p:tavLst>
                                        <p:tav tm="0">
                                          <p:val>
                                            <p:strVal val="#ppt_x-#ppt_w/2"/>
                                          </p:val>
                                        </p:tav>
                                        <p:tav tm="100000">
                                          <p:val>
                                            <p:strVal val="#ppt_x"/>
                                          </p:val>
                                        </p:tav>
                                      </p:tavLst>
                                    </p:anim>
                                    <p:anim calcmode="lin" valueType="num">
                                      <p:cBhvr>
                                        <p:cTn id="8" dur="500" fill="hold"/>
                                        <p:tgtEl>
                                          <p:spTgt spid="97326"/>
                                        </p:tgtEl>
                                        <p:attrNameLst>
                                          <p:attrName>ppt_y</p:attrName>
                                        </p:attrNameLst>
                                      </p:cBhvr>
                                      <p:tavLst>
                                        <p:tav tm="0">
                                          <p:val>
                                            <p:strVal val="#ppt_y"/>
                                          </p:val>
                                        </p:tav>
                                        <p:tav tm="100000">
                                          <p:val>
                                            <p:strVal val="#ppt_y"/>
                                          </p:val>
                                        </p:tav>
                                      </p:tavLst>
                                    </p:anim>
                                    <p:anim calcmode="lin" valueType="num">
                                      <p:cBhvr>
                                        <p:cTn id="9" dur="500" fill="hold"/>
                                        <p:tgtEl>
                                          <p:spTgt spid="97326"/>
                                        </p:tgtEl>
                                        <p:attrNameLst>
                                          <p:attrName>ppt_w</p:attrName>
                                        </p:attrNameLst>
                                      </p:cBhvr>
                                      <p:tavLst>
                                        <p:tav tm="0">
                                          <p:val>
                                            <p:fltVal val="0"/>
                                          </p:val>
                                        </p:tav>
                                        <p:tav tm="100000">
                                          <p:val>
                                            <p:strVal val="#ppt_w"/>
                                          </p:val>
                                        </p:tav>
                                      </p:tavLst>
                                    </p:anim>
                                    <p:anim calcmode="lin" valueType="num">
                                      <p:cBhvr>
                                        <p:cTn id="10" dur="500" fill="hold"/>
                                        <p:tgtEl>
                                          <p:spTgt spid="97326"/>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1" presetClass="entr" presetSubtype="0" fill="hold" nodeType="afterEffect">
                                  <p:stCondLst>
                                    <p:cond delay="0"/>
                                  </p:stCondLst>
                                  <p:childTnLst>
                                    <p:set>
                                      <p:cBhvr>
                                        <p:cTn id="13" dur="1" fill="hold">
                                          <p:stCondLst>
                                            <p:cond delay="0"/>
                                          </p:stCondLst>
                                        </p:cTn>
                                        <p:tgtEl>
                                          <p:spTgt spid="9731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97314"/>
                                        </p:tgtEl>
                                        <p:attrNameLst>
                                          <p:attrName>style.visibility</p:attrName>
                                        </p:attrNameLst>
                                      </p:cBhvr>
                                      <p:to>
                                        <p:strVal val="visible"/>
                                      </p:to>
                                    </p:set>
                                    <p:anim calcmode="lin" valueType="num">
                                      <p:cBhvr>
                                        <p:cTn id="18" dur="500" fill="hold"/>
                                        <p:tgtEl>
                                          <p:spTgt spid="97314"/>
                                        </p:tgtEl>
                                        <p:attrNameLst>
                                          <p:attrName>ppt_x</p:attrName>
                                        </p:attrNameLst>
                                      </p:cBhvr>
                                      <p:tavLst>
                                        <p:tav tm="0">
                                          <p:val>
                                            <p:strVal val="#ppt_x"/>
                                          </p:val>
                                        </p:tav>
                                        <p:tav tm="100000">
                                          <p:val>
                                            <p:strVal val="#ppt_x"/>
                                          </p:val>
                                        </p:tav>
                                      </p:tavLst>
                                    </p:anim>
                                    <p:anim calcmode="lin" valueType="num">
                                      <p:cBhvr>
                                        <p:cTn id="19" dur="500" fill="hold"/>
                                        <p:tgtEl>
                                          <p:spTgt spid="973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314" grpId="0"/>
      <p:bldP spid="9732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24</a:t>
            </a:fld>
            <a:endParaRPr lang="zh-CN" altLang="en-US" sz="1200" b="1" i="1" dirty="0">
              <a:latin typeface="Times New Roman" panose="02020603050405020304" pitchFamily="2" charset="0"/>
              <a:ea typeface="宋体" panose="02010600030101010101" pitchFamily="2" charset="-122"/>
            </a:endParaRPr>
          </a:p>
        </p:txBody>
      </p:sp>
      <p:sp>
        <p:nvSpPr>
          <p:cNvPr id="98308"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6.6 </a:t>
            </a:r>
            <a:r>
              <a:rPr lang="en-US" altLang="x-none" dirty="0">
                <a:ea typeface="宋体" panose="02010600030101010101" pitchFamily="2" charset="-122"/>
              </a:rPr>
              <a:t>Functional Dependencies</a:t>
            </a:r>
          </a:p>
        </p:txBody>
      </p:sp>
      <p:sp>
        <p:nvSpPr>
          <p:cNvPr id="98309" name="Rectangle 3"/>
          <p:cNvSpPr>
            <a:spLocks noGrp="1"/>
          </p:cNvSpPr>
          <p:nvPr>
            <p:ph type="body"/>
          </p:nvPr>
        </p:nvSpPr>
        <p:spPr/>
        <p:txBody>
          <a:bodyPr wrap="square" anchor="t"/>
          <a:lstStyle/>
          <a:p>
            <a:pPr lvl="0" eaLnBrk="1" hangingPunct="1"/>
            <a:r>
              <a:rPr lang="en-US" altLang="x-none" dirty="0">
                <a:ea typeface="宋体" panose="02010600030101010101" pitchFamily="2" charset="-122"/>
              </a:rPr>
              <a:t>Example 6.6.2</a:t>
            </a:r>
          </a:p>
        </p:txBody>
      </p:sp>
      <p:graphicFrame>
        <p:nvGraphicFramePr>
          <p:cNvPr id="98311" name="表格 98310"/>
          <p:cNvGraphicFramePr/>
          <p:nvPr/>
        </p:nvGraphicFramePr>
        <p:xfrm>
          <a:off x="468313" y="1773238"/>
          <a:ext cx="2198688" cy="3671888"/>
        </p:xfrm>
        <a:graphic>
          <a:graphicData uri="http://schemas.openxmlformats.org/drawingml/2006/table">
            <a:tbl>
              <a:tblPr/>
              <a:tblGrid>
                <a:gridCol w="1050925">
                  <a:extLst>
                    <a:ext uri="{9D8B030D-6E8A-4147-A177-3AD203B41FA5}">
                      <a16:colId xmlns:a16="http://schemas.microsoft.com/office/drawing/2014/main" val="20000"/>
                    </a:ext>
                  </a:extLst>
                </a:gridCol>
                <a:gridCol w="1147763">
                  <a:extLst>
                    <a:ext uri="{9D8B030D-6E8A-4147-A177-3AD203B41FA5}">
                      <a16:colId xmlns:a16="http://schemas.microsoft.com/office/drawing/2014/main" val="20001"/>
                    </a:ext>
                  </a:extLst>
                </a:gridCol>
              </a:tblGrid>
              <a:tr h="731838">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73660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1"/>
                  </a:ext>
                </a:extLst>
              </a:tr>
              <a:tr h="735012">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y4</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2"/>
                  </a:ext>
                </a:extLst>
              </a:tr>
              <a:tr h="735013">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3"/>
                  </a:ext>
                </a:extLst>
              </a:tr>
              <a:tr h="73342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x4</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4"/>
                  </a:ext>
                </a:extLst>
              </a:tr>
            </a:tbl>
          </a:graphicData>
        </a:graphic>
      </p:graphicFrame>
      <p:sp>
        <p:nvSpPr>
          <p:cNvPr id="98330" name="Text Box 30"/>
          <p:cNvSpPr txBox="1"/>
          <p:nvPr/>
        </p:nvSpPr>
        <p:spPr>
          <a:xfrm>
            <a:off x="1216025" y="1341438"/>
            <a:ext cx="1295400" cy="457200"/>
          </a:xfrm>
          <a:prstGeom prst="rect">
            <a:avLst/>
          </a:prstGeom>
          <a:noFill/>
          <a:ln w="9525">
            <a:noFill/>
          </a:ln>
        </p:spPr>
        <p:txBody>
          <a:bodyPr anchor="t">
            <a:spAutoFit/>
          </a:bodyPr>
          <a:lstStyle/>
          <a:p>
            <a:pPr lvl="0" algn="ctr">
              <a:spcBef>
                <a:spcPct val="50000"/>
              </a:spcBef>
            </a:pPr>
            <a:r>
              <a:rPr lang="en-US" altLang="x-none" b="1" dirty="0">
                <a:latin typeface="Arial" panose="020B0604020202020204" pitchFamily="34" charset="0"/>
                <a:ea typeface="宋体" panose="02010600030101010101" pitchFamily="2" charset="-122"/>
              </a:rPr>
              <a:t>T2</a:t>
            </a:r>
          </a:p>
        </p:txBody>
      </p:sp>
      <p:sp>
        <p:nvSpPr>
          <p:cNvPr id="98332" name="Text Box 31"/>
          <p:cNvSpPr txBox="1"/>
          <p:nvPr/>
        </p:nvSpPr>
        <p:spPr>
          <a:xfrm>
            <a:off x="5635625" y="5445125"/>
            <a:ext cx="1600200" cy="1160463"/>
          </a:xfrm>
          <a:prstGeom prst="rect">
            <a:avLst/>
          </a:prstGeom>
          <a:noFill/>
          <a:ln w="9525">
            <a:noFill/>
          </a:ln>
        </p:spPr>
        <p:txBody>
          <a:bodyPr anchor="t">
            <a:spAutoFit/>
          </a:bodyPr>
          <a:lstStyle/>
          <a:p>
            <a:pPr lvl="0" algn="ctr">
              <a:spcBef>
                <a:spcPct val="50000"/>
              </a:spcBef>
            </a:pPr>
            <a:r>
              <a:rPr lang="en-US" altLang="x-none" sz="2800" b="1" dirty="0">
                <a:solidFill>
                  <a:srgbClr val="FF0000"/>
                </a:solidFill>
                <a:latin typeface="Arial" panose="020B0604020202020204" pitchFamily="34" charset="0"/>
                <a:ea typeface="宋体" panose="02010600030101010101" pitchFamily="2" charset="-122"/>
              </a:rPr>
              <a:t>A → B</a:t>
            </a:r>
          </a:p>
          <a:p>
            <a:pPr lvl="0" algn="ctr">
              <a:spcBef>
                <a:spcPct val="50000"/>
              </a:spcBef>
            </a:pPr>
            <a:r>
              <a:rPr lang="en-US" altLang="x-none" sz="2800" b="1" dirty="0">
                <a:solidFill>
                  <a:srgbClr val="FF0000"/>
                </a:solidFill>
                <a:latin typeface="Arial" panose="020B0604020202020204" pitchFamily="34" charset="0"/>
                <a:ea typeface="宋体" panose="02010600030101010101" pitchFamily="2" charset="-122"/>
              </a:rPr>
              <a:t>B → A</a:t>
            </a:r>
          </a:p>
        </p:txBody>
      </p:sp>
      <p:grpSp>
        <p:nvGrpSpPr>
          <p:cNvPr id="98333" name="组合 98332"/>
          <p:cNvGrpSpPr/>
          <p:nvPr/>
        </p:nvGrpSpPr>
        <p:grpSpPr>
          <a:xfrm>
            <a:off x="4313238" y="765175"/>
            <a:ext cx="4075112" cy="4546600"/>
            <a:chOff x="0" y="0"/>
            <a:chExt cx="2567" cy="2864"/>
          </a:xfrm>
        </p:grpSpPr>
        <p:sp>
          <p:nvSpPr>
            <p:cNvPr id="2" name="Oval 33"/>
            <p:cNvSpPr/>
            <p:nvPr/>
          </p:nvSpPr>
          <p:spPr>
            <a:xfrm>
              <a:off x="0" y="397"/>
              <a:ext cx="843" cy="2467"/>
            </a:xfrm>
            <a:prstGeom prst="ellipse">
              <a:avLst/>
            </a:prstGeom>
            <a:noFill/>
            <a:ln w="25400" cap="flat" cmpd="sng">
              <a:solidFill>
                <a:schemeClr val="tx1"/>
              </a:solidFill>
              <a:prstDash val="solid"/>
              <a:round/>
              <a:headEnd type="none" w="med" len="med"/>
              <a:tailEnd type="none" w="med" len="med"/>
            </a:ln>
          </p:spPr>
          <p:txBody>
            <a:bodyPr tIns="0" bIns="0" anchor="t">
              <a:spAutoFit/>
            </a:bodyPr>
            <a:lstStyle/>
            <a:p>
              <a:pPr lvl="0" algn="ctr">
                <a:lnSpc>
                  <a:spcPct val="150000"/>
                </a:lnSpc>
                <a:spcBef>
                  <a:spcPct val="50000"/>
                </a:spcBef>
              </a:pPr>
              <a:r>
                <a:rPr lang="en-US" altLang="x-none" dirty="0">
                  <a:latin typeface="Arial" panose="020B0604020202020204" pitchFamily="34" charset="0"/>
                  <a:ea typeface="宋体" panose="02010600030101010101" pitchFamily="2" charset="-122"/>
                </a:rPr>
                <a:t>x1</a:t>
              </a:r>
            </a:p>
            <a:p>
              <a:pPr lvl="0" algn="ctr">
                <a:lnSpc>
                  <a:spcPct val="150000"/>
                </a:lnSpc>
                <a:spcBef>
                  <a:spcPct val="50000"/>
                </a:spcBef>
              </a:pPr>
              <a:r>
                <a:rPr lang="en-US" altLang="x-none" dirty="0">
                  <a:latin typeface="Arial" panose="020B0604020202020204" pitchFamily="34" charset="0"/>
                  <a:ea typeface="宋体" panose="02010600030101010101" pitchFamily="2" charset="-122"/>
                </a:rPr>
                <a:t>x2</a:t>
              </a:r>
            </a:p>
            <a:p>
              <a:pPr lvl="0" algn="ctr">
                <a:lnSpc>
                  <a:spcPct val="150000"/>
                </a:lnSpc>
                <a:spcBef>
                  <a:spcPct val="50000"/>
                </a:spcBef>
              </a:pPr>
              <a:r>
                <a:rPr lang="en-US" altLang="x-none" dirty="0">
                  <a:latin typeface="Arial" panose="020B0604020202020204" pitchFamily="34" charset="0"/>
                  <a:ea typeface="宋体" panose="02010600030101010101" pitchFamily="2" charset="-122"/>
                </a:rPr>
                <a:t>x3</a:t>
              </a:r>
            </a:p>
            <a:p>
              <a:pPr lvl="0" algn="ctr">
                <a:lnSpc>
                  <a:spcPct val="150000"/>
                </a:lnSpc>
                <a:spcBef>
                  <a:spcPct val="50000"/>
                </a:spcBef>
              </a:pPr>
              <a:r>
                <a:rPr lang="en-US" altLang="x-none" dirty="0">
                  <a:latin typeface="Arial" panose="020B0604020202020204" pitchFamily="34" charset="0"/>
                  <a:ea typeface="宋体" panose="02010600030101010101" pitchFamily="2" charset="-122"/>
                </a:rPr>
                <a:t>x4</a:t>
              </a:r>
            </a:p>
          </p:txBody>
        </p:sp>
        <p:sp>
          <p:nvSpPr>
            <p:cNvPr id="98334" name="Text Box 34"/>
            <p:cNvSpPr txBox="1"/>
            <p:nvPr/>
          </p:nvSpPr>
          <p:spPr>
            <a:xfrm>
              <a:off x="72" y="0"/>
              <a:ext cx="726" cy="327"/>
            </a:xfrm>
            <a:prstGeom prst="rect">
              <a:avLst/>
            </a:prstGeom>
            <a:noFill/>
            <a:ln w="9525">
              <a:noFill/>
            </a:ln>
          </p:spPr>
          <p:txBody>
            <a:bodyPr anchor="t">
              <a:spAutoFit/>
            </a:bodyPr>
            <a:lstStyle/>
            <a:p>
              <a:pPr lvl="0" algn="ctr">
                <a:spcBef>
                  <a:spcPct val="50000"/>
                </a:spcBef>
              </a:pPr>
              <a:r>
                <a:rPr lang="en-US" altLang="x-none" sz="2800" b="1" dirty="0">
                  <a:solidFill>
                    <a:srgbClr val="FF0000"/>
                  </a:solidFill>
                  <a:latin typeface="Arial" panose="020B0604020202020204" pitchFamily="34" charset="0"/>
                  <a:ea typeface="宋体" panose="02010600030101010101" pitchFamily="2" charset="-122"/>
                </a:rPr>
                <a:t>A</a:t>
              </a:r>
            </a:p>
          </p:txBody>
        </p:sp>
        <p:sp>
          <p:nvSpPr>
            <p:cNvPr id="98335" name="Oval 35"/>
            <p:cNvSpPr/>
            <p:nvPr/>
          </p:nvSpPr>
          <p:spPr>
            <a:xfrm>
              <a:off x="1724" y="397"/>
              <a:ext cx="843" cy="2467"/>
            </a:xfrm>
            <a:prstGeom prst="ellipse">
              <a:avLst/>
            </a:prstGeom>
            <a:noFill/>
            <a:ln w="25400" cap="flat" cmpd="sng">
              <a:solidFill>
                <a:schemeClr val="tx1"/>
              </a:solidFill>
              <a:prstDash val="solid"/>
              <a:round/>
              <a:headEnd type="none" w="med" len="med"/>
              <a:tailEnd type="none" w="med" len="med"/>
            </a:ln>
          </p:spPr>
          <p:txBody>
            <a:bodyPr lIns="107950" tIns="0" rIns="0" bIns="0" anchor="t">
              <a:spAutoFit/>
            </a:bodyPr>
            <a:lstStyle/>
            <a:p>
              <a:pPr lvl="0" algn="ctr">
                <a:lnSpc>
                  <a:spcPct val="150000"/>
                </a:lnSpc>
                <a:spcBef>
                  <a:spcPct val="50000"/>
                </a:spcBef>
              </a:pPr>
              <a:r>
                <a:rPr lang="en-US" altLang="x-none" dirty="0">
                  <a:latin typeface="Arial" panose="020B0604020202020204" pitchFamily="34" charset="0"/>
                  <a:ea typeface="宋体" panose="02010600030101010101" pitchFamily="2" charset="-122"/>
                </a:rPr>
                <a:t>y1</a:t>
              </a:r>
            </a:p>
            <a:p>
              <a:pPr lvl="0" algn="ctr">
                <a:lnSpc>
                  <a:spcPct val="150000"/>
                </a:lnSpc>
                <a:spcBef>
                  <a:spcPct val="50000"/>
                </a:spcBef>
              </a:pPr>
              <a:r>
                <a:rPr lang="en-US" altLang="x-none" dirty="0">
                  <a:latin typeface="Arial" panose="020B0604020202020204" pitchFamily="34" charset="0"/>
                  <a:ea typeface="宋体" panose="02010600030101010101" pitchFamily="2" charset="-122"/>
                </a:rPr>
                <a:t>y2</a:t>
              </a:r>
            </a:p>
            <a:p>
              <a:pPr lvl="0" algn="ctr">
                <a:lnSpc>
                  <a:spcPct val="150000"/>
                </a:lnSpc>
                <a:spcBef>
                  <a:spcPct val="50000"/>
                </a:spcBef>
              </a:pPr>
              <a:r>
                <a:rPr lang="en-US" altLang="x-none" dirty="0">
                  <a:latin typeface="Arial" panose="020B0604020202020204" pitchFamily="34" charset="0"/>
                  <a:ea typeface="宋体" panose="02010600030101010101" pitchFamily="2" charset="-122"/>
                </a:rPr>
                <a:t>y3</a:t>
              </a:r>
            </a:p>
            <a:p>
              <a:pPr lvl="0" algn="ctr">
                <a:lnSpc>
                  <a:spcPct val="150000"/>
                </a:lnSpc>
                <a:spcBef>
                  <a:spcPct val="50000"/>
                </a:spcBef>
              </a:pPr>
              <a:r>
                <a:rPr lang="en-US" altLang="x-none" dirty="0">
                  <a:latin typeface="Arial" panose="020B0604020202020204" pitchFamily="34" charset="0"/>
                  <a:ea typeface="宋体" panose="02010600030101010101" pitchFamily="2" charset="-122"/>
                </a:rPr>
                <a:t>y4</a:t>
              </a:r>
            </a:p>
          </p:txBody>
        </p:sp>
        <p:sp>
          <p:nvSpPr>
            <p:cNvPr id="98336" name="Text Box 36"/>
            <p:cNvSpPr txBox="1"/>
            <p:nvPr/>
          </p:nvSpPr>
          <p:spPr>
            <a:xfrm>
              <a:off x="1796" y="0"/>
              <a:ext cx="726" cy="327"/>
            </a:xfrm>
            <a:prstGeom prst="rect">
              <a:avLst/>
            </a:prstGeom>
            <a:noFill/>
            <a:ln w="9525">
              <a:noFill/>
            </a:ln>
          </p:spPr>
          <p:txBody>
            <a:bodyPr anchor="t">
              <a:spAutoFit/>
            </a:bodyPr>
            <a:lstStyle/>
            <a:p>
              <a:pPr lvl="0" algn="ctr">
                <a:spcBef>
                  <a:spcPct val="50000"/>
                </a:spcBef>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98337" name="Line 37"/>
            <p:cNvSpPr/>
            <p:nvPr/>
          </p:nvSpPr>
          <p:spPr>
            <a:xfrm>
              <a:off x="617" y="998"/>
              <a:ext cx="1406" cy="0"/>
            </a:xfrm>
            <a:prstGeom prst="line">
              <a:avLst/>
            </a:prstGeom>
            <a:ln w="25400" cap="flat" cmpd="sng">
              <a:solidFill>
                <a:schemeClr val="tx1"/>
              </a:solidFill>
              <a:prstDash val="solid"/>
              <a:round/>
              <a:headEnd type="oval" w="med" len="med"/>
              <a:tailEnd type="oval"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98338" name="Line 38"/>
            <p:cNvSpPr/>
            <p:nvPr/>
          </p:nvSpPr>
          <p:spPr>
            <a:xfrm>
              <a:off x="617" y="1452"/>
              <a:ext cx="1406" cy="861"/>
            </a:xfrm>
            <a:prstGeom prst="line">
              <a:avLst/>
            </a:prstGeom>
            <a:ln w="25400" cap="flat" cmpd="sng">
              <a:solidFill>
                <a:srgbClr val="008000"/>
              </a:solidFill>
              <a:prstDash val="solid"/>
              <a:round/>
              <a:headEnd type="oval" w="med" len="med"/>
              <a:tailEnd type="oval"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98339" name="Line 39"/>
            <p:cNvSpPr/>
            <p:nvPr/>
          </p:nvSpPr>
          <p:spPr>
            <a:xfrm flipV="1">
              <a:off x="617" y="1406"/>
              <a:ext cx="1360" cy="453"/>
            </a:xfrm>
            <a:prstGeom prst="line">
              <a:avLst/>
            </a:prstGeom>
            <a:ln w="25400" cap="flat" cmpd="sng">
              <a:solidFill>
                <a:srgbClr val="800080"/>
              </a:solidFill>
              <a:prstDash val="solid"/>
              <a:round/>
              <a:headEnd type="oval" w="med" len="med"/>
              <a:tailEnd type="oval"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98340" name="Line 41"/>
            <p:cNvSpPr/>
            <p:nvPr/>
          </p:nvSpPr>
          <p:spPr>
            <a:xfrm flipV="1">
              <a:off x="617" y="1905"/>
              <a:ext cx="1360" cy="453"/>
            </a:xfrm>
            <a:prstGeom prst="line">
              <a:avLst/>
            </a:prstGeom>
            <a:ln w="25400" cap="flat" cmpd="sng">
              <a:solidFill>
                <a:srgbClr val="FF0000"/>
              </a:solidFill>
              <a:prstDash val="solid"/>
              <a:round/>
              <a:headEnd type="oval" w="med" len="med"/>
              <a:tailEnd type="oval"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grpSp>
      <p:sp>
        <p:nvSpPr>
          <p:cNvPr id="98342" name="AutoShape 43"/>
          <p:cNvSpPr/>
          <p:nvPr/>
        </p:nvSpPr>
        <p:spPr>
          <a:xfrm>
            <a:off x="2987675" y="3141663"/>
            <a:ext cx="936625" cy="647700"/>
          </a:xfrm>
          <a:prstGeom prst="rightArrow">
            <a:avLst>
              <a:gd name="adj1" fmla="val 50000"/>
              <a:gd name="adj2" fmla="val 36098"/>
            </a:avLst>
          </a:prstGeom>
          <a:solidFill>
            <a:srgbClr val="C0C0C0"/>
          </a:solidFill>
          <a:ln w="9525" cap="flat" cmpd="sng">
            <a:solidFill>
              <a:schemeClr val="tx1"/>
            </a:solidFill>
            <a:prstDash val="solid"/>
            <a:miter/>
            <a:headEnd type="none" w="med" len="med"/>
            <a:tailEnd type="none" w="med" len="med"/>
          </a:ln>
        </p:spPr>
        <p:txBody>
          <a:bodyPr wrap="none" anchor="ctr"/>
          <a:lstStyle/>
          <a:p>
            <a:pPr lvl="0" algn="ctr"/>
            <a:endParaRPr lang="zh-CN" altLang="en-US" dirty="0">
              <a:latin typeface="Times New Roman" panose="02020603050405020304" pitchFamily="2" charset="0"/>
              <a:ea typeface="宋体" panose="02010600030101010101" pitchFamily="2" charset="-122"/>
            </a:endParaRPr>
          </a:p>
        </p:txBody>
      </p:sp>
      <p:sp>
        <p:nvSpPr>
          <p:cNvPr id="3" name="Text Box 47"/>
          <p:cNvSpPr txBox="1"/>
          <p:nvPr/>
        </p:nvSpPr>
        <p:spPr>
          <a:xfrm>
            <a:off x="827088" y="5519738"/>
            <a:ext cx="1600200" cy="1031875"/>
          </a:xfrm>
          <a:prstGeom prst="rect">
            <a:avLst/>
          </a:prstGeom>
          <a:noFill/>
          <a:ln w="9525">
            <a:noFill/>
          </a:ln>
        </p:spPr>
        <p:txBody>
          <a:bodyPr anchor="t">
            <a:spAutoFit/>
          </a:bodyPr>
          <a:lstStyle/>
          <a:p>
            <a:pPr lvl="0" algn="ctr">
              <a:spcBef>
                <a:spcPct val="20000"/>
              </a:spcBef>
            </a:pPr>
            <a:r>
              <a:rPr lang="en-US" altLang="x-none" sz="2800" b="1" dirty="0">
                <a:latin typeface="Arial" panose="020B0604020202020204" pitchFamily="34" charset="0"/>
                <a:ea typeface="宋体" panose="02010600030101010101" pitchFamily="2" charset="-122"/>
              </a:rPr>
              <a:t>A→B ?</a:t>
            </a:r>
          </a:p>
          <a:p>
            <a:pPr lvl="0" algn="ctr">
              <a:spcBef>
                <a:spcPct val="20000"/>
              </a:spcBef>
            </a:pPr>
            <a:r>
              <a:rPr lang="en-US" altLang="x-none" sz="2800" b="1" dirty="0">
                <a:latin typeface="Arial" panose="020B0604020202020204" pitchFamily="34" charset="0"/>
                <a:ea typeface="宋体" panose="02010600030101010101" pitchFamily="2" charset="-122"/>
              </a:rPr>
              <a:t>B→A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98342"/>
                                        </p:tgtEl>
                                        <p:attrNameLst>
                                          <p:attrName>style.visibility</p:attrName>
                                        </p:attrNameLst>
                                      </p:cBhvr>
                                      <p:to>
                                        <p:strVal val="visible"/>
                                      </p:to>
                                    </p:set>
                                    <p:anim calcmode="lin" valueType="num">
                                      <p:cBhvr>
                                        <p:cTn id="7" dur="500" fill="hold"/>
                                        <p:tgtEl>
                                          <p:spTgt spid="98342"/>
                                        </p:tgtEl>
                                        <p:attrNameLst>
                                          <p:attrName>ppt_x</p:attrName>
                                        </p:attrNameLst>
                                      </p:cBhvr>
                                      <p:tavLst>
                                        <p:tav tm="0">
                                          <p:val>
                                            <p:strVal val="#ppt_x-#ppt_w/2"/>
                                          </p:val>
                                        </p:tav>
                                        <p:tav tm="100000">
                                          <p:val>
                                            <p:strVal val="#ppt_x"/>
                                          </p:val>
                                        </p:tav>
                                      </p:tavLst>
                                    </p:anim>
                                    <p:anim calcmode="lin" valueType="num">
                                      <p:cBhvr>
                                        <p:cTn id="8" dur="500" fill="hold"/>
                                        <p:tgtEl>
                                          <p:spTgt spid="98342"/>
                                        </p:tgtEl>
                                        <p:attrNameLst>
                                          <p:attrName>ppt_y</p:attrName>
                                        </p:attrNameLst>
                                      </p:cBhvr>
                                      <p:tavLst>
                                        <p:tav tm="0">
                                          <p:val>
                                            <p:strVal val="#ppt_y"/>
                                          </p:val>
                                        </p:tav>
                                        <p:tav tm="100000">
                                          <p:val>
                                            <p:strVal val="#ppt_y"/>
                                          </p:val>
                                        </p:tav>
                                      </p:tavLst>
                                    </p:anim>
                                    <p:anim calcmode="lin" valueType="num">
                                      <p:cBhvr>
                                        <p:cTn id="9" dur="500" fill="hold"/>
                                        <p:tgtEl>
                                          <p:spTgt spid="98342"/>
                                        </p:tgtEl>
                                        <p:attrNameLst>
                                          <p:attrName>ppt_w</p:attrName>
                                        </p:attrNameLst>
                                      </p:cBhvr>
                                      <p:tavLst>
                                        <p:tav tm="0">
                                          <p:val>
                                            <p:fltVal val="0"/>
                                          </p:val>
                                        </p:tav>
                                        <p:tav tm="100000">
                                          <p:val>
                                            <p:strVal val="#ppt_w"/>
                                          </p:val>
                                        </p:tav>
                                      </p:tavLst>
                                    </p:anim>
                                    <p:anim calcmode="lin" valueType="num">
                                      <p:cBhvr>
                                        <p:cTn id="10" dur="500" fill="hold"/>
                                        <p:tgtEl>
                                          <p:spTgt spid="98342"/>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1" presetClass="entr" presetSubtype="0" fill="hold" nodeType="afterEffect">
                                  <p:stCondLst>
                                    <p:cond delay="0"/>
                                  </p:stCondLst>
                                  <p:childTnLst>
                                    <p:set>
                                      <p:cBhvr>
                                        <p:cTn id="13" dur="1" fill="hold">
                                          <p:stCondLst>
                                            <p:cond delay="0"/>
                                          </p:stCondLst>
                                        </p:cTn>
                                        <p:tgtEl>
                                          <p:spTgt spid="9833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98332"/>
                                        </p:tgtEl>
                                        <p:attrNameLst>
                                          <p:attrName>style.visibility</p:attrName>
                                        </p:attrNameLst>
                                      </p:cBhvr>
                                      <p:to>
                                        <p:strVal val="visible"/>
                                      </p:to>
                                    </p:set>
                                    <p:anim calcmode="lin" valueType="num">
                                      <p:cBhvr>
                                        <p:cTn id="18" dur="500" fill="hold"/>
                                        <p:tgtEl>
                                          <p:spTgt spid="98332"/>
                                        </p:tgtEl>
                                        <p:attrNameLst>
                                          <p:attrName>ppt_x</p:attrName>
                                        </p:attrNameLst>
                                      </p:cBhvr>
                                      <p:tavLst>
                                        <p:tav tm="0">
                                          <p:val>
                                            <p:strVal val="#ppt_x"/>
                                          </p:val>
                                        </p:tav>
                                        <p:tav tm="100000">
                                          <p:val>
                                            <p:strVal val="#ppt_x"/>
                                          </p:val>
                                        </p:tav>
                                      </p:tavLst>
                                    </p:anim>
                                    <p:anim calcmode="lin" valueType="num">
                                      <p:cBhvr>
                                        <p:cTn id="19" dur="500" fill="hold"/>
                                        <p:tgtEl>
                                          <p:spTgt spid="983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32" grpId="0"/>
      <p:bldP spid="9834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25</a:t>
            </a:fld>
            <a:endParaRPr lang="zh-CN" altLang="en-US" sz="1200" b="1" i="1" dirty="0">
              <a:latin typeface="Times New Roman" panose="02020603050405020304" pitchFamily="2" charset="0"/>
              <a:ea typeface="宋体" panose="02010600030101010101" pitchFamily="2" charset="-122"/>
            </a:endParaRPr>
          </a:p>
        </p:txBody>
      </p:sp>
      <p:sp>
        <p:nvSpPr>
          <p:cNvPr id="99332"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6.6 </a:t>
            </a:r>
            <a:r>
              <a:rPr lang="en-US" altLang="x-none" dirty="0">
                <a:ea typeface="宋体" panose="02010600030101010101" pitchFamily="2" charset="-122"/>
              </a:rPr>
              <a:t>Functional Dependencies</a:t>
            </a:r>
          </a:p>
        </p:txBody>
      </p:sp>
      <p:sp>
        <p:nvSpPr>
          <p:cNvPr id="99333" name="Rectangle 3"/>
          <p:cNvSpPr>
            <a:spLocks noGrp="1"/>
          </p:cNvSpPr>
          <p:nvPr>
            <p:ph type="body"/>
          </p:nvPr>
        </p:nvSpPr>
        <p:spPr>
          <a:xfrm>
            <a:off x="468313" y="836613"/>
            <a:ext cx="8229600" cy="5638800"/>
          </a:xfrm>
        </p:spPr>
        <p:txBody>
          <a:bodyPr wrap="square" anchor="t"/>
          <a:lstStyle/>
          <a:p>
            <a:pPr lvl="0" eaLnBrk="1" hangingPunct="1"/>
            <a:r>
              <a:rPr lang="en-US" altLang="x-none" dirty="0">
                <a:ea typeface="宋体" panose="02010600030101010101" pitchFamily="2" charset="-122"/>
              </a:rPr>
              <a:t>Example 6.6.2</a:t>
            </a:r>
          </a:p>
        </p:txBody>
      </p:sp>
      <p:graphicFrame>
        <p:nvGraphicFramePr>
          <p:cNvPr id="99335" name="表格 99334"/>
          <p:cNvGraphicFramePr/>
          <p:nvPr/>
        </p:nvGraphicFramePr>
        <p:xfrm>
          <a:off x="468313" y="1773238"/>
          <a:ext cx="2198688" cy="3671888"/>
        </p:xfrm>
        <a:graphic>
          <a:graphicData uri="http://schemas.openxmlformats.org/drawingml/2006/table">
            <a:tbl>
              <a:tblPr/>
              <a:tblGrid>
                <a:gridCol w="1050925">
                  <a:extLst>
                    <a:ext uri="{9D8B030D-6E8A-4147-A177-3AD203B41FA5}">
                      <a16:colId xmlns:a16="http://schemas.microsoft.com/office/drawing/2014/main" val="20000"/>
                    </a:ext>
                  </a:extLst>
                </a:gridCol>
                <a:gridCol w="1147763">
                  <a:extLst>
                    <a:ext uri="{9D8B030D-6E8A-4147-A177-3AD203B41FA5}">
                      <a16:colId xmlns:a16="http://schemas.microsoft.com/office/drawing/2014/main" val="20001"/>
                    </a:ext>
                  </a:extLst>
                </a:gridCol>
              </a:tblGrid>
              <a:tr h="731838">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73660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1"/>
                  </a:ext>
                </a:extLst>
              </a:tr>
              <a:tr h="735012">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2"/>
                  </a:ext>
                </a:extLst>
              </a:tr>
              <a:tr h="735013">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3"/>
                  </a:ext>
                </a:extLst>
              </a:tr>
              <a:tr h="73342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y4</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4"/>
                  </a:ext>
                </a:extLst>
              </a:tr>
            </a:tbl>
          </a:graphicData>
        </a:graphic>
      </p:graphicFrame>
      <p:sp>
        <p:nvSpPr>
          <p:cNvPr id="99354" name="Text Box 24"/>
          <p:cNvSpPr txBox="1"/>
          <p:nvPr/>
        </p:nvSpPr>
        <p:spPr>
          <a:xfrm>
            <a:off x="1216025" y="1341438"/>
            <a:ext cx="1295400" cy="457200"/>
          </a:xfrm>
          <a:prstGeom prst="rect">
            <a:avLst/>
          </a:prstGeom>
          <a:noFill/>
          <a:ln w="9525">
            <a:noFill/>
          </a:ln>
        </p:spPr>
        <p:txBody>
          <a:bodyPr anchor="t">
            <a:spAutoFit/>
          </a:bodyPr>
          <a:lstStyle/>
          <a:p>
            <a:pPr lvl="0" algn="ctr">
              <a:spcBef>
                <a:spcPct val="50000"/>
              </a:spcBef>
            </a:pPr>
            <a:r>
              <a:rPr lang="en-US" altLang="x-none" b="1" dirty="0">
                <a:latin typeface="Arial" panose="020B0604020202020204" pitchFamily="34" charset="0"/>
                <a:ea typeface="宋体" panose="02010600030101010101" pitchFamily="2" charset="-122"/>
              </a:rPr>
              <a:t>T3</a:t>
            </a:r>
          </a:p>
        </p:txBody>
      </p:sp>
      <p:sp>
        <p:nvSpPr>
          <p:cNvPr id="99356" name="Text Box 25"/>
          <p:cNvSpPr txBox="1"/>
          <p:nvPr/>
        </p:nvSpPr>
        <p:spPr>
          <a:xfrm>
            <a:off x="5635625" y="5445125"/>
            <a:ext cx="1600200" cy="519113"/>
          </a:xfrm>
          <a:prstGeom prst="rect">
            <a:avLst/>
          </a:prstGeom>
          <a:noFill/>
          <a:ln w="9525">
            <a:noFill/>
          </a:ln>
        </p:spPr>
        <p:txBody>
          <a:bodyPr anchor="t">
            <a:spAutoFit/>
          </a:bodyPr>
          <a:lstStyle/>
          <a:p>
            <a:pPr lvl="0" algn="ctr">
              <a:spcBef>
                <a:spcPct val="50000"/>
              </a:spcBef>
            </a:pPr>
            <a:r>
              <a:rPr lang="en-US" altLang="x-none" sz="2800" b="1" dirty="0">
                <a:solidFill>
                  <a:srgbClr val="FF0000"/>
                </a:solidFill>
                <a:latin typeface="Arial" panose="020B0604020202020204" pitchFamily="34" charset="0"/>
                <a:ea typeface="宋体" panose="02010600030101010101" pitchFamily="2" charset="-122"/>
              </a:rPr>
              <a:t>B → A</a:t>
            </a:r>
          </a:p>
        </p:txBody>
      </p:sp>
      <p:grpSp>
        <p:nvGrpSpPr>
          <p:cNvPr id="99357" name="组合 99356"/>
          <p:cNvGrpSpPr/>
          <p:nvPr/>
        </p:nvGrpSpPr>
        <p:grpSpPr>
          <a:xfrm>
            <a:off x="4313238" y="765175"/>
            <a:ext cx="4075112" cy="4546600"/>
            <a:chOff x="0" y="0"/>
            <a:chExt cx="2567" cy="2864"/>
          </a:xfrm>
        </p:grpSpPr>
        <p:sp>
          <p:nvSpPr>
            <p:cNvPr id="2" name="Oval 27"/>
            <p:cNvSpPr/>
            <p:nvPr/>
          </p:nvSpPr>
          <p:spPr>
            <a:xfrm>
              <a:off x="0" y="397"/>
              <a:ext cx="843" cy="2467"/>
            </a:xfrm>
            <a:prstGeom prst="ellipse">
              <a:avLst/>
            </a:prstGeom>
            <a:noFill/>
            <a:ln w="25400" cap="flat" cmpd="sng">
              <a:solidFill>
                <a:schemeClr val="tx1"/>
              </a:solidFill>
              <a:prstDash val="solid"/>
              <a:round/>
              <a:headEnd type="none" w="med" len="med"/>
              <a:tailEnd type="none" w="med" len="med"/>
            </a:ln>
          </p:spPr>
          <p:txBody>
            <a:bodyPr tIns="0" bIns="0" anchor="t">
              <a:spAutoFit/>
            </a:bodyPr>
            <a:lstStyle/>
            <a:p>
              <a:pPr lvl="0" algn="ctr">
                <a:lnSpc>
                  <a:spcPct val="150000"/>
                </a:lnSpc>
                <a:spcBef>
                  <a:spcPct val="50000"/>
                </a:spcBef>
              </a:pPr>
              <a:r>
                <a:rPr lang="en-US" altLang="x-none" dirty="0">
                  <a:latin typeface="Arial" panose="020B0604020202020204" pitchFamily="34" charset="0"/>
                  <a:ea typeface="宋体" panose="02010600030101010101" pitchFamily="2" charset="-122"/>
                </a:rPr>
                <a:t>x1</a:t>
              </a:r>
            </a:p>
            <a:p>
              <a:pPr lvl="0" algn="ctr">
                <a:lnSpc>
                  <a:spcPct val="150000"/>
                </a:lnSpc>
                <a:spcBef>
                  <a:spcPct val="50000"/>
                </a:spcBef>
              </a:pPr>
              <a:r>
                <a:rPr lang="en-US" altLang="x-none" dirty="0">
                  <a:latin typeface="Arial" panose="020B0604020202020204" pitchFamily="34" charset="0"/>
                  <a:ea typeface="宋体" panose="02010600030101010101" pitchFamily="2" charset="-122"/>
                </a:rPr>
                <a:t>x2</a:t>
              </a:r>
            </a:p>
            <a:p>
              <a:pPr lvl="0" algn="ctr">
                <a:lnSpc>
                  <a:spcPct val="150000"/>
                </a:lnSpc>
                <a:spcBef>
                  <a:spcPct val="50000"/>
                </a:spcBef>
              </a:pPr>
              <a:r>
                <a:rPr lang="en-US" altLang="x-none" dirty="0">
                  <a:latin typeface="Arial" panose="020B0604020202020204" pitchFamily="34" charset="0"/>
                  <a:ea typeface="宋体" panose="02010600030101010101" pitchFamily="2" charset="-122"/>
                </a:rPr>
                <a:t>x3</a:t>
              </a:r>
            </a:p>
            <a:p>
              <a:pPr lvl="0" algn="ctr">
                <a:lnSpc>
                  <a:spcPct val="150000"/>
                </a:lnSpc>
                <a:spcBef>
                  <a:spcPct val="50000"/>
                </a:spcBef>
              </a:pPr>
              <a:endParaRPr lang="en-US" altLang="x-none" dirty="0">
                <a:latin typeface="Arial" panose="020B0604020202020204" pitchFamily="34" charset="0"/>
                <a:ea typeface="宋体" panose="02010600030101010101" pitchFamily="2" charset="-122"/>
              </a:endParaRPr>
            </a:p>
          </p:txBody>
        </p:sp>
        <p:sp>
          <p:nvSpPr>
            <p:cNvPr id="99358" name="Text Box 28"/>
            <p:cNvSpPr txBox="1"/>
            <p:nvPr/>
          </p:nvSpPr>
          <p:spPr>
            <a:xfrm>
              <a:off x="72" y="0"/>
              <a:ext cx="726" cy="327"/>
            </a:xfrm>
            <a:prstGeom prst="rect">
              <a:avLst/>
            </a:prstGeom>
            <a:noFill/>
            <a:ln w="9525">
              <a:noFill/>
            </a:ln>
          </p:spPr>
          <p:txBody>
            <a:bodyPr anchor="t">
              <a:spAutoFit/>
            </a:bodyPr>
            <a:lstStyle/>
            <a:p>
              <a:pPr lvl="0" algn="ctr">
                <a:spcBef>
                  <a:spcPct val="50000"/>
                </a:spcBef>
              </a:pPr>
              <a:r>
                <a:rPr lang="en-US" altLang="x-none" sz="2800" b="1" dirty="0">
                  <a:solidFill>
                    <a:srgbClr val="FF0000"/>
                  </a:solidFill>
                  <a:latin typeface="Arial" panose="020B0604020202020204" pitchFamily="34" charset="0"/>
                  <a:ea typeface="宋体" panose="02010600030101010101" pitchFamily="2" charset="-122"/>
                </a:rPr>
                <a:t>A</a:t>
              </a:r>
            </a:p>
          </p:txBody>
        </p:sp>
        <p:sp>
          <p:nvSpPr>
            <p:cNvPr id="99359" name="Oval 29"/>
            <p:cNvSpPr/>
            <p:nvPr/>
          </p:nvSpPr>
          <p:spPr>
            <a:xfrm>
              <a:off x="1724" y="397"/>
              <a:ext cx="843" cy="2467"/>
            </a:xfrm>
            <a:prstGeom prst="ellipse">
              <a:avLst/>
            </a:prstGeom>
            <a:noFill/>
            <a:ln w="25400" cap="flat" cmpd="sng">
              <a:solidFill>
                <a:schemeClr val="tx1"/>
              </a:solidFill>
              <a:prstDash val="solid"/>
              <a:round/>
              <a:headEnd type="none" w="med" len="med"/>
              <a:tailEnd type="none" w="med" len="med"/>
            </a:ln>
          </p:spPr>
          <p:txBody>
            <a:bodyPr tIns="0" rIns="0" bIns="0" anchor="t">
              <a:spAutoFit/>
            </a:bodyPr>
            <a:lstStyle/>
            <a:p>
              <a:pPr lvl="0" algn="ctr">
                <a:lnSpc>
                  <a:spcPct val="150000"/>
                </a:lnSpc>
                <a:spcBef>
                  <a:spcPct val="50000"/>
                </a:spcBef>
              </a:pPr>
              <a:r>
                <a:rPr lang="en-US" altLang="x-none" dirty="0">
                  <a:latin typeface="Arial" panose="020B0604020202020204" pitchFamily="34" charset="0"/>
                  <a:ea typeface="宋体" panose="02010600030101010101" pitchFamily="2" charset="-122"/>
                </a:rPr>
                <a:t>y1</a:t>
              </a:r>
            </a:p>
            <a:p>
              <a:pPr lvl="0" algn="ctr">
                <a:lnSpc>
                  <a:spcPct val="150000"/>
                </a:lnSpc>
                <a:spcBef>
                  <a:spcPct val="50000"/>
                </a:spcBef>
              </a:pPr>
              <a:r>
                <a:rPr lang="en-US" altLang="x-none" dirty="0">
                  <a:latin typeface="Arial" panose="020B0604020202020204" pitchFamily="34" charset="0"/>
                  <a:ea typeface="宋体" panose="02010600030101010101" pitchFamily="2" charset="-122"/>
                </a:rPr>
                <a:t>y2</a:t>
              </a:r>
            </a:p>
            <a:p>
              <a:pPr lvl="0" algn="ctr">
                <a:lnSpc>
                  <a:spcPct val="150000"/>
                </a:lnSpc>
                <a:spcBef>
                  <a:spcPct val="50000"/>
                </a:spcBef>
              </a:pPr>
              <a:r>
                <a:rPr lang="en-US" altLang="x-none" dirty="0">
                  <a:latin typeface="Arial" panose="020B0604020202020204" pitchFamily="34" charset="0"/>
                  <a:ea typeface="宋体" panose="02010600030101010101" pitchFamily="2" charset="-122"/>
                </a:rPr>
                <a:t>y3</a:t>
              </a:r>
            </a:p>
            <a:p>
              <a:pPr lvl="0" algn="ctr">
                <a:lnSpc>
                  <a:spcPct val="150000"/>
                </a:lnSpc>
                <a:spcBef>
                  <a:spcPct val="50000"/>
                </a:spcBef>
              </a:pPr>
              <a:r>
                <a:rPr lang="en-US" altLang="x-none" dirty="0">
                  <a:latin typeface="Arial" panose="020B0604020202020204" pitchFamily="34" charset="0"/>
                  <a:ea typeface="宋体" panose="02010600030101010101" pitchFamily="2" charset="-122"/>
                </a:rPr>
                <a:t>y4</a:t>
              </a:r>
            </a:p>
          </p:txBody>
        </p:sp>
        <p:sp>
          <p:nvSpPr>
            <p:cNvPr id="99360" name="Text Box 30"/>
            <p:cNvSpPr txBox="1"/>
            <p:nvPr/>
          </p:nvSpPr>
          <p:spPr>
            <a:xfrm>
              <a:off x="1796" y="0"/>
              <a:ext cx="726" cy="327"/>
            </a:xfrm>
            <a:prstGeom prst="rect">
              <a:avLst/>
            </a:prstGeom>
            <a:noFill/>
            <a:ln w="9525">
              <a:noFill/>
            </a:ln>
          </p:spPr>
          <p:txBody>
            <a:bodyPr anchor="t">
              <a:spAutoFit/>
            </a:bodyPr>
            <a:lstStyle/>
            <a:p>
              <a:pPr lvl="0" algn="ctr">
                <a:spcBef>
                  <a:spcPct val="50000"/>
                </a:spcBef>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99361" name="Line 31"/>
            <p:cNvSpPr/>
            <p:nvPr/>
          </p:nvSpPr>
          <p:spPr>
            <a:xfrm>
              <a:off x="617" y="998"/>
              <a:ext cx="1406" cy="0"/>
            </a:xfrm>
            <a:prstGeom prst="line">
              <a:avLst/>
            </a:prstGeom>
            <a:ln w="25400" cap="flat" cmpd="sng">
              <a:solidFill>
                <a:schemeClr val="tx1"/>
              </a:solidFill>
              <a:prstDash val="solid"/>
              <a:round/>
              <a:headEnd type="oval" w="med" len="med"/>
              <a:tailEnd type="oval"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99362" name="Line 32"/>
            <p:cNvSpPr/>
            <p:nvPr/>
          </p:nvSpPr>
          <p:spPr>
            <a:xfrm>
              <a:off x="617" y="1452"/>
              <a:ext cx="1360" cy="453"/>
            </a:xfrm>
            <a:prstGeom prst="line">
              <a:avLst/>
            </a:prstGeom>
            <a:ln w="25400" cap="flat" cmpd="sng">
              <a:solidFill>
                <a:srgbClr val="FF0000"/>
              </a:solidFill>
              <a:prstDash val="solid"/>
              <a:round/>
              <a:headEnd type="oval" w="med" len="med"/>
              <a:tailEnd type="oval"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99363" name="Line 33"/>
            <p:cNvSpPr/>
            <p:nvPr/>
          </p:nvSpPr>
          <p:spPr>
            <a:xfrm flipV="1">
              <a:off x="617" y="1406"/>
              <a:ext cx="1360" cy="453"/>
            </a:xfrm>
            <a:prstGeom prst="line">
              <a:avLst/>
            </a:prstGeom>
            <a:ln w="25400" cap="flat" cmpd="sng">
              <a:solidFill>
                <a:srgbClr val="800080"/>
              </a:solidFill>
              <a:prstDash val="solid"/>
              <a:round/>
              <a:headEnd type="oval" w="med" len="med"/>
              <a:tailEnd type="oval"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99364" name="Line 34"/>
            <p:cNvSpPr/>
            <p:nvPr/>
          </p:nvSpPr>
          <p:spPr>
            <a:xfrm>
              <a:off x="617" y="1451"/>
              <a:ext cx="1360" cy="862"/>
            </a:xfrm>
            <a:prstGeom prst="line">
              <a:avLst/>
            </a:prstGeom>
            <a:ln w="25400" cap="flat" cmpd="sng">
              <a:solidFill>
                <a:srgbClr val="FF0000"/>
              </a:solidFill>
              <a:prstDash val="solid"/>
              <a:round/>
              <a:headEnd type="oval" w="med" len="med"/>
              <a:tailEnd type="oval"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grpSp>
      <p:sp>
        <p:nvSpPr>
          <p:cNvPr id="99366" name="AutoShape 35"/>
          <p:cNvSpPr/>
          <p:nvPr/>
        </p:nvSpPr>
        <p:spPr>
          <a:xfrm>
            <a:off x="2987675" y="3141663"/>
            <a:ext cx="936625" cy="647700"/>
          </a:xfrm>
          <a:prstGeom prst="rightArrow">
            <a:avLst>
              <a:gd name="adj1" fmla="val 50000"/>
              <a:gd name="adj2" fmla="val 36098"/>
            </a:avLst>
          </a:prstGeom>
          <a:solidFill>
            <a:srgbClr val="C0C0C0"/>
          </a:solidFill>
          <a:ln w="9525" cap="flat" cmpd="sng">
            <a:solidFill>
              <a:schemeClr val="tx1"/>
            </a:solidFill>
            <a:prstDash val="solid"/>
            <a:miter/>
            <a:headEnd type="none" w="med" len="med"/>
            <a:tailEnd type="none" w="med" len="med"/>
          </a:ln>
        </p:spPr>
        <p:txBody>
          <a:bodyPr wrap="none" anchor="ctr"/>
          <a:lstStyle/>
          <a:p>
            <a:pPr lvl="0" algn="ctr"/>
            <a:endParaRPr lang="zh-CN" altLang="en-US" dirty="0">
              <a:latin typeface="Times New Roman" panose="02020603050405020304" pitchFamily="2" charset="0"/>
              <a:ea typeface="宋体" panose="02010600030101010101" pitchFamily="2" charset="-122"/>
            </a:endParaRPr>
          </a:p>
        </p:txBody>
      </p:sp>
      <p:sp>
        <p:nvSpPr>
          <p:cNvPr id="3" name="Text Box 37"/>
          <p:cNvSpPr txBox="1"/>
          <p:nvPr/>
        </p:nvSpPr>
        <p:spPr>
          <a:xfrm>
            <a:off x="766763" y="5445125"/>
            <a:ext cx="1600200" cy="1031875"/>
          </a:xfrm>
          <a:prstGeom prst="rect">
            <a:avLst/>
          </a:prstGeom>
          <a:noFill/>
          <a:ln w="9525">
            <a:noFill/>
          </a:ln>
        </p:spPr>
        <p:txBody>
          <a:bodyPr anchor="t">
            <a:spAutoFit/>
          </a:bodyPr>
          <a:lstStyle/>
          <a:p>
            <a:pPr lvl="0" algn="ctr">
              <a:spcBef>
                <a:spcPct val="20000"/>
              </a:spcBef>
            </a:pPr>
            <a:r>
              <a:rPr lang="en-US" altLang="x-none" sz="2800" b="1" dirty="0">
                <a:latin typeface="Arial" panose="020B0604020202020204" pitchFamily="34" charset="0"/>
                <a:ea typeface="宋体" panose="02010600030101010101" pitchFamily="2" charset="-122"/>
              </a:rPr>
              <a:t>A→B ?</a:t>
            </a:r>
          </a:p>
          <a:p>
            <a:pPr lvl="0" algn="ctr">
              <a:spcBef>
                <a:spcPct val="20000"/>
              </a:spcBef>
            </a:pPr>
            <a:r>
              <a:rPr lang="en-US" altLang="x-none" sz="2800" b="1" dirty="0">
                <a:latin typeface="Arial" panose="020B0604020202020204" pitchFamily="34" charset="0"/>
                <a:ea typeface="宋体" panose="02010600030101010101" pitchFamily="2" charset="-122"/>
              </a:rPr>
              <a:t>B→A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99366"/>
                                        </p:tgtEl>
                                        <p:attrNameLst>
                                          <p:attrName>style.visibility</p:attrName>
                                        </p:attrNameLst>
                                      </p:cBhvr>
                                      <p:to>
                                        <p:strVal val="visible"/>
                                      </p:to>
                                    </p:set>
                                    <p:anim calcmode="lin" valueType="num">
                                      <p:cBhvr>
                                        <p:cTn id="7" dur="500" fill="hold"/>
                                        <p:tgtEl>
                                          <p:spTgt spid="99366"/>
                                        </p:tgtEl>
                                        <p:attrNameLst>
                                          <p:attrName>ppt_x</p:attrName>
                                        </p:attrNameLst>
                                      </p:cBhvr>
                                      <p:tavLst>
                                        <p:tav tm="0">
                                          <p:val>
                                            <p:strVal val="#ppt_x-#ppt_w/2"/>
                                          </p:val>
                                        </p:tav>
                                        <p:tav tm="100000">
                                          <p:val>
                                            <p:strVal val="#ppt_x"/>
                                          </p:val>
                                        </p:tav>
                                      </p:tavLst>
                                    </p:anim>
                                    <p:anim calcmode="lin" valueType="num">
                                      <p:cBhvr>
                                        <p:cTn id="8" dur="500" fill="hold"/>
                                        <p:tgtEl>
                                          <p:spTgt spid="99366"/>
                                        </p:tgtEl>
                                        <p:attrNameLst>
                                          <p:attrName>ppt_y</p:attrName>
                                        </p:attrNameLst>
                                      </p:cBhvr>
                                      <p:tavLst>
                                        <p:tav tm="0">
                                          <p:val>
                                            <p:strVal val="#ppt_y"/>
                                          </p:val>
                                        </p:tav>
                                        <p:tav tm="100000">
                                          <p:val>
                                            <p:strVal val="#ppt_y"/>
                                          </p:val>
                                        </p:tav>
                                      </p:tavLst>
                                    </p:anim>
                                    <p:anim calcmode="lin" valueType="num">
                                      <p:cBhvr>
                                        <p:cTn id="9" dur="500" fill="hold"/>
                                        <p:tgtEl>
                                          <p:spTgt spid="99366"/>
                                        </p:tgtEl>
                                        <p:attrNameLst>
                                          <p:attrName>ppt_w</p:attrName>
                                        </p:attrNameLst>
                                      </p:cBhvr>
                                      <p:tavLst>
                                        <p:tav tm="0">
                                          <p:val>
                                            <p:fltVal val="0"/>
                                          </p:val>
                                        </p:tav>
                                        <p:tav tm="100000">
                                          <p:val>
                                            <p:strVal val="#ppt_w"/>
                                          </p:val>
                                        </p:tav>
                                      </p:tavLst>
                                    </p:anim>
                                    <p:anim calcmode="lin" valueType="num">
                                      <p:cBhvr>
                                        <p:cTn id="10" dur="500" fill="hold"/>
                                        <p:tgtEl>
                                          <p:spTgt spid="99366"/>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1" presetClass="entr" presetSubtype="0" fill="hold" nodeType="afterEffect">
                                  <p:stCondLst>
                                    <p:cond delay="0"/>
                                  </p:stCondLst>
                                  <p:childTnLst>
                                    <p:set>
                                      <p:cBhvr>
                                        <p:cTn id="13" dur="1" fill="hold">
                                          <p:stCondLst>
                                            <p:cond delay="0"/>
                                          </p:stCondLst>
                                        </p:cTn>
                                        <p:tgtEl>
                                          <p:spTgt spid="9935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99356"/>
                                        </p:tgtEl>
                                        <p:attrNameLst>
                                          <p:attrName>style.visibility</p:attrName>
                                        </p:attrNameLst>
                                      </p:cBhvr>
                                      <p:to>
                                        <p:strVal val="visible"/>
                                      </p:to>
                                    </p:set>
                                    <p:anim calcmode="lin" valueType="num">
                                      <p:cBhvr>
                                        <p:cTn id="18" dur="500" fill="hold"/>
                                        <p:tgtEl>
                                          <p:spTgt spid="99356"/>
                                        </p:tgtEl>
                                        <p:attrNameLst>
                                          <p:attrName>ppt_x</p:attrName>
                                        </p:attrNameLst>
                                      </p:cBhvr>
                                      <p:tavLst>
                                        <p:tav tm="0">
                                          <p:val>
                                            <p:strVal val="#ppt_x"/>
                                          </p:val>
                                        </p:tav>
                                        <p:tav tm="100000">
                                          <p:val>
                                            <p:strVal val="#ppt_x"/>
                                          </p:val>
                                        </p:tav>
                                      </p:tavLst>
                                    </p:anim>
                                    <p:anim calcmode="lin" valueType="num">
                                      <p:cBhvr>
                                        <p:cTn id="19" dur="500" fill="hold"/>
                                        <p:tgtEl>
                                          <p:spTgt spid="993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56" grpId="0"/>
      <p:bldP spid="9936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26</a:t>
            </a:fld>
            <a:endParaRPr lang="zh-CN" altLang="en-US" sz="1200" b="1" i="1" dirty="0">
              <a:latin typeface="Times New Roman" panose="02020603050405020304" pitchFamily="2" charset="0"/>
              <a:ea typeface="宋体" panose="02010600030101010101" pitchFamily="2" charset="-122"/>
            </a:endParaRPr>
          </a:p>
        </p:txBody>
      </p:sp>
      <p:sp>
        <p:nvSpPr>
          <p:cNvPr id="100356"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6.6 </a:t>
            </a:r>
            <a:r>
              <a:rPr lang="en-US" altLang="x-none" dirty="0">
                <a:ea typeface="宋体" panose="02010600030101010101" pitchFamily="2" charset="-122"/>
              </a:rPr>
              <a:t>Functional Dependencies</a:t>
            </a:r>
          </a:p>
        </p:txBody>
      </p:sp>
      <p:sp>
        <p:nvSpPr>
          <p:cNvPr id="100357" name="Rectangle 3"/>
          <p:cNvSpPr>
            <a:spLocks noGrp="1"/>
          </p:cNvSpPr>
          <p:nvPr>
            <p:ph type="body"/>
          </p:nvPr>
        </p:nvSpPr>
        <p:spPr>
          <a:xfrm>
            <a:off x="468313" y="836613"/>
            <a:ext cx="8229600" cy="5638800"/>
          </a:xfrm>
        </p:spPr>
        <p:txBody>
          <a:bodyPr wrap="square" anchor="t"/>
          <a:lstStyle/>
          <a:p>
            <a:pPr lvl="0" eaLnBrk="1" hangingPunct="1"/>
            <a:r>
              <a:rPr lang="en-US" altLang="x-none" dirty="0">
                <a:ea typeface="宋体" panose="02010600030101010101" pitchFamily="2" charset="-122"/>
              </a:rPr>
              <a:t>Example 6.6.2</a:t>
            </a:r>
          </a:p>
        </p:txBody>
      </p:sp>
      <p:graphicFrame>
        <p:nvGraphicFramePr>
          <p:cNvPr id="100359" name="表格 100358"/>
          <p:cNvGraphicFramePr/>
          <p:nvPr/>
        </p:nvGraphicFramePr>
        <p:xfrm>
          <a:off x="468313" y="1773238"/>
          <a:ext cx="2198688" cy="3671888"/>
        </p:xfrm>
        <a:graphic>
          <a:graphicData uri="http://schemas.openxmlformats.org/drawingml/2006/table">
            <a:tbl>
              <a:tblPr/>
              <a:tblGrid>
                <a:gridCol w="1050925">
                  <a:extLst>
                    <a:ext uri="{9D8B030D-6E8A-4147-A177-3AD203B41FA5}">
                      <a16:colId xmlns:a16="http://schemas.microsoft.com/office/drawing/2014/main" val="20000"/>
                    </a:ext>
                  </a:extLst>
                </a:gridCol>
                <a:gridCol w="1147763">
                  <a:extLst>
                    <a:ext uri="{9D8B030D-6E8A-4147-A177-3AD203B41FA5}">
                      <a16:colId xmlns:a16="http://schemas.microsoft.com/office/drawing/2014/main" val="20001"/>
                    </a:ext>
                  </a:extLst>
                </a:gridCol>
              </a:tblGrid>
              <a:tr h="731838">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73660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1"/>
                  </a:ext>
                </a:extLst>
              </a:tr>
              <a:tr h="735012">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2"/>
                  </a:ext>
                </a:extLst>
              </a:tr>
              <a:tr h="735013">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3"/>
                  </a:ext>
                </a:extLst>
              </a:tr>
              <a:tr h="73342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4"/>
                  </a:ext>
                </a:extLst>
              </a:tr>
            </a:tbl>
          </a:graphicData>
        </a:graphic>
      </p:graphicFrame>
      <p:sp>
        <p:nvSpPr>
          <p:cNvPr id="100378" name="Text Box 24"/>
          <p:cNvSpPr txBox="1"/>
          <p:nvPr/>
        </p:nvSpPr>
        <p:spPr>
          <a:xfrm>
            <a:off x="1216025" y="1341438"/>
            <a:ext cx="1295400" cy="457200"/>
          </a:xfrm>
          <a:prstGeom prst="rect">
            <a:avLst/>
          </a:prstGeom>
          <a:noFill/>
          <a:ln w="9525">
            <a:noFill/>
          </a:ln>
        </p:spPr>
        <p:txBody>
          <a:bodyPr anchor="t">
            <a:spAutoFit/>
          </a:bodyPr>
          <a:lstStyle/>
          <a:p>
            <a:pPr lvl="0" algn="ctr">
              <a:spcBef>
                <a:spcPct val="50000"/>
              </a:spcBef>
            </a:pPr>
            <a:r>
              <a:rPr lang="en-US" altLang="x-none" b="1" dirty="0">
                <a:latin typeface="Arial" panose="020B0604020202020204" pitchFamily="34" charset="0"/>
                <a:ea typeface="宋体" panose="02010600030101010101" pitchFamily="2" charset="-122"/>
              </a:rPr>
              <a:t>T4</a:t>
            </a:r>
          </a:p>
        </p:txBody>
      </p:sp>
      <p:sp>
        <p:nvSpPr>
          <p:cNvPr id="100380" name="Text Box 25"/>
          <p:cNvSpPr txBox="1"/>
          <p:nvPr/>
        </p:nvSpPr>
        <p:spPr>
          <a:xfrm>
            <a:off x="5635625" y="5445125"/>
            <a:ext cx="1600200" cy="519113"/>
          </a:xfrm>
          <a:prstGeom prst="rect">
            <a:avLst/>
          </a:prstGeom>
          <a:noFill/>
          <a:ln w="9525">
            <a:noFill/>
          </a:ln>
        </p:spPr>
        <p:txBody>
          <a:bodyPr anchor="t">
            <a:spAutoFit/>
          </a:bodyPr>
          <a:lstStyle/>
          <a:p>
            <a:pPr lvl="0" algn="ctr">
              <a:spcBef>
                <a:spcPct val="50000"/>
              </a:spcBef>
            </a:pPr>
            <a:r>
              <a:rPr lang="en-US" altLang="x-none" sz="2800" b="1" dirty="0">
                <a:solidFill>
                  <a:srgbClr val="FF0000"/>
                </a:solidFill>
                <a:latin typeface="Arial" panose="020B0604020202020204" pitchFamily="34" charset="0"/>
                <a:ea typeface="宋体" panose="02010600030101010101" pitchFamily="2" charset="-122"/>
              </a:rPr>
              <a:t>(none)</a:t>
            </a:r>
          </a:p>
        </p:txBody>
      </p:sp>
      <p:grpSp>
        <p:nvGrpSpPr>
          <p:cNvPr id="100381" name="组合 100380"/>
          <p:cNvGrpSpPr/>
          <p:nvPr/>
        </p:nvGrpSpPr>
        <p:grpSpPr>
          <a:xfrm>
            <a:off x="4284663" y="765175"/>
            <a:ext cx="4075112" cy="4546600"/>
            <a:chOff x="0" y="0"/>
            <a:chExt cx="2567" cy="2864"/>
          </a:xfrm>
        </p:grpSpPr>
        <p:sp>
          <p:nvSpPr>
            <p:cNvPr id="2" name="Oval 27"/>
            <p:cNvSpPr/>
            <p:nvPr/>
          </p:nvSpPr>
          <p:spPr>
            <a:xfrm>
              <a:off x="0" y="397"/>
              <a:ext cx="843" cy="2467"/>
            </a:xfrm>
            <a:prstGeom prst="ellipse">
              <a:avLst/>
            </a:prstGeom>
            <a:noFill/>
            <a:ln w="25400" cap="flat" cmpd="sng">
              <a:solidFill>
                <a:schemeClr val="tx1"/>
              </a:solidFill>
              <a:prstDash val="solid"/>
              <a:round/>
              <a:headEnd type="none" w="med" len="med"/>
              <a:tailEnd type="none" w="med" len="med"/>
            </a:ln>
          </p:spPr>
          <p:txBody>
            <a:bodyPr tIns="0" bIns="0" anchor="t">
              <a:spAutoFit/>
            </a:bodyPr>
            <a:lstStyle/>
            <a:p>
              <a:pPr lvl="0" algn="ctr">
                <a:lnSpc>
                  <a:spcPct val="150000"/>
                </a:lnSpc>
                <a:spcBef>
                  <a:spcPct val="50000"/>
                </a:spcBef>
              </a:pPr>
              <a:r>
                <a:rPr lang="en-US" altLang="x-none" dirty="0">
                  <a:latin typeface="Arial" panose="020B0604020202020204" pitchFamily="34" charset="0"/>
                  <a:ea typeface="宋体" panose="02010600030101010101" pitchFamily="2" charset="-122"/>
                </a:rPr>
                <a:t>x1</a:t>
              </a:r>
            </a:p>
            <a:p>
              <a:pPr lvl="0" algn="ctr">
                <a:lnSpc>
                  <a:spcPct val="150000"/>
                </a:lnSpc>
                <a:spcBef>
                  <a:spcPct val="50000"/>
                </a:spcBef>
              </a:pPr>
              <a:r>
                <a:rPr lang="en-US" altLang="x-none" dirty="0">
                  <a:latin typeface="Arial" panose="020B0604020202020204" pitchFamily="34" charset="0"/>
                  <a:ea typeface="宋体" panose="02010600030101010101" pitchFamily="2" charset="-122"/>
                </a:rPr>
                <a:t>x2</a:t>
              </a:r>
            </a:p>
            <a:p>
              <a:pPr lvl="0" algn="ctr">
                <a:lnSpc>
                  <a:spcPct val="150000"/>
                </a:lnSpc>
                <a:spcBef>
                  <a:spcPct val="50000"/>
                </a:spcBef>
              </a:pPr>
              <a:r>
                <a:rPr lang="en-US" altLang="x-none" dirty="0">
                  <a:latin typeface="Arial" panose="020B0604020202020204" pitchFamily="34" charset="0"/>
                  <a:ea typeface="宋体" panose="02010600030101010101" pitchFamily="2" charset="-122"/>
                </a:rPr>
                <a:t>x3</a:t>
              </a:r>
            </a:p>
            <a:p>
              <a:pPr lvl="0" algn="ctr">
                <a:lnSpc>
                  <a:spcPct val="150000"/>
                </a:lnSpc>
                <a:spcBef>
                  <a:spcPct val="50000"/>
                </a:spcBef>
              </a:pPr>
              <a:endParaRPr lang="en-US" altLang="x-none" dirty="0">
                <a:latin typeface="Arial" panose="020B0604020202020204" pitchFamily="34" charset="0"/>
                <a:ea typeface="宋体" panose="02010600030101010101" pitchFamily="2" charset="-122"/>
              </a:endParaRPr>
            </a:p>
          </p:txBody>
        </p:sp>
        <p:sp>
          <p:nvSpPr>
            <p:cNvPr id="100382" name="Text Box 28"/>
            <p:cNvSpPr txBox="1"/>
            <p:nvPr/>
          </p:nvSpPr>
          <p:spPr>
            <a:xfrm>
              <a:off x="72" y="0"/>
              <a:ext cx="726" cy="327"/>
            </a:xfrm>
            <a:prstGeom prst="rect">
              <a:avLst/>
            </a:prstGeom>
            <a:noFill/>
            <a:ln w="9525">
              <a:noFill/>
            </a:ln>
          </p:spPr>
          <p:txBody>
            <a:bodyPr anchor="t">
              <a:spAutoFit/>
            </a:bodyPr>
            <a:lstStyle/>
            <a:p>
              <a:pPr lvl="0" algn="ctr">
                <a:spcBef>
                  <a:spcPct val="50000"/>
                </a:spcBef>
              </a:pPr>
              <a:r>
                <a:rPr lang="en-US" altLang="x-none" sz="2800" b="1" dirty="0">
                  <a:solidFill>
                    <a:srgbClr val="FF0000"/>
                  </a:solidFill>
                  <a:latin typeface="Arial" panose="020B0604020202020204" pitchFamily="34" charset="0"/>
                  <a:ea typeface="宋体" panose="02010600030101010101" pitchFamily="2" charset="-122"/>
                </a:rPr>
                <a:t>A</a:t>
              </a:r>
            </a:p>
          </p:txBody>
        </p:sp>
        <p:sp>
          <p:nvSpPr>
            <p:cNvPr id="100383" name="Oval 29"/>
            <p:cNvSpPr/>
            <p:nvPr/>
          </p:nvSpPr>
          <p:spPr>
            <a:xfrm>
              <a:off x="1724" y="397"/>
              <a:ext cx="843" cy="2467"/>
            </a:xfrm>
            <a:prstGeom prst="ellipse">
              <a:avLst/>
            </a:prstGeom>
            <a:noFill/>
            <a:ln w="25400" cap="flat" cmpd="sng">
              <a:solidFill>
                <a:schemeClr val="tx1"/>
              </a:solidFill>
              <a:prstDash val="solid"/>
              <a:round/>
              <a:headEnd type="none" w="med" len="med"/>
              <a:tailEnd type="none" w="med" len="med"/>
            </a:ln>
          </p:spPr>
          <p:txBody>
            <a:bodyPr tIns="0" rIns="0" bIns="0" anchor="t">
              <a:spAutoFit/>
            </a:bodyPr>
            <a:lstStyle/>
            <a:p>
              <a:pPr lvl="0" algn="ctr">
                <a:lnSpc>
                  <a:spcPct val="150000"/>
                </a:lnSpc>
                <a:spcBef>
                  <a:spcPct val="50000"/>
                </a:spcBef>
              </a:pPr>
              <a:r>
                <a:rPr lang="en-US" altLang="x-none" dirty="0">
                  <a:latin typeface="Arial" panose="020B0604020202020204" pitchFamily="34" charset="0"/>
                  <a:ea typeface="宋体" panose="02010600030101010101" pitchFamily="2" charset="-122"/>
                </a:rPr>
                <a:t>y1</a:t>
              </a:r>
            </a:p>
            <a:p>
              <a:pPr lvl="0" algn="ctr">
                <a:lnSpc>
                  <a:spcPct val="150000"/>
                </a:lnSpc>
                <a:spcBef>
                  <a:spcPct val="50000"/>
                </a:spcBef>
              </a:pPr>
              <a:r>
                <a:rPr lang="en-US" altLang="x-none" dirty="0">
                  <a:latin typeface="Arial" panose="020B0604020202020204" pitchFamily="34" charset="0"/>
                  <a:ea typeface="宋体" panose="02010600030101010101" pitchFamily="2" charset="-122"/>
                </a:rPr>
                <a:t>y2</a:t>
              </a:r>
            </a:p>
            <a:p>
              <a:pPr lvl="0" algn="ctr">
                <a:lnSpc>
                  <a:spcPct val="150000"/>
                </a:lnSpc>
                <a:spcBef>
                  <a:spcPct val="50000"/>
                </a:spcBef>
              </a:pPr>
              <a:r>
                <a:rPr lang="en-US" altLang="x-none" dirty="0">
                  <a:latin typeface="Arial" panose="020B0604020202020204" pitchFamily="34" charset="0"/>
                  <a:ea typeface="宋体" panose="02010600030101010101" pitchFamily="2" charset="-122"/>
                </a:rPr>
                <a:t>y3</a:t>
              </a:r>
            </a:p>
            <a:p>
              <a:pPr lvl="0" algn="ctr">
                <a:lnSpc>
                  <a:spcPct val="150000"/>
                </a:lnSpc>
                <a:spcBef>
                  <a:spcPct val="50000"/>
                </a:spcBef>
              </a:pPr>
              <a:endParaRPr lang="en-US" altLang="x-none" dirty="0">
                <a:latin typeface="Arial" panose="020B0604020202020204" pitchFamily="34" charset="0"/>
                <a:ea typeface="宋体" panose="02010600030101010101" pitchFamily="2" charset="-122"/>
              </a:endParaRPr>
            </a:p>
          </p:txBody>
        </p:sp>
        <p:sp>
          <p:nvSpPr>
            <p:cNvPr id="100384" name="Text Box 30"/>
            <p:cNvSpPr txBox="1"/>
            <p:nvPr/>
          </p:nvSpPr>
          <p:spPr>
            <a:xfrm>
              <a:off x="1796" y="0"/>
              <a:ext cx="726" cy="327"/>
            </a:xfrm>
            <a:prstGeom prst="rect">
              <a:avLst/>
            </a:prstGeom>
            <a:noFill/>
            <a:ln w="9525">
              <a:noFill/>
            </a:ln>
          </p:spPr>
          <p:txBody>
            <a:bodyPr anchor="t">
              <a:spAutoFit/>
            </a:bodyPr>
            <a:lstStyle/>
            <a:p>
              <a:pPr lvl="0" algn="ctr">
                <a:spcBef>
                  <a:spcPct val="50000"/>
                </a:spcBef>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100385" name="Line 31"/>
            <p:cNvSpPr/>
            <p:nvPr/>
          </p:nvSpPr>
          <p:spPr>
            <a:xfrm>
              <a:off x="617" y="998"/>
              <a:ext cx="1406" cy="0"/>
            </a:xfrm>
            <a:prstGeom prst="line">
              <a:avLst/>
            </a:prstGeom>
            <a:ln w="25400" cap="flat" cmpd="sng">
              <a:solidFill>
                <a:schemeClr val="tx1"/>
              </a:solidFill>
              <a:prstDash val="solid"/>
              <a:round/>
              <a:headEnd type="oval" w="med" len="med"/>
              <a:tailEnd type="oval"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0386" name="Line 32"/>
            <p:cNvSpPr/>
            <p:nvPr/>
          </p:nvSpPr>
          <p:spPr>
            <a:xfrm>
              <a:off x="617" y="1452"/>
              <a:ext cx="1360" cy="453"/>
            </a:xfrm>
            <a:prstGeom prst="line">
              <a:avLst/>
            </a:prstGeom>
            <a:ln w="25400" cap="flat" cmpd="sng">
              <a:solidFill>
                <a:srgbClr val="FF0000"/>
              </a:solidFill>
              <a:prstDash val="solid"/>
              <a:round/>
              <a:headEnd type="oval" w="med" len="med"/>
              <a:tailEnd type="oval"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0387" name="Line 33"/>
            <p:cNvSpPr/>
            <p:nvPr/>
          </p:nvSpPr>
          <p:spPr>
            <a:xfrm flipV="1">
              <a:off x="617" y="1406"/>
              <a:ext cx="1360" cy="453"/>
            </a:xfrm>
            <a:prstGeom prst="line">
              <a:avLst/>
            </a:prstGeom>
            <a:ln w="25400" cap="flat" cmpd="sng">
              <a:solidFill>
                <a:srgbClr val="800080"/>
              </a:solidFill>
              <a:prstDash val="solid"/>
              <a:round/>
              <a:headEnd type="oval" w="med" len="med"/>
              <a:tailEnd type="oval"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0388" name="Line 34"/>
            <p:cNvSpPr/>
            <p:nvPr/>
          </p:nvSpPr>
          <p:spPr>
            <a:xfrm flipV="1">
              <a:off x="635" y="1406"/>
              <a:ext cx="1360" cy="45"/>
            </a:xfrm>
            <a:prstGeom prst="line">
              <a:avLst/>
            </a:prstGeom>
            <a:ln w="25400" cap="flat" cmpd="sng">
              <a:solidFill>
                <a:srgbClr val="FF0000"/>
              </a:solidFill>
              <a:prstDash val="solid"/>
              <a:round/>
              <a:headEnd type="oval" w="med" len="med"/>
              <a:tailEnd type="oval"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grpSp>
      <p:sp>
        <p:nvSpPr>
          <p:cNvPr id="100390" name="AutoShape 35"/>
          <p:cNvSpPr/>
          <p:nvPr/>
        </p:nvSpPr>
        <p:spPr>
          <a:xfrm>
            <a:off x="2987675" y="3141663"/>
            <a:ext cx="936625" cy="647700"/>
          </a:xfrm>
          <a:prstGeom prst="rightArrow">
            <a:avLst>
              <a:gd name="adj1" fmla="val 50000"/>
              <a:gd name="adj2" fmla="val 36098"/>
            </a:avLst>
          </a:prstGeom>
          <a:solidFill>
            <a:srgbClr val="C0C0C0"/>
          </a:solidFill>
          <a:ln w="9525" cap="flat" cmpd="sng">
            <a:solidFill>
              <a:schemeClr val="tx1"/>
            </a:solidFill>
            <a:prstDash val="solid"/>
            <a:miter/>
            <a:headEnd type="none" w="med" len="med"/>
            <a:tailEnd type="none" w="med" len="med"/>
          </a:ln>
        </p:spPr>
        <p:txBody>
          <a:bodyPr wrap="none" anchor="ctr"/>
          <a:lstStyle/>
          <a:p>
            <a:pPr lvl="0" algn="ctr"/>
            <a:endParaRPr lang="zh-CN" altLang="en-US" dirty="0">
              <a:latin typeface="Times New Roman" panose="02020603050405020304" pitchFamily="2" charset="0"/>
              <a:ea typeface="宋体" panose="02010600030101010101" pitchFamily="2" charset="-122"/>
            </a:endParaRPr>
          </a:p>
        </p:txBody>
      </p:sp>
      <p:sp>
        <p:nvSpPr>
          <p:cNvPr id="3" name="Text Box 36"/>
          <p:cNvSpPr txBox="1"/>
          <p:nvPr/>
        </p:nvSpPr>
        <p:spPr>
          <a:xfrm>
            <a:off x="766763" y="5445125"/>
            <a:ext cx="1600200" cy="1031875"/>
          </a:xfrm>
          <a:prstGeom prst="rect">
            <a:avLst/>
          </a:prstGeom>
          <a:noFill/>
          <a:ln w="9525">
            <a:noFill/>
          </a:ln>
        </p:spPr>
        <p:txBody>
          <a:bodyPr anchor="t">
            <a:spAutoFit/>
          </a:bodyPr>
          <a:lstStyle/>
          <a:p>
            <a:pPr lvl="0" algn="ctr">
              <a:spcBef>
                <a:spcPct val="20000"/>
              </a:spcBef>
            </a:pPr>
            <a:r>
              <a:rPr lang="en-US" altLang="x-none" sz="2800" b="1" dirty="0">
                <a:latin typeface="Arial" panose="020B0604020202020204" pitchFamily="34" charset="0"/>
                <a:ea typeface="宋体" panose="02010600030101010101" pitchFamily="2" charset="-122"/>
              </a:rPr>
              <a:t>A→B ?</a:t>
            </a:r>
          </a:p>
          <a:p>
            <a:pPr lvl="0" algn="ctr">
              <a:spcBef>
                <a:spcPct val="20000"/>
              </a:spcBef>
            </a:pPr>
            <a:r>
              <a:rPr lang="en-US" altLang="x-none" sz="2800" b="1" dirty="0">
                <a:latin typeface="Arial" panose="020B0604020202020204" pitchFamily="34" charset="0"/>
                <a:ea typeface="宋体" panose="02010600030101010101" pitchFamily="2" charset="-122"/>
              </a:rPr>
              <a:t>B→A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00390"/>
                                        </p:tgtEl>
                                        <p:attrNameLst>
                                          <p:attrName>style.visibility</p:attrName>
                                        </p:attrNameLst>
                                      </p:cBhvr>
                                      <p:to>
                                        <p:strVal val="visible"/>
                                      </p:to>
                                    </p:set>
                                    <p:anim calcmode="lin" valueType="num">
                                      <p:cBhvr>
                                        <p:cTn id="7" dur="500" fill="hold"/>
                                        <p:tgtEl>
                                          <p:spTgt spid="100390"/>
                                        </p:tgtEl>
                                        <p:attrNameLst>
                                          <p:attrName>ppt_x</p:attrName>
                                        </p:attrNameLst>
                                      </p:cBhvr>
                                      <p:tavLst>
                                        <p:tav tm="0">
                                          <p:val>
                                            <p:strVal val="#ppt_x-#ppt_w/2"/>
                                          </p:val>
                                        </p:tav>
                                        <p:tav tm="100000">
                                          <p:val>
                                            <p:strVal val="#ppt_x"/>
                                          </p:val>
                                        </p:tav>
                                      </p:tavLst>
                                    </p:anim>
                                    <p:anim calcmode="lin" valueType="num">
                                      <p:cBhvr>
                                        <p:cTn id="8" dur="500" fill="hold"/>
                                        <p:tgtEl>
                                          <p:spTgt spid="100390"/>
                                        </p:tgtEl>
                                        <p:attrNameLst>
                                          <p:attrName>ppt_y</p:attrName>
                                        </p:attrNameLst>
                                      </p:cBhvr>
                                      <p:tavLst>
                                        <p:tav tm="0">
                                          <p:val>
                                            <p:strVal val="#ppt_y"/>
                                          </p:val>
                                        </p:tav>
                                        <p:tav tm="100000">
                                          <p:val>
                                            <p:strVal val="#ppt_y"/>
                                          </p:val>
                                        </p:tav>
                                      </p:tavLst>
                                    </p:anim>
                                    <p:anim calcmode="lin" valueType="num">
                                      <p:cBhvr>
                                        <p:cTn id="9" dur="500" fill="hold"/>
                                        <p:tgtEl>
                                          <p:spTgt spid="100390"/>
                                        </p:tgtEl>
                                        <p:attrNameLst>
                                          <p:attrName>ppt_w</p:attrName>
                                        </p:attrNameLst>
                                      </p:cBhvr>
                                      <p:tavLst>
                                        <p:tav tm="0">
                                          <p:val>
                                            <p:fltVal val="0"/>
                                          </p:val>
                                        </p:tav>
                                        <p:tav tm="100000">
                                          <p:val>
                                            <p:strVal val="#ppt_w"/>
                                          </p:val>
                                        </p:tav>
                                      </p:tavLst>
                                    </p:anim>
                                    <p:anim calcmode="lin" valueType="num">
                                      <p:cBhvr>
                                        <p:cTn id="10" dur="500" fill="hold"/>
                                        <p:tgtEl>
                                          <p:spTgt spid="100390"/>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3" presetClass="entr" presetSubtype="10" fill="hold" nodeType="afterEffect">
                                  <p:stCondLst>
                                    <p:cond delay="0"/>
                                  </p:stCondLst>
                                  <p:childTnLst>
                                    <p:set>
                                      <p:cBhvr>
                                        <p:cTn id="13" dur="1" fill="hold">
                                          <p:stCondLst>
                                            <p:cond delay="0"/>
                                          </p:stCondLst>
                                        </p:cTn>
                                        <p:tgtEl>
                                          <p:spTgt spid="100381"/>
                                        </p:tgtEl>
                                        <p:attrNameLst>
                                          <p:attrName>style.visibility</p:attrName>
                                        </p:attrNameLst>
                                      </p:cBhvr>
                                      <p:to>
                                        <p:strVal val="visible"/>
                                      </p:to>
                                    </p:set>
                                    <p:animEffect transition="in" filter="blinds(horizontal)">
                                      <p:cBhvr>
                                        <p:cTn id="14" dur="500"/>
                                        <p:tgtEl>
                                          <p:spTgt spid="100381"/>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0380"/>
                                        </p:tgtEl>
                                        <p:attrNameLst>
                                          <p:attrName>style.visibility</p:attrName>
                                        </p:attrNameLst>
                                      </p:cBhvr>
                                      <p:to>
                                        <p:strVal val="visible"/>
                                      </p:to>
                                    </p:set>
                                    <p:anim calcmode="lin" valueType="num">
                                      <p:cBhvr>
                                        <p:cTn id="19" dur="500" fill="hold"/>
                                        <p:tgtEl>
                                          <p:spTgt spid="100380"/>
                                        </p:tgtEl>
                                        <p:attrNameLst>
                                          <p:attrName>ppt_x</p:attrName>
                                        </p:attrNameLst>
                                      </p:cBhvr>
                                      <p:tavLst>
                                        <p:tav tm="0">
                                          <p:val>
                                            <p:strVal val="#ppt_x"/>
                                          </p:val>
                                        </p:tav>
                                        <p:tav tm="100000">
                                          <p:val>
                                            <p:strVal val="#ppt_x"/>
                                          </p:val>
                                        </p:tav>
                                      </p:tavLst>
                                    </p:anim>
                                    <p:anim calcmode="lin" valueType="num">
                                      <p:cBhvr>
                                        <p:cTn id="20" dur="500" fill="hold"/>
                                        <p:tgtEl>
                                          <p:spTgt spid="1003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80" grpId="0"/>
      <p:bldP spid="10039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27</a:t>
            </a:fld>
            <a:endParaRPr lang="zh-CN" altLang="en-US" sz="1200" b="1" i="1" dirty="0">
              <a:latin typeface="Times New Roman" panose="02020603050405020304" pitchFamily="2" charset="0"/>
              <a:ea typeface="宋体" panose="02010600030101010101" pitchFamily="2" charset="-122"/>
            </a:endParaRPr>
          </a:p>
        </p:txBody>
      </p:sp>
      <p:sp>
        <p:nvSpPr>
          <p:cNvPr id="101380"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6.6 </a:t>
            </a:r>
            <a:r>
              <a:rPr lang="en-US" altLang="x-none" dirty="0">
                <a:ea typeface="宋体" panose="02010600030101010101" pitchFamily="2" charset="-122"/>
              </a:rPr>
              <a:t>Functional Dependencies</a:t>
            </a:r>
          </a:p>
        </p:txBody>
      </p:sp>
      <p:sp>
        <p:nvSpPr>
          <p:cNvPr id="101381" name="Rectangle 3"/>
          <p:cNvSpPr>
            <a:spLocks noGrp="1"/>
          </p:cNvSpPr>
          <p:nvPr>
            <p:ph type="body"/>
          </p:nvPr>
        </p:nvSpPr>
        <p:spPr>
          <a:xfrm>
            <a:off x="468313" y="692150"/>
            <a:ext cx="8229600" cy="5638800"/>
          </a:xfrm>
        </p:spPr>
        <p:txBody>
          <a:bodyPr wrap="square" anchor="t"/>
          <a:lstStyle/>
          <a:p>
            <a:pPr lvl="0" eaLnBrk="1" hangingPunct="1"/>
            <a:r>
              <a:rPr lang="en-US" altLang="x-none" dirty="0">
                <a:ea typeface="宋体" panose="02010600030101010101" pitchFamily="2" charset="-122"/>
              </a:rPr>
              <a:t>Example 6.6.2</a:t>
            </a:r>
          </a:p>
        </p:txBody>
      </p:sp>
      <p:graphicFrame>
        <p:nvGraphicFramePr>
          <p:cNvPr id="101383" name="表格 101382"/>
          <p:cNvGraphicFramePr/>
          <p:nvPr/>
        </p:nvGraphicFramePr>
        <p:xfrm>
          <a:off x="107950" y="1692275"/>
          <a:ext cx="1603375" cy="3608388"/>
        </p:xfrm>
        <a:graphic>
          <a:graphicData uri="http://schemas.openxmlformats.org/drawingml/2006/table">
            <a:tbl>
              <a:tblPr/>
              <a:tblGrid>
                <a:gridCol w="766763">
                  <a:extLst>
                    <a:ext uri="{9D8B030D-6E8A-4147-A177-3AD203B41FA5}">
                      <a16:colId xmlns:a16="http://schemas.microsoft.com/office/drawing/2014/main" val="20000"/>
                    </a:ext>
                  </a:extLst>
                </a:gridCol>
                <a:gridCol w="836612">
                  <a:extLst>
                    <a:ext uri="{9D8B030D-6E8A-4147-A177-3AD203B41FA5}">
                      <a16:colId xmlns:a16="http://schemas.microsoft.com/office/drawing/2014/main" val="20001"/>
                    </a:ext>
                  </a:extLst>
                </a:gridCol>
              </a:tblGrid>
              <a:tr h="50800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50800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1"/>
                  </a:ext>
                </a:extLst>
              </a:tr>
              <a:tr h="550863">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2"/>
                  </a:ext>
                </a:extLst>
              </a:tr>
              <a:tr h="5143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3"/>
                  </a:ext>
                </a:extLst>
              </a:tr>
              <a:tr h="509587">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x4</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4"/>
                  </a:ext>
                </a:extLst>
              </a:tr>
              <a:tr h="50800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x5</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5"/>
                  </a:ext>
                </a:extLst>
              </a:tr>
              <a:tr h="509588">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x6</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6"/>
                  </a:ext>
                </a:extLst>
              </a:tr>
            </a:tbl>
          </a:graphicData>
        </a:graphic>
      </p:graphicFrame>
      <p:sp>
        <p:nvSpPr>
          <p:cNvPr id="101408" name="Text Box 30"/>
          <p:cNvSpPr txBox="1"/>
          <p:nvPr/>
        </p:nvSpPr>
        <p:spPr>
          <a:xfrm>
            <a:off x="260350" y="1196975"/>
            <a:ext cx="1295400" cy="457200"/>
          </a:xfrm>
          <a:prstGeom prst="rect">
            <a:avLst/>
          </a:prstGeom>
          <a:noFill/>
          <a:ln w="9525">
            <a:noFill/>
          </a:ln>
        </p:spPr>
        <p:txBody>
          <a:bodyPr anchor="t">
            <a:spAutoFit/>
          </a:bodyPr>
          <a:lstStyle/>
          <a:p>
            <a:pPr lvl="0" algn="ctr">
              <a:spcBef>
                <a:spcPct val="50000"/>
              </a:spcBef>
            </a:pPr>
            <a:r>
              <a:rPr lang="en-US" altLang="x-none" b="1" dirty="0">
                <a:latin typeface="Arial" panose="020B0604020202020204" pitchFamily="34" charset="0"/>
                <a:ea typeface="宋体" panose="02010600030101010101" pitchFamily="2" charset="-122"/>
              </a:rPr>
              <a:t>T1</a:t>
            </a:r>
          </a:p>
        </p:txBody>
      </p:sp>
      <p:graphicFrame>
        <p:nvGraphicFramePr>
          <p:cNvPr id="101410" name="表格 101409"/>
          <p:cNvGraphicFramePr/>
          <p:nvPr/>
        </p:nvGraphicFramePr>
        <p:xfrm>
          <a:off x="2555875" y="1700530"/>
          <a:ext cx="1603375" cy="2636520"/>
        </p:xfrm>
        <a:graphic>
          <a:graphicData uri="http://schemas.openxmlformats.org/drawingml/2006/table">
            <a:tbl>
              <a:tblPr/>
              <a:tblGrid>
                <a:gridCol w="767080">
                  <a:extLst>
                    <a:ext uri="{9D8B030D-6E8A-4147-A177-3AD203B41FA5}">
                      <a16:colId xmlns:a16="http://schemas.microsoft.com/office/drawing/2014/main" val="20000"/>
                    </a:ext>
                  </a:extLst>
                </a:gridCol>
                <a:gridCol w="836295">
                  <a:extLst>
                    <a:ext uri="{9D8B030D-6E8A-4147-A177-3AD203B41FA5}">
                      <a16:colId xmlns:a16="http://schemas.microsoft.com/office/drawing/2014/main" val="20001"/>
                    </a:ext>
                  </a:extLst>
                </a:gridCol>
              </a:tblGrid>
              <a:tr h="52451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52641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1"/>
                  </a:ext>
                </a:extLst>
              </a:tr>
              <a:tr h="52895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y4</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2"/>
                  </a:ext>
                </a:extLst>
              </a:tr>
              <a:tr h="53022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3"/>
                  </a:ext>
                </a:extLst>
              </a:tr>
              <a:tr h="52641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x4</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4"/>
                  </a:ext>
                </a:extLst>
              </a:tr>
            </a:tbl>
          </a:graphicData>
        </a:graphic>
      </p:graphicFrame>
      <p:sp>
        <p:nvSpPr>
          <p:cNvPr id="101429" name="Text Box 57"/>
          <p:cNvSpPr txBox="1"/>
          <p:nvPr/>
        </p:nvSpPr>
        <p:spPr>
          <a:xfrm>
            <a:off x="2730500" y="1196975"/>
            <a:ext cx="1295400" cy="457200"/>
          </a:xfrm>
          <a:prstGeom prst="rect">
            <a:avLst/>
          </a:prstGeom>
          <a:noFill/>
          <a:ln w="9525">
            <a:noFill/>
          </a:ln>
        </p:spPr>
        <p:txBody>
          <a:bodyPr anchor="t">
            <a:spAutoFit/>
          </a:bodyPr>
          <a:lstStyle/>
          <a:p>
            <a:pPr lvl="0" algn="ctr">
              <a:spcBef>
                <a:spcPct val="50000"/>
              </a:spcBef>
            </a:pPr>
            <a:r>
              <a:rPr lang="en-US" altLang="x-none" b="1" dirty="0">
                <a:latin typeface="Arial" panose="020B0604020202020204" pitchFamily="34" charset="0"/>
                <a:ea typeface="宋体" panose="02010600030101010101" pitchFamily="2" charset="-122"/>
              </a:rPr>
              <a:t>T2</a:t>
            </a:r>
          </a:p>
        </p:txBody>
      </p:sp>
      <p:graphicFrame>
        <p:nvGraphicFramePr>
          <p:cNvPr id="101431" name="表格 101430"/>
          <p:cNvGraphicFramePr/>
          <p:nvPr/>
        </p:nvGraphicFramePr>
        <p:xfrm>
          <a:off x="5076825" y="1700530"/>
          <a:ext cx="1603375" cy="2647315"/>
        </p:xfrm>
        <a:graphic>
          <a:graphicData uri="http://schemas.openxmlformats.org/drawingml/2006/table">
            <a:tbl>
              <a:tblPr/>
              <a:tblGrid>
                <a:gridCol w="767080">
                  <a:extLst>
                    <a:ext uri="{9D8B030D-6E8A-4147-A177-3AD203B41FA5}">
                      <a16:colId xmlns:a16="http://schemas.microsoft.com/office/drawing/2014/main" val="20000"/>
                    </a:ext>
                  </a:extLst>
                </a:gridCol>
                <a:gridCol w="836295">
                  <a:extLst>
                    <a:ext uri="{9D8B030D-6E8A-4147-A177-3AD203B41FA5}">
                      <a16:colId xmlns:a16="http://schemas.microsoft.com/office/drawing/2014/main" val="20001"/>
                    </a:ext>
                  </a:extLst>
                </a:gridCol>
              </a:tblGrid>
              <a:tr h="52768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52959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1"/>
                  </a:ext>
                </a:extLst>
              </a:tr>
              <a:tr h="53149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2"/>
                  </a:ext>
                </a:extLst>
              </a:tr>
              <a:tr h="52832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3"/>
                  </a:ext>
                </a:extLst>
              </a:tr>
              <a:tr h="53022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y4</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4"/>
                  </a:ext>
                </a:extLst>
              </a:tr>
            </a:tbl>
          </a:graphicData>
        </a:graphic>
      </p:graphicFrame>
      <p:sp>
        <p:nvSpPr>
          <p:cNvPr id="101450" name="Text Box 84"/>
          <p:cNvSpPr txBox="1"/>
          <p:nvPr/>
        </p:nvSpPr>
        <p:spPr>
          <a:xfrm>
            <a:off x="5254625" y="1196975"/>
            <a:ext cx="1295400" cy="457200"/>
          </a:xfrm>
          <a:prstGeom prst="rect">
            <a:avLst/>
          </a:prstGeom>
          <a:noFill/>
          <a:ln w="9525">
            <a:noFill/>
          </a:ln>
        </p:spPr>
        <p:txBody>
          <a:bodyPr anchor="t">
            <a:spAutoFit/>
          </a:bodyPr>
          <a:lstStyle/>
          <a:p>
            <a:pPr lvl="0" algn="ctr">
              <a:spcBef>
                <a:spcPct val="50000"/>
              </a:spcBef>
            </a:pPr>
            <a:r>
              <a:rPr lang="en-US" altLang="x-none" b="1" dirty="0">
                <a:latin typeface="Arial" panose="020B0604020202020204" pitchFamily="34" charset="0"/>
                <a:ea typeface="宋体" panose="02010600030101010101" pitchFamily="2" charset="-122"/>
              </a:rPr>
              <a:t>T3</a:t>
            </a:r>
          </a:p>
        </p:txBody>
      </p:sp>
      <p:sp>
        <p:nvSpPr>
          <p:cNvPr id="101451" name="Text Box 85"/>
          <p:cNvSpPr txBox="1"/>
          <p:nvPr/>
        </p:nvSpPr>
        <p:spPr>
          <a:xfrm>
            <a:off x="111125" y="5437188"/>
            <a:ext cx="1600200" cy="1160462"/>
          </a:xfrm>
          <a:prstGeom prst="rect">
            <a:avLst/>
          </a:prstGeom>
          <a:noFill/>
          <a:ln w="9525">
            <a:noFill/>
          </a:ln>
        </p:spPr>
        <p:txBody>
          <a:bodyPr anchor="t">
            <a:spAutoFit/>
          </a:bodyPr>
          <a:lstStyle/>
          <a:p>
            <a:pPr lvl="0" algn="ctr">
              <a:spcBef>
                <a:spcPct val="50000"/>
              </a:spcBef>
            </a:pPr>
            <a:r>
              <a:rPr lang="en-US" altLang="x-none" sz="2800" b="1" dirty="0">
                <a:latin typeface="Arial" panose="020B0604020202020204" pitchFamily="34" charset="0"/>
                <a:ea typeface="宋体" panose="02010600030101010101" pitchFamily="2" charset="-122"/>
              </a:rPr>
              <a:t>A→B </a:t>
            </a:r>
            <a:r>
              <a:rPr lang="en-US" altLang="x-none" sz="2800" b="1" dirty="0">
                <a:solidFill>
                  <a:srgbClr val="FF0000"/>
                </a:solidFill>
                <a:latin typeface="黑体" panose="02010609060101010101" pitchFamily="1" charset="-122"/>
                <a:ea typeface="黑体" panose="02010609060101010101" pitchFamily="1" charset="-122"/>
              </a:rPr>
              <a:t>√</a:t>
            </a:r>
          </a:p>
          <a:p>
            <a:pPr lvl="0" algn="ctr">
              <a:spcBef>
                <a:spcPct val="50000"/>
              </a:spcBef>
            </a:pPr>
            <a:r>
              <a:rPr lang="en-US" altLang="x-none" sz="2800" b="1" dirty="0">
                <a:latin typeface="Arial" panose="020B0604020202020204" pitchFamily="34" charset="0"/>
                <a:ea typeface="宋体" panose="02010600030101010101" pitchFamily="2" charset="-122"/>
              </a:rPr>
              <a:t>B→A </a:t>
            </a:r>
            <a:r>
              <a:rPr lang="en-US" altLang="x-none" sz="2800" b="1" dirty="0">
                <a:solidFill>
                  <a:srgbClr val="FF0000"/>
                </a:solidFill>
                <a:latin typeface="黑体" panose="02010609060101010101" pitchFamily="1" charset="-122"/>
                <a:ea typeface="黑体" panose="02010609060101010101" pitchFamily="1" charset="-122"/>
              </a:rPr>
              <a:t>×</a:t>
            </a:r>
          </a:p>
        </p:txBody>
      </p:sp>
      <p:sp>
        <p:nvSpPr>
          <p:cNvPr id="101452" name="Text Box 86"/>
          <p:cNvSpPr txBox="1"/>
          <p:nvPr/>
        </p:nvSpPr>
        <p:spPr>
          <a:xfrm>
            <a:off x="2581275" y="5437188"/>
            <a:ext cx="1600200" cy="1160462"/>
          </a:xfrm>
          <a:prstGeom prst="rect">
            <a:avLst/>
          </a:prstGeom>
          <a:noFill/>
          <a:ln w="9525">
            <a:noFill/>
          </a:ln>
        </p:spPr>
        <p:txBody>
          <a:bodyPr anchor="t">
            <a:spAutoFit/>
          </a:bodyPr>
          <a:lstStyle/>
          <a:p>
            <a:pPr lvl="0" algn="ctr">
              <a:spcBef>
                <a:spcPct val="50000"/>
              </a:spcBef>
            </a:pPr>
            <a:r>
              <a:rPr lang="en-US" altLang="x-none" sz="2800" b="1" dirty="0">
                <a:latin typeface="Arial" panose="020B0604020202020204" pitchFamily="34" charset="0"/>
                <a:ea typeface="宋体" panose="02010600030101010101" pitchFamily="2" charset="-122"/>
              </a:rPr>
              <a:t>A→B </a:t>
            </a:r>
            <a:r>
              <a:rPr lang="en-US" altLang="x-none" sz="2800" b="1" dirty="0">
                <a:solidFill>
                  <a:srgbClr val="FF0000"/>
                </a:solidFill>
                <a:latin typeface="黑体" panose="02010609060101010101" pitchFamily="1" charset="-122"/>
                <a:ea typeface="黑体" panose="02010609060101010101" pitchFamily="1" charset="-122"/>
              </a:rPr>
              <a:t>√</a:t>
            </a:r>
          </a:p>
          <a:p>
            <a:pPr lvl="0" algn="ctr">
              <a:spcBef>
                <a:spcPct val="50000"/>
              </a:spcBef>
            </a:pPr>
            <a:r>
              <a:rPr lang="en-US" altLang="x-none" sz="2800" b="1" dirty="0">
                <a:latin typeface="Arial" panose="020B0604020202020204" pitchFamily="34" charset="0"/>
                <a:ea typeface="宋体" panose="02010600030101010101" pitchFamily="2" charset="-122"/>
              </a:rPr>
              <a:t>B→A </a:t>
            </a:r>
            <a:r>
              <a:rPr lang="en-US" altLang="x-none" sz="2800" b="1" dirty="0">
                <a:solidFill>
                  <a:srgbClr val="FF0000"/>
                </a:solidFill>
                <a:latin typeface="黑体" panose="02010609060101010101" pitchFamily="1" charset="-122"/>
                <a:ea typeface="黑体" panose="02010609060101010101" pitchFamily="1" charset="-122"/>
              </a:rPr>
              <a:t>√</a:t>
            </a:r>
          </a:p>
        </p:txBody>
      </p:sp>
      <p:sp>
        <p:nvSpPr>
          <p:cNvPr id="101453" name="Text Box 87"/>
          <p:cNvSpPr txBox="1"/>
          <p:nvPr/>
        </p:nvSpPr>
        <p:spPr>
          <a:xfrm>
            <a:off x="5105400" y="5437188"/>
            <a:ext cx="1600200" cy="1160462"/>
          </a:xfrm>
          <a:prstGeom prst="rect">
            <a:avLst/>
          </a:prstGeom>
          <a:noFill/>
          <a:ln w="9525">
            <a:noFill/>
          </a:ln>
        </p:spPr>
        <p:txBody>
          <a:bodyPr anchor="t">
            <a:spAutoFit/>
          </a:bodyPr>
          <a:lstStyle/>
          <a:p>
            <a:pPr lvl="0" algn="ctr">
              <a:spcBef>
                <a:spcPct val="50000"/>
              </a:spcBef>
            </a:pPr>
            <a:r>
              <a:rPr lang="en-US" altLang="x-none" sz="2800" b="1" dirty="0">
                <a:latin typeface="Arial" panose="020B0604020202020204" pitchFamily="34" charset="0"/>
                <a:ea typeface="宋体" panose="02010600030101010101" pitchFamily="2" charset="-122"/>
              </a:rPr>
              <a:t>A→B </a:t>
            </a:r>
            <a:r>
              <a:rPr lang="en-US" altLang="x-none" sz="2800" b="1" dirty="0">
                <a:solidFill>
                  <a:srgbClr val="FF0000"/>
                </a:solidFill>
                <a:latin typeface="黑体" panose="02010609060101010101" pitchFamily="1" charset="-122"/>
                <a:ea typeface="黑体" panose="02010609060101010101" pitchFamily="1" charset="-122"/>
              </a:rPr>
              <a:t>×</a:t>
            </a:r>
            <a:endParaRPr lang="en-US" altLang="x-none" sz="2800" b="1" dirty="0">
              <a:latin typeface="黑体" panose="02010609060101010101" pitchFamily="1" charset="-122"/>
              <a:ea typeface="黑体" panose="02010609060101010101" pitchFamily="1" charset="-122"/>
            </a:endParaRPr>
          </a:p>
          <a:p>
            <a:pPr lvl="0" algn="ctr">
              <a:spcBef>
                <a:spcPct val="50000"/>
              </a:spcBef>
            </a:pPr>
            <a:r>
              <a:rPr lang="en-US" altLang="x-none" sz="2800" b="1" dirty="0">
                <a:latin typeface="Arial" panose="020B0604020202020204" pitchFamily="34" charset="0"/>
                <a:ea typeface="宋体" panose="02010600030101010101" pitchFamily="2" charset="-122"/>
              </a:rPr>
              <a:t>B→A </a:t>
            </a:r>
            <a:r>
              <a:rPr lang="en-US" altLang="x-none" sz="2800" b="1" dirty="0">
                <a:solidFill>
                  <a:srgbClr val="FF0000"/>
                </a:solidFill>
                <a:latin typeface="黑体" panose="02010609060101010101" pitchFamily="1" charset="-122"/>
                <a:ea typeface="黑体" panose="02010609060101010101" pitchFamily="1" charset="-122"/>
              </a:rPr>
              <a:t>√</a:t>
            </a:r>
          </a:p>
        </p:txBody>
      </p:sp>
      <p:graphicFrame>
        <p:nvGraphicFramePr>
          <p:cNvPr id="101455" name="表格 101454"/>
          <p:cNvGraphicFramePr/>
          <p:nvPr/>
        </p:nvGraphicFramePr>
        <p:xfrm>
          <a:off x="7480300" y="1700530"/>
          <a:ext cx="1603375" cy="2701925"/>
        </p:xfrm>
        <a:graphic>
          <a:graphicData uri="http://schemas.openxmlformats.org/drawingml/2006/table">
            <a:tbl>
              <a:tblPr/>
              <a:tblGrid>
                <a:gridCol w="767080">
                  <a:extLst>
                    <a:ext uri="{9D8B030D-6E8A-4147-A177-3AD203B41FA5}">
                      <a16:colId xmlns:a16="http://schemas.microsoft.com/office/drawing/2014/main" val="20000"/>
                    </a:ext>
                  </a:extLst>
                </a:gridCol>
                <a:gridCol w="836295">
                  <a:extLst>
                    <a:ext uri="{9D8B030D-6E8A-4147-A177-3AD203B41FA5}">
                      <a16:colId xmlns:a16="http://schemas.microsoft.com/office/drawing/2014/main" val="20001"/>
                    </a:ext>
                  </a:extLst>
                </a:gridCol>
              </a:tblGrid>
              <a:tr h="53848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54102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1"/>
                  </a:ext>
                </a:extLst>
              </a:tr>
              <a:tr h="54229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2"/>
                  </a:ext>
                </a:extLst>
              </a:tr>
              <a:tr h="53911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3"/>
                  </a:ext>
                </a:extLst>
              </a:tr>
              <a:tr h="54102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x2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y3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4"/>
                  </a:ext>
                </a:extLst>
              </a:tr>
            </a:tbl>
          </a:graphicData>
        </a:graphic>
      </p:graphicFrame>
      <p:sp>
        <p:nvSpPr>
          <p:cNvPr id="101474" name="Text Box 1048"/>
          <p:cNvSpPr txBox="1"/>
          <p:nvPr/>
        </p:nvSpPr>
        <p:spPr>
          <a:xfrm>
            <a:off x="7658100" y="1196975"/>
            <a:ext cx="1295400" cy="457200"/>
          </a:xfrm>
          <a:prstGeom prst="rect">
            <a:avLst/>
          </a:prstGeom>
          <a:noFill/>
          <a:ln w="9525">
            <a:noFill/>
          </a:ln>
        </p:spPr>
        <p:txBody>
          <a:bodyPr anchor="t">
            <a:spAutoFit/>
          </a:bodyPr>
          <a:lstStyle/>
          <a:p>
            <a:pPr lvl="0" algn="ctr">
              <a:spcBef>
                <a:spcPct val="50000"/>
              </a:spcBef>
            </a:pPr>
            <a:r>
              <a:rPr lang="en-US" altLang="x-none" b="1" dirty="0">
                <a:latin typeface="Arial" panose="020B0604020202020204" pitchFamily="34" charset="0"/>
                <a:ea typeface="宋体" panose="02010600030101010101" pitchFamily="2" charset="-122"/>
              </a:rPr>
              <a:t>T4</a:t>
            </a:r>
          </a:p>
        </p:txBody>
      </p:sp>
      <p:sp>
        <p:nvSpPr>
          <p:cNvPr id="101475" name="Text Box 1050"/>
          <p:cNvSpPr txBox="1"/>
          <p:nvPr/>
        </p:nvSpPr>
        <p:spPr>
          <a:xfrm>
            <a:off x="7451725" y="5445125"/>
            <a:ext cx="1600200" cy="1160463"/>
          </a:xfrm>
          <a:prstGeom prst="rect">
            <a:avLst/>
          </a:prstGeom>
          <a:noFill/>
          <a:ln w="9525">
            <a:noFill/>
          </a:ln>
        </p:spPr>
        <p:txBody>
          <a:bodyPr anchor="t">
            <a:spAutoFit/>
          </a:bodyPr>
          <a:lstStyle/>
          <a:p>
            <a:pPr lvl="0" algn="ctr">
              <a:spcBef>
                <a:spcPct val="50000"/>
              </a:spcBef>
            </a:pPr>
            <a:r>
              <a:rPr lang="en-US" altLang="x-none" sz="2800" b="1" dirty="0">
                <a:latin typeface="Arial" panose="020B0604020202020204" pitchFamily="34" charset="0"/>
                <a:ea typeface="宋体" panose="02010600030101010101" pitchFamily="2" charset="-122"/>
              </a:rPr>
              <a:t>A→B </a:t>
            </a:r>
            <a:r>
              <a:rPr lang="en-US" altLang="x-none" sz="2800" b="1" dirty="0">
                <a:solidFill>
                  <a:srgbClr val="FF0000"/>
                </a:solidFill>
                <a:latin typeface="黑体" panose="02010609060101010101" pitchFamily="1" charset="-122"/>
                <a:ea typeface="黑体" panose="02010609060101010101" pitchFamily="1" charset="-122"/>
              </a:rPr>
              <a:t>×</a:t>
            </a:r>
            <a:endParaRPr lang="en-US" altLang="x-none" sz="2800" b="1" dirty="0">
              <a:latin typeface="黑体" panose="02010609060101010101" pitchFamily="1" charset="-122"/>
              <a:ea typeface="黑体" panose="02010609060101010101" pitchFamily="1" charset="-122"/>
            </a:endParaRPr>
          </a:p>
          <a:p>
            <a:pPr lvl="0" algn="ctr">
              <a:spcBef>
                <a:spcPct val="50000"/>
              </a:spcBef>
            </a:pPr>
            <a:r>
              <a:rPr lang="en-US" altLang="x-none" sz="2800" b="1" dirty="0">
                <a:latin typeface="Arial" panose="020B0604020202020204" pitchFamily="34" charset="0"/>
                <a:ea typeface="宋体" panose="02010600030101010101" pitchFamily="2" charset="-122"/>
              </a:rPr>
              <a:t>B→A </a:t>
            </a:r>
            <a:r>
              <a:rPr lang="en-US" altLang="x-none" sz="2800" b="1" dirty="0">
                <a:solidFill>
                  <a:srgbClr val="FF0000"/>
                </a:solidFill>
                <a:latin typeface="黑体" panose="02010609060101010101" pitchFamily="1" charset="-122"/>
                <a:ea typeface="黑体" panose="02010609060101010101" pitchFamily="1" charset="-122"/>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03426"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03427"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28</a:t>
            </a:fld>
            <a:endParaRPr lang="zh-CN" altLang="en-US" sz="1200" b="1" i="1" dirty="0">
              <a:latin typeface="Times New Roman" panose="02020603050405020304" pitchFamily="2" charset="0"/>
              <a:ea typeface="宋体" panose="02010600030101010101" pitchFamily="2" charset="-122"/>
            </a:endParaRPr>
          </a:p>
        </p:txBody>
      </p:sp>
      <p:sp>
        <p:nvSpPr>
          <p:cNvPr id="103428"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6.6 </a:t>
            </a:r>
            <a:r>
              <a:rPr lang="en-US" altLang="x-none" dirty="0">
                <a:ea typeface="宋体" panose="02010600030101010101" pitchFamily="2" charset="-122"/>
              </a:rPr>
              <a:t>Functional Dependencies</a:t>
            </a:r>
            <a:endParaRPr lang="zh-CN" altLang="en-US" dirty="0">
              <a:ea typeface="宋体" panose="02010600030101010101" pitchFamily="2" charset="-122"/>
            </a:endParaRPr>
          </a:p>
        </p:txBody>
      </p:sp>
      <p:sp>
        <p:nvSpPr>
          <p:cNvPr id="103429" name="Rectangle 3"/>
          <p:cNvSpPr>
            <a:spLocks noGrp="1"/>
          </p:cNvSpPr>
          <p:nvPr>
            <p:ph type="body"/>
          </p:nvPr>
        </p:nvSpPr>
        <p:spPr/>
        <p:txBody>
          <a:bodyPr wrap="square" anchor="t"/>
          <a:lstStyle/>
          <a:p>
            <a:pPr lvl="0" eaLnBrk="1" hangingPunct="1"/>
            <a:r>
              <a:rPr lang="en-US" altLang="x-none" dirty="0">
                <a:ea typeface="宋体" panose="02010600030101010101" pitchFamily="2" charset="-122"/>
              </a:rPr>
              <a:t>Armstrong’s Axioms</a:t>
            </a:r>
          </a:p>
          <a:p>
            <a:pPr lvl="1" indent="-285750" eaLnBrk="1" hangingPunct="1"/>
            <a:r>
              <a:rPr lang="zh-CN" altLang="en-US" dirty="0">
                <a:ea typeface="宋体" panose="02010600030101010101" pitchFamily="2" charset="-122"/>
              </a:rPr>
              <a:t>从已知的一些函数依赖，可以推导出另外一些函数依赖，这就需要定义一组推理规则。</a:t>
            </a:r>
          </a:p>
          <a:p>
            <a:pPr lvl="1" indent="-285750" eaLnBrk="1" hangingPunct="1"/>
            <a:endParaRPr lang="zh-CN" altLang="en-US" dirty="0">
              <a:ea typeface="宋体" panose="02010600030101010101" pitchFamily="2" charset="-122"/>
            </a:endParaRPr>
          </a:p>
          <a:p>
            <a:pPr lvl="1" indent="-285750" eaLnBrk="1" hangingPunct="1"/>
            <a:r>
              <a:rPr lang="zh-CN" altLang="en-US" dirty="0">
                <a:ea typeface="宋体" panose="02010600030101010101" pitchFamily="2" charset="-122"/>
              </a:rPr>
              <a:t>函数依赖的推理规则最早出现在</a:t>
            </a:r>
            <a:r>
              <a:rPr lang="en-US" altLang="x-none" dirty="0">
                <a:ea typeface="宋体" panose="02010600030101010101" pitchFamily="2" charset="-122"/>
              </a:rPr>
              <a:t>1974</a:t>
            </a:r>
            <a:r>
              <a:rPr lang="zh-CN" altLang="en-US" dirty="0">
                <a:ea typeface="宋体" panose="02010600030101010101" pitchFamily="2" charset="-122"/>
              </a:rPr>
              <a:t>年</a:t>
            </a:r>
            <a:r>
              <a:rPr lang="en-US" altLang="x-none" dirty="0">
                <a:ea typeface="宋体" panose="02010600030101010101" pitchFamily="2" charset="-122"/>
              </a:rPr>
              <a:t>W.W.Armstrong </a:t>
            </a:r>
            <a:r>
              <a:rPr lang="zh-CN" altLang="en-US" dirty="0">
                <a:ea typeface="宋体" panose="02010600030101010101" pitchFamily="2" charset="-122"/>
              </a:rPr>
              <a:t>的论文里，这些规则常被称作“</a:t>
            </a:r>
            <a:r>
              <a:rPr lang="en-US" altLang="x-none" dirty="0">
                <a:ea typeface="宋体" panose="02010600030101010101" pitchFamily="2" charset="-122"/>
              </a:rPr>
              <a:t>Armstrong </a:t>
            </a:r>
            <a:r>
              <a:rPr lang="zh-CN" altLang="en-US" dirty="0">
                <a:ea typeface="宋体" panose="02010600030101010101" pitchFamily="2" charset="-122"/>
              </a:rPr>
              <a:t>公理”</a:t>
            </a:r>
          </a:p>
          <a:p>
            <a:pPr lvl="1" indent="-285750" eaLnBrk="1" hangingPunct="1"/>
            <a:endParaRPr lang="zh-CN" altLang="en-US" dirty="0">
              <a:ea typeface="宋体" panose="02010600030101010101" pitchFamily="2" charset="-122"/>
            </a:endParaRPr>
          </a:p>
          <a:p>
            <a:pPr lvl="1" indent="-285750" eaLnBrk="1" hangingPunct="1"/>
            <a:r>
              <a:rPr lang="zh-CN" altLang="en-US" dirty="0">
                <a:ea typeface="宋体" panose="02010600030101010101" pitchFamily="2" charset="-122"/>
              </a:rPr>
              <a:t>最基本的推理规则只有</a:t>
            </a:r>
            <a:r>
              <a:rPr lang="en-US" altLang="x-none" dirty="0">
                <a:ea typeface="宋体" panose="02010600030101010101" pitchFamily="2" charset="-122"/>
              </a:rPr>
              <a:t>3</a:t>
            </a:r>
            <a:r>
              <a:rPr lang="zh-CN" altLang="en-US" dirty="0">
                <a:ea typeface="宋体" panose="02010600030101010101" pitchFamily="2" charset="-122"/>
              </a:rPr>
              <a:t>条，由这</a:t>
            </a:r>
            <a:r>
              <a:rPr lang="en-US" altLang="x-none" dirty="0">
                <a:ea typeface="宋体" panose="02010600030101010101" pitchFamily="2" charset="-122"/>
              </a:rPr>
              <a:t>3</a:t>
            </a:r>
            <a:r>
              <a:rPr lang="zh-CN" altLang="en-US" dirty="0">
                <a:ea typeface="宋体" panose="02010600030101010101" pitchFamily="2" charset="-122"/>
              </a:rPr>
              <a:t>条基本规则可以定义出若干条‘扩充规则’</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04450"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04451"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29</a:t>
            </a:fld>
            <a:endParaRPr lang="zh-CN" altLang="en-US" sz="1200" b="1" i="1" dirty="0">
              <a:latin typeface="Times New Roman" panose="02020603050405020304" pitchFamily="2" charset="0"/>
              <a:ea typeface="宋体" panose="02010600030101010101" pitchFamily="2" charset="-122"/>
            </a:endParaRPr>
          </a:p>
        </p:txBody>
      </p:sp>
      <p:sp>
        <p:nvSpPr>
          <p:cNvPr id="104452"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6.6 </a:t>
            </a:r>
            <a:r>
              <a:rPr lang="en-US" altLang="x-none" dirty="0">
                <a:ea typeface="宋体" panose="02010600030101010101" pitchFamily="2" charset="-122"/>
              </a:rPr>
              <a:t>Functional Dependencies</a:t>
            </a:r>
          </a:p>
        </p:txBody>
      </p:sp>
      <p:sp>
        <p:nvSpPr>
          <p:cNvPr id="104453" name="Rectangle 3"/>
          <p:cNvSpPr>
            <a:spLocks noGrp="1"/>
          </p:cNvSpPr>
          <p:nvPr>
            <p:ph type="body"/>
          </p:nvPr>
        </p:nvSpPr>
        <p:spPr/>
        <p:txBody>
          <a:bodyPr wrap="square" anchor="t"/>
          <a:lstStyle/>
          <a:p>
            <a:pPr lvl="0" eaLnBrk="1" hangingPunct="1">
              <a:lnSpc>
                <a:spcPct val="90000"/>
              </a:lnSpc>
            </a:pPr>
            <a:r>
              <a:rPr lang="en-US" altLang="x-none" sz="3000" dirty="0">
                <a:ea typeface="宋体" panose="02010600030101010101" pitchFamily="2" charset="-122"/>
              </a:rPr>
              <a:t>Armstrong’s Axioms</a:t>
            </a:r>
          </a:p>
          <a:p>
            <a:pPr lvl="1" indent="-285750" eaLnBrk="1" hangingPunct="1">
              <a:lnSpc>
                <a:spcPct val="90000"/>
              </a:lnSpc>
            </a:pPr>
            <a:r>
              <a:rPr lang="en-US" altLang="x-none" sz="3000" dirty="0">
                <a:ea typeface="宋体" panose="02010600030101010101" pitchFamily="2" charset="-122"/>
              </a:rPr>
              <a:t>Rule 1 (</a:t>
            </a:r>
            <a:r>
              <a:rPr lang="zh-CN" altLang="en-US" sz="3000" dirty="0">
                <a:ea typeface="宋体" panose="02010600030101010101" pitchFamily="2" charset="-122"/>
              </a:rPr>
              <a:t>自反规则</a:t>
            </a:r>
            <a:r>
              <a:rPr lang="en-US" altLang="zh-CN" sz="3000" dirty="0">
                <a:ea typeface="宋体" panose="02010600030101010101" pitchFamily="2" charset="-122"/>
              </a:rPr>
              <a:t>)</a:t>
            </a:r>
            <a:r>
              <a:rPr lang="zh-CN" altLang="en-US" sz="3000" dirty="0">
                <a:ea typeface="宋体" panose="02010600030101010101" pitchFamily="2" charset="-122"/>
              </a:rPr>
              <a:t>：</a:t>
            </a:r>
            <a:r>
              <a:rPr lang="en-US" altLang="x-none" sz="3000" dirty="0">
                <a:ea typeface="宋体" panose="02010600030101010101" pitchFamily="2" charset="-122"/>
              </a:rPr>
              <a:t>Inclusion Rule</a:t>
            </a:r>
          </a:p>
          <a:p>
            <a:pPr marL="914400" lvl="2" indent="0" eaLnBrk="1" hangingPunct="1">
              <a:lnSpc>
                <a:spcPct val="90000"/>
              </a:lnSpc>
              <a:buNone/>
            </a:pPr>
            <a:r>
              <a:rPr lang="en-US" altLang="x-none" sz="3000" dirty="0">
                <a:ea typeface="宋体" panose="02010600030101010101" pitchFamily="2" charset="-122"/>
              </a:rPr>
              <a:t>If Y</a:t>
            </a:r>
            <a:r>
              <a:rPr lang="en-US" altLang="x-none" sz="3000" dirty="0">
                <a:ea typeface="宋体" panose="02010600030101010101" pitchFamily="2" charset="-122"/>
                <a:sym typeface="Symbol" panose="05050102010706020507" pitchFamily="2" charset="2"/>
              </a:rPr>
              <a:t></a:t>
            </a:r>
            <a:r>
              <a:rPr lang="en-US" altLang="x-none" sz="3000" dirty="0">
                <a:ea typeface="宋体" panose="02010600030101010101" pitchFamily="2" charset="-122"/>
              </a:rPr>
              <a:t>X</a:t>
            </a:r>
            <a:r>
              <a:rPr lang="zh-CN" altLang="en-US" sz="3000" dirty="0">
                <a:ea typeface="宋体" panose="02010600030101010101" pitchFamily="2" charset="-122"/>
              </a:rPr>
              <a:t>，</a:t>
            </a:r>
            <a:r>
              <a:rPr lang="en-US" altLang="x-none" sz="3000" dirty="0">
                <a:ea typeface="宋体" panose="02010600030101010101" pitchFamily="2" charset="-122"/>
              </a:rPr>
              <a:t>then  X → Y</a:t>
            </a:r>
          </a:p>
          <a:p>
            <a:pPr lvl="2" indent="-228600" eaLnBrk="1" hangingPunct="1">
              <a:lnSpc>
                <a:spcPct val="90000"/>
              </a:lnSpc>
            </a:pPr>
            <a:endParaRPr lang="en-US" altLang="x-none" sz="3000" dirty="0">
              <a:ea typeface="宋体" panose="02010600030101010101" pitchFamily="2" charset="-122"/>
            </a:endParaRPr>
          </a:p>
          <a:p>
            <a:pPr lvl="1" indent="-285750" eaLnBrk="1" hangingPunct="1">
              <a:lnSpc>
                <a:spcPct val="90000"/>
              </a:lnSpc>
            </a:pPr>
            <a:r>
              <a:rPr lang="en-US" altLang="x-none" sz="3000" dirty="0">
                <a:ea typeface="宋体" panose="02010600030101010101" pitchFamily="2" charset="-122"/>
              </a:rPr>
              <a:t>Rule 2 (</a:t>
            </a:r>
            <a:r>
              <a:rPr lang="zh-CN" altLang="en-US" sz="3000" dirty="0">
                <a:ea typeface="宋体" panose="02010600030101010101" pitchFamily="2" charset="-122"/>
              </a:rPr>
              <a:t>传递规则</a:t>
            </a:r>
            <a:r>
              <a:rPr lang="en-US" altLang="zh-CN" sz="3000" dirty="0">
                <a:ea typeface="宋体" panose="02010600030101010101" pitchFamily="2" charset="-122"/>
              </a:rPr>
              <a:t>)</a:t>
            </a:r>
            <a:r>
              <a:rPr lang="zh-CN" altLang="en-US" sz="3000" dirty="0">
                <a:ea typeface="宋体" panose="02010600030101010101" pitchFamily="2" charset="-122"/>
              </a:rPr>
              <a:t>：</a:t>
            </a:r>
            <a:r>
              <a:rPr lang="en-US" altLang="x-none" sz="3000" dirty="0">
                <a:ea typeface="宋体" panose="02010600030101010101" pitchFamily="2" charset="-122"/>
              </a:rPr>
              <a:t>Transitivity Rule</a:t>
            </a:r>
          </a:p>
          <a:p>
            <a:pPr marL="914400" lvl="2" indent="0" eaLnBrk="1" hangingPunct="1">
              <a:lnSpc>
                <a:spcPct val="90000"/>
              </a:lnSpc>
              <a:buNone/>
            </a:pPr>
            <a:r>
              <a:rPr lang="en-US" altLang="x-none" sz="3000" dirty="0">
                <a:ea typeface="宋体" panose="02010600030101010101" pitchFamily="2" charset="-122"/>
              </a:rPr>
              <a:t>If X → Y and Y → Z </a:t>
            </a:r>
            <a:r>
              <a:rPr lang="zh-CN" altLang="en-US" sz="3000" dirty="0">
                <a:ea typeface="宋体" panose="02010600030101010101" pitchFamily="2" charset="-122"/>
              </a:rPr>
              <a:t>，</a:t>
            </a:r>
            <a:r>
              <a:rPr lang="en-US" altLang="x-none" sz="3000" dirty="0">
                <a:ea typeface="宋体" panose="02010600030101010101" pitchFamily="2" charset="-122"/>
              </a:rPr>
              <a:t>then  X → Z</a:t>
            </a:r>
          </a:p>
          <a:p>
            <a:pPr lvl="2" indent="-228600" eaLnBrk="1" hangingPunct="1">
              <a:lnSpc>
                <a:spcPct val="90000"/>
              </a:lnSpc>
            </a:pPr>
            <a:endParaRPr lang="en-US" altLang="x-none" sz="3000" dirty="0">
              <a:ea typeface="宋体" panose="02010600030101010101" pitchFamily="2" charset="-122"/>
            </a:endParaRPr>
          </a:p>
          <a:p>
            <a:pPr lvl="1" indent="-285750" eaLnBrk="1" hangingPunct="1">
              <a:lnSpc>
                <a:spcPct val="90000"/>
              </a:lnSpc>
            </a:pPr>
            <a:r>
              <a:rPr lang="en-US" altLang="x-none" sz="3000" dirty="0">
                <a:ea typeface="宋体" panose="02010600030101010101" pitchFamily="2" charset="-122"/>
              </a:rPr>
              <a:t>Rule 3 (</a:t>
            </a:r>
            <a:r>
              <a:rPr lang="zh-CN" altLang="en-US" sz="3000" dirty="0">
                <a:ea typeface="宋体" panose="02010600030101010101" pitchFamily="2" charset="-122"/>
              </a:rPr>
              <a:t>增广规则</a:t>
            </a:r>
            <a:r>
              <a:rPr lang="en-US" altLang="zh-CN" sz="3000" dirty="0">
                <a:ea typeface="宋体" panose="02010600030101010101" pitchFamily="2" charset="-122"/>
              </a:rPr>
              <a:t>)</a:t>
            </a:r>
            <a:r>
              <a:rPr lang="zh-CN" altLang="en-US" sz="3000" dirty="0">
                <a:ea typeface="宋体" panose="02010600030101010101" pitchFamily="2" charset="-122"/>
              </a:rPr>
              <a:t>： </a:t>
            </a:r>
            <a:r>
              <a:rPr lang="en-US" altLang="x-none" sz="3000" dirty="0">
                <a:ea typeface="宋体" panose="02010600030101010101" pitchFamily="2" charset="-122"/>
              </a:rPr>
              <a:t>Augmentation rule</a:t>
            </a:r>
          </a:p>
          <a:p>
            <a:pPr marL="914400" lvl="2" indent="0" eaLnBrk="1" hangingPunct="1">
              <a:lnSpc>
                <a:spcPct val="90000"/>
              </a:lnSpc>
              <a:buNone/>
            </a:pPr>
            <a:r>
              <a:rPr lang="en-US" altLang="x-none" sz="3000" dirty="0">
                <a:ea typeface="宋体" panose="02010600030101010101" pitchFamily="2" charset="-122"/>
              </a:rPr>
              <a:t>If X → Y, then  XZ → YZ</a:t>
            </a:r>
            <a:endParaRPr lang="zh-CN" altLang="en-US" sz="3000" dirty="0">
              <a:ea typeface="宋体" panose="02010600030101010101" pitchFamily="2" charset="-122"/>
            </a:endParaRPr>
          </a:p>
          <a:p>
            <a:pPr lvl="1" indent="-285750" eaLnBrk="1" hangingPunct="1">
              <a:lnSpc>
                <a:spcPct val="90000"/>
              </a:lnSpc>
            </a:pPr>
            <a:endParaRPr lang="zh-CN" altLang="en-US" sz="3000" dirty="0">
              <a:ea typeface="宋体" panose="02010600030101010101" pitchFamily="2" charset="-122"/>
            </a:endParaRPr>
          </a:p>
          <a:p>
            <a:pPr lvl="0" eaLnBrk="1" hangingPunct="1">
              <a:lnSpc>
                <a:spcPct val="90000"/>
              </a:lnSpc>
            </a:pPr>
            <a:r>
              <a:rPr lang="en-US" altLang="x-none" sz="3000" dirty="0">
                <a:ea typeface="宋体" panose="02010600030101010101" pitchFamily="2" charset="-122"/>
              </a:rPr>
              <a:t>Figure 6.19 (next slide)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5474" name="组合 105473"/>
          <p:cNvGrpSpPr/>
          <p:nvPr/>
        </p:nvGrpSpPr>
        <p:grpSpPr>
          <a:xfrm>
            <a:off x="2767013" y="298450"/>
            <a:ext cx="4389437" cy="2628900"/>
            <a:chOff x="0" y="0"/>
            <a:chExt cx="6914" cy="4140"/>
          </a:xfrm>
        </p:grpSpPr>
        <p:sp>
          <p:nvSpPr>
            <p:cNvPr id="2" name="矩形 105474"/>
            <p:cNvSpPr/>
            <p:nvPr/>
          </p:nvSpPr>
          <p:spPr>
            <a:xfrm>
              <a:off x="1823" y="1530"/>
              <a:ext cx="567" cy="340"/>
            </a:xfrm>
            <a:prstGeom prst="rect">
              <a:avLst/>
            </a:prstGeom>
            <a:noFill/>
            <a:ln w="25400" cap="flat" cmpd="sng">
              <a:solidFill>
                <a:schemeClr val="tx1"/>
              </a:solidFill>
              <a:prstDash val="solid"/>
              <a:miter/>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5475" name="椭圆 105475"/>
            <p:cNvSpPr/>
            <p:nvPr/>
          </p:nvSpPr>
          <p:spPr>
            <a:xfrm>
              <a:off x="0" y="854"/>
              <a:ext cx="6915" cy="3287"/>
            </a:xfrm>
            <a:prstGeom prst="ellipse">
              <a:avLst/>
            </a:prstGeom>
            <a:noFill/>
            <a:ln w="25400" cap="flat" cmpd="sng">
              <a:solidFill>
                <a:srgbClr val="0000CC"/>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5476" name="矩形 105476"/>
            <p:cNvSpPr/>
            <p:nvPr/>
          </p:nvSpPr>
          <p:spPr>
            <a:xfrm>
              <a:off x="1017" y="2778"/>
              <a:ext cx="567" cy="340"/>
            </a:xfrm>
            <a:prstGeom prst="rect">
              <a:avLst/>
            </a:prstGeom>
            <a:noFill/>
            <a:ln w="25400" cap="flat" cmpd="sng">
              <a:solidFill>
                <a:schemeClr val="tx1"/>
              </a:solidFill>
              <a:prstDash val="solid"/>
              <a:miter/>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5477" name="矩形 105477"/>
            <p:cNvSpPr/>
            <p:nvPr/>
          </p:nvSpPr>
          <p:spPr>
            <a:xfrm>
              <a:off x="2151" y="3232"/>
              <a:ext cx="567" cy="340"/>
            </a:xfrm>
            <a:prstGeom prst="rect">
              <a:avLst/>
            </a:prstGeom>
            <a:noFill/>
            <a:ln w="25400" cap="flat" cmpd="sng">
              <a:solidFill>
                <a:schemeClr val="tx1"/>
              </a:solidFill>
              <a:prstDash val="solid"/>
              <a:miter/>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5478" name="矩形 105478"/>
            <p:cNvSpPr/>
            <p:nvPr/>
          </p:nvSpPr>
          <p:spPr>
            <a:xfrm>
              <a:off x="2418" y="0"/>
              <a:ext cx="868" cy="912"/>
            </a:xfrm>
            <a:prstGeom prst="rect">
              <a:avLst/>
            </a:prstGeom>
            <a:noFill/>
            <a:ln w="9525">
              <a:noFill/>
            </a:ln>
          </p:spPr>
          <p:txBody>
            <a:bodyPr wrap="square" anchor="ctr">
              <a:spAutoFit/>
            </a:bodyPr>
            <a:lstStyle/>
            <a:p>
              <a:pPr lvl="0" algn="ctr"/>
              <a:r>
                <a:rPr lang="zh-CN" altLang="en-US" sz="3200" b="1" dirty="0">
                  <a:solidFill>
                    <a:srgbClr val="0000CC"/>
                  </a:solidFill>
                  <a:latin typeface="Arial" panose="020B0604020202020204" pitchFamily="34" charset="0"/>
                  <a:ea typeface="宋体" panose="02010600030101010101" pitchFamily="2" charset="-122"/>
                </a:rPr>
                <a:t>X</a:t>
              </a:r>
            </a:p>
          </p:txBody>
        </p:sp>
        <p:sp>
          <p:nvSpPr>
            <p:cNvPr id="105479" name="矩形 105479"/>
            <p:cNvSpPr/>
            <p:nvPr/>
          </p:nvSpPr>
          <p:spPr>
            <a:xfrm>
              <a:off x="4773" y="2795"/>
              <a:ext cx="567" cy="340"/>
            </a:xfrm>
            <a:prstGeom prst="rect">
              <a:avLst/>
            </a:prstGeom>
            <a:noFill/>
            <a:ln w="25400" cap="flat" cmpd="sng">
              <a:solidFill>
                <a:schemeClr val="tx1"/>
              </a:solidFill>
              <a:prstDash val="solid"/>
              <a:miter/>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5480" name="矩形 105480"/>
            <p:cNvSpPr/>
            <p:nvPr/>
          </p:nvSpPr>
          <p:spPr>
            <a:xfrm>
              <a:off x="3979" y="2795"/>
              <a:ext cx="567" cy="340"/>
            </a:xfrm>
            <a:prstGeom prst="rect">
              <a:avLst/>
            </a:prstGeom>
            <a:noFill/>
            <a:ln w="25400" cap="flat" cmpd="sng">
              <a:solidFill>
                <a:schemeClr val="tx1"/>
              </a:solidFill>
              <a:prstDash val="solid"/>
              <a:miter/>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5481" name="矩形 105481"/>
            <p:cNvSpPr/>
            <p:nvPr/>
          </p:nvSpPr>
          <p:spPr>
            <a:xfrm>
              <a:off x="4433" y="2228"/>
              <a:ext cx="567" cy="340"/>
            </a:xfrm>
            <a:prstGeom prst="rect">
              <a:avLst/>
            </a:prstGeom>
            <a:noFill/>
            <a:ln w="25400" cap="flat" cmpd="sng">
              <a:solidFill>
                <a:schemeClr val="tx1"/>
              </a:solidFill>
              <a:prstDash val="solid"/>
              <a:miter/>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grpSp>
      <p:grpSp>
        <p:nvGrpSpPr>
          <p:cNvPr id="105483" name="组合 105482"/>
          <p:cNvGrpSpPr/>
          <p:nvPr/>
        </p:nvGrpSpPr>
        <p:grpSpPr>
          <a:xfrm>
            <a:off x="4933950" y="1063625"/>
            <a:ext cx="1582738" cy="1430338"/>
            <a:chOff x="0" y="0"/>
            <a:chExt cx="2494" cy="2252"/>
          </a:xfrm>
        </p:grpSpPr>
        <p:sp>
          <p:nvSpPr>
            <p:cNvPr id="3" name="椭圆 105483"/>
            <p:cNvSpPr/>
            <p:nvPr/>
          </p:nvSpPr>
          <p:spPr>
            <a:xfrm>
              <a:off x="0" y="794"/>
              <a:ext cx="2494" cy="1458"/>
            </a:xfrm>
            <a:prstGeom prst="ellipse">
              <a:avLst/>
            </a:prstGeom>
            <a:noFill/>
            <a:ln w="25400" cap="flat" cmpd="sng">
              <a:solidFill>
                <a:srgbClr val="333399"/>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5484" name="矩形 105484"/>
            <p:cNvSpPr/>
            <p:nvPr/>
          </p:nvSpPr>
          <p:spPr>
            <a:xfrm>
              <a:off x="907" y="0"/>
              <a:ext cx="868" cy="912"/>
            </a:xfrm>
            <a:prstGeom prst="rect">
              <a:avLst/>
            </a:prstGeom>
            <a:noFill/>
            <a:ln w="9525">
              <a:noFill/>
            </a:ln>
          </p:spPr>
          <p:txBody>
            <a:bodyPr wrap="square" anchor="ctr">
              <a:spAutoFit/>
            </a:bodyPr>
            <a:lstStyle/>
            <a:p>
              <a:pPr lvl="0" algn="ctr"/>
              <a:r>
                <a:rPr lang="zh-CN" altLang="en-US" sz="3200" b="1" dirty="0">
                  <a:solidFill>
                    <a:srgbClr val="0000CC"/>
                  </a:solidFill>
                  <a:latin typeface="Arial" panose="020B0604020202020204" pitchFamily="34" charset="0"/>
                  <a:ea typeface="宋体" panose="02010600030101010101" pitchFamily="2" charset="-122"/>
                </a:rPr>
                <a:t>Y</a:t>
              </a:r>
            </a:p>
          </p:txBody>
        </p:sp>
      </p:grpSp>
      <p:sp>
        <p:nvSpPr>
          <p:cNvPr id="105486" name="曲线 3410"/>
          <p:cNvSpPr/>
          <p:nvPr/>
        </p:nvSpPr>
        <p:spPr>
          <a:xfrm>
            <a:off x="5341938" y="530225"/>
            <a:ext cx="1474787" cy="1189038"/>
          </a:xfrm>
          <a:custGeom>
            <a:avLst/>
            <a:gdLst/>
            <a:ahLst/>
            <a:cxnLst/>
            <a:rect l="0" t="0" r="0" b="0"/>
            <a:pathLst>
              <a:path w="21600" h="21600">
                <a:moveTo>
                  <a:pt x="0" y="5700"/>
                </a:moveTo>
                <a:cubicBezTo>
                  <a:pt x="3824" y="4823"/>
                  <a:pt x="15830" y="0"/>
                  <a:pt x="18715" y="3184"/>
                </a:cubicBezTo>
                <a:cubicBezTo>
                  <a:pt x="21600" y="6369"/>
                  <a:pt x="15253" y="17965"/>
                  <a:pt x="14443" y="21600"/>
                </a:cubicBezTo>
              </a:path>
            </a:pathLst>
          </a:custGeom>
          <a:noFill/>
          <a:ln w="31750" cap="flat" cmpd="sng">
            <a:solidFill>
              <a:srgbClr val="FF0000"/>
            </a:solidFill>
            <a:prstDash val="solid"/>
            <a:round/>
            <a:headEnd type="none" w="med" len="med"/>
            <a:tailEnd type="arrow" w="lg" len="lg"/>
          </a:ln>
        </p:spPr>
        <p:txBody>
          <a:bodyPr/>
          <a:lstStyle/>
          <a:p>
            <a:endParaRPr lang="zh-CN" altLang="en-US"/>
          </a:p>
        </p:txBody>
      </p:sp>
      <p:sp>
        <p:nvSpPr>
          <p:cNvPr id="4" name="文本框 105486"/>
          <p:cNvSpPr txBox="1"/>
          <p:nvPr/>
        </p:nvSpPr>
        <p:spPr>
          <a:xfrm>
            <a:off x="-15875" y="250825"/>
            <a:ext cx="3435350" cy="577850"/>
          </a:xfrm>
          <a:prstGeom prst="rect">
            <a:avLst/>
          </a:prstGeom>
          <a:noFill/>
          <a:ln w="9525">
            <a:noFill/>
          </a:ln>
        </p:spPr>
        <p:txBody>
          <a:bodyPr wrap="square" anchor="t">
            <a:spAutoFit/>
          </a:bodyPr>
          <a:lstStyle/>
          <a:p>
            <a:pPr lvl="0"/>
            <a:r>
              <a:rPr lang="zh-CN" altLang="en-US" sz="3200" b="1" u="sng" dirty="0">
                <a:latin typeface="Arial" panose="020B0604020202020204" pitchFamily="34" charset="0"/>
                <a:ea typeface="宋体" panose="02010600030101010101" pitchFamily="2" charset="-122"/>
              </a:rPr>
              <a:t>1. Inclusion rule</a:t>
            </a:r>
            <a:endParaRPr lang="zh-CN" altLang="en-US" sz="3200" b="1" u="sng" dirty="0">
              <a:latin typeface="Arial" panose="020B0604020202020204" pitchFamily="34" charset="0"/>
              <a:ea typeface="Times New Roman" panose="02020603050405020304" pitchFamily="2" charset="0"/>
            </a:endParaRPr>
          </a:p>
        </p:txBody>
      </p:sp>
      <p:grpSp>
        <p:nvGrpSpPr>
          <p:cNvPr id="105488" name="组合 105487"/>
          <p:cNvGrpSpPr/>
          <p:nvPr/>
        </p:nvGrpSpPr>
        <p:grpSpPr>
          <a:xfrm>
            <a:off x="1263650" y="4724400"/>
            <a:ext cx="1584325" cy="1296988"/>
            <a:chOff x="0" y="0"/>
            <a:chExt cx="2494" cy="2043"/>
          </a:xfrm>
        </p:grpSpPr>
        <p:sp>
          <p:nvSpPr>
            <p:cNvPr id="5" name="矩形 105488"/>
            <p:cNvSpPr/>
            <p:nvPr/>
          </p:nvSpPr>
          <p:spPr>
            <a:xfrm>
              <a:off x="1359" y="1248"/>
              <a:ext cx="567" cy="340"/>
            </a:xfrm>
            <a:prstGeom prst="rect">
              <a:avLst/>
            </a:prstGeom>
            <a:noFill/>
            <a:ln w="25400" cap="flat" cmpd="sng">
              <a:solidFill>
                <a:schemeClr val="tx1"/>
              </a:solidFill>
              <a:prstDash val="solid"/>
              <a:miter/>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5489" name="椭圆 105489"/>
            <p:cNvSpPr/>
            <p:nvPr/>
          </p:nvSpPr>
          <p:spPr>
            <a:xfrm>
              <a:off x="0" y="797"/>
              <a:ext cx="2495" cy="1247"/>
            </a:xfrm>
            <a:prstGeom prst="ellipse">
              <a:avLst/>
            </a:prstGeom>
            <a:noFill/>
            <a:ln w="25400" cap="flat" cmpd="sng">
              <a:solidFill>
                <a:srgbClr val="0000CC"/>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5490" name="矩形 105490"/>
            <p:cNvSpPr/>
            <p:nvPr/>
          </p:nvSpPr>
          <p:spPr>
            <a:xfrm>
              <a:off x="566" y="1248"/>
              <a:ext cx="567" cy="340"/>
            </a:xfrm>
            <a:prstGeom prst="rect">
              <a:avLst/>
            </a:prstGeom>
            <a:noFill/>
            <a:ln w="25400" cap="flat" cmpd="sng">
              <a:solidFill>
                <a:schemeClr val="tx1"/>
              </a:solidFill>
              <a:prstDash val="solid"/>
              <a:miter/>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5491" name="矩形 105491"/>
            <p:cNvSpPr/>
            <p:nvPr/>
          </p:nvSpPr>
          <p:spPr>
            <a:xfrm>
              <a:off x="680" y="0"/>
              <a:ext cx="1095" cy="912"/>
            </a:xfrm>
            <a:prstGeom prst="rect">
              <a:avLst/>
            </a:prstGeom>
            <a:noFill/>
            <a:ln w="9525">
              <a:noFill/>
            </a:ln>
          </p:spPr>
          <p:txBody>
            <a:bodyPr wrap="square" anchor="ctr">
              <a:spAutoFit/>
            </a:bodyPr>
            <a:lstStyle/>
            <a:p>
              <a:pPr lvl="0" algn="ctr"/>
              <a:r>
                <a:rPr lang="zh-CN" altLang="en-US" sz="3200" b="1" dirty="0">
                  <a:solidFill>
                    <a:srgbClr val="0000CC"/>
                  </a:solidFill>
                  <a:latin typeface="Arial" panose="020B0604020202020204" pitchFamily="34" charset="0"/>
                  <a:ea typeface="宋体" panose="02010600030101010101" pitchFamily="2" charset="-122"/>
                </a:rPr>
                <a:t>X</a:t>
              </a:r>
            </a:p>
          </p:txBody>
        </p:sp>
      </p:grpSp>
      <p:sp>
        <p:nvSpPr>
          <p:cNvPr id="105493" name="文本框 105492"/>
          <p:cNvSpPr txBox="1"/>
          <p:nvPr/>
        </p:nvSpPr>
        <p:spPr>
          <a:xfrm>
            <a:off x="0" y="3573463"/>
            <a:ext cx="3995738" cy="579437"/>
          </a:xfrm>
          <a:prstGeom prst="rect">
            <a:avLst/>
          </a:prstGeom>
          <a:noFill/>
          <a:ln w="9525">
            <a:noFill/>
          </a:ln>
        </p:spPr>
        <p:txBody>
          <a:bodyPr wrap="square" anchor="t">
            <a:spAutoFit/>
          </a:bodyPr>
          <a:lstStyle/>
          <a:p>
            <a:pPr lvl="0"/>
            <a:r>
              <a:rPr lang="zh-CN" altLang="en-US" sz="3200" b="1" u="sng" dirty="0">
                <a:latin typeface="Arial" panose="020B0604020202020204" pitchFamily="34" charset="0"/>
                <a:ea typeface="宋体" panose="02010600030101010101" pitchFamily="2" charset="-122"/>
                <a:sym typeface="Arial" panose="020B0604020202020204" pitchFamily="34" charset="0"/>
              </a:rPr>
              <a:t>2. </a:t>
            </a:r>
            <a:r>
              <a:rPr lang="en-US" altLang="x-none" sz="3200" b="1" u="sng" dirty="0">
                <a:latin typeface="Arial" panose="020B0604020202020204" pitchFamily="34" charset="0"/>
                <a:ea typeface="宋体" panose="02010600030101010101" pitchFamily="2" charset="-122"/>
                <a:sym typeface="Arial" panose="020B0604020202020204" pitchFamily="34" charset="0"/>
              </a:rPr>
              <a:t>Transitivity</a:t>
            </a:r>
            <a:r>
              <a:rPr lang="zh-CN" altLang="en-US" sz="3200" b="1" u="sng" dirty="0">
                <a:latin typeface="Arial" panose="020B0604020202020204" pitchFamily="34" charset="0"/>
                <a:ea typeface="宋体" panose="02010600030101010101" pitchFamily="2" charset="-122"/>
              </a:rPr>
              <a:t> rule</a:t>
            </a:r>
            <a:endParaRPr lang="zh-CN" altLang="en-US" sz="3200" b="1" u="sng" dirty="0">
              <a:latin typeface="Arial" panose="020B0604020202020204" pitchFamily="34" charset="0"/>
              <a:ea typeface="Times New Roman" panose="02020603050405020304" pitchFamily="2" charset="0"/>
            </a:endParaRPr>
          </a:p>
        </p:txBody>
      </p:sp>
      <p:grpSp>
        <p:nvGrpSpPr>
          <p:cNvPr id="105494" name="组合 105493"/>
          <p:cNvGrpSpPr/>
          <p:nvPr/>
        </p:nvGrpSpPr>
        <p:grpSpPr>
          <a:xfrm>
            <a:off x="3700463" y="4725988"/>
            <a:ext cx="1582737" cy="1296987"/>
            <a:chOff x="0" y="0"/>
            <a:chExt cx="2494" cy="2043"/>
          </a:xfrm>
        </p:grpSpPr>
        <p:sp>
          <p:nvSpPr>
            <p:cNvPr id="6" name="矩形 105494"/>
            <p:cNvSpPr/>
            <p:nvPr/>
          </p:nvSpPr>
          <p:spPr>
            <a:xfrm>
              <a:off x="1359" y="1248"/>
              <a:ext cx="567" cy="340"/>
            </a:xfrm>
            <a:prstGeom prst="rect">
              <a:avLst/>
            </a:prstGeom>
            <a:noFill/>
            <a:ln w="25400" cap="flat" cmpd="sng">
              <a:solidFill>
                <a:schemeClr val="tx1"/>
              </a:solidFill>
              <a:prstDash val="solid"/>
              <a:miter/>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5495" name="椭圆 105495"/>
            <p:cNvSpPr/>
            <p:nvPr/>
          </p:nvSpPr>
          <p:spPr>
            <a:xfrm>
              <a:off x="0" y="797"/>
              <a:ext cx="2495" cy="1247"/>
            </a:xfrm>
            <a:prstGeom prst="ellipse">
              <a:avLst/>
            </a:prstGeom>
            <a:noFill/>
            <a:ln w="25400" cap="flat" cmpd="sng">
              <a:solidFill>
                <a:srgbClr val="0000CC"/>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5496" name="矩形 105496"/>
            <p:cNvSpPr/>
            <p:nvPr/>
          </p:nvSpPr>
          <p:spPr>
            <a:xfrm>
              <a:off x="566" y="1248"/>
              <a:ext cx="567" cy="340"/>
            </a:xfrm>
            <a:prstGeom prst="rect">
              <a:avLst/>
            </a:prstGeom>
            <a:noFill/>
            <a:ln w="25400" cap="flat" cmpd="sng">
              <a:solidFill>
                <a:schemeClr val="tx1"/>
              </a:solidFill>
              <a:prstDash val="solid"/>
              <a:miter/>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5497" name="矩形 105497"/>
            <p:cNvSpPr/>
            <p:nvPr/>
          </p:nvSpPr>
          <p:spPr>
            <a:xfrm>
              <a:off x="680" y="0"/>
              <a:ext cx="1095" cy="912"/>
            </a:xfrm>
            <a:prstGeom prst="rect">
              <a:avLst/>
            </a:prstGeom>
            <a:noFill/>
            <a:ln w="9525">
              <a:noFill/>
            </a:ln>
          </p:spPr>
          <p:txBody>
            <a:bodyPr wrap="square" anchor="ctr">
              <a:spAutoFit/>
            </a:bodyPr>
            <a:lstStyle/>
            <a:p>
              <a:pPr lvl="0" algn="ctr"/>
              <a:r>
                <a:rPr lang="zh-CN" altLang="en-US" sz="3200" b="1" dirty="0">
                  <a:solidFill>
                    <a:srgbClr val="0000CC"/>
                  </a:solidFill>
                  <a:latin typeface="Arial" panose="020B0604020202020204" pitchFamily="34" charset="0"/>
                  <a:ea typeface="宋体" panose="02010600030101010101" pitchFamily="2" charset="-122"/>
                </a:rPr>
                <a:t>Y</a:t>
              </a:r>
            </a:p>
          </p:txBody>
        </p:sp>
      </p:grpSp>
      <p:grpSp>
        <p:nvGrpSpPr>
          <p:cNvPr id="105499" name="组合 105498"/>
          <p:cNvGrpSpPr/>
          <p:nvPr/>
        </p:nvGrpSpPr>
        <p:grpSpPr>
          <a:xfrm>
            <a:off x="6148388" y="4725988"/>
            <a:ext cx="1582737" cy="1296987"/>
            <a:chOff x="0" y="0"/>
            <a:chExt cx="2494" cy="2043"/>
          </a:xfrm>
        </p:grpSpPr>
        <p:sp>
          <p:nvSpPr>
            <p:cNvPr id="7" name="矩形 105499"/>
            <p:cNvSpPr/>
            <p:nvPr/>
          </p:nvSpPr>
          <p:spPr>
            <a:xfrm>
              <a:off x="1359" y="1248"/>
              <a:ext cx="567" cy="340"/>
            </a:xfrm>
            <a:prstGeom prst="rect">
              <a:avLst/>
            </a:prstGeom>
            <a:noFill/>
            <a:ln w="25400" cap="flat" cmpd="sng">
              <a:solidFill>
                <a:schemeClr val="tx1"/>
              </a:solidFill>
              <a:prstDash val="solid"/>
              <a:miter/>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5500" name="椭圆 105500"/>
            <p:cNvSpPr/>
            <p:nvPr/>
          </p:nvSpPr>
          <p:spPr>
            <a:xfrm>
              <a:off x="0" y="797"/>
              <a:ext cx="2495" cy="1247"/>
            </a:xfrm>
            <a:prstGeom prst="ellipse">
              <a:avLst/>
            </a:prstGeom>
            <a:noFill/>
            <a:ln w="25400" cap="flat" cmpd="sng">
              <a:solidFill>
                <a:srgbClr val="0000CC"/>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5501" name="矩形 105501"/>
            <p:cNvSpPr/>
            <p:nvPr/>
          </p:nvSpPr>
          <p:spPr>
            <a:xfrm>
              <a:off x="566" y="1248"/>
              <a:ext cx="567" cy="340"/>
            </a:xfrm>
            <a:prstGeom prst="rect">
              <a:avLst/>
            </a:prstGeom>
            <a:noFill/>
            <a:ln w="25400" cap="flat" cmpd="sng">
              <a:solidFill>
                <a:schemeClr val="tx1"/>
              </a:solidFill>
              <a:prstDash val="solid"/>
              <a:miter/>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5502" name="矩形 105502"/>
            <p:cNvSpPr/>
            <p:nvPr/>
          </p:nvSpPr>
          <p:spPr>
            <a:xfrm>
              <a:off x="680" y="0"/>
              <a:ext cx="1095" cy="912"/>
            </a:xfrm>
            <a:prstGeom prst="rect">
              <a:avLst/>
            </a:prstGeom>
            <a:noFill/>
            <a:ln w="9525">
              <a:noFill/>
            </a:ln>
          </p:spPr>
          <p:txBody>
            <a:bodyPr wrap="square" anchor="ctr">
              <a:spAutoFit/>
            </a:bodyPr>
            <a:lstStyle/>
            <a:p>
              <a:pPr lvl="0" algn="ctr"/>
              <a:r>
                <a:rPr lang="zh-CN" altLang="en-US" sz="3200" b="1" dirty="0">
                  <a:solidFill>
                    <a:srgbClr val="0000CC"/>
                  </a:solidFill>
                  <a:latin typeface="Arial" panose="020B0604020202020204" pitchFamily="34" charset="0"/>
                  <a:ea typeface="宋体" panose="02010600030101010101" pitchFamily="2" charset="-122"/>
                </a:rPr>
                <a:t>Z</a:t>
              </a:r>
            </a:p>
          </p:txBody>
        </p:sp>
      </p:grpSp>
      <p:sp>
        <p:nvSpPr>
          <p:cNvPr id="105504" name="曲线 3435"/>
          <p:cNvSpPr/>
          <p:nvPr/>
        </p:nvSpPr>
        <p:spPr>
          <a:xfrm>
            <a:off x="2844800" y="5229225"/>
            <a:ext cx="930275" cy="257175"/>
          </a:xfrm>
          <a:custGeom>
            <a:avLst/>
            <a:gdLst/>
            <a:ahLst/>
            <a:cxnLst/>
            <a:rect l="0" t="0" r="0" b="0"/>
            <a:pathLst>
              <a:path w="21600" h="21600">
                <a:moveTo>
                  <a:pt x="0" y="21600"/>
                </a:moveTo>
                <a:cubicBezTo>
                  <a:pt x="1769" y="16990"/>
                  <a:pt x="5676" y="964"/>
                  <a:pt x="9996" y="482"/>
                </a:cubicBezTo>
                <a:cubicBezTo>
                  <a:pt x="14316" y="0"/>
                  <a:pt x="19476" y="15275"/>
                  <a:pt x="21600" y="19241"/>
                </a:cubicBezTo>
              </a:path>
            </a:pathLst>
          </a:custGeom>
          <a:noFill/>
          <a:ln w="25400" cap="flat" cmpd="sng">
            <a:solidFill>
              <a:srgbClr val="FF0000"/>
            </a:solidFill>
            <a:prstDash val="solid"/>
            <a:round/>
            <a:headEnd type="none" w="med" len="med"/>
            <a:tailEnd type="arrow" w="lg" len="lg"/>
          </a:ln>
        </p:spPr>
        <p:txBody>
          <a:bodyPr/>
          <a:lstStyle/>
          <a:p>
            <a:endParaRPr lang="zh-CN" altLang="en-US"/>
          </a:p>
        </p:txBody>
      </p:sp>
      <p:sp>
        <p:nvSpPr>
          <p:cNvPr id="105505" name="曲线 3435"/>
          <p:cNvSpPr/>
          <p:nvPr/>
        </p:nvSpPr>
        <p:spPr>
          <a:xfrm>
            <a:off x="5267325" y="5284788"/>
            <a:ext cx="930275" cy="255587"/>
          </a:xfrm>
          <a:custGeom>
            <a:avLst/>
            <a:gdLst/>
            <a:ahLst/>
            <a:cxnLst/>
            <a:rect l="0" t="0" r="0" b="0"/>
            <a:pathLst>
              <a:path w="21600" h="21600">
                <a:moveTo>
                  <a:pt x="0" y="21600"/>
                </a:moveTo>
                <a:cubicBezTo>
                  <a:pt x="1769" y="16990"/>
                  <a:pt x="5676" y="964"/>
                  <a:pt x="9996" y="482"/>
                </a:cubicBezTo>
                <a:cubicBezTo>
                  <a:pt x="14316" y="0"/>
                  <a:pt x="19476" y="15275"/>
                  <a:pt x="21600" y="19241"/>
                </a:cubicBezTo>
              </a:path>
            </a:pathLst>
          </a:custGeom>
          <a:noFill/>
          <a:ln w="25400" cap="flat" cmpd="sng">
            <a:solidFill>
              <a:srgbClr val="FF0000"/>
            </a:solidFill>
            <a:prstDash val="solid"/>
            <a:round/>
            <a:headEnd type="none" w="med" len="med"/>
            <a:tailEnd type="arrow" w="lg" len="lg"/>
          </a:ln>
        </p:spPr>
        <p:txBody>
          <a:bodyPr/>
          <a:lstStyle/>
          <a:p>
            <a:endParaRPr lang="zh-CN" altLang="en-US"/>
          </a:p>
        </p:txBody>
      </p:sp>
      <p:sp>
        <p:nvSpPr>
          <p:cNvPr id="105506" name="曲线 3438"/>
          <p:cNvSpPr/>
          <p:nvPr/>
        </p:nvSpPr>
        <p:spPr>
          <a:xfrm>
            <a:off x="2317750" y="4392613"/>
            <a:ext cx="4165600" cy="882650"/>
          </a:xfrm>
          <a:custGeom>
            <a:avLst/>
            <a:gdLst/>
            <a:ahLst/>
            <a:cxnLst/>
            <a:rect l="0" t="0" r="0" b="0"/>
            <a:pathLst>
              <a:path w="21600" h="21600">
                <a:moveTo>
                  <a:pt x="0" y="20574"/>
                </a:moveTo>
                <a:cubicBezTo>
                  <a:pt x="1975" y="16067"/>
                  <a:pt x="6622" y="0"/>
                  <a:pt x="10943" y="202"/>
                </a:cubicBezTo>
                <a:cubicBezTo>
                  <a:pt x="15263" y="404"/>
                  <a:pt x="18906" y="18616"/>
                  <a:pt x="21600" y="21600"/>
                </a:cubicBezTo>
              </a:path>
            </a:pathLst>
          </a:custGeom>
          <a:noFill/>
          <a:ln w="25400" cap="flat" cmpd="sng">
            <a:solidFill>
              <a:srgbClr val="FF0000"/>
            </a:solidFill>
            <a:prstDash val="solid"/>
            <a:round/>
            <a:headEnd type="none" w="med" len="med"/>
            <a:tailEnd type="arrow" w="lg" len="lg"/>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5474"/>
                                        </p:tgtEl>
                                        <p:attrNameLst>
                                          <p:attrName>style.visibility</p:attrName>
                                        </p:attrNameLst>
                                      </p:cBhvr>
                                      <p:to>
                                        <p:strVal val="visible"/>
                                      </p:to>
                                    </p:set>
                                    <p:animEffect transition="in" filter="blinds(horizontal)">
                                      <p:cBhvr>
                                        <p:cTn id="7" dur="500"/>
                                        <p:tgtEl>
                                          <p:spTgt spid="105474"/>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nodeType="clickEffect">
                                  <p:stCondLst>
                                    <p:cond delay="0"/>
                                  </p:stCondLst>
                                  <p:childTnLst>
                                    <p:set>
                                      <p:cBhvr>
                                        <p:cTn id="11" dur="1" fill="hold">
                                          <p:stCondLst>
                                            <p:cond delay="0"/>
                                          </p:stCondLst>
                                        </p:cTn>
                                        <p:tgtEl>
                                          <p:spTgt spid="105483"/>
                                        </p:tgtEl>
                                        <p:attrNameLst>
                                          <p:attrName>style.visibility</p:attrName>
                                        </p:attrNameLst>
                                      </p:cBhvr>
                                      <p:to>
                                        <p:strVal val="visible"/>
                                      </p:to>
                                    </p:set>
                                    <p:anim calcmode="lin" valueType="num">
                                      <p:cBhvr>
                                        <p:cTn id="12" dur="500" fill="hold"/>
                                        <p:tgtEl>
                                          <p:spTgt spid="105483"/>
                                        </p:tgtEl>
                                        <p:attrNameLst>
                                          <p:attrName>ppt_w</p:attrName>
                                        </p:attrNameLst>
                                      </p:cBhvr>
                                      <p:tavLst>
                                        <p:tav tm="0">
                                          <p:val>
                                            <p:fltVal val="0"/>
                                          </p:val>
                                        </p:tav>
                                        <p:tav tm="100000">
                                          <p:val>
                                            <p:strVal val="#ppt_w"/>
                                          </p:val>
                                        </p:tav>
                                      </p:tavLst>
                                    </p:anim>
                                    <p:anim calcmode="lin" valueType="num">
                                      <p:cBhvr>
                                        <p:cTn id="13" dur="500" fill="hold"/>
                                        <p:tgtEl>
                                          <p:spTgt spid="105483"/>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105486"/>
                                        </p:tgtEl>
                                        <p:attrNameLst>
                                          <p:attrName>style.visibility</p:attrName>
                                        </p:attrNameLst>
                                      </p:cBhvr>
                                      <p:to>
                                        <p:strVal val="visible"/>
                                      </p:to>
                                    </p:set>
                                    <p:animEffect transition="in" filter="blinds(horizontal)">
                                      <p:cBhvr>
                                        <p:cTn id="18" dur="500"/>
                                        <p:tgtEl>
                                          <p:spTgt spid="105486"/>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05493"/>
                                        </p:tgtEl>
                                        <p:attrNameLst>
                                          <p:attrName>style.visibility</p:attrName>
                                        </p:attrNameLst>
                                      </p:cBhvr>
                                      <p:to>
                                        <p:strVal val="visible"/>
                                      </p:to>
                                    </p:set>
                                    <p:animEffect transition="in" filter="blinds(horizontal)">
                                      <p:cBhvr>
                                        <p:cTn id="23" dur="500"/>
                                        <p:tgtEl>
                                          <p:spTgt spid="105493"/>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05488"/>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105504"/>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10549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05505"/>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105499"/>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7" presetClass="entr" presetSubtype="8" fill="hold" nodeType="clickEffect">
                                  <p:stCondLst>
                                    <p:cond delay="0"/>
                                  </p:stCondLst>
                                  <p:childTnLst>
                                    <p:set>
                                      <p:cBhvr>
                                        <p:cTn id="41" dur="1" fill="hold">
                                          <p:stCondLst>
                                            <p:cond delay="0"/>
                                          </p:stCondLst>
                                        </p:cTn>
                                        <p:tgtEl>
                                          <p:spTgt spid="105506"/>
                                        </p:tgtEl>
                                        <p:attrNameLst>
                                          <p:attrName>style.visibility</p:attrName>
                                        </p:attrNameLst>
                                      </p:cBhvr>
                                      <p:to>
                                        <p:strVal val="visible"/>
                                      </p:to>
                                    </p:set>
                                    <p:anim calcmode="lin" valueType="num">
                                      <p:cBhvr>
                                        <p:cTn id="42" dur="500" fill="hold"/>
                                        <p:tgtEl>
                                          <p:spTgt spid="105506"/>
                                        </p:tgtEl>
                                        <p:attrNameLst>
                                          <p:attrName>ppt_x</p:attrName>
                                        </p:attrNameLst>
                                      </p:cBhvr>
                                      <p:tavLst>
                                        <p:tav tm="0">
                                          <p:val>
                                            <p:strVal val="#ppt_x-#ppt_w/2"/>
                                          </p:val>
                                        </p:tav>
                                        <p:tav tm="100000">
                                          <p:val>
                                            <p:strVal val="#ppt_x"/>
                                          </p:val>
                                        </p:tav>
                                      </p:tavLst>
                                    </p:anim>
                                    <p:anim calcmode="lin" valueType="num">
                                      <p:cBhvr>
                                        <p:cTn id="43" dur="500" fill="hold"/>
                                        <p:tgtEl>
                                          <p:spTgt spid="105506"/>
                                        </p:tgtEl>
                                        <p:attrNameLst>
                                          <p:attrName>ppt_y</p:attrName>
                                        </p:attrNameLst>
                                      </p:cBhvr>
                                      <p:tavLst>
                                        <p:tav tm="0">
                                          <p:val>
                                            <p:strVal val="#ppt_y"/>
                                          </p:val>
                                        </p:tav>
                                        <p:tav tm="100000">
                                          <p:val>
                                            <p:strVal val="#ppt_y"/>
                                          </p:val>
                                        </p:tav>
                                      </p:tavLst>
                                    </p:anim>
                                    <p:anim calcmode="lin" valueType="num">
                                      <p:cBhvr>
                                        <p:cTn id="44" dur="500" fill="hold"/>
                                        <p:tgtEl>
                                          <p:spTgt spid="105506"/>
                                        </p:tgtEl>
                                        <p:attrNameLst>
                                          <p:attrName>ppt_w</p:attrName>
                                        </p:attrNameLst>
                                      </p:cBhvr>
                                      <p:tavLst>
                                        <p:tav tm="0">
                                          <p:val>
                                            <p:fltVal val="0"/>
                                          </p:val>
                                        </p:tav>
                                        <p:tav tm="100000">
                                          <p:val>
                                            <p:strVal val="#ppt_w"/>
                                          </p:val>
                                        </p:tav>
                                      </p:tavLst>
                                    </p:anim>
                                    <p:anim calcmode="lin" valueType="num">
                                      <p:cBhvr>
                                        <p:cTn id="45" dur="500" fill="hold"/>
                                        <p:tgtEl>
                                          <p:spTgt spid="10550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93" grpId="0" bldLvl="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文本框 106497"/>
          <p:cNvSpPr txBox="1"/>
          <p:nvPr/>
        </p:nvSpPr>
        <p:spPr>
          <a:xfrm>
            <a:off x="1588" y="344488"/>
            <a:ext cx="4354512" cy="579437"/>
          </a:xfrm>
          <a:prstGeom prst="rect">
            <a:avLst/>
          </a:prstGeom>
          <a:noFill/>
          <a:ln w="9525">
            <a:noFill/>
          </a:ln>
        </p:spPr>
        <p:txBody>
          <a:bodyPr wrap="square" anchor="t">
            <a:spAutoFit/>
          </a:bodyPr>
          <a:lstStyle/>
          <a:p>
            <a:pPr lvl="0"/>
            <a:r>
              <a:rPr lang="zh-CN" altLang="en-US" sz="3200" b="1" u="sng" dirty="0">
                <a:latin typeface="Arial" panose="020B0604020202020204" pitchFamily="34" charset="0"/>
                <a:ea typeface="宋体" panose="02010600030101010101" pitchFamily="2" charset="-122"/>
                <a:sym typeface="Arial" panose="020B0604020202020204" pitchFamily="34" charset="0"/>
              </a:rPr>
              <a:t>3. </a:t>
            </a:r>
            <a:r>
              <a:rPr lang="en-US" altLang="x-none" sz="3200" b="1" u="sng" dirty="0">
                <a:latin typeface="Arial" panose="020B0604020202020204" pitchFamily="34" charset="0"/>
                <a:ea typeface="宋体" panose="02010600030101010101" pitchFamily="2" charset="-122"/>
                <a:sym typeface="Arial" panose="020B0604020202020204" pitchFamily="34" charset="0"/>
              </a:rPr>
              <a:t>Augmentation</a:t>
            </a:r>
            <a:r>
              <a:rPr lang="zh-CN" altLang="en-US" sz="3200" b="1" u="sng" dirty="0">
                <a:latin typeface="Arial" panose="020B0604020202020204" pitchFamily="34" charset="0"/>
                <a:ea typeface="宋体" panose="02010600030101010101" pitchFamily="2" charset="-122"/>
                <a:sym typeface="Arial" panose="020B0604020202020204" pitchFamily="34" charset="0"/>
              </a:rPr>
              <a:t> </a:t>
            </a:r>
            <a:r>
              <a:rPr lang="zh-CN" altLang="en-US" sz="3200" b="1" u="sng" dirty="0">
                <a:latin typeface="Arial" panose="020B0604020202020204" pitchFamily="34" charset="0"/>
                <a:ea typeface="宋体" panose="02010600030101010101" pitchFamily="2" charset="-122"/>
              </a:rPr>
              <a:t>rule</a:t>
            </a:r>
            <a:endParaRPr lang="zh-CN" altLang="en-US" sz="3200" b="1" u="sng" dirty="0">
              <a:latin typeface="Arial" panose="020B0604020202020204" pitchFamily="34" charset="0"/>
              <a:ea typeface="Times New Roman" panose="02020603050405020304" pitchFamily="2" charset="0"/>
            </a:endParaRPr>
          </a:p>
        </p:txBody>
      </p:sp>
      <p:grpSp>
        <p:nvGrpSpPr>
          <p:cNvPr id="106499" name="组合 106498"/>
          <p:cNvGrpSpPr/>
          <p:nvPr/>
        </p:nvGrpSpPr>
        <p:grpSpPr>
          <a:xfrm>
            <a:off x="3778250" y="3863975"/>
            <a:ext cx="1582738" cy="1296988"/>
            <a:chOff x="0" y="0"/>
            <a:chExt cx="2494" cy="2043"/>
          </a:xfrm>
        </p:grpSpPr>
        <p:sp>
          <p:nvSpPr>
            <p:cNvPr id="2" name="矩形 106499"/>
            <p:cNvSpPr/>
            <p:nvPr/>
          </p:nvSpPr>
          <p:spPr>
            <a:xfrm>
              <a:off x="1359" y="1248"/>
              <a:ext cx="567" cy="340"/>
            </a:xfrm>
            <a:prstGeom prst="rect">
              <a:avLst/>
            </a:prstGeom>
            <a:noFill/>
            <a:ln w="25400" cap="flat" cmpd="sng">
              <a:solidFill>
                <a:schemeClr val="tx1"/>
              </a:solidFill>
              <a:prstDash val="solid"/>
              <a:miter/>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6500" name="椭圆 106500"/>
            <p:cNvSpPr/>
            <p:nvPr/>
          </p:nvSpPr>
          <p:spPr>
            <a:xfrm>
              <a:off x="0" y="797"/>
              <a:ext cx="2495" cy="1247"/>
            </a:xfrm>
            <a:prstGeom prst="ellipse">
              <a:avLst/>
            </a:prstGeom>
            <a:noFill/>
            <a:ln w="254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6501" name="矩形 106501"/>
            <p:cNvSpPr/>
            <p:nvPr/>
          </p:nvSpPr>
          <p:spPr>
            <a:xfrm>
              <a:off x="566" y="1248"/>
              <a:ext cx="567" cy="340"/>
            </a:xfrm>
            <a:prstGeom prst="rect">
              <a:avLst/>
            </a:prstGeom>
            <a:noFill/>
            <a:ln w="25400" cap="flat" cmpd="sng">
              <a:solidFill>
                <a:schemeClr val="tx1"/>
              </a:solidFill>
              <a:prstDash val="solid"/>
              <a:miter/>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6502" name="矩形 106502"/>
            <p:cNvSpPr/>
            <p:nvPr/>
          </p:nvSpPr>
          <p:spPr>
            <a:xfrm>
              <a:off x="680" y="0"/>
              <a:ext cx="1095" cy="912"/>
            </a:xfrm>
            <a:prstGeom prst="rect">
              <a:avLst/>
            </a:prstGeom>
            <a:noFill/>
            <a:ln w="9525">
              <a:noFill/>
            </a:ln>
          </p:spPr>
          <p:txBody>
            <a:bodyPr wrap="square" anchor="ctr">
              <a:spAutoFit/>
            </a:bodyPr>
            <a:lstStyle/>
            <a:p>
              <a:pPr lvl="0" algn="ctr"/>
              <a:r>
                <a:rPr lang="zh-CN" altLang="en-US" sz="3200" b="1" dirty="0">
                  <a:solidFill>
                    <a:srgbClr val="FF0000"/>
                  </a:solidFill>
                  <a:latin typeface="Arial" panose="020B0604020202020204" pitchFamily="34" charset="0"/>
                  <a:ea typeface="宋体" panose="02010600030101010101" pitchFamily="2" charset="-122"/>
                </a:rPr>
                <a:t>Z</a:t>
              </a:r>
              <a:endParaRPr lang="zh-CN" altLang="en-US" dirty="0">
                <a:latin typeface="Times New Roman" panose="02020603050405020304" pitchFamily="2" charset="0"/>
                <a:ea typeface="Times New Roman" panose="02020603050405020304" pitchFamily="2" charset="0"/>
              </a:endParaRPr>
            </a:p>
          </p:txBody>
        </p:sp>
      </p:grpSp>
      <p:grpSp>
        <p:nvGrpSpPr>
          <p:cNvPr id="106504" name="组合 106503"/>
          <p:cNvGrpSpPr/>
          <p:nvPr/>
        </p:nvGrpSpPr>
        <p:grpSpPr>
          <a:xfrm>
            <a:off x="1619250" y="2565400"/>
            <a:ext cx="5816600" cy="1304925"/>
            <a:chOff x="0" y="0"/>
            <a:chExt cx="9160" cy="2054"/>
          </a:xfrm>
        </p:grpSpPr>
        <p:grpSp>
          <p:nvGrpSpPr>
            <p:cNvPr id="3" name="组合 106504"/>
            <p:cNvGrpSpPr/>
            <p:nvPr/>
          </p:nvGrpSpPr>
          <p:grpSpPr>
            <a:xfrm>
              <a:off x="0" y="0"/>
              <a:ext cx="2494" cy="2043"/>
              <a:chOff x="0" y="0"/>
              <a:chExt cx="2494" cy="2043"/>
            </a:xfrm>
          </p:grpSpPr>
          <p:sp>
            <p:nvSpPr>
              <p:cNvPr id="106505" name="矩形 106505"/>
              <p:cNvSpPr/>
              <p:nvPr/>
            </p:nvSpPr>
            <p:spPr>
              <a:xfrm>
                <a:off x="1359" y="1248"/>
                <a:ext cx="567" cy="340"/>
              </a:xfrm>
              <a:prstGeom prst="rect">
                <a:avLst/>
              </a:prstGeom>
              <a:noFill/>
              <a:ln w="25400" cap="flat" cmpd="sng">
                <a:solidFill>
                  <a:schemeClr val="tx1"/>
                </a:solidFill>
                <a:prstDash val="solid"/>
                <a:miter/>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6506" name="椭圆 106506"/>
              <p:cNvSpPr/>
              <p:nvPr/>
            </p:nvSpPr>
            <p:spPr>
              <a:xfrm>
                <a:off x="0" y="797"/>
                <a:ext cx="2495" cy="1247"/>
              </a:xfrm>
              <a:prstGeom prst="ellipse">
                <a:avLst/>
              </a:prstGeom>
              <a:noFill/>
              <a:ln w="254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6507" name="矩形 106507"/>
              <p:cNvSpPr/>
              <p:nvPr/>
            </p:nvSpPr>
            <p:spPr>
              <a:xfrm>
                <a:off x="566" y="1248"/>
                <a:ext cx="567" cy="340"/>
              </a:xfrm>
              <a:prstGeom prst="rect">
                <a:avLst/>
              </a:prstGeom>
              <a:noFill/>
              <a:ln w="25400" cap="flat" cmpd="sng">
                <a:solidFill>
                  <a:schemeClr val="tx1"/>
                </a:solidFill>
                <a:prstDash val="solid"/>
                <a:miter/>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6508" name="矩形 106508"/>
              <p:cNvSpPr/>
              <p:nvPr/>
            </p:nvSpPr>
            <p:spPr>
              <a:xfrm>
                <a:off x="680" y="0"/>
                <a:ext cx="1095" cy="912"/>
              </a:xfrm>
              <a:prstGeom prst="rect">
                <a:avLst/>
              </a:prstGeom>
              <a:noFill/>
              <a:ln w="9525">
                <a:noFill/>
              </a:ln>
            </p:spPr>
            <p:txBody>
              <a:bodyPr wrap="square" anchor="ctr">
                <a:spAutoFit/>
              </a:bodyPr>
              <a:lstStyle/>
              <a:p>
                <a:pPr lvl="0" algn="ctr"/>
                <a:r>
                  <a:rPr lang="zh-CN" altLang="en-US" sz="3200" b="1" dirty="0">
                    <a:solidFill>
                      <a:srgbClr val="FF0000"/>
                    </a:solidFill>
                    <a:latin typeface="Arial" panose="020B0604020202020204" pitchFamily="34" charset="0"/>
                    <a:ea typeface="宋体" panose="02010600030101010101" pitchFamily="2" charset="-122"/>
                  </a:rPr>
                  <a:t>X</a:t>
                </a:r>
              </a:p>
            </p:txBody>
          </p:sp>
        </p:grpSp>
        <p:grpSp>
          <p:nvGrpSpPr>
            <p:cNvPr id="106509" name="组合 106509"/>
            <p:cNvGrpSpPr/>
            <p:nvPr/>
          </p:nvGrpSpPr>
          <p:grpSpPr>
            <a:xfrm>
              <a:off x="6666" y="12"/>
              <a:ext cx="2494" cy="2043"/>
              <a:chOff x="0" y="0"/>
              <a:chExt cx="2494" cy="2043"/>
            </a:xfrm>
          </p:grpSpPr>
          <p:sp>
            <p:nvSpPr>
              <p:cNvPr id="106510" name="矩形 106510"/>
              <p:cNvSpPr/>
              <p:nvPr/>
            </p:nvSpPr>
            <p:spPr>
              <a:xfrm>
                <a:off x="1359" y="1248"/>
                <a:ext cx="567" cy="340"/>
              </a:xfrm>
              <a:prstGeom prst="rect">
                <a:avLst/>
              </a:prstGeom>
              <a:noFill/>
              <a:ln w="25400" cap="flat" cmpd="sng">
                <a:solidFill>
                  <a:schemeClr val="tx1"/>
                </a:solidFill>
                <a:prstDash val="solid"/>
                <a:miter/>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6511" name="椭圆 106511"/>
              <p:cNvSpPr/>
              <p:nvPr/>
            </p:nvSpPr>
            <p:spPr>
              <a:xfrm>
                <a:off x="0" y="797"/>
                <a:ext cx="2495" cy="1247"/>
              </a:xfrm>
              <a:prstGeom prst="ellipse">
                <a:avLst/>
              </a:prstGeom>
              <a:noFill/>
              <a:ln w="254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6512" name="矩形 106512"/>
              <p:cNvSpPr/>
              <p:nvPr/>
            </p:nvSpPr>
            <p:spPr>
              <a:xfrm>
                <a:off x="566" y="1248"/>
                <a:ext cx="567" cy="340"/>
              </a:xfrm>
              <a:prstGeom prst="rect">
                <a:avLst/>
              </a:prstGeom>
              <a:noFill/>
              <a:ln w="25400" cap="flat" cmpd="sng">
                <a:solidFill>
                  <a:schemeClr val="tx1"/>
                </a:solidFill>
                <a:prstDash val="solid"/>
                <a:miter/>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06513" name="矩形 106513"/>
              <p:cNvSpPr/>
              <p:nvPr/>
            </p:nvSpPr>
            <p:spPr>
              <a:xfrm>
                <a:off x="680" y="0"/>
                <a:ext cx="1095" cy="912"/>
              </a:xfrm>
              <a:prstGeom prst="rect">
                <a:avLst/>
              </a:prstGeom>
              <a:noFill/>
              <a:ln w="9525">
                <a:noFill/>
              </a:ln>
            </p:spPr>
            <p:txBody>
              <a:bodyPr wrap="square" anchor="ctr">
                <a:spAutoFit/>
              </a:bodyPr>
              <a:lstStyle/>
              <a:p>
                <a:pPr lvl="0" algn="ctr"/>
                <a:r>
                  <a:rPr lang="zh-CN" altLang="en-US" sz="3200" b="1" dirty="0">
                    <a:solidFill>
                      <a:srgbClr val="FF0000"/>
                    </a:solidFill>
                    <a:latin typeface="Arial" panose="020B0604020202020204" pitchFamily="34" charset="0"/>
                    <a:ea typeface="宋体" panose="02010600030101010101" pitchFamily="2" charset="-122"/>
                  </a:rPr>
                  <a:t>Y</a:t>
                </a:r>
                <a:endParaRPr lang="zh-CN" altLang="en-US" dirty="0">
                  <a:latin typeface="Times New Roman" panose="02020603050405020304" pitchFamily="2" charset="0"/>
                  <a:ea typeface="Times New Roman" panose="02020603050405020304" pitchFamily="2" charset="0"/>
                </a:endParaRPr>
              </a:p>
            </p:txBody>
          </p:sp>
        </p:grpSp>
        <p:sp>
          <p:nvSpPr>
            <p:cNvPr id="106514" name="曲线 3435"/>
            <p:cNvSpPr/>
            <p:nvPr/>
          </p:nvSpPr>
          <p:spPr>
            <a:xfrm>
              <a:off x="2496" y="808"/>
              <a:ext cx="4195" cy="403"/>
            </a:xfrm>
            <a:custGeom>
              <a:avLst/>
              <a:gdLst/>
              <a:ahLst/>
              <a:cxnLst/>
              <a:rect l="0" t="0" r="0" b="0"/>
              <a:pathLst>
                <a:path w="21600" h="21600">
                  <a:moveTo>
                    <a:pt x="0" y="21600"/>
                  </a:moveTo>
                  <a:cubicBezTo>
                    <a:pt x="1769" y="16990"/>
                    <a:pt x="5676" y="964"/>
                    <a:pt x="9996" y="482"/>
                  </a:cubicBezTo>
                  <a:cubicBezTo>
                    <a:pt x="14316" y="0"/>
                    <a:pt x="19476" y="15275"/>
                    <a:pt x="21600" y="19241"/>
                  </a:cubicBezTo>
                </a:path>
              </a:pathLst>
            </a:custGeom>
            <a:noFill/>
            <a:ln w="25400" cap="flat" cmpd="sng">
              <a:solidFill>
                <a:schemeClr val="tx1"/>
              </a:solidFill>
              <a:prstDash val="solid"/>
              <a:round/>
              <a:headEnd type="none" w="med" len="med"/>
              <a:tailEnd type="arrow" w="lg" len="lg"/>
            </a:ln>
          </p:spPr>
          <p:txBody>
            <a:bodyPr/>
            <a:lstStyle/>
            <a:p>
              <a:endParaRPr lang="zh-CN" altLang="en-US"/>
            </a:p>
          </p:txBody>
        </p:sp>
      </p:grpSp>
      <p:sp>
        <p:nvSpPr>
          <p:cNvPr id="106516" name="曲线 3488"/>
          <p:cNvSpPr/>
          <p:nvPr/>
        </p:nvSpPr>
        <p:spPr>
          <a:xfrm>
            <a:off x="3197225" y="2339975"/>
            <a:ext cx="5019675" cy="3556000"/>
          </a:xfrm>
          <a:custGeom>
            <a:avLst/>
            <a:gdLst/>
            <a:ahLst/>
            <a:cxnLst/>
            <a:rect l="0" t="0" r="0" b="0"/>
            <a:pathLst>
              <a:path w="21600" h="21600">
                <a:moveTo>
                  <a:pt x="1705" y="12096"/>
                </a:moveTo>
                <a:cubicBezTo>
                  <a:pt x="2691" y="10518"/>
                  <a:pt x="4538" y="6127"/>
                  <a:pt x="7560" y="3916"/>
                </a:cubicBezTo>
                <a:cubicBezTo>
                  <a:pt x="10582" y="1705"/>
                  <a:pt x="14372" y="0"/>
                  <a:pt x="16820" y="1045"/>
                </a:cubicBezTo>
                <a:cubicBezTo>
                  <a:pt x="19269" y="2091"/>
                  <a:pt x="21600" y="5363"/>
                  <a:pt x="19807" y="9144"/>
                </a:cubicBezTo>
                <a:cubicBezTo>
                  <a:pt x="18015" y="12926"/>
                  <a:pt x="11574" y="18289"/>
                  <a:pt x="7858" y="19944"/>
                </a:cubicBezTo>
                <a:cubicBezTo>
                  <a:pt x="4142" y="21600"/>
                  <a:pt x="2459" y="18983"/>
                  <a:pt x="1229" y="17413"/>
                </a:cubicBezTo>
                <a:cubicBezTo>
                  <a:pt x="0" y="15843"/>
                  <a:pt x="1478" y="13107"/>
                  <a:pt x="1705" y="12096"/>
                </a:cubicBezTo>
                <a:close/>
              </a:path>
            </a:pathLst>
          </a:custGeom>
          <a:noFill/>
          <a:ln w="31750" cap="flat" cmpd="sng">
            <a:solidFill>
              <a:srgbClr val="0000CC"/>
            </a:solidFill>
            <a:prstDash val="solid"/>
            <a:round/>
            <a:headEnd type="none" w="med" len="med"/>
            <a:tailEnd type="none" w="med" len="med"/>
          </a:ln>
        </p:spPr>
        <p:txBody>
          <a:bodyPr/>
          <a:lstStyle/>
          <a:p>
            <a:endParaRPr lang="zh-CN" altLang="en-US"/>
          </a:p>
        </p:txBody>
      </p:sp>
      <p:sp>
        <p:nvSpPr>
          <p:cNvPr id="106517" name="曲线 3490"/>
          <p:cNvSpPr/>
          <p:nvPr/>
        </p:nvSpPr>
        <p:spPr>
          <a:xfrm>
            <a:off x="827088" y="2133600"/>
            <a:ext cx="5270500" cy="3487738"/>
          </a:xfrm>
          <a:custGeom>
            <a:avLst/>
            <a:gdLst/>
            <a:ahLst/>
            <a:cxnLst/>
            <a:rect l="0" t="0" r="0" b="0"/>
            <a:pathLst>
              <a:path w="21600" h="21600">
                <a:moveTo>
                  <a:pt x="5507" y="0"/>
                </a:moveTo>
                <a:cubicBezTo>
                  <a:pt x="8560" y="2808"/>
                  <a:pt x="18549" y="10524"/>
                  <a:pt x="20074" y="14618"/>
                </a:cubicBezTo>
                <a:cubicBezTo>
                  <a:pt x="21600" y="18713"/>
                  <a:pt x="16842" y="21600"/>
                  <a:pt x="13133" y="20463"/>
                </a:cubicBezTo>
                <a:cubicBezTo>
                  <a:pt x="9424" y="19326"/>
                  <a:pt x="3050" y="13037"/>
                  <a:pt x="1525" y="8943"/>
                </a:cubicBezTo>
                <a:cubicBezTo>
                  <a:pt x="0" y="4849"/>
                  <a:pt x="4479" y="1557"/>
                  <a:pt x="5507" y="0"/>
                </a:cubicBezTo>
                <a:close/>
              </a:path>
            </a:pathLst>
          </a:custGeom>
          <a:noFill/>
          <a:ln w="31750" cap="flat" cmpd="sng">
            <a:solidFill>
              <a:srgbClr val="0000CC"/>
            </a:solidFill>
            <a:prstDash val="solid"/>
            <a:round/>
            <a:headEnd type="none" w="med" len="med"/>
            <a:tailEnd type="none" w="med" len="med"/>
          </a:ln>
        </p:spPr>
        <p:txBody>
          <a:bodyPr/>
          <a:lstStyle/>
          <a:p>
            <a:endParaRPr lang="zh-CN" altLang="en-US"/>
          </a:p>
        </p:txBody>
      </p:sp>
      <p:sp>
        <p:nvSpPr>
          <p:cNvPr id="106518" name="曲线 3494"/>
          <p:cNvSpPr/>
          <p:nvPr/>
        </p:nvSpPr>
        <p:spPr>
          <a:xfrm>
            <a:off x="2593975" y="1193800"/>
            <a:ext cx="3414713" cy="1346200"/>
          </a:xfrm>
          <a:custGeom>
            <a:avLst/>
            <a:gdLst/>
            <a:ahLst/>
            <a:cxnLst/>
            <a:rect l="0" t="0" r="0" b="0"/>
            <a:pathLst>
              <a:path w="21600" h="21600">
                <a:moveTo>
                  <a:pt x="0" y="18259"/>
                </a:moveTo>
                <a:cubicBezTo>
                  <a:pt x="2020" y="14318"/>
                  <a:pt x="6831" y="0"/>
                  <a:pt x="11153" y="672"/>
                </a:cubicBezTo>
                <a:cubicBezTo>
                  <a:pt x="15475" y="1344"/>
                  <a:pt x="19511" y="17455"/>
                  <a:pt x="21600" y="21600"/>
                </a:cubicBezTo>
              </a:path>
            </a:pathLst>
          </a:custGeom>
          <a:noFill/>
          <a:ln w="31750" cap="flat" cmpd="sng">
            <a:solidFill>
              <a:srgbClr val="FF0000"/>
            </a:solidFill>
            <a:prstDash val="solid"/>
            <a:round/>
            <a:headEnd type="none" w="med" len="med"/>
            <a:tailEnd type="arrow" w="lg" len="lg"/>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6504"/>
                                        </p:tgtEl>
                                        <p:attrNameLst>
                                          <p:attrName>style.visibility</p:attrName>
                                        </p:attrNameLst>
                                      </p:cBhvr>
                                      <p:to>
                                        <p:strVal val="visible"/>
                                      </p:to>
                                    </p:set>
                                    <p:animEffect transition="in" filter="blinds(horizontal)">
                                      <p:cBhvr>
                                        <p:cTn id="7" dur="500"/>
                                        <p:tgtEl>
                                          <p:spTgt spid="10650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0649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106517"/>
                                        </p:tgtEl>
                                        <p:attrNameLst>
                                          <p:attrName>style.visibility</p:attrName>
                                        </p:attrNameLst>
                                      </p:cBhvr>
                                      <p:to>
                                        <p:strVal val="visible"/>
                                      </p:to>
                                    </p:set>
                                    <p:animEffect transition="in" filter="blinds(horizontal)">
                                      <p:cBhvr>
                                        <p:cTn id="16" dur="500"/>
                                        <p:tgtEl>
                                          <p:spTgt spid="106517"/>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106516"/>
                                        </p:tgtEl>
                                        <p:attrNameLst>
                                          <p:attrName>style.visibility</p:attrName>
                                        </p:attrNameLst>
                                      </p:cBhvr>
                                      <p:to>
                                        <p:strVal val="visible"/>
                                      </p:to>
                                    </p:set>
                                    <p:animEffect transition="in" filter="blinds(horizontal)">
                                      <p:cBhvr>
                                        <p:cTn id="21" dur="500"/>
                                        <p:tgtEl>
                                          <p:spTgt spid="106516"/>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065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07522"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07523"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32</a:t>
            </a:fld>
            <a:endParaRPr lang="zh-CN" altLang="en-US" sz="1200" b="1" i="1" dirty="0">
              <a:latin typeface="Times New Roman" panose="02020603050405020304" pitchFamily="2" charset="0"/>
              <a:ea typeface="宋体" panose="02010600030101010101" pitchFamily="2" charset="-122"/>
            </a:endParaRPr>
          </a:p>
        </p:txBody>
      </p:sp>
      <p:sp>
        <p:nvSpPr>
          <p:cNvPr id="107524"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6.6 </a:t>
            </a:r>
            <a:r>
              <a:rPr lang="en-US" altLang="x-none" dirty="0">
                <a:ea typeface="宋体" panose="02010600030101010101" pitchFamily="2" charset="-122"/>
              </a:rPr>
              <a:t>Functional Dependencies</a:t>
            </a:r>
            <a:endParaRPr lang="zh-CN" altLang="en-US" dirty="0">
              <a:ea typeface="宋体" panose="02010600030101010101" pitchFamily="2" charset="-122"/>
            </a:endParaRPr>
          </a:p>
        </p:txBody>
      </p:sp>
      <p:sp>
        <p:nvSpPr>
          <p:cNvPr id="107525" name="Rectangle 3"/>
          <p:cNvSpPr>
            <a:spLocks noGrp="1"/>
          </p:cNvSpPr>
          <p:nvPr>
            <p:ph type="body"/>
          </p:nvPr>
        </p:nvSpPr>
        <p:spPr>
          <a:xfrm>
            <a:off x="457200" y="838200"/>
            <a:ext cx="8229600" cy="1295400"/>
          </a:xfrm>
        </p:spPr>
        <p:txBody>
          <a:bodyPr wrap="square" anchor="t"/>
          <a:lstStyle/>
          <a:p>
            <a:pPr lvl="0" eaLnBrk="1" hangingPunct="1">
              <a:lnSpc>
                <a:spcPct val="90000"/>
              </a:lnSpc>
            </a:pPr>
            <a:r>
              <a:rPr lang="en-US" altLang="x-none" sz="3200" dirty="0">
                <a:ea typeface="宋体" panose="02010600030101010101" pitchFamily="2" charset="-122"/>
              </a:rPr>
              <a:t>Rule 1: Inclusion Rule</a:t>
            </a:r>
          </a:p>
          <a:p>
            <a:pPr lvl="1" indent="-285750" eaLnBrk="1" hangingPunct="1">
              <a:lnSpc>
                <a:spcPct val="90000"/>
              </a:lnSpc>
              <a:buNone/>
            </a:pPr>
            <a:r>
              <a:rPr lang="en-US" altLang="x-none" sz="3200" dirty="0">
                <a:ea typeface="宋体" panose="02010600030101010101" pitchFamily="2" charset="-122"/>
              </a:rPr>
              <a:t>If Y</a:t>
            </a:r>
            <a:r>
              <a:rPr lang="en-US" altLang="x-none" sz="3200" dirty="0">
                <a:ea typeface="宋体" panose="02010600030101010101" pitchFamily="2" charset="-122"/>
                <a:sym typeface="Symbol" panose="05050102010706020507" pitchFamily="2" charset="2"/>
              </a:rPr>
              <a:t></a:t>
            </a:r>
            <a:r>
              <a:rPr lang="en-US" altLang="x-none" sz="3200" dirty="0">
                <a:ea typeface="宋体" panose="02010600030101010101" pitchFamily="2" charset="-122"/>
              </a:rPr>
              <a:t>X</a:t>
            </a:r>
            <a:r>
              <a:rPr lang="zh-CN" altLang="en-US" sz="3200" dirty="0">
                <a:ea typeface="宋体" panose="02010600030101010101" pitchFamily="2" charset="-122"/>
              </a:rPr>
              <a:t>，</a:t>
            </a:r>
            <a:r>
              <a:rPr lang="en-US" altLang="x-none" sz="3200" dirty="0">
                <a:ea typeface="宋体" panose="02010600030101010101" pitchFamily="2" charset="-122"/>
              </a:rPr>
              <a:t>then  X → Y</a:t>
            </a:r>
            <a:endParaRPr lang="zh-CN" altLang="en-US" sz="3200" dirty="0">
              <a:ea typeface="宋体" panose="02010600030101010101" pitchFamily="2" charset="-122"/>
            </a:endParaRPr>
          </a:p>
        </p:txBody>
      </p:sp>
      <p:sp>
        <p:nvSpPr>
          <p:cNvPr id="107527" name="Rectangle 4"/>
          <p:cNvSpPr/>
          <p:nvPr/>
        </p:nvSpPr>
        <p:spPr>
          <a:xfrm>
            <a:off x="434975" y="2438400"/>
            <a:ext cx="8458200" cy="3505200"/>
          </a:xfrm>
          <a:prstGeom prst="rect">
            <a:avLst/>
          </a:prstGeom>
          <a:solidFill>
            <a:srgbClr val="FFFFFF"/>
          </a:solidFill>
          <a:ln w="9525">
            <a:noFill/>
          </a:ln>
        </p:spPr>
        <p:txBody>
          <a:bodyPr anchor="t"/>
          <a:lstStyle/>
          <a:p>
            <a:pPr marL="342900" lvl="0" indent="-342900">
              <a:lnSpc>
                <a:spcPct val="120000"/>
              </a:lnSpc>
              <a:spcBef>
                <a:spcPct val="20000"/>
              </a:spcBef>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Proof：</a:t>
            </a:r>
          </a:p>
          <a:p>
            <a:pPr marL="742950" lvl="1" indent="-285750">
              <a:lnSpc>
                <a:spcPct val="120000"/>
              </a:lnSpc>
              <a:spcBef>
                <a:spcPct val="20000"/>
              </a:spcBef>
              <a:buFont typeface="Wingdings" panose="05000000000000000000" pitchFamily="2" charset="2"/>
              <a:buChar char="§"/>
            </a:pPr>
            <a:r>
              <a:rPr lang="zh-CN" altLang="en-US" sz="2800" b="1" dirty="0">
                <a:solidFill>
                  <a:schemeClr val="accent2"/>
                </a:solidFill>
                <a:latin typeface="Arial" panose="020B0604020202020204" pitchFamily="34" charset="0"/>
                <a:ea typeface="宋体" panose="02010600030101010101" pitchFamily="2" charset="-122"/>
              </a:rPr>
              <a:t>设</a:t>
            </a:r>
            <a:r>
              <a:rPr lang="en-US" altLang="x-none" sz="2800" b="1" dirty="0">
                <a:solidFill>
                  <a:schemeClr val="accent2"/>
                </a:solidFill>
                <a:latin typeface="Arial" panose="020B0604020202020204" pitchFamily="34" charset="0"/>
                <a:ea typeface="宋体" panose="02010600030101010101" pitchFamily="2" charset="-122"/>
              </a:rPr>
              <a:t>t</a:t>
            </a:r>
            <a:r>
              <a:rPr lang="en-US" altLang="x-none" sz="2800" b="1" baseline="-25000" dirty="0">
                <a:solidFill>
                  <a:schemeClr val="accent2"/>
                </a:solidFill>
                <a:latin typeface="Arial" panose="020B0604020202020204" pitchFamily="34" charset="0"/>
                <a:ea typeface="宋体" panose="02010600030101010101" pitchFamily="2" charset="-122"/>
              </a:rPr>
              <a:t>1</a:t>
            </a:r>
            <a:r>
              <a:rPr lang="en-US" altLang="x-none" sz="2800" b="1" dirty="0">
                <a:solidFill>
                  <a:schemeClr val="accent2"/>
                </a:solidFill>
                <a:latin typeface="Arial" panose="020B0604020202020204" pitchFamily="34" charset="0"/>
                <a:ea typeface="宋体" panose="02010600030101010101" pitchFamily="2" charset="-122"/>
              </a:rPr>
              <a:t>, t</a:t>
            </a:r>
            <a:r>
              <a:rPr lang="en-US" altLang="x-none" sz="2800" b="1" baseline="-25000" dirty="0">
                <a:solidFill>
                  <a:schemeClr val="accent2"/>
                </a:solidFill>
                <a:latin typeface="Arial" panose="020B0604020202020204" pitchFamily="34" charset="0"/>
                <a:ea typeface="宋体" panose="02010600030101010101" pitchFamily="2" charset="-122"/>
              </a:rPr>
              <a:t>2</a:t>
            </a:r>
            <a:r>
              <a:rPr lang="zh-CN" altLang="en-US" sz="2800" b="1" dirty="0">
                <a:solidFill>
                  <a:schemeClr val="accent2"/>
                </a:solidFill>
                <a:latin typeface="Arial" panose="020B0604020202020204" pitchFamily="34" charset="0"/>
                <a:ea typeface="宋体" panose="02010600030101010101" pitchFamily="2" charset="-122"/>
              </a:rPr>
              <a:t>是关系</a:t>
            </a:r>
            <a:r>
              <a:rPr lang="en-US" altLang="x-none" sz="2800" b="1" dirty="0">
                <a:solidFill>
                  <a:schemeClr val="accent2"/>
                </a:solidFill>
                <a:latin typeface="Arial" panose="020B0604020202020204" pitchFamily="34" charset="0"/>
                <a:ea typeface="宋体" panose="02010600030101010101" pitchFamily="2" charset="-122"/>
              </a:rPr>
              <a:t>R</a:t>
            </a:r>
            <a:r>
              <a:rPr lang="zh-CN" altLang="en-US" sz="2800" b="1" dirty="0">
                <a:solidFill>
                  <a:schemeClr val="accent2"/>
                </a:solidFill>
                <a:latin typeface="Arial" panose="020B0604020202020204" pitchFamily="34" charset="0"/>
                <a:ea typeface="宋体" panose="02010600030101010101" pitchFamily="2" charset="-122"/>
              </a:rPr>
              <a:t>中的任意两个元组(</a:t>
            </a:r>
            <a:r>
              <a:rPr lang="en-US" altLang="x-none" sz="2800" b="1" dirty="0">
                <a:solidFill>
                  <a:schemeClr val="accent2"/>
                </a:solidFill>
                <a:latin typeface="Arial" panose="020B0604020202020204" pitchFamily="34" charset="0"/>
                <a:ea typeface="宋体" panose="02010600030101010101" pitchFamily="2" charset="-122"/>
              </a:rPr>
              <a:t>t</a:t>
            </a:r>
            <a:r>
              <a:rPr lang="en-US" altLang="x-none" sz="2800" b="1" baseline="-25000" dirty="0">
                <a:solidFill>
                  <a:schemeClr val="accent2"/>
                </a:solidFill>
                <a:latin typeface="Arial" panose="020B0604020202020204" pitchFamily="34" charset="0"/>
                <a:ea typeface="宋体" panose="02010600030101010101" pitchFamily="2" charset="-122"/>
              </a:rPr>
              <a:t>1</a:t>
            </a:r>
            <a:r>
              <a:rPr lang="en-US" altLang="x-none" sz="2800" b="1" dirty="0">
                <a:solidFill>
                  <a:schemeClr val="accent2"/>
                </a:solidFill>
                <a:latin typeface="Arial" panose="020B0604020202020204" pitchFamily="34" charset="0"/>
                <a:ea typeface="宋体" panose="02010600030101010101" pitchFamily="2" charset="-122"/>
                <a:sym typeface="Symbol" panose="05050102010706020507" pitchFamily="2" charset="2"/>
              </a:rPr>
              <a:t>R, </a:t>
            </a:r>
            <a:r>
              <a:rPr lang="en-US" altLang="x-none" sz="2800" b="1" dirty="0">
                <a:solidFill>
                  <a:schemeClr val="accent2"/>
                </a:solidFill>
                <a:latin typeface="Arial" panose="020B0604020202020204" pitchFamily="34" charset="0"/>
                <a:ea typeface="宋体" panose="02010600030101010101" pitchFamily="2" charset="-122"/>
              </a:rPr>
              <a:t>t</a:t>
            </a:r>
            <a:r>
              <a:rPr lang="en-US" altLang="x-none" sz="2800" b="1" baseline="-25000" dirty="0">
                <a:solidFill>
                  <a:schemeClr val="accent2"/>
                </a:solidFill>
                <a:latin typeface="Arial" panose="020B0604020202020204" pitchFamily="34" charset="0"/>
                <a:ea typeface="宋体" panose="02010600030101010101" pitchFamily="2" charset="-122"/>
              </a:rPr>
              <a:t>2</a:t>
            </a:r>
            <a:r>
              <a:rPr lang="en-US" altLang="x-none" sz="2800" b="1" dirty="0">
                <a:solidFill>
                  <a:schemeClr val="accent2"/>
                </a:solidFill>
                <a:latin typeface="Arial" panose="020B0604020202020204" pitchFamily="34" charset="0"/>
                <a:ea typeface="宋体" panose="02010600030101010101" pitchFamily="2" charset="-122"/>
                <a:sym typeface="Symbol" panose="05050102010706020507" pitchFamily="2" charset="2"/>
              </a:rPr>
              <a:t>R), </a:t>
            </a:r>
            <a:r>
              <a:rPr lang="zh-CN" altLang="en-US" sz="2800" b="1" dirty="0">
                <a:solidFill>
                  <a:schemeClr val="accent2"/>
                </a:solidFill>
                <a:latin typeface="Arial" panose="020B0604020202020204" pitchFamily="34" charset="0"/>
                <a:ea typeface="宋体" panose="02010600030101010101" pitchFamily="2" charset="-122"/>
                <a:sym typeface="Symbol" panose="05050102010706020507" pitchFamily="2" charset="2"/>
              </a:rPr>
              <a:t>且它们在属性集</a:t>
            </a:r>
            <a:r>
              <a:rPr lang="en-US" altLang="x-none" sz="2800" b="1" dirty="0">
                <a:solidFill>
                  <a:schemeClr val="accent2"/>
                </a:solidFill>
                <a:latin typeface="Arial" panose="020B0604020202020204" pitchFamily="34" charset="0"/>
                <a:ea typeface="宋体" panose="02010600030101010101" pitchFamily="2" charset="-122"/>
                <a:sym typeface="Symbol" panose="05050102010706020507" pitchFamily="2" charset="2"/>
              </a:rPr>
              <a:t>X</a:t>
            </a:r>
            <a:r>
              <a:rPr lang="zh-CN" altLang="en-US" sz="2800" b="1" dirty="0">
                <a:solidFill>
                  <a:schemeClr val="accent2"/>
                </a:solidFill>
                <a:latin typeface="Arial" panose="020B0604020202020204" pitchFamily="34" charset="0"/>
                <a:ea typeface="宋体" panose="02010600030101010101" pitchFamily="2" charset="-122"/>
                <a:sym typeface="Symbol" panose="05050102010706020507" pitchFamily="2" charset="2"/>
              </a:rPr>
              <a:t>上的值相等 (</a:t>
            </a:r>
            <a:r>
              <a:rPr lang="en-US" altLang="x-none" sz="2800" b="1" dirty="0">
                <a:solidFill>
                  <a:schemeClr val="accent2"/>
                </a:solidFill>
                <a:latin typeface="Arial" panose="020B0604020202020204" pitchFamily="34" charset="0"/>
                <a:ea typeface="宋体" panose="02010600030101010101" pitchFamily="2" charset="-122"/>
              </a:rPr>
              <a:t>t</a:t>
            </a:r>
            <a:r>
              <a:rPr lang="en-US" altLang="x-none" sz="2800" b="1" baseline="-25000" dirty="0">
                <a:solidFill>
                  <a:schemeClr val="accent2"/>
                </a:solidFill>
                <a:latin typeface="Arial" panose="020B0604020202020204" pitchFamily="34" charset="0"/>
                <a:ea typeface="宋体" panose="02010600030101010101" pitchFamily="2" charset="-122"/>
              </a:rPr>
              <a:t>1</a:t>
            </a:r>
            <a:r>
              <a:rPr lang="en-US" altLang="x-none" sz="2800" b="1" dirty="0">
                <a:solidFill>
                  <a:schemeClr val="accent2"/>
                </a:solidFill>
                <a:latin typeface="Arial" panose="020B0604020202020204" pitchFamily="34" charset="0"/>
                <a:ea typeface="宋体" panose="02010600030101010101" pitchFamily="2" charset="-122"/>
                <a:sym typeface="Symbol" panose="05050102010706020507" pitchFamily="2" charset="2"/>
              </a:rPr>
              <a:t>[X] = </a:t>
            </a:r>
            <a:r>
              <a:rPr lang="en-US" altLang="x-none" sz="2800" b="1" dirty="0">
                <a:solidFill>
                  <a:schemeClr val="accent2"/>
                </a:solidFill>
                <a:latin typeface="Arial" panose="020B0604020202020204" pitchFamily="34" charset="0"/>
                <a:ea typeface="宋体" panose="02010600030101010101" pitchFamily="2" charset="-122"/>
              </a:rPr>
              <a:t>t</a:t>
            </a:r>
            <a:r>
              <a:rPr lang="en-US" altLang="x-none" sz="2800" b="1" baseline="-25000" dirty="0">
                <a:solidFill>
                  <a:schemeClr val="accent2"/>
                </a:solidFill>
                <a:latin typeface="Arial" panose="020B0604020202020204" pitchFamily="34" charset="0"/>
                <a:ea typeface="宋体" panose="02010600030101010101" pitchFamily="2" charset="-122"/>
              </a:rPr>
              <a:t>2</a:t>
            </a:r>
            <a:r>
              <a:rPr lang="en-US" altLang="x-none" sz="2800" b="1" dirty="0">
                <a:solidFill>
                  <a:schemeClr val="accent2"/>
                </a:solidFill>
                <a:latin typeface="Arial" panose="020B0604020202020204" pitchFamily="34" charset="0"/>
                <a:ea typeface="宋体" panose="02010600030101010101" pitchFamily="2" charset="-122"/>
                <a:sym typeface="Symbol" panose="05050102010706020507" pitchFamily="2" charset="2"/>
              </a:rPr>
              <a:t>[X])</a:t>
            </a:r>
          </a:p>
          <a:p>
            <a:pPr marL="742950" lvl="1" indent="-285750">
              <a:lnSpc>
                <a:spcPct val="120000"/>
              </a:lnSpc>
              <a:spcBef>
                <a:spcPct val="20000"/>
              </a:spcBef>
              <a:buFont typeface="Wingdings" panose="05000000000000000000" pitchFamily="2" charset="2"/>
              <a:buChar char="§"/>
            </a:pPr>
            <a:endParaRPr lang="en-US" altLang="x-none" sz="1400" b="1" dirty="0">
              <a:solidFill>
                <a:schemeClr val="accent2"/>
              </a:solidFill>
              <a:latin typeface="Arial" panose="020B0604020202020204" pitchFamily="34" charset="0"/>
              <a:ea typeface="宋体" panose="02010600030101010101" pitchFamily="2" charset="-122"/>
              <a:sym typeface="Symbol" panose="05050102010706020507" pitchFamily="2" charset="2"/>
            </a:endParaRPr>
          </a:p>
          <a:p>
            <a:pPr marL="742950" lvl="1" indent="-285750">
              <a:lnSpc>
                <a:spcPct val="120000"/>
              </a:lnSpc>
              <a:spcBef>
                <a:spcPct val="20000"/>
              </a:spcBef>
              <a:buFont typeface="Wingdings" panose="05000000000000000000" pitchFamily="2" charset="2"/>
              <a:buChar char="§"/>
            </a:pPr>
            <a:r>
              <a:rPr lang="zh-CN" altLang="en-US" sz="2800" b="1" dirty="0">
                <a:solidFill>
                  <a:schemeClr val="accent2"/>
                </a:solidFill>
                <a:latin typeface="Arial" panose="020B0604020202020204" pitchFamily="34" charset="0"/>
                <a:ea typeface="宋体" panose="02010600030101010101" pitchFamily="2" charset="-122"/>
                <a:sym typeface="Symbol" panose="05050102010706020507" pitchFamily="2" charset="2"/>
              </a:rPr>
              <a:t>由于</a:t>
            </a:r>
            <a:r>
              <a:rPr lang="en-US" altLang="x-none" sz="2800" b="1" dirty="0">
                <a:solidFill>
                  <a:schemeClr val="accent2"/>
                </a:solidFill>
                <a:latin typeface="Arial" panose="020B0604020202020204" pitchFamily="34" charset="0"/>
                <a:ea typeface="宋体" panose="02010600030101010101" pitchFamily="2" charset="-122"/>
                <a:sym typeface="Symbol" panose="05050102010706020507" pitchFamily="2" charset="2"/>
              </a:rPr>
              <a:t>Y</a:t>
            </a:r>
            <a:r>
              <a:rPr lang="zh-CN" altLang="en-US" sz="2800" b="1" dirty="0">
                <a:solidFill>
                  <a:schemeClr val="accent2"/>
                </a:solidFill>
                <a:latin typeface="Arial" panose="020B0604020202020204" pitchFamily="34" charset="0"/>
                <a:ea typeface="宋体" panose="02010600030101010101" pitchFamily="2" charset="-122"/>
                <a:sym typeface="Symbol" panose="05050102010706020507" pitchFamily="2" charset="2"/>
              </a:rPr>
              <a:t>是</a:t>
            </a:r>
            <a:r>
              <a:rPr lang="en-US" altLang="x-none" sz="2800" b="1" dirty="0">
                <a:solidFill>
                  <a:schemeClr val="accent2"/>
                </a:solidFill>
                <a:latin typeface="Arial" panose="020B0604020202020204" pitchFamily="34" charset="0"/>
                <a:ea typeface="宋体" panose="02010600030101010101" pitchFamily="2" charset="-122"/>
                <a:sym typeface="Symbol" panose="05050102010706020507" pitchFamily="2" charset="2"/>
              </a:rPr>
              <a:t>X</a:t>
            </a:r>
            <a:r>
              <a:rPr lang="zh-CN" altLang="en-US" sz="2800" b="1" dirty="0">
                <a:solidFill>
                  <a:schemeClr val="accent2"/>
                </a:solidFill>
                <a:latin typeface="Arial" panose="020B0604020202020204" pitchFamily="34" charset="0"/>
                <a:ea typeface="宋体" panose="02010600030101010101" pitchFamily="2" charset="-122"/>
                <a:sym typeface="Symbol" panose="05050102010706020507" pitchFamily="2" charset="2"/>
              </a:rPr>
              <a:t>的子集，即 </a:t>
            </a:r>
            <a:r>
              <a:rPr lang="en-US" altLang="x-none" sz="2800" b="1" dirty="0">
                <a:solidFill>
                  <a:schemeClr val="accent2"/>
                </a:solidFill>
                <a:latin typeface="Arial" panose="020B0604020202020204" pitchFamily="34" charset="0"/>
                <a:ea typeface="宋体" panose="02010600030101010101" pitchFamily="2" charset="-122"/>
                <a:sym typeface="Symbol" panose="05050102010706020507" pitchFamily="2" charset="2"/>
              </a:rPr>
              <a:t>X  Y</a:t>
            </a:r>
          </a:p>
          <a:p>
            <a:pPr marL="742950" lvl="1" indent="-285750">
              <a:lnSpc>
                <a:spcPct val="120000"/>
              </a:lnSpc>
              <a:spcBef>
                <a:spcPct val="20000"/>
              </a:spcBef>
              <a:buFont typeface="Wingdings" panose="05000000000000000000" pitchFamily="2" charset="2"/>
              <a:buChar char="§"/>
            </a:pPr>
            <a:endParaRPr lang="en-US" altLang="x-none" sz="1400" b="1" dirty="0">
              <a:solidFill>
                <a:schemeClr val="accent2"/>
              </a:solidFill>
              <a:latin typeface="Arial" panose="020B0604020202020204" pitchFamily="34" charset="0"/>
              <a:ea typeface="宋体" panose="02010600030101010101" pitchFamily="2" charset="-122"/>
              <a:sym typeface="Symbol" panose="05050102010706020507" pitchFamily="2" charset="2"/>
            </a:endParaRPr>
          </a:p>
          <a:p>
            <a:pPr marL="742950" lvl="1" indent="-285750">
              <a:lnSpc>
                <a:spcPct val="120000"/>
              </a:lnSpc>
              <a:spcBef>
                <a:spcPct val="20000"/>
              </a:spcBef>
              <a:buFont typeface="Wingdings" panose="05000000000000000000" pitchFamily="2" charset="2"/>
              <a:buChar char="§"/>
            </a:pPr>
            <a:r>
              <a:rPr lang="zh-CN" altLang="en-US" sz="2800" b="1" dirty="0">
                <a:solidFill>
                  <a:schemeClr val="accent2"/>
                </a:solidFill>
                <a:latin typeface="Arial" panose="020B0604020202020204" pitchFamily="34" charset="0"/>
                <a:ea typeface="宋体" panose="02010600030101010101" pitchFamily="2" charset="-122"/>
                <a:sym typeface="Symbol" panose="05050102010706020507" pitchFamily="2" charset="2"/>
              </a:rPr>
              <a:t>因此必有 </a:t>
            </a:r>
            <a:r>
              <a:rPr lang="en-US" altLang="x-none" sz="2800" b="1" dirty="0">
                <a:solidFill>
                  <a:schemeClr val="accent2"/>
                </a:solidFill>
                <a:latin typeface="Arial" panose="020B0604020202020204" pitchFamily="34" charset="0"/>
                <a:ea typeface="宋体" panose="02010600030101010101" pitchFamily="2" charset="-122"/>
              </a:rPr>
              <a:t>t</a:t>
            </a:r>
            <a:r>
              <a:rPr lang="en-US" altLang="x-none" sz="2800" b="1" baseline="-25000" dirty="0">
                <a:solidFill>
                  <a:schemeClr val="accent2"/>
                </a:solidFill>
                <a:latin typeface="Arial" panose="020B0604020202020204" pitchFamily="34" charset="0"/>
                <a:ea typeface="宋体" panose="02010600030101010101" pitchFamily="2" charset="-122"/>
              </a:rPr>
              <a:t>1</a:t>
            </a:r>
            <a:r>
              <a:rPr lang="en-US" altLang="x-none" sz="2800" b="1" dirty="0">
                <a:solidFill>
                  <a:schemeClr val="accent2"/>
                </a:solidFill>
                <a:latin typeface="Arial" panose="020B0604020202020204" pitchFamily="34" charset="0"/>
                <a:ea typeface="宋体" panose="02010600030101010101" pitchFamily="2" charset="-122"/>
                <a:sym typeface="Symbol" panose="05050102010706020507" pitchFamily="2" charset="2"/>
              </a:rPr>
              <a:t>[Y] = </a:t>
            </a:r>
            <a:r>
              <a:rPr lang="en-US" altLang="x-none" sz="2800" b="1" dirty="0">
                <a:solidFill>
                  <a:schemeClr val="accent2"/>
                </a:solidFill>
                <a:latin typeface="Arial" panose="020B0604020202020204" pitchFamily="34" charset="0"/>
                <a:ea typeface="宋体" panose="02010600030101010101" pitchFamily="2" charset="-122"/>
              </a:rPr>
              <a:t>t</a:t>
            </a:r>
            <a:r>
              <a:rPr lang="en-US" altLang="x-none" sz="2800" b="1" baseline="-25000" dirty="0">
                <a:solidFill>
                  <a:schemeClr val="accent2"/>
                </a:solidFill>
                <a:latin typeface="Arial" panose="020B0604020202020204" pitchFamily="34" charset="0"/>
                <a:ea typeface="宋体" panose="02010600030101010101" pitchFamily="2" charset="-122"/>
              </a:rPr>
              <a:t>2</a:t>
            </a:r>
            <a:r>
              <a:rPr lang="en-US" altLang="x-none" sz="2800" b="1" dirty="0">
                <a:solidFill>
                  <a:schemeClr val="accent2"/>
                </a:solidFill>
                <a:latin typeface="Arial" panose="020B0604020202020204" pitchFamily="34" charset="0"/>
                <a:ea typeface="宋体" panose="02010600030101010101" pitchFamily="2" charset="-122"/>
                <a:sym typeface="Symbol" panose="05050102010706020507" pitchFamily="2" charset="2"/>
              </a:rPr>
              <a: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7527">
                                            <p:bg/>
                                          </p:spTgt>
                                        </p:tgtEl>
                                        <p:attrNameLst>
                                          <p:attrName>style.visibility</p:attrName>
                                        </p:attrNameLst>
                                      </p:cBhvr>
                                      <p:to>
                                        <p:strVal val="visible"/>
                                      </p:to>
                                    </p:set>
                                    <p:animEffect transition="in" filter="blinds(horizontal)">
                                      <p:cBhvr>
                                        <p:cTn id="7" dur="500"/>
                                        <p:tgtEl>
                                          <p:spTgt spid="107527">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7527">
                                            <p:txEl>
                                              <p:pRg st="0" end="0"/>
                                            </p:txEl>
                                          </p:spTgt>
                                        </p:tgtEl>
                                        <p:attrNameLst>
                                          <p:attrName>style.visibility</p:attrName>
                                        </p:attrNameLst>
                                      </p:cBhvr>
                                      <p:to>
                                        <p:strVal val="visible"/>
                                      </p:to>
                                    </p:set>
                                    <p:animEffect transition="in" filter="blinds(horizontal)">
                                      <p:cBhvr>
                                        <p:cTn id="12" dur="500"/>
                                        <p:tgtEl>
                                          <p:spTgt spid="10752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7527">
                                            <p:txEl>
                                              <p:pRg st="1" end="1"/>
                                            </p:txEl>
                                          </p:spTgt>
                                        </p:tgtEl>
                                        <p:attrNameLst>
                                          <p:attrName>style.visibility</p:attrName>
                                        </p:attrNameLst>
                                      </p:cBhvr>
                                      <p:to>
                                        <p:strVal val="visible"/>
                                      </p:to>
                                    </p:set>
                                    <p:animEffect transition="in" filter="blinds(horizontal)">
                                      <p:cBhvr>
                                        <p:cTn id="17" dur="500"/>
                                        <p:tgtEl>
                                          <p:spTgt spid="10752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7527">
                                            <p:txEl>
                                              <p:pRg st="3" end="3"/>
                                            </p:txEl>
                                          </p:spTgt>
                                        </p:tgtEl>
                                        <p:attrNameLst>
                                          <p:attrName>style.visibility</p:attrName>
                                        </p:attrNameLst>
                                      </p:cBhvr>
                                      <p:to>
                                        <p:strVal val="visible"/>
                                      </p:to>
                                    </p:set>
                                    <p:animEffect transition="in" filter="blinds(horizontal)">
                                      <p:cBhvr>
                                        <p:cTn id="22" dur="500"/>
                                        <p:tgtEl>
                                          <p:spTgt spid="1075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7527">
                                            <p:txEl>
                                              <p:pRg st="5" end="5"/>
                                            </p:txEl>
                                          </p:spTgt>
                                        </p:tgtEl>
                                        <p:attrNameLst>
                                          <p:attrName>style.visibility</p:attrName>
                                        </p:attrNameLst>
                                      </p:cBhvr>
                                      <p:to>
                                        <p:strVal val="visible"/>
                                      </p:to>
                                    </p:set>
                                    <p:animEffect transition="in" filter="blinds(horizontal)">
                                      <p:cBhvr>
                                        <p:cTn id="27" dur="500"/>
                                        <p:tgtEl>
                                          <p:spTgt spid="10752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7" grpId="0" build="p" bldLvl="2"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08546"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08547"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33</a:t>
            </a:fld>
            <a:endParaRPr lang="zh-CN" altLang="en-US" sz="1200" b="1" i="1" dirty="0">
              <a:latin typeface="Times New Roman" panose="02020603050405020304" pitchFamily="2" charset="0"/>
              <a:ea typeface="宋体" panose="02010600030101010101" pitchFamily="2" charset="-122"/>
            </a:endParaRPr>
          </a:p>
        </p:txBody>
      </p:sp>
      <p:sp>
        <p:nvSpPr>
          <p:cNvPr id="108548"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6.6 </a:t>
            </a:r>
            <a:r>
              <a:rPr lang="en-US" altLang="x-none" dirty="0">
                <a:ea typeface="宋体" panose="02010600030101010101" pitchFamily="2" charset="-122"/>
              </a:rPr>
              <a:t>Functional Dependencies</a:t>
            </a:r>
            <a:endParaRPr lang="zh-CN" altLang="en-US" dirty="0">
              <a:ea typeface="宋体" panose="02010600030101010101" pitchFamily="2" charset="-122"/>
            </a:endParaRPr>
          </a:p>
        </p:txBody>
      </p:sp>
      <p:sp>
        <p:nvSpPr>
          <p:cNvPr id="108549" name="Rectangle 3"/>
          <p:cNvSpPr>
            <a:spLocks noGrp="1"/>
          </p:cNvSpPr>
          <p:nvPr>
            <p:ph type="body"/>
          </p:nvPr>
        </p:nvSpPr>
        <p:spPr>
          <a:xfrm>
            <a:off x="457200" y="838200"/>
            <a:ext cx="8229600" cy="1222375"/>
          </a:xfrm>
        </p:spPr>
        <p:txBody>
          <a:bodyPr wrap="square" anchor="t"/>
          <a:lstStyle/>
          <a:p>
            <a:pPr lvl="0" eaLnBrk="1" hangingPunct="1">
              <a:lnSpc>
                <a:spcPct val="90000"/>
              </a:lnSpc>
            </a:pPr>
            <a:r>
              <a:rPr lang="en-US" altLang="x-none" sz="3200" dirty="0">
                <a:ea typeface="宋体" panose="02010600030101010101" pitchFamily="2" charset="-122"/>
              </a:rPr>
              <a:t>Rule 2: Transitivity Rule</a:t>
            </a:r>
          </a:p>
          <a:p>
            <a:pPr lvl="1" indent="-285750" eaLnBrk="1" hangingPunct="1">
              <a:lnSpc>
                <a:spcPct val="90000"/>
              </a:lnSpc>
              <a:buNone/>
            </a:pPr>
            <a:r>
              <a:rPr lang="en-US" altLang="x-none" sz="3200" dirty="0">
                <a:ea typeface="宋体" panose="02010600030101010101" pitchFamily="2" charset="-122"/>
              </a:rPr>
              <a:t>If X → Y and Y → Z </a:t>
            </a:r>
            <a:r>
              <a:rPr lang="zh-CN" altLang="en-US" sz="3200" dirty="0">
                <a:ea typeface="宋体" panose="02010600030101010101" pitchFamily="2" charset="-122"/>
              </a:rPr>
              <a:t>，</a:t>
            </a:r>
            <a:r>
              <a:rPr lang="en-US" altLang="x-none" sz="3200" dirty="0">
                <a:ea typeface="宋体" panose="02010600030101010101" pitchFamily="2" charset="-122"/>
              </a:rPr>
              <a:t>then  X → Z</a:t>
            </a:r>
            <a:endParaRPr lang="zh-CN" altLang="en-US" sz="3200" dirty="0">
              <a:ea typeface="宋体" panose="02010600030101010101" pitchFamily="2" charset="-122"/>
            </a:endParaRPr>
          </a:p>
        </p:txBody>
      </p:sp>
      <p:sp>
        <p:nvSpPr>
          <p:cNvPr id="108551" name="Rectangle 4"/>
          <p:cNvSpPr/>
          <p:nvPr/>
        </p:nvSpPr>
        <p:spPr>
          <a:xfrm>
            <a:off x="457200" y="2438400"/>
            <a:ext cx="8686800" cy="3505200"/>
          </a:xfrm>
          <a:prstGeom prst="rect">
            <a:avLst/>
          </a:prstGeom>
          <a:solidFill>
            <a:srgbClr val="FFFFFF"/>
          </a:solidFill>
          <a:ln w="9525">
            <a:noFill/>
          </a:ln>
        </p:spPr>
        <p:txBody>
          <a:bodyPr anchor="t"/>
          <a:lstStyle/>
          <a:p>
            <a:pPr marL="342900" lvl="0" indent="-342900">
              <a:lnSpc>
                <a:spcPct val="120000"/>
              </a:lnSpc>
              <a:spcBef>
                <a:spcPct val="20000"/>
              </a:spcBef>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Proof：</a:t>
            </a:r>
          </a:p>
          <a:p>
            <a:pPr marL="742950" lvl="1" indent="-285750">
              <a:spcBef>
                <a:spcPct val="20000"/>
              </a:spcBef>
              <a:buFont typeface="Wingdings" panose="05000000000000000000" pitchFamily="2" charset="2"/>
              <a:buChar char="§"/>
            </a:pPr>
            <a:r>
              <a:rPr lang="zh-CN" altLang="en-US" sz="2800" b="1" dirty="0">
                <a:solidFill>
                  <a:schemeClr val="accent2"/>
                </a:solidFill>
                <a:latin typeface="Arial" panose="020B0604020202020204" pitchFamily="34" charset="0"/>
                <a:ea typeface="宋体" panose="02010600030101010101" pitchFamily="2" charset="-122"/>
              </a:rPr>
              <a:t>设</a:t>
            </a:r>
            <a:r>
              <a:rPr lang="en-US" altLang="x-none" sz="2800" b="1" dirty="0">
                <a:solidFill>
                  <a:schemeClr val="accent2"/>
                </a:solidFill>
                <a:latin typeface="Arial" panose="020B0604020202020204" pitchFamily="34" charset="0"/>
                <a:ea typeface="宋体" panose="02010600030101010101" pitchFamily="2" charset="-122"/>
              </a:rPr>
              <a:t> t</a:t>
            </a:r>
            <a:r>
              <a:rPr lang="en-US" altLang="x-none" sz="2800" b="1" baseline="-25000" dirty="0">
                <a:solidFill>
                  <a:schemeClr val="accent2"/>
                </a:solidFill>
                <a:latin typeface="Arial" panose="020B0604020202020204" pitchFamily="34" charset="0"/>
                <a:ea typeface="宋体" panose="02010600030101010101" pitchFamily="2" charset="-122"/>
              </a:rPr>
              <a:t>1</a:t>
            </a:r>
            <a:r>
              <a:rPr lang="en-US" altLang="x-none" sz="2800" b="1" dirty="0">
                <a:solidFill>
                  <a:schemeClr val="accent2"/>
                </a:solidFill>
                <a:latin typeface="Arial" panose="020B0604020202020204" pitchFamily="34" charset="0"/>
                <a:ea typeface="宋体" panose="02010600030101010101" pitchFamily="2" charset="-122"/>
                <a:sym typeface="Symbol" panose="05050102010706020507" pitchFamily="2" charset="2"/>
              </a:rPr>
              <a:t>R, </a:t>
            </a:r>
            <a:r>
              <a:rPr lang="en-US" altLang="x-none" sz="2800" b="1" dirty="0">
                <a:solidFill>
                  <a:schemeClr val="accent2"/>
                </a:solidFill>
                <a:latin typeface="Arial" panose="020B0604020202020204" pitchFamily="34" charset="0"/>
                <a:ea typeface="宋体" panose="02010600030101010101" pitchFamily="2" charset="-122"/>
              </a:rPr>
              <a:t>t</a:t>
            </a:r>
            <a:r>
              <a:rPr lang="en-US" altLang="x-none" sz="2800" b="1" baseline="-25000" dirty="0">
                <a:solidFill>
                  <a:schemeClr val="accent2"/>
                </a:solidFill>
                <a:latin typeface="Arial" panose="020B0604020202020204" pitchFamily="34" charset="0"/>
                <a:ea typeface="宋体" panose="02010600030101010101" pitchFamily="2" charset="-122"/>
              </a:rPr>
              <a:t>2</a:t>
            </a:r>
            <a:r>
              <a:rPr lang="en-US" altLang="x-none" sz="2800" b="1" dirty="0">
                <a:solidFill>
                  <a:schemeClr val="accent2"/>
                </a:solidFill>
                <a:latin typeface="Arial" panose="020B0604020202020204" pitchFamily="34" charset="0"/>
                <a:ea typeface="宋体" panose="02010600030101010101" pitchFamily="2" charset="-122"/>
                <a:sym typeface="Symbol" panose="05050102010706020507" pitchFamily="2" charset="2"/>
              </a:rPr>
              <a:t>R, </a:t>
            </a:r>
            <a:r>
              <a:rPr lang="zh-CN" altLang="en-US" sz="2800" b="1" dirty="0">
                <a:solidFill>
                  <a:schemeClr val="accent2"/>
                </a:solidFill>
                <a:latin typeface="Arial" panose="020B0604020202020204" pitchFamily="34" charset="0"/>
                <a:ea typeface="宋体" panose="02010600030101010101" pitchFamily="2" charset="-122"/>
                <a:sym typeface="Symbol" panose="05050102010706020507" pitchFamily="2" charset="2"/>
              </a:rPr>
              <a:t>如果 </a:t>
            </a:r>
            <a:r>
              <a:rPr lang="en-US" altLang="x-none" sz="2800" b="1" dirty="0">
                <a:solidFill>
                  <a:schemeClr val="accent2"/>
                </a:solidFill>
                <a:latin typeface="Arial" panose="020B0604020202020204" pitchFamily="34" charset="0"/>
                <a:ea typeface="宋体" panose="02010600030101010101" pitchFamily="2" charset="-122"/>
              </a:rPr>
              <a:t>t</a:t>
            </a:r>
            <a:r>
              <a:rPr lang="en-US" altLang="x-none" sz="2800" b="1" baseline="-25000" dirty="0">
                <a:solidFill>
                  <a:schemeClr val="accent2"/>
                </a:solidFill>
                <a:latin typeface="Arial" panose="020B0604020202020204" pitchFamily="34" charset="0"/>
                <a:ea typeface="宋体" panose="02010600030101010101" pitchFamily="2" charset="-122"/>
              </a:rPr>
              <a:t>1</a:t>
            </a:r>
            <a:r>
              <a:rPr lang="en-US" altLang="x-none" sz="2800" b="1" dirty="0">
                <a:solidFill>
                  <a:schemeClr val="accent2"/>
                </a:solidFill>
                <a:latin typeface="Arial" panose="020B0604020202020204" pitchFamily="34" charset="0"/>
                <a:ea typeface="宋体" panose="02010600030101010101" pitchFamily="2" charset="-122"/>
                <a:sym typeface="Symbol" panose="05050102010706020507" pitchFamily="2" charset="2"/>
              </a:rPr>
              <a:t>[X] = </a:t>
            </a:r>
            <a:r>
              <a:rPr lang="en-US" altLang="x-none" sz="2800" b="1" dirty="0">
                <a:solidFill>
                  <a:schemeClr val="accent2"/>
                </a:solidFill>
                <a:latin typeface="Arial" panose="020B0604020202020204" pitchFamily="34" charset="0"/>
                <a:ea typeface="宋体" panose="02010600030101010101" pitchFamily="2" charset="-122"/>
              </a:rPr>
              <a:t>t</a:t>
            </a:r>
            <a:r>
              <a:rPr lang="en-US" altLang="x-none" sz="2800" b="1" baseline="-25000" dirty="0">
                <a:solidFill>
                  <a:schemeClr val="accent2"/>
                </a:solidFill>
                <a:latin typeface="Arial" panose="020B0604020202020204" pitchFamily="34" charset="0"/>
                <a:ea typeface="宋体" panose="02010600030101010101" pitchFamily="2" charset="-122"/>
              </a:rPr>
              <a:t>2</a:t>
            </a:r>
            <a:r>
              <a:rPr lang="en-US" altLang="x-none" sz="2800" b="1" dirty="0">
                <a:solidFill>
                  <a:schemeClr val="accent2"/>
                </a:solidFill>
                <a:latin typeface="Arial" panose="020B0604020202020204" pitchFamily="34" charset="0"/>
                <a:ea typeface="宋体" panose="02010600030101010101" pitchFamily="2" charset="-122"/>
                <a:sym typeface="Symbol" panose="05050102010706020507" pitchFamily="2" charset="2"/>
              </a:rPr>
              <a:t>[X] ……………(1)</a:t>
            </a:r>
            <a:endParaRPr lang="zh-CN" altLang="en-US" sz="2800" b="1" dirty="0">
              <a:solidFill>
                <a:schemeClr val="accent2"/>
              </a:solidFill>
              <a:latin typeface="Arial" panose="020B0604020202020204" pitchFamily="34" charset="0"/>
              <a:ea typeface="宋体" panose="02010600030101010101" pitchFamily="2" charset="-122"/>
              <a:sym typeface="Symbol" panose="05050102010706020507" pitchFamily="2" charset="2"/>
            </a:endParaRPr>
          </a:p>
          <a:p>
            <a:pPr marL="1600200" lvl="3" indent="-228600">
              <a:spcBef>
                <a:spcPct val="20000"/>
              </a:spcBef>
              <a:buFont typeface="Wingdings" panose="05000000000000000000" pitchFamily="2" charset="2"/>
              <a:buNone/>
            </a:pPr>
            <a:endParaRPr lang="zh-CN" altLang="en-US" sz="2800" b="1" dirty="0">
              <a:solidFill>
                <a:schemeClr val="accent2"/>
              </a:solidFill>
              <a:latin typeface="Arial" panose="020B0604020202020204" pitchFamily="34" charset="0"/>
              <a:ea typeface="宋体" panose="02010600030101010101" pitchFamily="2" charset="-122"/>
              <a:sym typeface="Symbol" panose="05050102010706020507" pitchFamily="2" charset="2"/>
            </a:endParaRPr>
          </a:p>
          <a:p>
            <a:pPr marL="742950" lvl="1" indent="-285750">
              <a:spcBef>
                <a:spcPct val="20000"/>
              </a:spcBef>
              <a:buFont typeface="Wingdings" panose="05000000000000000000" pitchFamily="2" charset="2"/>
              <a:buChar char="§"/>
            </a:pPr>
            <a:r>
              <a:rPr lang="zh-CN" altLang="en-US" sz="2800" b="1" dirty="0">
                <a:solidFill>
                  <a:schemeClr val="accent2"/>
                </a:solidFill>
                <a:latin typeface="Arial" panose="020B0604020202020204" pitchFamily="34" charset="0"/>
                <a:ea typeface="宋体" panose="02010600030101010101" pitchFamily="2" charset="-122"/>
                <a:sym typeface="Symbol" panose="05050102010706020507" pitchFamily="2" charset="2"/>
              </a:rPr>
              <a:t>由(1)及</a:t>
            </a:r>
            <a:r>
              <a:rPr lang="en-US" altLang="x-none" sz="2800" b="1" dirty="0">
                <a:solidFill>
                  <a:schemeClr val="accent2"/>
                </a:solidFill>
                <a:latin typeface="Arial" panose="020B0604020202020204" pitchFamily="34" charset="0"/>
                <a:ea typeface="宋体" panose="02010600030101010101" pitchFamily="2" charset="-122"/>
              </a:rPr>
              <a:t>X→Y</a:t>
            </a:r>
            <a:r>
              <a:rPr lang="zh-CN" altLang="en-US" sz="2800" b="1" dirty="0">
                <a:solidFill>
                  <a:schemeClr val="accent2"/>
                </a:solidFill>
                <a:latin typeface="Arial" panose="020B0604020202020204" pitchFamily="34" charset="0"/>
                <a:ea typeface="宋体" panose="02010600030101010101" pitchFamily="2" charset="-122"/>
              </a:rPr>
              <a:t>得：</a:t>
            </a:r>
            <a:r>
              <a:rPr lang="en-US" altLang="x-none" sz="2800" b="1" dirty="0">
                <a:solidFill>
                  <a:schemeClr val="accent2"/>
                </a:solidFill>
                <a:latin typeface="Arial" panose="020B0604020202020204" pitchFamily="34" charset="0"/>
                <a:ea typeface="宋体" panose="02010600030101010101" pitchFamily="2" charset="-122"/>
              </a:rPr>
              <a:t>t</a:t>
            </a:r>
            <a:r>
              <a:rPr lang="en-US" altLang="x-none" sz="2800" b="1" baseline="-25000" dirty="0">
                <a:solidFill>
                  <a:schemeClr val="accent2"/>
                </a:solidFill>
                <a:latin typeface="Arial" panose="020B0604020202020204" pitchFamily="34" charset="0"/>
                <a:ea typeface="宋体" panose="02010600030101010101" pitchFamily="2" charset="-122"/>
              </a:rPr>
              <a:t>1</a:t>
            </a:r>
            <a:r>
              <a:rPr lang="en-US" altLang="x-none" sz="2800" b="1" dirty="0">
                <a:solidFill>
                  <a:schemeClr val="accent2"/>
                </a:solidFill>
                <a:latin typeface="Arial" panose="020B0604020202020204" pitchFamily="34" charset="0"/>
                <a:ea typeface="宋体" panose="02010600030101010101" pitchFamily="2" charset="-122"/>
                <a:sym typeface="Symbol" panose="05050102010706020507" pitchFamily="2" charset="2"/>
              </a:rPr>
              <a:t>[Y] = </a:t>
            </a:r>
            <a:r>
              <a:rPr lang="en-US" altLang="x-none" sz="2800" b="1" dirty="0">
                <a:solidFill>
                  <a:schemeClr val="accent2"/>
                </a:solidFill>
                <a:latin typeface="Arial" panose="020B0604020202020204" pitchFamily="34" charset="0"/>
                <a:ea typeface="宋体" panose="02010600030101010101" pitchFamily="2" charset="-122"/>
              </a:rPr>
              <a:t>t</a:t>
            </a:r>
            <a:r>
              <a:rPr lang="en-US" altLang="x-none" sz="2800" b="1" baseline="-25000" dirty="0">
                <a:solidFill>
                  <a:schemeClr val="accent2"/>
                </a:solidFill>
                <a:latin typeface="Arial" panose="020B0604020202020204" pitchFamily="34" charset="0"/>
                <a:ea typeface="宋体" panose="02010600030101010101" pitchFamily="2" charset="-122"/>
              </a:rPr>
              <a:t>2</a:t>
            </a:r>
            <a:r>
              <a:rPr lang="en-US" altLang="x-none" sz="2800" b="1" dirty="0">
                <a:solidFill>
                  <a:schemeClr val="accent2"/>
                </a:solidFill>
                <a:latin typeface="Arial" panose="020B0604020202020204" pitchFamily="34" charset="0"/>
                <a:ea typeface="宋体" panose="02010600030101010101" pitchFamily="2" charset="-122"/>
                <a:sym typeface="Symbol" panose="05050102010706020507" pitchFamily="2" charset="2"/>
              </a:rPr>
              <a:t>[Y] …………….... (2)</a:t>
            </a:r>
          </a:p>
          <a:p>
            <a:pPr marL="742950" lvl="1" indent="-285750">
              <a:spcBef>
                <a:spcPct val="20000"/>
              </a:spcBef>
              <a:buFont typeface="Wingdings" panose="05000000000000000000" pitchFamily="2" charset="2"/>
              <a:buChar char="§"/>
            </a:pPr>
            <a:endParaRPr lang="zh-CN" altLang="en-US" sz="2800" b="1" dirty="0">
              <a:solidFill>
                <a:schemeClr val="accent2"/>
              </a:solidFill>
              <a:latin typeface="Arial" panose="020B0604020202020204" pitchFamily="34" charset="0"/>
              <a:ea typeface="宋体" panose="02010600030101010101" pitchFamily="2" charset="-122"/>
              <a:sym typeface="Symbol" panose="05050102010706020507" pitchFamily="2" charset="2"/>
            </a:endParaRPr>
          </a:p>
          <a:p>
            <a:pPr marL="742950" lvl="1" indent="-285750">
              <a:spcBef>
                <a:spcPct val="20000"/>
              </a:spcBef>
              <a:buFont typeface="Wingdings" panose="05000000000000000000" pitchFamily="2" charset="2"/>
              <a:buChar char="§"/>
            </a:pPr>
            <a:r>
              <a:rPr lang="zh-CN" altLang="en-US" sz="2800" b="1" dirty="0">
                <a:solidFill>
                  <a:schemeClr val="accent2"/>
                </a:solidFill>
                <a:latin typeface="Arial" panose="020B0604020202020204" pitchFamily="34" charset="0"/>
                <a:ea typeface="宋体" panose="02010600030101010101" pitchFamily="2" charset="-122"/>
                <a:sym typeface="Symbol" panose="05050102010706020507" pitchFamily="2" charset="2"/>
              </a:rPr>
              <a:t>由(2)及</a:t>
            </a:r>
            <a:r>
              <a:rPr lang="en-US" altLang="x-none" sz="2800" b="1" dirty="0">
                <a:solidFill>
                  <a:schemeClr val="accent2"/>
                </a:solidFill>
                <a:latin typeface="Arial" panose="020B0604020202020204" pitchFamily="34" charset="0"/>
                <a:ea typeface="宋体" panose="02010600030101010101" pitchFamily="2" charset="-122"/>
              </a:rPr>
              <a:t>Y→Z</a:t>
            </a:r>
            <a:r>
              <a:rPr lang="zh-CN" altLang="en-US" sz="2800" b="1" dirty="0">
                <a:solidFill>
                  <a:schemeClr val="accent2"/>
                </a:solidFill>
                <a:latin typeface="Arial" panose="020B0604020202020204" pitchFamily="34" charset="0"/>
                <a:ea typeface="宋体" panose="02010600030101010101" pitchFamily="2" charset="-122"/>
                <a:sym typeface="Symbol" panose="05050102010706020507" pitchFamily="2" charset="2"/>
              </a:rPr>
              <a:t>得：</a:t>
            </a:r>
            <a:r>
              <a:rPr lang="en-US" altLang="x-none" sz="2800" b="1" dirty="0">
                <a:solidFill>
                  <a:schemeClr val="accent2"/>
                </a:solidFill>
                <a:latin typeface="Arial" panose="020B0604020202020204" pitchFamily="34" charset="0"/>
                <a:ea typeface="宋体" panose="02010600030101010101" pitchFamily="2" charset="-122"/>
              </a:rPr>
              <a:t>t</a:t>
            </a:r>
            <a:r>
              <a:rPr lang="en-US" altLang="x-none" sz="2800" b="1" baseline="-25000" dirty="0">
                <a:solidFill>
                  <a:schemeClr val="accent2"/>
                </a:solidFill>
                <a:latin typeface="Arial" panose="020B0604020202020204" pitchFamily="34" charset="0"/>
                <a:ea typeface="宋体" panose="02010600030101010101" pitchFamily="2" charset="-122"/>
              </a:rPr>
              <a:t>1</a:t>
            </a:r>
            <a:r>
              <a:rPr lang="en-US" altLang="x-none" sz="2800" b="1" dirty="0">
                <a:solidFill>
                  <a:schemeClr val="accent2"/>
                </a:solidFill>
                <a:latin typeface="Arial" panose="020B0604020202020204" pitchFamily="34" charset="0"/>
                <a:ea typeface="宋体" panose="02010600030101010101" pitchFamily="2" charset="-122"/>
                <a:sym typeface="Symbol" panose="05050102010706020507" pitchFamily="2" charset="2"/>
              </a:rPr>
              <a:t>[Z] = </a:t>
            </a:r>
            <a:r>
              <a:rPr lang="en-US" altLang="x-none" sz="2800" b="1" dirty="0">
                <a:solidFill>
                  <a:schemeClr val="accent2"/>
                </a:solidFill>
                <a:latin typeface="Arial" panose="020B0604020202020204" pitchFamily="34" charset="0"/>
                <a:ea typeface="宋体" panose="02010600030101010101" pitchFamily="2" charset="-122"/>
              </a:rPr>
              <a:t>t</a:t>
            </a:r>
            <a:r>
              <a:rPr lang="en-US" altLang="x-none" sz="2800" b="1" baseline="-25000" dirty="0">
                <a:solidFill>
                  <a:schemeClr val="accent2"/>
                </a:solidFill>
                <a:latin typeface="Arial" panose="020B0604020202020204" pitchFamily="34" charset="0"/>
                <a:ea typeface="宋体" panose="02010600030101010101" pitchFamily="2" charset="-122"/>
              </a:rPr>
              <a:t>2</a:t>
            </a:r>
            <a:r>
              <a:rPr lang="en-US" altLang="x-none" sz="2800" b="1" dirty="0">
                <a:solidFill>
                  <a:schemeClr val="accent2"/>
                </a:solidFill>
                <a:latin typeface="Arial" panose="020B0604020202020204" pitchFamily="34" charset="0"/>
                <a:ea typeface="宋体" panose="02010600030101010101" pitchFamily="2" charset="-122"/>
                <a:sym typeface="Symbol" panose="05050102010706020507" pitchFamily="2" charset="2"/>
              </a:rPr>
              <a:t>[Z]</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8551">
                                            <p:bg/>
                                          </p:spTgt>
                                        </p:tgtEl>
                                        <p:attrNameLst>
                                          <p:attrName>style.visibility</p:attrName>
                                        </p:attrNameLst>
                                      </p:cBhvr>
                                      <p:to>
                                        <p:strVal val="visible"/>
                                      </p:to>
                                    </p:set>
                                    <p:animEffect transition="in" filter="blinds(horizontal)">
                                      <p:cBhvr>
                                        <p:cTn id="7" dur="500"/>
                                        <p:tgtEl>
                                          <p:spTgt spid="108551">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8551">
                                            <p:txEl>
                                              <p:pRg st="0" end="0"/>
                                            </p:txEl>
                                          </p:spTgt>
                                        </p:tgtEl>
                                        <p:attrNameLst>
                                          <p:attrName>style.visibility</p:attrName>
                                        </p:attrNameLst>
                                      </p:cBhvr>
                                      <p:to>
                                        <p:strVal val="visible"/>
                                      </p:to>
                                    </p:set>
                                    <p:animEffect transition="in" filter="blinds(horizontal)">
                                      <p:cBhvr>
                                        <p:cTn id="12" dur="500"/>
                                        <p:tgtEl>
                                          <p:spTgt spid="10855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8551">
                                            <p:txEl>
                                              <p:pRg st="1" end="1"/>
                                            </p:txEl>
                                          </p:spTgt>
                                        </p:tgtEl>
                                        <p:attrNameLst>
                                          <p:attrName>style.visibility</p:attrName>
                                        </p:attrNameLst>
                                      </p:cBhvr>
                                      <p:to>
                                        <p:strVal val="visible"/>
                                      </p:to>
                                    </p:set>
                                    <p:animEffect transition="in" filter="blinds(horizontal)">
                                      <p:cBhvr>
                                        <p:cTn id="17" dur="500"/>
                                        <p:tgtEl>
                                          <p:spTgt spid="10855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8551">
                                            <p:txEl>
                                              <p:pRg st="3" end="3"/>
                                            </p:txEl>
                                          </p:spTgt>
                                        </p:tgtEl>
                                        <p:attrNameLst>
                                          <p:attrName>style.visibility</p:attrName>
                                        </p:attrNameLst>
                                      </p:cBhvr>
                                      <p:to>
                                        <p:strVal val="visible"/>
                                      </p:to>
                                    </p:set>
                                    <p:animEffect transition="in" filter="blinds(horizontal)">
                                      <p:cBhvr>
                                        <p:cTn id="22" dur="500"/>
                                        <p:tgtEl>
                                          <p:spTgt spid="10855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8551">
                                            <p:txEl>
                                              <p:pRg st="5" end="5"/>
                                            </p:txEl>
                                          </p:spTgt>
                                        </p:tgtEl>
                                        <p:attrNameLst>
                                          <p:attrName>style.visibility</p:attrName>
                                        </p:attrNameLst>
                                      </p:cBhvr>
                                      <p:to>
                                        <p:strVal val="visible"/>
                                      </p:to>
                                    </p:set>
                                    <p:animEffect transition="in" filter="blinds(horizontal)">
                                      <p:cBhvr>
                                        <p:cTn id="27" dur="500"/>
                                        <p:tgtEl>
                                          <p:spTgt spid="10855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51" grpId="0" build="p" bldLvl="2"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09570"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09571"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34</a:t>
            </a:fld>
            <a:endParaRPr lang="zh-CN" altLang="en-US" sz="1200" b="1" i="1" dirty="0">
              <a:latin typeface="Times New Roman" panose="02020603050405020304" pitchFamily="2" charset="0"/>
              <a:ea typeface="宋体" panose="02010600030101010101" pitchFamily="2" charset="-122"/>
            </a:endParaRPr>
          </a:p>
        </p:txBody>
      </p:sp>
      <p:sp>
        <p:nvSpPr>
          <p:cNvPr id="109572" name="Rectangle 1026"/>
          <p:cNvSpPr>
            <a:spLocks noGrp="1"/>
          </p:cNvSpPr>
          <p:nvPr>
            <p:ph type="title"/>
          </p:nvPr>
        </p:nvSpPr>
        <p:spPr/>
        <p:txBody>
          <a:bodyPr wrap="square" anchor="ctr"/>
          <a:lstStyle/>
          <a:p>
            <a:pPr lvl="0" eaLnBrk="1" hangingPunct="1"/>
            <a:r>
              <a:rPr lang="zh-CN" altLang="en-US" dirty="0">
                <a:ea typeface="宋体" panose="02010600030101010101" pitchFamily="2" charset="-122"/>
              </a:rPr>
              <a:t>6.6 </a:t>
            </a:r>
            <a:r>
              <a:rPr lang="en-US" altLang="x-none" dirty="0">
                <a:ea typeface="宋体" panose="02010600030101010101" pitchFamily="2" charset="-122"/>
              </a:rPr>
              <a:t>Functional Dependencies</a:t>
            </a:r>
            <a:endParaRPr lang="zh-CN" altLang="en-US" dirty="0">
              <a:ea typeface="宋体" panose="02010600030101010101" pitchFamily="2" charset="-122"/>
            </a:endParaRPr>
          </a:p>
        </p:txBody>
      </p:sp>
      <p:sp>
        <p:nvSpPr>
          <p:cNvPr id="109573" name="Rectangle 1027"/>
          <p:cNvSpPr>
            <a:spLocks noGrp="1"/>
          </p:cNvSpPr>
          <p:nvPr>
            <p:ph type="body"/>
          </p:nvPr>
        </p:nvSpPr>
        <p:spPr>
          <a:xfrm>
            <a:off x="457200" y="838200"/>
            <a:ext cx="8229600" cy="1152525"/>
          </a:xfrm>
        </p:spPr>
        <p:txBody>
          <a:bodyPr wrap="square" anchor="t"/>
          <a:lstStyle/>
          <a:p>
            <a:pPr lvl="0" eaLnBrk="1" hangingPunct="1">
              <a:lnSpc>
                <a:spcPct val="90000"/>
              </a:lnSpc>
            </a:pPr>
            <a:r>
              <a:rPr lang="en-US" altLang="x-none" sz="3200" dirty="0">
                <a:ea typeface="宋体" panose="02010600030101010101" pitchFamily="2" charset="-122"/>
              </a:rPr>
              <a:t>Rule 3: Augmentation rule</a:t>
            </a:r>
          </a:p>
          <a:p>
            <a:pPr lvl="1" indent="-285750" eaLnBrk="1" hangingPunct="1">
              <a:lnSpc>
                <a:spcPct val="90000"/>
              </a:lnSpc>
              <a:buNone/>
            </a:pPr>
            <a:r>
              <a:rPr lang="en-US" altLang="x-none" sz="3200" dirty="0">
                <a:ea typeface="宋体" panose="02010600030101010101" pitchFamily="2" charset="-122"/>
              </a:rPr>
              <a:t>If X → Y, then  XZ → YZ</a:t>
            </a:r>
            <a:endParaRPr lang="zh-CN" altLang="en-US" sz="3200" dirty="0">
              <a:ea typeface="宋体" panose="02010600030101010101" pitchFamily="2" charset="-122"/>
            </a:endParaRPr>
          </a:p>
        </p:txBody>
      </p:sp>
      <p:sp>
        <p:nvSpPr>
          <p:cNvPr id="109575" name="Rectangle 1028"/>
          <p:cNvSpPr/>
          <p:nvPr/>
        </p:nvSpPr>
        <p:spPr>
          <a:xfrm>
            <a:off x="762000" y="2057400"/>
            <a:ext cx="7772400" cy="4343400"/>
          </a:xfrm>
          <a:prstGeom prst="rect">
            <a:avLst/>
          </a:prstGeom>
          <a:solidFill>
            <a:srgbClr val="FFFFFF"/>
          </a:solidFill>
          <a:ln w="9525">
            <a:noFill/>
          </a:ln>
        </p:spPr>
        <p:txBody>
          <a:bodyPr anchor="t"/>
          <a:lstStyle/>
          <a:p>
            <a:pPr marL="342900" lvl="0" indent="-342900">
              <a:lnSpc>
                <a:spcPct val="120000"/>
              </a:lnSpc>
              <a:spcBef>
                <a:spcPct val="20000"/>
              </a:spcBef>
              <a:buFont typeface="Wingdings" panose="05000000000000000000" pitchFamily="2" charset="2"/>
              <a:buNone/>
            </a:pPr>
            <a:r>
              <a:rPr lang="en-US" altLang="x-none" sz="2800" b="1" dirty="0">
                <a:solidFill>
                  <a:srgbClr val="FF0000"/>
                </a:solidFill>
                <a:latin typeface="Times New Roman" panose="02020603050405020304" pitchFamily="2" charset="0"/>
                <a:ea typeface="宋体" panose="02010600030101010101" pitchFamily="2" charset="-122"/>
              </a:rPr>
              <a:t>Proof：</a:t>
            </a:r>
          </a:p>
          <a:p>
            <a:pPr marL="742950" lvl="1" indent="-285750">
              <a:lnSpc>
                <a:spcPct val="120000"/>
              </a:lnSpc>
              <a:spcBef>
                <a:spcPct val="20000"/>
              </a:spcBef>
              <a:buFont typeface="Wingdings" panose="05000000000000000000" pitchFamily="2" charset="2"/>
              <a:buChar char="§"/>
            </a:pPr>
            <a:r>
              <a:rPr lang="zh-CN" altLang="en-US" sz="2800" b="1" dirty="0">
                <a:solidFill>
                  <a:schemeClr val="accent2"/>
                </a:solidFill>
                <a:latin typeface="Times New Roman" panose="02020603050405020304" pitchFamily="2" charset="0"/>
                <a:ea typeface="宋体" panose="02010600030101010101" pitchFamily="2" charset="-122"/>
              </a:rPr>
              <a:t>设</a:t>
            </a:r>
            <a:r>
              <a:rPr lang="en-US" altLang="x-none" sz="2800" b="1" dirty="0">
                <a:solidFill>
                  <a:schemeClr val="accent2"/>
                </a:solidFill>
                <a:latin typeface="Times New Roman" panose="02020603050405020304" pitchFamily="2" charset="0"/>
                <a:ea typeface="宋体" panose="02010600030101010101" pitchFamily="2" charset="-122"/>
              </a:rPr>
              <a:t> t</a:t>
            </a:r>
            <a:r>
              <a:rPr lang="en-US" altLang="x-none" sz="2800" b="1" baseline="-25000" dirty="0">
                <a:solidFill>
                  <a:schemeClr val="accent2"/>
                </a:solidFill>
                <a:latin typeface="Times New Roman" panose="02020603050405020304" pitchFamily="2" charset="0"/>
                <a:ea typeface="宋体" panose="02010600030101010101" pitchFamily="2" charset="-122"/>
              </a:rPr>
              <a:t>1</a:t>
            </a:r>
            <a:r>
              <a:rPr lang="en-US" altLang="x-none" sz="2800" b="1" dirty="0">
                <a:solidFill>
                  <a:schemeClr val="accent2"/>
                </a:solidFill>
                <a:latin typeface="Times New Roman" panose="02020603050405020304" pitchFamily="2" charset="0"/>
                <a:ea typeface="宋体" panose="02010600030101010101" pitchFamily="2" charset="-122"/>
                <a:sym typeface="Symbol" panose="05050102010706020507" pitchFamily="2" charset="2"/>
              </a:rPr>
              <a:t>R, </a:t>
            </a:r>
            <a:r>
              <a:rPr lang="en-US" altLang="x-none" sz="2800" b="1" dirty="0">
                <a:solidFill>
                  <a:schemeClr val="accent2"/>
                </a:solidFill>
                <a:latin typeface="Times New Roman" panose="02020603050405020304" pitchFamily="2" charset="0"/>
                <a:ea typeface="宋体" panose="02010600030101010101" pitchFamily="2" charset="-122"/>
              </a:rPr>
              <a:t>t</a:t>
            </a:r>
            <a:r>
              <a:rPr lang="en-US" altLang="x-none" sz="2800" b="1" baseline="-25000" dirty="0">
                <a:solidFill>
                  <a:schemeClr val="accent2"/>
                </a:solidFill>
                <a:latin typeface="Times New Roman" panose="02020603050405020304" pitchFamily="2" charset="0"/>
                <a:ea typeface="宋体" panose="02010600030101010101" pitchFamily="2" charset="-122"/>
              </a:rPr>
              <a:t>2</a:t>
            </a:r>
            <a:r>
              <a:rPr lang="en-US" altLang="x-none" sz="2800" b="1" dirty="0">
                <a:solidFill>
                  <a:schemeClr val="accent2"/>
                </a:solidFill>
                <a:latin typeface="Times New Roman" panose="02020603050405020304" pitchFamily="2" charset="0"/>
                <a:ea typeface="宋体" panose="02010600030101010101" pitchFamily="2" charset="-122"/>
                <a:sym typeface="Symbol" panose="05050102010706020507" pitchFamily="2" charset="2"/>
              </a:rPr>
              <a:t>R, </a:t>
            </a:r>
            <a:r>
              <a:rPr lang="zh-CN" altLang="en-US" sz="2800" b="1" dirty="0">
                <a:solidFill>
                  <a:schemeClr val="accent2"/>
                </a:solidFill>
                <a:latin typeface="Times New Roman" panose="02020603050405020304" pitchFamily="2" charset="0"/>
                <a:ea typeface="宋体" panose="02010600030101010101" pitchFamily="2" charset="-122"/>
                <a:sym typeface="Symbol" panose="05050102010706020507" pitchFamily="2" charset="2"/>
              </a:rPr>
              <a:t>如果 </a:t>
            </a:r>
            <a:r>
              <a:rPr lang="en-US" altLang="x-none" sz="2800" b="1" dirty="0">
                <a:solidFill>
                  <a:schemeClr val="accent2"/>
                </a:solidFill>
                <a:latin typeface="Times New Roman" panose="02020603050405020304" pitchFamily="2" charset="0"/>
                <a:ea typeface="宋体" panose="02010600030101010101" pitchFamily="2" charset="-122"/>
              </a:rPr>
              <a:t>t</a:t>
            </a:r>
            <a:r>
              <a:rPr lang="en-US" altLang="x-none" sz="2800" b="1" baseline="-25000" dirty="0">
                <a:solidFill>
                  <a:schemeClr val="accent2"/>
                </a:solidFill>
                <a:latin typeface="Times New Roman" panose="02020603050405020304" pitchFamily="2" charset="0"/>
                <a:ea typeface="宋体" panose="02010600030101010101" pitchFamily="2" charset="-122"/>
              </a:rPr>
              <a:t>1</a:t>
            </a:r>
            <a:r>
              <a:rPr lang="en-US" altLang="x-none" sz="2800" b="1" dirty="0">
                <a:solidFill>
                  <a:schemeClr val="accent2"/>
                </a:solidFill>
                <a:latin typeface="Times New Roman" panose="02020603050405020304" pitchFamily="2" charset="0"/>
                <a:ea typeface="宋体" panose="02010600030101010101" pitchFamily="2" charset="-122"/>
                <a:sym typeface="Symbol" panose="05050102010706020507" pitchFamily="2" charset="2"/>
              </a:rPr>
              <a:t>[XZ] = </a:t>
            </a:r>
            <a:r>
              <a:rPr lang="en-US" altLang="x-none" sz="2800" b="1" dirty="0">
                <a:solidFill>
                  <a:schemeClr val="accent2"/>
                </a:solidFill>
                <a:latin typeface="Times New Roman" panose="02020603050405020304" pitchFamily="2" charset="0"/>
                <a:ea typeface="宋体" panose="02010600030101010101" pitchFamily="2" charset="-122"/>
              </a:rPr>
              <a:t>t</a:t>
            </a:r>
            <a:r>
              <a:rPr lang="en-US" altLang="x-none" sz="2800" b="1" baseline="-25000" dirty="0">
                <a:solidFill>
                  <a:schemeClr val="accent2"/>
                </a:solidFill>
                <a:latin typeface="Times New Roman" panose="02020603050405020304" pitchFamily="2" charset="0"/>
                <a:ea typeface="宋体" panose="02010600030101010101" pitchFamily="2" charset="-122"/>
              </a:rPr>
              <a:t>2</a:t>
            </a:r>
            <a:r>
              <a:rPr lang="en-US" altLang="x-none" sz="2800" b="1" dirty="0">
                <a:solidFill>
                  <a:schemeClr val="accent2"/>
                </a:solidFill>
                <a:latin typeface="Times New Roman" panose="02020603050405020304" pitchFamily="2" charset="0"/>
                <a:ea typeface="宋体" panose="02010600030101010101" pitchFamily="2" charset="-122"/>
                <a:sym typeface="Symbol" panose="05050102010706020507" pitchFamily="2" charset="2"/>
              </a:rPr>
              <a:t>[XZ], </a:t>
            </a:r>
            <a:r>
              <a:rPr lang="zh-CN" altLang="en-US" sz="2800" b="1" dirty="0">
                <a:solidFill>
                  <a:schemeClr val="accent2"/>
                </a:solidFill>
                <a:latin typeface="Times New Roman" panose="02020603050405020304" pitchFamily="2" charset="0"/>
                <a:ea typeface="宋体" panose="02010600030101010101" pitchFamily="2" charset="-122"/>
                <a:sym typeface="Symbol" panose="05050102010706020507" pitchFamily="2" charset="2"/>
              </a:rPr>
              <a:t>则：</a:t>
            </a:r>
          </a:p>
          <a:p>
            <a:pPr marL="1600200" lvl="3" indent="-228600">
              <a:lnSpc>
                <a:spcPct val="120000"/>
              </a:lnSpc>
              <a:spcBef>
                <a:spcPct val="20000"/>
              </a:spcBef>
              <a:buFont typeface="Wingdings" panose="05000000000000000000" pitchFamily="2" charset="2"/>
              <a:buNone/>
            </a:pPr>
            <a:r>
              <a:rPr lang="en-US" altLang="x-none" sz="2800" b="1" dirty="0">
                <a:solidFill>
                  <a:schemeClr val="accent2"/>
                </a:solidFill>
                <a:latin typeface="Times New Roman" panose="02020603050405020304" pitchFamily="2" charset="0"/>
                <a:ea typeface="宋体" panose="02010600030101010101" pitchFamily="2" charset="-122"/>
              </a:rPr>
              <a:t>t</a:t>
            </a:r>
            <a:r>
              <a:rPr lang="en-US" altLang="x-none" sz="2800" b="1" baseline="-25000" dirty="0">
                <a:solidFill>
                  <a:schemeClr val="accent2"/>
                </a:solidFill>
                <a:latin typeface="Times New Roman" panose="02020603050405020304" pitchFamily="2" charset="0"/>
                <a:ea typeface="宋体" panose="02010600030101010101" pitchFamily="2" charset="-122"/>
              </a:rPr>
              <a:t>1</a:t>
            </a:r>
            <a:r>
              <a:rPr lang="en-US" altLang="x-none" sz="2800" b="1" dirty="0">
                <a:solidFill>
                  <a:schemeClr val="accent2"/>
                </a:solidFill>
                <a:latin typeface="Times New Roman" panose="02020603050405020304" pitchFamily="2" charset="0"/>
                <a:ea typeface="宋体" panose="02010600030101010101" pitchFamily="2" charset="-122"/>
                <a:sym typeface="Symbol" panose="05050102010706020507" pitchFamily="2" charset="2"/>
              </a:rPr>
              <a:t>[X] = </a:t>
            </a:r>
            <a:r>
              <a:rPr lang="en-US" altLang="x-none" sz="2800" b="1" dirty="0">
                <a:solidFill>
                  <a:schemeClr val="accent2"/>
                </a:solidFill>
                <a:latin typeface="Times New Roman" panose="02020603050405020304" pitchFamily="2" charset="0"/>
                <a:ea typeface="宋体" panose="02010600030101010101" pitchFamily="2" charset="-122"/>
              </a:rPr>
              <a:t>t</a:t>
            </a:r>
            <a:r>
              <a:rPr lang="en-US" altLang="x-none" sz="2800" b="1" baseline="-25000" dirty="0">
                <a:solidFill>
                  <a:schemeClr val="accent2"/>
                </a:solidFill>
                <a:latin typeface="Times New Roman" panose="02020603050405020304" pitchFamily="2" charset="0"/>
                <a:ea typeface="宋体" panose="02010600030101010101" pitchFamily="2" charset="-122"/>
              </a:rPr>
              <a:t>2</a:t>
            </a:r>
            <a:r>
              <a:rPr lang="en-US" altLang="x-none" sz="2800" b="1" dirty="0">
                <a:solidFill>
                  <a:schemeClr val="accent2"/>
                </a:solidFill>
                <a:latin typeface="Times New Roman" panose="02020603050405020304" pitchFamily="2" charset="0"/>
                <a:ea typeface="宋体" panose="02010600030101010101" pitchFamily="2" charset="-122"/>
                <a:sym typeface="Symbol" panose="05050102010706020507" pitchFamily="2" charset="2"/>
              </a:rPr>
              <a:t>[X] …………………………(1)</a:t>
            </a:r>
          </a:p>
          <a:p>
            <a:pPr marL="1600200" lvl="3" indent="-228600">
              <a:lnSpc>
                <a:spcPct val="120000"/>
              </a:lnSpc>
              <a:spcBef>
                <a:spcPct val="20000"/>
              </a:spcBef>
              <a:buFont typeface="Wingdings" panose="05000000000000000000" pitchFamily="2" charset="2"/>
              <a:buNone/>
            </a:pPr>
            <a:r>
              <a:rPr lang="en-US" altLang="x-none" sz="2800" b="1" dirty="0">
                <a:solidFill>
                  <a:schemeClr val="accent2"/>
                </a:solidFill>
                <a:latin typeface="Times New Roman" panose="02020603050405020304" pitchFamily="2" charset="0"/>
                <a:ea typeface="宋体" panose="02010600030101010101" pitchFamily="2" charset="-122"/>
              </a:rPr>
              <a:t>t</a:t>
            </a:r>
            <a:r>
              <a:rPr lang="en-US" altLang="x-none" sz="2800" b="1" baseline="-25000" dirty="0">
                <a:solidFill>
                  <a:schemeClr val="accent2"/>
                </a:solidFill>
                <a:latin typeface="Times New Roman" panose="02020603050405020304" pitchFamily="2" charset="0"/>
                <a:ea typeface="宋体" panose="02010600030101010101" pitchFamily="2" charset="-122"/>
              </a:rPr>
              <a:t>1</a:t>
            </a:r>
            <a:r>
              <a:rPr lang="en-US" altLang="x-none" sz="2800" b="1" dirty="0">
                <a:solidFill>
                  <a:schemeClr val="accent2"/>
                </a:solidFill>
                <a:latin typeface="Times New Roman" panose="02020603050405020304" pitchFamily="2" charset="0"/>
                <a:ea typeface="宋体" panose="02010600030101010101" pitchFamily="2" charset="-122"/>
                <a:sym typeface="Symbol" panose="05050102010706020507" pitchFamily="2" charset="2"/>
              </a:rPr>
              <a:t>[Z] = </a:t>
            </a:r>
            <a:r>
              <a:rPr lang="en-US" altLang="x-none" sz="2800" b="1" dirty="0">
                <a:solidFill>
                  <a:schemeClr val="accent2"/>
                </a:solidFill>
                <a:latin typeface="Times New Roman" panose="02020603050405020304" pitchFamily="2" charset="0"/>
                <a:ea typeface="宋体" panose="02010600030101010101" pitchFamily="2" charset="-122"/>
              </a:rPr>
              <a:t>t</a:t>
            </a:r>
            <a:r>
              <a:rPr lang="en-US" altLang="x-none" sz="2800" b="1" baseline="-25000" dirty="0">
                <a:solidFill>
                  <a:schemeClr val="accent2"/>
                </a:solidFill>
                <a:latin typeface="Times New Roman" panose="02020603050405020304" pitchFamily="2" charset="0"/>
                <a:ea typeface="宋体" panose="02010600030101010101" pitchFamily="2" charset="-122"/>
              </a:rPr>
              <a:t>2</a:t>
            </a:r>
            <a:r>
              <a:rPr lang="en-US" altLang="x-none" sz="2800" b="1" dirty="0">
                <a:solidFill>
                  <a:schemeClr val="accent2"/>
                </a:solidFill>
                <a:latin typeface="Times New Roman" panose="02020603050405020304" pitchFamily="2" charset="0"/>
                <a:ea typeface="宋体" panose="02010600030101010101" pitchFamily="2" charset="-122"/>
                <a:sym typeface="Symbol" panose="05050102010706020507" pitchFamily="2" charset="2"/>
              </a:rPr>
              <a:t>[Z] …………………………(2)</a:t>
            </a:r>
            <a:endParaRPr lang="zh-CN" altLang="en-US" sz="2800" b="1" dirty="0">
              <a:solidFill>
                <a:schemeClr val="accent2"/>
              </a:solidFill>
              <a:latin typeface="Times New Roman" panose="02020603050405020304" pitchFamily="2" charset="0"/>
              <a:ea typeface="宋体" panose="02010600030101010101" pitchFamily="2" charset="-122"/>
              <a:sym typeface="Symbol" panose="05050102010706020507" pitchFamily="2" charset="2"/>
            </a:endParaRPr>
          </a:p>
          <a:p>
            <a:pPr marL="742950" lvl="1" indent="-285750">
              <a:lnSpc>
                <a:spcPct val="120000"/>
              </a:lnSpc>
              <a:spcBef>
                <a:spcPct val="20000"/>
              </a:spcBef>
              <a:buFont typeface="Wingdings" panose="05000000000000000000" pitchFamily="2" charset="2"/>
              <a:buChar char="§"/>
            </a:pPr>
            <a:endParaRPr lang="zh-CN" altLang="en-US" sz="1400" b="1" dirty="0">
              <a:solidFill>
                <a:schemeClr val="accent2"/>
              </a:solidFill>
              <a:latin typeface="Times New Roman" panose="02020603050405020304" pitchFamily="2" charset="0"/>
              <a:ea typeface="宋体" panose="02010600030101010101" pitchFamily="2" charset="-122"/>
              <a:sym typeface="Symbol" panose="05050102010706020507" pitchFamily="2" charset="2"/>
            </a:endParaRPr>
          </a:p>
          <a:p>
            <a:pPr marL="742950" lvl="1" indent="-285750">
              <a:lnSpc>
                <a:spcPct val="120000"/>
              </a:lnSpc>
              <a:spcBef>
                <a:spcPct val="20000"/>
              </a:spcBef>
              <a:buFont typeface="Wingdings" panose="05000000000000000000" pitchFamily="2" charset="2"/>
              <a:buChar char="§"/>
            </a:pPr>
            <a:r>
              <a:rPr lang="zh-CN" altLang="en-US" sz="2800" b="1" dirty="0">
                <a:solidFill>
                  <a:schemeClr val="accent2"/>
                </a:solidFill>
                <a:latin typeface="Times New Roman" panose="02020603050405020304" pitchFamily="2" charset="0"/>
                <a:ea typeface="宋体" panose="02010600030101010101" pitchFamily="2" charset="-122"/>
                <a:sym typeface="Symbol" panose="05050102010706020507" pitchFamily="2" charset="2"/>
              </a:rPr>
              <a:t>由(1)及</a:t>
            </a:r>
            <a:r>
              <a:rPr lang="en-US" altLang="x-none" sz="2800" b="1" dirty="0">
                <a:solidFill>
                  <a:schemeClr val="accent2"/>
                </a:solidFill>
                <a:latin typeface="Times New Roman" panose="02020603050405020304" pitchFamily="2" charset="0"/>
                <a:ea typeface="宋体" panose="02010600030101010101" pitchFamily="2" charset="-122"/>
              </a:rPr>
              <a:t>X</a:t>
            </a:r>
            <a:r>
              <a:rPr lang="en-US" altLang="x-none" sz="2800" b="1" dirty="0">
                <a:solidFill>
                  <a:schemeClr val="accent2"/>
                </a:solidFill>
                <a:latin typeface="宋体" panose="02010600030101010101" pitchFamily="2" charset="-122"/>
                <a:ea typeface="宋体" panose="02010600030101010101" pitchFamily="2" charset="-122"/>
              </a:rPr>
              <a:t>→</a:t>
            </a:r>
            <a:r>
              <a:rPr lang="en-US" altLang="x-none" sz="2800" b="1" dirty="0">
                <a:solidFill>
                  <a:schemeClr val="accent2"/>
                </a:solidFill>
                <a:latin typeface="Times New Roman" panose="02020603050405020304" pitchFamily="2" charset="0"/>
                <a:ea typeface="宋体" panose="02010600030101010101" pitchFamily="2" charset="-122"/>
              </a:rPr>
              <a:t>Y</a:t>
            </a:r>
            <a:r>
              <a:rPr lang="zh-CN" altLang="en-US" sz="2800" b="1" dirty="0">
                <a:solidFill>
                  <a:schemeClr val="accent2"/>
                </a:solidFill>
                <a:latin typeface="Times New Roman" panose="02020603050405020304" pitchFamily="2" charset="0"/>
                <a:ea typeface="宋体" panose="02010600030101010101" pitchFamily="2" charset="-122"/>
              </a:rPr>
              <a:t>得：</a:t>
            </a:r>
            <a:r>
              <a:rPr lang="zh-CN" altLang="en-US" sz="2800" b="1" dirty="0">
                <a:solidFill>
                  <a:srgbClr val="FF0000"/>
                </a:solidFill>
                <a:latin typeface="Times New Roman" panose="02020603050405020304" pitchFamily="2" charset="0"/>
                <a:ea typeface="宋体" panose="02010600030101010101" pitchFamily="2" charset="-122"/>
              </a:rPr>
              <a:t> </a:t>
            </a:r>
            <a:r>
              <a:rPr lang="en-US" altLang="x-none" sz="2800" b="1" dirty="0">
                <a:solidFill>
                  <a:schemeClr val="accent2"/>
                </a:solidFill>
                <a:latin typeface="Times New Roman" panose="02020603050405020304" pitchFamily="2" charset="0"/>
                <a:ea typeface="宋体" panose="02010600030101010101" pitchFamily="2" charset="-122"/>
              </a:rPr>
              <a:t>t</a:t>
            </a:r>
            <a:r>
              <a:rPr lang="en-US" altLang="x-none" sz="2800" b="1" baseline="-25000" dirty="0">
                <a:solidFill>
                  <a:schemeClr val="accent2"/>
                </a:solidFill>
                <a:latin typeface="Times New Roman" panose="02020603050405020304" pitchFamily="2" charset="0"/>
                <a:ea typeface="宋体" panose="02010600030101010101" pitchFamily="2" charset="-122"/>
              </a:rPr>
              <a:t>1</a:t>
            </a:r>
            <a:r>
              <a:rPr lang="en-US" altLang="x-none" sz="2800" b="1" dirty="0">
                <a:solidFill>
                  <a:schemeClr val="accent2"/>
                </a:solidFill>
                <a:latin typeface="Times New Roman" panose="02020603050405020304" pitchFamily="2" charset="0"/>
                <a:ea typeface="宋体" panose="02010600030101010101" pitchFamily="2" charset="-122"/>
                <a:sym typeface="Symbol" panose="05050102010706020507" pitchFamily="2" charset="2"/>
              </a:rPr>
              <a:t>[Y] = </a:t>
            </a:r>
            <a:r>
              <a:rPr lang="en-US" altLang="x-none" sz="2800" b="1" dirty="0">
                <a:solidFill>
                  <a:schemeClr val="accent2"/>
                </a:solidFill>
                <a:latin typeface="Times New Roman" panose="02020603050405020304" pitchFamily="2" charset="0"/>
                <a:ea typeface="宋体" panose="02010600030101010101" pitchFamily="2" charset="-122"/>
              </a:rPr>
              <a:t>t</a:t>
            </a:r>
            <a:r>
              <a:rPr lang="en-US" altLang="x-none" sz="2800" b="1" baseline="-25000" dirty="0">
                <a:solidFill>
                  <a:schemeClr val="accent2"/>
                </a:solidFill>
                <a:latin typeface="Times New Roman" panose="02020603050405020304" pitchFamily="2" charset="0"/>
                <a:ea typeface="宋体" panose="02010600030101010101" pitchFamily="2" charset="-122"/>
              </a:rPr>
              <a:t>2</a:t>
            </a:r>
            <a:r>
              <a:rPr lang="en-US" altLang="x-none" sz="2800" b="1" dirty="0">
                <a:solidFill>
                  <a:schemeClr val="accent2"/>
                </a:solidFill>
                <a:latin typeface="Times New Roman" panose="02020603050405020304" pitchFamily="2" charset="0"/>
                <a:ea typeface="宋体" panose="02010600030101010101" pitchFamily="2" charset="-122"/>
                <a:sym typeface="Symbol" panose="05050102010706020507" pitchFamily="2" charset="2"/>
              </a:rPr>
              <a:t>[Y] …………(3)</a:t>
            </a:r>
          </a:p>
          <a:p>
            <a:pPr marL="742950" lvl="1" indent="-285750">
              <a:lnSpc>
                <a:spcPct val="120000"/>
              </a:lnSpc>
              <a:spcBef>
                <a:spcPct val="20000"/>
              </a:spcBef>
              <a:buFont typeface="Wingdings" panose="05000000000000000000" pitchFamily="2" charset="2"/>
              <a:buChar char="§"/>
            </a:pPr>
            <a:endParaRPr lang="zh-CN" altLang="en-US" sz="1400" b="1" dirty="0">
              <a:solidFill>
                <a:schemeClr val="accent2"/>
              </a:solidFill>
              <a:latin typeface="Times New Roman" panose="02020603050405020304" pitchFamily="2" charset="0"/>
              <a:ea typeface="宋体" panose="02010600030101010101" pitchFamily="2" charset="-122"/>
              <a:sym typeface="Symbol" panose="05050102010706020507" pitchFamily="2" charset="2"/>
            </a:endParaRPr>
          </a:p>
          <a:p>
            <a:pPr marL="742950" lvl="1" indent="-285750">
              <a:lnSpc>
                <a:spcPct val="120000"/>
              </a:lnSpc>
              <a:spcBef>
                <a:spcPct val="20000"/>
              </a:spcBef>
              <a:buFont typeface="Wingdings" panose="05000000000000000000" pitchFamily="2" charset="2"/>
              <a:buChar char="§"/>
            </a:pPr>
            <a:r>
              <a:rPr lang="zh-CN" altLang="en-US" sz="2800" b="1" dirty="0">
                <a:solidFill>
                  <a:schemeClr val="accent2"/>
                </a:solidFill>
                <a:latin typeface="Times New Roman" panose="02020603050405020304" pitchFamily="2" charset="0"/>
                <a:ea typeface="宋体" panose="02010600030101010101" pitchFamily="2" charset="-122"/>
                <a:sym typeface="Symbol" panose="05050102010706020507" pitchFamily="2" charset="2"/>
              </a:rPr>
              <a:t>由(2)及(3)得：</a:t>
            </a:r>
            <a:r>
              <a:rPr lang="en-US" altLang="x-none" sz="2800" b="1" dirty="0">
                <a:solidFill>
                  <a:schemeClr val="accent2"/>
                </a:solidFill>
                <a:latin typeface="Times New Roman" panose="02020603050405020304" pitchFamily="2" charset="0"/>
                <a:ea typeface="宋体" panose="02010600030101010101" pitchFamily="2" charset="-122"/>
              </a:rPr>
              <a:t>t</a:t>
            </a:r>
            <a:r>
              <a:rPr lang="en-US" altLang="x-none" sz="2800" b="1" baseline="-25000" dirty="0">
                <a:solidFill>
                  <a:schemeClr val="accent2"/>
                </a:solidFill>
                <a:latin typeface="Times New Roman" panose="02020603050405020304" pitchFamily="2" charset="0"/>
                <a:ea typeface="宋体" panose="02010600030101010101" pitchFamily="2" charset="-122"/>
              </a:rPr>
              <a:t>1</a:t>
            </a:r>
            <a:r>
              <a:rPr lang="en-US" altLang="x-none" sz="2800" b="1" dirty="0">
                <a:solidFill>
                  <a:schemeClr val="accent2"/>
                </a:solidFill>
                <a:latin typeface="Times New Roman" panose="02020603050405020304" pitchFamily="2" charset="0"/>
                <a:ea typeface="宋体" panose="02010600030101010101" pitchFamily="2" charset="-122"/>
                <a:sym typeface="Symbol" panose="05050102010706020507" pitchFamily="2" charset="2"/>
              </a:rPr>
              <a:t>[YZ] = </a:t>
            </a:r>
            <a:r>
              <a:rPr lang="en-US" altLang="x-none" sz="2800" b="1" dirty="0">
                <a:solidFill>
                  <a:schemeClr val="accent2"/>
                </a:solidFill>
                <a:latin typeface="Times New Roman" panose="02020603050405020304" pitchFamily="2" charset="0"/>
                <a:ea typeface="宋体" panose="02010600030101010101" pitchFamily="2" charset="-122"/>
              </a:rPr>
              <a:t>t</a:t>
            </a:r>
            <a:r>
              <a:rPr lang="en-US" altLang="x-none" sz="2800" b="1" baseline="-25000" dirty="0">
                <a:solidFill>
                  <a:schemeClr val="accent2"/>
                </a:solidFill>
                <a:latin typeface="Times New Roman" panose="02020603050405020304" pitchFamily="2" charset="0"/>
                <a:ea typeface="宋体" panose="02010600030101010101" pitchFamily="2" charset="-122"/>
              </a:rPr>
              <a:t>2</a:t>
            </a:r>
            <a:r>
              <a:rPr lang="en-US" altLang="x-none" sz="2800" b="1" dirty="0">
                <a:solidFill>
                  <a:schemeClr val="accent2"/>
                </a:solidFill>
                <a:latin typeface="Times New Roman" panose="02020603050405020304" pitchFamily="2" charset="0"/>
                <a:ea typeface="宋体" panose="02010600030101010101" pitchFamily="2" charset="-122"/>
                <a:sym typeface="Symbol" panose="05050102010706020507" pitchFamily="2" charset="2"/>
              </a:rPr>
              <a:t>[YZ]</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9575">
                                            <p:bg/>
                                          </p:spTgt>
                                        </p:tgtEl>
                                        <p:attrNameLst>
                                          <p:attrName>style.visibility</p:attrName>
                                        </p:attrNameLst>
                                      </p:cBhvr>
                                      <p:to>
                                        <p:strVal val="visible"/>
                                      </p:to>
                                    </p:set>
                                    <p:animEffect transition="in" filter="blinds(horizontal)">
                                      <p:cBhvr>
                                        <p:cTn id="7" dur="500"/>
                                        <p:tgtEl>
                                          <p:spTgt spid="109575">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9575">
                                            <p:txEl>
                                              <p:pRg st="0" end="0"/>
                                            </p:txEl>
                                          </p:spTgt>
                                        </p:tgtEl>
                                        <p:attrNameLst>
                                          <p:attrName>style.visibility</p:attrName>
                                        </p:attrNameLst>
                                      </p:cBhvr>
                                      <p:to>
                                        <p:strVal val="visible"/>
                                      </p:to>
                                    </p:set>
                                    <p:animEffect transition="in" filter="blinds(horizontal)">
                                      <p:cBhvr>
                                        <p:cTn id="12" dur="500"/>
                                        <p:tgtEl>
                                          <p:spTgt spid="10957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9575">
                                            <p:txEl>
                                              <p:pRg st="1" end="1"/>
                                            </p:txEl>
                                          </p:spTgt>
                                        </p:tgtEl>
                                        <p:attrNameLst>
                                          <p:attrName>style.visibility</p:attrName>
                                        </p:attrNameLst>
                                      </p:cBhvr>
                                      <p:to>
                                        <p:strVal val="visible"/>
                                      </p:to>
                                    </p:set>
                                    <p:animEffect transition="in" filter="blinds(horizontal)">
                                      <p:cBhvr>
                                        <p:cTn id="17" dur="500"/>
                                        <p:tgtEl>
                                          <p:spTgt spid="109575">
                                            <p:txEl>
                                              <p:pRg st="1" end="1"/>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109575">
                                            <p:txEl>
                                              <p:pRg st="2" end="2"/>
                                            </p:txEl>
                                          </p:spTgt>
                                        </p:tgtEl>
                                        <p:attrNameLst>
                                          <p:attrName>style.visibility</p:attrName>
                                        </p:attrNameLst>
                                      </p:cBhvr>
                                      <p:to>
                                        <p:strVal val="visible"/>
                                      </p:to>
                                    </p:set>
                                    <p:animEffect transition="in" filter="blinds(horizontal)">
                                      <p:cBhvr>
                                        <p:cTn id="20" dur="500"/>
                                        <p:tgtEl>
                                          <p:spTgt spid="109575">
                                            <p:txEl>
                                              <p:pRg st="2" end="2"/>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09575">
                                            <p:txEl>
                                              <p:pRg st="3" end="3"/>
                                            </p:txEl>
                                          </p:spTgt>
                                        </p:tgtEl>
                                        <p:attrNameLst>
                                          <p:attrName>style.visibility</p:attrName>
                                        </p:attrNameLst>
                                      </p:cBhvr>
                                      <p:to>
                                        <p:strVal val="visible"/>
                                      </p:to>
                                    </p:set>
                                    <p:animEffect transition="in" filter="blinds(horizontal)">
                                      <p:cBhvr>
                                        <p:cTn id="23" dur="500"/>
                                        <p:tgtEl>
                                          <p:spTgt spid="109575">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09575">
                                            <p:txEl>
                                              <p:pRg st="5" end="5"/>
                                            </p:txEl>
                                          </p:spTgt>
                                        </p:tgtEl>
                                        <p:attrNameLst>
                                          <p:attrName>style.visibility</p:attrName>
                                        </p:attrNameLst>
                                      </p:cBhvr>
                                      <p:to>
                                        <p:strVal val="visible"/>
                                      </p:to>
                                    </p:set>
                                    <p:animEffect transition="in" filter="blinds(horizontal)">
                                      <p:cBhvr>
                                        <p:cTn id="28" dur="500"/>
                                        <p:tgtEl>
                                          <p:spTgt spid="109575">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09575">
                                            <p:txEl>
                                              <p:pRg st="7" end="7"/>
                                            </p:txEl>
                                          </p:spTgt>
                                        </p:tgtEl>
                                        <p:attrNameLst>
                                          <p:attrName>style.visibility</p:attrName>
                                        </p:attrNameLst>
                                      </p:cBhvr>
                                      <p:to>
                                        <p:strVal val="visible"/>
                                      </p:to>
                                    </p:set>
                                    <p:animEffect transition="in" filter="blinds(horizontal)">
                                      <p:cBhvr>
                                        <p:cTn id="33" dur="500"/>
                                        <p:tgtEl>
                                          <p:spTgt spid="10957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5" grpId="0" build="p" bldLvl="2"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10594"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10595"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35</a:t>
            </a:fld>
            <a:endParaRPr lang="zh-CN" altLang="en-US" sz="1200" b="1" i="1" dirty="0">
              <a:latin typeface="Times New Roman" panose="02020603050405020304" pitchFamily="2" charset="0"/>
              <a:ea typeface="宋体" panose="02010600030101010101" pitchFamily="2" charset="-122"/>
            </a:endParaRPr>
          </a:p>
        </p:txBody>
      </p:sp>
      <p:sp>
        <p:nvSpPr>
          <p:cNvPr id="110596"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6.6 </a:t>
            </a:r>
            <a:r>
              <a:rPr lang="en-US" altLang="x-none" dirty="0">
                <a:ea typeface="宋体" panose="02010600030101010101" pitchFamily="2" charset="-122"/>
              </a:rPr>
              <a:t>Functional Dependencies</a:t>
            </a:r>
          </a:p>
        </p:txBody>
      </p:sp>
      <p:sp>
        <p:nvSpPr>
          <p:cNvPr id="110597" name="Rectangle 3"/>
          <p:cNvSpPr>
            <a:spLocks noGrp="1"/>
          </p:cNvSpPr>
          <p:nvPr>
            <p:ph type="body"/>
          </p:nvPr>
        </p:nvSpPr>
        <p:spPr>
          <a:xfrm>
            <a:off x="107950" y="838200"/>
            <a:ext cx="9035415" cy="5638800"/>
          </a:xfrm>
        </p:spPr>
        <p:txBody>
          <a:bodyPr wrap="square" anchor="t"/>
          <a:lstStyle/>
          <a:p>
            <a:pPr lvl="0" eaLnBrk="1" hangingPunct="1"/>
            <a:r>
              <a:rPr lang="en-US" altLang="x-none" sz="2400" dirty="0">
                <a:ea typeface="宋体" panose="02010600030101010101" pitchFamily="2" charset="-122"/>
              </a:rPr>
              <a:t>Theorem 6.6.8 Some Implications of Armstrong’s (pg. 363)</a:t>
            </a:r>
          </a:p>
          <a:p>
            <a:pPr lvl="0" eaLnBrk="1" hangingPunct="1"/>
            <a:endParaRPr lang="en-US" altLang="x-none" sz="1200" dirty="0">
              <a:ea typeface="宋体" panose="02010600030101010101" pitchFamily="2" charset="-122"/>
            </a:endParaRPr>
          </a:p>
          <a:p>
            <a:pPr lvl="1" indent="-285750" eaLnBrk="1" hangingPunct="1"/>
            <a:r>
              <a:rPr lang="en-US" altLang="x-none" u="sng" dirty="0">
                <a:ea typeface="宋体" panose="02010600030101010101" pitchFamily="2" charset="-122"/>
              </a:rPr>
              <a:t>Rule 4</a:t>
            </a:r>
            <a:r>
              <a:rPr lang="en-US" altLang="x-none" dirty="0">
                <a:ea typeface="宋体" panose="02010600030101010101" pitchFamily="2" charset="-122"/>
              </a:rPr>
              <a:t>: Union Rule </a:t>
            </a:r>
            <a:r>
              <a:rPr lang="zh-CN" altLang="en-US" dirty="0">
                <a:ea typeface="宋体" panose="02010600030101010101" pitchFamily="2" charset="-122"/>
              </a:rPr>
              <a:t>（合并规则）</a:t>
            </a:r>
          </a:p>
          <a:p>
            <a:pPr lvl="2" indent="-228600" eaLnBrk="1" hangingPunct="1">
              <a:buNone/>
            </a:pPr>
            <a:r>
              <a:rPr lang="en-US" altLang="x-none" dirty="0">
                <a:ea typeface="宋体" panose="02010600030101010101" pitchFamily="2" charset="-122"/>
              </a:rPr>
              <a:t>If X → Y and X → Z </a:t>
            </a:r>
            <a:r>
              <a:rPr lang="zh-CN" altLang="en-US" dirty="0">
                <a:ea typeface="宋体" panose="02010600030101010101" pitchFamily="2" charset="-122"/>
              </a:rPr>
              <a:t>，</a:t>
            </a:r>
            <a:r>
              <a:rPr lang="en-US" altLang="x-none" dirty="0">
                <a:ea typeface="宋体" panose="02010600030101010101" pitchFamily="2" charset="-122"/>
              </a:rPr>
              <a:t>then  X → YZ</a:t>
            </a:r>
          </a:p>
          <a:p>
            <a:pPr lvl="1" indent="-285750" eaLnBrk="1" hangingPunct="1">
              <a:lnSpc>
                <a:spcPct val="100000"/>
              </a:lnSpc>
              <a:spcBef>
                <a:spcPts val="1200"/>
              </a:spcBef>
              <a:spcAft>
                <a:spcPts val="0"/>
              </a:spcAft>
            </a:pPr>
            <a:r>
              <a:rPr lang="en-US" altLang="x-none" u="sng" dirty="0">
                <a:ea typeface="宋体" panose="02010600030101010101" pitchFamily="2" charset="-122"/>
              </a:rPr>
              <a:t>Rule 5</a:t>
            </a:r>
            <a:r>
              <a:rPr lang="en-US" altLang="x-none" dirty="0">
                <a:ea typeface="宋体" panose="02010600030101010101" pitchFamily="2" charset="-122"/>
              </a:rPr>
              <a:t>: Decomposition Rule </a:t>
            </a:r>
            <a:r>
              <a:rPr lang="zh-CN" altLang="en-US" dirty="0">
                <a:ea typeface="宋体" panose="02010600030101010101" pitchFamily="2" charset="-122"/>
              </a:rPr>
              <a:t>（分解规则）</a:t>
            </a:r>
          </a:p>
          <a:p>
            <a:pPr lvl="2" indent="-228600" eaLnBrk="1" hangingPunct="1">
              <a:buNone/>
            </a:pPr>
            <a:r>
              <a:rPr lang="en-US" altLang="x-none" dirty="0">
                <a:ea typeface="宋体" panose="02010600030101010101" pitchFamily="2" charset="-122"/>
              </a:rPr>
              <a:t>If X → YZ，then X → Y</a:t>
            </a:r>
            <a:r>
              <a:rPr lang="zh-CN" altLang="en-US" dirty="0">
                <a:ea typeface="宋体" panose="02010600030101010101" pitchFamily="2" charset="-122"/>
              </a:rPr>
              <a:t>，</a:t>
            </a:r>
            <a:r>
              <a:rPr lang="en-US" altLang="x-none" dirty="0">
                <a:ea typeface="宋体" panose="02010600030101010101" pitchFamily="2" charset="-122"/>
              </a:rPr>
              <a:t>and  X → Z</a:t>
            </a:r>
          </a:p>
          <a:p>
            <a:pPr lvl="2" indent="-228600" eaLnBrk="1" hangingPunct="1">
              <a:buNone/>
            </a:pPr>
            <a:endParaRPr lang="en-US" altLang="x-none" sz="1400" dirty="0">
              <a:ea typeface="宋体" panose="02010600030101010101" pitchFamily="2" charset="-122"/>
            </a:endParaRPr>
          </a:p>
          <a:p>
            <a:pPr lvl="1" indent="-285750" eaLnBrk="1" hangingPunct="1"/>
            <a:r>
              <a:rPr lang="en-US" altLang="x-none" u="sng" dirty="0">
                <a:ea typeface="宋体" panose="02010600030101010101" pitchFamily="2" charset="-122"/>
              </a:rPr>
              <a:t>Rule 6</a:t>
            </a:r>
            <a:r>
              <a:rPr lang="en-US" altLang="x-none" dirty="0">
                <a:ea typeface="宋体" panose="02010600030101010101" pitchFamily="2" charset="-122"/>
              </a:rPr>
              <a:t>: Pseudotransitivity Rule </a:t>
            </a:r>
            <a:r>
              <a:rPr lang="zh-CN" altLang="en-US" dirty="0">
                <a:ea typeface="宋体" panose="02010600030101010101" pitchFamily="2" charset="-122"/>
              </a:rPr>
              <a:t>（伪传递规则）</a:t>
            </a:r>
          </a:p>
          <a:p>
            <a:pPr lvl="2" indent="-228600" eaLnBrk="1" hangingPunct="1">
              <a:buNone/>
            </a:pPr>
            <a:r>
              <a:rPr lang="en-US" altLang="x-none" dirty="0">
                <a:ea typeface="宋体" panose="02010600030101010101" pitchFamily="2" charset="-122"/>
              </a:rPr>
              <a:t>If X → Y，and WY → Z，then  XW → Z</a:t>
            </a:r>
          </a:p>
          <a:p>
            <a:pPr lvl="1" indent="-285750" eaLnBrk="1" hangingPunct="1"/>
            <a:r>
              <a:rPr lang="en-US" altLang="x-none" u="sng" dirty="0">
                <a:ea typeface="宋体" panose="02010600030101010101" pitchFamily="2" charset="-122"/>
              </a:rPr>
              <a:t>Rule 7</a:t>
            </a:r>
            <a:r>
              <a:rPr lang="en-US" altLang="x-none" dirty="0">
                <a:ea typeface="宋体" panose="02010600030101010101" pitchFamily="2" charset="-122"/>
              </a:rPr>
              <a:t>: Set accumulation rule </a:t>
            </a:r>
            <a:r>
              <a:rPr lang="zh-CN" altLang="en-US" dirty="0">
                <a:ea typeface="宋体" panose="02010600030101010101" pitchFamily="2" charset="-122"/>
              </a:rPr>
              <a:t>（聚积规则）</a:t>
            </a:r>
          </a:p>
          <a:p>
            <a:pPr lvl="2" indent="-228600" eaLnBrk="1" hangingPunct="1">
              <a:buNone/>
            </a:pPr>
            <a:r>
              <a:rPr lang="en-US" altLang="x-none" dirty="0">
                <a:ea typeface="宋体" panose="02010600030101010101" pitchFamily="2" charset="-122"/>
              </a:rPr>
              <a:t>If X → YZ and Z → W，then X → YZW </a:t>
            </a:r>
          </a:p>
        </p:txBody>
      </p:sp>
      <p:sp>
        <p:nvSpPr>
          <p:cNvPr id="3" name="圆角矩形 2"/>
          <p:cNvSpPr/>
          <p:nvPr/>
        </p:nvSpPr>
        <p:spPr>
          <a:xfrm>
            <a:off x="467360" y="1483995"/>
            <a:ext cx="8208645" cy="2160270"/>
          </a:xfrm>
          <a:prstGeom prst="round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11618"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11619"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36</a:t>
            </a:fld>
            <a:endParaRPr lang="zh-CN" altLang="en-US" sz="1200" b="1" i="1" dirty="0">
              <a:latin typeface="Times New Roman" panose="02020603050405020304" pitchFamily="2" charset="0"/>
              <a:ea typeface="宋体" panose="02010600030101010101" pitchFamily="2" charset="-122"/>
            </a:endParaRPr>
          </a:p>
        </p:txBody>
      </p:sp>
      <p:sp>
        <p:nvSpPr>
          <p:cNvPr id="111620"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6.6 </a:t>
            </a:r>
            <a:r>
              <a:rPr lang="en-US" altLang="x-none" dirty="0">
                <a:ea typeface="宋体" panose="02010600030101010101" pitchFamily="2" charset="-122"/>
              </a:rPr>
              <a:t>Functional Dependencies</a:t>
            </a:r>
          </a:p>
        </p:txBody>
      </p:sp>
      <p:sp>
        <p:nvSpPr>
          <p:cNvPr id="111621" name="Rectangle 3"/>
          <p:cNvSpPr>
            <a:spLocks noGrp="1"/>
          </p:cNvSpPr>
          <p:nvPr>
            <p:ph type="body"/>
          </p:nvPr>
        </p:nvSpPr>
        <p:spPr>
          <a:xfrm>
            <a:off x="143510" y="694055"/>
            <a:ext cx="8543290" cy="1125220"/>
          </a:xfrm>
        </p:spPr>
        <p:txBody>
          <a:bodyPr wrap="square" anchor="t"/>
          <a:lstStyle/>
          <a:p>
            <a:pPr marL="457200" lvl="0" indent="-457200" eaLnBrk="1" hangingPunct="1">
              <a:lnSpc>
                <a:spcPct val="90000"/>
              </a:lnSpc>
            </a:pPr>
            <a:r>
              <a:rPr lang="en-US" altLang="x-none" sz="3200" dirty="0">
                <a:ea typeface="宋体" panose="02010600030101010101" pitchFamily="2" charset="-122"/>
              </a:rPr>
              <a:t>Rule 4: Union Rule</a:t>
            </a:r>
          </a:p>
          <a:p>
            <a:pPr marL="1371600" lvl="2" indent="-457200" eaLnBrk="1" hangingPunct="1">
              <a:lnSpc>
                <a:spcPct val="90000"/>
              </a:lnSpc>
              <a:buNone/>
            </a:pPr>
            <a:r>
              <a:rPr lang="en-US" altLang="x-none" sz="3200" dirty="0">
                <a:ea typeface="宋体" panose="02010600030101010101" pitchFamily="2" charset="-122"/>
              </a:rPr>
              <a:t>If X → Y and X → Z </a:t>
            </a:r>
            <a:r>
              <a:rPr lang="zh-CN" altLang="en-US" sz="3200" dirty="0">
                <a:ea typeface="宋体" panose="02010600030101010101" pitchFamily="2" charset="-122"/>
              </a:rPr>
              <a:t>，</a:t>
            </a:r>
            <a:r>
              <a:rPr lang="en-US" altLang="x-none" sz="3200" dirty="0">
                <a:ea typeface="宋体" panose="02010600030101010101" pitchFamily="2" charset="-122"/>
              </a:rPr>
              <a:t>then  X → YZ</a:t>
            </a:r>
          </a:p>
        </p:txBody>
      </p:sp>
      <p:sp>
        <p:nvSpPr>
          <p:cNvPr id="111623" name="Rectangle 4"/>
          <p:cNvSpPr/>
          <p:nvPr/>
        </p:nvSpPr>
        <p:spPr>
          <a:xfrm>
            <a:off x="142875" y="1981200"/>
            <a:ext cx="8893175" cy="518160"/>
          </a:xfrm>
          <a:prstGeom prst="rect">
            <a:avLst/>
          </a:prstGeom>
          <a:noFill/>
          <a:ln w="9525">
            <a:noFill/>
          </a:ln>
        </p:spPr>
        <p:txBody>
          <a:bodyPr anchor="t">
            <a:spAutoFit/>
          </a:bodyPr>
          <a:lstStyle/>
          <a:p>
            <a:pPr marL="457200" lvl="0" indent="-457200">
              <a:spcBef>
                <a:spcPct val="20000"/>
              </a:spcBef>
              <a:buClr>
                <a:schemeClr val="tx1"/>
              </a:buClr>
              <a:buFont typeface="Wingdings" panose="05000000000000000000" pitchFamily="2" charset="2"/>
              <a:buChar char="q"/>
            </a:pPr>
            <a:r>
              <a:rPr lang="en-US" altLang="x-none" sz="2800" b="1" dirty="0">
                <a:solidFill>
                  <a:srgbClr val="FF0000"/>
                </a:solidFill>
                <a:latin typeface="Arial" panose="020B0604020202020204" pitchFamily="34" charset="0"/>
                <a:ea typeface="宋体" panose="02010600030101010101" pitchFamily="2" charset="-122"/>
              </a:rPr>
              <a:t>Proof: </a:t>
            </a:r>
            <a:endParaRPr lang="en-US" altLang="x-none" sz="2800" b="1" dirty="0">
              <a:solidFill>
                <a:schemeClr val="accent2"/>
              </a:solidFill>
              <a:latin typeface="Arial" panose="020B0604020202020204" pitchFamily="34" charset="0"/>
              <a:ea typeface="宋体" panose="02010600030101010101" pitchFamily="2" charset="-122"/>
            </a:endParaRPr>
          </a:p>
        </p:txBody>
      </p:sp>
      <p:graphicFrame>
        <p:nvGraphicFramePr>
          <p:cNvPr id="2" name="对象 1">
            <a:hlinkClick r:id="" action="ppaction://ole?verb=0"/>
          </p:cNvPr>
          <p:cNvGraphicFramePr>
            <a:graphicFrameLocks noChangeAspect="1"/>
          </p:cNvGraphicFramePr>
          <p:nvPr/>
        </p:nvGraphicFramePr>
        <p:xfrm>
          <a:off x="216000" y="2736000"/>
          <a:ext cx="1931969" cy="540000"/>
        </p:xfrm>
        <a:graphic>
          <a:graphicData uri="http://schemas.openxmlformats.org/presentationml/2006/ole">
            <mc:AlternateContent xmlns:mc="http://schemas.openxmlformats.org/markup-compatibility/2006">
              <mc:Choice xmlns:v="urn:schemas-microsoft-com:vml" Requires="v">
                <p:oleObj spid="_x0000_s1062" r:id="rId3" imgW="545465" imgH="152400" progId="Equation.KSEE3">
                  <p:embed/>
                </p:oleObj>
              </mc:Choice>
              <mc:Fallback>
                <p:oleObj r:id="rId3" imgW="545465" imgH="152400" progId="Equation.KSEE3">
                  <p:embed/>
                  <p:pic>
                    <p:nvPicPr>
                      <p:cNvPr id="0" name="图片 1024"/>
                      <p:cNvPicPr/>
                      <p:nvPr/>
                    </p:nvPicPr>
                    <p:blipFill>
                      <a:blip r:embed="rId4"/>
                      <a:stretch>
                        <a:fillRect/>
                      </a:stretch>
                    </p:blipFill>
                    <p:spPr>
                      <a:xfrm>
                        <a:off x="216000" y="2736000"/>
                        <a:ext cx="1931969" cy="540000"/>
                      </a:xfrm>
                      <a:prstGeom prst="rect">
                        <a:avLst/>
                      </a:prstGeom>
                    </p:spPr>
                  </p:pic>
                </p:oleObj>
              </mc:Fallback>
            </mc:AlternateContent>
          </a:graphicData>
        </a:graphic>
      </p:graphicFrame>
      <p:sp>
        <p:nvSpPr>
          <p:cNvPr id="3" name="右箭头 2"/>
          <p:cNvSpPr/>
          <p:nvPr/>
        </p:nvSpPr>
        <p:spPr>
          <a:xfrm>
            <a:off x="2243455" y="2628245"/>
            <a:ext cx="1980000" cy="700880"/>
          </a:xfrm>
          <a:prstGeom prst="rightArrow">
            <a:avLst/>
          </a:prstGeom>
          <a:noFill/>
          <a:ln w="12700" cmpd="sng">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lIns="0" tIns="36195" rIns="0" bIns="36195" rtlCol="0" anchor="ctr">
            <a:spAutoFit/>
          </a:bodyPr>
          <a:lstStyle/>
          <a:p>
            <a:pPr algn="ctr"/>
            <a:r>
              <a:rPr lang="en-US" altLang="zh-CN" sz="2000">
                <a:solidFill>
                  <a:srgbClr val="FF0000"/>
                </a:solidFill>
              </a:rPr>
              <a:t>Augmentation</a:t>
            </a:r>
          </a:p>
        </p:txBody>
      </p:sp>
      <p:graphicFrame>
        <p:nvGraphicFramePr>
          <p:cNvPr id="4" name="对象 3">
            <a:hlinkClick r:id="" action="ppaction://ole?verb=0"/>
          </p:cNvPr>
          <p:cNvGraphicFramePr>
            <a:graphicFrameLocks noChangeAspect="1"/>
          </p:cNvGraphicFramePr>
          <p:nvPr/>
        </p:nvGraphicFramePr>
        <p:xfrm>
          <a:off x="4390297" y="2700000"/>
          <a:ext cx="2115185" cy="539750"/>
        </p:xfrm>
        <a:graphic>
          <a:graphicData uri="http://schemas.openxmlformats.org/presentationml/2006/ole">
            <mc:AlternateContent xmlns:mc="http://schemas.openxmlformats.org/markup-compatibility/2006">
              <mc:Choice xmlns:v="urn:schemas-microsoft-com:vml" Requires="v">
                <p:oleObj spid="_x0000_s1063" r:id="rId5" imgW="596900" imgH="152400" progId="Equation.KSEE3">
                  <p:embed/>
                </p:oleObj>
              </mc:Choice>
              <mc:Fallback>
                <p:oleObj r:id="rId5" imgW="596900" imgH="152400" progId="Equation.KSEE3">
                  <p:embed/>
                  <p:pic>
                    <p:nvPicPr>
                      <p:cNvPr id="0" name="图片 1025"/>
                      <p:cNvPicPr/>
                      <p:nvPr/>
                    </p:nvPicPr>
                    <p:blipFill>
                      <a:blip r:embed="rId6"/>
                      <a:stretch>
                        <a:fillRect/>
                      </a:stretch>
                    </p:blipFill>
                    <p:spPr>
                      <a:xfrm>
                        <a:off x="4390297" y="2700000"/>
                        <a:ext cx="2115185" cy="539750"/>
                      </a:xfrm>
                      <a:prstGeom prst="rect">
                        <a:avLst/>
                      </a:prstGeom>
                    </p:spPr>
                  </p:pic>
                </p:oleObj>
              </mc:Fallback>
            </mc:AlternateContent>
          </a:graphicData>
        </a:graphic>
      </p:graphicFrame>
      <p:sp>
        <p:nvSpPr>
          <p:cNvPr id="5" name="右箭头 4"/>
          <p:cNvSpPr/>
          <p:nvPr/>
        </p:nvSpPr>
        <p:spPr>
          <a:xfrm>
            <a:off x="2200275" y="3528245"/>
            <a:ext cx="1980000" cy="700880"/>
          </a:xfrm>
          <a:prstGeom prst="rightArrow">
            <a:avLst/>
          </a:prstGeom>
          <a:noFill/>
          <a:ln w="12700" cmpd="sng">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lIns="0" tIns="36195" rIns="0" bIns="36195" rtlCol="0" anchor="ctr">
            <a:spAutoFit/>
          </a:bodyPr>
          <a:lstStyle/>
          <a:p>
            <a:pPr algn="ctr"/>
            <a:r>
              <a:rPr lang="en-US" altLang="zh-CN" sz="2000">
                <a:solidFill>
                  <a:srgbClr val="FF0000"/>
                </a:solidFill>
              </a:rPr>
              <a:t>Augmentation</a:t>
            </a:r>
          </a:p>
        </p:txBody>
      </p:sp>
      <p:sp>
        <p:nvSpPr>
          <p:cNvPr id="6" name="右箭头 5"/>
          <p:cNvSpPr/>
          <p:nvPr/>
        </p:nvSpPr>
        <p:spPr>
          <a:xfrm>
            <a:off x="5124450" y="4428880"/>
            <a:ext cx="1548000" cy="754378"/>
          </a:xfrm>
          <a:prstGeom prst="rightArrow">
            <a:avLst/>
          </a:prstGeom>
          <a:noFill/>
          <a:ln w="12700" cmpd="sng">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lIns="0" tIns="36195" rIns="0" bIns="36195" rtlCol="0" anchor="ctr">
            <a:spAutoFit/>
          </a:bodyPr>
          <a:lstStyle/>
          <a:p>
            <a:pPr algn="ctr"/>
            <a:r>
              <a:rPr lang="en-US" altLang="zh-CN" sz="2000">
                <a:solidFill>
                  <a:srgbClr val="FF0000"/>
                </a:solidFill>
              </a:rPr>
              <a:t>Transitivity</a:t>
            </a:r>
          </a:p>
        </p:txBody>
      </p:sp>
      <p:graphicFrame>
        <p:nvGraphicFramePr>
          <p:cNvPr id="7" name="对象 6">
            <a:hlinkClick r:id="" action="ppaction://ole?verb=0"/>
          </p:cNvPr>
          <p:cNvGraphicFramePr>
            <a:graphicFrameLocks noChangeAspect="1"/>
          </p:cNvGraphicFramePr>
          <p:nvPr/>
        </p:nvGraphicFramePr>
        <p:xfrm>
          <a:off x="216000" y="3636000"/>
          <a:ext cx="1978834" cy="540000"/>
        </p:xfrm>
        <a:graphic>
          <a:graphicData uri="http://schemas.openxmlformats.org/presentationml/2006/ole">
            <mc:AlternateContent xmlns:mc="http://schemas.openxmlformats.org/markup-compatibility/2006">
              <mc:Choice xmlns:v="urn:schemas-microsoft-com:vml" Requires="v">
                <p:oleObj spid="_x0000_s1064" r:id="rId7" imgW="558800" imgH="152400" progId="Equation.KSEE3">
                  <p:embed/>
                </p:oleObj>
              </mc:Choice>
              <mc:Fallback>
                <p:oleObj r:id="rId7" imgW="558800" imgH="152400" progId="Equation.KSEE3">
                  <p:embed/>
                  <p:pic>
                    <p:nvPicPr>
                      <p:cNvPr id="0" name="图片 1024"/>
                      <p:cNvPicPr/>
                      <p:nvPr/>
                    </p:nvPicPr>
                    <p:blipFill>
                      <a:blip r:embed="rId8"/>
                      <a:stretch>
                        <a:fillRect/>
                      </a:stretch>
                    </p:blipFill>
                    <p:spPr>
                      <a:xfrm>
                        <a:off x="216000" y="3636000"/>
                        <a:ext cx="1978834" cy="540000"/>
                      </a:xfrm>
                      <a:prstGeom prst="rect">
                        <a:avLst/>
                      </a:prstGeom>
                    </p:spPr>
                  </p:pic>
                </p:oleObj>
              </mc:Fallback>
            </mc:AlternateContent>
          </a:graphicData>
        </a:graphic>
      </p:graphicFrame>
      <p:graphicFrame>
        <p:nvGraphicFramePr>
          <p:cNvPr id="9" name="对象 8">
            <a:hlinkClick r:id="" action="ppaction://ole?verb=0"/>
          </p:cNvPr>
          <p:cNvGraphicFramePr>
            <a:graphicFrameLocks noChangeAspect="1"/>
          </p:cNvGraphicFramePr>
          <p:nvPr/>
        </p:nvGraphicFramePr>
        <p:xfrm>
          <a:off x="4359500" y="3600000"/>
          <a:ext cx="1932940" cy="539750"/>
        </p:xfrm>
        <a:graphic>
          <a:graphicData uri="http://schemas.openxmlformats.org/presentationml/2006/ole">
            <mc:AlternateContent xmlns:mc="http://schemas.openxmlformats.org/markup-compatibility/2006">
              <mc:Choice xmlns:v="urn:schemas-microsoft-com:vml" Requires="v">
                <p:oleObj spid="_x0000_s1065" r:id="rId9" imgW="545465" imgH="152400" progId="Equation.KSEE3">
                  <p:embed/>
                </p:oleObj>
              </mc:Choice>
              <mc:Fallback>
                <p:oleObj r:id="rId9" imgW="545465" imgH="152400" progId="Equation.KSEE3">
                  <p:embed/>
                  <p:pic>
                    <p:nvPicPr>
                      <p:cNvPr id="0" name="图片 1025"/>
                      <p:cNvPicPr/>
                      <p:nvPr/>
                    </p:nvPicPr>
                    <p:blipFill>
                      <a:blip r:embed="rId10"/>
                      <a:stretch>
                        <a:fillRect/>
                      </a:stretch>
                    </p:blipFill>
                    <p:spPr>
                      <a:xfrm>
                        <a:off x="4359500" y="3600000"/>
                        <a:ext cx="1932940" cy="539750"/>
                      </a:xfrm>
                      <a:prstGeom prst="rect">
                        <a:avLst/>
                      </a:prstGeom>
                    </p:spPr>
                  </p:pic>
                </p:oleObj>
              </mc:Fallback>
            </mc:AlternateContent>
          </a:graphicData>
        </a:graphic>
      </p:graphicFrame>
      <p:graphicFrame>
        <p:nvGraphicFramePr>
          <p:cNvPr id="11" name="对象 10">
            <a:hlinkClick r:id="" action="ppaction://ole?verb=0"/>
          </p:cNvPr>
          <p:cNvGraphicFramePr>
            <a:graphicFrameLocks noChangeAspect="1"/>
          </p:cNvGraphicFramePr>
          <p:nvPr/>
        </p:nvGraphicFramePr>
        <p:xfrm>
          <a:off x="6505793" y="2663805"/>
          <a:ext cx="2396160" cy="576000"/>
        </p:xfrm>
        <a:graphic>
          <a:graphicData uri="http://schemas.openxmlformats.org/presentationml/2006/ole">
            <mc:AlternateContent xmlns:mc="http://schemas.openxmlformats.org/markup-compatibility/2006">
              <mc:Choice xmlns:v="urn:schemas-microsoft-com:vml" Requires="v">
                <p:oleObj spid="_x0000_s1066" r:id="rId11" imgW="685800" imgH="165100" progId="Equation.KSEE3">
                  <p:embed/>
                </p:oleObj>
              </mc:Choice>
              <mc:Fallback>
                <p:oleObj r:id="rId11" imgW="685800" imgH="165100" progId="Equation.KSEE3">
                  <p:embed/>
                  <p:pic>
                    <p:nvPicPr>
                      <p:cNvPr id="0" name="图片 1025"/>
                      <p:cNvPicPr/>
                      <p:nvPr/>
                    </p:nvPicPr>
                    <p:blipFill>
                      <a:blip r:embed="rId12"/>
                      <a:stretch>
                        <a:fillRect/>
                      </a:stretch>
                    </p:blipFill>
                    <p:spPr>
                      <a:xfrm>
                        <a:off x="6505793" y="2663805"/>
                        <a:ext cx="2396160" cy="576000"/>
                      </a:xfrm>
                      <a:prstGeom prst="rect">
                        <a:avLst/>
                      </a:prstGeom>
                    </p:spPr>
                  </p:pic>
                </p:oleObj>
              </mc:Fallback>
            </mc:AlternateContent>
          </a:graphicData>
        </a:graphic>
      </p:graphicFrame>
      <p:graphicFrame>
        <p:nvGraphicFramePr>
          <p:cNvPr id="13" name="对象 12">
            <a:hlinkClick r:id="" action="ppaction://ole?verb=0"/>
          </p:cNvPr>
          <p:cNvGraphicFramePr>
            <a:graphicFrameLocks noChangeAspect="1"/>
          </p:cNvGraphicFramePr>
          <p:nvPr/>
        </p:nvGraphicFramePr>
        <p:xfrm>
          <a:off x="216000" y="4500000"/>
          <a:ext cx="4698970" cy="540000"/>
        </p:xfrm>
        <a:graphic>
          <a:graphicData uri="http://schemas.openxmlformats.org/presentationml/2006/ole">
            <mc:AlternateContent xmlns:mc="http://schemas.openxmlformats.org/markup-compatibility/2006">
              <mc:Choice xmlns:v="urn:schemas-microsoft-com:vml" Requires="v">
                <p:oleObj spid="_x0000_s1067" r:id="rId13" imgW="1435100" imgH="165100" progId="Equation.KSEE3">
                  <p:embed/>
                </p:oleObj>
              </mc:Choice>
              <mc:Fallback>
                <p:oleObj r:id="rId13" imgW="1435100" imgH="165100" progId="Equation.KSEE3">
                  <p:embed/>
                  <p:pic>
                    <p:nvPicPr>
                      <p:cNvPr id="0" name="图片 1024"/>
                      <p:cNvPicPr/>
                      <p:nvPr/>
                    </p:nvPicPr>
                    <p:blipFill>
                      <a:blip r:embed="rId14"/>
                      <a:stretch>
                        <a:fillRect/>
                      </a:stretch>
                    </p:blipFill>
                    <p:spPr>
                      <a:xfrm>
                        <a:off x="216000" y="4500000"/>
                        <a:ext cx="4698970" cy="540000"/>
                      </a:xfrm>
                      <a:prstGeom prst="rect">
                        <a:avLst/>
                      </a:prstGeom>
                    </p:spPr>
                  </p:pic>
                </p:oleObj>
              </mc:Fallback>
            </mc:AlternateContent>
          </a:graphicData>
        </a:graphic>
      </p:graphicFrame>
      <p:graphicFrame>
        <p:nvGraphicFramePr>
          <p:cNvPr id="15" name="对象 14">
            <a:hlinkClick r:id="" action="ppaction://ole?verb=0"/>
          </p:cNvPr>
          <p:cNvGraphicFramePr>
            <a:graphicFrameLocks noChangeAspect="1"/>
          </p:cNvGraphicFramePr>
          <p:nvPr/>
        </p:nvGraphicFramePr>
        <p:xfrm>
          <a:off x="6822030" y="4500000"/>
          <a:ext cx="1710690" cy="539750"/>
        </p:xfrm>
        <a:graphic>
          <a:graphicData uri="http://schemas.openxmlformats.org/presentationml/2006/ole">
            <mc:AlternateContent xmlns:mc="http://schemas.openxmlformats.org/markup-compatibility/2006">
              <mc:Choice xmlns:v="urn:schemas-microsoft-com:vml" Requires="v">
                <p:oleObj spid="_x0000_s1068" r:id="rId15" imgW="482600" imgH="152400" progId="Equation.KSEE3">
                  <p:embed/>
                </p:oleObj>
              </mc:Choice>
              <mc:Fallback>
                <p:oleObj r:id="rId15" imgW="482600" imgH="152400" progId="Equation.KSEE3">
                  <p:embed/>
                  <p:pic>
                    <p:nvPicPr>
                      <p:cNvPr id="0" name="图片 1025"/>
                      <p:cNvPicPr/>
                      <p:nvPr/>
                    </p:nvPicPr>
                    <p:blipFill>
                      <a:blip r:embed="rId16"/>
                      <a:stretch>
                        <a:fillRect/>
                      </a:stretch>
                    </p:blipFill>
                    <p:spPr>
                      <a:xfrm>
                        <a:off x="6822030" y="4500000"/>
                        <a:ext cx="1710690" cy="53975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1623">
                                            <p:txEl>
                                              <p:pRg st="0" end="0"/>
                                            </p:txEl>
                                          </p:spTgt>
                                        </p:tgtEl>
                                        <p:attrNameLst>
                                          <p:attrName>style.visibility</p:attrName>
                                        </p:attrNameLst>
                                      </p:cBhvr>
                                      <p:to>
                                        <p:strVal val="visible"/>
                                      </p:to>
                                    </p:set>
                                    <p:animEffect transition="in" filter="blinds(horizontal)">
                                      <p:cBhvr>
                                        <p:cTn id="7" dur="500"/>
                                        <p:tgtEl>
                                          <p:spTgt spid="1116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8" fill="hold" nodeType="clickEffect">
                                  <p:stCondLst>
                                    <p:cond delay="0"/>
                                  </p:stCondLst>
                                  <p:childTnLst>
                                    <p:set>
                                      <p:cBhvr additive="base">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anim calcmode="lin" valueType="num">
                                      <p:cBhvr additive="base">
                                        <p:cTn id="14" dur="500" fill="hold"/>
                                        <p:tgtEl>
                                          <p:spTgt spid="2"/>
                                        </p:tgtEl>
                                        <p:attrNameLst>
                                          <p:attrName>ppt_w</p:attrName>
                                        </p:attrNameLst>
                                      </p:cBhvr>
                                      <p:tavLst>
                                        <p:tav tm="0">
                                          <p:val>
                                            <p:fltVal val="0"/>
                                          </p:val>
                                        </p:tav>
                                        <p:tav tm="100000">
                                          <p:val>
                                            <p:strVal val="#ppt_w"/>
                                          </p:val>
                                        </p:tav>
                                      </p:tavLst>
                                    </p:anim>
                                    <p:anim calcmode="lin" valueType="num">
                                      <p:cBhvr additive="base">
                                        <p:cTn id="15"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17" presetClass="entr" presetSubtype="8" fill="hold" grpId="0" nodeType="clickEffect">
                                  <p:stCondLst>
                                    <p:cond delay="0"/>
                                  </p:stCondLst>
                                  <p:childTnLst>
                                    <p:set>
                                      <p:cBhvr additive="base">
                                        <p:cTn id="19" dur="1" fill="hold">
                                          <p:stCondLst>
                                            <p:cond delay="0"/>
                                          </p:stCondLst>
                                        </p:cTn>
                                        <p:tgtEl>
                                          <p:spTgt spid="3"/>
                                        </p:tgtEl>
                                        <p:attrNameLst>
                                          <p:attrName>style.visibility</p:attrName>
                                        </p:attrNameLst>
                                      </p:cBhvr>
                                      <p:to>
                                        <p:strVal val="visible"/>
                                      </p:to>
                                    </p:set>
                                    <p:anim calcmode="lin" valueType="num">
                                      <p:cBhvr additive="base">
                                        <p:cTn id="20" dur="500" fill="hold"/>
                                        <p:tgtEl>
                                          <p:spTgt spid="3"/>
                                        </p:tgtEl>
                                        <p:attrNameLst>
                                          <p:attrName>ppt_x</p:attrName>
                                        </p:attrNameLst>
                                      </p:cBhvr>
                                      <p:tavLst>
                                        <p:tav tm="0">
                                          <p:val>
                                            <p:strVal val="#ppt_x-#ppt_w/2"/>
                                          </p:val>
                                        </p:tav>
                                        <p:tav tm="100000">
                                          <p:val>
                                            <p:strVal val="#ppt_x"/>
                                          </p:val>
                                        </p:tav>
                                      </p:tavLst>
                                    </p:anim>
                                    <p:anim calcmode="lin" valueType="num">
                                      <p:cBhvr additive="base">
                                        <p:cTn id="21" dur="500" fill="hold"/>
                                        <p:tgtEl>
                                          <p:spTgt spid="3"/>
                                        </p:tgtEl>
                                        <p:attrNameLst>
                                          <p:attrName>ppt_y</p:attrName>
                                        </p:attrNameLst>
                                      </p:cBhvr>
                                      <p:tavLst>
                                        <p:tav tm="0">
                                          <p:val>
                                            <p:strVal val="#ppt_y"/>
                                          </p:val>
                                        </p:tav>
                                        <p:tav tm="100000">
                                          <p:val>
                                            <p:strVal val="#ppt_y"/>
                                          </p:val>
                                        </p:tav>
                                      </p:tavLst>
                                    </p:anim>
                                    <p:anim calcmode="lin" valueType="num">
                                      <p:cBhvr additive="base">
                                        <p:cTn id="22" dur="500" fill="hold"/>
                                        <p:tgtEl>
                                          <p:spTgt spid="3"/>
                                        </p:tgtEl>
                                        <p:attrNameLst>
                                          <p:attrName>ppt_w</p:attrName>
                                        </p:attrNameLst>
                                      </p:cBhvr>
                                      <p:tavLst>
                                        <p:tav tm="0">
                                          <p:val>
                                            <p:fltVal val="0"/>
                                          </p:val>
                                        </p:tav>
                                        <p:tav tm="100000">
                                          <p:val>
                                            <p:strVal val="#ppt_w"/>
                                          </p:val>
                                        </p:tav>
                                      </p:tavLst>
                                    </p:anim>
                                    <p:anim calcmode="lin" valueType="num">
                                      <p:cBhvr additive="base">
                                        <p:cTn id="23" dur="5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17" presetClass="entr" presetSubtype="8" fill="hold" nodeType="clickEffect">
                                  <p:stCondLst>
                                    <p:cond delay="0"/>
                                  </p:stCondLst>
                                  <p:childTnLst>
                                    <p:set>
                                      <p:cBhvr additive="base">
                                        <p:cTn id="27" dur="1" fill="hold">
                                          <p:stCondLst>
                                            <p:cond delay="0"/>
                                          </p:stCondLst>
                                        </p:cTn>
                                        <p:tgtEl>
                                          <p:spTgt spid="4"/>
                                        </p:tgtEl>
                                        <p:attrNameLst>
                                          <p:attrName>style.visibility</p:attrName>
                                        </p:attrNameLst>
                                      </p:cBhvr>
                                      <p:to>
                                        <p:strVal val="visible"/>
                                      </p:to>
                                    </p:set>
                                    <p:anim calcmode="lin" valueType="num">
                                      <p:cBhvr additive="base">
                                        <p:cTn id="28" dur="500" fill="hold"/>
                                        <p:tgtEl>
                                          <p:spTgt spid="4"/>
                                        </p:tgtEl>
                                        <p:attrNameLst>
                                          <p:attrName>ppt_x</p:attrName>
                                        </p:attrNameLst>
                                      </p:cBhvr>
                                      <p:tavLst>
                                        <p:tav tm="0">
                                          <p:val>
                                            <p:strVal val="#ppt_x-#ppt_w/2"/>
                                          </p:val>
                                        </p:tav>
                                        <p:tav tm="100000">
                                          <p:val>
                                            <p:strVal val="#ppt_x"/>
                                          </p:val>
                                        </p:tav>
                                      </p:tavLst>
                                    </p:anim>
                                    <p:anim calcmode="lin" valueType="num">
                                      <p:cBhvr additive="base">
                                        <p:cTn id="29" dur="500" fill="hold"/>
                                        <p:tgtEl>
                                          <p:spTgt spid="4"/>
                                        </p:tgtEl>
                                        <p:attrNameLst>
                                          <p:attrName>ppt_y</p:attrName>
                                        </p:attrNameLst>
                                      </p:cBhvr>
                                      <p:tavLst>
                                        <p:tav tm="0">
                                          <p:val>
                                            <p:strVal val="#ppt_y"/>
                                          </p:val>
                                        </p:tav>
                                        <p:tav tm="100000">
                                          <p:val>
                                            <p:strVal val="#ppt_y"/>
                                          </p:val>
                                        </p:tav>
                                      </p:tavLst>
                                    </p:anim>
                                    <p:anim calcmode="lin" valueType="num">
                                      <p:cBhvr additive="base">
                                        <p:cTn id="30" dur="500" fill="hold"/>
                                        <p:tgtEl>
                                          <p:spTgt spid="4"/>
                                        </p:tgtEl>
                                        <p:attrNameLst>
                                          <p:attrName>ppt_w</p:attrName>
                                        </p:attrNameLst>
                                      </p:cBhvr>
                                      <p:tavLst>
                                        <p:tav tm="0">
                                          <p:val>
                                            <p:fltVal val="0"/>
                                          </p:val>
                                        </p:tav>
                                        <p:tav tm="100000">
                                          <p:val>
                                            <p:strVal val="#ppt_w"/>
                                          </p:val>
                                        </p:tav>
                                      </p:tavLst>
                                    </p:anim>
                                    <p:anim calcmode="lin" valueType="num">
                                      <p:cBhvr additive="base">
                                        <p:cTn id="31" dur="5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17" presetClass="entr" presetSubtype="8" fill="hold" nodeType="clickEffect">
                                  <p:stCondLst>
                                    <p:cond delay="0"/>
                                  </p:stCondLst>
                                  <p:childTnLst>
                                    <p:set>
                                      <p:cBhvr additive="base">
                                        <p:cTn id="35" dur="1" fill="hold">
                                          <p:stCondLst>
                                            <p:cond delay="0"/>
                                          </p:stCondLst>
                                        </p:cTn>
                                        <p:tgtEl>
                                          <p:spTgt spid="11"/>
                                        </p:tgtEl>
                                        <p:attrNameLst>
                                          <p:attrName>style.visibility</p:attrName>
                                        </p:attrNameLst>
                                      </p:cBhvr>
                                      <p:to>
                                        <p:strVal val="visible"/>
                                      </p:to>
                                    </p:set>
                                    <p:anim calcmode="lin" valueType="num">
                                      <p:cBhvr additive="base">
                                        <p:cTn id="36" dur="500" fill="hold"/>
                                        <p:tgtEl>
                                          <p:spTgt spid="11"/>
                                        </p:tgtEl>
                                        <p:attrNameLst>
                                          <p:attrName>ppt_x</p:attrName>
                                        </p:attrNameLst>
                                      </p:cBhvr>
                                      <p:tavLst>
                                        <p:tav tm="0">
                                          <p:val>
                                            <p:strVal val="#ppt_x-#ppt_w/2"/>
                                          </p:val>
                                        </p:tav>
                                        <p:tav tm="100000">
                                          <p:val>
                                            <p:strVal val="#ppt_x"/>
                                          </p:val>
                                        </p:tav>
                                      </p:tavLst>
                                    </p:anim>
                                    <p:anim calcmode="lin" valueType="num">
                                      <p:cBhvr additive="base">
                                        <p:cTn id="37" dur="500" fill="hold"/>
                                        <p:tgtEl>
                                          <p:spTgt spid="11"/>
                                        </p:tgtEl>
                                        <p:attrNameLst>
                                          <p:attrName>ppt_y</p:attrName>
                                        </p:attrNameLst>
                                      </p:cBhvr>
                                      <p:tavLst>
                                        <p:tav tm="0">
                                          <p:val>
                                            <p:strVal val="#ppt_y"/>
                                          </p:val>
                                        </p:tav>
                                        <p:tav tm="100000">
                                          <p:val>
                                            <p:strVal val="#ppt_y"/>
                                          </p:val>
                                        </p:tav>
                                      </p:tavLst>
                                    </p:anim>
                                    <p:anim calcmode="lin" valueType="num">
                                      <p:cBhvr additive="base">
                                        <p:cTn id="38" dur="500" fill="hold"/>
                                        <p:tgtEl>
                                          <p:spTgt spid="11"/>
                                        </p:tgtEl>
                                        <p:attrNameLst>
                                          <p:attrName>ppt_w</p:attrName>
                                        </p:attrNameLst>
                                      </p:cBhvr>
                                      <p:tavLst>
                                        <p:tav tm="0">
                                          <p:val>
                                            <p:fltVal val="0"/>
                                          </p:val>
                                        </p:tav>
                                        <p:tav tm="100000">
                                          <p:val>
                                            <p:strVal val="#ppt_w"/>
                                          </p:val>
                                        </p:tav>
                                      </p:tavLst>
                                    </p:anim>
                                    <p:anim calcmode="lin" valueType="num">
                                      <p:cBhvr additive="base">
                                        <p:cTn id="39" dur="500" fill="hold"/>
                                        <p:tgtEl>
                                          <p:spTgt spid="11"/>
                                        </p:tgtEl>
                                        <p:attrNameLst>
                                          <p:attrName>ppt_h</p:attrName>
                                        </p:attrNameLst>
                                      </p:cBhvr>
                                      <p:tavLst>
                                        <p:tav tm="0">
                                          <p:val>
                                            <p:strVal val="#ppt_h"/>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17" presetClass="entr" presetSubtype="8" fill="hold" nodeType="clickEffect">
                                  <p:stCondLst>
                                    <p:cond delay="0"/>
                                  </p:stCondLst>
                                  <p:childTnLst>
                                    <p:set>
                                      <p:cBhvr additive="base">
                                        <p:cTn id="43" dur="1" fill="hold">
                                          <p:stCondLst>
                                            <p:cond delay="0"/>
                                          </p:stCondLst>
                                        </p:cTn>
                                        <p:tgtEl>
                                          <p:spTgt spid="7"/>
                                        </p:tgtEl>
                                        <p:attrNameLst>
                                          <p:attrName>style.visibility</p:attrName>
                                        </p:attrNameLst>
                                      </p:cBhvr>
                                      <p:to>
                                        <p:strVal val="visible"/>
                                      </p:to>
                                    </p:set>
                                    <p:anim calcmode="lin" valueType="num">
                                      <p:cBhvr additive="base">
                                        <p:cTn id="44" dur="500" fill="hold"/>
                                        <p:tgtEl>
                                          <p:spTgt spid="7"/>
                                        </p:tgtEl>
                                        <p:attrNameLst>
                                          <p:attrName>ppt_x</p:attrName>
                                        </p:attrNameLst>
                                      </p:cBhvr>
                                      <p:tavLst>
                                        <p:tav tm="0">
                                          <p:val>
                                            <p:strVal val="#ppt_x-#ppt_w/2"/>
                                          </p:val>
                                        </p:tav>
                                        <p:tav tm="100000">
                                          <p:val>
                                            <p:strVal val="#ppt_x"/>
                                          </p:val>
                                        </p:tav>
                                      </p:tavLst>
                                    </p:anim>
                                    <p:anim calcmode="lin" valueType="num">
                                      <p:cBhvr additive="base">
                                        <p:cTn id="45" dur="500" fill="hold"/>
                                        <p:tgtEl>
                                          <p:spTgt spid="7"/>
                                        </p:tgtEl>
                                        <p:attrNameLst>
                                          <p:attrName>ppt_y</p:attrName>
                                        </p:attrNameLst>
                                      </p:cBhvr>
                                      <p:tavLst>
                                        <p:tav tm="0">
                                          <p:val>
                                            <p:strVal val="#ppt_y"/>
                                          </p:val>
                                        </p:tav>
                                        <p:tav tm="100000">
                                          <p:val>
                                            <p:strVal val="#ppt_y"/>
                                          </p:val>
                                        </p:tav>
                                      </p:tavLst>
                                    </p:anim>
                                    <p:anim calcmode="lin" valueType="num">
                                      <p:cBhvr additive="base">
                                        <p:cTn id="46" dur="500" fill="hold"/>
                                        <p:tgtEl>
                                          <p:spTgt spid="7"/>
                                        </p:tgtEl>
                                        <p:attrNameLst>
                                          <p:attrName>ppt_w</p:attrName>
                                        </p:attrNameLst>
                                      </p:cBhvr>
                                      <p:tavLst>
                                        <p:tav tm="0">
                                          <p:val>
                                            <p:fltVal val="0"/>
                                          </p:val>
                                        </p:tav>
                                        <p:tav tm="100000">
                                          <p:val>
                                            <p:strVal val="#ppt_w"/>
                                          </p:val>
                                        </p:tav>
                                      </p:tavLst>
                                    </p:anim>
                                    <p:anim calcmode="lin" valueType="num">
                                      <p:cBhvr additive="base">
                                        <p:cTn id="47" dur="500" fill="hold"/>
                                        <p:tgtEl>
                                          <p:spTgt spid="7"/>
                                        </p:tgtEl>
                                        <p:attrNameLst>
                                          <p:attrName>ppt_h</p:attrName>
                                        </p:attrNameLst>
                                      </p:cBhvr>
                                      <p:tavLst>
                                        <p:tav tm="0">
                                          <p:val>
                                            <p:strVal val="#ppt_h"/>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17" presetClass="entr" presetSubtype="8" fill="hold" grpId="0" nodeType="clickEffect">
                                  <p:stCondLst>
                                    <p:cond delay="0"/>
                                  </p:stCondLst>
                                  <p:childTnLst>
                                    <p:set>
                                      <p:cBhvr additive="base">
                                        <p:cTn id="51" dur="1" fill="hold">
                                          <p:stCondLst>
                                            <p:cond delay="0"/>
                                          </p:stCondLst>
                                        </p:cTn>
                                        <p:tgtEl>
                                          <p:spTgt spid="5"/>
                                        </p:tgtEl>
                                        <p:attrNameLst>
                                          <p:attrName>style.visibility</p:attrName>
                                        </p:attrNameLst>
                                      </p:cBhvr>
                                      <p:to>
                                        <p:strVal val="visible"/>
                                      </p:to>
                                    </p:set>
                                    <p:anim calcmode="lin" valueType="num">
                                      <p:cBhvr additive="base">
                                        <p:cTn id="52" dur="500" fill="hold"/>
                                        <p:tgtEl>
                                          <p:spTgt spid="5"/>
                                        </p:tgtEl>
                                        <p:attrNameLst>
                                          <p:attrName>ppt_x</p:attrName>
                                        </p:attrNameLst>
                                      </p:cBhvr>
                                      <p:tavLst>
                                        <p:tav tm="0">
                                          <p:val>
                                            <p:strVal val="#ppt_x-#ppt_w/2"/>
                                          </p:val>
                                        </p:tav>
                                        <p:tav tm="100000">
                                          <p:val>
                                            <p:strVal val="#ppt_x"/>
                                          </p:val>
                                        </p:tav>
                                      </p:tavLst>
                                    </p:anim>
                                    <p:anim calcmode="lin" valueType="num">
                                      <p:cBhvr additive="base">
                                        <p:cTn id="53" dur="500" fill="hold"/>
                                        <p:tgtEl>
                                          <p:spTgt spid="5"/>
                                        </p:tgtEl>
                                        <p:attrNameLst>
                                          <p:attrName>ppt_y</p:attrName>
                                        </p:attrNameLst>
                                      </p:cBhvr>
                                      <p:tavLst>
                                        <p:tav tm="0">
                                          <p:val>
                                            <p:strVal val="#ppt_y"/>
                                          </p:val>
                                        </p:tav>
                                        <p:tav tm="100000">
                                          <p:val>
                                            <p:strVal val="#ppt_y"/>
                                          </p:val>
                                        </p:tav>
                                      </p:tavLst>
                                    </p:anim>
                                    <p:anim calcmode="lin" valueType="num">
                                      <p:cBhvr additive="base">
                                        <p:cTn id="54" dur="500" fill="hold"/>
                                        <p:tgtEl>
                                          <p:spTgt spid="5"/>
                                        </p:tgtEl>
                                        <p:attrNameLst>
                                          <p:attrName>ppt_w</p:attrName>
                                        </p:attrNameLst>
                                      </p:cBhvr>
                                      <p:tavLst>
                                        <p:tav tm="0">
                                          <p:val>
                                            <p:fltVal val="0"/>
                                          </p:val>
                                        </p:tav>
                                        <p:tav tm="100000">
                                          <p:val>
                                            <p:strVal val="#ppt_w"/>
                                          </p:val>
                                        </p:tav>
                                      </p:tavLst>
                                    </p:anim>
                                    <p:anim calcmode="lin" valueType="num">
                                      <p:cBhvr additive="base">
                                        <p:cTn id="55" dur="5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56" fill="hold">
                      <p:stCondLst>
                        <p:cond delay="indefinite"/>
                      </p:stCondLst>
                      <p:childTnLst>
                        <p:par>
                          <p:cTn id="57" fill="hold">
                            <p:stCondLst>
                              <p:cond delay="0"/>
                            </p:stCondLst>
                            <p:childTnLst>
                              <p:par>
                                <p:cTn id="58" presetID="17" presetClass="entr" presetSubtype="8" fill="hold" nodeType="clickEffect">
                                  <p:stCondLst>
                                    <p:cond delay="0"/>
                                  </p:stCondLst>
                                  <p:childTnLst>
                                    <p:set>
                                      <p:cBhvr additive="base">
                                        <p:cTn id="59" dur="1" fill="hold">
                                          <p:stCondLst>
                                            <p:cond delay="0"/>
                                          </p:stCondLst>
                                        </p:cTn>
                                        <p:tgtEl>
                                          <p:spTgt spid="9"/>
                                        </p:tgtEl>
                                        <p:attrNameLst>
                                          <p:attrName>style.visibility</p:attrName>
                                        </p:attrNameLst>
                                      </p:cBhvr>
                                      <p:to>
                                        <p:strVal val="visible"/>
                                      </p:to>
                                    </p:set>
                                    <p:anim calcmode="lin" valueType="num">
                                      <p:cBhvr additive="base">
                                        <p:cTn id="60" dur="500" fill="hold"/>
                                        <p:tgtEl>
                                          <p:spTgt spid="9"/>
                                        </p:tgtEl>
                                        <p:attrNameLst>
                                          <p:attrName>ppt_x</p:attrName>
                                        </p:attrNameLst>
                                      </p:cBhvr>
                                      <p:tavLst>
                                        <p:tav tm="0">
                                          <p:val>
                                            <p:strVal val="#ppt_x-#ppt_w/2"/>
                                          </p:val>
                                        </p:tav>
                                        <p:tav tm="100000">
                                          <p:val>
                                            <p:strVal val="#ppt_x"/>
                                          </p:val>
                                        </p:tav>
                                      </p:tavLst>
                                    </p:anim>
                                    <p:anim calcmode="lin" valueType="num">
                                      <p:cBhvr additive="base">
                                        <p:cTn id="61" dur="500" fill="hold"/>
                                        <p:tgtEl>
                                          <p:spTgt spid="9"/>
                                        </p:tgtEl>
                                        <p:attrNameLst>
                                          <p:attrName>ppt_y</p:attrName>
                                        </p:attrNameLst>
                                      </p:cBhvr>
                                      <p:tavLst>
                                        <p:tav tm="0">
                                          <p:val>
                                            <p:strVal val="#ppt_y"/>
                                          </p:val>
                                        </p:tav>
                                        <p:tav tm="100000">
                                          <p:val>
                                            <p:strVal val="#ppt_y"/>
                                          </p:val>
                                        </p:tav>
                                      </p:tavLst>
                                    </p:anim>
                                    <p:anim calcmode="lin" valueType="num">
                                      <p:cBhvr additive="base">
                                        <p:cTn id="62" dur="500" fill="hold"/>
                                        <p:tgtEl>
                                          <p:spTgt spid="9"/>
                                        </p:tgtEl>
                                        <p:attrNameLst>
                                          <p:attrName>ppt_w</p:attrName>
                                        </p:attrNameLst>
                                      </p:cBhvr>
                                      <p:tavLst>
                                        <p:tav tm="0">
                                          <p:val>
                                            <p:fltVal val="0"/>
                                          </p:val>
                                        </p:tav>
                                        <p:tav tm="100000">
                                          <p:val>
                                            <p:strVal val="#ppt_w"/>
                                          </p:val>
                                        </p:tav>
                                      </p:tavLst>
                                    </p:anim>
                                    <p:anim calcmode="lin" valueType="num">
                                      <p:cBhvr additive="base">
                                        <p:cTn id="63" dur="5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6" presetID="17" presetClass="entr" presetSubtype="8" fill="hold" nodeType="clickEffect">
                                  <p:stCondLst>
                                    <p:cond delay="0"/>
                                  </p:stCondLst>
                                  <p:childTnLst>
                                    <p:set>
                                      <p:cBhvr additive="base">
                                        <p:cTn id="67" dur="1" fill="hold">
                                          <p:stCondLst>
                                            <p:cond delay="0"/>
                                          </p:stCondLst>
                                        </p:cTn>
                                        <p:tgtEl>
                                          <p:spTgt spid="13"/>
                                        </p:tgtEl>
                                        <p:attrNameLst>
                                          <p:attrName>style.visibility</p:attrName>
                                        </p:attrNameLst>
                                      </p:cBhvr>
                                      <p:to>
                                        <p:strVal val="visible"/>
                                      </p:to>
                                    </p:set>
                                    <p:anim calcmode="lin" valueType="num">
                                      <p:cBhvr additive="base">
                                        <p:cTn id="68" dur="500" fill="hold"/>
                                        <p:tgtEl>
                                          <p:spTgt spid="13"/>
                                        </p:tgtEl>
                                        <p:attrNameLst>
                                          <p:attrName>ppt_x</p:attrName>
                                        </p:attrNameLst>
                                      </p:cBhvr>
                                      <p:tavLst>
                                        <p:tav tm="0">
                                          <p:val>
                                            <p:strVal val="#ppt_x-#ppt_w/2"/>
                                          </p:val>
                                        </p:tav>
                                        <p:tav tm="100000">
                                          <p:val>
                                            <p:strVal val="#ppt_x"/>
                                          </p:val>
                                        </p:tav>
                                      </p:tavLst>
                                    </p:anim>
                                    <p:anim calcmode="lin" valueType="num">
                                      <p:cBhvr additive="base">
                                        <p:cTn id="69" dur="500" fill="hold"/>
                                        <p:tgtEl>
                                          <p:spTgt spid="13"/>
                                        </p:tgtEl>
                                        <p:attrNameLst>
                                          <p:attrName>ppt_y</p:attrName>
                                        </p:attrNameLst>
                                      </p:cBhvr>
                                      <p:tavLst>
                                        <p:tav tm="0">
                                          <p:val>
                                            <p:strVal val="#ppt_y"/>
                                          </p:val>
                                        </p:tav>
                                        <p:tav tm="100000">
                                          <p:val>
                                            <p:strVal val="#ppt_y"/>
                                          </p:val>
                                        </p:tav>
                                      </p:tavLst>
                                    </p:anim>
                                    <p:anim calcmode="lin" valueType="num">
                                      <p:cBhvr additive="base">
                                        <p:cTn id="70" dur="500" fill="hold"/>
                                        <p:tgtEl>
                                          <p:spTgt spid="13"/>
                                        </p:tgtEl>
                                        <p:attrNameLst>
                                          <p:attrName>ppt_w</p:attrName>
                                        </p:attrNameLst>
                                      </p:cBhvr>
                                      <p:tavLst>
                                        <p:tav tm="0">
                                          <p:val>
                                            <p:fltVal val="0"/>
                                          </p:val>
                                        </p:tav>
                                        <p:tav tm="100000">
                                          <p:val>
                                            <p:strVal val="#ppt_w"/>
                                          </p:val>
                                        </p:tav>
                                      </p:tavLst>
                                    </p:anim>
                                    <p:anim calcmode="lin" valueType="num">
                                      <p:cBhvr additive="base">
                                        <p:cTn id="71" dur="500" fill="hold"/>
                                        <p:tgtEl>
                                          <p:spTgt spid="13"/>
                                        </p:tgtEl>
                                        <p:attrNameLst>
                                          <p:attrName>ppt_h</p:attrName>
                                        </p:attrNameLst>
                                      </p:cBhvr>
                                      <p:tavLst>
                                        <p:tav tm="0">
                                          <p:val>
                                            <p:strVal val="#ppt_h"/>
                                          </p:val>
                                        </p:tav>
                                        <p:tav tm="100000">
                                          <p:val>
                                            <p:strVal val="#ppt_h"/>
                                          </p:val>
                                        </p:tav>
                                      </p:tavLst>
                                    </p:anim>
                                  </p:childTnLst>
                                </p:cTn>
                              </p:par>
                            </p:childTnLst>
                          </p:cTn>
                        </p:par>
                      </p:childTnLst>
                    </p:cTn>
                  </p:par>
                  <p:par>
                    <p:cTn id="72" fill="hold">
                      <p:stCondLst>
                        <p:cond delay="indefinite"/>
                      </p:stCondLst>
                      <p:childTnLst>
                        <p:par>
                          <p:cTn id="73" fill="hold">
                            <p:stCondLst>
                              <p:cond delay="0"/>
                            </p:stCondLst>
                            <p:childTnLst>
                              <p:par>
                                <p:cTn id="74" presetID="17" presetClass="entr" presetSubtype="8" fill="hold" grpId="0" nodeType="clickEffect">
                                  <p:stCondLst>
                                    <p:cond delay="0"/>
                                  </p:stCondLst>
                                  <p:childTnLst>
                                    <p:set>
                                      <p:cBhvr additive="base">
                                        <p:cTn id="75" dur="1" fill="hold">
                                          <p:stCondLst>
                                            <p:cond delay="0"/>
                                          </p:stCondLst>
                                        </p:cTn>
                                        <p:tgtEl>
                                          <p:spTgt spid="6"/>
                                        </p:tgtEl>
                                        <p:attrNameLst>
                                          <p:attrName>style.visibility</p:attrName>
                                        </p:attrNameLst>
                                      </p:cBhvr>
                                      <p:to>
                                        <p:strVal val="visible"/>
                                      </p:to>
                                    </p:set>
                                    <p:anim calcmode="lin" valueType="num">
                                      <p:cBhvr additive="base">
                                        <p:cTn id="76" dur="500" fill="hold"/>
                                        <p:tgtEl>
                                          <p:spTgt spid="6"/>
                                        </p:tgtEl>
                                        <p:attrNameLst>
                                          <p:attrName>ppt_x</p:attrName>
                                        </p:attrNameLst>
                                      </p:cBhvr>
                                      <p:tavLst>
                                        <p:tav tm="0">
                                          <p:val>
                                            <p:strVal val="#ppt_x-#ppt_w/2"/>
                                          </p:val>
                                        </p:tav>
                                        <p:tav tm="100000">
                                          <p:val>
                                            <p:strVal val="#ppt_x"/>
                                          </p:val>
                                        </p:tav>
                                      </p:tavLst>
                                    </p:anim>
                                    <p:anim calcmode="lin" valueType="num">
                                      <p:cBhvr additive="base">
                                        <p:cTn id="77" dur="500" fill="hold"/>
                                        <p:tgtEl>
                                          <p:spTgt spid="6"/>
                                        </p:tgtEl>
                                        <p:attrNameLst>
                                          <p:attrName>ppt_y</p:attrName>
                                        </p:attrNameLst>
                                      </p:cBhvr>
                                      <p:tavLst>
                                        <p:tav tm="0">
                                          <p:val>
                                            <p:strVal val="#ppt_y"/>
                                          </p:val>
                                        </p:tav>
                                        <p:tav tm="100000">
                                          <p:val>
                                            <p:strVal val="#ppt_y"/>
                                          </p:val>
                                        </p:tav>
                                      </p:tavLst>
                                    </p:anim>
                                    <p:anim calcmode="lin" valueType="num">
                                      <p:cBhvr additive="base">
                                        <p:cTn id="78" dur="500" fill="hold"/>
                                        <p:tgtEl>
                                          <p:spTgt spid="6"/>
                                        </p:tgtEl>
                                        <p:attrNameLst>
                                          <p:attrName>ppt_w</p:attrName>
                                        </p:attrNameLst>
                                      </p:cBhvr>
                                      <p:tavLst>
                                        <p:tav tm="0">
                                          <p:val>
                                            <p:fltVal val="0"/>
                                          </p:val>
                                        </p:tav>
                                        <p:tav tm="100000">
                                          <p:val>
                                            <p:strVal val="#ppt_w"/>
                                          </p:val>
                                        </p:tav>
                                      </p:tavLst>
                                    </p:anim>
                                    <p:anim calcmode="lin" valueType="num">
                                      <p:cBhvr additive="base">
                                        <p:cTn id="79" dur="5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80" fill="hold">
                      <p:stCondLst>
                        <p:cond delay="indefinite"/>
                      </p:stCondLst>
                      <p:childTnLst>
                        <p:par>
                          <p:cTn id="81" fill="hold">
                            <p:stCondLst>
                              <p:cond delay="0"/>
                            </p:stCondLst>
                            <p:childTnLst>
                              <p:par>
                                <p:cTn id="82" presetID="17" presetClass="entr" presetSubtype="8" fill="hold" nodeType="clickEffect">
                                  <p:stCondLst>
                                    <p:cond delay="0"/>
                                  </p:stCondLst>
                                  <p:childTnLst>
                                    <p:set>
                                      <p:cBhvr additive="base">
                                        <p:cTn id="83" dur="1" fill="hold">
                                          <p:stCondLst>
                                            <p:cond delay="0"/>
                                          </p:stCondLst>
                                        </p:cTn>
                                        <p:tgtEl>
                                          <p:spTgt spid="15"/>
                                        </p:tgtEl>
                                        <p:attrNameLst>
                                          <p:attrName>style.visibility</p:attrName>
                                        </p:attrNameLst>
                                      </p:cBhvr>
                                      <p:to>
                                        <p:strVal val="visible"/>
                                      </p:to>
                                    </p:set>
                                    <p:anim calcmode="lin" valueType="num">
                                      <p:cBhvr additive="base">
                                        <p:cTn id="84" dur="500" fill="hold"/>
                                        <p:tgtEl>
                                          <p:spTgt spid="15"/>
                                        </p:tgtEl>
                                        <p:attrNameLst>
                                          <p:attrName>ppt_x</p:attrName>
                                        </p:attrNameLst>
                                      </p:cBhvr>
                                      <p:tavLst>
                                        <p:tav tm="0">
                                          <p:val>
                                            <p:strVal val="#ppt_x-#ppt_w/2"/>
                                          </p:val>
                                        </p:tav>
                                        <p:tav tm="100000">
                                          <p:val>
                                            <p:strVal val="#ppt_x"/>
                                          </p:val>
                                        </p:tav>
                                      </p:tavLst>
                                    </p:anim>
                                    <p:anim calcmode="lin" valueType="num">
                                      <p:cBhvr additive="base">
                                        <p:cTn id="85" dur="500" fill="hold"/>
                                        <p:tgtEl>
                                          <p:spTgt spid="15"/>
                                        </p:tgtEl>
                                        <p:attrNameLst>
                                          <p:attrName>ppt_y</p:attrName>
                                        </p:attrNameLst>
                                      </p:cBhvr>
                                      <p:tavLst>
                                        <p:tav tm="0">
                                          <p:val>
                                            <p:strVal val="#ppt_y"/>
                                          </p:val>
                                        </p:tav>
                                        <p:tav tm="100000">
                                          <p:val>
                                            <p:strVal val="#ppt_y"/>
                                          </p:val>
                                        </p:tav>
                                      </p:tavLst>
                                    </p:anim>
                                    <p:anim calcmode="lin" valueType="num">
                                      <p:cBhvr additive="base">
                                        <p:cTn id="86" dur="500" fill="hold"/>
                                        <p:tgtEl>
                                          <p:spTgt spid="15"/>
                                        </p:tgtEl>
                                        <p:attrNameLst>
                                          <p:attrName>ppt_w</p:attrName>
                                        </p:attrNameLst>
                                      </p:cBhvr>
                                      <p:tavLst>
                                        <p:tav tm="0">
                                          <p:val>
                                            <p:fltVal val="0"/>
                                          </p:val>
                                        </p:tav>
                                        <p:tav tm="100000">
                                          <p:val>
                                            <p:strVal val="#ppt_w"/>
                                          </p:val>
                                        </p:tav>
                                      </p:tavLst>
                                    </p:anim>
                                    <p:anim calcmode="lin" valueType="num">
                                      <p:cBhvr additive="base">
                                        <p:cTn id="87" dur="500" fill="hold"/>
                                        <p:tgtEl>
                                          <p:spTgt spid="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3" grpId="0" build="p" bldLvl="2"/>
      <p:bldP spid="3" grpId="0" bldLvl="0" animBg="1"/>
      <p:bldP spid="5" grpId="0" bldLvl="0" animBg="1"/>
      <p:bldP spid="6"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12642"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12643"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37</a:t>
            </a:fld>
            <a:endParaRPr lang="zh-CN" altLang="en-US" sz="1200" b="1" i="1" dirty="0">
              <a:latin typeface="Times New Roman" panose="02020603050405020304" pitchFamily="2" charset="0"/>
              <a:ea typeface="宋体" panose="02010600030101010101" pitchFamily="2" charset="-122"/>
            </a:endParaRPr>
          </a:p>
        </p:txBody>
      </p:sp>
      <p:sp>
        <p:nvSpPr>
          <p:cNvPr id="112644"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6.6 </a:t>
            </a:r>
            <a:r>
              <a:rPr lang="en-US" altLang="x-none" dirty="0">
                <a:ea typeface="宋体" panose="02010600030101010101" pitchFamily="2" charset="-122"/>
              </a:rPr>
              <a:t>Functional Dependencies</a:t>
            </a:r>
          </a:p>
        </p:txBody>
      </p:sp>
      <p:sp>
        <p:nvSpPr>
          <p:cNvPr id="112645" name="Rectangle 3"/>
          <p:cNvSpPr>
            <a:spLocks noGrp="1"/>
          </p:cNvSpPr>
          <p:nvPr>
            <p:ph type="body"/>
          </p:nvPr>
        </p:nvSpPr>
        <p:spPr>
          <a:xfrm>
            <a:off x="142875" y="694055"/>
            <a:ext cx="8696325" cy="1080770"/>
          </a:xfrm>
        </p:spPr>
        <p:txBody>
          <a:bodyPr wrap="square" anchor="t"/>
          <a:lstStyle/>
          <a:p>
            <a:pPr marL="457200" lvl="0" indent="-457200" eaLnBrk="1" hangingPunct="1">
              <a:lnSpc>
                <a:spcPct val="90000"/>
              </a:lnSpc>
            </a:pPr>
            <a:r>
              <a:rPr lang="en-US" altLang="x-none" sz="3200" dirty="0">
                <a:ea typeface="宋体" panose="02010600030101010101" pitchFamily="2" charset="-122"/>
              </a:rPr>
              <a:t>Rule 5: Decomposition Rule</a:t>
            </a:r>
          </a:p>
          <a:p>
            <a:pPr marL="1371600" lvl="2" indent="-457200" eaLnBrk="1" hangingPunct="1">
              <a:lnSpc>
                <a:spcPct val="90000"/>
              </a:lnSpc>
              <a:buNone/>
            </a:pPr>
            <a:r>
              <a:rPr lang="en-US" altLang="x-none" sz="3200" dirty="0">
                <a:ea typeface="宋体" panose="02010600030101010101" pitchFamily="2" charset="-122"/>
              </a:rPr>
              <a:t>If X→YZ, then X→Y, and  X→Z</a:t>
            </a:r>
          </a:p>
        </p:txBody>
      </p:sp>
      <p:sp>
        <p:nvSpPr>
          <p:cNvPr id="112647" name="Rectangle 4"/>
          <p:cNvSpPr/>
          <p:nvPr/>
        </p:nvSpPr>
        <p:spPr>
          <a:xfrm>
            <a:off x="304800" y="4766310"/>
            <a:ext cx="8534400" cy="518160"/>
          </a:xfrm>
          <a:prstGeom prst="rect">
            <a:avLst/>
          </a:prstGeom>
          <a:noFill/>
          <a:ln w="9525">
            <a:noFill/>
          </a:ln>
        </p:spPr>
        <p:txBody>
          <a:bodyPr anchor="t">
            <a:spAutoFit/>
          </a:bodyPr>
          <a:lstStyle/>
          <a:p>
            <a:pPr lvl="1">
              <a:spcBef>
                <a:spcPct val="20000"/>
              </a:spcBef>
              <a:buClr>
                <a:schemeClr val="accent1"/>
              </a:buClr>
            </a:pPr>
            <a:r>
              <a:rPr lang="zh-CN" altLang="x-none" sz="2800" b="1" dirty="0">
                <a:solidFill>
                  <a:schemeClr val="accent2"/>
                </a:solidFill>
                <a:latin typeface="Arial" panose="020B0604020202020204" pitchFamily="34" charset="0"/>
                <a:ea typeface="宋体" panose="02010600030101010101" pitchFamily="2" charset="-122"/>
              </a:rPr>
              <a:t>同理，也可证 </a:t>
            </a:r>
            <a:r>
              <a:rPr lang="en-US" altLang="x-none" sz="2800" b="1" dirty="0">
                <a:solidFill>
                  <a:schemeClr val="accent2"/>
                </a:solidFill>
                <a:latin typeface="Arial" panose="020B0604020202020204" pitchFamily="34" charset="0"/>
                <a:ea typeface="宋体" panose="02010600030101010101" pitchFamily="2" charset="-122"/>
              </a:rPr>
              <a:t> </a:t>
            </a:r>
            <a:r>
              <a:rPr lang="en-US" altLang="x-none" sz="2800" b="1" i="1" dirty="0">
                <a:solidFill>
                  <a:schemeClr val="accent2"/>
                </a:solidFill>
                <a:ea typeface="宋体" panose="02010600030101010101" pitchFamily="2" charset="-122"/>
              </a:rPr>
              <a:t>X→ Z</a:t>
            </a:r>
          </a:p>
        </p:txBody>
      </p:sp>
      <p:sp>
        <p:nvSpPr>
          <p:cNvPr id="111623" name="Rectangle 4"/>
          <p:cNvSpPr/>
          <p:nvPr/>
        </p:nvSpPr>
        <p:spPr>
          <a:xfrm>
            <a:off x="142875" y="1981200"/>
            <a:ext cx="8893175" cy="518160"/>
          </a:xfrm>
          <a:prstGeom prst="rect">
            <a:avLst/>
          </a:prstGeom>
          <a:noFill/>
          <a:ln w="9525">
            <a:noFill/>
          </a:ln>
        </p:spPr>
        <p:txBody>
          <a:bodyPr anchor="t">
            <a:spAutoFit/>
          </a:bodyPr>
          <a:lstStyle/>
          <a:p>
            <a:pPr marL="457200" lvl="0" indent="-457200">
              <a:spcBef>
                <a:spcPct val="20000"/>
              </a:spcBef>
              <a:buClr>
                <a:schemeClr val="tx1"/>
              </a:buClr>
              <a:buFont typeface="Wingdings" panose="05000000000000000000" pitchFamily="2" charset="2"/>
              <a:buChar char="q"/>
            </a:pPr>
            <a:r>
              <a:rPr lang="en-US" altLang="x-none" sz="2800" b="1" dirty="0">
                <a:solidFill>
                  <a:srgbClr val="FF0000"/>
                </a:solidFill>
                <a:latin typeface="Arial" panose="020B0604020202020204" pitchFamily="34" charset="0"/>
                <a:ea typeface="宋体" panose="02010600030101010101" pitchFamily="2" charset="-122"/>
              </a:rPr>
              <a:t>Proof: </a:t>
            </a:r>
            <a:endParaRPr lang="en-US" altLang="x-none" sz="2800" b="1" dirty="0">
              <a:solidFill>
                <a:schemeClr val="accent2"/>
              </a:solidFill>
              <a:latin typeface="Arial" panose="020B0604020202020204" pitchFamily="34" charset="0"/>
              <a:ea typeface="宋体" panose="02010600030101010101" pitchFamily="2" charset="-122"/>
            </a:endParaRPr>
          </a:p>
        </p:txBody>
      </p:sp>
      <p:graphicFrame>
        <p:nvGraphicFramePr>
          <p:cNvPr id="2" name="对象 1">
            <a:hlinkClick r:id="" action="ppaction://ole?verb=0"/>
          </p:cNvPr>
          <p:cNvGraphicFramePr>
            <a:graphicFrameLocks noChangeAspect="1"/>
          </p:cNvGraphicFramePr>
          <p:nvPr/>
        </p:nvGraphicFramePr>
        <p:xfrm>
          <a:off x="256640" y="2700000"/>
          <a:ext cx="1869330" cy="540000"/>
        </p:xfrm>
        <a:graphic>
          <a:graphicData uri="http://schemas.openxmlformats.org/presentationml/2006/ole">
            <mc:AlternateContent xmlns:mc="http://schemas.openxmlformats.org/markup-compatibility/2006">
              <mc:Choice xmlns:v="urn:schemas-microsoft-com:vml" Requires="v">
                <p:oleObj spid="_x0000_s9237" r:id="rId3" imgW="571500" imgH="165100" progId="Equation.KSEE3">
                  <p:embed/>
                </p:oleObj>
              </mc:Choice>
              <mc:Fallback>
                <p:oleObj r:id="rId3" imgW="571500" imgH="165100" progId="Equation.KSEE3">
                  <p:embed/>
                  <p:pic>
                    <p:nvPicPr>
                      <p:cNvPr id="0" name="图片 1024"/>
                      <p:cNvPicPr/>
                      <p:nvPr/>
                    </p:nvPicPr>
                    <p:blipFill>
                      <a:blip r:embed="rId4"/>
                      <a:stretch>
                        <a:fillRect/>
                      </a:stretch>
                    </p:blipFill>
                    <p:spPr>
                      <a:xfrm>
                        <a:off x="256640" y="2700000"/>
                        <a:ext cx="1869330" cy="540000"/>
                      </a:xfrm>
                      <a:prstGeom prst="rect">
                        <a:avLst/>
                      </a:prstGeom>
                    </p:spPr>
                  </p:pic>
                </p:oleObj>
              </mc:Fallback>
            </mc:AlternateContent>
          </a:graphicData>
        </a:graphic>
      </p:graphicFrame>
      <p:sp>
        <p:nvSpPr>
          <p:cNvPr id="3" name="右箭头 2"/>
          <p:cNvSpPr/>
          <p:nvPr/>
        </p:nvSpPr>
        <p:spPr>
          <a:xfrm>
            <a:off x="2268000" y="2601548"/>
            <a:ext cx="1980000" cy="754274"/>
          </a:xfrm>
          <a:prstGeom prst="rightArrow">
            <a:avLst/>
          </a:prstGeom>
          <a:noFill/>
          <a:ln w="12700" cmpd="sng">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lIns="0" tIns="36195" rIns="0" bIns="36195" rtlCol="0" anchor="ctr">
            <a:spAutoFit/>
          </a:bodyPr>
          <a:lstStyle/>
          <a:p>
            <a:pPr algn="ctr"/>
            <a:r>
              <a:rPr lang="en-US" altLang="zh-CN" sz="2000">
                <a:solidFill>
                  <a:srgbClr val="FF0000"/>
                </a:solidFill>
              </a:rPr>
              <a:t>Inclusion</a:t>
            </a:r>
          </a:p>
        </p:txBody>
      </p:sp>
      <p:graphicFrame>
        <p:nvGraphicFramePr>
          <p:cNvPr id="4" name="对象 3">
            <a:hlinkClick r:id="" action="ppaction://ole?verb=0"/>
          </p:cNvPr>
          <p:cNvGraphicFramePr>
            <a:graphicFrameLocks noChangeAspect="1"/>
          </p:cNvGraphicFramePr>
          <p:nvPr/>
        </p:nvGraphicFramePr>
        <p:xfrm>
          <a:off x="4358230" y="2700000"/>
          <a:ext cx="1621270" cy="540000"/>
        </p:xfrm>
        <a:graphic>
          <a:graphicData uri="http://schemas.openxmlformats.org/presentationml/2006/ole">
            <mc:AlternateContent xmlns:mc="http://schemas.openxmlformats.org/markup-compatibility/2006">
              <mc:Choice xmlns:v="urn:schemas-microsoft-com:vml" Requires="v">
                <p:oleObj spid="_x0000_s9238" r:id="rId5" imgW="457200" imgH="152400" progId="Equation.KSEE3">
                  <p:embed/>
                </p:oleObj>
              </mc:Choice>
              <mc:Fallback>
                <p:oleObj r:id="rId5" imgW="457200" imgH="152400" progId="Equation.KSEE3">
                  <p:embed/>
                  <p:pic>
                    <p:nvPicPr>
                      <p:cNvPr id="0" name="图片 1025"/>
                      <p:cNvPicPr/>
                      <p:nvPr/>
                    </p:nvPicPr>
                    <p:blipFill>
                      <a:blip r:embed="rId6"/>
                      <a:stretch>
                        <a:fillRect/>
                      </a:stretch>
                    </p:blipFill>
                    <p:spPr>
                      <a:xfrm>
                        <a:off x="4358230" y="2700000"/>
                        <a:ext cx="1621270" cy="540000"/>
                      </a:xfrm>
                      <a:prstGeom prst="rect">
                        <a:avLst/>
                      </a:prstGeom>
                    </p:spPr>
                  </p:pic>
                </p:oleObj>
              </mc:Fallback>
            </mc:AlternateContent>
          </a:graphicData>
        </a:graphic>
      </p:graphicFrame>
      <p:sp>
        <p:nvSpPr>
          <p:cNvPr id="6" name="右箭头 5"/>
          <p:cNvSpPr/>
          <p:nvPr/>
        </p:nvSpPr>
        <p:spPr>
          <a:xfrm>
            <a:off x="4765675" y="3567820"/>
            <a:ext cx="1800000" cy="754378"/>
          </a:xfrm>
          <a:prstGeom prst="rightArrow">
            <a:avLst/>
          </a:prstGeom>
          <a:noFill/>
          <a:ln w="12700" cmpd="sng">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lIns="0" tIns="36195" rIns="0" bIns="36195" rtlCol="0" anchor="ctr">
            <a:spAutoFit/>
          </a:bodyPr>
          <a:lstStyle/>
          <a:p>
            <a:pPr algn="ctr"/>
            <a:r>
              <a:rPr lang="en-US" altLang="zh-CN" sz="2000">
                <a:solidFill>
                  <a:srgbClr val="FF0000"/>
                </a:solidFill>
              </a:rPr>
              <a:t>Transitivity</a:t>
            </a:r>
          </a:p>
        </p:txBody>
      </p:sp>
      <p:graphicFrame>
        <p:nvGraphicFramePr>
          <p:cNvPr id="13" name="对象 12">
            <a:hlinkClick r:id="" action="ppaction://ole?verb=0"/>
          </p:cNvPr>
          <p:cNvGraphicFramePr>
            <a:graphicFrameLocks noChangeAspect="1"/>
          </p:cNvGraphicFramePr>
          <p:nvPr/>
        </p:nvGraphicFramePr>
        <p:xfrm>
          <a:off x="240960" y="3672000"/>
          <a:ext cx="4366563" cy="540000"/>
        </p:xfrm>
        <a:graphic>
          <a:graphicData uri="http://schemas.openxmlformats.org/presentationml/2006/ole">
            <mc:AlternateContent xmlns:mc="http://schemas.openxmlformats.org/markup-compatibility/2006">
              <mc:Choice xmlns:v="urn:schemas-microsoft-com:vml" Requires="v">
                <p:oleObj spid="_x0000_s9239" r:id="rId7" imgW="1333500" imgH="165100" progId="Equation.KSEE3">
                  <p:embed/>
                </p:oleObj>
              </mc:Choice>
              <mc:Fallback>
                <p:oleObj r:id="rId7" imgW="1333500" imgH="165100" progId="Equation.KSEE3">
                  <p:embed/>
                  <p:pic>
                    <p:nvPicPr>
                      <p:cNvPr id="0" name="图片 1024"/>
                      <p:cNvPicPr/>
                      <p:nvPr/>
                    </p:nvPicPr>
                    <p:blipFill>
                      <a:blip r:embed="rId8"/>
                      <a:stretch>
                        <a:fillRect/>
                      </a:stretch>
                    </p:blipFill>
                    <p:spPr>
                      <a:xfrm>
                        <a:off x="240960" y="3672000"/>
                        <a:ext cx="4366563" cy="540000"/>
                      </a:xfrm>
                      <a:prstGeom prst="rect">
                        <a:avLst/>
                      </a:prstGeom>
                    </p:spPr>
                  </p:pic>
                </p:oleObj>
              </mc:Fallback>
            </mc:AlternateContent>
          </a:graphicData>
        </a:graphic>
      </p:graphicFrame>
      <p:graphicFrame>
        <p:nvGraphicFramePr>
          <p:cNvPr id="15" name="对象 14">
            <a:hlinkClick r:id="" action="ppaction://ole?verb=0"/>
          </p:cNvPr>
          <p:cNvGraphicFramePr>
            <a:graphicFrameLocks noChangeAspect="1"/>
          </p:cNvGraphicFramePr>
          <p:nvPr/>
        </p:nvGraphicFramePr>
        <p:xfrm>
          <a:off x="6719187" y="3672125"/>
          <a:ext cx="1486535" cy="539750"/>
        </p:xfrm>
        <a:graphic>
          <a:graphicData uri="http://schemas.openxmlformats.org/presentationml/2006/ole">
            <mc:AlternateContent xmlns:mc="http://schemas.openxmlformats.org/markup-compatibility/2006">
              <mc:Choice xmlns:v="urn:schemas-microsoft-com:vml" Requires="v">
                <p:oleObj spid="_x0000_s9240" r:id="rId9" imgW="419100" imgH="152400" progId="Equation.KSEE3">
                  <p:embed/>
                </p:oleObj>
              </mc:Choice>
              <mc:Fallback>
                <p:oleObj r:id="rId9" imgW="419100" imgH="152400" progId="Equation.KSEE3">
                  <p:embed/>
                  <p:pic>
                    <p:nvPicPr>
                      <p:cNvPr id="0" name="图片 1025"/>
                      <p:cNvPicPr/>
                      <p:nvPr/>
                    </p:nvPicPr>
                    <p:blipFill>
                      <a:blip r:embed="rId10"/>
                      <a:stretch>
                        <a:fillRect/>
                      </a:stretch>
                    </p:blipFill>
                    <p:spPr>
                      <a:xfrm>
                        <a:off x="6719187" y="3672125"/>
                        <a:ext cx="1486535" cy="53975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1623">
                                            <p:txEl>
                                              <p:pRg st="0" end="0"/>
                                            </p:txEl>
                                          </p:spTgt>
                                        </p:tgtEl>
                                        <p:attrNameLst>
                                          <p:attrName>style.visibility</p:attrName>
                                        </p:attrNameLst>
                                      </p:cBhvr>
                                      <p:to>
                                        <p:strVal val="visible"/>
                                      </p:to>
                                    </p:set>
                                    <p:animEffect transition="in" filter="blinds(horizontal)">
                                      <p:cBhvr>
                                        <p:cTn id="7" dur="500"/>
                                        <p:tgtEl>
                                          <p:spTgt spid="1116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8" fill="hold" nodeType="clickEffect">
                                  <p:stCondLst>
                                    <p:cond delay="0"/>
                                  </p:stCondLst>
                                  <p:childTnLst>
                                    <p:set>
                                      <p:cBhvr additive="base">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anim calcmode="lin" valueType="num">
                                      <p:cBhvr additive="base">
                                        <p:cTn id="14" dur="500" fill="hold"/>
                                        <p:tgtEl>
                                          <p:spTgt spid="2"/>
                                        </p:tgtEl>
                                        <p:attrNameLst>
                                          <p:attrName>ppt_w</p:attrName>
                                        </p:attrNameLst>
                                      </p:cBhvr>
                                      <p:tavLst>
                                        <p:tav tm="0">
                                          <p:val>
                                            <p:fltVal val="0"/>
                                          </p:val>
                                        </p:tav>
                                        <p:tav tm="100000">
                                          <p:val>
                                            <p:strVal val="#ppt_w"/>
                                          </p:val>
                                        </p:tav>
                                      </p:tavLst>
                                    </p:anim>
                                    <p:anim calcmode="lin" valueType="num">
                                      <p:cBhvr additive="base">
                                        <p:cTn id="15"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17" presetClass="entr" presetSubtype="8" fill="hold" grpId="0" nodeType="clickEffect">
                                  <p:stCondLst>
                                    <p:cond delay="0"/>
                                  </p:stCondLst>
                                  <p:childTnLst>
                                    <p:set>
                                      <p:cBhvr additive="base">
                                        <p:cTn id="19" dur="1" fill="hold">
                                          <p:stCondLst>
                                            <p:cond delay="0"/>
                                          </p:stCondLst>
                                        </p:cTn>
                                        <p:tgtEl>
                                          <p:spTgt spid="3"/>
                                        </p:tgtEl>
                                        <p:attrNameLst>
                                          <p:attrName>style.visibility</p:attrName>
                                        </p:attrNameLst>
                                      </p:cBhvr>
                                      <p:to>
                                        <p:strVal val="visible"/>
                                      </p:to>
                                    </p:set>
                                    <p:anim calcmode="lin" valueType="num">
                                      <p:cBhvr additive="base">
                                        <p:cTn id="20" dur="500" fill="hold"/>
                                        <p:tgtEl>
                                          <p:spTgt spid="3"/>
                                        </p:tgtEl>
                                        <p:attrNameLst>
                                          <p:attrName>ppt_x</p:attrName>
                                        </p:attrNameLst>
                                      </p:cBhvr>
                                      <p:tavLst>
                                        <p:tav tm="0">
                                          <p:val>
                                            <p:strVal val="#ppt_x-#ppt_w/2"/>
                                          </p:val>
                                        </p:tav>
                                        <p:tav tm="100000">
                                          <p:val>
                                            <p:strVal val="#ppt_x"/>
                                          </p:val>
                                        </p:tav>
                                      </p:tavLst>
                                    </p:anim>
                                    <p:anim calcmode="lin" valueType="num">
                                      <p:cBhvr additive="base">
                                        <p:cTn id="21" dur="500" fill="hold"/>
                                        <p:tgtEl>
                                          <p:spTgt spid="3"/>
                                        </p:tgtEl>
                                        <p:attrNameLst>
                                          <p:attrName>ppt_y</p:attrName>
                                        </p:attrNameLst>
                                      </p:cBhvr>
                                      <p:tavLst>
                                        <p:tav tm="0">
                                          <p:val>
                                            <p:strVal val="#ppt_y"/>
                                          </p:val>
                                        </p:tav>
                                        <p:tav tm="100000">
                                          <p:val>
                                            <p:strVal val="#ppt_y"/>
                                          </p:val>
                                        </p:tav>
                                      </p:tavLst>
                                    </p:anim>
                                    <p:anim calcmode="lin" valueType="num">
                                      <p:cBhvr additive="base">
                                        <p:cTn id="22" dur="500" fill="hold"/>
                                        <p:tgtEl>
                                          <p:spTgt spid="3"/>
                                        </p:tgtEl>
                                        <p:attrNameLst>
                                          <p:attrName>ppt_w</p:attrName>
                                        </p:attrNameLst>
                                      </p:cBhvr>
                                      <p:tavLst>
                                        <p:tav tm="0">
                                          <p:val>
                                            <p:fltVal val="0"/>
                                          </p:val>
                                        </p:tav>
                                        <p:tav tm="100000">
                                          <p:val>
                                            <p:strVal val="#ppt_w"/>
                                          </p:val>
                                        </p:tav>
                                      </p:tavLst>
                                    </p:anim>
                                    <p:anim calcmode="lin" valueType="num">
                                      <p:cBhvr additive="base">
                                        <p:cTn id="23" dur="5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17" presetClass="entr" presetSubtype="8" fill="hold" nodeType="clickEffect">
                                  <p:stCondLst>
                                    <p:cond delay="0"/>
                                  </p:stCondLst>
                                  <p:childTnLst>
                                    <p:set>
                                      <p:cBhvr additive="base">
                                        <p:cTn id="27" dur="1" fill="hold">
                                          <p:stCondLst>
                                            <p:cond delay="0"/>
                                          </p:stCondLst>
                                        </p:cTn>
                                        <p:tgtEl>
                                          <p:spTgt spid="4"/>
                                        </p:tgtEl>
                                        <p:attrNameLst>
                                          <p:attrName>style.visibility</p:attrName>
                                        </p:attrNameLst>
                                      </p:cBhvr>
                                      <p:to>
                                        <p:strVal val="visible"/>
                                      </p:to>
                                    </p:set>
                                    <p:anim calcmode="lin" valueType="num">
                                      <p:cBhvr additive="base">
                                        <p:cTn id="28" dur="500" fill="hold"/>
                                        <p:tgtEl>
                                          <p:spTgt spid="4"/>
                                        </p:tgtEl>
                                        <p:attrNameLst>
                                          <p:attrName>ppt_x</p:attrName>
                                        </p:attrNameLst>
                                      </p:cBhvr>
                                      <p:tavLst>
                                        <p:tav tm="0">
                                          <p:val>
                                            <p:strVal val="#ppt_x-#ppt_w/2"/>
                                          </p:val>
                                        </p:tav>
                                        <p:tav tm="100000">
                                          <p:val>
                                            <p:strVal val="#ppt_x"/>
                                          </p:val>
                                        </p:tav>
                                      </p:tavLst>
                                    </p:anim>
                                    <p:anim calcmode="lin" valueType="num">
                                      <p:cBhvr additive="base">
                                        <p:cTn id="29" dur="500" fill="hold"/>
                                        <p:tgtEl>
                                          <p:spTgt spid="4"/>
                                        </p:tgtEl>
                                        <p:attrNameLst>
                                          <p:attrName>ppt_y</p:attrName>
                                        </p:attrNameLst>
                                      </p:cBhvr>
                                      <p:tavLst>
                                        <p:tav tm="0">
                                          <p:val>
                                            <p:strVal val="#ppt_y"/>
                                          </p:val>
                                        </p:tav>
                                        <p:tav tm="100000">
                                          <p:val>
                                            <p:strVal val="#ppt_y"/>
                                          </p:val>
                                        </p:tav>
                                      </p:tavLst>
                                    </p:anim>
                                    <p:anim calcmode="lin" valueType="num">
                                      <p:cBhvr additive="base">
                                        <p:cTn id="30" dur="500" fill="hold"/>
                                        <p:tgtEl>
                                          <p:spTgt spid="4"/>
                                        </p:tgtEl>
                                        <p:attrNameLst>
                                          <p:attrName>ppt_w</p:attrName>
                                        </p:attrNameLst>
                                      </p:cBhvr>
                                      <p:tavLst>
                                        <p:tav tm="0">
                                          <p:val>
                                            <p:fltVal val="0"/>
                                          </p:val>
                                        </p:tav>
                                        <p:tav tm="100000">
                                          <p:val>
                                            <p:strVal val="#ppt_w"/>
                                          </p:val>
                                        </p:tav>
                                      </p:tavLst>
                                    </p:anim>
                                    <p:anim calcmode="lin" valueType="num">
                                      <p:cBhvr additive="base">
                                        <p:cTn id="31" dur="5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17" presetClass="entr" presetSubtype="8" fill="hold" nodeType="clickEffect">
                                  <p:stCondLst>
                                    <p:cond delay="0"/>
                                  </p:stCondLst>
                                  <p:childTnLst>
                                    <p:set>
                                      <p:cBhvr additive="base">
                                        <p:cTn id="35" dur="1" fill="hold">
                                          <p:stCondLst>
                                            <p:cond delay="0"/>
                                          </p:stCondLst>
                                        </p:cTn>
                                        <p:tgtEl>
                                          <p:spTgt spid="13"/>
                                        </p:tgtEl>
                                        <p:attrNameLst>
                                          <p:attrName>style.visibility</p:attrName>
                                        </p:attrNameLst>
                                      </p:cBhvr>
                                      <p:to>
                                        <p:strVal val="visible"/>
                                      </p:to>
                                    </p:set>
                                    <p:anim calcmode="lin" valueType="num">
                                      <p:cBhvr additive="base">
                                        <p:cTn id="36" dur="500" fill="hold"/>
                                        <p:tgtEl>
                                          <p:spTgt spid="13"/>
                                        </p:tgtEl>
                                        <p:attrNameLst>
                                          <p:attrName>ppt_x</p:attrName>
                                        </p:attrNameLst>
                                      </p:cBhvr>
                                      <p:tavLst>
                                        <p:tav tm="0">
                                          <p:val>
                                            <p:strVal val="#ppt_x-#ppt_w/2"/>
                                          </p:val>
                                        </p:tav>
                                        <p:tav tm="100000">
                                          <p:val>
                                            <p:strVal val="#ppt_x"/>
                                          </p:val>
                                        </p:tav>
                                      </p:tavLst>
                                    </p:anim>
                                    <p:anim calcmode="lin" valueType="num">
                                      <p:cBhvr additive="base">
                                        <p:cTn id="37" dur="500" fill="hold"/>
                                        <p:tgtEl>
                                          <p:spTgt spid="13"/>
                                        </p:tgtEl>
                                        <p:attrNameLst>
                                          <p:attrName>ppt_y</p:attrName>
                                        </p:attrNameLst>
                                      </p:cBhvr>
                                      <p:tavLst>
                                        <p:tav tm="0">
                                          <p:val>
                                            <p:strVal val="#ppt_y"/>
                                          </p:val>
                                        </p:tav>
                                        <p:tav tm="100000">
                                          <p:val>
                                            <p:strVal val="#ppt_y"/>
                                          </p:val>
                                        </p:tav>
                                      </p:tavLst>
                                    </p:anim>
                                    <p:anim calcmode="lin" valueType="num">
                                      <p:cBhvr additive="base">
                                        <p:cTn id="38" dur="500" fill="hold"/>
                                        <p:tgtEl>
                                          <p:spTgt spid="13"/>
                                        </p:tgtEl>
                                        <p:attrNameLst>
                                          <p:attrName>ppt_w</p:attrName>
                                        </p:attrNameLst>
                                      </p:cBhvr>
                                      <p:tavLst>
                                        <p:tav tm="0">
                                          <p:val>
                                            <p:fltVal val="0"/>
                                          </p:val>
                                        </p:tav>
                                        <p:tav tm="100000">
                                          <p:val>
                                            <p:strVal val="#ppt_w"/>
                                          </p:val>
                                        </p:tav>
                                      </p:tavLst>
                                    </p:anim>
                                    <p:anim calcmode="lin" valueType="num">
                                      <p:cBhvr additive="base">
                                        <p:cTn id="39" dur="500" fill="hold"/>
                                        <p:tgtEl>
                                          <p:spTgt spid="13"/>
                                        </p:tgtEl>
                                        <p:attrNameLst>
                                          <p:attrName>ppt_h</p:attrName>
                                        </p:attrNameLst>
                                      </p:cBhvr>
                                      <p:tavLst>
                                        <p:tav tm="0">
                                          <p:val>
                                            <p:strVal val="#ppt_h"/>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17" presetClass="entr" presetSubtype="8" fill="hold" grpId="0" nodeType="clickEffect">
                                  <p:stCondLst>
                                    <p:cond delay="0"/>
                                  </p:stCondLst>
                                  <p:childTnLst>
                                    <p:set>
                                      <p:cBhvr additive="base">
                                        <p:cTn id="43" dur="1" fill="hold">
                                          <p:stCondLst>
                                            <p:cond delay="0"/>
                                          </p:stCondLst>
                                        </p:cTn>
                                        <p:tgtEl>
                                          <p:spTgt spid="6"/>
                                        </p:tgtEl>
                                        <p:attrNameLst>
                                          <p:attrName>style.visibility</p:attrName>
                                        </p:attrNameLst>
                                      </p:cBhvr>
                                      <p:to>
                                        <p:strVal val="visible"/>
                                      </p:to>
                                    </p:set>
                                    <p:anim calcmode="lin" valueType="num">
                                      <p:cBhvr additive="base">
                                        <p:cTn id="44" dur="500" fill="hold"/>
                                        <p:tgtEl>
                                          <p:spTgt spid="6"/>
                                        </p:tgtEl>
                                        <p:attrNameLst>
                                          <p:attrName>ppt_x</p:attrName>
                                        </p:attrNameLst>
                                      </p:cBhvr>
                                      <p:tavLst>
                                        <p:tav tm="0">
                                          <p:val>
                                            <p:strVal val="#ppt_x-#ppt_w/2"/>
                                          </p:val>
                                        </p:tav>
                                        <p:tav tm="100000">
                                          <p:val>
                                            <p:strVal val="#ppt_x"/>
                                          </p:val>
                                        </p:tav>
                                      </p:tavLst>
                                    </p:anim>
                                    <p:anim calcmode="lin" valueType="num">
                                      <p:cBhvr additive="base">
                                        <p:cTn id="45" dur="500" fill="hold"/>
                                        <p:tgtEl>
                                          <p:spTgt spid="6"/>
                                        </p:tgtEl>
                                        <p:attrNameLst>
                                          <p:attrName>ppt_y</p:attrName>
                                        </p:attrNameLst>
                                      </p:cBhvr>
                                      <p:tavLst>
                                        <p:tav tm="0">
                                          <p:val>
                                            <p:strVal val="#ppt_y"/>
                                          </p:val>
                                        </p:tav>
                                        <p:tav tm="100000">
                                          <p:val>
                                            <p:strVal val="#ppt_y"/>
                                          </p:val>
                                        </p:tav>
                                      </p:tavLst>
                                    </p:anim>
                                    <p:anim calcmode="lin" valueType="num">
                                      <p:cBhvr additive="base">
                                        <p:cTn id="46" dur="500" fill="hold"/>
                                        <p:tgtEl>
                                          <p:spTgt spid="6"/>
                                        </p:tgtEl>
                                        <p:attrNameLst>
                                          <p:attrName>ppt_w</p:attrName>
                                        </p:attrNameLst>
                                      </p:cBhvr>
                                      <p:tavLst>
                                        <p:tav tm="0">
                                          <p:val>
                                            <p:fltVal val="0"/>
                                          </p:val>
                                        </p:tav>
                                        <p:tav tm="100000">
                                          <p:val>
                                            <p:strVal val="#ppt_w"/>
                                          </p:val>
                                        </p:tav>
                                      </p:tavLst>
                                    </p:anim>
                                    <p:anim calcmode="lin" valueType="num">
                                      <p:cBhvr additive="base">
                                        <p:cTn id="47" dur="5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17" presetClass="entr" presetSubtype="8" fill="hold" nodeType="clickEffect">
                                  <p:stCondLst>
                                    <p:cond delay="0"/>
                                  </p:stCondLst>
                                  <p:childTnLst>
                                    <p:set>
                                      <p:cBhvr additive="base">
                                        <p:cTn id="51" dur="1" fill="hold">
                                          <p:stCondLst>
                                            <p:cond delay="0"/>
                                          </p:stCondLst>
                                        </p:cTn>
                                        <p:tgtEl>
                                          <p:spTgt spid="15"/>
                                        </p:tgtEl>
                                        <p:attrNameLst>
                                          <p:attrName>style.visibility</p:attrName>
                                        </p:attrNameLst>
                                      </p:cBhvr>
                                      <p:to>
                                        <p:strVal val="visible"/>
                                      </p:to>
                                    </p:set>
                                    <p:anim calcmode="lin" valueType="num">
                                      <p:cBhvr additive="base">
                                        <p:cTn id="52" dur="500" fill="hold"/>
                                        <p:tgtEl>
                                          <p:spTgt spid="15"/>
                                        </p:tgtEl>
                                        <p:attrNameLst>
                                          <p:attrName>ppt_x</p:attrName>
                                        </p:attrNameLst>
                                      </p:cBhvr>
                                      <p:tavLst>
                                        <p:tav tm="0">
                                          <p:val>
                                            <p:strVal val="#ppt_x-#ppt_w/2"/>
                                          </p:val>
                                        </p:tav>
                                        <p:tav tm="100000">
                                          <p:val>
                                            <p:strVal val="#ppt_x"/>
                                          </p:val>
                                        </p:tav>
                                      </p:tavLst>
                                    </p:anim>
                                    <p:anim calcmode="lin" valueType="num">
                                      <p:cBhvr additive="base">
                                        <p:cTn id="53" dur="500" fill="hold"/>
                                        <p:tgtEl>
                                          <p:spTgt spid="15"/>
                                        </p:tgtEl>
                                        <p:attrNameLst>
                                          <p:attrName>ppt_y</p:attrName>
                                        </p:attrNameLst>
                                      </p:cBhvr>
                                      <p:tavLst>
                                        <p:tav tm="0">
                                          <p:val>
                                            <p:strVal val="#ppt_y"/>
                                          </p:val>
                                        </p:tav>
                                        <p:tav tm="100000">
                                          <p:val>
                                            <p:strVal val="#ppt_y"/>
                                          </p:val>
                                        </p:tav>
                                      </p:tavLst>
                                    </p:anim>
                                    <p:anim calcmode="lin" valueType="num">
                                      <p:cBhvr additive="base">
                                        <p:cTn id="54" dur="500" fill="hold"/>
                                        <p:tgtEl>
                                          <p:spTgt spid="15"/>
                                        </p:tgtEl>
                                        <p:attrNameLst>
                                          <p:attrName>ppt_w</p:attrName>
                                        </p:attrNameLst>
                                      </p:cBhvr>
                                      <p:tavLst>
                                        <p:tav tm="0">
                                          <p:val>
                                            <p:fltVal val="0"/>
                                          </p:val>
                                        </p:tav>
                                        <p:tav tm="100000">
                                          <p:val>
                                            <p:strVal val="#ppt_w"/>
                                          </p:val>
                                        </p:tav>
                                      </p:tavLst>
                                    </p:anim>
                                    <p:anim calcmode="lin" valueType="num">
                                      <p:cBhvr additive="base">
                                        <p:cTn id="55" dur="500" fill="hold"/>
                                        <p:tgtEl>
                                          <p:spTgt spid="15"/>
                                        </p:tgtEl>
                                        <p:attrNameLst>
                                          <p:attrName>ppt_h</p:attrName>
                                        </p:attrNameLst>
                                      </p:cBhvr>
                                      <p:tavLst>
                                        <p:tav tm="0">
                                          <p:val>
                                            <p:strVal val="#ppt_h"/>
                                          </p:val>
                                        </p:tav>
                                        <p:tav tm="100000">
                                          <p:val>
                                            <p:strVal val="#ppt_h"/>
                                          </p:val>
                                        </p:tav>
                                      </p:tavLst>
                                    </p:anim>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112647"/>
                                        </p:tgtEl>
                                        <p:attrNameLst>
                                          <p:attrName>style.visibility</p:attrName>
                                        </p:attrNameLst>
                                      </p:cBhvr>
                                      <p:to>
                                        <p:strVal val="visible"/>
                                      </p:to>
                                    </p:set>
                                    <p:animEffect transition="in" filter="blinds(horizontal)">
                                      <p:cBhvr>
                                        <p:cTn id="60" dur="500"/>
                                        <p:tgtEl>
                                          <p:spTgt spid="1126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7" grpId="0"/>
      <p:bldP spid="111623" grpId="0" build="p" bldLvl="2"/>
      <p:bldP spid="3" grpId="0" bldLvl="0" animBg="1"/>
      <p:bldP spid="6"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13666"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13667"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38</a:t>
            </a:fld>
            <a:endParaRPr lang="zh-CN" altLang="en-US" sz="1200" b="1" i="1" dirty="0">
              <a:latin typeface="Times New Roman" panose="02020603050405020304" pitchFamily="2" charset="0"/>
              <a:ea typeface="宋体" panose="02010600030101010101" pitchFamily="2" charset="-122"/>
            </a:endParaRPr>
          </a:p>
        </p:txBody>
      </p:sp>
      <p:sp>
        <p:nvSpPr>
          <p:cNvPr id="113668"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6.6 </a:t>
            </a:r>
            <a:r>
              <a:rPr lang="en-US" altLang="x-none" dirty="0">
                <a:ea typeface="宋体" panose="02010600030101010101" pitchFamily="2" charset="-122"/>
              </a:rPr>
              <a:t>Functional Dependencies</a:t>
            </a:r>
          </a:p>
        </p:txBody>
      </p:sp>
      <p:sp>
        <p:nvSpPr>
          <p:cNvPr id="113669" name="Rectangle 3"/>
          <p:cNvSpPr>
            <a:spLocks noGrp="1"/>
          </p:cNvSpPr>
          <p:nvPr>
            <p:ph type="body"/>
          </p:nvPr>
        </p:nvSpPr>
        <p:spPr>
          <a:xfrm>
            <a:off x="142240" y="694055"/>
            <a:ext cx="8696960" cy="1058545"/>
          </a:xfrm>
        </p:spPr>
        <p:txBody>
          <a:bodyPr wrap="square" anchor="t"/>
          <a:lstStyle/>
          <a:p>
            <a:pPr marL="457200" lvl="0" indent="-457200" eaLnBrk="1" hangingPunct="1">
              <a:lnSpc>
                <a:spcPct val="90000"/>
              </a:lnSpc>
            </a:pPr>
            <a:r>
              <a:rPr lang="en-US" altLang="x-none" sz="3200" dirty="0">
                <a:ea typeface="宋体" panose="02010600030101010101" pitchFamily="2" charset="-122"/>
              </a:rPr>
              <a:t>Rule 6: Pseudotransitivity Rule</a:t>
            </a:r>
          </a:p>
          <a:p>
            <a:pPr marL="1371600" lvl="2" indent="-457200" eaLnBrk="1" hangingPunct="1">
              <a:lnSpc>
                <a:spcPct val="90000"/>
              </a:lnSpc>
              <a:buNone/>
            </a:pPr>
            <a:r>
              <a:rPr lang="en-US" altLang="x-none" sz="3200" dirty="0">
                <a:ea typeface="宋体" panose="02010600030101010101" pitchFamily="2" charset="-122"/>
              </a:rPr>
              <a:t>If  X→Y, and  WY→Z, then  XW→Z</a:t>
            </a:r>
          </a:p>
        </p:txBody>
      </p:sp>
      <p:sp>
        <p:nvSpPr>
          <p:cNvPr id="111623" name="Rectangle 4"/>
          <p:cNvSpPr/>
          <p:nvPr/>
        </p:nvSpPr>
        <p:spPr>
          <a:xfrm>
            <a:off x="142875" y="1981200"/>
            <a:ext cx="8893175" cy="518160"/>
          </a:xfrm>
          <a:prstGeom prst="rect">
            <a:avLst/>
          </a:prstGeom>
          <a:noFill/>
          <a:ln w="9525">
            <a:noFill/>
          </a:ln>
        </p:spPr>
        <p:txBody>
          <a:bodyPr anchor="t">
            <a:spAutoFit/>
          </a:bodyPr>
          <a:lstStyle/>
          <a:p>
            <a:pPr marL="457200" lvl="0" indent="-457200">
              <a:spcBef>
                <a:spcPct val="20000"/>
              </a:spcBef>
              <a:buClr>
                <a:schemeClr val="tx1"/>
              </a:buClr>
              <a:buFont typeface="Wingdings" panose="05000000000000000000" pitchFamily="2" charset="2"/>
              <a:buChar char="q"/>
            </a:pPr>
            <a:r>
              <a:rPr lang="en-US" altLang="x-none" sz="2800" b="1" dirty="0">
                <a:solidFill>
                  <a:srgbClr val="FF0000"/>
                </a:solidFill>
                <a:latin typeface="Arial" panose="020B0604020202020204" pitchFamily="34" charset="0"/>
                <a:ea typeface="宋体" panose="02010600030101010101" pitchFamily="2" charset="-122"/>
              </a:rPr>
              <a:t>Proof: </a:t>
            </a:r>
            <a:endParaRPr lang="en-US" altLang="x-none" sz="2800" b="1" dirty="0">
              <a:solidFill>
                <a:schemeClr val="accent2"/>
              </a:solidFill>
              <a:latin typeface="Arial" panose="020B0604020202020204" pitchFamily="34" charset="0"/>
              <a:ea typeface="宋体" panose="02010600030101010101" pitchFamily="2" charset="-122"/>
            </a:endParaRPr>
          </a:p>
        </p:txBody>
      </p:sp>
      <p:sp>
        <p:nvSpPr>
          <p:cNvPr id="5" name="右箭头 4"/>
          <p:cNvSpPr/>
          <p:nvPr/>
        </p:nvSpPr>
        <p:spPr>
          <a:xfrm>
            <a:off x="2200275" y="2738940"/>
            <a:ext cx="1980000" cy="700880"/>
          </a:xfrm>
          <a:prstGeom prst="rightArrow">
            <a:avLst/>
          </a:prstGeom>
          <a:noFill/>
          <a:ln w="12700" cmpd="sng">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lIns="0" tIns="36195" rIns="0" bIns="36195" rtlCol="0" anchor="ctr">
            <a:spAutoFit/>
          </a:bodyPr>
          <a:lstStyle/>
          <a:p>
            <a:pPr algn="ctr"/>
            <a:r>
              <a:rPr lang="en-US" altLang="zh-CN" sz="2000">
                <a:solidFill>
                  <a:srgbClr val="FF0000"/>
                </a:solidFill>
              </a:rPr>
              <a:t>Augmentation</a:t>
            </a:r>
          </a:p>
        </p:txBody>
      </p:sp>
      <p:sp>
        <p:nvSpPr>
          <p:cNvPr id="6" name="右箭头 5"/>
          <p:cNvSpPr/>
          <p:nvPr/>
        </p:nvSpPr>
        <p:spPr>
          <a:xfrm>
            <a:off x="5267960" y="3600000"/>
            <a:ext cx="1548000" cy="754378"/>
          </a:xfrm>
          <a:prstGeom prst="rightArrow">
            <a:avLst/>
          </a:prstGeom>
          <a:noFill/>
          <a:ln w="12700" cmpd="sng">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lIns="0" tIns="36195" rIns="0" bIns="36195" rtlCol="0" anchor="ctr">
            <a:spAutoFit/>
          </a:bodyPr>
          <a:lstStyle/>
          <a:p>
            <a:pPr algn="ctr"/>
            <a:r>
              <a:rPr lang="en-US" altLang="zh-CN" sz="2000">
                <a:solidFill>
                  <a:srgbClr val="FF0000"/>
                </a:solidFill>
              </a:rPr>
              <a:t>Transitivity</a:t>
            </a:r>
          </a:p>
        </p:txBody>
      </p:sp>
      <p:graphicFrame>
        <p:nvGraphicFramePr>
          <p:cNvPr id="7" name="对象 6">
            <a:hlinkClick r:id="" action="ppaction://ole?verb=0"/>
          </p:cNvPr>
          <p:cNvGraphicFramePr>
            <a:graphicFrameLocks noChangeAspect="1"/>
          </p:cNvGraphicFramePr>
          <p:nvPr/>
        </p:nvGraphicFramePr>
        <p:xfrm>
          <a:off x="216000" y="2808000"/>
          <a:ext cx="1931670" cy="539750"/>
        </p:xfrm>
        <a:graphic>
          <a:graphicData uri="http://schemas.openxmlformats.org/presentationml/2006/ole">
            <mc:AlternateContent xmlns:mc="http://schemas.openxmlformats.org/markup-compatibility/2006">
              <mc:Choice xmlns:v="urn:schemas-microsoft-com:vml" Requires="v">
                <p:oleObj spid="_x0000_s10261" r:id="rId3" imgW="545465" imgH="152400" progId="Equation.KSEE3">
                  <p:embed/>
                </p:oleObj>
              </mc:Choice>
              <mc:Fallback>
                <p:oleObj r:id="rId3" imgW="545465" imgH="152400" progId="Equation.KSEE3">
                  <p:embed/>
                  <p:pic>
                    <p:nvPicPr>
                      <p:cNvPr id="0" name="图片 1024"/>
                      <p:cNvPicPr/>
                      <p:nvPr/>
                    </p:nvPicPr>
                    <p:blipFill>
                      <a:blip r:embed="rId4"/>
                      <a:stretch>
                        <a:fillRect/>
                      </a:stretch>
                    </p:blipFill>
                    <p:spPr>
                      <a:xfrm>
                        <a:off x="216000" y="2808000"/>
                        <a:ext cx="1931670" cy="539750"/>
                      </a:xfrm>
                      <a:prstGeom prst="rect">
                        <a:avLst/>
                      </a:prstGeom>
                    </p:spPr>
                  </p:pic>
                </p:oleObj>
              </mc:Fallback>
            </mc:AlternateContent>
          </a:graphicData>
        </a:graphic>
      </p:graphicFrame>
      <p:graphicFrame>
        <p:nvGraphicFramePr>
          <p:cNvPr id="9" name="对象 8">
            <a:hlinkClick r:id="" action="ppaction://ole?verb=0"/>
          </p:cNvPr>
          <p:cNvGraphicFramePr>
            <a:graphicFrameLocks noChangeAspect="1"/>
          </p:cNvGraphicFramePr>
          <p:nvPr/>
        </p:nvGraphicFramePr>
        <p:xfrm>
          <a:off x="4222975" y="2808000"/>
          <a:ext cx="2205990" cy="539750"/>
        </p:xfrm>
        <a:graphic>
          <a:graphicData uri="http://schemas.openxmlformats.org/presentationml/2006/ole">
            <mc:AlternateContent xmlns:mc="http://schemas.openxmlformats.org/markup-compatibility/2006">
              <mc:Choice xmlns:v="urn:schemas-microsoft-com:vml" Requires="v">
                <p:oleObj spid="_x0000_s10262" r:id="rId5" imgW="622300" imgH="152400" progId="Equation.KSEE3">
                  <p:embed/>
                </p:oleObj>
              </mc:Choice>
              <mc:Fallback>
                <p:oleObj r:id="rId5" imgW="622300" imgH="152400" progId="Equation.KSEE3">
                  <p:embed/>
                  <p:pic>
                    <p:nvPicPr>
                      <p:cNvPr id="0" name="图片 1025"/>
                      <p:cNvPicPr/>
                      <p:nvPr/>
                    </p:nvPicPr>
                    <p:blipFill>
                      <a:blip r:embed="rId6"/>
                      <a:stretch>
                        <a:fillRect/>
                      </a:stretch>
                    </p:blipFill>
                    <p:spPr>
                      <a:xfrm>
                        <a:off x="4222975" y="2808000"/>
                        <a:ext cx="2205990" cy="539750"/>
                      </a:xfrm>
                      <a:prstGeom prst="rect">
                        <a:avLst/>
                      </a:prstGeom>
                    </p:spPr>
                  </p:pic>
                </p:oleObj>
              </mc:Fallback>
            </mc:AlternateContent>
          </a:graphicData>
        </a:graphic>
      </p:graphicFrame>
      <p:graphicFrame>
        <p:nvGraphicFramePr>
          <p:cNvPr id="13" name="对象 12">
            <a:hlinkClick r:id="" action="ppaction://ole?verb=0"/>
          </p:cNvPr>
          <p:cNvGraphicFramePr>
            <a:graphicFrameLocks noChangeAspect="1"/>
          </p:cNvGraphicFramePr>
          <p:nvPr/>
        </p:nvGraphicFramePr>
        <p:xfrm>
          <a:off x="216000" y="3708000"/>
          <a:ext cx="4949190" cy="539750"/>
        </p:xfrm>
        <a:graphic>
          <a:graphicData uri="http://schemas.openxmlformats.org/presentationml/2006/ole">
            <mc:AlternateContent xmlns:mc="http://schemas.openxmlformats.org/markup-compatibility/2006">
              <mc:Choice xmlns:v="urn:schemas-microsoft-com:vml" Requires="v">
                <p:oleObj spid="_x0000_s10263" r:id="rId7" imgW="1511300" imgH="165100" progId="Equation.KSEE3">
                  <p:embed/>
                </p:oleObj>
              </mc:Choice>
              <mc:Fallback>
                <p:oleObj r:id="rId7" imgW="1511300" imgH="165100" progId="Equation.KSEE3">
                  <p:embed/>
                  <p:pic>
                    <p:nvPicPr>
                      <p:cNvPr id="0" name="图片 1024"/>
                      <p:cNvPicPr/>
                      <p:nvPr/>
                    </p:nvPicPr>
                    <p:blipFill>
                      <a:blip r:embed="rId8"/>
                      <a:stretch>
                        <a:fillRect/>
                      </a:stretch>
                    </p:blipFill>
                    <p:spPr>
                      <a:xfrm>
                        <a:off x="216000" y="3708000"/>
                        <a:ext cx="4949190" cy="539750"/>
                      </a:xfrm>
                      <a:prstGeom prst="rect">
                        <a:avLst/>
                      </a:prstGeom>
                    </p:spPr>
                  </p:pic>
                </p:oleObj>
              </mc:Fallback>
            </mc:AlternateContent>
          </a:graphicData>
        </a:graphic>
      </p:graphicFrame>
      <p:graphicFrame>
        <p:nvGraphicFramePr>
          <p:cNvPr id="15" name="对象 14">
            <a:hlinkClick r:id="" action="ppaction://ole?verb=0"/>
          </p:cNvPr>
          <p:cNvGraphicFramePr>
            <a:graphicFrameLocks noChangeAspect="1"/>
          </p:cNvGraphicFramePr>
          <p:nvPr/>
        </p:nvGraphicFramePr>
        <p:xfrm>
          <a:off x="6875370" y="3708000"/>
          <a:ext cx="1891030" cy="539750"/>
        </p:xfrm>
        <a:graphic>
          <a:graphicData uri="http://schemas.openxmlformats.org/presentationml/2006/ole">
            <mc:AlternateContent xmlns:mc="http://schemas.openxmlformats.org/markup-compatibility/2006">
              <mc:Choice xmlns:v="urn:schemas-microsoft-com:vml" Requires="v">
                <p:oleObj spid="_x0000_s10264" r:id="rId9" imgW="533400" imgH="152400" progId="Equation.KSEE3">
                  <p:embed/>
                </p:oleObj>
              </mc:Choice>
              <mc:Fallback>
                <p:oleObj r:id="rId9" imgW="533400" imgH="152400" progId="Equation.KSEE3">
                  <p:embed/>
                  <p:pic>
                    <p:nvPicPr>
                      <p:cNvPr id="0" name="图片 1025"/>
                      <p:cNvPicPr/>
                      <p:nvPr/>
                    </p:nvPicPr>
                    <p:blipFill>
                      <a:blip r:embed="rId10"/>
                      <a:stretch>
                        <a:fillRect/>
                      </a:stretch>
                    </p:blipFill>
                    <p:spPr>
                      <a:xfrm>
                        <a:off x="6875370" y="3708000"/>
                        <a:ext cx="1891030" cy="53975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1623">
                                            <p:txEl>
                                              <p:pRg st="0" end="0"/>
                                            </p:txEl>
                                          </p:spTgt>
                                        </p:tgtEl>
                                        <p:attrNameLst>
                                          <p:attrName>style.visibility</p:attrName>
                                        </p:attrNameLst>
                                      </p:cBhvr>
                                      <p:to>
                                        <p:strVal val="visible"/>
                                      </p:to>
                                    </p:set>
                                    <p:animEffect transition="in" filter="blinds(horizontal)">
                                      <p:cBhvr>
                                        <p:cTn id="7" dur="500"/>
                                        <p:tgtEl>
                                          <p:spTgt spid="1116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8" fill="hold" nodeType="clickEffect">
                                  <p:stCondLst>
                                    <p:cond delay="0"/>
                                  </p:stCondLst>
                                  <p:childTnLst>
                                    <p:set>
                                      <p:cBhvr additive="base">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anim calcmode="lin" valueType="num">
                                      <p:cBhvr additive="base">
                                        <p:cTn id="14" dur="500" fill="hold"/>
                                        <p:tgtEl>
                                          <p:spTgt spid="7"/>
                                        </p:tgtEl>
                                        <p:attrNameLst>
                                          <p:attrName>ppt_w</p:attrName>
                                        </p:attrNameLst>
                                      </p:cBhvr>
                                      <p:tavLst>
                                        <p:tav tm="0">
                                          <p:val>
                                            <p:fltVal val="0"/>
                                          </p:val>
                                        </p:tav>
                                        <p:tav tm="100000">
                                          <p:val>
                                            <p:strVal val="#ppt_w"/>
                                          </p:val>
                                        </p:tav>
                                      </p:tavLst>
                                    </p:anim>
                                    <p:anim calcmode="lin" valueType="num">
                                      <p:cBhvr additive="base">
                                        <p:cTn id="15" dur="500" fill="hold"/>
                                        <p:tgtEl>
                                          <p:spTgt spid="7"/>
                                        </p:tgtEl>
                                        <p:attrNameLst>
                                          <p:attrName>ppt_h</p:attrName>
                                        </p:attrNameLst>
                                      </p:cBhvr>
                                      <p:tavLst>
                                        <p:tav tm="0">
                                          <p:val>
                                            <p:strVal val="#ppt_h"/>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17" presetClass="entr" presetSubtype="8" fill="hold" grpId="0" nodeType="clickEffect">
                                  <p:stCondLst>
                                    <p:cond delay="0"/>
                                  </p:stCondLst>
                                  <p:childTnLst>
                                    <p:set>
                                      <p:cBhvr additive="base">
                                        <p:cTn id="19" dur="1" fill="hold">
                                          <p:stCondLst>
                                            <p:cond delay="0"/>
                                          </p:stCondLst>
                                        </p:cTn>
                                        <p:tgtEl>
                                          <p:spTgt spid="5"/>
                                        </p:tgtEl>
                                        <p:attrNameLst>
                                          <p:attrName>style.visibility</p:attrName>
                                        </p:attrNameLst>
                                      </p:cBhvr>
                                      <p:to>
                                        <p:strVal val="visible"/>
                                      </p:to>
                                    </p:set>
                                    <p:anim calcmode="lin" valueType="num">
                                      <p:cBhvr additive="base">
                                        <p:cTn id="20" dur="500" fill="hold"/>
                                        <p:tgtEl>
                                          <p:spTgt spid="5"/>
                                        </p:tgtEl>
                                        <p:attrNameLst>
                                          <p:attrName>ppt_x</p:attrName>
                                        </p:attrNameLst>
                                      </p:cBhvr>
                                      <p:tavLst>
                                        <p:tav tm="0">
                                          <p:val>
                                            <p:strVal val="#ppt_x-#ppt_w/2"/>
                                          </p:val>
                                        </p:tav>
                                        <p:tav tm="100000">
                                          <p:val>
                                            <p:strVal val="#ppt_x"/>
                                          </p:val>
                                        </p:tav>
                                      </p:tavLst>
                                    </p:anim>
                                    <p:anim calcmode="lin" valueType="num">
                                      <p:cBhvr additive="base">
                                        <p:cTn id="21" dur="500" fill="hold"/>
                                        <p:tgtEl>
                                          <p:spTgt spid="5"/>
                                        </p:tgtEl>
                                        <p:attrNameLst>
                                          <p:attrName>ppt_y</p:attrName>
                                        </p:attrNameLst>
                                      </p:cBhvr>
                                      <p:tavLst>
                                        <p:tav tm="0">
                                          <p:val>
                                            <p:strVal val="#ppt_y"/>
                                          </p:val>
                                        </p:tav>
                                        <p:tav tm="100000">
                                          <p:val>
                                            <p:strVal val="#ppt_y"/>
                                          </p:val>
                                        </p:tav>
                                      </p:tavLst>
                                    </p:anim>
                                    <p:anim calcmode="lin" valueType="num">
                                      <p:cBhvr additive="base">
                                        <p:cTn id="22" dur="500" fill="hold"/>
                                        <p:tgtEl>
                                          <p:spTgt spid="5"/>
                                        </p:tgtEl>
                                        <p:attrNameLst>
                                          <p:attrName>ppt_w</p:attrName>
                                        </p:attrNameLst>
                                      </p:cBhvr>
                                      <p:tavLst>
                                        <p:tav tm="0">
                                          <p:val>
                                            <p:fltVal val="0"/>
                                          </p:val>
                                        </p:tav>
                                        <p:tav tm="100000">
                                          <p:val>
                                            <p:strVal val="#ppt_w"/>
                                          </p:val>
                                        </p:tav>
                                      </p:tavLst>
                                    </p:anim>
                                    <p:anim calcmode="lin" valueType="num">
                                      <p:cBhvr additive="base">
                                        <p:cTn id="23" dur="5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17" presetClass="entr" presetSubtype="8" fill="hold" nodeType="clickEffect">
                                  <p:stCondLst>
                                    <p:cond delay="0"/>
                                  </p:stCondLst>
                                  <p:childTnLst>
                                    <p:set>
                                      <p:cBhvr additive="base">
                                        <p:cTn id="27" dur="1" fill="hold">
                                          <p:stCondLst>
                                            <p:cond delay="0"/>
                                          </p:stCondLst>
                                        </p:cTn>
                                        <p:tgtEl>
                                          <p:spTgt spid="9"/>
                                        </p:tgtEl>
                                        <p:attrNameLst>
                                          <p:attrName>style.visibility</p:attrName>
                                        </p:attrNameLst>
                                      </p:cBhvr>
                                      <p:to>
                                        <p:strVal val="visible"/>
                                      </p:to>
                                    </p:set>
                                    <p:anim calcmode="lin" valueType="num">
                                      <p:cBhvr additive="base">
                                        <p:cTn id="28" dur="500" fill="hold"/>
                                        <p:tgtEl>
                                          <p:spTgt spid="9"/>
                                        </p:tgtEl>
                                        <p:attrNameLst>
                                          <p:attrName>ppt_x</p:attrName>
                                        </p:attrNameLst>
                                      </p:cBhvr>
                                      <p:tavLst>
                                        <p:tav tm="0">
                                          <p:val>
                                            <p:strVal val="#ppt_x-#ppt_w/2"/>
                                          </p:val>
                                        </p:tav>
                                        <p:tav tm="100000">
                                          <p:val>
                                            <p:strVal val="#ppt_x"/>
                                          </p:val>
                                        </p:tav>
                                      </p:tavLst>
                                    </p:anim>
                                    <p:anim calcmode="lin" valueType="num">
                                      <p:cBhvr additive="base">
                                        <p:cTn id="29" dur="500" fill="hold"/>
                                        <p:tgtEl>
                                          <p:spTgt spid="9"/>
                                        </p:tgtEl>
                                        <p:attrNameLst>
                                          <p:attrName>ppt_y</p:attrName>
                                        </p:attrNameLst>
                                      </p:cBhvr>
                                      <p:tavLst>
                                        <p:tav tm="0">
                                          <p:val>
                                            <p:strVal val="#ppt_y"/>
                                          </p:val>
                                        </p:tav>
                                        <p:tav tm="100000">
                                          <p:val>
                                            <p:strVal val="#ppt_y"/>
                                          </p:val>
                                        </p:tav>
                                      </p:tavLst>
                                    </p:anim>
                                    <p:anim calcmode="lin" valueType="num">
                                      <p:cBhvr additive="base">
                                        <p:cTn id="30" dur="500" fill="hold"/>
                                        <p:tgtEl>
                                          <p:spTgt spid="9"/>
                                        </p:tgtEl>
                                        <p:attrNameLst>
                                          <p:attrName>ppt_w</p:attrName>
                                        </p:attrNameLst>
                                      </p:cBhvr>
                                      <p:tavLst>
                                        <p:tav tm="0">
                                          <p:val>
                                            <p:fltVal val="0"/>
                                          </p:val>
                                        </p:tav>
                                        <p:tav tm="100000">
                                          <p:val>
                                            <p:strVal val="#ppt_w"/>
                                          </p:val>
                                        </p:tav>
                                      </p:tavLst>
                                    </p:anim>
                                    <p:anim calcmode="lin" valueType="num">
                                      <p:cBhvr additive="base">
                                        <p:cTn id="31" dur="5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17" presetClass="entr" presetSubtype="8" fill="hold" nodeType="clickEffect">
                                  <p:stCondLst>
                                    <p:cond delay="0"/>
                                  </p:stCondLst>
                                  <p:childTnLst>
                                    <p:set>
                                      <p:cBhvr additive="base">
                                        <p:cTn id="35" dur="1" fill="hold">
                                          <p:stCondLst>
                                            <p:cond delay="0"/>
                                          </p:stCondLst>
                                        </p:cTn>
                                        <p:tgtEl>
                                          <p:spTgt spid="13"/>
                                        </p:tgtEl>
                                        <p:attrNameLst>
                                          <p:attrName>style.visibility</p:attrName>
                                        </p:attrNameLst>
                                      </p:cBhvr>
                                      <p:to>
                                        <p:strVal val="visible"/>
                                      </p:to>
                                    </p:set>
                                    <p:anim calcmode="lin" valueType="num">
                                      <p:cBhvr additive="base">
                                        <p:cTn id="36" dur="500" fill="hold"/>
                                        <p:tgtEl>
                                          <p:spTgt spid="13"/>
                                        </p:tgtEl>
                                        <p:attrNameLst>
                                          <p:attrName>ppt_x</p:attrName>
                                        </p:attrNameLst>
                                      </p:cBhvr>
                                      <p:tavLst>
                                        <p:tav tm="0">
                                          <p:val>
                                            <p:strVal val="#ppt_x-#ppt_w/2"/>
                                          </p:val>
                                        </p:tav>
                                        <p:tav tm="100000">
                                          <p:val>
                                            <p:strVal val="#ppt_x"/>
                                          </p:val>
                                        </p:tav>
                                      </p:tavLst>
                                    </p:anim>
                                    <p:anim calcmode="lin" valueType="num">
                                      <p:cBhvr additive="base">
                                        <p:cTn id="37" dur="500" fill="hold"/>
                                        <p:tgtEl>
                                          <p:spTgt spid="13"/>
                                        </p:tgtEl>
                                        <p:attrNameLst>
                                          <p:attrName>ppt_y</p:attrName>
                                        </p:attrNameLst>
                                      </p:cBhvr>
                                      <p:tavLst>
                                        <p:tav tm="0">
                                          <p:val>
                                            <p:strVal val="#ppt_y"/>
                                          </p:val>
                                        </p:tav>
                                        <p:tav tm="100000">
                                          <p:val>
                                            <p:strVal val="#ppt_y"/>
                                          </p:val>
                                        </p:tav>
                                      </p:tavLst>
                                    </p:anim>
                                    <p:anim calcmode="lin" valueType="num">
                                      <p:cBhvr additive="base">
                                        <p:cTn id="38" dur="500" fill="hold"/>
                                        <p:tgtEl>
                                          <p:spTgt spid="13"/>
                                        </p:tgtEl>
                                        <p:attrNameLst>
                                          <p:attrName>ppt_w</p:attrName>
                                        </p:attrNameLst>
                                      </p:cBhvr>
                                      <p:tavLst>
                                        <p:tav tm="0">
                                          <p:val>
                                            <p:fltVal val="0"/>
                                          </p:val>
                                        </p:tav>
                                        <p:tav tm="100000">
                                          <p:val>
                                            <p:strVal val="#ppt_w"/>
                                          </p:val>
                                        </p:tav>
                                      </p:tavLst>
                                    </p:anim>
                                    <p:anim calcmode="lin" valueType="num">
                                      <p:cBhvr additive="base">
                                        <p:cTn id="39" dur="500" fill="hold"/>
                                        <p:tgtEl>
                                          <p:spTgt spid="13"/>
                                        </p:tgtEl>
                                        <p:attrNameLst>
                                          <p:attrName>ppt_h</p:attrName>
                                        </p:attrNameLst>
                                      </p:cBhvr>
                                      <p:tavLst>
                                        <p:tav tm="0">
                                          <p:val>
                                            <p:strVal val="#ppt_h"/>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17" presetClass="entr" presetSubtype="8" fill="hold" grpId="0" nodeType="clickEffect">
                                  <p:stCondLst>
                                    <p:cond delay="0"/>
                                  </p:stCondLst>
                                  <p:childTnLst>
                                    <p:set>
                                      <p:cBhvr additive="base">
                                        <p:cTn id="43" dur="1" fill="hold">
                                          <p:stCondLst>
                                            <p:cond delay="0"/>
                                          </p:stCondLst>
                                        </p:cTn>
                                        <p:tgtEl>
                                          <p:spTgt spid="6"/>
                                        </p:tgtEl>
                                        <p:attrNameLst>
                                          <p:attrName>style.visibility</p:attrName>
                                        </p:attrNameLst>
                                      </p:cBhvr>
                                      <p:to>
                                        <p:strVal val="visible"/>
                                      </p:to>
                                    </p:set>
                                    <p:anim calcmode="lin" valueType="num">
                                      <p:cBhvr additive="base">
                                        <p:cTn id="44" dur="500" fill="hold"/>
                                        <p:tgtEl>
                                          <p:spTgt spid="6"/>
                                        </p:tgtEl>
                                        <p:attrNameLst>
                                          <p:attrName>ppt_x</p:attrName>
                                        </p:attrNameLst>
                                      </p:cBhvr>
                                      <p:tavLst>
                                        <p:tav tm="0">
                                          <p:val>
                                            <p:strVal val="#ppt_x-#ppt_w/2"/>
                                          </p:val>
                                        </p:tav>
                                        <p:tav tm="100000">
                                          <p:val>
                                            <p:strVal val="#ppt_x"/>
                                          </p:val>
                                        </p:tav>
                                      </p:tavLst>
                                    </p:anim>
                                    <p:anim calcmode="lin" valueType="num">
                                      <p:cBhvr additive="base">
                                        <p:cTn id="45" dur="500" fill="hold"/>
                                        <p:tgtEl>
                                          <p:spTgt spid="6"/>
                                        </p:tgtEl>
                                        <p:attrNameLst>
                                          <p:attrName>ppt_y</p:attrName>
                                        </p:attrNameLst>
                                      </p:cBhvr>
                                      <p:tavLst>
                                        <p:tav tm="0">
                                          <p:val>
                                            <p:strVal val="#ppt_y"/>
                                          </p:val>
                                        </p:tav>
                                        <p:tav tm="100000">
                                          <p:val>
                                            <p:strVal val="#ppt_y"/>
                                          </p:val>
                                        </p:tav>
                                      </p:tavLst>
                                    </p:anim>
                                    <p:anim calcmode="lin" valueType="num">
                                      <p:cBhvr additive="base">
                                        <p:cTn id="46" dur="500" fill="hold"/>
                                        <p:tgtEl>
                                          <p:spTgt spid="6"/>
                                        </p:tgtEl>
                                        <p:attrNameLst>
                                          <p:attrName>ppt_w</p:attrName>
                                        </p:attrNameLst>
                                      </p:cBhvr>
                                      <p:tavLst>
                                        <p:tav tm="0">
                                          <p:val>
                                            <p:fltVal val="0"/>
                                          </p:val>
                                        </p:tav>
                                        <p:tav tm="100000">
                                          <p:val>
                                            <p:strVal val="#ppt_w"/>
                                          </p:val>
                                        </p:tav>
                                      </p:tavLst>
                                    </p:anim>
                                    <p:anim calcmode="lin" valueType="num">
                                      <p:cBhvr additive="base">
                                        <p:cTn id="47" dur="5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17" presetClass="entr" presetSubtype="8" fill="hold" nodeType="clickEffect">
                                  <p:stCondLst>
                                    <p:cond delay="0"/>
                                  </p:stCondLst>
                                  <p:childTnLst>
                                    <p:set>
                                      <p:cBhvr additive="base">
                                        <p:cTn id="51" dur="1" fill="hold">
                                          <p:stCondLst>
                                            <p:cond delay="0"/>
                                          </p:stCondLst>
                                        </p:cTn>
                                        <p:tgtEl>
                                          <p:spTgt spid="15"/>
                                        </p:tgtEl>
                                        <p:attrNameLst>
                                          <p:attrName>style.visibility</p:attrName>
                                        </p:attrNameLst>
                                      </p:cBhvr>
                                      <p:to>
                                        <p:strVal val="visible"/>
                                      </p:to>
                                    </p:set>
                                    <p:anim calcmode="lin" valueType="num">
                                      <p:cBhvr additive="base">
                                        <p:cTn id="52" dur="500" fill="hold"/>
                                        <p:tgtEl>
                                          <p:spTgt spid="15"/>
                                        </p:tgtEl>
                                        <p:attrNameLst>
                                          <p:attrName>ppt_x</p:attrName>
                                        </p:attrNameLst>
                                      </p:cBhvr>
                                      <p:tavLst>
                                        <p:tav tm="0">
                                          <p:val>
                                            <p:strVal val="#ppt_x-#ppt_w/2"/>
                                          </p:val>
                                        </p:tav>
                                        <p:tav tm="100000">
                                          <p:val>
                                            <p:strVal val="#ppt_x"/>
                                          </p:val>
                                        </p:tav>
                                      </p:tavLst>
                                    </p:anim>
                                    <p:anim calcmode="lin" valueType="num">
                                      <p:cBhvr additive="base">
                                        <p:cTn id="53" dur="500" fill="hold"/>
                                        <p:tgtEl>
                                          <p:spTgt spid="15"/>
                                        </p:tgtEl>
                                        <p:attrNameLst>
                                          <p:attrName>ppt_y</p:attrName>
                                        </p:attrNameLst>
                                      </p:cBhvr>
                                      <p:tavLst>
                                        <p:tav tm="0">
                                          <p:val>
                                            <p:strVal val="#ppt_y"/>
                                          </p:val>
                                        </p:tav>
                                        <p:tav tm="100000">
                                          <p:val>
                                            <p:strVal val="#ppt_y"/>
                                          </p:val>
                                        </p:tav>
                                      </p:tavLst>
                                    </p:anim>
                                    <p:anim calcmode="lin" valueType="num">
                                      <p:cBhvr additive="base">
                                        <p:cTn id="54" dur="500" fill="hold"/>
                                        <p:tgtEl>
                                          <p:spTgt spid="15"/>
                                        </p:tgtEl>
                                        <p:attrNameLst>
                                          <p:attrName>ppt_w</p:attrName>
                                        </p:attrNameLst>
                                      </p:cBhvr>
                                      <p:tavLst>
                                        <p:tav tm="0">
                                          <p:val>
                                            <p:fltVal val="0"/>
                                          </p:val>
                                        </p:tav>
                                        <p:tav tm="100000">
                                          <p:val>
                                            <p:strVal val="#ppt_w"/>
                                          </p:val>
                                        </p:tav>
                                      </p:tavLst>
                                    </p:anim>
                                    <p:anim calcmode="lin" valueType="num">
                                      <p:cBhvr additive="base">
                                        <p:cTn id="55" dur="500" fill="hold"/>
                                        <p:tgtEl>
                                          <p:spTgt spid="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3" grpId="0" build="p" bldLvl="2"/>
      <p:bldP spid="5" grpId="0" bldLvl="0" animBg="1"/>
      <p:bldP spid="6"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14690"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14691"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39</a:t>
            </a:fld>
            <a:endParaRPr lang="zh-CN" altLang="en-US" sz="1200" b="1" i="1" dirty="0">
              <a:latin typeface="Times New Roman" panose="02020603050405020304" pitchFamily="2" charset="0"/>
              <a:ea typeface="宋体" panose="02010600030101010101" pitchFamily="2" charset="-122"/>
            </a:endParaRPr>
          </a:p>
        </p:txBody>
      </p:sp>
      <p:sp>
        <p:nvSpPr>
          <p:cNvPr id="114692"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6.6 </a:t>
            </a:r>
            <a:r>
              <a:rPr lang="en-US" altLang="x-none" dirty="0">
                <a:ea typeface="宋体" panose="02010600030101010101" pitchFamily="2" charset="-122"/>
              </a:rPr>
              <a:t>Functional Dependencies</a:t>
            </a:r>
          </a:p>
        </p:txBody>
      </p:sp>
      <p:sp>
        <p:nvSpPr>
          <p:cNvPr id="114693" name="Rectangle 3"/>
          <p:cNvSpPr>
            <a:spLocks noGrp="1"/>
          </p:cNvSpPr>
          <p:nvPr>
            <p:ph type="body"/>
          </p:nvPr>
        </p:nvSpPr>
        <p:spPr>
          <a:xfrm>
            <a:off x="142875" y="694055"/>
            <a:ext cx="8696325" cy="1210945"/>
          </a:xfrm>
        </p:spPr>
        <p:txBody>
          <a:bodyPr wrap="square" anchor="t"/>
          <a:lstStyle/>
          <a:p>
            <a:pPr marL="457200" lvl="0" indent="-457200" eaLnBrk="1" hangingPunct="1"/>
            <a:r>
              <a:rPr lang="en-US" altLang="x-none" sz="3200" dirty="0">
                <a:ea typeface="宋体" panose="02010600030101010101" pitchFamily="2" charset="-122"/>
              </a:rPr>
              <a:t>Rule 7: Set Accumulation Rule</a:t>
            </a:r>
          </a:p>
          <a:p>
            <a:pPr marL="1371600" lvl="2" indent="-457200" eaLnBrk="1" hangingPunct="1">
              <a:buNone/>
            </a:pPr>
            <a:r>
              <a:rPr lang="en-US" altLang="x-none" sz="3200" dirty="0">
                <a:ea typeface="宋体" panose="02010600030101010101" pitchFamily="2" charset="-122"/>
              </a:rPr>
              <a:t>If X → YZ and Z → W, then X → YZW</a:t>
            </a:r>
          </a:p>
        </p:txBody>
      </p:sp>
      <p:sp>
        <p:nvSpPr>
          <p:cNvPr id="111623" name="Rectangle 4"/>
          <p:cNvSpPr/>
          <p:nvPr/>
        </p:nvSpPr>
        <p:spPr>
          <a:xfrm>
            <a:off x="142875" y="1981200"/>
            <a:ext cx="8893175" cy="518160"/>
          </a:xfrm>
          <a:prstGeom prst="rect">
            <a:avLst/>
          </a:prstGeom>
          <a:noFill/>
          <a:ln w="9525">
            <a:noFill/>
          </a:ln>
        </p:spPr>
        <p:txBody>
          <a:bodyPr anchor="t">
            <a:spAutoFit/>
          </a:bodyPr>
          <a:lstStyle/>
          <a:p>
            <a:pPr marL="457200" lvl="0" indent="-457200">
              <a:spcBef>
                <a:spcPct val="20000"/>
              </a:spcBef>
              <a:buClr>
                <a:schemeClr val="tx1"/>
              </a:buClr>
              <a:buFont typeface="Wingdings" panose="05000000000000000000" pitchFamily="2" charset="2"/>
              <a:buChar char="q"/>
            </a:pPr>
            <a:r>
              <a:rPr lang="en-US" altLang="x-none" sz="2800" b="1" dirty="0">
                <a:solidFill>
                  <a:srgbClr val="FF0000"/>
                </a:solidFill>
                <a:latin typeface="Arial" panose="020B0604020202020204" pitchFamily="34" charset="0"/>
                <a:ea typeface="宋体" panose="02010600030101010101" pitchFamily="2" charset="-122"/>
              </a:rPr>
              <a:t>Proof: </a:t>
            </a:r>
            <a:endParaRPr lang="en-US" altLang="x-none" sz="2800" b="1" dirty="0">
              <a:solidFill>
                <a:schemeClr val="accent2"/>
              </a:solidFill>
              <a:latin typeface="Arial" panose="020B0604020202020204" pitchFamily="34" charset="0"/>
              <a:ea typeface="宋体" panose="02010600030101010101" pitchFamily="2" charset="-122"/>
            </a:endParaRPr>
          </a:p>
        </p:txBody>
      </p:sp>
      <p:sp>
        <p:nvSpPr>
          <p:cNvPr id="5" name="右箭头 4"/>
          <p:cNvSpPr/>
          <p:nvPr/>
        </p:nvSpPr>
        <p:spPr>
          <a:xfrm>
            <a:off x="2200275" y="2738940"/>
            <a:ext cx="1980000" cy="700880"/>
          </a:xfrm>
          <a:prstGeom prst="rightArrow">
            <a:avLst/>
          </a:prstGeom>
          <a:noFill/>
          <a:ln w="12700" cmpd="sng">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lIns="0" tIns="36195" rIns="0" bIns="36195" rtlCol="0" anchor="ctr">
            <a:spAutoFit/>
          </a:bodyPr>
          <a:lstStyle/>
          <a:p>
            <a:pPr algn="ctr"/>
            <a:r>
              <a:rPr lang="en-US" altLang="zh-CN" sz="2000">
                <a:solidFill>
                  <a:srgbClr val="FF0000"/>
                </a:solidFill>
              </a:rPr>
              <a:t>Augmentation</a:t>
            </a:r>
          </a:p>
        </p:txBody>
      </p:sp>
      <p:sp>
        <p:nvSpPr>
          <p:cNvPr id="6" name="右箭头 5"/>
          <p:cNvSpPr/>
          <p:nvPr/>
        </p:nvSpPr>
        <p:spPr>
          <a:xfrm>
            <a:off x="5267960" y="4891590"/>
            <a:ext cx="1548000" cy="754378"/>
          </a:xfrm>
          <a:prstGeom prst="rightArrow">
            <a:avLst/>
          </a:prstGeom>
          <a:noFill/>
          <a:ln w="12700" cmpd="sng">
            <a:solidFill>
              <a:schemeClr val="accent1">
                <a:shade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lIns="0" tIns="36195" rIns="0" bIns="36195" rtlCol="0" anchor="ctr">
            <a:spAutoFit/>
          </a:bodyPr>
          <a:lstStyle/>
          <a:p>
            <a:pPr algn="ctr"/>
            <a:r>
              <a:rPr lang="en-US" altLang="zh-CN" sz="2000">
                <a:solidFill>
                  <a:srgbClr val="FF0000"/>
                </a:solidFill>
              </a:rPr>
              <a:t>Transitivity</a:t>
            </a:r>
          </a:p>
        </p:txBody>
      </p:sp>
      <p:graphicFrame>
        <p:nvGraphicFramePr>
          <p:cNvPr id="7" name="对象 6">
            <a:hlinkClick r:id="" action="ppaction://ole?verb=0"/>
          </p:cNvPr>
          <p:cNvGraphicFramePr>
            <a:graphicFrameLocks noChangeAspect="1"/>
          </p:cNvGraphicFramePr>
          <p:nvPr/>
        </p:nvGraphicFramePr>
        <p:xfrm>
          <a:off x="216000" y="2808000"/>
          <a:ext cx="2024380" cy="539750"/>
        </p:xfrm>
        <a:graphic>
          <a:graphicData uri="http://schemas.openxmlformats.org/presentationml/2006/ole">
            <mc:AlternateContent xmlns:mc="http://schemas.openxmlformats.org/markup-compatibility/2006">
              <mc:Choice xmlns:v="urn:schemas-microsoft-com:vml" Requires="v">
                <p:oleObj spid="_x0000_s11290" r:id="rId3" imgW="571500" imgH="152400" progId="Equation.KSEE3">
                  <p:embed/>
                </p:oleObj>
              </mc:Choice>
              <mc:Fallback>
                <p:oleObj r:id="rId3" imgW="571500" imgH="152400" progId="Equation.KSEE3">
                  <p:embed/>
                  <p:pic>
                    <p:nvPicPr>
                      <p:cNvPr id="0" name="图片 1024"/>
                      <p:cNvPicPr/>
                      <p:nvPr/>
                    </p:nvPicPr>
                    <p:blipFill>
                      <a:blip r:embed="rId4"/>
                      <a:stretch>
                        <a:fillRect/>
                      </a:stretch>
                    </p:blipFill>
                    <p:spPr>
                      <a:xfrm>
                        <a:off x="216000" y="2808000"/>
                        <a:ext cx="2024380" cy="539750"/>
                      </a:xfrm>
                      <a:prstGeom prst="rect">
                        <a:avLst/>
                      </a:prstGeom>
                    </p:spPr>
                  </p:pic>
                </p:oleObj>
              </mc:Fallback>
            </mc:AlternateContent>
          </a:graphicData>
        </a:graphic>
      </p:graphicFrame>
      <p:graphicFrame>
        <p:nvGraphicFramePr>
          <p:cNvPr id="9" name="对象 8">
            <a:hlinkClick r:id="" action="ppaction://ole?verb=0"/>
          </p:cNvPr>
          <p:cNvGraphicFramePr>
            <a:graphicFrameLocks noChangeAspect="1"/>
          </p:cNvGraphicFramePr>
          <p:nvPr/>
        </p:nvGraphicFramePr>
        <p:xfrm>
          <a:off x="4201385" y="2808000"/>
          <a:ext cx="2249170" cy="539750"/>
        </p:xfrm>
        <a:graphic>
          <a:graphicData uri="http://schemas.openxmlformats.org/presentationml/2006/ole">
            <mc:AlternateContent xmlns:mc="http://schemas.openxmlformats.org/markup-compatibility/2006">
              <mc:Choice xmlns:v="urn:schemas-microsoft-com:vml" Requires="v">
                <p:oleObj spid="_x0000_s11291" r:id="rId5" imgW="634365" imgH="152400" progId="Equation.KSEE3">
                  <p:embed/>
                </p:oleObj>
              </mc:Choice>
              <mc:Fallback>
                <p:oleObj r:id="rId5" imgW="634365" imgH="152400" progId="Equation.KSEE3">
                  <p:embed/>
                  <p:pic>
                    <p:nvPicPr>
                      <p:cNvPr id="0" name="图片 1025"/>
                      <p:cNvPicPr/>
                      <p:nvPr/>
                    </p:nvPicPr>
                    <p:blipFill>
                      <a:blip r:embed="rId6"/>
                      <a:stretch>
                        <a:fillRect/>
                      </a:stretch>
                    </p:blipFill>
                    <p:spPr>
                      <a:xfrm>
                        <a:off x="4201385" y="2808000"/>
                        <a:ext cx="2249170" cy="539750"/>
                      </a:xfrm>
                      <a:prstGeom prst="rect">
                        <a:avLst/>
                      </a:prstGeom>
                    </p:spPr>
                  </p:pic>
                </p:oleObj>
              </mc:Fallback>
            </mc:AlternateContent>
          </a:graphicData>
        </a:graphic>
      </p:graphicFrame>
      <p:graphicFrame>
        <p:nvGraphicFramePr>
          <p:cNvPr id="13" name="对象 12">
            <a:hlinkClick r:id="" action="ppaction://ole?verb=0"/>
          </p:cNvPr>
          <p:cNvGraphicFramePr>
            <a:graphicFrameLocks noChangeAspect="1"/>
          </p:cNvGraphicFramePr>
          <p:nvPr/>
        </p:nvGraphicFramePr>
        <p:xfrm>
          <a:off x="216000" y="4968000"/>
          <a:ext cx="4949190" cy="539750"/>
        </p:xfrm>
        <a:graphic>
          <a:graphicData uri="http://schemas.openxmlformats.org/presentationml/2006/ole">
            <mc:AlternateContent xmlns:mc="http://schemas.openxmlformats.org/markup-compatibility/2006">
              <mc:Choice xmlns:v="urn:schemas-microsoft-com:vml" Requires="v">
                <p:oleObj spid="_x0000_s11292" r:id="rId7" imgW="1511300" imgH="165100" progId="Equation.KSEE3">
                  <p:embed/>
                </p:oleObj>
              </mc:Choice>
              <mc:Fallback>
                <p:oleObj r:id="rId7" imgW="1511300" imgH="165100" progId="Equation.KSEE3">
                  <p:embed/>
                  <p:pic>
                    <p:nvPicPr>
                      <p:cNvPr id="0" name="图片 1024"/>
                      <p:cNvPicPr/>
                      <p:nvPr/>
                    </p:nvPicPr>
                    <p:blipFill>
                      <a:blip r:embed="rId8"/>
                      <a:stretch>
                        <a:fillRect/>
                      </a:stretch>
                    </p:blipFill>
                    <p:spPr>
                      <a:xfrm>
                        <a:off x="216000" y="4968000"/>
                        <a:ext cx="4949190" cy="539750"/>
                      </a:xfrm>
                      <a:prstGeom prst="rect">
                        <a:avLst/>
                      </a:prstGeom>
                    </p:spPr>
                  </p:pic>
                </p:oleObj>
              </mc:Fallback>
            </mc:AlternateContent>
          </a:graphicData>
        </a:graphic>
      </p:graphicFrame>
      <p:graphicFrame>
        <p:nvGraphicFramePr>
          <p:cNvPr id="15" name="对象 14">
            <a:hlinkClick r:id="" action="ppaction://ole?verb=0"/>
          </p:cNvPr>
          <p:cNvGraphicFramePr>
            <a:graphicFrameLocks noChangeAspect="1"/>
          </p:cNvGraphicFramePr>
          <p:nvPr/>
        </p:nvGraphicFramePr>
        <p:xfrm>
          <a:off x="6762658" y="4968000"/>
          <a:ext cx="2116455" cy="539750"/>
        </p:xfrm>
        <a:graphic>
          <a:graphicData uri="http://schemas.openxmlformats.org/presentationml/2006/ole">
            <mc:AlternateContent xmlns:mc="http://schemas.openxmlformats.org/markup-compatibility/2006">
              <mc:Choice xmlns:v="urn:schemas-microsoft-com:vml" Requires="v">
                <p:oleObj spid="_x0000_s11293" r:id="rId9" imgW="596900" imgH="152400" progId="Equation.KSEE3">
                  <p:embed/>
                </p:oleObj>
              </mc:Choice>
              <mc:Fallback>
                <p:oleObj r:id="rId9" imgW="596900" imgH="152400" progId="Equation.KSEE3">
                  <p:embed/>
                  <p:pic>
                    <p:nvPicPr>
                      <p:cNvPr id="0" name="图片 1025"/>
                      <p:cNvPicPr/>
                      <p:nvPr/>
                    </p:nvPicPr>
                    <p:blipFill>
                      <a:blip r:embed="rId10"/>
                      <a:stretch>
                        <a:fillRect/>
                      </a:stretch>
                    </p:blipFill>
                    <p:spPr>
                      <a:xfrm>
                        <a:off x="6762658" y="4968000"/>
                        <a:ext cx="2116455" cy="539750"/>
                      </a:xfrm>
                      <a:prstGeom prst="rect">
                        <a:avLst/>
                      </a:prstGeom>
                    </p:spPr>
                  </p:pic>
                </p:oleObj>
              </mc:Fallback>
            </mc:AlternateContent>
          </a:graphicData>
        </a:graphic>
      </p:graphicFrame>
      <p:graphicFrame>
        <p:nvGraphicFramePr>
          <p:cNvPr id="2" name="对象 1">
            <a:hlinkClick r:id="" action="ppaction://ole?verb=0"/>
          </p:cNvPr>
          <p:cNvGraphicFramePr>
            <a:graphicFrameLocks noChangeAspect="1"/>
          </p:cNvGraphicFramePr>
          <p:nvPr/>
        </p:nvGraphicFramePr>
        <p:xfrm>
          <a:off x="576616" y="3439727"/>
          <a:ext cx="8276888" cy="1188000"/>
        </p:xfrm>
        <a:graphic>
          <a:graphicData uri="http://schemas.openxmlformats.org/presentationml/2006/ole">
            <mc:AlternateContent xmlns:mc="http://schemas.openxmlformats.org/markup-compatibility/2006">
              <mc:Choice xmlns:v="urn:schemas-microsoft-com:vml" Requires="v">
                <p:oleObj spid="_x0000_s11294" r:id="rId11" imgW="2920365" imgH="419100" progId="Equation.KSEE3">
                  <p:embed/>
                </p:oleObj>
              </mc:Choice>
              <mc:Fallback>
                <p:oleObj r:id="rId11" imgW="2920365" imgH="419100" progId="Equation.KSEE3">
                  <p:embed/>
                  <p:pic>
                    <p:nvPicPr>
                      <p:cNvPr id="0" name="图片 1024"/>
                      <p:cNvPicPr/>
                      <p:nvPr/>
                    </p:nvPicPr>
                    <p:blipFill>
                      <a:blip r:embed="rId12"/>
                      <a:stretch>
                        <a:fillRect/>
                      </a:stretch>
                    </p:blipFill>
                    <p:spPr>
                      <a:xfrm>
                        <a:off x="576616" y="3439727"/>
                        <a:ext cx="8276888" cy="1188000"/>
                      </a:xfrm>
                      <a:prstGeom prst="rect">
                        <a:avLst/>
                      </a:prstGeom>
                      <a:ln>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1623">
                                            <p:txEl>
                                              <p:pRg st="0" end="0"/>
                                            </p:txEl>
                                          </p:spTgt>
                                        </p:tgtEl>
                                        <p:attrNameLst>
                                          <p:attrName>style.visibility</p:attrName>
                                        </p:attrNameLst>
                                      </p:cBhvr>
                                      <p:to>
                                        <p:strVal val="visible"/>
                                      </p:to>
                                    </p:set>
                                    <p:animEffect transition="in" filter="blinds(horizontal)">
                                      <p:cBhvr>
                                        <p:cTn id="7" dur="500"/>
                                        <p:tgtEl>
                                          <p:spTgt spid="1116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8" fill="hold" nodeType="clickEffect">
                                  <p:stCondLst>
                                    <p:cond delay="0"/>
                                  </p:stCondLst>
                                  <p:childTnLst>
                                    <p:set>
                                      <p:cBhvr additive="base">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anim calcmode="lin" valueType="num">
                                      <p:cBhvr additive="base">
                                        <p:cTn id="14" dur="500" fill="hold"/>
                                        <p:tgtEl>
                                          <p:spTgt spid="7"/>
                                        </p:tgtEl>
                                        <p:attrNameLst>
                                          <p:attrName>ppt_w</p:attrName>
                                        </p:attrNameLst>
                                      </p:cBhvr>
                                      <p:tavLst>
                                        <p:tav tm="0">
                                          <p:val>
                                            <p:fltVal val="0"/>
                                          </p:val>
                                        </p:tav>
                                        <p:tav tm="100000">
                                          <p:val>
                                            <p:strVal val="#ppt_w"/>
                                          </p:val>
                                        </p:tav>
                                      </p:tavLst>
                                    </p:anim>
                                    <p:anim calcmode="lin" valueType="num">
                                      <p:cBhvr additive="base">
                                        <p:cTn id="15" dur="500" fill="hold"/>
                                        <p:tgtEl>
                                          <p:spTgt spid="7"/>
                                        </p:tgtEl>
                                        <p:attrNameLst>
                                          <p:attrName>ppt_h</p:attrName>
                                        </p:attrNameLst>
                                      </p:cBhvr>
                                      <p:tavLst>
                                        <p:tav tm="0">
                                          <p:val>
                                            <p:strVal val="#ppt_h"/>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17" presetClass="entr" presetSubtype="8" fill="hold" grpId="0" nodeType="clickEffect">
                                  <p:stCondLst>
                                    <p:cond delay="0"/>
                                  </p:stCondLst>
                                  <p:childTnLst>
                                    <p:set>
                                      <p:cBhvr additive="base">
                                        <p:cTn id="19" dur="1" fill="hold">
                                          <p:stCondLst>
                                            <p:cond delay="0"/>
                                          </p:stCondLst>
                                        </p:cTn>
                                        <p:tgtEl>
                                          <p:spTgt spid="5"/>
                                        </p:tgtEl>
                                        <p:attrNameLst>
                                          <p:attrName>style.visibility</p:attrName>
                                        </p:attrNameLst>
                                      </p:cBhvr>
                                      <p:to>
                                        <p:strVal val="visible"/>
                                      </p:to>
                                    </p:set>
                                    <p:anim calcmode="lin" valueType="num">
                                      <p:cBhvr additive="base">
                                        <p:cTn id="20" dur="500" fill="hold"/>
                                        <p:tgtEl>
                                          <p:spTgt spid="5"/>
                                        </p:tgtEl>
                                        <p:attrNameLst>
                                          <p:attrName>ppt_x</p:attrName>
                                        </p:attrNameLst>
                                      </p:cBhvr>
                                      <p:tavLst>
                                        <p:tav tm="0">
                                          <p:val>
                                            <p:strVal val="#ppt_x-#ppt_w/2"/>
                                          </p:val>
                                        </p:tav>
                                        <p:tav tm="100000">
                                          <p:val>
                                            <p:strVal val="#ppt_x"/>
                                          </p:val>
                                        </p:tav>
                                      </p:tavLst>
                                    </p:anim>
                                    <p:anim calcmode="lin" valueType="num">
                                      <p:cBhvr additive="base">
                                        <p:cTn id="21" dur="500" fill="hold"/>
                                        <p:tgtEl>
                                          <p:spTgt spid="5"/>
                                        </p:tgtEl>
                                        <p:attrNameLst>
                                          <p:attrName>ppt_y</p:attrName>
                                        </p:attrNameLst>
                                      </p:cBhvr>
                                      <p:tavLst>
                                        <p:tav tm="0">
                                          <p:val>
                                            <p:strVal val="#ppt_y"/>
                                          </p:val>
                                        </p:tav>
                                        <p:tav tm="100000">
                                          <p:val>
                                            <p:strVal val="#ppt_y"/>
                                          </p:val>
                                        </p:tav>
                                      </p:tavLst>
                                    </p:anim>
                                    <p:anim calcmode="lin" valueType="num">
                                      <p:cBhvr additive="base">
                                        <p:cTn id="22" dur="500" fill="hold"/>
                                        <p:tgtEl>
                                          <p:spTgt spid="5"/>
                                        </p:tgtEl>
                                        <p:attrNameLst>
                                          <p:attrName>ppt_w</p:attrName>
                                        </p:attrNameLst>
                                      </p:cBhvr>
                                      <p:tavLst>
                                        <p:tav tm="0">
                                          <p:val>
                                            <p:fltVal val="0"/>
                                          </p:val>
                                        </p:tav>
                                        <p:tav tm="100000">
                                          <p:val>
                                            <p:strVal val="#ppt_w"/>
                                          </p:val>
                                        </p:tav>
                                      </p:tavLst>
                                    </p:anim>
                                    <p:anim calcmode="lin" valueType="num">
                                      <p:cBhvr additive="base">
                                        <p:cTn id="23" dur="5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17" presetClass="entr" presetSubtype="8" fill="hold" nodeType="clickEffect">
                                  <p:stCondLst>
                                    <p:cond delay="0"/>
                                  </p:stCondLst>
                                  <p:childTnLst>
                                    <p:set>
                                      <p:cBhvr additive="base">
                                        <p:cTn id="27" dur="1" fill="hold">
                                          <p:stCondLst>
                                            <p:cond delay="0"/>
                                          </p:stCondLst>
                                        </p:cTn>
                                        <p:tgtEl>
                                          <p:spTgt spid="9"/>
                                        </p:tgtEl>
                                        <p:attrNameLst>
                                          <p:attrName>style.visibility</p:attrName>
                                        </p:attrNameLst>
                                      </p:cBhvr>
                                      <p:to>
                                        <p:strVal val="visible"/>
                                      </p:to>
                                    </p:set>
                                    <p:anim calcmode="lin" valueType="num">
                                      <p:cBhvr additive="base">
                                        <p:cTn id="28" dur="500" fill="hold"/>
                                        <p:tgtEl>
                                          <p:spTgt spid="9"/>
                                        </p:tgtEl>
                                        <p:attrNameLst>
                                          <p:attrName>ppt_x</p:attrName>
                                        </p:attrNameLst>
                                      </p:cBhvr>
                                      <p:tavLst>
                                        <p:tav tm="0">
                                          <p:val>
                                            <p:strVal val="#ppt_x-#ppt_w/2"/>
                                          </p:val>
                                        </p:tav>
                                        <p:tav tm="100000">
                                          <p:val>
                                            <p:strVal val="#ppt_x"/>
                                          </p:val>
                                        </p:tav>
                                      </p:tavLst>
                                    </p:anim>
                                    <p:anim calcmode="lin" valueType="num">
                                      <p:cBhvr additive="base">
                                        <p:cTn id="29" dur="500" fill="hold"/>
                                        <p:tgtEl>
                                          <p:spTgt spid="9"/>
                                        </p:tgtEl>
                                        <p:attrNameLst>
                                          <p:attrName>ppt_y</p:attrName>
                                        </p:attrNameLst>
                                      </p:cBhvr>
                                      <p:tavLst>
                                        <p:tav tm="0">
                                          <p:val>
                                            <p:strVal val="#ppt_y"/>
                                          </p:val>
                                        </p:tav>
                                        <p:tav tm="100000">
                                          <p:val>
                                            <p:strVal val="#ppt_y"/>
                                          </p:val>
                                        </p:tav>
                                      </p:tavLst>
                                    </p:anim>
                                    <p:anim calcmode="lin" valueType="num">
                                      <p:cBhvr additive="base">
                                        <p:cTn id="30" dur="500" fill="hold"/>
                                        <p:tgtEl>
                                          <p:spTgt spid="9"/>
                                        </p:tgtEl>
                                        <p:attrNameLst>
                                          <p:attrName>ppt_w</p:attrName>
                                        </p:attrNameLst>
                                      </p:cBhvr>
                                      <p:tavLst>
                                        <p:tav tm="0">
                                          <p:val>
                                            <p:fltVal val="0"/>
                                          </p:val>
                                        </p:tav>
                                        <p:tav tm="100000">
                                          <p:val>
                                            <p:strVal val="#ppt_w"/>
                                          </p:val>
                                        </p:tav>
                                      </p:tavLst>
                                    </p:anim>
                                    <p:anim calcmode="lin" valueType="num">
                                      <p:cBhvr additive="base">
                                        <p:cTn id="31" dur="5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blinds(horizontal)">
                                      <p:cBhvr>
                                        <p:cTn id="36" dur="500"/>
                                        <p:tgtEl>
                                          <p:spTgt spid="2"/>
                                        </p:tgtEl>
                                      </p:cBhvr>
                                    </p:animEffect>
                                  </p:childTnLst>
                                </p:cTn>
                              </p:par>
                            </p:childTnLst>
                          </p:cTn>
                        </p:par>
                      </p:childTnLst>
                    </p:cTn>
                  </p:par>
                  <p:par>
                    <p:cTn id="37" fill="hold">
                      <p:stCondLst>
                        <p:cond delay="indefinite"/>
                      </p:stCondLst>
                      <p:childTnLst>
                        <p:par>
                          <p:cTn id="38" fill="hold">
                            <p:stCondLst>
                              <p:cond delay="0"/>
                            </p:stCondLst>
                            <p:childTnLst>
                              <p:par>
                                <p:cTn id="39" presetID="17" presetClass="entr" presetSubtype="8" fill="hold" nodeType="clickEffect">
                                  <p:stCondLst>
                                    <p:cond delay="0"/>
                                  </p:stCondLst>
                                  <p:childTnLst>
                                    <p:set>
                                      <p:cBhvr additive="base">
                                        <p:cTn id="40" dur="1" fill="hold">
                                          <p:stCondLst>
                                            <p:cond delay="0"/>
                                          </p:stCondLst>
                                        </p:cTn>
                                        <p:tgtEl>
                                          <p:spTgt spid="13"/>
                                        </p:tgtEl>
                                        <p:attrNameLst>
                                          <p:attrName>style.visibility</p:attrName>
                                        </p:attrNameLst>
                                      </p:cBhvr>
                                      <p:to>
                                        <p:strVal val="visible"/>
                                      </p:to>
                                    </p:set>
                                    <p:anim calcmode="lin" valueType="num">
                                      <p:cBhvr additive="base">
                                        <p:cTn id="41" dur="500" fill="hold"/>
                                        <p:tgtEl>
                                          <p:spTgt spid="13"/>
                                        </p:tgtEl>
                                        <p:attrNameLst>
                                          <p:attrName>ppt_x</p:attrName>
                                        </p:attrNameLst>
                                      </p:cBhvr>
                                      <p:tavLst>
                                        <p:tav tm="0">
                                          <p:val>
                                            <p:strVal val="#ppt_x-#ppt_w/2"/>
                                          </p:val>
                                        </p:tav>
                                        <p:tav tm="100000">
                                          <p:val>
                                            <p:strVal val="#ppt_x"/>
                                          </p:val>
                                        </p:tav>
                                      </p:tavLst>
                                    </p:anim>
                                    <p:anim calcmode="lin" valueType="num">
                                      <p:cBhvr additive="base">
                                        <p:cTn id="42" dur="500" fill="hold"/>
                                        <p:tgtEl>
                                          <p:spTgt spid="13"/>
                                        </p:tgtEl>
                                        <p:attrNameLst>
                                          <p:attrName>ppt_y</p:attrName>
                                        </p:attrNameLst>
                                      </p:cBhvr>
                                      <p:tavLst>
                                        <p:tav tm="0">
                                          <p:val>
                                            <p:strVal val="#ppt_y"/>
                                          </p:val>
                                        </p:tav>
                                        <p:tav tm="100000">
                                          <p:val>
                                            <p:strVal val="#ppt_y"/>
                                          </p:val>
                                        </p:tav>
                                      </p:tavLst>
                                    </p:anim>
                                    <p:anim calcmode="lin" valueType="num">
                                      <p:cBhvr additive="base">
                                        <p:cTn id="43" dur="500" fill="hold"/>
                                        <p:tgtEl>
                                          <p:spTgt spid="13"/>
                                        </p:tgtEl>
                                        <p:attrNameLst>
                                          <p:attrName>ppt_w</p:attrName>
                                        </p:attrNameLst>
                                      </p:cBhvr>
                                      <p:tavLst>
                                        <p:tav tm="0">
                                          <p:val>
                                            <p:fltVal val="0"/>
                                          </p:val>
                                        </p:tav>
                                        <p:tav tm="100000">
                                          <p:val>
                                            <p:strVal val="#ppt_w"/>
                                          </p:val>
                                        </p:tav>
                                      </p:tavLst>
                                    </p:anim>
                                    <p:anim calcmode="lin" valueType="num">
                                      <p:cBhvr additive="base">
                                        <p:cTn id="44" dur="500" fill="hold"/>
                                        <p:tgtEl>
                                          <p:spTgt spid="13"/>
                                        </p:tgtEl>
                                        <p:attrNameLst>
                                          <p:attrName>ppt_h</p:attrName>
                                        </p:attrNameLst>
                                      </p:cBhvr>
                                      <p:tavLst>
                                        <p:tav tm="0">
                                          <p:val>
                                            <p:strVal val="#ppt_h"/>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17" presetClass="entr" presetSubtype="8" fill="hold" grpId="0" nodeType="clickEffect">
                                  <p:stCondLst>
                                    <p:cond delay="0"/>
                                  </p:stCondLst>
                                  <p:childTnLst>
                                    <p:set>
                                      <p:cBhvr additive="base">
                                        <p:cTn id="48" dur="1" fill="hold">
                                          <p:stCondLst>
                                            <p:cond delay="0"/>
                                          </p:stCondLst>
                                        </p:cTn>
                                        <p:tgtEl>
                                          <p:spTgt spid="6"/>
                                        </p:tgtEl>
                                        <p:attrNameLst>
                                          <p:attrName>style.visibility</p:attrName>
                                        </p:attrNameLst>
                                      </p:cBhvr>
                                      <p:to>
                                        <p:strVal val="visible"/>
                                      </p:to>
                                    </p:set>
                                    <p:anim calcmode="lin" valueType="num">
                                      <p:cBhvr additive="base">
                                        <p:cTn id="49" dur="500" fill="hold"/>
                                        <p:tgtEl>
                                          <p:spTgt spid="6"/>
                                        </p:tgtEl>
                                        <p:attrNameLst>
                                          <p:attrName>ppt_x</p:attrName>
                                        </p:attrNameLst>
                                      </p:cBhvr>
                                      <p:tavLst>
                                        <p:tav tm="0">
                                          <p:val>
                                            <p:strVal val="#ppt_x-#ppt_w/2"/>
                                          </p:val>
                                        </p:tav>
                                        <p:tav tm="100000">
                                          <p:val>
                                            <p:strVal val="#ppt_x"/>
                                          </p:val>
                                        </p:tav>
                                      </p:tavLst>
                                    </p:anim>
                                    <p:anim calcmode="lin" valueType="num">
                                      <p:cBhvr additive="base">
                                        <p:cTn id="50" dur="500" fill="hold"/>
                                        <p:tgtEl>
                                          <p:spTgt spid="6"/>
                                        </p:tgtEl>
                                        <p:attrNameLst>
                                          <p:attrName>ppt_y</p:attrName>
                                        </p:attrNameLst>
                                      </p:cBhvr>
                                      <p:tavLst>
                                        <p:tav tm="0">
                                          <p:val>
                                            <p:strVal val="#ppt_y"/>
                                          </p:val>
                                        </p:tav>
                                        <p:tav tm="100000">
                                          <p:val>
                                            <p:strVal val="#ppt_y"/>
                                          </p:val>
                                        </p:tav>
                                      </p:tavLst>
                                    </p:anim>
                                    <p:anim calcmode="lin" valueType="num">
                                      <p:cBhvr additive="base">
                                        <p:cTn id="51" dur="500" fill="hold"/>
                                        <p:tgtEl>
                                          <p:spTgt spid="6"/>
                                        </p:tgtEl>
                                        <p:attrNameLst>
                                          <p:attrName>ppt_w</p:attrName>
                                        </p:attrNameLst>
                                      </p:cBhvr>
                                      <p:tavLst>
                                        <p:tav tm="0">
                                          <p:val>
                                            <p:fltVal val="0"/>
                                          </p:val>
                                        </p:tav>
                                        <p:tav tm="100000">
                                          <p:val>
                                            <p:strVal val="#ppt_w"/>
                                          </p:val>
                                        </p:tav>
                                      </p:tavLst>
                                    </p:anim>
                                    <p:anim calcmode="lin" valueType="num">
                                      <p:cBhvr additive="base">
                                        <p:cTn id="52" dur="5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55" presetID="17" presetClass="entr" presetSubtype="8" fill="hold" nodeType="clickEffect">
                                  <p:stCondLst>
                                    <p:cond delay="0"/>
                                  </p:stCondLst>
                                  <p:childTnLst>
                                    <p:set>
                                      <p:cBhvr additive="base">
                                        <p:cTn id="56" dur="1" fill="hold">
                                          <p:stCondLst>
                                            <p:cond delay="0"/>
                                          </p:stCondLst>
                                        </p:cTn>
                                        <p:tgtEl>
                                          <p:spTgt spid="15"/>
                                        </p:tgtEl>
                                        <p:attrNameLst>
                                          <p:attrName>style.visibility</p:attrName>
                                        </p:attrNameLst>
                                      </p:cBhvr>
                                      <p:to>
                                        <p:strVal val="visible"/>
                                      </p:to>
                                    </p:set>
                                    <p:anim calcmode="lin" valueType="num">
                                      <p:cBhvr additive="base">
                                        <p:cTn id="57" dur="500" fill="hold"/>
                                        <p:tgtEl>
                                          <p:spTgt spid="15"/>
                                        </p:tgtEl>
                                        <p:attrNameLst>
                                          <p:attrName>ppt_x</p:attrName>
                                        </p:attrNameLst>
                                      </p:cBhvr>
                                      <p:tavLst>
                                        <p:tav tm="0">
                                          <p:val>
                                            <p:strVal val="#ppt_x-#ppt_w/2"/>
                                          </p:val>
                                        </p:tav>
                                        <p:tav tm="100000">
                                          <p:val>
                                            <p:strVal val="#ppt_x"/>
                                          </p:val>
                                        </p:tav>
                                      </p:tavLst>
                                    </p:anim>
                                    <p:anim calcmode="lin" valueType="num">
                                      <p:cBhvr additive="base">
                                        <p:cTn id="58" dur="500" fill="hold"/>
                                        <p:tgtEl>
                                          <p:spTgt spid="15"/>
                                        </p:tgtEl>
                                        <p:attrNameLst>
                                          <p:attrName>ppt_y</p:attrName>
                                        </p:attrNameLst>
                                      </p:cBhvr>
                                      <p:tavLst>
                                        <p:tav tm="0">
                                          <p:val>
                                            <p:strVal val="#ppt_y"/>
                                          </p:val>
                                        </p:tav>
                                        <p:tav tm="100000">
                                          <p:val>
                                            <p:strVal val="#ppt_y"/>
                                          </p:val>
                                        </p:tav>
                                      </p:tavLst>
                                    </p:anim>
                                    <p:anim calcmode="lin" valueType="num">
                                      <p:cBhvr additive="base">
                                        <p:cTn id="59" dur="500" fill="hold"/>
                                        <p:tgtEl>
                                          <p:spTgt spid="15"/>
                                        </p:tgtEl>
                                        <p:attrNameLst>
                                          <p:attrName>ppt_w</p:attrName>
                                        </p:attrNameLst>
                                      </p:cBhvr>
                                      <p:tavLst>
                                        <p:tav tm="0">
                                          <p:val>
                                            <p:fltVal val="0"/>
                                          </p:val>
                                        </p:tav>
                                        <p:tav tm="100000">
                                          <p:val>
                                            <p:strVal val="#ppt_w"/>
                                          </p:val>
                                        </p:tav>
                                      </p:tavLst>
                                    </p:anim>
                                    <p:anim calcmode="lin" valueType="num">
                                      <p:cBhvr additive="base">
                                        <p:cTn id="60" dur="500" fill="hold"/>
                                        <p:tgtEl>
                                          <p:spTgt spid="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3" grpId="0" build="p" bldLvl="2"/>
      <p:bldP spid="5" grpId="0" bldLvl="0" animBg="1"/>
      <p:bldP spid="6" grpId="0"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15714"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15715"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40</a:t>
            </a:fld>
            <a:endParaRPr lang="zh-CN" altLang="en-US" sz="1200" b="1" i="1" dirty="0">
              <a:latin typeface="Times New Roman" panose="02020603050405020304" pitchFamily="2" charset="0"/>
              <a:ea typeface="宋体" panose="02010600030101010101" pitchFamily="2" charset="-122"/>
            </a:endParaRPr>
          </a:p>
        </p:txBody>
      </p:sp>
      <p:sp>
        <p:nvSpPr>
          <p:cNvPr id="115716"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6.6 </a:t>
            </a:r>
            <a:r>
              <a:rPr lang="en-US" altLang="x-none" dirty="0">
                <a:ea typeface="宋体" panose="02010600030101010101" pitchFamily="2" charset="-122"/>
              </a:rPr>
              <a:t>Functional Dependencies</a:t>
            </a:r>
          </a:p>
        </p:txBody>
      </p:sp>
      <p:sp>
        <p:nvSpPr>
          <p:cNvPr id="115717" name="Rectangle 3"/>
          <p:cNvSpPr>
            <a:spLocks noGrp="1"/>
          </p:cNvSpPr>
          <p:nvPr>
            <p:ph type="body"/>
          </p:nvPr>
        </p:nvSpPr>
        <p:spPr>
          <a:xfrm>
            <a:off x="241935" y="694690"/>
            <a:ext cx="8610600" cy="5262245"/>
          </a:xfrm>
        </p:spPr>
        <p:txBody>
          <a:bodyPr wrap="square" anchor="t">
            <a:spAutoFit/>
          </a:bodyPr>
          <a:lstStyle/>
          <a:p>
            <a:pPr lvl="0" eaLnBrk="1" hangingPunct="1"/>
            <a:r>
              <a:rPr lang="en-US" altLang="x-none" sz="3000" dirty="0">
                <a:ea typeface="宋体" panose="02010600030101010101" pitchFamily="2" charset="-122"/>
              </a:rPr>
              <a:t>Functional Dependency (FD)</a:t>
            </a:r>
          </a:p>
          <a:p>
            <a:pPr lvl="0" eaLnBrk="1" hangingPunct="1"/>
            <a:endParaRPr lang="en-US" altLang="x-none" sz="3000" dirty="0">
              <a:ea typeface="宋体" panose="02010600030101010101" pitchFamily="2" charset="-122"/>
            </a:endParaRPr>
          </a:p>
          <a:p>
            <a:pPr lvl="0" eaLnBrk="1" hangingPunct="1"/>
            <a:r>
              <a:rPr lang="en-US" altLang="x-none" sz="3000" dirty="0">
                <a:ea typeface="宋体" panose="02010600030101010101" pitchFamily="2" charset="-122"/>
              </a:rPr>
              <a:t>trivial f</a:t>
            </a:r>
            <a:r>
              <a:rPr lang="en-US" altLang="zh-CN" sz="3000" dirty="0">
                <a:ea typeface="宋体" panose="02010600030101010101" pitchFamily="2" charset="-122"/>
              </a:rPr>
              <a:t>unctional dependency</a:t>
            </a:r>
            <a:r>
              <a:rPr lang="en-US" altLang="x-none" sz="3000" dirty="0">
                <a:ea typeface="宋体" panose="02010600030101010101" pitchFamily="2" charset="-122"/>
              </a:rPr>
              <a:t> </a:t>
            </a:r>
            <a:r>
              <a:rPr lang="en-US" altLang="zh-CN" sz="3000" dirty="0">
                <a:ea typeface="宋体" panose="02010600030101010101" pitchFamily="2" charset="-122"/>
              </a:rPr>
              <a:t>(</a:t>
            </a:r>
            <a:r>
              <a:rPr lang="zh-CN" altLang="x-none" sz="3000" dirty="0">
                <a:ea typeface="宋体" panose="02010600030101010101" pitchFamily="2" charset="-122"/>
                <a:sym typeface="+mn-ea"/>
              </a:rPr>
              <a:t>平凡函数依赖</a:t>
            </a:r>
            <a:r>
              <a:rPr lang="en-US" altLang="zh-CN" sz="3000" dirty="0">
                <a:ea typeface="宋体" panose="02010600030101010101" pitchFamily="2" charset="-122"/>
              </a:rPr>
              <a:t>)</a:t>
            </a:r>
          </a:p>
          <a:p>
            <a:pPr lvl="1" eaLnBrk="1" hangingPunct="1"/>
            <a:r>
              <a:rPr lang="en-US" altLang="x-none" sz="3000" dirty="0">
                <a:ea typeface="宋体" panose="02010600030101010101" pitchFamily="2" charset="-122"/>
              </a:rPr>
              <a:t>A functional dependency FD: X→Y is called trivial if </a:t>
            </a:r>
            <a:r>
              <a:rPr lang="en-US" altLang="x-none" sz="3000" u="sng" dirty="0">
                <a:ea typeface="宋体" panose="02010600030101010101" pitchFamily="2" charset="-122"/>
              </a:rPr>
              <a:t>Y is a subset of X</a:t>
            </a:r>
            <a:r>
              <a:rPr lang="en-US" altLang="x-none" sz="3000" dirty="0">
                <a:ea typeface="宋体" panose="02010600030101010101" pitchFamily="2" charset="-122"/>
              </a:rPr>
              <a:t>.</a:t>
            </a:r>
          </a:p>
          <a:p>
            <a:pPr lvl="1" eaLnBrk="1" hangingPunct="1"/>
            <a:endParaRPr lang="zh-CN" altLang="en-US" sz="3000" dirty="0">
              <a:ea typeface="宋体" panose="02010600030101010101" pitchFamily="2" charset="-122"/>
            </a:endParaRPr>
          </a:p>
          <a:p>
            <a:pPr lvl="0" eaLnBrk="1" hangingPunct="1"/>
            <a:r>
              <a:rPr lang="en-US" altLang="x-none" sz="3000" dirty="0">
                <a:ea typeface="宋体" panose="02010600030101010101" pitchFamily="2" charset="-122"/>
              </a:rPr>
              <a:t>partial functional dependency (</a:t>
            </a:r>
            <a:r>
              <a:rPr lang="zh-CN" altLang="x-none" sz="3000" dirty="0">
                <a:ea typeface="宋体" panose="02010600030101010101" pitchFamily="2" charset="-122"/>
              </a:rPr>
              <a:t>部分函数依赖</a:t>
            </a:r>
            <a:r>
              <a:rPr lang="en-US" altLang="x-none" sz="3000" dirty="0">
                <a:ea typeface="宋体" panose="02010600030101010101" pitchFamily="2" charset="-122"/>
              </a:rPr>
              <a:t>)</a:t>
            </a:r>
          </a:p>
          <a:p>
            <a:pPr lvl="1" eaLnBrk="1" hangingPunct="1"/>
            <a:r>
              <a:rPr lang="en-US" altLang="x-none" sz="3000" dirty="0">
                <a:ea typeface="宋体" panose="02010600030101010101" pitchFamily="2" charset="-122"/>
                <a:sym typeface="+mn-ea"/>
              </a:rPr>
              <a:t>A functional dependency FD: X→Y is called partial if we have another FD: W→Y and W</a:t>
            </a:r>
            <a:r>
              <a:rPr lang="en-US" altLang="x-none" sz="3000" dirty="0">
                <a:ea typeface="宋体" panose="02010600030101010101" pitchFamily="2" charset="-122"/>
                <a:sym typeface="Symbol" panose="05050102010706020507" charset="0"/>
              </a:rPr>
              <a:t>X </a:t>
            </a:r>
            <a:r>
              <a:rPr lang="en-US" altLang="x-none" sz="3000" dirty="0">
                <a:ea typeface="宋体" panose="02010600030101010101" pitchFamily="2" charset="-122"/>
                <a:sym typeface="+mn-ea"/>
              </a:rPr>
              <a:t>.</a:t>
            </a:r>
            <a:endParaRPr lang="en-US" altLang="x-none" sz="3000" dirty="0">
              <a:ea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15714"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15715"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41</a:t>
            </a:fld>
            <a:endParaRPr lang="zh-CN" altLang="en-US" sz="1200" b="1" i="1" dirty="0">
              <a:latin typeface="Times New Roman" panose="02020603050405020304" pitchFamily="2" charset="0"/>
              <a:ea typeface="宋体" panose="02010600030101010101" pitchFamily="2" charset="-122"/>
            </a:endParaRPr>
          </a:p>
        </p:txBody>
      </p:sp>
      <p:sp>
        <p:nvSpPr>
          <p:cNvPr id="115716"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6.6 </a:t>
            </a:r>
            <a:r>
              <a:rPr lang="en-US" altLang="x-none" dirty="0">
                <a:ea typeface="宋体" panose="02010600030101010101" pitchFamily="2" charset="-122"/>
              </a:rPr>
              <a:t>Functional Dependencies</a:t>
            </a:r>
          </a:p>
        </p:txBody>
      </p:sp>
      <p:sp>
        <p:nvSpPr>
          <p:cNvPr id="115717" name="Rectangle 3"/>
          <p:cNvSpPr>
            <a:spLocks noGrp="1"/>
          </p:cNvSpPr>
          <p:nvPr>
            <p:ph type="body"/>
          </p:nvPr>
        </p:nvSpPr>
        <p:spPr>
          <a:xfrm>
            <a:off x="457200" y="694690"/>
            <a:ext cx="8229600" cy="4672965"/>
          </a:xfrm>
        </p:spPr>
        <p:txBody>
          <a:bodyPr wrap="square" anchor="t">
            <a:spAutoFit/>
          </a:bodyPr>
          <a:lstStyle/>
          <a:p>
            <a:pPr lvl="0" eaLnBrk="1" hangingPunct="1"/>
            <a:r>
              <a:rPr lang="en-US" altLang="x-none" sz="3200" dirty="0">
                <a:ea typeface="宋体" panose="02010600030101010101" pitchFamily="2" charset="-122"/>
              </a:rPr>
              <a:t>Example 6.6.4: </a:t>
            </a:r>
            <a:r>
              <a:rPr lang="en-US" altLang="x-none" sz="3200" dirty="0">
                <a:solidFill>
                  <a:schemeClr val="accent2"/>
                </a:solidFill>
                <a:ea typeface="宋体" panose="02010600030101010101" pitchFamily="2" charset="-122"/>
              </a:rPr>
              <a:t>relation T</a:t>
            </a:r>
          </a:p>
          <a:p>
            <a:pPr lvl="0" eaLnBrk="1" hangingPunct="1"/>
            <a:endParaRPr lang="en-US" altLang="x-none" sz="3200" dirty="0">
              <a:solidFill>
                <a:schemeClr val="accent2"/>
              </a:solidFill>
              <a:ea typeface="宋体" panose="02010600030101010101" pitchFamily="2" charset="-122"/>
            </a:endParaRPr>
          </a:p>
          <a:p>
            <a:pPr lvl="0" eaLnBrk="1" hangingPunct="1"/>
            <a:endParaRPr lang="en-US" altLang="x-none" sz="3200" dirty="0">
              <a:solidFill>
                <a:schemeClr val="accent2"/>
              </a:solidFill>
              <a:ea typeface="宋体" panose="02010600030101010101" pitchFamily="2" charset="-122"/>
            </a:endParaRPr>
          </a:p>
          <a:p>
            <a:pPr lvl="0" eaLnBrk="1" hangingPunct="1"/>
            <a:endParaRPr lang="en-US" altLang="x-none" sz="3200" dirty="0">
              <a:solidFill>
                <a:schemeClr val="accent2"/>
              </a:solidFill>
              <a:ea typeface="宋体" panose="02010600030101010101" pitchFamily="2" charset="-122"/>
            </a:endParaRPr>
          </a:p>
          <a:p>
            <a:pPr lvl="0" eaLnBrk="1" hangingPunct="1"/>
            <a:endParaRPr lang="en-US" altLang="x-none" sz="3200" dirty="0">
              <a:solidFill>
                <a:schemeClr val="accent2"/>
              </a:solidFill>
              <a:ea typeface="宋体" panose="02010600030101010101" pitchFamily="2" charset="-122"/>
            </a:endParaRPr>
          </a:p>
          <a:p>
            <a:pPr lvl="0" eaLnBrk="1" hangingPunct="1"/>
            <a:endParaRPr lang="en-US" altLang="x-none" sz="3200" dirty="0">
              <a:solidFill>
                <a:schemeClr val="accent2"/>
              </a:solidFill>
              <a:ea typeface="宋体" panose="02010600030101010101" pitchFamily="2" charset="-122"/>
            </a:endParaRPr>
          </a:p>
          <a:p>
            <a:pPr lvl="0" eaLnBrk="1" hangingPunct="1"/>
            <a:endParaRPr lang="en-US" altLang="x-none" sz="3200" dirty="0">
              <a:solidFill>
                <a:schemeClr val="accent2"/>
              </a:solidFill>
              <a:ea typeface="宋体" panose="02010600030101010101" pitchFamily="2" charset="-122"/>
            </a:endParaRPr>
          </a:p>
          <a:p>
            <a:pPr lvl="0" eaLnBrk="1" hangingPunct="1"/>
            <a:r>
              <a:rPr lang="en-US" altLang="x-none" sz="3200" dirty="0">
                <a:ea typeface="宋体" panose="02010600030101010101" pitchFamily="2" charset="-122"/>
              </a:rPr>
              <a:t>Find FDs in relation T</a:t>
            </a:r>
          </a:p>
        </p:txBody>
      </p:sp>
      <p:graphicFrame>
        <p:nvGraphicFramePr>
          <p:cNvPr id="115719" name="表格 115718"/>
          <p:cNvGraphicFramePr/>
          <p:nvPr/>
        </p:nvGraphicFramePr>
        <p:xfrm>
          <a:off x="1764983" y="1342073"/>
          <a:ext cx="5651500" cy="3221038"/>
        </p:xfrm>
        <a:graphic>
          <a:graphicData uri="http://schemas.openxmlformats.org/drawingml/2006/table">
            <a:tbl>
              <a:tblPr/>
              <a:tblGrid>
                <a:gridCol w="1322388">
                  <a:extLst>
                    <a:ext uri="{9D8B030D-6E8A-4147-A177-3AD203B41FA5}">
                      <a16:colId xmlns:a16="http://schemas.microsoft.com/office/drawing/2014/main" val="20000"/>
                    </a:ext>
                  </a:extLst>
                </a:gridCol>
                <a:gridCol w="1443037">
                  <a:extLst>
                    <a:ext uri="{9D8B030D-6E8A-4147-A177-3AD203B41FA5}">
                      <a16:colId xmlns:a16="http://schemas.microsoft.com/office/drawing/2014/main" val="20001"/>
                    </a:ext>
                  </a:extLst>
                </a:gridCol>
                <a:gridCol w="1444625">
                  <a:extLst>
                    <a:ext uri="{9D8B030D-6E8A-4147-A177-3AD203B41FA5}">
                      <a16:colId xmlns:a16="http://schemas.microsoft.com/office/drawing/2014/main" val="20002"/>
                    </a:ext>
                  </a:extLst>
                </a:gridCol>
                <a:gridCol w="1441450">
                  <a:extLst>
                    <a:ext uri="{9D8B030D-6E8A-4147-A177-3AD203B41FA5}">
                      <a16:colId xmlns:a16="http://schemas.microsoft.com/office/drawing/2014/main" val="20003"/>
                    </a:ext>
                  </a:extLst>
                </a:gridCol>
              </a:tblGrid>
              <a:tr h="6032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32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3200"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3200" dirty="0">
                          <a:solidFill>
                            <a:srgbClr val="FF0000"/>
                          </a:solidFill>
                          <a:latin typeface="Arial" panose="020B0604020202020204" pitchFamily="34" charset="0"/>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3200" dirty="0">
                          <a:solidFill>
                            <a:srgbClr val="FF0000"/>
                          </a:solidFill>
                          <a:latin typeface="Arial" panose="020B0604020202020204" pitchFamily="34" charset="0"/>
                          <a:ea typeface="宋体" panose="02010600030101010101" pitchFamily="2" charset="-122"/>
                        </a:rPr>
                        <a:t>D</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64452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1"/>
                  </a:ext>
                </a:extLst>
              </a:tr>
              <a:tr h="677863">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d2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2"/>
                  </a:ext>
                </a:extLst>
              </a:tr>
              <a:tr h="65087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d3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3"/>
                  </a:ext>
                </a:extLst>
              </a:tr>
              <a:tr h="64452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d4</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4"/>
                  </a:ext>
                </a:extLst>
              </a:tr>
            </a:tbl>
          </a:graphicData>
        </a:graphic>
      </p:graphicFrame>
      <p:sp>
        <p:nvSpPr>
          <p:cNvPr id="2" name="文本框 1"/>
          <p:cNvSpPr txBox="1"/>
          <p:nvPr/>
        </p:nvSpPr>
        <p:spPr>
          <a:xfrm>
            <a:off x="75565" y="5317490"/>
            <a:ext cx="8896350" cy="1554480"/>
          </a:xfrm>
          <a:prstGeom prst="rect">
            <a:avLst/>
          </a:prstGeom>
          <a:solidFill>
            <a:schemeClr val="bg1"/>
          </a:solidFill>
          <a:ln>
            <a:solidFill>
              <a:schemeClr val="accent1"/>
            </a:solidFill>
          </a:ln>
        </p:spPr>
        <p:txBody>
          <a:bodyPr wrap="square" rtlCol="0">
            <a:spAutoFit/>
          </a:bodyPr>
          <a:lstStyle/>
          <a:p>
            <a:pPr marL="560705" indent="-560705"/>
            <a:r>
              <a:rPr lang="en-US" altLang="zh-CN" b="1" u="sng">
                <a:sym typeface="+mn-ea"/>
              </a:rPr>
              <a:t>Assume</a:t>
            </a:r>
            <a:r>
              <a:rPr lang="en-US" altLang="zh-CN">
                <a:sym typeface="+mn-ea"/>
              </a:rPr>
              <a:t>: It is the intent of the designer that exactly this set of rows lies in the table. Once again, we point out that it is unusual to derive FDs from the content of a table. Normally we determine FDs from understanding the data items and rules of the enterprise.</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日期占位符 1"/>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16738" name="页脚占位符 2"/>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16739" name="灯片编号占位符 3"/>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42</a:t>
            </a:fld>
            <a:endParaRPr lang="zh-CN" altLang="en-US" sz="1200" b="1" i="1" dirty="0">
              <a:latin typeface="Times New Roman" panose="02020603050405020304" pitchFamily="2" charset="0"/>
              <a:ea typeface="宋体" panose="02010600030101010101" pitchFamily="2" charset="-122"/>
            </a:endParaRPr>
          </a:p>
        </p:txBody>
      </p:sp>
      <p:sp>
        <p:nvSpPr>
          <p:cNvPr id="116740" name="Rectangle 2"/>
          <p:cNvSpPr>
            <a:spLocks noGrp="1"/>
          </p:cNvSpPr>
          <p:nvPr>
            <p:ph type="title"/>
          </p:nvPr>
        </p:nvSpPr>
        <p:spPr/>
        <p:txBody>
          <a:bodyPr wrap="square" tIns="0" bIns="0" anchor="ctr"/>
          <a:lstStyle/>
          <a:p>
            <a:pPr lvl="0" eaLnBrk="1" hangingPunct="1"/>
            <a:r>
              <a:rPr lang="zh-CN" altLang="en-US" dirty="0">
                <a:ea typeface="宋体" panose="02010600030101010101" pitchFamily="2" charset="-122"/>
              </a:rPr>
              <a:t>6.6 </a:t>
            </a:r>
            <a:r>
              <a:rPr lang="en-US" altLang="x-none" dirty="0">
                <a:ea typeface="宋体" panose="02010600030101010101" pitchFamily="2" charset="-122"/>
              </a:rPr>
              <a:t>Functional Dependencies</a:t>
            </a:r>
            <a:endParaRPr lang="zh-CN" altLang="en-US" dirty="0">
              <a:ea typeface="宋体" panose="02010600030101010101" pitchFamily="2" charset="-122"/>
            </a:endParaRPr>
          </a:p>
        </p:txBody>
      </p:sp>
      <p:sp>
        <p:nvSpPr>
          <p:cNvPr id="116741" name="Rectangle 3"/>
          <p:cNvSpPr>
            <a:spLocks noGrp="1"/>
          </p:cNvSpPr>
          <p:nvPr>
            <p:ph type="body"/>
          </p:nvPr>
        </p:nvSpPr>
        <p:spPr>
          <a:xfrm>
            <a:off x="381000" y="3303270"/>
            <a:ext cx="8763000" cy="609600"/>
          </a:xfrm>
        </p:spPr>
        <p:txBody>
          <a:bodyPr wrap="square" anchor="t"/>
          <a:lstStyle/>
          <a:p>
            <a:pPr lvl="0" eaLnBrk="1" hangingPunct="1"/>
            <a:r>
              <a:rPr lang="zh-CN" altLang="en-US">
                <a:solidFill>
                  <a:schemeClr val="tx1"/>
                </a:solidFill>
                <a:ea typeface="宋体" panose="02010600030101010101" pitchFamily="2" charset="-122"/>
              </a:rPr>
              <a:t>首先考虑决定因素和依赖因素都是单个属性的情况：</a:t>
            </a:r>
          </a:p>
        </p:txBody>
      </p:sp>
      <p:graphicFrame>
        <p:nvGraphicFramePr>
          <p:cNvPr id="116743" name="表格 116742"/>
          <p:cNvGraphicFramePr/>
          <p:nvPr/>
        </p:nvGraphicFramePr>
        <p:xfrm>
          <a:off x="1828800" y="694690"/>
          <a:ext cx="5257800" cy="2446655"/>
        </p:xfrm>
        <a:graphic>
          <a:graphicData uri="http://schemas.openxmlformats.org/drawingml/2006/table">
            <a:tbl>
              <a:tblPr/>
              <a:tblGrid>
                <a:gridCol w="1230630">
                  <a:extLst>
                    <a:ext uri="{9D8B030D-6E8A-4147-A177-3AD203B41FA5}">
                      <a16:colId xmlns:a16="http://schemas.microsoft.com/office/drawing/2014/main" val="20000"/>
                    </a:ext>
                  </a:extLst>
                </a:gridCol>
                <a:gridCol w="1343025">
                  <a:extLst>
                    <a:ext uri="{9D8B030D-6E8A-4147-A177-3AD203B41FA5}">
                      <a16:colId xmlns:a16="http://schemas.microsoft.com/office/drawing/2014/main" val="20001"/>
                    </a:ext>
                  </a:extLst>
                </a:gridCol>
                <a:gridCol w="1341120">
                  <a:extLst>
                    <a:ext uri="{9D8B030D-6E8A-4147-A177-3AD203B41FA5}">
                      <a16:colId xmlns:a16="http://schemas.microsoft.com/office/drawing/2014/main" val="20002"/>
                    </a:ext>
                  </a:extLst>
                </a:gridCol>
                <a:gridCol w="1343025">
                  <a:extLst>
                    <a:ext uri="{9D8B030D-6E8A-4147-A177-3AD203B41FA5}">
                      <a16:colId xmlns:a16="http://schemas.microsoft.com/office/drawing/2014/main" val="20003"/>
                    </a:ext>
                  </a:extLst>
                </a:gridCol>
              </a:tblGrid>
              <a:tr h="46545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D</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49593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1"/>
                  </a:ext>
                </a:extLst>
              </a:tr>
              <a:tr h="49784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2"/>
                  </a:ext>
                </a:extLst>
              </a:tr>
              <a:tr h="49149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3"/>
                  </a:ext>
                </a:extLst>
              </a:tr>
              <a:tr h="49593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d4</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4"/>
                  </a:ext>
                </a:extLst>
              </a:tr>
            </a:tbl>
          </a:graphicData>
        </a:graphic>
      </p:graphicFrame>
      <p:sp>
        <p:nvSpPr>
          <p:cNvPr id="116774" name="Rectangle 36"/>
          <p:cNvSpPr/>
          <p:nvPr/>
        </p:nvSpPr>
        <p:spPr>
          <a:xfrm>
            <a:off x="533400" y="3989070"/>
            <a:ext cx="1905000" cy="1981200"/>
          </a:xfrm>
          <a:prstGeom prst="rect">
            <a:avLst/>
          </a:prstGeom>
          <a:solidFill>
            <a:schemeClr val="bg1"/>
          </a:solidFill>
          <a:ln w="9525">
            <a:noFill/>
          </a:ln>
        </p:spPr>
        <p:txBody>
          <a:bodyPr anchor="t"/>
          <a:lstStyle/>
          <a:p>
            <a:pPr marL="342900" lvl="0" indent="-342900">
              <a:spcBef>
                <a:spcPct val="7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 → B</a:t>
            </a:r>
            <a:r>
              <a:rPr lang="en-US" altLang="x-none" sz="2800" b="1" dirty="0">
                <a:solidFill>
                  <a:srgbClr val="FF0000"/>
                </a:solidFill>
                <a:latin typeface="Arial" panose="020B0604020202020204" pitchFamily="34" charset="0"/>
                <a:ea typeface="宋体" panose="02010600030101010101" pitchFamily="2" charset="-122"/>
              </a:rPr>
              <a:t> </a:t>
            </a:r>
          </a:p>
          <a:p>
            <a:pPr marL="342900" lvl="0" indent="-342900">
              <a:spcBef>
                <a:spcPct val="7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 → C</a:t>
            </a:r>
            <a:r>
              <a:rPr lang="en-US" altLang="x-none" sz="2800" b="1" dirty="0">
                <a:solidFill>
                  <a:srgbClr val="FF0000"/>
                </a:solidFill>
                <a:latin typeface="Arial" panose="020B0604020202020204" pitchFamily="34" charset="0"/>
                <a:ea typeface="宋体" panose="02010600030101010101" pitchFamily="2" charset="-122"/>
              </a:rPr>
              <a:t> </a:t>
            </a:r>
          </a:p>
          <a:p>
            <a:pPr marL="342900" lvl="0" indent="-342900">
              <a:spcBef>
                <a:spcPct val="7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 → D</a:t>
            </a:r>
            <a:r>
              <a:rPr lang="en-US" altLang="x-none" sz="2800" b="1" dirty="0">
                <a:solidFill>
                  <a:srgbClr val="FF0000"/>
                </a:solidFill>
                <a:latin typeface="Arial" panose="020B0604020202020204" pitchFamily="34" charset="0"/>
                <a:ea typeface="宋体" panose="02010600030101010101" pitchFamily="2" charset="-122"/>
              </a:rPr>
              <a:t> </a:t>
            </a:r>
            <a:endParaRPr lang="en-US" altLang="x-none" b="1" dirty="0">
              <a:solidFill>
                <a:srgbClr val="FF0000"/>
              </a:solidFill>
              <a:latin typeface="Times New Roman" panose="02020603050405020304" pitchFamily="2" charset="0"/>
              <a:ea typeface="宋体" panose="02010600030101010101" pitchFamily="2" charset="-122"/>
              <a:sym typeface="Symbol" panose="05050102010706020507" pitchFamily="2" charset="2"/>
            </a:endParaRPr>
          </a:p>
        </p:txBody>
      </p:sp>
      <p:sp>
        <p:nvSpPr>
          <p:cNvPr id="116775" name="Rectangle 37"/>
          <p:cNvSpPr/>
          <p:nvPr/>
        </p:nvSpPr>
        <p:spPr>
          <a:xfrm>
            <a:off x="2743200" y="3989070"/>
            <a:ext cx="1828800" cy="2209800"/>
          </a:xfrm>
          <a:prstGeom prst="rect">
            <a:avLst/>
          </a:prstGeom>
          <a:solidFill>
            <a:schemeClr val="bg1"/>
          </a:solidFill>
          <a:ln w="9525">
            <a:noFill/>
          </a:ln>
        </p:spPr>
        <p:txBody>
          <a:bodyPr anchor="t"/>
          <a:lstStyle/>
          <a:p>
            <a:pPr marL="342900" lvl="0" indent="-342900">
              <a:spcBef>
                <a:spcPct val="7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B → A </a:t>
            </a:r>
          </a:p>
          <a:p>
            <a:pPr marL="342900" lvl="0" indent="-342900">
              <a:spcBef>
                <a:spcPct val="7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B → C </a:t>
            </a:r>
          </a:p>
          <a:p>
            <a:pPr marL="342900" lvl="0" indent="-342900">
              <a:spcBef>
                <a:spcPct val="7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B → D </a:t>
            </a:r>
            <a:endParaRPr lang="en-US" altLang="x-none" b="1" dirty="0">
              <a:solidFill>
                <a:srgbClr val="FF0000"/>
              </a:solidFill>
              <a:latin typeface="Times New Roman" panose="02020603050405020304" pitchFamily="2" charset="0"/>
              <a:ea typeface="宋体" panose="02010600030101010101" pitchFamily="2" charset="-122"/>
              <a:sym typeface="Symbol" panose="05050102010706020507" pitchFamily="2" charset="2"/>
            </a:endParaRPr>
          </a:p>
        </p:txBody>
      </p:sp>
      <p:sp>
        <p:nvSpPr>
          <p:cNvPr id="116776" name="Rectangle 38"/>
          <p:cNvSpPr/>
          <p:nvPr/>
        </p:nvSpPr>
        <p:spPr>
          <a:xfrm>
            <a:off x="4953000" y="3989070"/>
            <a:ext cx="1752600" cy="2209800"/>
          </a:xfrm>
          <a:prstGeom prst="rect">
            <a:avLst/>
          </a:prstGeom>
          <a:solidFill>
            <a:schemeClr val="bg1"/>
          </a:solidFill>
          <a:ln w="9525">
            <a:noFill/>
          </a:ln>
        </p:spPr>
        <p:txBody>
          <a:bodyPr anchor="t"/>
          <a:lstStyle/>
          <a:p>
            <a:pPr marL="342900" lvl="0" indent="-342900">
              <a:spcBef>
                <a:spcPct val="7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 → A </a:t>
            </a:r>
          </a:p>
          <a:p>
            <a:pPr marL="342900" lvl="0" indent="-342900">
              <a:spcBef>
                <a:spcPct val="7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 → B </a:t>
            </a:r>
          </a:p>
          <a:p>
            <a:pPr marL="342900" lvl="0" indent="-342900">
              <a:spcBef>
                <a:spcPct val="7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 → D </a:t>
            </a:r>
            <a:endParaRPr lang="en-US" altLang="x-none" b="1" dirty="0">
              <a:solidFill>
                <a:srgbClr val="FF0000"/>
              </a:solidFill>
              <a:latin typeface="Times New Roman" panose="02020603050405020304" pitchFamily="2" charset="0"/>
              <a:ea typeface="宋体" panose="02010600030101010101" pitchFamily="2" charset="-122"/>
              <a:sym typeface="Symbol" panose="05050102010706020507" pitchFamily="2" charset="2"/>
            </a:endParaRPr>
          </a:p>
        </p:txBody>
      </p:sp>
      <p:sp>
        <p:nvSpPr>
          <p:cNvPr id="116777" name="Rectangle 39"/>
          <p:cNvSpPr/>
          <p:nvPr/>
        </p:nvSpPr>
        <p:spPr>
          <a:xfrm>
            <a:off x="7010400" y="3989070"/>
            <a:ext cx="1828800" cy="2209800"/>
          </a:xfrm>
          <a:prstGeom prst="rect">
            <a:avLst/>
          </a:prstGeom>
          <a:solidFill>
            <a:schemeClr val="bg1"/>
          </a:solidFill>
          <a:ln w="9525">
            <a:noFill/>
          </a:ln>
        </p:spPr>
        <p:txBody>
          <a:bodyPr anchor="t"/>
          <a:lstStyle/>
          <a:p>
            <a:pPr marL="342900" lvl="0" indent="-342900">
              <a:spcBef>
                <a:spcPct val="7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D → A </a:t>
            </a:r>
          </a:p>
          <a:p>
            <a:pPr marL="342900" lvl="0" indent="-342900">
              <a:spcBef>
                <a:spcPct val="7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D → B </a:t>
            </a:r>
          </a:p>
          <a:p>
            <a:pPr marL="342900" lvl="0" indent="-342900">
              <a:spcBef>
                <a:spcPct val="7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D → C </a:t>
            </a:r>
            <a:endParaRPr lang="en-US" altLang="x-none" sz="2800" b="1" dirty="0">
              <a:solidFill>
                <a:srgbClr val="FF0000"/>
              </a:solidFill>
              <a:latin typeface="Arial" panose="020B0604020202020204" pitchFamily="34" charset="0"/>
              <a:ea typeface="宋体" panose="02010600030101010101" pitchFamily="2" charset="-122"/>
            </a:endParaRPr>
          </a:p>
        </p:txBody>
      </p:sp>
      <p:sp>
        <p:nvSpPr>
          <p:cNvPr id="116779" name="Rectangle 44"/>
          <p:cNvSpPr/>
          <p:nvPr/>
        </p:nvSpPr>
        <p:spPr>
          <a:xfrm>
            <a:off x="1676400" y="5513070"/>
            <a:ext cx="609600" cy="533400"/>
          </a:xfrm>
          <a:prstGeom prst="rect">
            <a:avLst/>
          </a:prstGeom>
          <a:noFill/>
          <a:ln w="9525">
            <a:noFill/>
          </a:ln>
        </p:spPr>
        <p:txBody>
          <a:bodyPr anchor="t"/>
          <a:lstStyle/>
          <a:p>
            <a:pPr marL="342900" lvl="0" indent="-342900">
              <a:spcBef>
                <a:spcPct val="90000"/>
              </a:spcBef>
              <a:buClr>
                <a:srgbClr val="996633"/>
              </a:buClr>
              <a:buFont typeface="Wingdings" panose="05000000000000000000" pitchFamily="2" charset="2"/>
              <a:buNone/>
            </a:pPr>
            <a:r>
              <a:rPr lang="zh-CN" altLang="en-US" b="1" dirty="0">
                <a:solidFill>
                  <a:srgbClr val="FF0000"/>
                </a:solidFill>
                <a:latin typeface="Times New Roman" panose="02020603050405020304" pitchFamily="2" charset="0"/>
                <a:ea typeface="宋体" panose="02010600030101010101" pitchFamily="2" charset="-122"/>
                <a:sym typeface="Symbol" panose="05050102010706020507" pitchFamily="2" charset="2"/>
              </a:rPr>
              <a:t>☓</a:t>
            </a:r>
            <a:endParaRPr lang="en-US" altLang="x-none" b="1" dirty="0">
              <a:solidFill>
                <a:srgbClr val="FF0000"/>
              </a:solidFill>
              <a:latin typeface="Times New Roman" panose="02020603050405020304" pitchFamily="2" charset="0"/>
              <a:ea typeface="宋体" panose="02010600030101010101" pitchFamily="2" charset="-122"/>
              <a:sym typeface="Symbol" panose="05050102010706020507" pitchFamily="2" charset="2"/>
            </a:endParaRPr>
          </a:p>
        </p:txBody>
      </p:sp>
      <p:sp>
        <p:nvSpPr>
          <p:cNvPr id="116780" name="Rectangle 45"/>
          <p:cNvSpPr/>
          <p:nvPr/>
        </p:nvSpPr>
        <p:spPr>
          <a:xfrm>
            <a:off x="1676400" y="4751070"/>
            <a:ext cx="609600" cy="533400"/>
          </a:xfrm>
          <a:prstGeom prst="rect">
            <a:avLst/>
          </a:prstGeom>
          <a:noFill/>
          <a:ln w="9525">
            <a:noFill/>
          </a:ln>
        </p:spPr>
        <p:txBody>
          <a:bodyPr anchor="t"/>
          <a:lstStyle/>
          <a:p>
            <a:pPr marL="342900" lvl="0" indent="-342900">
              <a:spcBef>
                <a:spcPct val="90000"/>
              </a:spcBef>
              <a:buClr>
                <a:srgbClr val="996633"/>
              </a:buClr>
              <a:buFont typeface="Wingdings" panose="05000000000000000000" pitchFamily="2" charset="2"/>
              <a:buNone/>
            </a:pPr>
            <a:r>
              <a:rPr lang="zh-CN" altLang="en-US" b="1" dirty="0">
                <a:solidFill>
                  <a:srgbClr val="FF0000"/>
                </a:solidFill>
                <a:latin typeface="Times New Roman" panose="02020603050405020304" pitchFamily="2" charset="0"/>
                <a:ea typeface="宋体" panose="02010600030101010101" pitchFamily="2" charset="-122"/>
                <a:sym typeface="Symbol" panose="05050102010706020507" pitchFamily="2" charset="2"/>
              </a:rPr>
              <a:t>☓</a:t>
            </a:r>
            <a:endParaRPr lang="en-US" altLang="x-none" b="1" dirty="0">
              <a:solidFill>
                <a:srgbClr val="FF0000"/>
              </a:solidFill>
              <a:latin typeface="Times New Roman" panose="02020603050405020304" pitchFamily="2" charset="0"/>
              <a:ea typeface="宋体" panose="02010600030101010101" pitchFamily="2" charset="-122"/>
              <a:sym typeface="Symbol" panose="05050102010706020507" pitchFamily="2" charset="2"/>
            </a:endParaRPr>
          </a:p>
        </p:txBody>
      </p:sp>
      <p:grpSp>
        <p:nvGrpSpPr>
          <p:cNvPr id="116781" name="组合 116780"/>
          <p:cNvGrpSpPr/>
          <p:nvPr/>
        </p:nvGrpSpPr>
        <p:grpSpPr>
          <a:xfrm>
            <a:off x="3962400" y="4065270"/>
            <a:ext cx="609600" cy="1981200"/>
            <a:chOff x="0" y="0"/>
            <a:chExt cx="384" cy="1248"/>
          </a:xfrm>
        </p:grpSpPr>
        <p:sp>
          <p:nvSpPr>
            <p:cNvPr id="2" name="Rectangle 46"/>
            <p:cNvSpPr/>
            <p:nvPr/>
          </p:nvSpPr>
          <p:spPr>
            <a:xfrm>
              <a:off x="0" y="432"/>
              <a:ext cx="384" cy="336"/>
            </a:xfrm>
            <a:prstGeom prst="rect">
              <a:avLst/>
            </a:prstGeom>
            <a:noFill/>
            <a:ln w="9525">
              <a:noFill/>
            </a:ln>
          </p:spPr>
          <p:txBody>
            <a:bodyPr anchor="t"/>
            <a:lstStyle/>
            <a:p>
              <a:pPr marL="342900" lvl="0" indent="-342900">
                <a:spcBef>
                  <a:spcPct val="90000"/>
                </a:spcBef>
                <a:buClr>
                  <a:srgbClr val="996633"/>
                </a:buClr>
                <a:buFont typeface="Wingdings" panose="05000000000000000000" pitchFamily="2" charset="2"/>
                <a:buNone/>
              </a:pPr>
              <a:r>
                <a:rPr lang="zh-CN" altLang="en-US" b="1" dirty="0">
                  <a:solidFill>
                    <a:srgbClr val="FF0000"/>
                  </a:solidFill>
                  <a:latin typeface="Times New Roman" panose="02020603050405020304" pitchFamily="2" charset="0"/>
                  <a:ea typeface="宋体" panose="02010600030101010101" pitchFamily="2" charset="-122"/>
                  <a:sym typeface="Symbol" panose="05050102010706020507" pitchFamily="2" charset="2"/>
                </a:rPr>
                <a:t>☓</a:t>
              </a:r>
              <a:endParaRPr lang="en-US" altLang="x-none" b="1" dirty="0">
                <a:solidFill>
                  <a:srgbClr val="FF0000"/>
                </a:solidFill>
                <a:latin typeface="Times New Roman" panose="02020603050405020304" pitchFamily="2" charset="0"/>
                <a:ea typeface="宋体" panose="02010600030101010101" pitchFamily="2" charset="-122"/>
                <a:sym typeface="Symbol" panose="05050102010706020507" pitchFamily="2" charset="2"/>
              </a:endParaRPr>
            </a:p>
          </p:txBody>
        </p:sp>
        <p:sp>
          <p:nvSpPr>
            <p:cNvPr id="116782" name="Rectangle 47"/>
            <p:cNvSpPr/>
            <p:nvPr/>
          </p:nvSpPr>
          <p:spPr>
            <a:xfrm>
              <a:off x="0" y="0"/>
              <a:ext cx="384" cy="336"/>
            </a:xfrm>
            <a:prstGeom prst="rect">
              <a:avLst/>
            </a:prstGeom>
            <a:noFill/>
            <a:ln w="9525">
              <a:noFill/>
            </a:ln>
          </p:spPr>
          <p:txBody>
            <a:bodyPr anchor="t"/>
            <a:lstStyle/>
            <a:p>
              <a:pPr marL="342900" lvl="0" indent="-342900">
                <a:spcBef>
                  <a:spcPct val="90000"/>
                </a:spcBef>
                <a:buClr>
                  <a:srgbClr val="996633"/>
                </a:buClr>
                <a:buFont typeface="Wingdings" panose="05000000000000000000" pitchFamily="2" charset="2"/>
                <a:buNone/>
              </a:pPr>
              <a:r>
                <a:rPr lang="zh-CN" altLang="en-US" b="1" dirty="0">
                  <a:solidFill>
                    <a:srgbClr val="FF0000"/>
                  </a:solidFill>
                  <a:latin typeface="Times New Roman" panose="02020603050405020304" pitchFamily="2" charset="0"/>
                  <a:ea typeface="宋体" panose="02010600030101010101" pitchFamily="2" charset="-122"/>
                  <a:sym typeface="Symbol" panose="05050102010706020507" pitchFamily="2" charset="2"/>
                </a:rPr>
                <a:t>☓</a:t>
              </a:r>
              <a:endParaRPr lang="en-US" altLang="x-none" b="1" dirty="0">
                <a:solidFill>
                  <a:srgbClr val="FF0000"/>
                </a:solidFill>
                <a:latin typeface="Times New Roman" panose="02020603050405020304" pitchFamily="2" charset="0"/>
                <a:ea typeface="宋体" panose="02010600030101010101" pitchFamily="2" charset="-122"/>
                <a:sym typeface="Symbol" panose="05050102010706020507" pitchFamily="2" charset="2"/>
              </a:endParaRPr>
            </a:p>
          </p:txBody>
        </p:sp>
        <p:sp>
          <p:nvSpPr>
            <p:cNvPr id="116783" name="Rectangle 48"/>
            <p:cNvSpPr/>
            <p:nvPr/>
          </p:nvSpPr>
          <p:spPr>
            <a:xfrm>
              <a:off x="0" y="912"/>
              <a:ext cx="384" cy="336"/>
            </a:xfrm>
            <a:prstGeom prst="rect">
              <a:avLst/>
            </a:prstGeom>
            <a:noFill/>
            <a:ln w="9525">
              <a:noFill/>
            </a:ln>
          </p:spPr>
          <p:txBody>
            <a:bodyPr anchor="t"/>
            <a:lstStyle/>
            <a:p>
              <a:pPr marL="342900" lvl="0" indent="-342900">
                <a:spcBef>
                  <a:spcPct val="90000"/>
                </a:spcBef>
                <a:buClr>
                  <a:srgbClr val="996633"/>
                </a:buClr>
                <a:buFont typeface="Wingdings" panose="05000000000000000000" pitchFamily="2" charset="2"/>
                <a:buNone/>
              </a:pPr>
              <a:r>
                <a:rPr lang="zh-CN" altLang="en-US" b="1" dirty="0">
                  <a:solidFill>
                    <a:srgbClr val="FF0000"/>
                  </a:solidFill>
                  <a:latin typeface="Times New Roman" panose="02020603050405020304" pitchFamily="2" charset="0"/>
                  <a:ea typeface="宋体" panose="02010600030101010101" pitchFamily="2" charset="-122"/>
                  <a:sym typeface="Symbol" panose="05050102010706020507" pitchFamily="2" charset="2"/>
                </a:rPr>
                <a:t>☓</a:t>
              </a:r>
              <a:endParaRPr lang="en-US" altLang="x-none" b="1" dirty="0">
                <a:solidFill>
                  <a:srgbClr val="FF0000"/>
                </a:solidFill>
                <a:latin typeface="Times New Roman" panose="02020603050405020304" pitchFamily="2" charset="0"/>
                <a:ea typeface="宋体" panose="02010600030101010101" pitchFamily="2" charset="-122"/>
                <a:sym typeface="Symbol" panose="05050102010706020507" pitchFamily="2" charset="2"/>
              </a:endParaRPr>
            </a:p>
          </p:txBody>
        </p:sp>
      </p:grpSp>
      <p:sp>
        <p:nvSpPr>
          <p:cNvPr id="116785" name="Rectangle 49"/>
          <p:cNvSpPr/>
          <p:nvPr/>
        </p:nvSpPr>
        <p:spPr>
          <a:xfrm>
            <a:off x="6172200" y="4065270"/>
            <a:ext cx="609600" cy="533400"/>
          </a:xfrm>
          <a:prstGeom prst="rect">
            <a:avLst/>
          </a:prstGeom>
          <a:noFill/>
          <a:ln w="9525">
            <a:noFill/>
          </a:ln>
        </p:spPr>
        <p:txBody>
          <a:bodyPr anchor="t"/>
          <a:lstStyle/>
          <a:p>
            <a:pPr marL="342900" lvl="0" indent="-342900">
              <a:spcBef>
                <a:spcPct val="90000"/>
              </a:spcBef>
              <a:buClr>
                <a:srgbClr val="996633"/>
              </a:buClr>
              <a:buFont typeface="Wingdings" panose="05000000000000000000" pitchFamily="2" charset="2"/>
              <a:buNone/>
            </a:pPr>
            <a:r>
              <a:rPr lang="zh-CN" altLang="en-US" b="1" dirty="0">
                <a:solidFill>
                  <a:srgbClr val="FF0000"/>
                </a:solidFill>
                <a:latin typeface="Times New Roman" panose="02020603050405020304" pitchFamily="2" charset="0"/>
                <a:ea typeface="宋体" panose="02010600030101010101" pitchFamily="2" charset="-122"/>
                <a:sym typeface="Symbol" panose="05050102010706020507" pitchFamily="2" charset="2"/>
              </a:rPr>
              <a:t>☓</a:t>
            </a:r>
            <a:endParaRPr lang="en-US" altLang="x-none" b="1" dirty="0">
              <a:solidFill>
                <a:srgbClr val="FF0000"/>
              </a:solidFill>
              <a:latin typeface="Times New Roman" panose="02020603050405020304" pitchFamily="2" charset="0"/>
              <a:ea typeface="宋体" panose="02010600030101010101" pitchFamily="2" charset="-122"/>
              <a:sym typeface="Symbol" panose="05050102010706020507" pitchFamily="2" charset="2"/>
            </a:endParaRPr>
          </a:p>
        </p:txBody>
      </p:sp>
      <p:sp>
        <p:nvSpPr>
          <p:cNvPr id="116786" name="Rectangle 50"/>
          <p:cNvSpPr/>
          <p:nvPr/>
        </p:nvSpPr>
        <p:spPr>
          <a:xfrm>
            <a:off x="6172200" y="5513070"/>
            <a:ext cx="609600" cy="533400"/>
          </a:xfrm>
          <a:prstGeom prst="rect">
            <a:avLst/>
          </a:prstGeom>
          <a:noFill/>
          <a:ln w="9525">
            <a:noFill/>
          </a:ln>
        </p:spPr>
        <p:txBody>
          <a:bodyPr anchor="t"/>
          <a:lstStyle/>
          <a:p>
            <a:pPr marL="342900" lvl="0" indent="-342900">
              <a:spcBef>
                <a:spcPct val="90000"/>
              </a:spcBef>
              <a:buClr>
                <a:srgbClr val="996633"/>
              </a:buClr>
              <a:buFont typeface="Wingdings" panose="05000000000000000000" pitchFamily="2" charset="2"/>
              <a:buNone/>
            </a:pPr>
            <a:r>
              <a:rPr lang="zh-CN" altLang="en-US" b="1" dirty="0">
                <a:solidFill>
                  <a:srgbClr val="FF0000"/>
                </a:solidFill>
                <a:latin typeface="Times New Roman" panose="02020603050405020304" pitchFamily="2" charset="0"/>
                <a:ea typeface="宋体" panose="02010600030101010101" pitchFamily="2" charset="-122"/>
                <a:sym typeface="Symbol" panose="05050102010706020507" pitchFamily="2" charset="2"/>
              </a:rPr>
              <a:t>☓</a:t>
            </a:r>
            <a:endParaRPr lang="en-US" altLang="x-none" b="1" dirty="0">
              <a:solidFill>
                <a:srgbClr val="FF0000"/>
              </a:solidFill>
              <a:latin typeface="Times New Roman" panose="02020603050405020304" pitchFamily="2" charset="0"/>
              <a:ea typeface="宋体" panose="02010600030101010101" pitchFamily="2" charset="-122"/>
              <a:sym typeface="Symbol" panose="05050102010706020507" pitchFamily="2" charset="2"/>
            </a:endParaRPr>
          </a:p>
        </p:txBody>
      </p:sp>
      <p:grpSp>
        <p:nvGrpSpPr>
          <p:cNvPr id="116787" name="组合 116786"/>
          <p:cNvGrpSpPr/>
          <p:nvPr/>
        </p:nvGrpSpPr>
        <p:grpSpPr>
          <a:xfrm>
            <a:off x="1676400" y="3989070"/>
            <a:ext cx="7086600" cy="1295400"/>
            <a:chOff x="0" y="0"/>
            <a:chExt cx="4464" cy="816"/>
          </a:xfrm>
        </p:grpSpPr>
        <p:sp>
          <p:nvSpPr>
            <p:cNvPr id="3" name="Rectangle 40"/>
            <p:cNvSpPr/>
            <p:nvPr/>
          </p:nvSpPr>
          <p:spPr>
            <a:xfrm>
              <a:off x="0" y="0"/>
              <a:ext cx="384" cy="384"/>
            </a:xfrm>
            <a:prstGeom prst="rect">
              <a:avLst/>
            </a:prstGeom>
            <a:noFill/>
            <a:ln w="9525">
              <a:noFill/>
            </a:ln>
          </p:spPr>
          <p:txBody>
            <a:bodyPr anchor="t"/>
            <a:lstStyle/>
            <a:p>
              <a:pPr marL="342900" lvl="0" indent="-342900">
                <a:spcBef>
                  <a:spcPct val="9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t>
              </a:r>
              <a:endParaRPr lang="en-US" altLang="x-none" b="1" dirty="0">
                <a:solidFill>
                  <a:srgbClr val="FF0000"/>
                </a:solidFill>
                <a:latin typeface="Times New Roman" panose="02020603050405020304" pitchFamily="2" charset="0"/>
                <a:ea typeface="宋体" panose="02010600030101010101" pitchFamily="2" charset="-122"/>
                <a:sym typeface="Symbol" panose="05050102010706020507" pitchFamily="2" charset="2"/>
              </a:endParaRPr>
            </a:p>
          </p:txBody>
        </p:sp>
        <p:sp>
          <p:nvSpPr>
            <p:cNvPr id="116788" name="Rectangle 51"/>
            <p:cNvSpPr/>
            <p:nvPr/>
          </p:nvSpPr>
          <p:spPr>
            <a:xfrm>
              <a:off x="2832" y="432"/>
              <a:ext cx="384" cy="384"/>
            </a:xfrm>
            <a:prstGeom prst="rect">
              <a:avLst/>
            </a:prstGeom>
            <a:noFill/>
            <a:ln w="9525">
              <a:noFill/>
            </a:ln>
          </p:spPr>
          <p:txBody>
            <a:bodyPr anchor="t"/>
            <a:lstStyle/>
            <a:p>
              <a:pPr marL="342900" lvl="0" indent="-342900">
                <a:spcBef>
                  <a:spcPct val="9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t>
              </a:r>
              <a:endParaRPr lang="en-US" altLang="x-none" b="1" dirty="0">
                <a:solidFill>
                  <a:srgbClr val="FF0000"/>
                </a:solidFill>
                <a:latin typeface="Times New Roman" panose="02020603050405020304" pitchFamily="2" charset="0"/>
                <a:ea typeface="宋体" panose="02010600030101010101" pitchFamily="2" charset="-122"/>
                <a:sym typeface="Symbol" panose="05050102010706020507" pitchFamily="2" charset="2"/>
              </a:endParaRPr>
            </a:p>
          </p:txBody>
        </p:sp>
        <p:sp>
          <p:nvSpPr>
            <p:cNvPr id="116789" name="Rectangle 52"/>
            <p:cNvSpPr/>
            <p:nvPr/>
          </p:nvSpPr>
          <p:spPr>
            <a:xfrm>
              <a:off x="4080" y="432"/>
              <a:ext cx="384" cy="384"/>
            </a:xfrm>
            <a:prstGeom prst="rect">
              <a:avLst/>
            </a:prstGeom>
            <a:noFill/>
            <a:ln w="9525">
              <a:noFill/>
            </a:ln>
          </p:spPr>
          <p:txBody>
            <a:bodyPr anchor="t"/>
            <a:lstStyle/>
            <a:p>
              <a:pPr marL="342900" lvl="0" indent="-342900">
                <a:spcBef>
                  <a:spcPct val="9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t>
              </a:r>
              <a:endParaRPr lang="en-US" altLang="x-none" b="1" dirty="0">
                <a:solidFill>
                  <a:srgbClr val="FF0000"/>
                </a:solidFill>
                <a:latin typeface="Times New Roman" panose="02020603050405020304" pitchFamily="2" charset="0"/>
                <a:ea typeface="宋体" panose="02010600030101010101" pitchFamily="2" charset="-122"/>
                <a:sym typeface="Symbol" panose="05050102010706020507" pitchFamily="2" charset="2"/>
              </a:endParaRPr>
            </a:p>
          </p:txBody>
        </p:sp>
      </p:grpSp>
      <p:sp>
        <p:nvSpPr>
          <p:cNvPr id="116791" name="Rectangle 53"/>
          <p:cNvSpPr/>
          <p:nvPr/>
        </p:nvSpPr>
        <p:spPr>
          <a:xfrm>
            <a:off x="8153400" y="5436870"/>
            <a:ext cx="609600" cy="609600"/>
          </a:xfrm>
          <a:prstGeom prst="rect">
            <a:avLst/>
          </a:prstGeom>
          <a:noFill/>
          <a:ln w="9525">
            <a:noFill/>
          </a:ln>
        </p:spPr>
        <p:txBody>
          <a:bodyPr anchor="t"/>
          <a:lstStyle/>
          <a:p>
            <a:pPr marL="342900" lvl="0" indent="-342900">
              <a:spcBef>
                <a:spcPct val="9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t>
            </a:r>
            <a:endParaRPr lang="en-US" altLang="x-none" b="1" dirty="0">
              <a:solidFill>
                <a:srgbClr val="FF0000"/>
              </a:solidFill>
              <a:latin typeface="Times New Roman" panose="02020603050405020304" pitchFamily="2" charset="0"/>
              <a:ea typeface="宋体" panose="02010600030101010101" pitchFamily="2" charset="-122"/>
              <a:sym typeface="Symbol" panose="05050102010706020507" pitchFamily="2" charset="2"/>
            </a:endParaRPr>
          </a:p>
        </p:txBody>
      </p:sp>
      <p:sp>
        <p:nvSpPr>
          <p:cNvPr id="116792" name="Rectangle 54"/>
          <p:cNvSpPr/>
          <p:nvPr/>
        </p:nvSpPr>
        <p:spPr>
          <a:xfrm>
            <a:off x="8153400" y="3989070"/>
            <a:ext cx="609600" cy="609600"/>
          </a:xfrm>
          <a:prstGeom prst="rect">
            <a:avLst/>
          </a:prstGeom>
          <a:noFill/>
          <a:ln w="9525">
            <a:noFill/>
          </a:ln>
        </p:spPr>
        <p:txBody>
          <a:bodyPr anchor="t"/>
          <a:lstStyle/>
          <a:p>
            <a:pPr marL="342900" lvl="0" indent="-342900">
              <a:spcBef>
                <a:spcPct val="9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t>
            </a:r>
            <a:endParaRPr lang="en-US" altLang="x-none" b="1" dirty="0">
              <a:solidFill>
                <a:srgbClr val="FF0000"/>
              </a:solidFill>
              <a:latin typeface="Times New Roman" panose="02020603050405020304" pitchFamily="2" charset="0"/>
              <a:ea typeface="宋体" panose="02010600030101010101" pitchFamily="2" charset="-122"/>
              <a:sym typeface="Symbol" panose="05050102010706020507" pitchFamily="2" charset="2"/>
            </a:endParaRPr>
          </a:p>
        </p:txBody>
      </p:sp>
      <p:sp>
        <p:nvSpPr>
          <p:cNvPr id="116793" name="Oval 59"/>
          <p:cNvSpPr/>
          <p:nvPr/>
        </p:nvSpPr>
        <p:spPr>
          <a:xfrm>
            <a:off x="2411413" y="3790633"/>
            <a:ext cx="1873250" cy="2376487"/>
          </a:xfrm>
          <a:prstGeom prst="ellipse">
            <a:avLst/>
          </a:prstGeom>
          <a:noFill/>
          <a:ln w="25400" cap="flat" cmpd="sng">
            <a:solidFill>
              <a:srgbClr val="FF0000"/>
            </a:solidFill>
            <a:prstDash val="solid"/>
            <a:round/>
            <a:headEnd type="none" w="med" len="med"/>
            <a:tailEnd type="none" w="med" len="med"/>
          </a:ln>
        </p:spPr>
        <p:txBody>
          <a:bodyPr wrap="none" anchor="ctr"/>
          <a:lstStyle/>
          <a:p>
            <a:pPr lvl="0" algn="ctr">
              <a:spcBef>
                <a:spcPct val="20000"/>
              </a:spcBef>
              <a:buFont typeface="Wingdings" panose="05000000000000000000" pitchFamily="2" charset="2"/>
              <a:buChar char="§"/>
            </a:pPr>
            <a:endParaRPr lang="zh-CN" altLang="en-US" sz="2800" b="1" dirty="0">
              <a:latin typeface="Arial" panose="020B0604020202020204" pitchFamily="34" charset="0"/>
              <a:ea typeface="宋体" panose="02010600030101010101" pitchFamily="2" charset="-122"/>
            </a:endParaRPr>
          </a:p>
        </p:txBody>
      </p:sp>
      <p:grpSp>
        <p:nvGrpSpPr>
          <p:cNvPr id="116794" name="组合 116793"/>
          <p:cNvGrpSpPr/>
          <p:nvPr/>
        </p:nvGrpSpPr>
        <p:grpSpPr>
          <a:xfrm>
            <a:off x="395288" y="3862070"/>
            <a:ext cx="7994650" cy="1512888"/>
            <a:chOff x="0" y="0"/>
            <a:chExt cx="5036" cy="953"/>
          </a:xfrm>
        </p:grpSpPr>
        <p:sp>
          <p:nvSpPr>
            <p:cNvPr id="4" name="Oval 60"/>
            <p:cNvSpPr/>
            <p:nvPr/>
          </p:nvSpPr>
          <p:spPr>
            <a:xfrm>
              <a:off x="0" y="0"/>
              <a:ext cx="953" cy="499"/>
            </a:xfrm>
            <a:prstGeom prst="ellipse">
              <a:avLst/>
            </a:prstGeom>
            <a:noFill/>
            <a:ln w="25400" cap="flat" cmpd="sng">
              <a:solidFill>
                <a:srgbClr val="FF0000"/>
              </a:solidFill>
              <a:prstDash val="solid"/>
              <a:round/>
              <a:headEnd type="none" w="med" len="med"/>
              <a:tailEnd type="none" w="med" len="med"/>
            </a:ln>
          </p:spPr>
          <p:txBody>
            <a:bodyPr wrap="none" anchor="ctr"/>
            <a:lstStyle/>
            <a:p>
              <a:pPr lvl="0" algn="ctr">
                <a:spcBef>
                  <a:spcPct val="20000"/>
                </a:spcBef>
                <a:buFont typeface="Wingdings" panose="05000000000000000000" pitchFamily="2" charset="2"/>
                <a:buChar char="§"/>
              </a:pPr>
              <a:endParaRPr lang="zh-CN" altLang="en-US" sz="2800" b="1" dirty="0">
                <a:latin typeface="Arial" panose="020B0604020202020204" pitchFamily="34" charset="0"/>
                <a:ea typeface="宋体" panose="02010600030101010101" pitchFamily="2" charset="-122"/>
              </a:endParaRPr>
            </a:p>
          </p:txBody>
        </p:sp>
        <p:sp>
          <p:nvSpPr>
            <p:cNvPr id="116795" name="Oval 61"/>
            <p:cNvSpPr/>
            <p:nvPr/>
          </p:nvSpPr>
          <p:spPr>
            <a:xfrm>
              <a:off x="2812" y="454"/>
              <a:ext cx="953" cy="499"/>
            </a:xfrm>
            <a:prstGeom prst="ellipse">
              <a:avLst/>
            </a:prstGeom>
            <a:noFill/>
            <a:ln w="25400" cap="flat" cmpd="sng">
              <a:solidFill>
                <a:srgbClr val="FF0000"/>
              </a:solidFill>
              <a:prstDash val="solid"/>
              <a:round/>
              <a:headEnd type="none" w="med" len="med"/>
              <a:tailEnd type="none" w="med" len="med"/>
            </a:ln>
          </p:spPr>
          <p:txBody>
            <a:bodyPr wrap="none" anchor="ctr"/>
            <a:lstStyle/>
            <a:p>
              <a:pPr lvl="0" algn="ctr">
                <a:spcBef>
                  <a:spcPct val="20000"/>
                </a:spcBef>
                <a:buFont typeface="Wingdings" panose="05000000000000000000" pitchFamily="2" charset="2"/>
                <a:buChar char="§"/>
              </a:pPr>
              <a:endParaRPr lang="zh-CN" altLang="en-US" sz="2800" b="1" dirty="0">
                <a:latin typeface="Arial" panose="020B0604020202020204" pitchFamily="34" charset="0"/>
                <a:ea typeface="宋体" panose="02010600030101010101" pitchFamily="2" charset="-122"/>
              </a:endParaRPr>
            </a:p>
          </p:txBody>
        </p:sp>
        <p:sp>
          <p:nvSpPr>
            <p:cNvPr id="116796" name="Oval 62"/>
            <p:cNvSpPr/>
            <p:nvPr/>
          </p:nvSpPr>
          <p:spPr>
            <a:xfrm>
              <a:off x="4083" y="454"/>
              <a:ext cx="953" cy="499"/>
            </a:xfrm>
            <a:prstGeom prst="ellipse">
              <a:avLst/>
            </a:prstGeom>
            <a:noFill/>
            <a:ln w="25400" cap="flat" cmpd="sng">
              <a:solidFill>
                <a:srgbClr val="FF0000"/>
              </a:solidFill>
              <a:prstDash val="solid"/>
              <a:round/>
              <a:headEnd type="none" w="med" len="med"/>
              <a:tailEnd type="none" w="med" len="med"/>
            </a:ln>
          </p:spPr>
          <p:txBody>
            <a:bodyPr wrap="none" anchor="ctr"/>
            <a:lstStyle/>
            <a:p>
              <a:pPr lvl="0" algn="ctr">
                <a:spcBef>
                  <a:spcPct val="20000"/>
                </a:spcBef>
                <a:buFont typeface="Wingdings" panose="05000000000000000000" pitchFamily="2" charset="2"/>
                <a:buChar char="§"/>
              </a:pPr>
              <a:endParaRPr lang="zh-CN" altLang="en-US" sz="2800" b="1" dirty="0">
                <a:latin typeface="Arial" panose="020B0604020202020204" pitchFamily="34" charset="0"/>
                <a:ea typeface="宋体" panose="02010600030101010101" pitchFamily="2" charset="-122"/>
              </a:endParaRPr>
            </a:p>
          </p:txBody>
        </p:sp>
      </p:grpSp>
      <p:sp>
        <p:nvSpPr>
          <p:cNvPr id="116798" name="Oval 64"/>
          <p:cNvSpPr/>
          <p:nvPr/>
        </p:nvSpPr>
        <p:spPr>
          <a:xfrm>
            <a:off x="250825" y="4654233"/>
            <a:ext cx="1873250" cy="1439862"/>
          </a:xfrm>
          <a:prstGeom prst="ellipse">
            <a:avLst/>
          </a:prstGeom>
          <a:noFill/>
          <a:ln w="25400" cap="flat" cmpd="sng">
            <a:solidFill>
              <a:srgbClr val="FF0000"/>
            </a:solidFill>
            <a:prstDash val="solid"/>
            <a:round/>
            <a:headEnd type="none" w="med" len="med"/>
            <a:tailEnd type="none" w="med" len="med"/>
          </a:ln>
        </p:spPr>
        <p:txBody>
          <a:bodyPr wrap="none" anchor="ctr"/>
          <a:lstStyle/>
          <a:p>
            <a:pPr lvl="0" algn="ctr">
              <a:spcBef>
                <a:spcPct val="20000"/>
              </a:spcBef>
              <a:buFont typeface="Wingdings" panose="05000000000000000000" pitchFamily="2" charset="2"/>
              <a:buChar char="§"/>
            </a:pPr>
            <a:endParaRPr lang="zh-CN" altLang="en-US" sz="2800" b="1" dirty="0">
              <a:latin typeface="Arial" panose="020B0604020202020204" pitchFamily="34" charset="0"/>
              <a:ea typeface="宋体" panose="02010600030101010101" pitchFamily="2" charset="-122"/>
            </a:endParaRPr>
          </a:p>
        </p:txBody>
      </p:sp>
      <p:grpSp>
        <p:nvGrpSpPr>
          <p:cNvPr id="116799" name="组合 116798"/>
          <p:cNvGrpSpPr/>
          <p:nvPr/>
        </p:nvGrpSpPr>
        <p:grpSpPr>
          <a:xfrm>
            <a:off x="4859338" y="3862070"/>
            <a:ext cx="1512887" cy="2232025"/>
            <a:chOff x="0" y="0"/>
            <a:chExt cx="953" cy="1406"/>
          </a:xfrm>
        </p:grpSpPr>
        <p:sp>
          <p:nvSpPr>
            <p:cNvPr id="5" name="Oval 65"/>
            <p:cNvSpPr/>
            <p:nvPr/>
          </p:nvSpPr>
          <p:spPr>
            <a:xfrm>
              <a:off x="0" y="0"/>
              <a:ext cx="953" cy="499"/>
            </a:xfrm>
            <a:prstGeom prst="ellipse">
              <a:avLst/>
            </a:prstGeom>
            <a:noFill/>
            <a:ln w="25400" cap="flat" cmpd="sng">
              <a:solidFill>
                <a:srgbClr val="FF0000"/>
              </a:solidFill>
              <a:prstDash val="solid"/>
              <a:round/>
              <a:headEnd type="none" w="med" len="med"/>
              <a:tailEnd type="none" w="med" len="med"/>
            </a:ln>
          </p:spPr>
          <p:txBody>
            <a:bodyPr wrap="none" anchor="ctr"/>
            <a:lstStyle/>
            <a:p>
              <a:pPr lvl="0" algn="ctr">
                <a:spcBef>
                  <a:spcPct val="20000"/>
                </a:spcBef>
                <a:buFont typeface="Wingdings" panose="05000000000000000000" pitchFamily="2" charset="2"/>
                <a:buChar char="§"/>
              </a:pPr>
              <a:endParaRPr lang="zh-CN" altLang="en-US" sz="2800" b="1" dirty="0">
                <a:latin typeface="Arial" panose="020B0604020202020204" pitchFamily="34" charset="0"/>
                <a:ea typeface="宋体" panose="02010600030101010101" pitchFamily="2" charset="-122"/>
              </a:endParaRPr>
            </a:p>
          </p:txBody>
        </p:sp>
        <p:sp>
          <p:nvSpPr>
            <p:cNvPr id="116800" name="Oval 66"/>
            <p:cNvSpPr/>
            <p:nvPr/>
          </p:nvSpPr>
          <p:spPr>
            <a:xfrm>
              <a:off x="0" y="907"/>
              <a:ext cx="953" cy="499"/>
            </a:xfrm>
            <a:prstGeom prst="ellipse">
              <a:avLst/>
            </a:prstGeom>
            <a:noFill/>
            <a:ln w="25400" cap="flat" cmpd="sng">
              <a:solidFill>
                <a:srgbClr val="FF0000"/>
              </a:solidFill>
              <a:prstDash val="solid"/>
              <a:round/>
              <a:headEnd type="none" w="med" len="med"/>
              <a:tailEnd type="none" w="med" len="med"/>
            </a:ln>
          </p:spPr>
          <p:txBody>
            <a:bodyPr wrap="none" anchor="ctr"/>
            <a:lstStyle/>
            <a:p>
              <a:pPr lvl="0" algn="ctr">
                <a:spcBef>
                  <a:spcPct val="20000"/>
                </a:spcBef>
                <a:buFont typeface="Wingdings" panose="05000000000000000000" pitchFamily="2" charset="2"/>
                <a:buChar char="§"/>
              </a:pPr>
              <a:endParaRPr lang="zh-CN" altLang="en-US" sz="2800" b="1" dirty="0">
                <a:latin typeface="Arial" panose="020B0604020202020204" pitchFamily="34" charset="0"/>
                <a:ea typeface="宋体" panose="02010600030101010101" pitchFamily="2" charset="-122"/>
              </a:endParaRPr>
            </a:p>
          </p:txBody>
        </p:sp>
      </p:grpSp>
      <p:grpSp>
        <p:nvGrpSpPr>
          <p:cNvPr id="116802" name="组合 116801"/>
          <p:cNvGrpSpPr/>
          <p:nvPr/>
        </p:nvGrpSpPr>
        <p:grpSpPr>
          <a:xfrm>
            <a:off x="6877050" y="3862070"/>
            <a:ext cx="1512888" cy="2232025"/>
            <a:chOff x="0" y="0"/>
            <a:chExt cx="953" cy="1406"/>
          </a:xfrm>
        </p:grpSpPr>
        <p:sp>
          <p:nvSpPr>
            <p:cNvPr id="6" name="Oval 69"/>
            <p:cNvSpPr/>
            <p:nvPr/>
          </p:nvSpPr>
          <p:spPr>
            <a:xfrm>
              <a:off x="0" y="0"/>
              <a:ext cx="953" cy="499"/>
            </a:xfrm>
            <a:prstGeom prst="ellipse">
              <a:avLst/>
            </a:prstGeom>
            <a:noFill/>
            <a:ln w="25400" cap="flat" cmpd="sng">
              <a:solidFill>
                <a:srgbClr val="FF0000"/>
              </a:solidFill>
              <a:prstDash val="solid"/>
              <a:round/>
              <a:headEnd type="none" w="med" len="med"/>
              <a:tailEnd type="none" w="med" len="med"/>
            </a:ln>
          </p:spPr>
          <p:txBody>
            <a:bodyPr wrap="none" anchor="ctr"/>
            <a:lstStyle/>
            <a:p>
              <a:pPr lvl="0" algn="ctr">
                <a:spcBef>
                  <a:spcPct val="20000"/>
                </a:spcBef>
                <a:buFont typeface="Wingdings" panose="05000000000000000000" pitchFamily="2" charset="2"/>
                <a:buChar char="§"/>
              </a:pPr>
              <a:endParaRPr lang="zh-CN" altLang="en-US" sz="2800" b="1" dirty="0">
                <a:latin typeface="Arial" panose="020B0604020202020204" pitchFamily="34" charset="0"/>
                <a:ea typeface="宋体" panose="02010600030101010101" pitchFamily="2" charset="-122"/>
              </a:endParaRPr>
            </a:p>
          </p:txBody>
        </p:sp>
        <p:sp>
          <p:nvSpPr>
            <p:cNvPr id="116803" name="Oval 70"/>
            <p:cNvSpPr/>
            <p:nvPr/>
          </p:nvSpPr>
          <p:spPr>
            <a:xfrm>
              <a:off x="0" y="907"/>
              <a:ext cx="953" cy="499"/>
            </a:xfrm>
            <a:prstGeom prst="ellipse">
              <a:avLst/>
            </a:prstGeom>
            <a:noFill/>
            <a:ln w="25400" cap="flat" cmpd="sng">
              <a:solidFill>
                <a:srgbClr val="FF0000"/>
              </a:solidFill>
              <a:prstDash val="solid"/>
              <a:round/>
              <a:headEnd type="none" w="med" len="med"/>
              <a:tailEnd type="none" w="med" len="med"/>
            </a:ln>
          </p:spPr>
          <p:txBody>
            <a:bodyPr wrap="none" anchor="ctr"/>
            <a:lstStyle/>
            <a:p>
              <a:pPr lvl="0" algn="ctr">
                <a:spcBef>
                  <a:spcPct val="20000"/>
                </a:spcBef>
                <a:buFont typeface="Wingdings" panose="05000000000000000000" pitchFamily="2" charset="2"/>
                <a:buChar char="§"/>
              </a:pPr>
              <a:endParaRPr lang="zh-CN" altLang="en-US" sz="2800" b="1" dirty="0">
                <a:latin typeface="Arial" panose="020B0604020202020204" pitchFamily="3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6793"/>
                                        </p:tgtEl>
                                        <p:attrNameLst>
                                          <p:attrName>style.visibility</p:attrName>
                                        </p:attrNameLst>
                                      </p:cBhvr>
                                      <p:to>
                                        <p:strVal val="visible"/>
                                      </p:to>
                                    </p:set>
                                  </p:childTnLst>
                                  <p:subTnLst>
                                    <p:set>
                                      <p:cBhvr override="childStyle">
                                        <p:cTn dur="1" fill="hold" display="0" masterRel="nextClick" afterEffect="1"/>
                                        <p:tgtEl>
                                          <p:spTgt spid="116793"/>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1678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16794"/>
                                        </p:tgtEl>
                                        <p:attrNameLst>
                                          <p:attrName>style.visibility</p:attrName>
                                        </p:attrNameLst>
                                      </p:cBhvr>
                                      <p:to>
                                        <p:strVal val="visible"/>
                                      </p:to>
                                    </p:set>
                                    <p:animEffect transition="in" filter="blinds(horizontal)">
                                      <p:cBhvr>
                                        <p:cTn id="15" dur="500"/>
                                        <p:tgtEl>
                                          <p:spTgt spid="116794"/>
                                        </p:tgtEl>
                                      </p:cBhvr>
                                    </p:animEffect>
                                  </p:childTnLst>
                                  <p:subTnLst>
                                    <p:set>
                                      <p:cBhvr override="childStyle">
                                        <p:cTn dur="1" fill="hold" display="0" masterRel="nextClick" afterEffect="1"/>
                                        <p:tgtEl>
                                          <p:spTgt spid="116794"/>
                                        </p:tgtEl>
                                        <p:attrNameLst>
                                          <p:attrName>style.visibility</p:attrName>
                                        </p:attrNameLst>
                                      </p:cBhvr>
                                      <p:to>
                                        <p:strVal val="hidden"/>
                                      </p:to>
                                    </p:set>
                                  </p:sub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499"/>
                                          </p:stCondLst>
                                        </p:cTn>
                                        <p:tgtEl>
                                          <p:spTgt spid="11678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16798"/>
                                        </p:tgtEl>
                                        <p:attrNameLst>
                                          <p:attrName>style.visibility</p:attrName>
                                        </p:attrNameLst>
                                      </p:cBhvr>
                                      <p:to>
                                        <p:strVal val="visible"/>
                                      </p:to>
                                    </p:set>
                                  </p:childTnLst>
                                  <p:subTnLst>
                                    <p:set>
                                      <p:cBhvr override="childStyle">
                                        <p:cTn dur="1" fill="hold" display="0" masterRel="nextClick" afterEffect="1"/>
                                        <p:tgtEl>
                                          <p:spTgt spid="116798"/>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116780"/>
                                        </p:tgtEl>
                                        <p:attrNameLst>
                                          <p:attrName>style.visibility</p:attrName>
                                        </p:attrNameLst>
                                      </p:cBhvr>
                                      <p:to>
                                        <p:strVal val="visible"/>
                                      </p:to>
                                    </p:set>
                                  </p:childTnLst>
                                </p:cTn>
                              </p:par>
                            </p:childTnLst>
                          </p:cTn>
                        </p:par>
                        <p:par>
                          <p:cTn id="28" fill="hold">
                            <p:stCondLst>
                              <p:cond delay="500"/>
                            </p:stCondLst>
                            <p:childTnLst>
                              <p:par>
                                <p:cTn id="29" presetID="1" presetClass="entr" presetSubtype="0" fill="hold" grpId="0" nodeType="afterEffect">
                                  <p:stCondLst>
                                    <p:cond delay="0"/>
                                  </p:stCondLst>
                                  <p:childTnLst>
                                    <p:set>
                                      <p:cBhvr>
                                        <p:cTn id="30" dur="1" fill="hold">
                                          <p:stCondLst>
                                            <p:cond delay="499"/>
                                          </p:stCondLst>
                                        </p:cTn>
                                        <p:tgtEl>
                                          <p:spTgt spid="11677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16799"/>
                                        </p:tgtEl>
                                        <p:attrNameLst>
                                          <p:attrName>style.visibility</p:attrName>
                                        </p:attrNameLst>
                                      </p:cBhvr>
                                      <p:to>
                                        <p:strVal val="visible"/>
                                      </p:to>
                                    </p:set>
                                    <p:animEffect transition="in" filter="blinds(horizontal)">
                                      <p:cBhvr>
                                        <p:cTn id="35" dur="500"/>
                                        <p:tgtEl>
                                          <p:spTgt spid="116799"/>
                                        </p:tgtEl>
                                      </p:cBhvr>
                                    </p:animEffect>
                                  </p:childTnLst>
                                  <p:subTnLst>
                                    <p:set>
                                      <p:cBhvr override="childStyle">
                                        <p:cTn dur="1" fill="hold" display="0" masterRel="nextClick" afterEffect="1"/>
                                        <p:tgtEl>
                                          <p:spTgt spid="116799"/>
                                        </p:tgtEl>
                                        <p:attrNameLst>
                                          <p:attrName>style.visibility</p:attrName>
                                        </p:attrNameLst>
                                      </p:cBhvr>
                                      <p:to>
                                        <p:strVal val="hidden"/>
                                      </p:to>
                                    </p:set>
                                  </p:sub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499"/>
                                          </p:stCondLst>
                                        </p:cTn>
                                        <p:tgtEl>
                                          <p:spTgt spid="116785"/>
                                        </p:tgtEl>
                                        <p:attrNameLst>
                                          <p:attrName>style.visibility</p:attrName>
                                        </p:attrNameLst>
                                      </p:cBhvr>
                                      <p:to>
                                        <p:strVal val="visible"/>
                                      </p:to>
                                    </p:set>
                                  </p:childTnLst>
                                </p:cTn>
                              </p:par>
                            </p:childTnLst>
                          </p:cTn>
                        </p:par>
                        <p:par>
                          <p:cTn id="40" fill="hold">
                            <p:stCondLst>
                              <p:cond delay="500"/>
                            </p:stCondLst>
                            <p:childTnLst>
                              <p:par>
                                <p:cTn id="41" presetID="1" presetClass="entr" presetSubtype="0" fill="hold" grpId="0" nodeType="afterEffect">
                                  <p:stCondLst>
                                    <p:cond delay="0"/>
                                  </p:stCondLst>
                                  <p:childTnLst>
                                    <p:set>
                                      <p:cBhvr>
                                        <p:cTn id="42" dur="1" fill="hold">
                                          <p:stCondLst>
                                            <p:cond delay="499"/>
                                          </p:stCondLst>
                                        </p:cTn>
                                        <p:tgtEl>
                                          <p:spTgt spid="11678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16802"/>
                                        </p:tgtEl>
                                        <p:attrNameLst>
                                          <p:attrName>style.visibility</p:attrName>
                                        </p:attrNameLst>
                                      </p:cBhvr>
                                      <p:to>
                                        <p:strVal val="visible"/>
                                      </p:to>
                                    </p:set>
                                    <p:animEffect transition="in" filter="blinds(horizontal)">
                                      <p:cBhvr>
                                        <p:cTn id="47" dur="500"/>
                                        <p:tgtEl>
                                          <p:spTgt spid="116802"/>
                                        </p:tgtEl>
                                      </p:cBhvr>
                                    </p:animEffect>
                                  </p:childTnLst>
                                  <p:subTnLst>
                                    <p:set>
                                      <p:cBhvr override="childStyle">
                                        <p:cTn dur="1" fill="hold" display="0" masterRel="nextClick" afterEffect="1"/>
                                        <p:tgtEl>
                                          <p:spTgt spid="116802"/>
                                        </p:tgtEl>
                                        <p:attrNameLst>
                                          <p:attrName>style.visibility</p:attrName>
                                        </p:attrNameLst>
                                      </p:cBhvr>
                                      <p:to>
                                        <p:strVal val="hidden"/>
                                      </p:to>
                                    </p:set>
                                  </p:sub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499"/>
                                          </p:stCondLst>
                                        </p:cTn>
                                        <p:tgtEl>
                                          <p:spTgt spid="116792"/>
                                        </p:tgtEl>
                                        <p:attrNameLst>
                                          <p:attrName>style.visibility</p:attrName>
                                        </p:attrNameLst>
                                      </p:cBhvr>
                                      <p:to>
                                        <p:strVal val="visible"/>
                                      </p:to>
                                    </p:set>
                                  </p:childTnLst>
                                </p:cTn>
                              </p:par>
                            </p:childTnLst>
                          </p:cTn>
                        </p:par>
                        <p:par>
                          <p:cTn id="52" fill="hold">
                            <p:stCondLst>
                              <p:cond delay="500"/>
                            </p:stCondLst>
                            <p:childTnLst>
                              <p:par>
                                <p:cTn id="53" presetID="1" presetClass="entr" presetSubtype="0" fill="hold" grpId="0" nodeType="afterEffect">
                                  <p:stCondLst>
                                    <p:cond delay="0"/>
                                  </p:stCondLst>
                                  <p:childTnLst>
                                    <p:set>
                                      <p:cBhvr>
                                        <p:cTn id="54" dur="1" fill="hold">
                                          <p:stCondLst>
                                            <p:cond delay="499"/>
                                          </p:stCondLst>
                                        </p:cTn>
                                        <p:tgtEl>
                                          <p:spTgt spid="1167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79" grpId="0"/>
      <p:bldP spid="116780" grpId="0"/>
      <p:bldP spid="116785" grpId="0"/>
      <p:bldP spid="116786" grpId="0"/>
      <p:bldP spid="116791" grpId="0"/>
      <p:bldP spid="116792" grpId="0"/>
      <p:bldP spid="116793" grpId="0" bldLvl="0" animBg="1"/>
      <p:bldP spid="116798" grpId="0" bldLvl="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日期占位符 1"/>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17762" name="页脚占位符 2"/>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17763" name="灯片编号占位符 3"/>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43</a:t>
            </a:fld>
            <a:endParaRPr lang="zh-CN" altLang="en-US" sz="1200" b="1" i="1" dirty="0">
              <a:latin typeface="Times New Roman" panose="02020603050405020304" pitchFamily="2" charset="0"/>
              <a:ea typeface="宋体" panose="02010600030101010101" pitchFamily="2" charset="-122"/>
            </a:endParaRPr>
          </a:p>
        </p:txBody>
      </p:sp>
      <p:sp>
        <p:nvSpPr>
          <p:cNvPr id="117764" name="Rectangle 2"/>
          <p:cNvSpPr>
            <a:spLocks noGrp="1"/>
          </p:cNvSpPr>
          <p:nvPr>
            <p:ph type="title"/>
          </p:nvPr>
        </p:nvSpPr>
        <p:spPr/>
        <p:txBody>
          <a:bodyPr wrap="square" tIns="0" bIns="0" anchor="ctr"/>
          <a:lstStyle/>
          <a:p>
            <a:pPr lvl="0" eaLnBrk="1" hangingPunct="1"/>
            <a:r>
              <a:rPr lang="zh-CN" altLang="en-US" dirty="0">
                <a:ea typeface="宋体" panose="02010600030101010101" pitchFamily="2" charset="-122"/>
              </a:rPr>
              <a:t>6.6 </a:t>
            </a:r>
            <a:r>
              <a:rPr lang="en-US" altLang="x-none" dirty="0">
                <a:ea typeface="宋体" panose="02010600030101010101" pitchFamily="2" charset="-122"/>
              </a:rPr>
              <a:t>Functional Dependencies</a:t>
            </a:r>
            <a:endParaRPr lang="zh-CN" altLang="en-US" dirty="0">
              <a:ea typeface="宋体" panose="02010600030101010101" pitchFamily="2" charset="-122"/>
            </a:endParaRPr>
          </a:p>
        </p:txBody>
      </p:sp>
      <p:sp>
        <p:nvSpPr>
          <p:cNvPr id="117765" name="Rectangle 3"/>
          <p:cNvSpPr>
            <a:spLocks noGrp="1"/>
          </p:cNvSpPr>
          <p:nvPr>
            <p:ph type="body"/>
          </p:nvPr>
        </p:nvSpPr>
        <p:spPr>
          <a:xfrm>
            <a:off x="381000" y="3231515"/>
            <a:ext cx="8763000" cy="609600"/>
          </a:xfrm>
        </p:spPr>
        <p:txBody>
          <a:bodyPr wrap="square" anchor="t"/>
          <a:lstStyle/>
          <a:p>
            <a:pPr lvl="0" eaLnBrk="1" hangingPunct="1"/>
            <a:r>
              <a:rPr lang="zh-CN" altLang="en-US">
                <a:solidFill>
                  <a:schemeClr val="tx1"/>
                </a:solidFill>
                <a:ea typeface="宋体" panose="02010600030101010101" pitchFamily="2" charset="-122"/>
              </a:rPr>
              <a:t>也可以按照如下顺序考虑可能存在的函数依赖情况：</a:t>
            </a:r>
          </a:p>
        </p:txBody>
      </p:sp>
      <p:graphicFrame>
        <p:nvGraphicFramePr>
          <p:cNvPr id="117767" name="表格 117766"/>
          <p:cNvGraphicFramePr/>
          <p:nvPr/>
        </p:nvGraphicFramePr>
        <p:xfrm>
          <a:off x="1828800" y="694690"/>
          <a:ext cx="5257800" cy="2459355"/>
        </p:xfrm>
        <a:graphic>
          <a:graphicData uri="http://schemas.openxmlformats.org/drawingml/2006/table">
            <a:tbl>
              <a:tblPr/>
              <a:tblGrid>
                <a:gridCol w="1230630">
                  <a:extLst>
                    <a:ext uri="{9D8B030D-6E8A-4147-A177-3AD203B41FA5}">
                      <a16:colId xmlns:a16="http://schemas.microsoft.com/office/drawing/2014/main" val="20000"/>
                    </a:ext>
                  </a:extLst>
                </a:gridCol>
                <a:gridCol w="1343025">
                  <a:extLst>
                    <a:ext uri="{9D8B030D-6E8A-4147-A177-3AD203B41FA5}">
                      <a16:colId xmlns:a16="http://schemas.microsoft.com/office/drawing/2014/main" val="20001"/>
                    </a:ext>
                  </a:extLst>
                </a:gridCol>
                <a:gridCol w="1341120">
                  <a:extLst>
                    <a:ext uri="{9D8B030D-6E8A-4147-A177-3AD203B41FA5}">
                      <a16:colId xmlns:a16="http://schemas.microsoft.com/office/drawing/2014/main" val="20002"/>
                    </a:ext>
                  </a:extLst>
                </a:gridCol>
                <a:gridCol w="1343025">
                  <a:extLst>
                    <a:ext uri="{9D8B030D-6E8A-4147-A177-3AD203B41FA5}">
                      <a16:colId xmlns:a16="http://schemas.microsoft.com/office/drawing/2014/main" val="20003"/>
                    </a:ext>
                  </a:extLst>
                </a:gridCol>
              </a:tblGrid>
              <a:tr h="46799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D</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49847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1"/>
                  </a:ext>
                </a:extLst>
              </a:tr>
              <a:tr h="50038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2"/>
                  </a:ext>
                </a:extLst>
              </a:tr>
              <a:tr h="49403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3"/>
                  </a:ext>
                </a:extLst>
              </a:tr>
              <a:tr h="49847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d4</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4"/>
                  </a:ext>
                </a:extLst>
              </a:tr>
            </a:tbl>
          </a:graphicData>
        </a:graphic>
      </p:graphicFrame>
      <p:sp>
        <p:nvSpPr>
          <p:cNvPr id="117798" name="Rectangle 36"/>
          <p:cNvSpPr/>
          <p:nvPr/>
        </p:nvSpPr>
        <p:spPr>
          <a:xfrm>
            <a:off x="533400" y="3917315"/>
            <a:ext cx="1905000" cy="1981200"/>
          </a:xfrm>
          <a:prstGeom prst="rect">
            <a:avLst/>
          </a:prstGeom>
          <a:solidFill>
            <a:schemeClr val="bg1"/>
          </a:solidFill>
          <a:ln w="9525">
            <a:noFill/>
          </a:ln>
        </p:spPr>
        <p:txBody>
          <a:bodyPr anchor="t"/>
          <a:lstStyle/>
          <a:p>
            <a:pPr marL="342900" lvl="0" indent="-342900">
              <a:spcBef>
                <a:spcPct val="7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 → B</a:t>
            </a:r>
            <a:r>
              <a:rPr lang="en-US" altLang="x-none" sz="2800" b="1" dirty="0">
                <a:solidFill>
                  <a:srgbClr val="FF0000"/>
                </a:solidFill>
                <a:latin typeface="Arial" panose="020B0604020202020204" pitchFamily="34" charset="0"/>
                <a:ea typeface="宋体" panose="02010600030101010101" pitchFamily="2" charset="-122"/>
              </a:rPr>
              <a:t> </a:t>
            </a:r>
          </a:p>
          <a:p>
            <a:pPr marL="342900" lvl="0" indent="-342900">
              <a:spcBef>
                <a:spcPct val="7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 → C</a:t>
            </a:r>
            <a:r>
              <a:rPr lang="en-US" altLang="x-none" sz="2800" b="1" dirty="0">
                <a:solidFill>
                  <a:srgbClr val="FF0000"/>
                </a:solidFill>
                <a:latin typeface="Arial" panose="020B0604020202020204" pitchFamily="34" charset="0"/>
                <a:ea typeface="宋体" panose="02010600030101010101" pitchFamily="2" charset="-122"/>
              </a:rPr>
              <a:t> </a:t>
            </a:r>
          </a:p>
          <a:p>
            <a:pPr marL="342900" lvl="0" indent="-342900">
              <a:spcBef>
                <a:spcPct val="7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 → D</a:t>
            </a:r>
            <a:r>
              <a:rPr lang="en-US" altLang="x-none" sz="2800" b="1" dirty="0">
                <a:solidFill>
                  <a:srgbClr val="FF0000"/>
                </a:solidFill>
                <a:latin typeface="Arial" panose="020B0604020202020204" pitchFamily="34" charset="0"/>
                <a:ea typeface="宋体" panose="02010600030101010101" pitchFamily="2" charset="-122"/>
              </a:rPr>
              <a:t> </a:t>
            </a:r>
            <a:endParaRPr lang="en-US" altLang="x-none" b="1" dirty="0">
              <a:solidFill>
                <a:srgbClr val="FF0000"/>
              </a:solidFill>
              <a:latin typeface="Times New Roman" panose="02020603050405020304" pitchFamily="2" charset="0"/>
              <a:ea typeface="宋体" panose="02010600030101010101" pitchFamily="2" charset="-122"/>
              <a:sym typeface="Symbol" panose="05050102010706020507" pitchFamily="2" charset="2"/>
            </a:endParaRPr>
          </a:p>
        </p:txBody>
      </p:sp>
      <p:sp>
        <p:nvSpPr>
          <p:cNvPr id="117799" name="Rectangle 37"/>
          <p:cNvSpPr/>
          <p:nvPr/>
        </p:nvSpPr>
        <p:spPr>
          <a:xfrm>
            <a:off x="2743200" y="3917315"/>
            <a:ext cx="1828800" cy="2209800"/>
          </a:xfrm>
          <a:prstGeom prst="rect">
            <a:avLst/>
          </a:prstGeom>
          <a:solidFill>
            <a:schemeClr val="bg1"/>
          </a:solidFill>
          <a:ln w="9525">
            <a:noFill/>
          </a:ln>
        </p:spPr>
        <p:txBody>
          <a:bodyPr anchor="t"/>
          <a:lstStyle/>
          <a:p>
            <a:pPr marL="342900" lvl="0" indent="-342900">
              <a:spcBef>
                <a:spcPct val="7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B → A </a:t>
            </a:r>
          </a:p>
          <a:p>
            <a:pPr marL="342900" lvl="0" indent="-342900">
              <a:spcBef>
                <a:spcPct val="7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B → C </a:t>
            </a:r>
          </a:p>
          <a:p>
            <a:pPr marL="342900" lvl="0" indent="-342900">
              <a:spcBef>
                <a:spcPct val="7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B → D </a:t>
            </a:r>
            <a:endParaRPr lang="en-US" altLang="x-none" b="1" dirty="0">
              <a:solidFill>
                <a:srgbClr val="FF0000"/>
              </a:solidFill>
              <a:latin typeface="Times New Roman" panose="02020603050405020304" pitchFamily="2" charset="0"/>
              <a:ea typeface="宋体" panose="02010600030101010101" pitchFamily="2" charset="-122"/>
              <a:sym typeface="Symbol" panose="05050102010706020507" pitchFamily="2" charset="2"/>
            </a:endParaRPr>
          </a:p>
        </p:txBody>
      </p:sp>
      <p:sp>
        <p:nvSpPr>
          <p:cNvPr id="117800" name="Rectangle 38"/>
          <p:cNvSpPr/>
          <p:nvPr/>
        </p:nvSpPr>
        <p:spPr>
          <a:xfrm>
            <a:off x="4953000" y="3917315"/>
            <a:ext cx="1752600" cy="2209800"/>
          </a:xfrm>
          <a:prstGeom prst="rect">
            <a:avLst/>
          </a:prstGeom>
          <a:solidFill>
            <a:schemeClr val="bg1"/>
          </a:solidFill>
          <a:ln w="9525">
            <a:noFill/>
          </a:ln>
        </p:spPr>
        <p:txBody>
          <a:bodyPr anchor="t"/>
          <a:lstStyle/>
          <a:p>
            <a:pPr marL="342900" lvl="0" indent="-342900">
              <a:spcBef>
                <a:spcPct val="7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 → A </a:t>
            </a:r>
          </a:p>
          <a:p>
            <a:pPr marL="342900" lvl="0" indent="-342900">
              <a:spcBef>
                <a:spcPct val="7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 → B </a:t>
            </a:r>
          </a:p>
          <a:p>
            <a:pPr marL="342900" lvl="0" indent="-342900">
              <a:spcBef>
                <a:spcPct val="7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 → D </a:t>
            </a:r>
            <a:endParaRPr lang="en-US" altLang="x-none" b="1" dirty="0">
              <a:solidFill>
                <a:srgbClr val="FF0000"/>
              </a:solidFill>
              <a:latin typeface="Times New Roman" panose="02020603050405020304" pitchFamily="2" charset="0"/>
              <a:ea typeface="宋体" panose="02010600030101010101" pitchFamily="2" charset="-122"/>
              <a:sym typeface="Symbol" panose="05050102010706020507" pitchFamily="2" charset="2"/>
            </a:endParaRPr>
          </a:p>
        </p:txBody>
      </p:sp>
      <p:sp>
        <p:nvSpPr>
          <p:cNvPr id="117801" name="Rectangle 39"/>
          <p:cNvSpPr/>
          <p:nvPr/>
        </p:nvSpPr>
        <p:spPr>
          <a:xfrm>
            <a:off x="7010400" y="3917315"/>
            <a:ext cx="1828800" cy="2209800"/>
          </a:xfrm>
          <a:prstGeom prst="rect">
            <a:avLst/>
          </a:prstGeom>
          <a:solidFill>
            <a:schemeClr val="bg1"/>
          </a:solidFill>
          <a:ln w="9525">
            <a:noFill/>
          </a:ln>
        </p:spPr>
        <p:txBody>
          <a:bodyPr anchor="t"/>
          <a:lstStyle/>
          <a:p>
            <a:pPr marL="342900" lvl="0" indent="-342900">
              <a:spcBef>
                <a:spcPct val="7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D → A </a:t>
            </a:r>
          </a:p>
          <a:p>
            <a:pPr marL="342900" lvl="0" indent="-342900">
              <a:spcBef>
                <a:spcPct val="7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D → B </a:t>
            </a:r>
          </a:p>
          <a:p>
            <a:pPr marL="342900" lvl="0" indent="-342900">
              <a:spcBef>
                <a:spcPct val="7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D → C </a:t>
            </a:r>
            <a:endParaRPr lang="en-US" altLang="x-none" sz="2800" b="1" dirty="0">
              <a:solidFill>
                <a:srgbClr val="FF0000"/>
              </a:solidFill>
              <a:latin typeface="Arial" panose="020B0604020202020204" pitchFamily="34" charset="0"/>
              <a:ea typeface="宋体" panose="02010600030101010101" pitchFamily="2" charset="-122"/>
            </a:endParaRPr>
          </a:p>
        </p:txBody>
      </p:sp>
      <p:grpSp>
        <p:nvGrpSpPr>
          <p:cNvPr id="117803" name="组合 117802"/>
          <p:cNvGrpSpPr/>
          <p:nvPr/>
        </p:nvGrpSpPr>
        <p:grpSpPr>
          <a:xfrm>
            <a:off x="1676400" y="4679315"/>
            <a:ext cx="609600" cy="1295400"/>
            <a:chOff x="0" y="0"/>
            <a:chExt cx="384" cy="816"/>
          </a:xfrm>
        </p:grpSpPr>
        <p:sp>
          <p:nvSpPr>
            <p:cNvPr id="2" name="Rectangle 40"/>
            <p:cNvSpPr/>
            <p:nvPr/>
          </p:nvSpPr>
          <p:spPr>
            <a:xfrm>
              <a:off x="0" y="480"/>
              <a:ext cx="384" cy="336"/>
            </a:xfrm>
            <a:prstGeom prst="rect">
              <a:avLst/>
            </a:prstGeom>
            <a:noFill/>
            <a:ln w="9525">
              <a:noFill/>
            </a:ln>
          </p:spPr>
          <p:txBody>
            <a:bodyPr anchor="t"/>
            <a:lstStyle/>
            <a:p>
              <a:pPr marL="342900" lvl="0" indent="-342900">
                <a:spcBef>
                  <a:spcPct val="90000"/>
                </a:spcBef>
                <a:buClr>
                  <a:srgbClr val="996633"/>
                </a:buClr>
                <a:buFont typeface="Wingdings" panose="05000000000000000000" pitchFamily="2" charset="2"/>
                <a:buNone/>
              </a:pPr>
              <a:r>
                <a:rPr lang="zh-CN" altLang="en-US" b="1" dirty="0">
                  <a:solidFill>
                    <a:srgbClr val="FF0000"/>
                  </a:solidFill>
                  <a:latin typeface="Times New Roman" panose="02020603050405020304" pitchFamily="2" charset="0"/>
                  <a:ea typeface="宋体" panose="02010600030101010101" pitchFamily="2" charset="-122"/>
                  <a:sym typeface="Symbol" panose="05050102010706020507" pitchFamily="2" charset="2"/>
                </a:rPr>
                <a:t>☓</a:t>
              </a:r>
              <a:endParaRPr lang="en-US" altLang="x-none" b="1" dirty="0">
                <a:solidFill>
                  <a:srgbClr val="FF0000"/>
                </a:solidFill>
                <a:latin typeface="Times New Roman" panose="02020603050405020304" pitchFamily="2" charset="0"/>
                <a:ea typeface="宋体" panose="02010600030101010101" pitchFamily="2" charset="-122"/>
                <a:sym typeface="Symbol" panose="05050102010706020507" pitchFamily="2" charset="2"/>
              </a:endParaRPr>
            </a:p>
          </p:txBody>
        </p:sp>
        <p:sp>
          <p:nvSpPr>
            <p:cNvPr id="117804" name="Rectangle 41"/>
            <p:cNvSpPr/>
            <p:nvPr/>
          </p:nvSpPr>
          <p:spPr>
            <a:xfrm>
              <a:off x="0" y="0"/>
              <a:ext cx="384" cy="336"/>
            </a:xfrm>
            <a:prstGeom prst="rect">
              <a:avLst/>
            </a:prstGeom>
            <a:noFill/>
            <a:ln w="9525">
              <a:noFill/>
            </a:ln>
          </p:spPr>
          <p:txBody>
            <a:bodyPr anchor="t"/>
            <a:lstStyle/>
            <a:p>
              <a:pPr marL="342900" lvl="0" indent="-342900">
                <a:spcBef>
                  <a:spcPct val="90000"/>
                </a:spcBef>
                <a:buClr>
                  <a:srgbClr val="996633"/>
                </a:buClr>
                <a:buFont typeface="Wingdings" panose="05000000000000000000" pitchFamily="2" charset="2"/>
                <a:buNone/>
              </a:pPr>
              <a:r>
                <a:rPr lang="zh-CN" altLang="en-US" b="1" dirty="0">
                  <a:solidFill>
                    <a:srgbClr val="FF0000"/>
                  </a:solidFill>
                  <a:latin typeface="Times New Roman" panose="02020603050405020304" pitchFamily="2" charset="0"/>
                  <a:ea typeface="宋体" panose="02010600030101010101" pitchFamily="2" charset="-122"/>
                  <a:sym typeface="Symbol" panose="05050102010706020507" pitchFamily="2" charset="2"/>
                </a:rPr>
                <a:t>☓</a:t>
              </a:r>
              <a:endParaRPr lang="en-US" altLang="x-none" b="1" dirty="0">
                <a:solidFill>
                  <a:srgbClr val="FF0000"/>
                </a:solidFill>
                <a:latin typeface="Times New Roman" panose="02020603050405020304" pitchFamily="2" charset="0"/>
                <a:ea typeface="宋体" panose="02010600030101010101" pitchFamily="2" charset="-122"/>
                <a:sym typeface="Symbol" panose="05050102010706020507" pitchFamily="2" charset="2"/>
              </a:endParaRPr>
            </a:p>
          </p:txBody>
        </p:sp>
      </p:grpSp>
      <p:grpSp>
        <p:nvGrpSpPr>
          <p:cNvPr id="117806" name="组合 117805"/>
          <p:cNvGrpSpPr/>
          <p:nvPr/>
        </p:nvGrpSpPr>
        <p:grpSpPr>
          <a:xfrm>
            <a:off x="3962400" y="3993515"/>
            <a:ext cx="609600" cy="1981200"/>
            <a:chOff x="0" y="0"/>
            <a:chExt cx="384" cy="1248"/>
          </a:xfrm>
        </p:grpSpPr>
        <p:sp>
          <p:nvSpPr>
            <p:cNvPr id="3" name="Rectangle 43"/>
            <p:cNvSpPr/>
            <p:nvPr/>
          </p:nvSpPr>
          <p:spPr>
            <a:xfrm>
              <a:off x="0" y="432"/>
              <a:ext cx="384" cy="336"/>
            </a:xfrm>
            <a:prstGeom prst="rect">
              <a:avLst/>
            </a:prstGeom>
            <a:noFill/>
            <a:ln w="9525">
              <a:noFill/>
            </a:ln>
          </p:spPr>
          <p:txBody>
            <a:bodyPr anchor="t"/>
            <a:lstStyle/>
            <a:p>
              <a:pPr marL="342900" lvl="0" indent="-342900">
                <a:spcBef>
                  <a:spcPct val="90000"/>
                </a:spcBef>
                <a:buClr>
                  <a:srgbClr val="996633"/>
                </a:buClr>
                <a:buFont typeface="Wingdings" panose="05000000000000000000" pitchFamily="2" charset="2"/>
                <a:buNone/>
              </a:pPr>
              <a:r>
                <a:rPr lang="zh-CN" altLang="en-US" b="1" dirty="0">
                  <a:solidFill>
                    <a:srgbClr val="FF0000"/>
                  </a:solidFill>
                  <a:latin typeface="Times New Roman" panose="02020603050405020304" pitchFamily="2" charset="0"/>
                  <a:ea typeface="宋体" panose="02010600030101010101" pitchFamily="2" charset="-122"/>
                  <a:sym typeface="Symbol" panose="05050102010706020507" pitchFamily="2" charset="2"/>
                </a:rPr>
                <a:t>☓</a:t>
              </a:r>
              <a:endParaRPr lang="en-US" altLang="x-none" b="1" dirty="0">
                <a:solidFill>
                  <a:srgbClr val="FF0000"/>
                </a:solidFill>
                <a:latin typeface="Times New Roman" panose="02020603050405020304" pitchFamily="2" charset="0"/>
                <a:ea typeface="宋体" panose="02010600030101010101" pitchFamily="2" charset="-122"/>
                <a:sym typeface="Symbol" panose="05050102010706020507" pitchFamily="2" charset="2"/>
              </a:endParaRPr>
            </a:p>
          </p:txBody>
        </p:sp>
        <p:sp>
          <p:nvSpPr>
            <p:cNvPr id="117807" name="Rectangle 44"/>
            <p:cNvSpPr/>
            <p:nvPr/>
          </p:nvSpPr>
          <p:spPr>
            <a:xfrm>
              <a:off x="0" y="0"/>
              <a:ext cx="384" cy="336"/>
            </a:xfrm>
            <a:prstGeom prst="rect">
              <a:avLst/>
            </a:prstGeom>
            <a:noFill/>
            <a:ln w="9525">
              <a:noFill/>
            </a:ln>
          </p:spPr>
          <p:txBody>
            <a:bodyPr anchor="t"/>
            <a:lstStyle/>
            <a:p>
              <a:pPr marL="342900" lvl="0" indent="-342900">
                <a:spcBef>
                  <a:spcPct val="90000"/>
                </a:spcBef>
                <a:buClr>
                  <a:srgbClr val="996633"/>
                </a:buClr>
                <a:buFont typeface="Wingdings" panose="05000000000000000000" pitchFamily="2" charset="2"/>
                <a:buNone/>
              </a:pPr>
              <a:r>
                <a:rPr lang="zh-CN" altLang="en-US" b="1" dirty="0">
                  <a:solidFill>
                    <a:srgbClr val="FF0000"/>
                  </a:solidFill>
                  <a:latin typeface="Times New Roman" panose="02020603050405020304" pitchFamily="2" charset="0"/>
                  <a:ea typeface="宋体" panose="02010600030101010101" pitchFamily="2" charset="-122"/>
                  <a:sym typeface="Symbol" panose="05050102010706020507" pitchFamily="2" charset="2"/>
                </a:rPr>
                <a:t>☓</a:t>
              </a:r>
              <a:endParaRPr lang="en-US" altLang="x-none" b="1" dirty="0">
                <a:solidFill>
                  <a:srgbClr val="FF0000"/>
                </a:solidFill>
                <a:latin typeface="Times New Roman" panose="02020603050405020304" pitchFamily="2" charset="0"/>
                <a:ea typeface="宋体" panose="02010600030101010101" pitchFamily="2" charset="-122"/>
                <a:sym typeface="Symbol" panose="05050102010706020507" pitchFamily="2" charset="2"/>
              </a:endParaRPr>
            </a:p>
          </p:txBody>
        </p:sp>
        <p:sp>
          <p:nvSpPr>
            <p:cNvPr id="117808" name="Rectangle 45"/>
            <p:cNvSpPr/>
            <p:nvPr/>
          </p:nvSpPr>
          <p:spPr>
            <a:xfrm>
              <a:off x="0" y="912"/>
              <a:ext cx="384" cy="336"/>
            </a:xfrm>
            <a:prstGeom prst="rect">
              <a:avLst/>
            </a:prstGeom>
            <a:noFill/>
            <a:ln w="9525">
              <a:noFill/>
            </a:ln>
          </p:spPr>
          <p:txBody>
            <a:bodyPr anchor="t"/>
            <a:lstStyle/>
            <a:p>
              <a:pPr marL="342900" lvl="0" indent="-342900">
                <a:spcBef>
                  <a:spcPct val="90000"/>
                </a:spcBef>
                <a:buClr>
                  <a:srgbClr val="996633"/>
                </a:buClr>
                <a:buFont typeface="Wingdings" panose="05000000000000000000" pitchFamily="2" charset="2"/>
                <a:buNone/>
              </a:pPr>
              <a:r>
                <a:rPr lang="zh-CN" altLang="en-US" b="1" dirty="0">
                  <a:solidFill>
                    <a:srgbClr val="FF0000"/>
                  </a:solidFill>
                  <a:latin typeface="Times New Roman" panose="02020603050405020304" pitchFamily="2" charset="0"/>
                  <a:ea typeface="宋体" panose="02010600030101010101" pitchFamily="2" charset="-122"/>
                  <a:sym typeface="Symbol" panose="05050102010706020507" pitchFamily="2" charset="2"/>
                </a:rPr>
                <a:t>☓</a:t>
              </a:r>
              <a:endParaRPr lang="en-US" altLang="x-none" b="1" dirty="0">
                <a:solidFill>
                  <a:srgbClr val="FF0000"/>
                </a:solidFill>
                <a:latin typeface="Times New Roman" panose="02020603050405020304" pitchFamily="2" charset="0"/>
                <a:ea typeface="宋体" panose="02010600030101010101" pitchFamily="2" charset="-122"/>
                <a:sym typeface="Symbol" panose="05050102010706020507" pitchFamily="2" charset="2"/>
              </a:endParaRPr>
            </a:p>
          </p:txBody>
        </p:sp>
      </p:grpSp>
      <p:grpSp>
        <p:nvGrpSpPr>
          <p:cNvPr id="117810" name="组合 117809"/>
          <p:cNvGrpSpPr/>
          <p:nvPr/>
        </p:nvGrpSpPr>
        <p:grpSpPr>
          <a:xfrm>
            <a:off x="6172200" y="3993515"/>
            <a:ext cx="609600" cy="1981200"/>
            <a:chOff x="0" y="0"/>
            <a:chExt cx="384" cy="1248"/>
          </a:xfrm>
        </p:grpSpPr>
        <p:sp>
          <p:nvSpPr>
            <p:cNvPr id="4" name="Rectangle 46"/>
            <p:cNvSpPr/>
            <p:nvPr/>
          </p:nvSpPr>
          <p:spPr>
            <a:xfrm>
              <a:off x="0" y="0"/>
              <a:ext cx="384" cy="336"/>
            </a:xfrm>
            <a:prstGeom prst="rect">
              <a:avLst/>
            </a:prstGeom>
            <a:noFill/>
            <a:ln w="9525">
              <a:noFill/>
            </a:ln>
          </p:spPr>
          <p:txBody>
            <a:bodyPr anchor="t"/>
            <a:lstStyle/>
            <a:p>
              <a:pPr marL="342900" lvl="0" indent="-342900">
                <a:spcBef>
                  <a:spcPct val="90000"/>
                </a:spcBef>
                <a:buClr>
                  <a:srgbClr val="996633"/>
                </a:buClr>
                <a:buFont typeface="Wingdings" panose="05000000000000000000" pitchFamily="2" charset="2"/>
                <a:buNone/>
              </a:pPr>
              <a:r>
                <a:rPr lang="zh-CN" altLang="en-US" b="1" dirty="0">
                  <a:solidFill>
                    <a:srgbClr val="FF0000"/>
                  </a:solidFill>
                  <a:latin typeface="Times New Roman" panose="02020603050405020304" pitchFamily="2" charset="0"/>
                  <a:ea typeface="宋体" panose="02010600030101010101" pitchFamily="2" charset="-122"/>
                  <a:sym typeface="Symbol" panose="05050102010706020507" pitchFamily="2" charset="2"/>
                </a:rPr>
                <a:t>☓</a:t>
              </a:r>
              <a:endParaRPr lang="en-US" altLang="x-none" b="1" dirty="0">
                <a:solidFill>
                  <a:srgbClr val="FF0000"/>
                </a:solidFill>
                <a:latin typeface="Times New Roman" panose="02020603050405020304" pitchFamily="2" charset="0"/>
                <a:ea typeface="宋体" panose="02010600030101010101" pitchFamily="2" charset="-122"/>
                <a:sym typeface="Symbol" panose="05050102010706020507" pitchFamily="2" charset="2"/>
              </a:endParaRPr>
            </a:p>
          </p:txBody>
        </p:sp>
        <p:sp>
          <p:nvSpPr>
            <p:cNvPr id="117811" name="Rectangle 47"/>
            <p:cNvSpPr/>
            <p:nvPr/>
          </p:nvSpPr>
          <p:spPr>
            <a:xfrm>
              <a:off x="0" y="912"/>
              <a:ext cx="384" cy="336"/>
            </a:xfrm>
            <a:prstGeom prst="rect">
              <a:avLst/>
            </a:prstGeom>
            <a:noFill/>
            <a:ln w="9525">
              <a:noFill/>
            </a:ln>
          </p:spPr>
          <p:txBody>
            <a:bodyPr anchor="t"/>
            <a:lstStyle/>
            <a:p>
              <a:pPr marL="342900" lvl="0" indent="-342900">
                <a:spcBef>
                  <a:spcPct val="90000"/>
                </a:spcBef>
                <a:buClr>
                  <a:srgbClr val="996633"/>
                </a:buClr>
                <a:buFont typeface="Wingdings" panose="05000000000000000000" pitchFamily="2" charset="2"/>
                <a:buNone/>
              </a:pPr>
              <a:r>
                <a:rPr lang="zh-CN" altLang="en-US" b="1" dirty="0">
                  <a:solidFill>
                    <a:srgbClr val="FF0000"/>
                  </a:solidFill>
                  <a:latin typeface="Times New Roman" panose="02020603050405020304" pitchFamily="2" charset="0"/>
                  <a:ea typeface="宋体" panose="02010600030101010101" pitchFamily="2" charset="-122"/>
                  <a:sym typeface="Symbol" panose="05050102010706020507" pitchFamily="2" charset="2"/>
                </a:rPr>
                <a:t>☓</a:t>
              </a:r>
              <a:endParaRPr lang="en-US" altLang="x-none" b="1" dirty="0">
                <a:solidFill>
                  <a:srgbClr val="FF0000"/>
                </a:solidFill>
                <a:latin typeface="Times New Roman" panose="02020603050405020304" pitchFamily="2" charset="0"/>
                <a:ea typeface="宋体" panose="02010600030101010101" pitchFamily="2" charset="-122"/>
                <a:sym typeface="Symbol" panose="05050102010706020507" pitchFamily="2" charset="2"/>
              </a:endParaRPr>
            </a:p>
          </p:txBody>
        </p:sp>
      </p:grpSp>
      <p:grpSp>
        <p:nvGrpSpPr>
          <p:cNvPr id="117813" name="组合 117812"/>
          <p:cNvGrpSpPr/>
          <p:nvPr/>
        </p:nvGrpSpPr>
        <p:grpSpPr>
          <a:xfrm>
            <a:off x="1676400" y="3917315"/>
            <a:ext cx="5105400" cy="1295400"/>
            <a:chOff x="0" y="0"/>
            <a:chExt cx="3216" cy="816"/>
          </a:xfrm>
        </p:grpSpPr>
        <p:sp>
          <p:nvSpPr>
            <p:cNvPr id="5" name="Rectangle 49"/>
            <p:cNvSpPr/>
            <p:nvPr/>
          </p:nvSpPr>
          <p:spPr>
            <a:xfrm>
              <a:off x="0" y="0"/>
              <a:ext cx="384" cy="384"/>
            </a:xfrm>
            <a:prstGeom prst="rect">
              <a:avLst/>
            </a:prstGeom>
            <a:noFill/>
            <a:ln w="9525">
              <a:noFill/>
            </a:ln>
          </p:spPr>
          <p:txBody>
            <a:bodyPr anchor="t"/>
            <a:lstStyle/>
            <a:p>
              <a:pPr marL="342900" lvl="0" indent="-342900">
                <a:spcBef>
                  <a:spcPct val="9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t>
              </a:r>
              <a:endParaRPr lang="en-US" altLang="x-none" b="1" dirty="0">
                <a:solidFill>
                  <a:srgbClr val="FF0000"/>
                </a:solidFill>
                <a:latin typeface="Times New Roman" panose="02020603050405020304" pitchFamily="2" charset="0"/>
                <a:ea typeface="宋体" panose="02010600030101010101" pitchFamily="2" charset="-122"/>
                <a:sym typeface="Symbol" panose="05050102010706020507" pitchFamily="2" charset="2"/>
              </a:endParaRPr>
            </a:p>
          </p:txBody>
        </p:sp>
        <p:sp>
          <p:nvSpPr>
            <p:cNvPr id="117814" name="Rectangle 50"/>
            <p:cNvSpPr/>
            <p:nvPr/>
          </p:nvSpPr>
          <p:spPr>
            <a:xfrm>
              <a:off x="2832" y="432"/>
              <a:ext cx="384" cy="384"/>
            </a:xfrm>
            <a:prstGeom prst="rect">
              <a:avLst/>
            </a:prstGeom>
            <a:noFill/>
            <a:ln w="9525">
              <a:noFill/>
            </a:ln>
          </p:spPr>
          <p:txBody>
            <a:bodyPr anchor="t"/>
            <a:lstStyle/>
            <a:p>
              <a:pPr marL="342900" lvl="0" indent="-342900">
                <a:spcBef>
                  <a:spcPct val="9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t>
              </a:r>
              <a:endParaRPr lang="en-US" altLang="x-none" b="1" dirty="0">
                <a:solidFill>
                  <a:srgbClr val="FF0000"/>
                </a:solidFill>
                <a:latin typeface="Times New Roman" panose="02020603050405020304" pitchFamily="2" charset="0"/>
                <a:ea typeface="宋体" panose="02010600030101010101" pitchFamily="2" charset="-122"/>
                <a:sym typeface="Symbol" panose="05050102010706020507" pitchFamily="2" charset="2"/>
              </a:endParaRPr>
            </a:p>
          </p:txBody>
        </p:sp>
      </p:grpSp>
      <p:grpSp>
        <p:nvGrpSpPr>
          <p:cNvPr id="117816" name="组合 117815"/>
          <p:cNvGrpSpPr/>
          <p:nvPr/>
        </p:nvGrpSpPr>
        <p:grpSpPr>
          <a:xfrm>
            <a:off x="8153400" y="3917315"/>
            <a:ext cx="609600" cy="2057400"/>
            <a:chOff x="0" y="0"/>
            <a:chExt cx="384" cy="1296"/>
          </a:xfrm>
        </p:grpSpPr>
        <p:sp>
          <p:nvSpPr>
            <p:cNvPr id="6" name="Rectangle 51"/>
            <p:cNvSpPr/>
            <p:nvPr/>
          </p:nvSpPr>
          <p:spPr>
            <a:xfrm>
              <a:off x="0" y="432"/>
              <a:ext cx="384" cy="384"/>
            </a:xfrm>
            <a:prstGeom prst="rect">
              <a:avLst/>
            </a:prstGeom>
            <a:noFill/>
            <a:ln w="9525">
              <a:noFill/>
            </a:ln>
          </p:spPr>
          <p:txBody>
            <a:bodyPr anchor="t"/>
            <a:lstStyle/>
            <a:p>
              <a:pPr marL="342900" lvl="0" indent="-342900">
                <a:spcBef>
                  <a:spcPct val="9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t>
              </a:r>
              <a:endParaRPr lang="en-US" altLang="x-none" b="1" dirty="0">
                <a:solidFill>
                  <a:srgbClr val="FF0000"/>
                </a:solidFill>
                <a:latin typeface="Times New Roman" panose="02020603050405020304" pitchFamily="2" charset="0"/>
                <a:ea typeface="宋体" panose="02010600030101010101" pitchFamily="2" charset="-122"/>
                <a:sym typeface="Symbol" panose="05050102010706020507" pitchFamily="2" charset="2"/>
              </a:endParaRPr>
            </a:p>
          </p:txBody>
        </p:sp>
        <p:sp>
          <p:nvSpPr>
            <p:cNvPr id="117817" name="Rectangle 52"/>
            <p:cNvSpPr/>
            <p:nvPr/>
          </p:nvSpPr>
          <p:spPr>
            <a:xfrm>
              <a:off x="0" y="912"/>
              <a:ext cx="384" cy="384"/>
            </a:xfrm>
            <a:prstGeom prst="rect">
              <a:avLst/>
            </a:prstGeom>
            <a:noFill/>
            <a:ln w="9525">
              <a:noFill/>
            </a:ln>
          </p:spPr>
          <p:txBody>
            <a:bodyPr anchor="t"/>
            <a:lstStyle/>
            <a:p>
              <a:pPr marL="342900" lvl="0" indent="-342900">
                <a:spcBef>
                  <a:spcPct val="9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t>
              </a:r>
              <a:endParaRPr lang="en-US" altLang="x-none" b="1" dirty="0">
                <a:solidFill>
                  <a:srgbClr val="FF0000"/>
                </a:solidFill>
                <a:latin typeface="Times New Roman" panose="02020603050405020304" pitchFamily="2" charset="0"/>
                <a:ea typeface="宋体" panose="02010600030101010101" pitchFamily="2" charset="-122"/>
                <a:sym typeface="Symbol" panose="05050102010706020507" pitchFamily="2" charset="2"/>
              </a:endParaRPr>
            </a:p>
          </p:txBody>
        </p:sp>
        <p:sp>
          <p:nvSpPr>
            <p:cNvPr id="117818" name="Rectangle 53"/>
            <p:cNvSpPr/>
            <p:nvPr/>
          </p:nvSpPr>
          <p:spPr>
            <a:xfrm>
              <a:off x="0" y="0"/>
              <a:ext cx="384" cy="384"/>
            </a:xfrm>
            <a:prstGeom prst="rect">
              <a:avLst/>
            </a:prstGeom>
            <a:noFill/>
            <a:ln w="9525">
              <a:noFill/>
            </a:ln>
          </p:spPr>
          <p:txBody>
            <a:bodyPr anchor="t"/>
            <a:lstStyle/>
            <a:p>
              <a:pPr marL="342900" lvl="0" indent="-342900">
                <a:spcBef>
                  <a:spcPct val="9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t>
              </a:r>
              <a:endParaRPr lang="en-US" altLang="x-none" b="1" dirty="0">
                <a:solidFill>
                  <a:srgbClr val="FF0000"/>
                </a:solidFill>
                <a:latin typeface="Times New Roman" panose="02020603050405020304" pitchFamily="2" charset="0"/>
                <a:ea typeface="宋体" panose="02010600030101010101" pitchFamily="2" charset="-122"/>
                <a:sym typeface="Symbol" panose="05050102010706020507" pitchFamily="2" charset="2"/>
              </a:endParaRPr>
            </a:p>
          </p:txBody>
        </p:sp>
      </p:grpSp>
      <p:sp>
        <p:nvSpPr>
          <p:cNvPr id="117820" name="Oval 54"/>
          <p:cNvSpPr/>
          <p:nvPr/>
        </p:nvSpPr>
        <p:spPr>
          <a:xfrm>
            <a:off x="2411413" y="3718878"/>
            <a:ext cx="1873250" cy="2376487"/>
          </a:xfrm>
          <a:prstGeom prst="ellipse">
            <a:avLst/>
          </a:prstGeom>
          <a:noFill/>
          <a:ln w="25400" cap="flat" cmpd="sng">
            <a:solidFill>
              <a:srgbClr val="FF0000"/>
            </a:solidFill>
            <a:prstDash val="solid"/>
            <a:round/>
            <a:headEnd type="none" w="med" len="med"/>
            <a:tailEnd type="none" w="med" len="med"/>
          </a:ln>
        </p:spPr>
        <p:txBody>
          <a:bodyPr wrap="none" anchor="ctr"/>
          <a:lstStyle/>
          <a:p>
            <a:pPr lvl="0" algn="ctr">
              <a:spcBef>
                <a:spcPct val="20000"/>
              </a:spcBef>
              <a:buFont typeface="Wingdings" panose="05000000000000000000" pitchFamily="2" charset="2"/>
              <a:buChar char="§"/>
            </a:pPr>
            <a:endParaRPr lang="zh-CN" altLang="en-US" sz="2800" b="1" dirty="0">
              <a:latin typeface="Arial" panose="020B0604020202020204" pitchFamily="34" charset="0"/>
              <a:ea typeface="宋体" panose="02010600030101010101" pitchFamily="2" charset="-122"/>
            </a:endParaRPr>
          </a:p>
        </p:txBody>
      </p:sp>
      <p:grpSp>
        <p:nvGrpSpPr>
          <p:cNvPr id="117821" name="组合 117820"/>
          <p:cNvGrpSpPr/>
          <p:nvPr/>
        </p:nvGrpSpPr>
        <p:grpSpPr>
          <a:xfrm>
            <a:off x="395288" y="3790315"/>
            <a:ext cx="5976937" cy="1512888"/>
            <a:chOff x="0" y="0"/>
            <a:chExt cx="3765" cy="953"/>
          </a:xfrm>
        </p:grpSpPr>
        <p:sp>
          <p:nvSpPr>
            <p:cNvPr id="7" name="Oval 56"/>
            <p:cNvSpPr/>
            <p:nvPr/>
          </p:nvSpPr>
          <p:spPr>
            <a:xfrm>
              <a:off x="0" y="0"/>
              <a:ext cx="953" cy="499"/>
            </a:xfrm>
            <a:prstGeom prst="ellipse">
              <a:avLst/>
            </a:prstGeom>
            <a:noFill/>
            <a:ln w="25400" cap="flat" cmpd="sng">
              <a:solidFill>
                <a:srgbClr val="FF0000"/>
              </a:solidFill>
              <a:prstDash val="solid"/>
              <a:round/>
              <a:headEnd type="none" w="med" len="med"/>
              <a:tailEnd type="none" w="med" len="med"/>
            </a:ln>
          </p:spPr>
          <p:txBody>
            <a:bodyPr wrap="none" anchor="ctr"/>
            <a:lstStyle/>
            <a:p>
              <a:pPr lvl="0" algn="ctr">
                <a:spcBef>
                  <a:spcPct val="20000"/>
                </a:spcBef>
                <a:buFont typeface="Wingdings" panose="05000000000000000000" pitchFamily="2" charset="2"/>
                <a:buChar char="§"/>
              </a:pPr>
              <a:endParaRPr lang="zh-CN" altLang="en-US" sz="2800" b="1" dirty="0">
                <a:latin typeface="Arial" panose="020B0604020202020204" pitchFamily="34" charset="0"/>
                <a:ea typeface="宋体" panose="02010600030101010101" pitchFamily="2" charset="-122"/>
              </a:endParaRPr>
            </a:p>
          </p:txBody>
        </p:sp>
        <p:sp>
          <p:nvSpPr>
            <p:cNvPr id="117822" name="Oval 57"/>
            <p:cNvSpPr/>
            <p:nvPr/>
          </p:nvSpPr>
          <p:spPr>
            <a:xfrm>
              <a:off x="2812" y="454"/>
              <a:ext cx="953" cy="499"/>
            </a:xfrm>
            <a:prstGeom prst="ellipse">
              <a:avLst/>
            </a:prstGeom>
            <a:noFill/>
            <a:ln w="25400" cap="flat" cmpd="sng">
              <a:solidFill>
                <a:srgbClr val="FF0000"/>
              </a:solidFill>
              <a:prstDash val="solid"/>
              <a:round/>
              <a:headEnd type="none" w="med" len="med"/>
              <a:tailEnd type="none" w="med" len="med"/>
            </a:ln>
          </p:spPr>
          <p:txBody>
            <a:bodyPr wrap="none" anchor="ctr"/>
            <a:lstStyle/>
            <a:p>
              <a:pPr lvl="0" algn="ctr">
                <a:spcBef>
                  <a:spcPct val="20000"/>
                </a:spcBef>
                <a:buFont typeface="Wingdings" panose="05000000000000000000" pitchFamily="2" charset="2"/>
                <a:buChar char="§"/>
              </a:pPr>
              <a:endParaRPr lang="zh-CN" altLang="en-US" sz="2800" b="1" dirty="0">
                <a:latin typeface="Arial" panose="020B0604020202020204" pitchFamily="34" charset="0"/>
                <a:ea typeface="宋体" panose="02010600030101010101" pitchFamily="2" charset="-122"/>
              </a:endParaRPr>
            </a:p>
          </p:txBody>
        </p:sp>
      </p:grpSp>
      <p:sp>
        <p:nvSpPr>
          <p:cNvPr id="117824" name="Oval 59"/>
          <p:cNvSpPr/>
          <p:nvPr/>
        </p:nvSpPr>
        <p:spPr>
          <a:xfrm>
            <a:off x="250825" y="4582478"/>
            <a:ext cx="1873250" cy="1439862"/>
          </a:xfrm>
          <a:prstGeom prst="ellipse">
            <a:avLst/>
          </a:prstGeom>
          <a:noFill/>
          <a:ln w="25400" cap="flat" cmpd="sng">
            <a:solidFill>
              <a:srgbClr val="FF0000"/>
            </a:solidFill>
            <a:prstDash val="solid"/>
            <a:round/>
            <a:headEnd type="none" w="med" len="med"/>
            <a:tailEnd type="none" w="med" len="med"/>
          </a:ln>
        </p:spPr>
        <p:txBody>
          <a:bodyPr wrap="none" anchor="ctr"/>
          <a:lstStyle/>
          <a:p>
            <a:pPr lvl="0" algn="ctr">
              <a:spcBef>
                <a:spcPct val="20000"/>
              </a:spcBef>
              <a:buFont typeface="Wingdings" panose="05000000000000000000" pitchFamily="2" charset="2"/>
              <a:buChar char="§"/>
            </a:pPr>
            <a:endParaRPr lang="zh-CN" altLang="en-US" sz="2800" b="1" dirty="0">
              <a:latin typeface="Arial" panose="020B0604020202020204" pitchFamily="34" charset="0"/>
              <a:ea typeface="宋体" panose="02010600030101010101" pitchFamily="2" charset="-122"/>
            </a:endParaRPr>
          </a:p>
        </p:txBody>
      </p:sp>
      <p:grpSp>
        <p:nvGrpSpPr>
          <p:cNvPr id="117825" name="组合 117824"/>
          <p:cNvGrpSpPr/>
          <p:nvPr/>
        </p:nvGrpSpPr>
        <p:grpSpPr>
          <a:xfrm>
            <a:off x="4859338" y="3790315"/>
            <a:ext cx="1512887" cy="2232025"/>
            <a:chOff x="0" y="0"/>
            <a:chExt cx="953" cy="1406"/>
          </a:xfrm>
        </p:grpSpPr>
        <p:sp>
          <p:nvSpPr>
            <p:cNvPr id="8" name="Oval 61"/>
            <p:cNvSpPr/>
            <p:nvPr/>
          </p:nvSpPr>
          <p:spPr>
            <a:xfrm>
              <a:off x="0" y="0"/>
              <a:ext cx="953" cy="499"/>
            </a:xfrm>
            <a:prstGeom prst="ellipse">
              <a:avLst/>
            </a:prstGeom>
            <a:noFill/>
            <a:ln w="25400" cap="flat" cmpd="sng">
              <a:solidFill>
                <a:srgbClr val="FF0000"/>
              </a:solidFill>
              <a:prstDash val="solid"/>
              <a:round/>
              <a:headEnd type="none" w="med" len="med"/>
              <a:tailEnd type="none" w="med" len="med"/>
            </a:ln>
          </p:spPr>
          <p:txBody>
            <a:bodyPr wrap="none" anchor="ctr"/>
            <a:lstStyle/>
            <a:p>
              <a:pPr lvl="0" algn="ctr">
                <a:spcBef>
                  <a:spcPct val="20000"/>
                </a:spcBef>
                <a:buFont typeface="Wingdings" panose="05000000000000000000" pitchFamily="2" charset="2"/>
                <a:buChar char="§"/>
              </a:pPr>
              <a:endParaRPr lang="zh-CN" altLang="en-US" sz="2800" b="1" dirty="0">
                <a:latin typeface="Arial" panose="020B0604020202020204" pitchFamily="34" charset="0"/>
                <a:ea typeface="宋体" panose="02010600030101010101" pitchFamily="2" charset="-122"/>
              </a:endParaRPr>
            </a:p>
          </p:txBody>
        </p:sp>
        <p:sp>
          <p:nvSpPr>
            <p:cNvPr id="117826" name="Oval 62"/>
            <p:cNvSpPr/>
            <p:nvPr/>
          </p:nvSpPr>
          <p:spPr>
            <a:xfrm>
              <a:off x="0" y="907"/>
              <a:ext cx="953" cy="499"/>
            </a:xfrm>
            <a:prstGeom prst="ellipse">
              <a:avLst/>
            </a:prstGeom>
            <a:noFill/>
            <a:ln w="25400" cap="flat" cmpd="sng">
              <a:solidFill>
                <a:srgbClr val="FF0000"/>
              </a:solidFill>
              <a:prstDash val="solid"/>
              <a:round/>
              <a:headEnd type="none" w="med" len="med"/>
              <a:tailEnd type="none" w="med" len="med"/>
            </a:ln>
          </p:spPr>
          <p:txBody>
            <a:bodyPr wrap="none" anchor="ctr"/>
            <a:lstStyle/>
            <a:p>
              <a:pPr lvl="0" algn="ctr">
                <a:spcBef>
                  <a:spcPct val="20000"/>
                </a:spcBef>
                <a:buFont typeface="Wingdings" panose="05000000000000000000" pitchFamily="2" charset="2"/>
                <a:buChar char="§"/>
              </a:pPr>
              <a:endParaRPr lang="zh-CN" altLang="en-US" sz="2800" b="1" dirty="0">
                <a:latin typeface="Arial" panose="020B0604020202020204" pitchFamily="34" charset="0"/>
                <a:ea typeface="宋体" panose="02010600030101010101" pitchFamily="2" charset="-122"/>
              </a:endParaRPr>
            </a:p>
          </p:txBody>
        </p:sp>
      </p:grpSp>
      <p:sp>
        <p:nvSpPr>
          <p:cNvPr id="117828" name="Oval 66"/>
          <p:cNvSpPr/>
          <p:nvPr/>
        </p:nvSpPr>
        <p:spPr>
          <a:xfrm>
            <a:off x="6659563" y="3718878"/>
            <a:ext cx="1873250" cy="2376487"/>
          </a:xfrm>
          <a:prstGeom prst="ellipse">
            <a:avLst/>
          </a:prstGeom>
          <a:noFill/>
          <a:ln w="25400" cap="flat" cmpd="sng">
            <a:solidFill>
              <a:srgbClr val="FF0000"/>
            </a:solidFill>
            <a:prstDash val="solid"/>
            <a:round/>
            <a:headEnd type="none" w="med" len="med"/>
            <a:tailEnd type="none" w="med" len="med"/>
          </a:ln>
        </p:spPr>
        <p:txBody>
          <a:bodyPr wrap="none" anchor="ctr"/>
          <a:lstStyle/>
          <a:p>
            <a:pPr lvl="0" algn="ctr">
              <a:spcBef>
                <a:spcPct val="20000"/>
              </a:spcBef>
              <a:buFont typeface="Wingdings" panose="05000000000000000000" pitchFamily="2" charset="2"/>
              <a:buChar char="§"/>
            </a:pPr>
            <a:endParaRPr lang="zh-CN" altLang="en-US" sz="2800" b="1" dirty="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7820"/>
                                        </p:tgtEl>
                                        <p:attrNameLst>
                                          <p:attrName>style.visibility</p:attrName>
                                        </p:attrNameLst>
                                      </p:cBhvr>
                                      <p:to>
                                        <p:strVal val="visible"/>
                                      </p:to>
                                    </p:set>
                                  </p:childTnLst>
                                  <p:subTnLst>
                                    <p:set>
                                      <p:cBhvr override="childStyle">
                                        <p:cTn dur="1" fill="hold" display="0" masterRel="nextClick" afterEffect="1"/>
                                        <p:tgtEl>
                                          <p:spTgt spid="117820"/>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1780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7828"/>
                                        </p:tgtEl>
                                        <p:attrNameLst>
                                          <p:attrName>style.visibility</p:attrName>
                                        </p:attrNameLst>
                                      </p:cBhvr>
                                      <p:to>
                                        <p:strVal val="visible"/>
                                      </p:to>
                                    </p:set>
                                  </p:childTnLst>
                                  <p:subTnLst>
                                    <p:set>
                                      <p:cBhvr override="childStyle">
                                        <p:cTn dur="1" fill="hold" display="0" masterRel="nextClick" afterEffect="1"/>
                                        <p:tgtEl>
                                          <p:spTgt spid="117828"/>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78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7821"/>
                                        </p:tgtEl>
                                        <p:attrNameLst>
                                          <p:attrName>style.visibility</p:attrName>
                                        </p:attrNameLst>
                                      </p:cBhvr>
                                      <p:to>
                                        <p:strVal val="visible"/>
                                      </p:to>
                                    </p:set>
                                  </p:childTnLst>
                                  <p:subTnLst>
                                    <p:set>
                                      <p:cBhvr override="childStyle">
                                        <p:cTn dur="1" fill="hold" display="0" masterRel="nextClick" afterEffect="1"/>
                                        <p:tgtEl>
                                          <p:spTgt spid="117821"/>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78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7824"/>
                                        </p:tgtEl>
                                        <p:attrNameLst>
                                          <p:attrName>style.visibility</p:attrName>
                                        </p:attrNameLst>
                                      </p:cBhvr>
                                      <p:to>
                                        <p:strVal val="visible"/>
                                      </p:to>
                                    </p:set>
                                  </p:childTnLst>
                                  <p:subTnLst>
                                    <p:set>
                                      <p:cBhvr override="childStyle">
                                        <p:cTn dur="1" fill="hold" display="0" masterRel="nextClick" afterEffect="1"/>
                                        <p:tgtEl>
                                          <p:spTgt spid="117824"/>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17803"/>
                                        </p:tgtEl>
                                        <p:attrNameLst>
                                          <p:attrName>style.visibility</p:attrName>
                                        </p:attrNameLst>
                                      </p:cBhvr>
                                      <p:to>
                                        <p:strVal val="visible"/>
                                      </p:to>
                                    </p:set>
                                    <p:animEffect transition="in" filter="blinds(horizontal)">
                                      <p:cBhvr>
                                        <p:cTn id="35" dur="500"/>
                                        <p:tgtEl>
                                          <p:spTgt spid="117803"/>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117825"/>
                                        </p:tgtEl>
                                        <p:attrNameLst>
                                          <p:attrName>style.visibility</p:attrName>
                                        </p:attrNameLst>
                                      </p:cBhvr>
                                      <p:to>
                                        <p:strVal val="visible"/>
                                      </p:to>
                                    </p:set>
                                    <p:animEffect transition="in" filter="blinds(horizontal)">
                                      <p:cBhvr>
                                        <p:cTn id="40" dur="500"/>
                                        <p:tgtEl>
                                          <p:spTgt spid="117825"/>
                                        </p:tgtEl>
                                      </p:cBhvr>
                                    </p:animEffect>
                                  </p:childTnLst>
                                  <p:subTnLst>
                                    <p:set>
                                      <p:cBhvr override="childStyle">
                                        <p:cTn dur="1" fill="hold" display="0" masterRel="nextClick" afterEffect="1"/>
                                        <p:tgtEl>
                                          <p:spTgt spid="117825"/>
                                        </p:tgtEl>
                                        <p:attrNameLst>
                                          <p:attrName>style.visibility</p:attrName>
                                        </p:attrNameLst>
                                      </p:cBhvr>
                                      <p:to>
                                        <p:strVal val="hidden"/>
                                      </p:to>
                                    </p:set>
                                  </p:sub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117810"/>
                                        </p:tgtEl>
                                        <p:attrNameLst>
                                          <p:attrName>style.visibility</p:attrName>
                                        </p:attrNameLst>
                                      </p:cBhvr>
                                      <p:to>
                                        <p:strVal val="visible"/>
                                      </p:to>
                                    </p:set>
                                    <p:animEffect transition="in" filter="blinds(horizontal)">
                                      <p:cBhvr>
                                        <p:cTn id="45" dur="500"/>
                                        <p:tgtEl>
                                          <p:spTgt spid="1178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820" grpId="0" bldLvl="0" animBg="1"/>
      <p:bldP spid="117824" grpId="0" bldLvl="0" animBg="1"/>
      <p:bldP spid="117828" grpId="0" bldLvl="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日期占位符 1"/>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18786" name="页脚占位符 2"/>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18787" name="灯片编号占位符 3"/>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44</a:t>
            </a:fld>
            <a:endParaRPr lang="zh-CN" altLang="en-US" sz="1200" b="1" i="1" dirty="0">
              <a:latin typeface="Times New Roman" panose="02020603050405020304" pitchFamily="2" charset="0"/>
              <a:ea typeface="宋体" panose="02010600030101010101" pitchFamily="2" charset="-122"/>
            </a:endParaRPr>
          </a:p>
        </p:txBody>
      </p:sp>
      <p:sp>
        <p:nvSpPr>
          <p:cNvPr id="118788" name="Rectangle 41"/>
          <p:cNvSpPr/>
          <p:nvPr/>
        </p:nvSpPr>
        <p:spPr>
          <a:xfrm>
            <a:off x="0" y="0"/>
            <a:ext cx="9144000" cy="6858000"/>
          </a:xfrm>
          <a:prstGeom prst="rect">
            <a:avLst/>
          </a:prstGeom>
          <a:solidFill>
            <a:schemeClr val="bg1"/>
          </a:solidFill>
          <a:ln w="9525">
            <a:noFill/>
          </a:ln>
        </p:spPr>
        <p:txBody>
          <a:bodyPr wrap="none" anchor="ctr"/>
          <a:lstStyle/>
          <a:p>
            <a:pPr lvl="0" algn="ctr">
              <a:spcBef>
                <a:spcPct val="20000"/>
              </a:spcBef>
              <a:buFont typeface="Wingdings" panose="05000000000000000000" pitchFamily="2" charset="2"/>
              <a:buChar char="§"/>
            </a:pPr>
            <a:endParaRPr lang="zh-CN" altLang="en-US" sz="2800" b="1" dirty="0">
              <a:latin typeface="Arial" panose="020B0604020202020204" pitchFamily="34" charset="0"/>
              <a:ea typeface="宋体" panose="02010600030101010101" pitchFamily="2" charset="-122"/>
            </a:endParaRPr>
          </a:p>
        </p:txBody>
      </p:sp>
      <p:sp>
        <p:nvSpPr>
          <p:cNvPr id="118789" name="Rectangle 3"/>
          <p:cNvSpPr>
            <a:spLocks noGrp="1"/>
          </p:cNvSpPr>
          <p:nvPr>
            <p:ph type="body"/>
          </p:nvPr>
        </p:nvSpPr>
        <p:spPr>
          <a:xfrm>
            <a:off x="457200" y="3789363"/>
            <a:ext cx="8229600" cy="773112"/>
          </a:xfrm>
        </p:spPr>
        <p:txBody>
          <a:bodyPr wrap="square" anchor="t"/>
          <a:lstStyle/>
          <a:p>
            <a:pPr lvl="0" eaLnBrk="1" hangingPunct="1">
              <a:buNone/>
            </a:pPr>
            <a:r>
              <a:rPr lang="zh-CN" altLang="en-US">
                <a:solidFill>
                  <a:schemeClr val="tx1"/>
                </a:solidFill>
                <a:ea typeface="宋体" panose="02010600030101010101" pitchFamily="2" charset="-122"/>
              </a:rPr>
              <a:t>其次，再考虑决定因素是多个属性的情况：</a:t>
            </a:r>
          </a:p>
        </p:txBody>
      </p:sp>
      <p:graphicFrame>
        <p:nvGraphicFramePr>
          <p:cNvPr id="118791" name="表格 118790"/>
          <p:cNvGraphicFramePr/>
          <p:nvPr/>
        </p:nvGraphicFramePr>
        <p:xfrm>
          <a:off x="1828800" y="76200"/>
          <a:ext cx="5257800" cy="2667000"/>
        </p:xfrm>
        <a:graphic>
          <a:graphicData uri="http://schemas.openxmlformats.org/drawingml/2006/table">
            <a:tbl>
              <a:tblPr/>
              <a:tblGrid>
                <a:gridCol w="1230313">
                  <a:extLst>
                    <a:ext uri="{9D8B030D-6E8A-4147-A177-3AD203B41FA5}">
                      <a16:colId xmlns:a16="http://schemas.microsoft.com/office/drawing/2014/main" val="20000"/>
                    </a:ext>
                  </a:extLst>
                </a:gridCol>
                <a:gridCol w="1343025">
                  <a:extLst>
                    <a:ext uri="{9D8B030D-6E8A-4147-A177-3AD203B41FA5}">
                      <a16:colId xmlns:a16="http://schemas.microsoft.com/office/drawing/2014/main" val="20001"/>
                    </a:ext>
                  </a:extLst>
                </a:gridCol>
                <a:gridCol w="1341437">
                  <a:extLst>
                    <a:ext uri="{9D8B030D-6E8A-4147-A177-3AD203B41FA5}">
                      <a16:colId xmlns:a16="http://schemas.microsoft.com/office/drawing/2014/main" val="20002"/>
                    </a:ext>
                  </a:extLst>
                </a:gridCol>
                <a:gridCol w="1343025">
                  <a:extLst>
                    <a:ext uri="{9D8B030D-6E8A-4147-A177-3AD203B41FA5}">
                      <a16:colId xmlns:a16="http://schemas.microsoft.com/office/drawing/2014/main" val="20003"/>
                    </a:ext>
                  </a:extLst>
                </a:gridCol>
              </a:tblGrid>
              <a:tr h="506413">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D</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541337">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1"/>
                  </a:ext>
                </a:extLst>
              </a:tr>
              <a:tr h="54292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2"/>
                  </a:ext>
                </a:extLst>
              </a:tr>
              <a:tr h="534988">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3"/>
                  </a:ext>
                </a:extLst>
              </a:tr>
              <a:tr h="541337">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d4</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4"/>
                  </a:ext>
                </a:extLst>
              </a:tr>
            </a:tbl>
          </a:graphicData>
        </a:graphic>
      </p:graphicFrame>
      <p:sp>
        <p:nvSpPr>
          <p:cNvPr id="118822" name="Rectangle 36"/>
          <p:cNvSpPr/>
          <p:nvPr/>
        </p:nvSpPr>
        <p:spPr>
          <a:xfrm>
            <a:off x="539750" y="2938463"/>
            <a:ext cx="7924800" cy="635000"/>
          </a:xfrm>
          <a:prstGeom prst="rect">
            <a:avLst/>
          </a:prstGeom>
          <a:noFill/>
          <a:ln w="9525">
            <a:noFill/>
          </a:ln>
        </p:spPr>
        <p:txBody>
          <a:bodyPr anchor="t"/>
          <a:lstStyle/>
          <a:p>
            <a:pPr marL="342900" lvl="0" indent="-342900">
              <a:lnSpc>
                <a:spcPct val="110000"/>
              </a:lnSpc>
              <a:spcBef>
                <a:spcPct val="20000"/>
              </a:spcBef>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 → B 		C → B		D → ABC</a:t>
            </a:r>
            <a:endParaRPr lang="zh-CN" altLang="en-US" sz="2800" b="1" dirty="0">
              <a:solidFill>
                <a:schemeClr val="accent2"/>
              </a:solidFill>
              <a:latin typeface="Arial" panose="020B0604020202020204" pitchFamily="34" charset="0"/>
              <a:ea typeface="宋体" panose="02010600030101010101" pitchFamily="2" charset="-122"/>
            </a:endParaRPr>
          </a:p>
        </p:txBody>
      </p:sp>
      <p:sp>
        <p:nvSpPr>
          <p:cNvPr id="118824" name="Rectangle 37"/>
          <p:cNvSpPr/>
          <p:nvPr/>
        </p:nvSpPr>
        <p:spPr>
          <a:xfrm>
            <a:off x="304800" y="4356100"/>
            <a:ext cx="8763000" cy="1143000"/>
          </a:xfrm>
          <a:prstGeom prst="rect">
            <a:avLst/>
          </a:prstGeom>
          <a:noFill/>
          <a:ln w="9525">
            <a:noFill/>
          </a:ln>
        </p:spPr>
        <p:txBody>
          <a:bodyPr anchor="t"/>
          <a:lstStyle/>
          <a:p>
            <a:pPr marL="457200" lvl="0" indent="-457200">
              <a:lnSpc>
                <a:spcPct val="110000"/>
              </a:lnSpc>
              <a:spcBef>
                <a:spcPct val="20000"/>
              </a:spcBef>
              <a:buFont typeface="Wingdings" panose="05000000000000000000" pitchFamily="2" charset="2"/>
              <a:buAutoNum type="arabicParenR"/>
            </a:pPr>
            <a:r>
              <a:rPr lang="zh-CN" altLang="en-US" sz="2800" b="1" dirty="0">
                <a:solidFill>
                  <a:schemeClr val="accent2"/>
                </a:solidFill>
                <a:latin typeface="Times New Roman" panose="02020603050405020304" pitchFamily="2" charset="0"/>
                <a:ea typeface="宋体" panose="02010600030101010101" pitchFamily="2" charset="-122"/>
              </a:rPr>
              <a:t>在</a:t>
            </a:r>
            <a:r>
              <a:rPr lang="en-US" altLang="x-none" sz="2800" b="1" dirty="0">
                <a:solidFill>
                  <a:schemeClr val="accent2"/>
                </a:solidFill>
                <a:latin typeface="Times New Roman" panose="02020603050405020304" pitchFamily="2" charset="0"/>
                <a:ea typeface="宋体" panose="02010600030101010101" pitchFamily="2" charset="-122"/>
              </a:rPr>
              <a:t>FD</a:t>
            </a:r>
            <a:r>
              <a:rPr lang="zh-CN" altLang="en-US" sz="2800" b="1" dirty="0">
                <a:solidFill>
                  <a:schemeClr val="accent2"/>
                </a:solidFill>
                <a:latin typeface="Times New Roman" panose="02020603050405020304" pitchFamily="2" charset="0"/>
                <a:ea typeface="宋体" panose="02010600030101010101" pitchFamily="2" charset="-122"/>
              </a:rPr>
              <a:t>的左边不需要考虑含有属性 </a:t>
            </a:r>
            <a:r>
              <a:rPr lang="en-US" altLang="x-none" sz="2800" b="1" dirty="0">
                <a:solidFill>
                  <a:srgbClr val="FF0000"/>
                </a:solidFill>
                <a:latin typeface="Times New Roman" panose="02020603050405020304" pitchFamily="2" charset="0"/>
                <a:ea typeface="宋体" panose="02010600030101010101" pitchFamily="2" charset="-122"/>
              </a:rPr>
              <a:t>D </a:t>
            </a:r>
            <a:r>
              <a:rPr lang="zh-CN" altLang="en-US" sz="2800" b="1" dirty="0">
                <a:solidFill>
                  <a:schemeClr val="accent2"/>
                </a:solidFill>
                <a:latin typeface="Times New Roman" panose="02020603050405020304" pitchFamily="2" charset="0"/>
                <a:ea typeface="宋体" panose="02010600030101010101" pitchFamily="2" charset="-122"/>
              </a:rPr>
              <a:t>的情况，</a:t>
            </a:r>
            <a:r>
              <a:rPr lang="en-US" altLang="x-none" sz="2800" b="1" dirty="0">
                <a:solidFill>
                  <a:srgbClr val="FF0000"/>
                </a:solidFill>
                <a:latin typeface="Times New Roman" panose="02020603050405020304" pitchFamily="2" charset="0"/>
                <a:ea typeface="宋体" panose="02010600030101010101" pitchFamily="2" charset="-122"/>
              </a:rPr>
              <a:t>why ?</a:t>
            </a:r>
          </a:p>
          <a:p>
            <a:pPr marL="457200" lvl="0" indent="-457200">
              <a:lnSpc>
                <a:spcPct val="110000"/>
              </a:lnSpc>
              <a:spcBef>
                <a:spcPct val="20000"/>
              </a:spcBef>
              <a:buFont typeface="Wingdings" panose="05000000000000000000" pitchFamily="2" charset="2"/>
              <a:buAutoNum type="arabicParenR"/>
            </a:pPr>
            <a:r>
              <a:rPr lang="zh-CN" altLang="en-US" sz="2800" b="1" dirty="0">
                <a:solidFill>
                  <a:schemeClr val="accent2"/>
                </a:solidFill>
                <a:latin typeface="Times New Roman" panose="02020603050405020304" pitchFamily="2" charset="0"/>
                <a:ea typeface="宋体" panose="02010600030101010101" pitchFamily="2" charset="-122"/>
              </a:rPr>
              <a:t>在</a:t>
            </a:r>
            <a:r>
              <a:rPr lang="en-US" altLang="x-none" sz="2800" b="1" dirty="0">
                <a:solidFill>
                  <a:schemeClr val="accent2"/>
                </a:solidFill>
                <a:latin typeface="Times New Roman" panose="02020603050405020304" pitchFamily="2" charset="0"/>
                <a:ea typeface="宋体" panose="02010600030101010101" pitchFamily="2" charset="-122"/>
              </a:rPr>
              <a:t>FD</a:t>
            </a:r>
            <a:r>
              <a:rPr lang="zh-CN" altLang="en-US" sz="2800" b="1" dirty="0">
                <a:solidFill>
                  <a:schemeClr val="accent2"/>
                </a:solidFill>
                <a:latin typeface="Times New Roman" panose="02020603050405020304" pitchFamily="2" charset="0"/>
                <a:ea typeface="宋体" panose="02010600030101010101" pitchFamily="2" charset="-122"/>
              </a:rPr>
              <a:t>的左边不需要考虑含有属性 </a:t>
            </a:r>
            <a:r>
              <a:rPr lang="en-US" altLang="x-none" sz="2800" b="1" dirty="0">
                <a:solidFill>
                  <a:srgbClr val="FF0000"/>
                </a:solidFill>
                <a:latin typeface="Times New Roman" panose="02020603050405020304" pitchFamily="2" charset="0"/>
                <a:ea typeface="宋体" panose="02010600030101010101" pitchFamily="2" charset="-122"/>
              </a:rPr>
              <a:t>B </a:t>
            </a:r>
            <a:r>
              <a:rPr lang="zh-CN" altLang="en-US" sz="2800" b="1" dirty="0">
                <a:solidFill>
                  <a:schemeClr val="accent2"/>
                </a:solidFill>
                <a:latin typeface="Times New Roman" panose="02020603050405020304" pitchFamily="2" charset="0"/>
                <a:ea typeface="宋体" panose="02010600030101010101" pitchFamily="2" charset="-122"/>
              </a:rPr>
              <a:t>的情况，</a:t>
            </a:r>
            <a:r>
              <a:rPr lang="en-US" altLang="x-none" sz="2800" b="1" dirty="0">
                <a:solidFill>
                  <a:srgbClr val="FF0000"/>
                </a:solidFill>
                <a:latin typeface="Times New Roman" panose="02020603050405020304" pitchFamily="2" charset="0"/>
                <a:ea typeface="宋体" panose="02010600030101010101" pitchFamily="2" charset="-122"/>
              </a:rPr>
              <a:t>why ?</a:t>
            </a:r>
          </a:p>
        </p:txBody>
      </p:sp>
      <p:grpSp>
        <p:nvGrpSpPr>
          <p:cNvPr id="118825" name="组合 118824"/>
          <p:cNvGrpSpPr/>
          <p:nvPr/>
        </p:nvGrpSpPr>
        <p:grpSpPr>
          <a:xfrm>
            <a:off x="457200" y="5575300"/>
            <a:ext cx="8229600" cy="990600"/>
            <a:chOff x="0" y="0"/>
            <a:chExt cx="5184" cy="624"/>
          </a:xfrm>
        </p:grpSpPr>
        <p:sp>
          <p:nvSpPr>
            <p:cNvPr id="2" name="Rectangle 39"/>
            <p:cNvSpPr/>
            <p:nvPr/>
          </p:nvSpPr>
          <p:spPr>
            <a:xfrm>
              <a:off x="912" y="336"/>
              <a:ext cx="3984" cy="288"/>
            </a:xfrm>
            <a:prstGeom prst="rect">
              <a:avLst/>
            </a:prstGeom>
            <a:noFill/>
            <a:ln w="9525">
              <a:noFill/>
            </a:ln>
          </p:spPr>
          <p:txBody>
            <a:bodyPr anchor="t"/>
            <a:lstStyle/>
            <a:p>
              <a:pPr marL="342900" lvl="0" indent="-342900">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AC → B</a:t>
              </a:r>
              <a:r>
                <a:rPr lang="en-US" altLang="x-none" sz="2800" b="1" dirty="0">
                  <a:solidFill>
                    <a:srgbClr val="FF0000"/>
                  </a:solidFill>
                  <a:latin typeface="Arial" panose="020B0604020202020204" pitchFamily="34" charset="0"/>
                  <a:ea typeface="宋体" panose="02010600030101010101" pitchFamily="2" charset="-122"/>
                </a:rPr>
                <a:t> ?			</a:t>
              </a:r>
              <a:r>
                <a:rPr lang="en-US" altLang="x-none" sz="2800" b="1" dirty="0">
                  <a:solidFill>
                    <a:schemeClr val="accent2"/>
                  </a:solidFill>
                  <a:latin typeface="Arial" panose="020B0604020202020204" pitchFamily="34" charset="0"/>
                  <a:ea typeface="宋体" panose="02010600030101010101" pitchFamily="2" charset="-122"/>
                </a:rPr>
                <a:t>AC → D</a:t>
              </a:r>
              <a:r>
                <a:rPr lang="en-US" altLang="x-none" sz="2800" b="1" dirty="0">
                  <a:solidFill>
                    <a:srgbClr val="FF0000"/>
                  </a:solidFill>
                  <a:latin typeface="Arial" panose="020B0604020202020204" pitchFamily="34" charset="0"/>
                  <a:ea typeface="宋体" panose="02010600030101010101" pitchFamily="2" charset="-122"/>
                </a:rPr>
                <a:t> ?</a:t>
              </a:r>
            </a:p>
          </p:txBody>
        </p:sp>
        <p:sp>
          <p:nvSpPr>
            <p:cNvPr id="118826" name="Rectangle 40"/>
            <p:cNvSpPr/>
            <p:nvPr/>
          </p:nvSpPr>
          <p:spPr>
            <a:xfrm>
              <a:off x="0" y="0"/>
              <a:ext cx="5184" cy="384"/>
            </a:xfrm>
            <a:prstGeom prst="rect">
              <a:avLst/>
            </a:prstGeom>
            <a:noFill/>
            <a:ln w="9525">
              <a:noFill/>
            </a:ln>
          </p:spPr>
          <p:txBody>
            <a:bodyPr anchor="t"/>
            <a:lstStyle/>
            <a:p>
              <a:pPr marL="342900" lvl="0" indent="-342900">
                <a:lnSpc>
                  <a:spcPct val="110000"/>
                </a:lnSpc>
                <a:spcBef>
                  <a:spcPct val="20000"/>
                </a:spcBef>
                <a:buClr>
                  <a:srgbClr val="996633"/>
                </a:buClr>
                <a:buFont typeface="Wingdings" panose="05000000000000000000" pitchFamily="2" charset="2"/>
                <a:buNone/>
              </a:pPr>
              <a:r>
                <a:rPr lang="zh-CN" altLang="en-US" sz="2800" b="1" dirty="0">
                  <a:latin typeface="Arial" panose="020B0604020202020204" pitchFamily="34" charset="0"/>
                  <a:ea typeface="宋体" panose="02010600030101010101" pitchFamily="2" charset="-122"/>
                </a:rPr>
                <a:t>因此只需要考虑下述的</a:t>
              </a:r>
              <a:r>
                <a:rPr lang="en-US" altLang="x-none" sz="2800" b="1" dirty="0">
                  <a:latin typeface="Arial" panose="020B0604020202020204" pitchFamily="34" charset="0"/>
                  <a:ea typeface="宋体" panose="02010600030101010101" pitchFamily="2" charset="-122"/>
                </a:rPr>
                <a:t>FD</a:t>
              </a:r>
              <a:r>
                <a:rPr lang="zh-CN" altLang="en-US" sz="2800" b="1" dirty="0">
                  <a:latin typeface="Arial" panose="020B0604020202020204" pitchFamily="34" charset="0"/>
                  <a:ea typeface="宋体" panose="02010600030101010101" pitchFamily="2" charset="-122"/>
                </a:rPr>
                <a:t>是否成立：</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8824">
                                            <p:txEl>
                                              <p:pRg st="0" end="0"/>
                                            </p:txEl>
                                          </p:spTgt>
                                        </p:tgtEl>
                                        <p:attrNameLst>
                                          <p:attrName>style.visibility</p:attrName>
                                        </p:attrNameLst>
                                      </p:cBhvr>
                                      <p:to>
                                        <p:strVal val="visible"/>
                                      </p:to>
                                    </p:set>
                                    <p:animEffect transition="in" filter="blinds(horizontal)">
                                      <p:cBhvr>
                                        <p:cTn id="7" dur="500"/>
                                        <p:tgtEl>
                                          <p:spTgt spid="11882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8824">
                                            <p:txEl>
                                              <p:pRg st="1" end="1"/>
                                            </p:txEl>
                                          </p:spTgt>
                                        </p:tgtEl>
                                        <p:attrNameLst>
                                          <p:attrName>style.visibility</p:attrName>
                                        </p:attrNameLst>
                                      </p:cBhvr>
                                      <p:to>
                                        <p:strVal val="visible"/>
                                      </p:to>
                                    </p:set>
                                    <p:animEffect transition="in" filter="blinds(horizontal)">
                                      <p:cBhvr>
                                        <p:cTn id="12" dur="500"/>
                                        <p:tgtEl>
                                          <p:spTgt spid="11882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8825"/>
                                        </p:tgtEl>
                                        <p:attrNameLst>
                                          <p:attrName>style.visibility</p:attrName>
                                        </p:attrNameLst>
                                      </p:cBhvr>
                                      <p:to>
                                        <p:strVal val="visible"/>
                                      </p:to>
                                    </p:set>
                                    <p:animEffect transition="in" filter="blinds(horizontal)">
                                      <p:cBhvr>
                                        <p:cTn id="17" dur="500"/>
                                        <p:tgtEl>
                                          <p:spTgt spid="1188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824"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日期占位符 1"/>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19810" name="页脚占位符 2"/>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19811" name="灯片编号占位符 3"/>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45</a:t>
            </a:fld>
            <a:endParaRPr lang="zh-CN" altLang="en-US" sz="1200" b="1" i="1" dirty="0">
              <a:latin typeface="Times New Roman" panose="02020603050405020304" pitchFamily="2" charset="0"/>
              <a:ea typeface="宋体" panose="02010600030101010101" pitchFamily="2" charset="-122"/>
            </a:endParaRPr>
          </a:p>
        </p:txBody>
      </p:sp>
      <p:sp>
        <p:nvSpPr>
          <p:cNvPr id="119813" name="灯片编号占位符 3"/>
          <p:cNvSpPr txBox="1">
            <a:spLocks noGrp="1"/>
          </p:cNvSpPr>
          <p:nvPr/>
        </p:nvSpPr>
        <p:spPr>
          <a:xfrm>
            <a:off x="7162800" y="6629400"/>
            <a:ext cx="1905000" cy="228600"/>
          </a:xfrm>
          <a:prstGeom prst="rect">
            <a:avLst/>
          </a:prstGeom>
          <a:noFill/>
          <a:ln w="9525">
            <a:noFill/>
            <a:miter/>
          </a:ln>
        </p:spPr>
        <p:txBody>
          <a:bodyPr/>
          <a:lstStyle/>
          <a:p>
            <a:pPr lvl="0" algn="r" eaLnBrk="1" fontAlgn="base" hangingPunct="1"/>
            <a:fld id="{9A0DB2DC-4C9A-4742-B13C-FB6460FD3503}" type="slidenum">
              <a:rPr lang="zh-CN" altLang="en-US" sz="1400" b="1" i="1" strike="noStrike" noProof="1" dirty="0">
                <a:solidFill>
                  <a:schemeClr val="accent1"/>
                </a:solidFill>
                <a:effectLst>
                  <a:outerShdw blurRad="38100" dist="38100" dir="2700000">
                    <a:srgbClr val="C0C0C0"/>
                  </a:outerShdw>
                </a:effectLst>
                <a:latin typeface="Arial" panose="020B0604020202020204" pitchFamily="34" charset="0"/>
                <a:ea typeface="宋体" panose="02010600030101010101" pitchFamily="2" charset="-122"/>
                <a:cs typeface="+mn-ea"/>
              </a:rPr>
              <a:t>45</a:t>
            </a:fld>
            <a:endParaRPr lang="zh-CN" altLang="en-US" sz="1400" b="1" i="1" strike="noStrike" noProof="1">
              <a:solidFill>
                <a:schemeClr val="accent1"/>
              </a:solidFill>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2" name="页脚占位符 4"/>
          <p:cNvSpPr txBox="1">
            <a:spLocks noGrp="1"/>
          </p:cNvSpPr>
          <p:nvPr/>
        </p:nvSpPr>
        <p:spPr>
          <a:xfrm>
            <a:off x="0" y="6705600"/>
            <a:ext cx="5029200" cy="152400"/>
          </a:xfrm>
          <a:prstGeom prst="rect">
            <a:avLst/>
          </a:prstGeom>
          <a:noFill/>
          <a:ln w="9525">
            <a:noFill/>
          </a:ln>
        </p:spPr>
        <p:txBody>
          <a:bodyPr tIns="0" bIns="0" anchor="t"/>
          <a:lstStyle/>
          <a:p>
            <a:pPr lvl="0"/>
            <a:r>
              <a:rPr lang="en-US" altLang="x-none" sz="1000" i="1" dirty="0">
                <a:latin typeface="Arial" panose="020B0604020202020204" pitchFamily="34" charset="0"/>
                <a:ea typeface="宋体" panose="02010600030101010101" pitchFamily="2" charset="-122"/>
              </a:rPr>
              <a:t>2007</a:t>
            </a:r>
            <a:r>
              <a:rPr lang="zh-CN" altLang="en-US" sz="1000" i="1" dirty="0">
                <a:latin typeface="Arial" panose="020B0604020202020204" pitchFamily="34" charset="0"/>
                <a:ea typeface="宋体" panose="02010600030101010101" pitchFamily="2" charset="-122"/>
              </a:rPr>
              <a:t>年度</a:t>
            </a:r>
            <a:r>
              <a:rPr lang="en-US" altLang="x-none" sz="1000" i="1" dirty="0">
                <a:latin typeface="Arial" panose="020B0604020202020204" pitchFamily="34" charset="0"/>
                <a:ea typeface="宋体" panose="02010600030101010101" pitchFamily="2" charset="-122"/>
              </a:rPr>
              <a:t>-</a:t>
            </a:r>
            <a:r>
              <a:rPr lang="zh-CN" altLang="en-US" sz="1000" i="1" dirty="0">
                <a:latin typeface="Arial" panose="020B0604020202020204" pitchFamily="34" charset="0"/>
                <a:ea typeface="宋体" panose="02010600030101010101" pitchFamily="2" charset="-122"/>
              </a:rPr>
              <a:t>教育部</a:t>
            </a:r>
            <a:r>
              <a:rPr lang="en-US" altLang="x-none" sz="1000" i="1" dirty="0">
                <a:latin typeface="Arial" panose="020B0604020202020204" pitchFamily="34" charset="0"/>
                <a:ea typeface="宋体" panose="02010600030101010101" pitchFamily="2" charset="-122"/>
              </a:rPr>
              <a:t>-IBM</a:t>
            </a:r>
            <a:r>
              <a:rPr lang="zh-CN" altLang="en-US" sz="1000" i="1" dirty="0">
                <a:latin typeface="Arial" panose="020B0604020202020204" pitchFamily="34" charset="0"/>
                <a:ea typeface="宋体" panose="02010600030101010101" pitchFamily="2" charset="-122"/>
              </a:rPr>
              <a:t>精品课程</a:t>
            </a:r>
            <a:r>
              <a:rPr lang="en-US" altLang="x-none" sz="1000" i="1" dirty="0">
                <a:latin typeface="Arial" panose="020B0604020202020204" pitchFamily="34" charset="0"/>
                <a:ea typeface="宋体" panose="02010600030101010101" pitchFamily="2" charset="-122"/>
              </a:rPr>
              <a:t>-</a:t>
            </a:r>
            <a:r>
              <a:rPr lang="zh-CN" altLang="en-US" sz="1000" i="1" dirty="0">
                <a:latin typeface="Arial" panose="020B0604020202020204" pitchFamily="34" charset="0"/>
                <a:ea typeface="宋体" panose="02010600030101010101" pitchFamily="2" charset="-122"/>
              </a:rPr>
              <a:t>南京大学计算机科学与技术系</a:t>
            </a:r>
            <a:r>
              <a:rPr lang="zh-CN" altLang="en-US" sz="1000" i="1" dirty="0">
                <a:solidFill>
                  <a:schemeClr val="accent1"/>
                </a:solidFill>
                <a:latin typeface="Arial" panose="020B0604020202020204" pitchFamily="34" charset="0"/>
                <a:ea typeface="宋体" panose="02010600030101010101" pitchFamily="2" charset="-122"/>
              </a:rPr>
              <a:t> </a:t>
            </a:r>
            <a:endParaRPr lang="en-US" altLang="x-none" sz="1000" i="1" dirty="0">
              <a:solidFill>
                <a:schemeClr val="accent1"/>
              </a:solidFill>
              <a:latin typeface="Arial" panose="020B0604020202020204" pitchFamily="34" charset="0"/>
              <a:ea typeface="宋体" panose="02010600030101010101" pitchFamily="2" charset="-122"/>
            </a:endParaRPr>
          </a:p>
        </p:txBody>
      </p:sp>
      <p:sp>
        <p:nvSpPr>
          <p:cNvPr id="119814" name="Rectangle 1026"/>
          <p:cNvSpPr/>
          <p:nvPr/>
        </p:nvSpPr>
        <p:spPr>
          <a:xfrm>
            <a:off x="0" y="0"/>
            <a:ext cx="9144000" cy="6858000"/>
          </a:xfrm>
          <a:prstGeom prst="rect">
            <a:avLst/>
          </a:prstGeom>
          <a:solidFill>
            <a:schemeClr val="bg1"/>
          </a:solidFill>
          <a:ln w="9525">
            <a:noFill/>
          </a:ln>
        </p:spPr>
        <p:txBody>
          <a:bodyPr wrap="none" anchor="ctr"/>
          <a:lstStyle/>
          <a:p>
            <a:pPr lvl="0" algn="ctr">
              <a:spcBef>
                <a:spcPct val="20000"/>
              </a:spcBef>
              <a:buFont typeface="Wingdings" panose="05000000000000000000" pitchFamily="2" charset="2"/>
              <a:buChar char="§"/>
            </a:pPr>
            <a:endParaRPr lang="zh-CN" altLang="en-US" sz="2800" b="1" dirty="0">
              <a:latin typeface="Arial" panose="020B0604020202020204" pitchFamily="34" charset="0"/>
              <a:ea typeface="宋体" panose="02010600030101010101" pitchFamily="2" charset="-122"/>
            </a:endParaRPr>
          </a:p>
        </p:txBody>
      </p:sp>
      <p:graphicFrame>
        <p:nvGraphicFramePr>
          <p:cNvPr id="119816" name="表格 119815"/>
          <p:cNvGraphicFramePr/>
          <p:nvPr/>
        </p:nvGraphicFramePr>
        <p:xfrm>
          <a:off x="1828800" y="76200"/>
          <a:ext cx="5257800" cy="2667000"/>
        </p:xfrm>
        <a:graphic>
          <a:graphicData uri="http://schemas.openxmlformats.org/drawingml/2006/table">
            <a:tbl>
              <a:tblPr/>
              <a:tblGrid>
                <a:gridCol w="1230313">
                  <a:extLst>
                    <a:ext uri="{9D8B030D-6E8A-4147-A177-3AD203B41FA5}">
                      <a16:colId xmlns:a16="http://schemas.microsoft.com/office/drawing/2014/main" val="20000"/>
                    </a:ext>
                  </a:extLst>
                </a:gridCol>
                <a:gridCol w="1343025">
                  <a:extLst>
                    <a:ext uri="{9D8B030D-6E8A-4147-A177-3AD203B41FA5}">
                      <a16:colId xmlns:a16="http://schemas.microsoft.com/office/drawing/2014/main" val="20001"/>
                    </a:ext>
                  </a:extLst>
                </a:gridCol>
                <a:gridCol w="1341437">
                  <a:extLst>
                    <a:ext uri="{9D8B030D-6E8A-4147-A177-3AD203B41FA5}">
                      <a16:colId xmlns:a16="http://schemas.microsoft.com/office/drawing/2014/main" val="20002"/>
                    </a:ext>
                  </a:extLst>
                </a:gridCol>
                <a:gridCol w="1343025">
                  <a:extLst>
                    <a:ext uri="{9D8B030D-6E8A-4147-A177-3AD203B41FA5}">
                      <a16:colId xmlns:a16="http://schemas.microsoft.com/office/drawing/2014/main" val="20003"/>
                    </a:ext>
                  </a:extLst>
                </a:gridCol>
              </a:tblGrid>
              <a:tr h="506413">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D</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541337">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1"/>
                  </a:ext>
                </a:extLst>
              </a:tr>
              <a:tr h="54292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2"/>
                  </a:ext>
                </a:extLst>
              </a:tr>
              <a:tr h="534988">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3"/>
                  </a:ext>
                </a:extLst>
              </a:tr>
              <a:tr h="541337">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d4</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4"/>
                  </a:ext>
                </a:extLst>
              </a:tr>
            </a:tbl>
          </a:graphicData>
        </a:graphic>
      </p:graphicFrame>
      <p:sp>
        <p:nvSpPr>
          <p:cNvPr id="119847" name="Rectangle 1060"/>
          <p:cNvSpPr/>
          <p:nvPr/>
        </p:nvSpPr>
        <p:spPr>
          <a:xfrm>
            <a:off x="1219200" y="2819400"/>
            <a:ext cx="6934200" cy="1066800"/>
          </a:xfrm>
          <a:prstGeom prst="rect">
            <a:avLst/>
          </a:prstGeom>
          <a:noFill/>
          <a:ln w="9525">
            <a:noFill/>
          </a:ln>
        </p:spPr>
        <p:txBody>
          <a:bodyPr anchor="t"/>
          <a:lstStyle/>
          <a:p>
            <a:pPr marL="342900" lvl="0" indent="-342900">
              <a:lnSpc>
                <a:spcPct val="110000"/>
              </a:lnSpc>
              <a:spcBef>
                <a:spcPct val="20000"/>
              </a:spcBef>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 → B 		C → B</a:t>
            </a:r>
          </a:p>
          <a:p>
            <a:pPr marL="342900" lvl="0" indent="-342900">
              <a:lnSpc>
                <a:spcPct val="110000"/>
              </a:lnSpc>
              <a:spcBef>
                <a:spcPct val="20000"/>
              </a:spcBef>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D → A 		D → B 		D → C</a:t>
            </a:r>
            <a:endParaRPr lang="zh-CN" altLang="en-US" sz="2800" b="1" dirty="0">
              <a:solidFill>
                <a:schemeClr val="accent2"/>
              </a:solidFill>
              <a:latin typeface="Arial" panose="020B0604020202020204" pitchFamily="34" charset="0"/>
              <a:ea typeface="宋体" panose="02010600030101010101" pitchFamily="2" charset="-122"/>
            </a:endParaRPr>
          </a:p>
        </p:txBody>
      </p:sp>
      <p:grpSp>
        <p:nvGrpSpPr>
          <p:cNvPr id="119849" name="组合 119848"/>
          <p:cNvGrpSpPr/>
          <p:nvPr/>
        </p:nvGrpSpPr>
        <p:grpSpPr>
          <a:xfrm>
            <a:off x="85090" y="5410200"/>
            <a:ext cx="8916826" cy="990600"/>
            <a:chOff x="0" y="0"/>
            <a:chExt cx="5275" cy="576"/>
          </a:xfrm>
        </p:grpSpPr>
        <p:sp>
          <p:nvSpPr>
            <p:cNvPr id="3" name="Rectangle 1067"/>
            <p:cNvSpPr/>
            <p:nvPr/>
          </p:nvSpPr>
          <p:spPr>
            <a:xfrm>
              <a:off x="0" y="0"/>
              <a:ext cx="5275" cy="336"/>
            </a:xfrm>
            <a:prstGeom prst="rect">
              <a:avLst/>
            </a:prstGeom>
            <a:noFill/>
            <a:ln w="9525">
              <a:noFill/>
            </a:ln>
          </p:spPr>
          <p:txBody>
            <a:bodyPr anchor="t"/>
            <a:lstStyle/>
            <a:p>
              <a:pPr marL="342900" lvl="0" indent="-342900">
                <a:lnSpc>
                  <a:spcPct val="110000"/>
                </a:lnSpc>
                <a:spcBef>
                  <a:spcPct val="20000"/>
                </a:spcBef>
                <a:buClr>
                  <a:srgbClr val="996633"/>
                </a:buClr>
                <a:buFont typeface="Wingdings" panose="05000000000000000000" pitchFamily="2" charset="2"/>
                <a:buChar char="q"/>
              </a:pPr>
              <a:r>
                <a:rPr lang="zh-CN" altLang="en-US" sz="2800" b="1" dirty="0">
                  <a:solidFill>
                    <a:schemeClr val="accent2"/>
                  </a:solidFill>
                  <a:latin typeface="Arial" panose="020B0604020202020204" pitchFamily="34" charset="0"/>
                  <a:ea typeface="宋体" panose="02010600030101010101" pitchFamily="2" charset="-122"/>
                </a:rPr>
                <a:t>因此，最后只需要考虑下面的这个</a:t>
              </a:r>
              <a:r>
                <a:rPr lang="en-US" altLang="x-none" sz="2800" b="1" dirty="0">
                  <a:solidFill>
                    <a:schemeClr val="accent2"/>
                  </a:solidFill>
                  <a:latin typeface="Arial" panose="020B0604020202020204" pitchFamily="34" charset="0"/>
                  <a:ea typeface="宋体" panose="02010600030101010101" pitchFamily="2" charset="-122"/>
                </a:rPr>
                <a:t>FD</a:t>
              </a:r>
              <a:r>
                <a:rPr lang="zh-CN" altLang="en-US" sz="2800" b="1" dirty="0">
                  <a:solidFill>
                    <a:schemeClr val="accent2"/>
                  </a:solidFill>
                  <a:latin typeface="Arial" panose="020B0604020202020204" pitchFamily="34" charset="0"/>
                  <a:ea typeface="宋体" panose="02010600030101010101" pitchFamily="2" charset="-122"/>
                </a:rPr>
                <a:t>是否可能成立？</a:t>
              </a:r>
              <a:endParaRPr lang="zh-CN" altLang="en-US" sz="2800" b="1" dirty="0">
                <a:solidFill>
                  <a:srgbClr val="FF0000"/>
                </a:solidFill>
                <a:latin typeface="Arial" panose="020B0604020202020204" pitchFamily="34" charset="0"/>
                <a:ea typeface="宋体" panose="02010600030101010101" pitchFamily="2" charset="-122"/>
              </a:endParaRPr>
            </a:p>
          </p:txBody>
        </p:sp>
        <p:sp>
          <p:nvSpPr>
            <p:cNvPr id="119850" name="Rectangle 1068"/>
            <p:cNvSpPr/>
            <p:nvPr/>
          </p:nvSpPr>
          <p:spPr>
            <a:xfrm>
              <a:off x="912" y="288"/>
              <a:ext cx="3984" cy="288"/>
            </a:xfrm>
            <a:prstGeom prst="rect">
              <a:avLst/>
            </a:prstGeom>
            <a:noFill/>
            <a:ln w="9525">
              <a:noFill/>
            </a:ln>
          </p:spPr>
          <p:txBody>
            <a:bodyPr anchor="t"/>
            <a:lstStyle/>
            <a:p>
              <a:pPr marL="342900" lvl="0" indent="-342900">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		</a:t>
              </a:r>
              <a:r>
                <a:rPr lang="en-US" altLang="x-none" sz="2800" b="1" dirty="0">
                  <a:solidFill>
                    <a:schemeClr val="accent2"/>
                  </a:solidFill>
                  <a:latin typeface="Arial" panose="020B0604020202020204" pitchFamily="34" charset="0"/>
                  <a:ea typeface="宋体" panose="02010600030101010101" pitchFamily="2" charset="-122"/>
                </a:rPr>
                <a:t>AC → D</a:t>
              </a:r>
              <a:r>
                <a:rPr lang="en-US" altLang="x-none" sz="2800" b="1" dirty="0">
                  <a:solidFill>
                    <a:srgbClr val="FF0000"/>
                  </a:solidFill>
                  <a:latin typeface="Arial" panose="020B0604020202020204" pitchFamily="34" charset="0"/>
                  <a:ea typeface="宋体" panose="02010600030101010101" pitchFamily="2" charset="-122"/>
                </a:rPr>
                <a:t> ?</a:t>
              </a:r>
            </a:p>
          </p:txBody>
        </p:sp>
      </p:grpSp>
      <p:sp>
        <p:nvSpPr>
          <p:cNvPr id="119852" name="Rectangle 1069"/>
          <p:cNvSpPr>
            <a:spLocks noGrp="1"/>
          </p:cNvSpPr>
          <p:nvPr>
            <p:ph type="body"/>
          </p:nvPr>
        </p:nvSpPr>
        <p:spPr>
          <a:xfrm>
            <a:off x="114300" y="4648200"/>
            <a:ext cx="8686800" cy="533400"/>
          </a:xfrm>
        </p:spPr>
        <p:txBody>
          <a:bodyPr wrap="square" anchor="t"/>
          <a:lstStyle/>
          <a:p>
            <a:pPr lvl="0" eaLnBrk="1" hangingPunct="1"/>
            <a:r>
              <a:rPr lang="zh-CN" altLang="en-US" dirty="0">
                <a:solidFill>
                  <a:schemeClr val="accent2"/>
                </a:solidFill>
                <a:ea typeface="宋体" panose="02010600030101010101" pitchFamily="2" charset="-122"/>
              </a:rPr>
              <a:t>在上述的 </a:t>
            </a:r>
            <a:r>
              <a:rPr lang="en-US" altLang="x-none" dirty="0">
                <a:solidFill>
                  <a:schemeClr val="accent2"/>
                </a:solidFill>
                <a:ea typeface="宋体" panose="02010600030101010101" pitchFamily="2" charset="-122"/>
              </a:rPr>
              <a:t>FD</a:t>
            </a:r>
            <a:r>
              <a:rPr lang="en-US" altLang="zh-CN" dirty="0">
                <a:solidFill>
                  <a:schemeClr val="accent2"/>
                </a:solidFill>
                <a:ea typeface="宋体" panose="02010600030101010101" pitchFamily="2" charset="-122"/>
              </a:rPr>
              <a:t>s </a:t>
            </a:r>
            <a:r>
              <a:rPr lang="zh-CN" altLang="en-US" dirty="0">
                <a:solidFill>
                  <a:schemeClr val="accent2"/>
                </a:solidFill>
                <a:ea typeface="宋体" panose="02010600030101010101" pitchFamily="2" charset="-122"/>
              </a:rPr>
              <a:t>中，我们不用考虑 </a:t>
            </a:r>
            <a:r>
              <a:rPr lang="en-US" altLang="x-none" dirty="0">
                <a:solidFill>
                  <a:schemeClr val="accent2"/>
                </a:solidFill>
                <a:ea typeface="宋体" panose="02010600030101010101" pitchFamily="2" charset="-122"/>
              </a:rPr>
              <a:t>AC → B，</a:t>
            </a:r>
            <a:r>
              <a:rPr lang="en-US" altLang="x-none" dirty="0">
                <a:ea typeface="宋体" panose="02010600030101010101" pitchFamily="2" charset="-122"/>
              </a:rPr>
              <a:t>why ?</a:t>
            </a:r>
            <a:endParaRPr lang="zh-CN" altLang="en-US" dirty="0">
              <a:ea typeface="宋体" panose="02010600030101010101" pitchFamily="2" charset="-122"/>
            </a:endParaRPr>
          </a:p>
        </p:txBody>
      </p:sp>
      <p:sp>
        <p:nvSpPr>
          <p:cNvPr id="4" name="Rectangle 1070"/>
          <p:cNvSpPr/>
          <p:nvPr/>
        </p:nvSpPr>
        <p:spPr>
          <a:xfrm>
            <a:off x="1219200" y="3962400"/>
            <a:ext cx="6324600" cy="457200"/>
          </a:xfrm>
          <a:prstGeom prst="rect">
            <a:avLst/>
          </a:prstGeom>
          <a:noFill/>
          <a:ln w="9525">
            <a:noFill/>
          </a:ln>
        </p:spPr>
        <p:txBody>
          <a:bodyPr anchor="t"/>
          <a:lstStyle/>
          <a:p>
            <a:pPr marL="342900" lvl="0" indent="-342900">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AC → B</a:t>
            </a:r>
            <a:r>
              <a:rPr lang="en-US" altLang="x-none" sz="2800" b="1" dirty="0">
                <a:solidFill>
                  <a:srgbClr val="FF0000"/>
                </a:solidFill>
                <a:latin typeface="Arial" panose="020B0604020202020204" pitchFamily="34" charset="0"/>
                <a:ea typeface="宋体" panose="02010600030101010101" pitchFamily="2" charset="-122"/>
              </a:rPr>
              <a:t> ?		</a:t>
            </a:r>
            <a:r>
              <a:rPr lang="en-US" altLang="x-none" sz="2800" b="1" dirty="0">
                <a:solidFill>
                  <a:schemeClr val="accent2"/>
                </a:solidFill>
                <a:latin typeface="Arial" panose="020B0604020202020204" pitchFamily="34" charset="0"/>
                <a:ea typeface="宋体" panose="02010600030101010101" pitchFamily="2" charset="-122"/>
              </a:rPr>
              <a:t>AC → D</a:t>
            </a:r>
            <a:r>
              <a:rPr lang="en-US" altLang="x-none" sz="2800" b="1" dirty="0">
                <a:solidFill>
                  <a:srgbClr val="FF0000"/>
                </a:solidFill>
                <a:latin typeface="Arial" panose="020B0604020202020204" pitchFamily="34" charset="0"/>
                <a:ea typeface="宋体" panose="0201060003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9852">
                                            <p:txEl>
                                              <p:pRg st="0" end="0"/>
                                            </p:txEl>
                                          </p:spTgt>
                                        </p:tgtEl>
                                        <p:attrNameLst>
                                          <p:attrName>style.visibility</p:attrName>
                                        </p:attrNameLst>
                                      </p:cBhvr>
                                      <p:to>
                                        <p:strVal val="visible"/>
                                      </p:to>
                                    </p:set>
                                    <p:animEffect transition="in" filter="blinds(horizontal)">
                                      <p:cBhvr>
                                        <p:cTn id="7" dur="500"/>
                                        <p:tgtEl>
                                          <p:spTgt spid="11985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9849"/>
                                        </p:tgtEl>
                                        <p:attrNameLst>
                                          <p:attrName>style.visibility</p:attrName>
                                        </p:attrNameLst>
                                      </p:cBhvr>
                                      <p:to>
                                        <p:strVal val="visible"/>
                                      </p:to>
                                    </p:set>
                                    <p:anim calcmode="lin" valueType="num">
                                      <p:cBhvr>
                                        <p:cTn id="12" dur="500" fill="hold"/>
                                        <p:tgtEl>
                                          <p:spTgt spid="119849"/>
                                        </p:tgtEl>
                                        <p:attrNameLst>
                                          <p:attrName>ppt_x</p:attrName>
                                        </p:attrNameLst>
                                      </p:cBhvr>
                                      <p:tavLst>
                                        <p:tav tm="0">
                                          <p:val>
                                            <p:strVal val="#ppt_x"/>
                                          </p:val>
                                        </p:tav>
                                        <p:tav tm="100000">
                                          <p:val>
                                            <p:strVal val="#ppt_x"/>
                                          </p:val>
                                        </p:tav>
                                      </p:tavLst>
                                    </p:anim>
                                    <p:anim calcmode="lin" valueType="num">
                                      <p:cBhvr>
                                        <p:cTn id="13" dur="500" fill="hold"/>
                                        <p:tgtEl>
                                          <p:spTgt spid="1198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52"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矩形 3116"/>
          <p:cNvSpPr/>
          <p:nvPr/>
        </p:nvSpPr>
        <p:spPr>
          <a:xfrm>
            <a:off x="2235200" y="5694998"/>
            <a:ext cx="609600" cy="609600"/>
          </a:xfrm>
          <a:prstGeom prst="rect">
            <a:avLst/>
          </a:prstGeom>
          <a:solidFill>
            <a:schemeClr val="bg1"/>
          </a:solidFill>
          <a:ln w="9525">
            <a:noFill/>
          </a:ln>
        </p:spPr>
        <p:txBody>
          <a:bodyPr anchor="t"/>
          <a:lstStyle/>
          <a:p>
            <a:pPr marL="342900" indent="-342900" algn="ctr">
              <a:spcBef>
                <a:spcPct val="90000"/>
              </a:spcBef>
              <a:buClr>
                <a:srgbClr val="996633"/>
              </a:buClr>
              <a:buFont typeface="Wingdings" panose="05000000000000000000" pitchFamily="2" charset="2"/>
              <a:buNone/>
            </a:pPr>
            <a:r>
              <a:rPr lang="en-US" altLang="zh-CN" sz="2800" b="1">
                <a:solidFill>
                  <a:srgbClr val="FF0000"/>
                </a:solidFill>
                <a:latin typeface="Arial" panose="020B0604020202020204" pitchFamily="34" charset="0"/>
                <a:ea typeface="宋体" panose="02010600030101010101" pitchFamily="2" charset="-122"/>
              </a:rPr>
              <a:t>?</a:t>
            </a:r>
          </a:p>
        </p:txBody>
      </p:sp>
      <p:sp>
        <p:nvSpPr>
          <p:cNvPr id="3113" name="矩形 3112"/>
          <p:cNvSpPr/>
          <p:nvPr/>
        </p:nvSpPr>
        <p:spPr>
          <a:xfrm>
            <a:off x="2339975" y="5728335"/>
            <a:ext cx="609600" cy="609600"/>
          </a:xfrm>
          <a:prstGeom prst="rect">
            <a:avLst/>
          </a:prstGeom>
          <a:solidFill>
            <a:schemeClr val="bg1"/>
          </a:solidFill>
          <a:ln w="9525">
            <a:noFill/>
          </a:ln>
        </p:spPr>
        <p:txBody>
          <a:bodyPr anchor="t"/>
          <a:lstStyle/>
          <a:p>
            <a:pPr marL="342900" indent="-342900">
              <a:spcBef>
                <a:spcPct val="90000"/>
              </a:spcBef>
              <a:buClr>
                <a:srgbClr val="996633"/>
              </a:buClr>
              <a:buFont typeface="Wingdings" panose="05000000000000000000" pitchFamily="2" charset="2"/>
              <a:buNone/>
            </a:pPr>
            <a:r>
              <a:rPr lang="en-US" altLang="zh-CN" sz="2800" b="1">
                <a:solidFill>
                  <a:srgbClr val="FF0000"/>
                </a:solidFill>
                <a:latin typeface="Arial" panose="020B0604020202020204" pitchFamily="34" charset="0"/>
                <a:ea typeface="宋体" panose="02010600030101010101" pitchFamily="2" charset="-122"/>
              </a:rPr>
              <a:t>√</a:t>
            </a:r>
            <a:endParaRPr lang="en-US" altLang="zh-CN" sz="2400" b="1">
              <a:solidFill>
                <a:srgbClr val="FF0000"/>
              </a:solidFill>
              <a:latin typeface="Times New Roman" panose="02020603050405020304" pitchFamily="2" charset="0"/>
              <a:ea typeface="宋体" panose="02010600030101010101" pitchFamily="2" charset="-122"/>
              <a:sym typeface="Symbol" panose="05050102010706020507" pitchFamily="2" charset="2"/>
            </a:endParaRPr>
          </a:p>
        </p:txBody>
      </p:sp>
      <p:graphicFrame>
        <p:nvGraphicFramePr>
          <p:cNvPr id="3115" name="表格 3114"/>
          <p:cNvGraphicFramePr/>
          <p:nvPr/>
        </p:nvGraphicFramePr>
        <p:xfrm>
          <a:off x="166688" y="76200"/>
          <a:ext cx="3900488" cy="3065463"/>
        </p:xfrm>
        <a:graphic>
          <a:graphicData uri="http://schemas.openxmlformats.org/drawingml/2006/table">
            <a:tbl>
              <a:tblPr/>
              <a:tblGrid>
                <a:gridCol w="912813">
                  <a:extLst>
                    <a:ext uri="{9D8B030D-6E8A-4147-A177-3AD203B41FA5}">
                      <a16:colId xmlns:a16="http://schemas.microsoft.com/office/drawing/2014/main" val="20000"/>
                    </a:ext>
                  </a:extLst>
                </a:gridCol>
                <a:gridCol w="996950">
                  <a:extLst>
                    <a:ext uri="{9D8B030D-6E8A-4147-A177-3AD203B41FA5}">
                      <a16:colId xmlns:a16="http://schemas.microsoft.com/office/drawing/2014/main" val="20001"/>
                    </a:ext>
                  </a:extLst>
                </a:gridCol>
                <a:gridCol w="993775">
                  <a:extLst>
                    <a:ext uri="{9D8B030D-6E8A-4147-A177-3AD203B41FA5}">
                      <a16:colId xmlns:a16="http://schemas.microsoft.com/office/drawing/2014/main" val="20002"/>
                    </a:ext>
                  </a:extLst>
                </a:gridCol>
                <a:gridCol w="996950">
                  <a:extLst>
                    <a:ext uri="{9D8B030D-6E8A-4147-A177-3AD203B41FA5}">
                      <a16:colId xmlns:a16="http://schemas.microsoft.com/office/drawing/2014/main" val="20003"/>
                    </a:ext>
                  </a:extLst>
                </a:gridCol>
              </a:tblGrid>
              <a:tr h="582613">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rgbClr val="FF0000"/>
                          </a:solidFill>
                          <a:latin typeface="Arial" panose="020B0604020202020204" pitchFamily="34" charset="0"/>
                        </a:rPr>
                        <a:t>A</a:t>
                      </a:r>
                      <a:endParaRPr lang="zh-CN" altLang="en-US" sz="3200" b="1">
                        <a:solidFill>
                          <a:srgbClr val="FF0000"/>
                        </a:solidFill>
                        <a:latin typeface="Arial" panose="020B0604020202020204" pitchFamily="34" charset="0"/>
                      </a:endParaRP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0C0C0"/>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rgbClr val="FF0000"/>
                          </a:solidFill>
                          <a:latin typeface="Arial" panose="020B0604020202020204" pitchFamily="34" charset="0"/>
                        </a:rPr>
                        <a:t>B</a:t>
                      </a:r>
                      <a:endParaRPr lang="zh-CN" altLang="en-US" sz="3200" b="1">
                        <a:solidFill>
                          <a:srgbClr val="FF0000"/>
                        </a:solidFill>
                        <a:latin typeface="Arial" panose="020B0604020202020204" pitchFamily="34" charset="0"/>
                      </a:endParaRP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0C0C0"/>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rgbClr val="FF0000"/>
                          </a:solidFill>
                          <a:latin typeface="Arial" panose="020B0604020202020204" pitchFamily="34" charset="0"/>
                        </a:rPr>
                        <a:t>C</a:t>
                      </a:r>
                      <a:endParaRPr lang="zh-CN" altLang="en-US" sz="3200" b="1">
                        <a:solidFill>
                          <a:srgbClr val="FF0000"/>
                        </a:solidFill>
                        <a:latin typeface="Arial" panose="020B0604020202020204" pitchFamily="34" charset="0"/>
                      </a:endParaRP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0C0C0"/>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rgbClr val="FF0000"/>
                          </a:solidFill>
                          <a:latin typeface="Arial" panose="020B0604020202020204" pitchFamily="34" charset="0"/>
                        </a:rPr>
                        <a:t>D</a:t>
                      </a:r>
                      <a:endParaRPr lang="zh-CN" altLang="en-US" sz="3200" b="1">
                        <a:solidFill>
                          <a:srgbClr val="FF0000"/>
                        </a:solidFill>
                        <a:latin typeface="Arial" panose="020B0604020202020204" pitchFamily="34" charset="0"/>
                      </a:endParaRP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0"/>
                  </a:ext>
                </a:extLst>
              </a:tr>
              <a:tr h="62230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a1</a:t>
                      </a:r>
                      <a:endParaRPr lang="zh-CN" altLang="en-US" sz="3200" b="1">
                        <a:solidFill>
                          <a:schemeClr val="accent2"/>
                        </a:solidFill>
                        <a:latin typeface="Arial" panose="020B0604020202020204" pitchFamily="34" charset="0"/>
                      </a:endParaRP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b1</a:t>
                      </a:r>
                      <a:endParaRPr lang="zh-CN" altLang="en-US" sz="3200" b="1">
                        <a:solidFill>
                          <a:schemeClr val="accent2"/>
                        </a:solidFill>
                        <a:latin typeface="Arial" panose="020B0604020202020204" pitchFamily="34" charset="0"/>
                      </a:endParaRP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c1</a:t>
                      </a:r>
                      <a:endParaRPr lang="zh-CN" altLang="en-US" sz="3200" b="1">
                        <a:solidFill>
                          <a:schemeClr val="accent2"/>
                        </a:solidFill>
                        <a:latin typeface="Arial" panose="020B0604020202020204" pitchFamily="34" charset="0"/>
                      </a:endParaRP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d1</a:t>
                      </a:r>
                      <a:endParaRPr lang="zh-CN" altLang="en-US" sz="3200" b="1">
                        <a:solidFill>
                          <a:schemeClr val="accent2"/>
                        </a:solidFill>
                        <a:latin typeface="Arial" panose="020B0604020202020204" pitchFamily="34" charset="0"/>
                      </a:endParaRP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r h="623887">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a1</a:t>
                      </a:r>
                      <a:endParaRPr lang="zh-CN" altLang="en-US" sz="3200" b="1">
                        <a:solidFill>
                          <a:schemeClr val="accent2"/>
                        </a:solidFill>
                        <a:latin typeface="Arial" panose="020B0604020202020204" pitchFamily="34" charset="0"/>
                      </a:endParaRP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b1</a:t>
                      </a:r>
                      <a:endParaRPr lang="zh-CN" altLang="en-US" sz="3200" b="1">
                        <a:solidFill>
                          <a:schemeClr val="accent2"/>
                        </a:solidFill>
                        <a:latin typeface="Arial" panose="020B0604020202020204" pitchFamily="34" charset="0"/>
                      </a:endParaRP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c2</a:t>
                      </a:r>
                      <a:endParaRPr lang="zh-CN" altLang="en-US" sz="3200" b="1">
                        <a:solidFill>
                          <a:schemeClr val="accent2"/>
                        </a:solidFill>
                        <a:latin typeface="Arial" panose="020B0604020202020204" pitchFamily="34" charset="0"/>
                      </a:endParaRP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d2</a:t>
                      </a:r>
                      <a:endParaRPr lang="zh-CN" altLang="en-US" sz="3200" b="1">
                        <a:solidFill>
                          <a:schemeClr val="accent2"/>
                        </a:solidFill>
                        <a:latin typeface="Arial" panose="020B0604020202020204" pitchFamily="34" charset="0"/>
                      </a:endParaRP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2"/>
                  </a:ext>
                </a:extLst>
              </a:tr>
              <a:tr h="614363">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a2</a:t>
                      </a:r>
                      <a:endParaRPr lang="zh-CN" altLang="en-US" sz="3200" b="1">
                        <a:solidFill>
                          <a:schemeClr val="accent2"/>
                        </a:solidFill>
                        <a:latin typeface="Arial" panose="020B0604020202020204" pitchFamily="34" charset="0"/>
                      </a:endParaRP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b1</a:t>
                      </a:r>
                      <a:endParaRPr lang="zh-CN" altLang="en-US" sz="3200" b="1">
                        <a:solidFill>
                          <a:schemeClr val="accent2"/>
                        </a:solidFill>
                        <a:latin typeface="Arial" panose="020B0604020202020204" pitchFamily="34" charset="0"/>
                      </a:endParaRP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c1</a:t>
                      </a:r>
                      <a:endParaRPr lang="zh-CN" altLang="en-US" sz="3200" b="1">
                        <a:solidFill>
                          <a:schemeClr val="accent2"/>
                        </a:solidFill>
                        <a:latin typeface="Arial" panose="020B0604020202020204" pitchFamily="34" charset="0"/>
                      </a:endParaRP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d3</a:t>
                      </a:r>
                      <a:endParaRPr lang="zh-CN" altLang="en-US" sz="3200" b="1">
                        <a:solidFill>
                          <a:schemeClr val="accent2"/>
                        </a:solidFill>
                        <a:latin typeface="Arial" panose="020B0604020202020204" pitchFamily="34" charset="0"/>
                      </a:endParaRP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3"/>
                  </a:ext>
                </a:extLst>
              </a:tr>
              <a:tr h="62230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a2</a:t>
                      </a:r>
                      <a:endParaRPr lang="zh-CN" altLang="en-US" sz="3200" b="1">
                        <a:solidFill>
                          <a:schemeClr val="accent2"/>
                        </a:solidFill>
                        <a:latin typeface="Arial" panose="020B0604020202020204" pitchFamily="34" charset="0"/>
                      </a:endParaRP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b1</a:t>
                      </a:r>
                      <a:endParaRPr lang="zh-CN" altLang="en-US" sz="3200" b="1">
                        <a:solidFill>
                          <a:schemeClr val="accent2"/>
                        </a:solidFill>
                        <a:latin typeface="Arial" panose="020B0604020202020204" pitchFamily="34" charset="0"/>
                      </a:endParaRP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c3</a:t>
                      </a:r>
                      <a:endParaRPr lang="zh-CN" altLang="en-US" sz="3200" b="1">
                        <a:solidFill>
                          <a:schemeClr val="accent2"/>
                        </a:solidFill>
                        <a:latin typeface="Arial" panose="020B0604020202020204" pitchFamily="34" charset="0"/>
                      </a:endParaRP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d4</a:t>
                      </a:r>
                      <a:endParaRPr lang="zh-CN" altLang="en-US" sz="3200" b="1">
                        <a:solidFill>
                          <a:schemeClr val="accent2"/>
                        </a:solidFill>
                        <a:latin typeface="Arial" panose="020B0604020202020204" pitchFamily="34" charset="0"/>
                      </a:endParaRP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4"/>
                  </a:ext>
                </a:extLst>
              </a:tr>
            </a:tbl>
          </a:graphicData>
        </a:graphic>
      </p:graphicFrame>
      <p:sp>
        <p:nvSpPr>
          <p:cNvPr id="2084" name="矩形 3109"/>
          <p:cNvSpPr/>
          <p:nvPr/>
        </p:nvSpPr>
        <p:spPr>
          <a:xfrm>
            <a:off x="684213" y="5694998"/>
            <a:ext cx="2801937" cy="566737"/>
          </a:xfrm>
          <a:prstGeom prst="rect">
            <a:avLst/>
          </a:prstGeom>
          <a:noFill/>
          <a:ln w="9525">
            <a:noFill/>
          </a:ln>
        </p:spPr>
        <p:txBody>
          <a:bodyPr anchor="t"/>
          <a:lstStyle/>
          <a:p>
            <a:pPr marL="342900" indent="-342900">
              <a:spcBef>
                <a:spcPct val="20000"/>
              </a:spcBef>
              <a:buClr>
                <a:srgbClr val="996633"/>
              </a:buClr>
              <a:buFont typeface="Wingdings" panose="05000000000000000000" pitchFamily="2" charset="2"/>
              <a:buNone/>
            </a:pPr>
            <a:r>
              <a:rPr lang="en-US" altLang="zh-CN" sz="2800" b="1">
                <a:solidFill>
                  <a:schemeClr val="accent2"/>
                </a:solidFill>
                <a:latin typeface="Arial" panose="020B0604020202020204" pitchFamily="34" charset="0"/>
                <a:ea typeface="宋体" panose="02010600030101010101" pitchFamily="2" charset="-122"/>
              </a:rPr>
              <a:t>AC → D</a:t>
            </a:r>
            <a:endParaRPr lang="en-US" altLang="zh-CN" sz="2800" b="1">
              <a:solidFill>
                <a:srgbClr val="FF0000"/>
              </a:solidFill>
              <a:latin typeface="Arial" panose="020B0604020202020204" pitchFamily="34" charset="0"/>
              <a:ea typeface="宋体" panose="02010600030101010101" pitchFamily="2" charset="-122"/>
            </a:endParaRPr>
          </a:p>
        </p:txBody>
      </p:sp>
      <p:graphicFrame>
        <p:nvGraphicFramePr>
          <p:cNvPr id="3152" name="表格 3151"/>
          <p:cNvGraphicFramePr/>
          <p:nvPr/>
        </p:nvGraphicFramePr>
        <p:xfrm>
          <a:off x="6132513" y="44450"/>
          <a:ext cx="2903538" cy="3065463"/>
        </p:xfrm>
        <a:graphic>
          <a:graphicData uri="http://schemas.openxmlformats.org/drawingml/2006/table">
            <a:tbl>
              <a:tblPr/>
              <a:tblGrid>
                <a:gridCol w="912813">
                  <a:extLst>
                    <a:ext uri="{9D8B030D-6E8A-4147-A177-3AD203B41FA5}">
                      <a16:colId xmlns:a16="http://schemas.microsoft.com/office/drawing/2014/main" val="20000"/>
                    </a:ext>
                  </a:extLst>
                </a:gridCol>
                <a:gridCol w="993775">
                  <a:extLst>
                    <a:ext uri="{9D8B030D-6E8A-4147-A177-3AD203B41FA5}">
                      <a16:colId xmlns:a16="http://schemas.microsoft.com/office/drawing/2014/main" val="20001"/>
                    </a:ext>
                  </a:extLst>
                </a:gridCol>
                <a:gridCol w="996950">
                  <a:extLst>
                    <a:ext uri="{9D8B030D-6E8A-4147-A177-3AD203B41FA5}">
                      <a16:colId xmlns:a16="http://schemas.microsoft.com/office/drawing/2014/main" val="20002"/>
                    </a:ext>
                  </a:extLst>
                </a:gridCol>
              </a:tblGrid>
              <a:tr h="582613">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rgbClr val="FF0000"/>
                          </a:solidFill>
                          <a:latin typeface="Arial" panose="020B0604020202020204" pitchFamily="34" charset="0"/>
                        </a:rPr>
                        <a:t>A</a:t>
                      </a:r>
                      <a:endParaRPr lang="zh-CN" altLang="en-US" sz="3200" b="1">
                        <a:solidFill>
                          <a:srgbClr val="FF0000"/>
                        </a:solidFill>
                        <a:latin typeface="Arial" panose="020B0604020202020204" pitchFamily="34" charset="0"/>
                      </a:endParaRP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0C0C0"/>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rgbClr val="FF0000"/>
                          </a:solidFill>
                          <a:latin typeface="Arial" panose="020B0604020202020204" pitchFamily="34" charset="0"/>
                        </a:rPr>
                        <a:t>C</a:t>
                      </a:r>
                      <a:endParaRPr lang="zh-CN" altLang="en-US" sz="3200" b="1">
                        <a:solidFill>
                          <a:srgbClr val="FF0000"/>
                        </a:solidFill>
                        <a:latin typeface="Arial" panose="020B0604020202020204" pitchFamily="34" charset="0"/>
                      </a:endParaRP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0C0C0"/>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rgbClr val="FF0000"/>
                          </a:solidFill>
                          <a:latin typeface="Arial" panose="020B0604020202020204" pitchFamily="34" charset="0"/>
                        </a:rPr>
                        <a:t>D</a:t>
                      </a:r>
                      <a:endParaRPr lang="zh-CN" altLang="en-US" sz="3200" b="1">
                        <a:solidFill>
                          <a:srgbClr val="FF0000"/>
                        </a:solidFill>
                        <a:latin typeface="Arial" panose="020B0604020202020204" pitchFamily="34" charset="0"/>
                      </a:endParaRP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0"/>
                  </a:ext>
                </a:extLst>
              </a:tr>
              <a:tr h="62230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a1</a:t>
                      </a:r>
                      <a:endParaRPr lang="zh-CN" altLang="en-US" sz="3200" b="1">
                        <a:solidFill>
                          <a:schemeClr val="accent2"/>
                        </a:solidFill>
                        <a:latin typeface="Arial" panose="020B0604020202020204" pitchFamily="34" charset="0"/>
                      </a:endParaRP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c1</a:t>
                      </a:r>
                      <a:endParaRPr lang="zh-CN" altLang="en-US" sz="3200" b="1">
                        <a:solidFill>
                          <a:schemeClr val="accent2"/>
                        </a:solidFill>
                        <a:latin typeface="Arial" panose="020B0604020202020204" pitchFamily="34" charset="0"/>
                      </a:endParaRP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d1</a:t>
                      </a:r>
                      <a:endParaRPr lang="zh-CN" altLang="en-US" sz="3200" b="1">
                        <a:solidFill>
                          <a:schemeClr val="accent2"/>
                        </a:solidFill>
                        <a:latin typeface="Arial" panose="020B0604020202020204" pitchFamily="34" charset="0"/>
                      </a:endParaRP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r h="623887">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a1</a:t>
                      </a:r>
                      <a:endParaRPr lang="zh-CN" altLang="en-US" sz="3200" b="1">
                        <a:solidFill>
                          <a:schemeClr val="accent2"/>
                        </a:solidFill>
                        <a:latin typeface="Arial" panose="020B0604020202020204" pitchFamily="34" charset="0"/>
                      </a:endParaRP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c2</a:t>
                      </a:r>
                      <a:endParaRPr lang="zh-CN" altLang="en-US" sz="3200" b="1">
                        <a:solidFill>
                          <a:schemeClr val="accent2"/>
                        </a:solidFill>
                        <a:latin typeface="Arial" panose="020B0604020202020204" pitchFamily="34" charset="0"/>
                      </a:endParaRP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d2</a:t>
                      </a:r>
                      <a:endParaRPr lang="zh-CN" altLang="en-US" sz="3200" b="1">
                        <a:solidFill>
                          <a:schemeClr val="accent2"/>
                        </a:solidFill>
                        <a:latin typeface="Arial" panose="020B0604020202020204" pitchFamily="34" charset="0"/>
                      </a:endParaRP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2"/>
                  </a:ext>
                </a:extLst>
              </a:tr>
              <a:tr h="614363">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a2</a:t>
                      </a:r>
                      <a:endParaRPr lang="zh-CN" altLang="en-US" sz="3200" b="1">
                        <a:solidFill>
                          <a:schemeClr val="accent2"/>
                        </a:solidFill>
                        <a:latin typeface="Arial" panose="020B0604020202020204" pitchFamily="34" charset="0"/>
                      </a:endParaRP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c1</a:t>
                      </a:r>
                      <a:endParaRPr lang="zh-CN" altLang="en-US" sz="3200" b="1">
                        <a:solidFill>
                          <a:schemeClr val="accent2"/>
                        </a:solidFill>
                        <a:latin typeface="Arial" panose="020B0604020202020204" pitchFamily="34" charset="0"/>
                      </a:endParaRP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d3</a:t>
                      </a:r>
                      <a:endParaRPr lang="zh-CN" altLang="en-US" sz="3200" b="1">
                        <a:solidFill>
                          <a:schemeClr val="accent2"/>
                        </a:solidFill>
                        <a:latin typeface="Arial" panose="020B0604020202020204" pitchFamily="34" charset="0"/>
                      </a:endParaRP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3"/>
                  </a:ext>
                </a:extLst>
              </a:tr>
              <a:tr h="62230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a2</a:t>
                      </a:r>
                      <a:endParaRPr lang="zh-CN" altLang="en-US" sz="3200" b="1">
                        <a:solidFill>
                          <a:schemeClr val="accent2"/>
                        </a:solidFill>
                        <a:latin typeface="Arial" panose="020B0604020202020204" pitchFamily="34" charset="0"/>
                      </a:endParaRP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c3</a:t>
                      </a:r>
                      <a:endParaRPr lang="zh-CN" altLang="en-US" sz="3200" b="1">
                        <a:solidFill>
                          <a:schemeClr val="accent2"/>
                        </a:solidFill>
                        <a:latin typeface="Arial" panose="020B0604020202020204" pitchFamily="34" charset="0"/>
                      </a:endParaRP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d4</a:t>
                      </a:r>
                      <a:endParaRPr lang="zh-CN" altLang="en-US" sz="3200" b="1">
                        <a:solidFill>
                          <a:schemeClr val="accent2"/>
                        </a:solidFill>
                        <a:latin typeface="Arial" panose="020B0604020202020204" pitchFamily="34" charset="0"/>
                      </a:endParaRP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4"/>
                  </a:ext>
                </a:extLst>
              </a:tr>
            </a:tbl>
          </a:graphicData>
        </a:graphic>
      </p:graphicFrame>
      <p:graphicFrame>
        <p:nvGraphicFramePr>
          <p:cNvPr id="3195" name="表格 3194"/>
          <p:cNvGraphicFramePr/>
          <p:nvPr/>
        </p:nvGraphicFramePr>
        <p:xfrm>
          <a:off x="6132513" y="3748088"/>
          <a:ext cx="2903538" cy="3065463"/>
        </p:xfrm>
        <a:graphic>
          <a:graphicData uri="http://schemas.openxmlformats.org/drawingml/2006/table">
            <a:tbl>
              <a:tblPr/>
              <a:tblGrid>
                <a:gridCol w="1906588">
                  <a:extLst>
                    <a:ext uri="{9D8B030D-6E8A-4147-A177-3AD203B41FA5}">
                      <a16:colId xmlns:a16="http://schemas.microsoft.com/office/drawing/2014/main" val="20000"/>
                    </a:ext>
                  </a:extLst>
                </a:gridCol>
                <a:gridCol w="996950">
                  <a:extLst>
                    <a:ext uri="{9D8B030D-6E8A-4147-A177-3AD203B41FA5}">
                      <a16:colId xmlns:a16="http://schemas.microsoft.com/office/drawing/2014/main" val="20001"/>
                    </a:ext>
                  </a:extLst>
                </a:gridCol>
              </a:tblGrid>
              <a:tr h="582613">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rgbClr val="FF0000"/>
                          </a:solidFill>
                          <a:latin typeface="Arial" panose="020B0604020202020204" pitchFamily="34" charset="0"/>
                        </a:rPr>
                        <a:t>AC</a:t>
                      </a:r>
                      <a:endParaRPr lang="zh-CN" altLang="en-US" sz="3200" b="1">
                        <a:solidFill>
                          <a:srgbClr val="FF0000"/>
                        </a:solidFill>
                        <a:latin typeface="Arial" panose="020B0604020202020204" pitchFamily="34" charset="0"/>
                      </a:endParaRP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0C0C0"/>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rgbClr val="FF0000"/>
                          </a:solidFill>
                          <a:latin typeface="Arial" panose="020B0604020202020204" pitchFamily="34" charset="0"/>
                        </a:rPr>
                        <a:t>D</a:t>
                      </a:r>
                      <a:endParaRPr lang="zh-CN" altLang="en-US" sz="3200" b="1">
                        <a:solidFill>
                          <a:srgbClr val="FF0000"/>
                        </a:solidFill>
                        <a:latin typeface="Arial" panose="020B0604020202020204" pitchFamily="34" charset="0"/>
                      </a:endParaRP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0"/>
                  </a:ext>
                </a:extLst>
              </a:tr>
              <a:tr h="62230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dirty="0">
                          <a:solidFill>
                            <a:schemeClr val="accent2"/>
                          </a:solidFill>
                          <a:latin typeface="Arial" panose="020B0604020202020204" pitchFamily="34" charset="0"/>
                        </a:rPr>
                        <a:t>(a1,c1)</a:t>
                      </a:r>
                      <a:endParaRPr lang="zh-CN" altLang="en-US" sz="3200" b="1">
                        <a:solidFill>
                          <a:schemeClr val="accent2"/>
                        </a:solidFill>
                        <a:latin typeface="Arial" panose="020B0604020202020204" pitchFamily="34" charset="0"/>
                      </a:endParaRP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d1</a:t>
                      </a:r>
                      <a:endParaRPr lang="zh-CN" altLang="en-US" sz="3200" b="1">
                        <a:solidFill>
                          <a:schemeClr val="accent2"/>
                        </a:solidFill>
                        <a:latin typeface="Arial" panose="020B0604020202020204" pitchFamily="34" charset="0"/>
                      </a:endParaRP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r h="623887">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(a1,c2)</a:t>
                      </a:r>
                      <a:endParaRPr lang="zh-CN" altLang="en-US" sz="3200" b="1">
                        <a:solidFill>
                          <a:schemeClr val="accent2"/>
                        </a:solidFill>
                        <a:latin typeface="Arial" panose="020B0604020202020204" pitchFamily="34" charset="0"/>
                      </a:endParaRP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d2</a:t>
                      </a:r>
                      <a:endParaRPr lang="zh-CN" altLang="en-US" sz="3200" b="1">
                        <a:solidFill>
                          <a:schemeClr val="accent2"/>
                        </a:solidFill>
                        <a:latin typeface="Arial" panose="020B0604020202020204" pitchFamily="34" charset="0"/>
                      </a:endParaRP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2"/>
                  </a:ext>
                </a:extLst>
              </a:tr>
              <a:tr h="614363">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(a2,c1)</a:t>
                      </a:r>
                      <a:endParaRPr lang="zh-CN" altLang="en-US" sz="3200" b="1">
                        <a:solidFill>
                          <a:schemeClr val="accent2"/>
                        </a:solidFill>
                        <a:latin typeface="Arial" panose="020B0604020202020204" pitchFamily="34" charset="0"/>
                      </a:endParaRP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d3</a:t>
                      </a:r>
                      <a:endParaRPr lang="zh-CN" altLang="en-US" sz="3200" b="1">
                        <a:solidFill>
                          <a:schemeClr val="accent2"/>
                        </a:solidFill>
                        <a:latin typeface="Arial" panose="020B0604020202020204" pitchFamily="34" charset="0"/>
                      </a:endParaRP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3"/>
                  </a:ext>
                </a:extLst>
              </a:tr>
              <a:tr h="622300">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(a2,c3)</a:t>
                      </a:r>
                      <a:endParaRPr lang="zh-CN" altLang="en-US" sz="3200" b="1">
                        <a:solidFill>
                          <a:schemeClr val="accent2"/>
                        </a:solidFill>
                        <a:latin typeface="Arial" panose="020B0604020202020204" pitchFamily="34" charset="0"/>
                      </a:endParaRP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solidFill>
                  </a:tcPr>
                </a:tc>
                <a:tc>
                  <a:txBody>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lgn="ctr">
                        <a:buNone/>
                      </a:pPr>
                      <a:r>
                        <a:rPr lang="en-US" altLang="zh-CN" sz="3200" b="1">
                          <a:solidFill>
                            <a:schemeClr val="accent2"/>
                          </a:solidFill>
                          <a:latin typeface="Arial" panose="020B0604020202020204" pitchFamily="34" charset="0"/>
                        </a:rPr>
                        <a:t>d4</a:t>
                      </a:r>
                      <a:endParaRPr lang="zh-CN" altLang="en-US" sz="3200" b="1">
                        <a:solidFill>
                          <a:schemeClr val="accent2"/>
                        </a:solidFill>
                        <a:latin typeface="Arial" panose="020B0604020202020204" pitchFamily="34" charset="0"/>
                      </a:endParaRP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4"/>
                  </a:ext>
                </a:extLst>
              </a:tr>
            </a:tbl>
          </a:graphicData>
        </a:graphic>
      </p:graphicFrame>
      <p:sp>
        <p:nvSpPr>
          <p:cNvPr id="3196" name="右箭头 3195"/>
          <p:cNvSpPr/>
          <p:nvPr/>
        </p:nvSpPr>
        <p:spPr>
          <a:xfrm>
            <a:off x="4208145" y="406400"/>
            <a:ext cx="1802765" cy="1951561"/>
          </a:xfrm>
          <a:prstGeom prst="rightArrow">
            <a:avLst>
              <a:gd name="adj1" fmla="val 50000"/>
              <a:gd name="adj2" fmla="val 80556"/>
            </a:avLst>
          </a:prstGeom>
          <a:solidFill>
            <a:srgbClr val="CCFFFF"/>
          </a:solidFill>
          <a:ln w="9525" cap="flat" cmpd="sng">
            <a:solidFill>
              <a:schemeClr val="tx1"/>
            </a:solidFill>
            <a:prstDash val="solid"/>
            <a:miter/>
            <a:headEnd type="none" w="med" len="med"/>
            <a:tailEnd type="none" w="med" len="med"/>
          </a:ln>
        </p:spPr>
        <p:txBody>
          <a:bodyPr wrap="square" anchor="t">
            <a:spAutoFit/>
          </a:bodyPr>
          <a:lstStyle/>
          <a:p>
            <a:pPr algn="ctr"/>
            <a:r>
              <a:rPr lang="zh-CN" altLang="en-US" sz="2000" b="1">
                <a:latin typeface="Arial" panose="020B0604020202020204" pitchFamily="34" charset="0"/>
                <a:ea typeface="宋体" panose="02010600030101010101" pitchFamily="2" charset="-122"/>
              </a:rPr>
              <a:t>忽略不相关的属性</a:t>
            </a:r>
          </a:p>
        </p:txBody>
      </p:sp>
      <p:sp>
        <p:nvSpPr>
          <p:cNvPr id="3197" name="左弧形箭头 3196"/>
          <p:cNvSpPr/>
          <p:nvPr/>
        </p:nvSpPr>
        <p:spPr>
          <a:xfrm>
            <a:off x="5499735" y="2349500"/>
            <a:ext cx="296545" cy="3240405"/>
          </a:xfrm>
          <a:prstGeom prst="curvedRightArrow">
            <a:avLst>
              <a:gd name="adj1" fmla="val 150073"/>
              <a:gd name="adj2" fmla="val 300147"/>
              <a:gd name="adj3" fmla="val 33328"/>
            </a:avLst>
          </a:prstGeom>
          <a:solidFill>
            <a:schemeClr val="accent1">
              <a:lumMod val="20000"/>
              <a:lumOff val="80000"/>
            </a:schemeClr>
          </a:solidFill>
          <a:ln w="9525" cap="flat" cmpd="sng">
            <a:solidFill>
              <a:schemeClr val="tx1"/>
            </a:solidFill>
            <a:prstDash val="solid"/>
            <a:miter/>
            <a:headEnd type="none" w="med" len="med"/>
            <a:tailEnd type="none" w="med" len="med"/>
          </a:ln>
        </p:spPr>
        <p:txBody>
          <a:bodyPr anchor="t"/>
          <a:lstStyle/>
          <a:p>
            <a:endParaRPr lang="zh-CN" altLang="en-US">
              <a:latin typeface="Arial" panose="020B0604020202020204" pitchFamily="34" charset="0"/>
              <a:ea typeface="宋体" panose="02010600030101010101" pitchFamily="2" charset="-122"/>
            </a:endParaRPr>
          </a:p>
        </p:txBody>
      </p:sp>
      <p:sp>
        <p:nvSpPr>
          <p:cNvPr id="2" name="文本框 1"/>
          <p:cNvSpPr txBox="1"/>
          <p:nvPr/>
        </p:nvSpPr>
        <p:spPr>
          <a:xfrm>
            <a:off x="2613025" y="3630613"/>
            <a:ext cx="2860675" cy="1189038"/>
          </a:xfrm>
          <a:prstGeom prst="rect">
            <a:avLst/>
          </a:prstGeom>
          <a:noFill/>
        </p:spPr>
        <p:txBody>
          <a:bodyPr wrap="square" rtlCol="0">
            <a:spAutoFit/>
          </a:bodyPr>
          <a:lstStyle/>
          <a:p>
            <a:r>
              <a:rPr lang="zh-CN" altLang="en-US" sz="2400" b="1" noProof="1">
                <a:solidFill>
                  <a:schemeClr val="accent6"/>
                </a:solidFill>
                <a:latin typeface="Arial" panose="020B0604020202020204" pitchFamily="34" charset="0"/>
                <a:ea typeface="宋体" panose="02010600030101010101" pitchFamily="2" charset="-122"/>
                <a:cs typeface="+mn-ea"/>
              </a:rPr>
              <a:t>将</a:t>
            </a:r>
            <a:r>
              <a:rPr lang="en-US" altLang="zh-CN" sz="2400" b="1" noProof="1">
                <a:solidFill>
                  <a:schemeClr val="accent6"/>
                </a:solidFill>
                <a:latin typeface="Arial" panose="020B0604020202020204" pitchFamily="34" charset="0"/>
                <a:ea typeface="宋体" panose="02010600030101010101" pitchFamily="2" charset="-122"/>
                <a:cs typeface="+mn-ea"/>
              </a:rPr>
              <a:t>A</a:t>
            </a:r>
            <a:r>
              <a:rPr lang="zh-CN" altLang="en-US" sz="2400" b="1" noProof="1">
                <a:solidFill>
                  <a:schemeClr val="accent6"/>
                </a:solidFill>
                <a:latin typeface="Arial" panose="020B0604020202020204" pitchFamily="34" charset="0"/>
                <a:ea typeface="宋体" panose="02010600030101010101" pitchFamily="2" charset="-122"/>
                <a:cs typeface="+mn-ea"/>
              </a:rPr>
              <a:t>和</a:t>
            </a:r>
            <a:r>
              <a:rPr lang="en-US" altLang="zh-CN" sz="2400" b="1" noProof="1">
                <a:solidFill>
                  <a:schemeClr val="accent6"/>
                </a:solidFill>
                <a:latin typeface="Arial" panose="020B0604020202020204" pitchFamily="34" charset="0"/>
                <a:ea typeface="宋体" panose="02010600030101010101" pitchFamily="2" charset="-122"/>
                <a:cs typeface="+mn-ea"/>
              </a:rPr>
              <a:t>C</a:t>
            </a:r>
            <a:r>
              <a:rPr lang="zh-CN" altLang="en-US" sz="2400" b="1" noProof="1">
                <a:solidFill>
                  <a:schemeClr val="accent6"/>
                </a:solidFill>
                <a:latin typeface="Arial" panose="020B0604020202020204" pitchFamily="34" charset="0"/>
                <a:ea typeface="宋体" panose="02010600030101010101" pitchFamily="2" charset="-122"/>
                <a:cs typeface="+mn-ea"/>
              </a:rPr>
              <a:t>的值整合成一个二元组，以方便函数依赖的检查</a:t>
            </a:r>
            <a:endParaRPr lang="zh-CN" altLang="en-US" sz="2400" b="1" noProof="1">
              <a:solidFill>
                <a:schemeClr val="accent6"/>
              </a:solidFill>
            </a:endParaRPr>
          </a:p>
        </p:txBody>
      </p:sp>
      <p:sp>
        <p:nvSpPr>
          <p:cNvPr id="3" name="左箭头 2"/>
          <p:cNvSpPr/>
          <p:nvPr/>
        </p:nvSpPr>
        <p:spPr>
          <a:xfrm>
            <a:off x="2844800" y="5445760"/>
            <a:ext cx="3186430" cy="1007745"/>
          </a:xfrm>
          <a:prstGeom prst="leftArrow">
            <a:avLst>
              <a:gd name="adj1" fmla="val 67989"/>
              <a:gd name="adj2" fmla="val 50000"/>
            </a:avLst>
          </a:prstGeom>
          <a:solidFill>
            <a:srgbClr val="CC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solidFill>
                  <a:schemeClr val="tx1"/>
                </a:solidFill>
              </a:rPr>
              <a:t>不存在不符合</a:t>
            </a:r>
            <a:r>
              <a:rPr lang="en-US" altLang="zh-CN" sz="2000" b="1">
                <a:solidFill>
                  <a:schemeClr val="tx1"/>
                </a:solidFill>
              </a:rPr>
              <a:t>AC</a:t>
            </a:r>
            <a:r>
              <a:rPr lang="en-US" altLang="zh-CN" sz="2000" b="1">
                <a:solidFill>
                  <a:schemeClr val="tx1"/>
                </a:solidFill>
                <a:latin typeface="宋体" panose="02010600030101010101" pitchFamily="2" charset="-122"/>
                <a:ea typeface="宋体" panose="02010600030101010101" pitchFamily="2" charset="-122"/>
              </a:rPr>
              <a:t>→D</a:t>
            </a:r>
            <a:r>
              <a:rPr lang="zh-CN" altLang="en-US" sz="2000" b="1">
                <a:solidFill>
                  <a:schemeClr val="tx1"/>
                </a:solidFill>
                <a:latin typeface="宋体" panose="02010600030101010101" pitchFamily="2" charset="-122"/>
                <a:ea typeface="宋体" panose="02010600030101010101" pitchFamily="2" charset="-122"/>
              </a:rPr>
              <a:t>的情况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nodeType="clickEffect">
                                  <p:stCondLst>
                                    <p:cond delay="0"/>
                                  </p:stCondLst>
                                  <p:childTnLst>
                                    <p:set>
                                      <p:cBhvr>
                                        <p:cTn id="6" dur="1" fill="hold">
                                          <p:stCondLst>
                                            <p:cond delay="0"/>
                                          </p:stCondLst>
                                        </p:cTn>
                                        <p:tgtEl>
                                          <p:spTgt spid="3196"/>
                                        </p:tgtEl>
                                        <p:attrNameLst>
                                          <p:attrName>style.visibility</p:attrName>
                                        </p:attrNameLst>
                                      </p:cBhvr>
                                      <p:to>
                                        <p:strVal val="visible"/>
                                      </p:to>
                                    </p:set>
                                    <p:anim calcmode="lin" valueType="num">
                                      <p:cBhvr>
                                        <p:cTn id="7" dur="500" fill="hold"/>
                                        <p:tgtEl>
                                          <p:spTgt spid="3196"/>
                                        </p:tgtEl>
                                        <p:attrNameLst>
                                          <p:attrName>ppt_x</p:attrName>
                                        </p:attrNameLst>
                                      </p:cBhvr>
                                      <p:tavLst>
                                        <p:tav tm="0">
                                          <p:val>
                                            <p:strVal val="#ppt_x-#ppt_w/2"/>
                                          </p:val>
                                        </p:tav>
                                        <p:tav tm="100000">
                                          <p:val>
                                            <p:strVal val="#ppt_x"/>
                                          </p:val>
                                        </p:tav>
                                      </p:tavLst>
                                    </p:anim>
                                    <p:anim calcmode="lin" valueType="num">
                                      <p:cBhvr>
                                        <p:cTn id="8" dur="500" fill="hold"/>
                                        <p:tgtEl>
                                          <p:spTgt spid="3196"/>
                                        </p:tgtEl>
                                        <p:attrNameLst>
                                          <p:attrName>ppt_y</p:attrName>
                                        </p:attrNameLst>
                                      </p:cBhvr>
                                      <p:tavLst>
                                        <p:tav tm="0">
                                          <p:val>
                                            <p:strVal val="#ppt_y"/>
                                          </p:val>
                                        </p:tav>
                                        <p:tav tm="100000">
                                          <p:val>
                                            <p:strVal val="#ppt_y"/>
                                          </p:val>
                                        </p:tav>
                                      </p:tavLst>
                                    </p:anim>
                                    <p:anim calcmode="lin" valueType="num">
                                      <p:cBhvr>
                                        <p:cTn id="9" dur="500" fill="hold"/>
                                        <p:tgtEl>
                                          <p:spTgt spid="3196"/>
                                        </p:tgtEl>
                                        <p:attrNameLst>
                                          <p:attrName>ppt_w</p:attrName>
                                        </p:attrNameLst>
                                      </p:cBhvr>
                                      <p:tavLst>
                                        <p:tav tm="0">
                                          <p:val>
                                            <p:fltVal val="0"/>
                                          </p:val>
                                        </p:tav>
                                        <p:tav tm="100000">
                                          <p:val>
                                            <p:strVal val="#ppt_w"/>
                                          </p:val>
                                        </p:tav>
                                      </p:tavLst>
                                    </p:anim>
                                    <p:anim calcmode="lin" valueType="num">
                                      <p:cBhvr>
                                        <p:cTn id="10" dur="500" fill="hold"/>
                                        <p:tgtEl>
                                          <p:spTgt spid="3196"/>
                                        </p:tgtEl>
                                        <p:attrNameLst>
                                          <p:attrName>ppt_h</p:attrName>
                                        </p:attrNameLst>
                                      </p:cBhvr>
                                      <p:tavLst>
                                        <p:tav tm="0">
                                          <p:val>
                                            <p:strVal val="#ppt_h"/>
                                          </p:val>
                                        </p:tav>
                                        <p:tav tm="100000">
                                          <p:val>
                                            <p:strVal val="#ppt_h"/>
                                          </p:val>
                                        </p:tav>
                                      </p:tavLst>
                                    </p:anim>
                                  </p:childTnLst>
                                </p:cTn>
                              </p:par>
                              <p:par>
                                <p:cTn id="11" presetID="3" presetClass="entr" presetSubtype="10" fill="hold" nodeType="withEffect">
                                  <p:stCondLst>
                                    <p:cond delay="0"/>
                                  </p:stCondLst>
                                  <p:childTnLst>
                                    <p:set>
                                      <p:cBhvr>
                                        <p:cTn id="12" dur="1" fill="hold">
                                          <p:stCondLst>
                                            <p:cond delay="0"/>
                                          </p:stCondLst>
                                        </p:cTn>
                                        <p:tgtEl>
                                          <p:spTgt spid="3152"/>
                                        </p:tgtEl>
                                        <p:attrNameLst>
                                          <p:attrName>style.visibility</p:attrName>
                                        </p:attrNameLst>
                                      </p:cBhvr>
                                      <p:to>
                                        <p:strVal val="visible"/>
                                      </p:to>
                                    </p:set>
                                    <p:animEffect transition="in" filter="blinds(horizontal)">
                                      <p:cBhvr>
                                        <p:cTn id="13" dur="500"/>
                                        <p:tgtEl>
                                          <p:spTgt spid="3152"/>
                                        </p:tgtEl>
                                      </p:cBhvr>
                                    </p:animEffect>
                                  </p:childTnLst>
                                </p:cTn>
                              </p:par>
                            </p:childTnLst>
                          </p:cTn>
                        </p:par>
                      </p:childTnLst>
                    </p:cTn>
                  </p:par>
                  <p:par>
                    <p:cTn id="14" fill="hold">
                      <p:stCondLst>
                        <p:cond delay="indefinite"/>
                      </p:stCondLst>
                      <p:childTnLst>
                        <p:par>
                          <p:cTn id="15" fill="hold">
                            <p:stCondLst>
                              <p:cond delay="0"/>
                            </p:stCondLst>
                            <p:childTnLst>
                              <p:par>
                                <p:cTn id="16" presetID="17" presetClass="entr" presetSubtype="1" fill="hold" nodeType="clickEffect">
                                  <p:stCondLst>
                                    <p:cond delay="0"/>
                                  </p:stCondLst>
                                  <p:childTnLst>
                                    <p:set>
                                      <p:cBhvr>
                                        <p:cTn id="17" dur="1" fill="hold">
                                          <p:stCondLst>
                                            <p:cond delay="0"/>
                                          </p:stCondLst>
                                        </p:cTn>
                                        <p:tgtEl>
                                          <p:spTgt spid="3197"/>
                                        </p:tgtEl>
                                        <p:attrNameLst>
                                          <p:attrName>style.visibility</p:attrName>
                                        </p:attrNameLst>
                                      </p:cBhvr>
                                      <p:to>
                                        <p:strVal val="visible"/>
                                      </p:to>
                                    </p:set>
                                    <p:anim calcmode="lin" valueType="num">
                                      <p:cBhvr>
                                        <p:cTn id="18" dur="500" fill="hold"/>
                                        <p:tgtEl>
                                          <p:spTgt spid="3197"/>
                                        </p:tgtEl>
                                        <p:attrNameLst>
                                          <p:attrName>ppt_x</p:attrName>
                                        </p:attrNameLst>
                                      </p:cBhvr>
                                      <p:tavLst>
                                        <p:tav tm="0">
                                          <p:val>
                                            <p:strVal val="#ppt_x"/>
                                          </p:val>
                                        </p:tav>
                                        <p:tav tm="100000">
                                          <p:val>
                                            <p:strVal val="#ppt_x"/>
                                          </p:val>
                                        </p:tav>
                                      </p:tavLst>
                                    </p:anim>
                                    <p:anim calcmode="lin" valueType="num">
                                      <p:cBhvr>
                                        <p:cTn id="19" dur="500" fill="hold"/>
                                        <p:tgtEl>
                                          <p:spTgt spid="3197"/>
                                        </p:tgtEl>
                                        <p:attrNameLst>
                                          <p:attrName>ppt_y</p:attrName>
                                        </p:attrNameLst>
                                      </p:cBhvr>
                                      <p:tavLst>
                                        <p:tav tm="0">
                                          <p:val>
                                            <p:strVal val="#ppt_y-#ppt_h/2"/>
                                          </p:val>
                                        </p:tav>
                                        <p:tav tm="100000">
                                          <p:val>
                                            <p:strVal val="#ppt_y"/>
                                          </p:val>
                                        </p:tav>
                                      </p:tavLst>
                                    </p:anim>
                                    <p:anim calcmode="lin" valueType="num">
                                      <p:cBhvr>
                                        <p:cTn id="20" dur="500" fill="hold"/>
                                        <p:tgtEl>
                                          <p:spTgt spid="3197"/>
                                        </p:tgtEl>
                                        <p:attrNameLst>
                                          <p:attrName>ppt_w</p:attrName>
                                        </p:attrNameLst>
                                      </p:cBhvr>
                                      <p:tavLst>
                                        <p:tav tm="0">
                                          <p:val>
                                            <p:strVal val="#ppt_w"/>
                                          </p:val>
                                        </p:tav>
                                        <p:tav tm="100000">
                                          <p:val>
                                            <p:strVal val="#ppt_w"/>
                                          </p:val>
                                        </p:tav>
                                      </p:tavLst>
                                    </p:anim>
                                    <p:anim calcmode="lin" valueType="num">
                                      <p:cBhvr>
                                        <p:cTn id="21" dur="500" fill="hold"/>
                                        <p:tgtEl>
                                          <p:spTgt spid="3197"/>
                                        </p:tgtEl>
                                        <p:attrNameLst>
                                          <p:attrName>ppt_h</p:attrName>
                                        </p:attrNameLst>
                                      </p:cBhvr>
                                      <p:tavLst>
                                        <p:tav tm="0">
                                          <p:val>
                                            <p:fltVal val="0"/>
                                          </p:val>
                                        </p:tav>
                                        <p:tav tm="100000">
                                          <p:val>
                                            <p:strVal val="#ppt_h"/>
                                          </p:val>
                                        </p:tav>
                                      </p:tavLst>
                                    </p:anim>
                                  </p:childTnLst>
                                </p:cTn>
                              </p:par>
                            </p:childTnLst>
                          </p:cTn>
                        </p:par>
                        <p:par>
                          <p:cTn id="22" fill="hold">
                            <p:stCondLst>
                              <p:cond delay="500"/>
                            </p:stCondLst>
                            <p:childTnLst>
                              <p:par>
                                <p:cTn id="23" presetID="3" presetClass="entr" presetSubtype="10" fill="hold" grpId="0" nodeType="after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blinds(horizontal)">
                                      <p:cBhvr>
                                        <p:cTn id="25" dur="500"/>
                                        <p:tgtEl>
                                          <p:spTgt spid="2"/>
                                        </p:tgtEl>
                                      </p:cBhvr>
                                    </p:animEffect>
                                  </p:childTnLst>
                                </p:cTn>
                              </p:par>
                              <p:par>
                                <p:cTn id="26" presetID="3" presetClass="entr" presetSubtype="10" fill="hold" nodeType="withEffect">
                                  <p:stCondLst>
                                    <p:cond delay="0"/>
                                  </p:stCondLst>
                                  <p:childTnLst>
                                    <p:set>
                                      <p:cBhvr>
                                        <p:cTn id="27" dur="1" fill="hold">
                                          <p:stCondLst>
                                            <p:cond delay="0"/>
                                          </p:stCondLst>
                                        </p:cTn>
                                        <p:tgtEl>
                                          <p:spTgt spid="3195"/>
                                        </p:tgtEl>
                                        <p:attrNameLst>
                                          <p:attrName>style.visibility</p:attrName>
                                        </p:attrNameLst>
                                      </p:cBhvr>
                                      <p:to>
                                        <p:strVal val="visible"/>
                                      </p:to>
                                    </p:set>
                                    <p:animEffect transition="in" filter="blinds(horizontal)">
                                      <p:cBhvr>
                                        <p:cTn id="28" dur="500"/>
                                        <p:tgtEl>
                                          <p:spTgt spid="3195"/>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blinds(horizontal)">
                                      <p:cBhvr>
                                        <p:cTn id="33" dur="500"/>
                                        <p:tgtEl>
                                          <p:spTgt spid="3"/>
                                        </p:tgtEl>
                                      </p:cBhvr>
                                    </p:animEffect>
                                  </p:childTnLst>
                                </p:cTn>
                              </p:par>
                            </p:childTnLst>
                          </p:cTn>
                        </p:par>
                        <p:par>
                          <p:cTn id="34" fill="hold">
                            <p:stCondLst>
                              <p:cond delay="500"/>
                            </p:stCondLst>
                            <p:childTnLst>
                              <p:par>
                                <p:cTn id="35" presetID="1" presetClass="entr" presetSubtype="0" fill="hold" grpId="0" nodeType="afterEffect">
                                  <p:stCondLst>
                                    <p:cond delay="0"/>
                                  </p:stCondLst>
                                  <p:childTnLst>
                                    <p:set>
                                      <p:cBhvr>
                                        <p:cTn id="36" dur="1" fill="hold">
                                          <p:stCondLst>
                                            <p:cond delay="499"/>
                                          </p:stCondLst>
                                        </p:cTn>
                                        <p:tgtEl>
                                          <p:spTgt spid="31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3" grpId="0" bldLvl="0" animBg="1"/>
      <p:bldP spid="2" grpId="0"/>
      <p:bldP spid="3"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日期占位符 1"/>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20834" name="页脚占位符 2"/>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20835" name="灯片编号占位符 3"/>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47</a:t>
            </a:fld>
            <a:endParaRPr lang="zh-CN" altLang="en-US" sz="1200" b="1" i="1" dirty="0">
              <a:latin typeface="Times New Roman" panose="02020603050405020304" pitchFamily="2" charset="0"/>
              <a:ea typeface="宋体" panose="02010600030101010101" pitchFamily="2" charset="-122"/>
            </a:endParaRPr>
          </a:p>
        </p:txBody>
      </p:sp>
      <p:sp>
        <p:nvSpPr>
          <p:cNvPr id="120836" name="Rectangle 2"/>
          <p:cNvSpPr>
            <a:spLocks noGrp="1"/>
          </p:cNvSpPr>
          <p:nvPr>
            <p:ph type="title"/>
          </p:nvPr>
        </p:nvSpPr>
        <p:spPr/>
        <p:txBody>
          <a:bodyPr wrap="square" tIns="0" bIns="0" anchor="ctr"/>
          <a:lstStyle/>
          <a:p>
            <a:pPr lvl="0" eaLnBrk="1" hangingPunct="1"/>
            <a:r>
              <a:rPr lang="zh-CN" altLang="en-US" dirty="0">
                <a:ea typeface="宋体" panose="02010600030101010101" pitchFamily="2" charset="-122"/>
              </a:rPr>
              <a:t>6.6 </a:t>
            </a:r>
            <a:r>
              <a:rPr lang="en-US" altLang="x-none" dirty="0">
                <a:ea typeface="宋体" panose="02010600030101010101" pitchFamily="2" charset="-122"/>
              </a:rPr>
              <a:t>Functional Dependencies</a:t>
            </a:r>
            <a:endParaRPr lang="zh-CN" altLang="en-US" dirty="0">
              <a:ea typeface="宋体" panose="02010600030101010101" pitchFamily="2" charset="-122"/>
            </a:endParaRPr>
          </a:p>
        </p:txBody>
      </p:sp>
      <p:sp>
        <p:nvSpPr>
          <p:cNvPr id="120837" name="Rectangle 3"/>
          <p:cNvSpPr>
            <a:spLocks noGrp="1"/>
          </p:cNvSpPr>
          <p:nvPr>
            <p:ph type="body"/>
          </p:nvPr>
        </p:nvSpPr>
        <p:spPr>
          <a:xfrm>
            <a:off x="457200" y="4005263"/>
            <a:ext cx="8229600" cy="617537"/>
          </a:xfrm>
        </p:spPr>
        <p:txBody>
          <a:bodyPr wrap="square" anchor="t"/>
          <a:lstStyle/>
          <a:p>
            <a:pPr lvl="0" eaLnBrk="1" hangingPunct="1"/>
            <a:r>
              <a:rPr lang="zh-CN" altLang="en-US">
                <a:ea typeface="宋体" panose="02010600030101010101" pitchFamily="2" charset="-122"/>
              </a:rPr>
              <a:t>该关系上可能存在的函数依赖：</a:t>
            </a:r>
          </a:p>
        </p:txBody>
      </p:sp>
      <p:graphicFrame>
        <p:nvGraphicFramePr>
          <p:cNvPr id="120839" name="表格 120838"/>
          <p:cNvGraphicFramePr/>
          <p:nvPr/>
        </p:nvGraphicFramePr>
        <p:xfrm>
          <a:off x="1828800" y="838200"/>
          <a:ext cx="5257800" cy="2971800"/>
        </p:xfrm>
        <a:graphic>
          <a:graphicData uri="http://schemas.openxmlformats.org/drawingml/2006/table">
            <a:tbl>
              <a:tblPr/>
              <a:tblGrid>
                <a:gridCol w="1230313">
                  <a:extLst>
                    <a:ext uri="{9D8B030D-6E8A-4147-A177-3AD203B41FA5}">
                      <a16:colId xmlns:a16="http://schemas.microsoft.com/office/drawing/2014/main" val="20000"/>
                    </a:ext>
                  </a:extLst>
                </a:gridCol>
                <a:gridCol w="1343025">
                  <a:extLst>
                    <a:ext uri="{9D8B030D-6E8A-4147-A177-3AD203B41FA5}">
                      <a16:colId xmlns:a16="http://schemas.microsoft.com/office/drawing/2014/main" val="20001"/>
                    </a:ext>
                  </a:extLst>
                </a:gridCol>
                <a:gridCol w="1341437">
                  <a:extLst>
                    <a:ext uri="{9D8B030D-6E8A-4147-A177-3AD203B41FA5}">
                      <a16:colId xmlns:a16="http://schemas.microsoft.com/office/drawing/2014/main" val="20002"/>
                    </a:ext>
                  </a:extLst>
                </a:gridCol>
                <a:gridCol w="1343025">
                  <a:extLst>
                    <a:ext uri="{9D8B030D-6E8A-4147-A177-3AD203B41FA5}">
                      <a16:colId xmlns:a16="http://schemas.microsoft.com/office/drawing/2014/main" val="20003"/>
                    </a:ext>
                  </a:extLst>
                </a:gridCol>
              </a:tblGrid>
              <a:tr h="5651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D</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6032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1"/>
                  </a:ext>
                </a:extLst>
              </a:tr>
              <a:tr h="604838">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2"/>
                  </a:ext>
                </a:extLst>
              </a:tr>
              <a:tr h="595312">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3"/>
                  </a:ext>
                </a:extLst>
              </a:tr>
              <a:tr h="6032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d4</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4"/>
                  </a:ext>
                </a:extLst>
              </a:tr>
            </a:tbl>
          </a:graphicData>
        </a:graphic>
      </p:graphicFrame>
      <p:sp>
        <p:nvSpPr>
          <p:cNvPr id="120870" name="Rectangle 36"/>
          <p:cNvSpPr/>
          <p:nvPr/>
        </p:nvSpPr>
        <p:spPr>
          <a:xfrm>
            <a:off x="1219200" y="4572000"/>
            <a:ext cx="6934200" cy="1676400"/>
          </a:xfrm>
          <a:prstGeom prst="rect">
            <a:avLst/>
          </a:prstGeom>
          <a:noFill/>
          <a:ln w="9525">
            <a:noFill/>
          </a:ln>
        </p:spPr>
        <p:txBody>
          <a:bodyPr anchor="t"/>
          <a:lstStyle/>
          <a:p>
            <a:pPr marL="342900" lvl="0" indent="-342900">
              <a:lnSpc>
                <a:spcPct val="110000"/>
              </a:lnSpc>
              <a:spcBef>
                <a:spcPct val="20000"/>
              </a:spcBef>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 → B 		C → B</a:t>
            </a:r>
          </a:p>
          <a:p>
            <a:pPr marL="342900" lvl="0" indent="-342900">
              <a:lnSpc>
                <a:spcPct val="110000"/>
              </a:lnSpc>
              <a:spcBef>
                <a:spcPct val="20000"/>
              </a:spcBef>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D → A B C</a:t>
            </a:r>
          </a:p>
          <a:p>
            <a:pPr marL="342900" lvl="0" indent="-342900">
              <a:lnSpc>
                <a:spcPct val="110000"/>
              </a:lnSpc>
              <a:spcBef>
                <a:spcPct val="20000"/>
              </a:spcBef>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AC → D</a:t>
            </a:r>
            <a:endParaRPr lang="zh-CN" altLang="en-US" sz="2800" b="1" dirty="0">
              <a:solidFill>
                <a:schemeClr val="accent2"/>
              </a:solidFill>
              <a:latin typeface="Arial" panose="020B0604020202020204" pitchFamily="34" charset="0"/>
              <a:ea typeface="宋体" panose="02010600030101010101"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日期占位符 1"/>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21858" name="页脚占位符 2"/>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21859" name="灯片编号占位符 3"/>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48</a:t>
            </a:fld>
            <a:endParaRPr lang="zh-CN" altLang="en-US" sz="1200" b="1" i="1" dirty="0">
              <a:latin typeface="Times New Roman" panose="02020603050405020304" pitchFamily="2" charset="0"/>
              <a:ea typeface="宋体" panose="02010600030101010101" pitchFamily="2" charset="-122"/>
            </a:endParaRPr>
          </a:p>
        </p:txBody>
      </p:sp>
      <p:sp>
        <p:nvSpPr>
          <p:cNvPr id="121861" name="灯片编号占位符 3"/>
          <p:cNvSpPr txBox="1">
            <a:spLocks noGrp="1"/>
          </p:cNvSpPr>
          <p:nvPr/>
        </p:nvSpPr>
        <p:spPr>
          <a:xfrm>
            <a:off x="7162800" y="6629400"/>
            <a:ext cx="1905000" cy="228600"/>
          </a:xfrm>
          <a:prstGeom prst="rect">
            <a:avLst/>
          </a:prstGeom>
          <a:noFill/>
          <a:ln w="9525">
            <a:noFill/>
            <a:miter/>
          </a:ln>
        </p:spPr>
        <p:txBody>
          <a:bodyPr/>
          <a:lstStyle/>
          <a:p>
            <a:pPr lvl="0" algn="r" eaLnBrk="1" fontAlgn="base" hangingPunct="1"/>
            <a:fld id="{9A0DB2DC-4C9A-4742-B13C-FB6460FD3503}" type="slidenum">
              <a:rPr lang="zh-CN" altLang="en-US" sz="1400" b="1" i="1" strike="noStrike" noProof="1" dirty="0">
                <a:solidFill>
                  <a:schemeClr val="accent1"/>
                </a:solidFill>
                <a:effectLst>
                  <a:outerShdw blurRad="38100" dist="38100" dir="2700000">
                    <a:srgbClr val="C0C0C0"/>
                  </a:outerShdw>
                </a:effectLst>
                <a:latin typeface="Arial" panose="020B0604020202020204" pitchFamily="34" charset="0"/>
                <a:ea typeface="宋体" panose="02010600030101010101" pitchFamily="2" charset="-122"/>
                <a:cs typeface="+mn-ea"/>
              </a:rPr>
              <a:t>48</a:t>
            </a:fld>
            <a:endParaRPr lang="zh-CN" altLang="en-US" sz="1400" b="1" i="1" strike="noStrike" noProof="1">
              <a:solidFill>
                <a:schemeClr val="accent1"/>
              </a:solidFill>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2" name="页脚占位符 4"/>
          <p:cNvSpPr txBox="1">
            <a:spLocks noGrp="1"/>
          </p:cNvSpPr>
          <p:nvPr/>
        </p:nvSpPr>
        <p:spPr>
          <a:xfrm>
            <a:off x="0" y="6705600"/>
            <a:ext cx="5029200" cy="152400"/>
          </a:xfrm>
          <a:prstGeom prst="rect">
            <a:avLst/>
          </a:prstGeom>
          <a:noFill/>
          <a:ln w="9525">
            <a:noFill/>
          </a:ln>
        </p:spPr>
        <p:txBody>
          <a:bodyPr tIns="0" bIns="0" anchor="t"/>
          <a:lstStyle/>
          <a:p>
            <a:pPr lvl="0"/>
            <a:r>
              <a:rPr lang="en-US" altLang="x-none" sz="1000" i="1" dirty="0">
                <a:latin typeface="Arial" panose="020B0604020202020204" pitchFamily="34" charset="0"/>
                <a:ea typeface="宋体" panose="02010600030101010101" pitchFamily="2" charset="-122"/>
              </a:rPr>
              <a:t>2007</a:t>
            </a:r>
            <a:r>
              <a:rPr lang="zh-CN" altLang="en-US" sz="1000" i="1" dirty="0">
                <a:latin typeface="Arial" panose="020B0604020202020204" pitchFamily="34" charset="0"/>
                <a:ea typeface="宋体" panose="02010600030101010101" pitchFamily="2" charset="-122"/>
              </a:rPr>
              <a:t>年度</a:t>
            </a:r>
            <a:r>
              <a:rPr lang="en-US" altLang="x-none" sz="1000" i="1" dirty="0">
                <a:latin typeface="Arial" panose="020B0604020202020204" pitchFamily="34" charset="0"/>
                <a:ea typeface="宋体" panose="02010600030101010101" pitchFamily="2" charset="-122"/>
              </a:rPr>
              <a:t>-</a:t>
            </a:r>
            <a:r>
              <a:rPr lang="zh-CN" altLang="en-US" sz="1000" i="1" dirty="0">
                <a:latin typeface="Arial" panose="020B0604020202020204" pitchFamily="34" charset="0"/>
                <a:ea typeface="宋体" panose="02010600030101010101" pitchFamily="2" charset="-122"/>
              </a:rPr>
              <a:t>教育部</a:t>
            </a:r>
            <a:r>
              <a:rPr lang="en-US" altLang="x-none" sz="1000" i="1" dirty="0">
                <a:latin typeface="Arial" panose="020B0604020202020204" pitchFamily="34" charset="0"/>
                <a:ea typeface="宋体" panose="02010600030101010101" pitchFamily="2" charset="-122"/>
              </a:rPr>
              <a:t>-IBM</a:t>
            </a:r>
            <a:r>
              <a:rPr lang="zh-CN" altLang="en-US" sz="1000" i="1" dirty="0">
                <a:latin typeface="Arial" panose="020B0604020202020204" pitchFamily="34" charset="0"/>
                <a:ea typeface="宋体" panose="02010600030101010101" pitchFamily="2" charset="-122"/>
              </a:rPr>
              <a:t>精品课程</a:t>
            </a:r>
            <a:r>
              <a:rPr lang="en-US" altLang="x-none" sz="1000" i="1" dirty="0">
                <a:latin typeface="Arial" panose="020B0604020202020204" pitchFamily="34" charset="0"/>
                <a:ea typeface="宋体" panose="02010600030101010101" pitchFamily="2" charset="-122"/>
              </a:rPr>
              <a:t>-</a:t>
            </a:r>
            <a:r>
              <a:rPr lang="zh-CN" altLang="en-US" sz="1000" i="1" dirty="0">
                <a:latin typeface="Arial" panose="020B0604020202020204" pitchFamily="34" charset="0"/>
                <a:ea typeface="宋体" panose="02010600030101010101" pitchFamily="2" charset="-122"/>
              </a:rPr>
              <a:t>南京大学计算机科学与技术系</a:t>
            </a:r>
            <a:r>
              <a:rPr lang="zh-CN" altLang="en-US" sz="1000" i="1" dirty="0">
                <a:solidFill>
                  <a:schemeClr val="accent1"/>
                </a:solidFill>
                <a:latin typeface="Arial" panose="020B0604020202020204" pitchFamily="34" charset="0"/>
                <a:ea typeface="宋体" panose="02010600030101010101" pitchFamily="2" charset="-122"/>
              </a:rPr>
              <a:t> </a:t>
            </a:r>
            <a:endParaRPr lang="en-US" altLang="x-none" sz="1000" i="1" dirty="0">
              <a:solidFill>
                <a:schemeClr val="accent1"/>
              </a:solidFill>
              <a:latin typeface="Arial" panose="020B0604020202020204" pitchFamily="34" charset="0"/>
              <a:ea typeface="宋体" panose="02010600030101010101" pitchFamily="2" charset="-122"/>
            </a:endParaRPr>
          </a:p>
        </p:txBody>
      </p:sp>
      <p:sp>
        <p:nvSpPr>
          <p:cNvPr id="121862" name="Rectangle 37"/>
          <p:cNvSpPr/>
          <p:nvPr/>
        </p:nvSpPr>
        <p:spPr>
          <a:xfrm>
            <a:off x="0" y="0"/>
            <a:ext cx="9144000" cy="6858000"/>
          </a:xfrm>
          <a:prstGeom prst="rect">
            <a:avLst/>
          </a:prstGeom>
          <a:solidFill>
            <a:schemeClr val="bg1"/>
          </a:solidFill>
          <a:ln w="9525">
            <a:noFill/>
          </a:ln>
        </p:spPr>
        <p:txBody>
          <a:bodyPr wrap="none" anchor="ctr"/>
          <a:lstStyle/>
          <a:p>
            <a:pPr lvl="0" algn="ctr">
              <a:spcBef>
                <a:spcPct val="20000"/>
              </a:spcBef>
              <a:buFont typeface="Wingdings" panose="05000000000000000000" pitchFamily="2" charset="2"/>
              <a:buChar char="§"/>
            </a:pPr>
            <a:endParaRPr lang="zh-CN" altLang="en-US" sz="2800" b="1" dirty="0">
              <a:latin typeface="Arial" panose="020B0604020202020204" pitchFamily="34" charset="0"/>
              <a:ea typeface="宋体" panose="02010600030101010101" pitchFamily="2" charset="-122"/>
            </a:endParaRPr>
          </a:p>
        </p:txBody>
      </p:sp>
      <p:sp>
        <p:nvSpPr>
          <p:cNvPr id="121863" name="Rectangle 3"/>
          <p:cNvSpPr>
            <a:spLocks noGrp="1"/>
          </p:cNvSpPr>
          <p:nvPr>
            <p:ph type="body"/>
          </p:nvPr>
        </p:nvSpPr>
        <p:spPr>
          <a:xfrm>
            <a:off x="0" y="2420938"/>
            <a:ext cx="8763000" cy="609600"/>
          </a:xfrm>
        </p:spPr>
        <p:txBody>
          <a:bodyPr wrap="square" anchor="t"/>
          <a:lstStyle/>
          <a:p>
            <a:pPr lvl="0" eaLnBrk="1" hangingPunct="1"/>
            <a:r>
              <a:rPr lang="zh-CN" altLang="en-US">
                <a:ea typeface="宋体" panose="02010600030101010101" pitchFamily="2" charset="-122"/>
              </a:rPr>
              <a:t>该关系上可能存在的函数依赖：</a:t>
            </a:r>
          </a:p>
        </p:txBody>
      </p:sp>
      <p:graphicFrame>
        <p:nvGraphicFramePr>
          <p:cNvPr id="121865" name="表格 121864"/>
          <p:cNvGraphicFramePr/>
          <p:nvPr/>
        </p:nvGraphicFramePr>
        <p:xfrm>
          <a:off x="1828800" y="44450"/>
          <a:ext cx="5257800" cy="2232025"/>
        </p:xfrm>
        <a:graphic>
          <a:graphicData uri="http://schemas.openxmlformats.org/drawingml/2006/table">
            <a:tbl>
              <a:tblPr/>
              <a:tblGrid>
                <a:gridCol w="1230313">
                  <a:extLst>
                    <a:ext uri="{9D8B030D-6E8A-4147-A177-3AD203B41FA5}">
                      <a16:colId xmlns:a16="http://schemas.microsoft.com/office/drawing/2014/main" val="20000"/>
                    </a:ext>
                  </a:extLst>
                </a:gridCol>
                <a:gridCol w="1343025">
                  <a:extLst>
                    <a:ext uri="{9D8B030D-6E8A-4147-A177-3AD203B41FA5}">
                      <a16:colId xmlns:a16="http://schemas.microsoft.com/office/drawing/2014/main" val="20001"/>
                    </a:ext>
                  </a:extLst>
                </a:gridCol>
                <a:gridCol w="1341437">
                  <a:extLst>
                    <a:ext uri="{9D8B030D-6E8A-4147-A177-3AD203B41FA5}">
                      <a16:colId xmlns:a16="http://schemas.microsoft.com/office/drawing/2014/main" val="20002"/>
                    </a:ext>
                  </a:extLst>
                </a:gridCol>
                <a:gridCol w="1343025">
                  <a:extLst>
                    <a:ext uri="{9D8B030D-6E8A-4147-A177-3AD203B41FA5}">
                      <a16:colId xmlns:a16="http://schemas.microsoft.com/office/drawing/2014/main" val="20003"/>
                    </a:ext>
                  </a:extLst>
                </a:gridCol>
              </a:tblGrid>
              <a:tr h="427038">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D</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452437">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1"/>
                  </a:ext>
                </a:extLst>
              </a:tr>
              <a:tr h="45402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2"/>
                  </a:ext>
                </a:extLst>
              </a:tr>
              <a:tr h="446088">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3"/>
                  </a:ext>
                </a:extLst>
              </a:tr>
              <a:tr h="452437">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d4</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4"/>
                  </a:ext>
                </a:extLst>
              </a:tr>
            </a:tbl>
          </a:graphicData>
        </a:graphic>
      </p:graphicFrame>
      <p:sp>
        <p:nvSpPr>
          <p:cNvPr id="121896" name="Rectangle 36"/>
          <p:cNvSpPr/>
          <p:nvPr/>
        </p:nvSpPr>
        <p:spPr>
          <a:xfrm>
            <a:off x="1219200" y="3030538"/>
            <a:ext cx="7385050" cy="1089025"/>
          </a:xfrm>
          <a:prstGeom prst="rect">
            <a:avLst/>
          </a:prstGeom>
          <a:noFill/>
          <a:ln w="9525">
            <a:noFill/>
          </a:ln>
        </p:spPr>
        <p:txBody>
          <a:bodyPr anchor="t"/>
          <a:lstStyle/>
          <a:p>
            <a:pPr marL="342900" lvl="0" indent="-342900">
              <a:lnSpc>
                <a:spcPct val="110000"/>
              </a:lnSpc>
              <a:spcBef>
                <a:spcPct val="20000"/>
              </a:spcBef>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 → B 		C → B		 AC → D</a:t>
            </a:r>
          </a:p>
          <a:p>
            <a:pPr marL="342900" lvl="0" indent="-342900">
              <a:lnSpc>
                <a:spcPct val="110000"/>
              </a:lnSpc>
              <a:spcBef>
                <a:spcPct val="20000"/>
              </a:spcBef>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D → A B C</a:t>
            </a:r>
          </a:p>
        </p:txBody>
      </p:sp>
      <p:sp>
        <p:nvSpPr>
          <p:cNvPr id="121898" name="Rectangle 41"/>
          <p:cNvSpPr/>
          <p:nvPr/>
        </p:nvSpPr>
        <p:spPr>
          <a:xfrm>
            <a:off x="0" y="4292600"/>
            <a:ext cx="9144000" cy="2376488"/>
          </a:xfrm>
          <a:prstGeom prst="rect">
            <a:avLst/>
          </a:prstGeom>
          <a:noFill/>
          <a:ln w="9525">
            <a:noFill/>
          </a:ln>
        </p:spPr>
        <p:txBody>
          <a:bodyPr anchor="t"/>
          <a:lstStyle/>
          <a:p>
            <a:pPr marL="533400" lvl="0" indent="-533400">
              <a:lnSpc>
                <a:spcPct val="110000"/>
              </a:lnSpc>
              <a:spcBef>
                <a:spcPct val="20000"/>
              </a:spcBef>
              <a:buFont typeface="Wingdings" panose="05000000000000000000" pitchFamily="2" charset="2"/>
              <a:buChar char="q"/>
            </a:pPr>
            <a:r>
              <a:rPr lang="zh-CN" altLang="en-US" sz="2800" b="1" dirty="0">
                <a:solidFill>
                  <a:srgbClr val="FF0000"/>
                </a:solidFill>
                <a:latin typeface="Times New Roman" panose="02020603050405020304" pitchFamily="2" charset="0"/>
                <a:ea typeface="宋体" panose="02010600030101010101" pitchFamily="2" charset="-122"/>
              </a:rPr>
              <a:t>思考问题：</a:t>
            </a:r>
            <a:r>
              <a:rPr lang="zh-CN" altLang="en-US" sz="2800" b="1" dirty="0">
                <a:solidFill>
                  <a:schemeClr val="accent2"/>
                </a:solidFill>
                <a:latin typeface="Times New Roman" panose="02020603050405020304" pitchFamily="2" charset="0"/>
                <a:ea typeface="宋体" panose="02010600030101010101" pitchFamily="2" charset="-122"/>
              </a:rPr>
              <a:t>为什么没有写出</a:t>
            </a:r>
          </a:p>
          <a:p>
            <a:pPr marL="990600" lvl="1" indent="-533400">
              <a:lnSpc>
                <a:spcPct val="110000"/>
              </a:lnSpc>
              <a:spcBef>
                <a:spcPct val="20000"/>
              </a:spcBef>
              <a:buFont typeface="Wingdings" panose="05000000000000000000" pitchFamily="2" charset="2"/>
              <a:buAutoNum type="arabicParenR"/>
            </a:pPr>
            <a:r>
              <a:rPr lang="zh-CN" altLang="en-US" sz="2800" b="1" dirty="0">
                <a:latin typeface="Times New Roman" panose="02020603050405020304" pitchFamily="2" charset="0"/>
                <a:ea typeface="宋体" panose="02010600030101010101" pitchFamily="2" charset="-122"/>
              </a:rPr>
              <a:t>左边含有属性</a:t>
            </a:r>
            <a:r>
              <a:rPr lang="en-US" altLang="x-none" sz="2800" b="1" dirty="0">
                <a:latin typeface="Times New Roman" panose="02020603050405020304" pitchFamily="2" charset="0"/>
                <a:ea typeface="宋体" panose="02010600030101010101" pitchFamily="2" charset="-122"/>
              </a:rPr>
              <a:t>D</a:t>
            </a:r>
            <a:r>
              <a:rPr lang="zh-CN" altLang="en-US" sz="2800" b="1" dirty="0">
                <a:latin typeface="Times New Roman" panose="02020603050405020304" pitchFamily="2" charset="0"/>
                <a:ea typeface="宋体" panose="02010600030101010101" pitchFamily="2" charset="-122"/>
              </a:rPr>
              <a:t>的其它的那些可能的</a:t>
            </a:r>
            <a:r>
              <a:rPr lang="en-US" altLang="x-none" sz="2800" b="1" dirty="0">
                <a:latin typeface="Times New Roman" panose="02020603050405020304" pitchFamily="2" charset="0"/>
                <a:ea typeface="宋体" panose="02010600030101010101" pitchFamily="2" charset="-122"/>
              </a:rPr>
              <a:t>FD</a:t>
            </a:r>
            <a:r>
              <a:rPr lang="zh-CN" altLang="en-US" sz="2800" b="1" dirty="0">
                <a:latin typeface="Times New Roman" panose="02020603050405020304" pitchFamily="2" charset="0"/>
                <a:ea typeface="宋体" panose="02010600030101010101" pitchFamily="2" charset="-122"/>
              </a:rPr>
              <a:t>？</a:t>
            </a:r>
          </a:p>
          <a:p>
            <a:pPr marL="990600" lvl="1" indent="-533400">
              <a:lnSpc>
                <a:spcPct val="110000"/>
              </a:lnSpc>
              <a:spcBef>
                <a:spcPct val="20000"/>
              </a:spcBef>
              <a:buFont typeface="Wingdings" panose="05000000000000000000" pitchFamily="2" charset="2"/>
              <a:buAutoNum type="arabicParenR"/>
            </a:pPr>
            <a:r>
              <a:rPr lang="zh-CN" altLang="en-US" sz="2800" b="1" dirty="0">
                <a:latin typeface="Times New Roman" panose="02020603050405020304" pitchFamily="2" charset="0"/>
                <a:ea typeface="宋体" panose="02010600030101010101" pitchFamily="2" charset="-122"/>
              </a:rPr>
              <a:t>右边为单个属性</a:t>
            </a:r>
            <a:r>
              <a:rPr lang="en-US" altLang="x-none" sz="2800" b="1" dirty="0">
                <a:latin typeface="Times New Roman" panose="02020603050405020304" pitchFamily="2" charset="0"/>
                <a:ea typeface="宋体" panose="02010600030101010101" pitchFamily="2" charset="-122"/>
              </a:rPr>
              <a:t>B</a:t>
            </a:r>
            <a:r>
              <a:rPr lang="zh-CN" altLang="en-US" sz="2800" b="1" dirty="0">
                <a:latin typeface="Times New Roman" panose="02020603050405020304" pitchFamily="2" charset="0"/>
                <a:ea typeface="宋体" panose="02010600030101010101" pitchFamily="2" charset="-122"/>
              </a:rPr>
              <a:t>的其它的那些可能的</a:t>
            </a:r>
            <a:r>
              <a:rPr lang="en-US" altLang="x-none" sz="2800" b="1" dirty="0">
                <a:latin typeface="Times New Roman" panose="02020603050405020304" pitchFamily="2" charset="0"/>
                <a:ea typeface="宋体" panose="02010600030101010101" pitchFamily="2" charset="-122"/>
              </a:rPr>
              <a:t>FD</a:t>
            </a:r>
            <a:r>
              <a:rPr lang="zh-CN" altLang="en-US" sz="2800" b="1" dirty="0">
                <a:latin typeface="Times New Roman" panose="02020603050405020304" pitchFamily="2" charset="0"/>
                <a:ea typeface="宋体" panose="02010600030101010101" pitchFamily="2" charset="-122"/>
              </a:rPr>
              <a:t>？</a:t>
            </a:r>
          </a:p>
          <a:p>
            <a:pPr marL="990600" lvl="1" indent="-533400">
              <a:lnSpc>
                <a:spcPct val="110000"/>
              </a:lnSpc>
              <a:spcBef>
                <a:spcPct val="20000"/>
              </a:spcBef>
              <a:buFont typeface="Wingdings" panose="05000000000000000000" pitchFamily="2" charset="2"/>
              <a:buAutoNum type="arabicParenR"/>
            </a:pPr>
            <a:r>
              <a:rPr lang="zh-CN" altLang="en-US" sz="2800" b="1" dirty="0">
                <a:latin typeface="Times New Roman" panose="02020603050405020304" pitchFamily="2" charset="0"/>
                <a:ea typeface="宋体" panose="02010600030101010101" pitchFamily="2" charset="-122"/>
              </a:rPr>
              <a:t>右边为多个属性的那些可能的</a:t>
            </a:r>
            <a:r>
              <a:rPr lang="en-US" altLang="x-none" sz="2800" b="1" dirty="0">
                <a:latin typeface="Times New Roman" panose="02020603050405020304" pitchFamily="2" charset="0"/>
                <a:ea typeface="宋体" panose="02010600030101010101" pitchFamily="2" charset="-122"/>
              </a:rPr>
              <a:t>FD</a:t>
            </a:r>
            <a:r>
              <a:rPr lang="zh-CN" altLang="en-US" sz="2800" b="1" dirty="0">
                <a:latin typeface="Times New Roman" panose="02020603050405020304" pitchFamily="2" charset="0"/>
                <a:ea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1898"/>
                                        </p:tgtEl>
                                        <p:attrNameLst>
                                          <p:attrName>style.visibility</p:attrName>
                                        </p:attrNameLst>
                                      </p:cBhvr>
                                      <p:to>
                                        <p:strVal val="visible"/>
                                      </p:to>
                                    </p:set>
                                    <p:anim calcmode="lin" valueType="num">
                                      <p:cBhvr>
                                        <p:cTn id="7" dur="500" fill="hold"/>
                                        <p:tgtEl>
                                          <p:spTgt spid="121898"/>
                                        </p:tgtEl>
                                        <p:attrNameLst>
                                          <p:attrName>ppt_x</p:attrName>
                                        </p:attrNameLst>
                                      </p:cBhvr>
                                      <p:tavLst>
                                        <p:tav tm="0">
                                          <p:val>
                                            <p:strVal val="#ppt_x"/>
                                          </p:val>
                                        </p:tav>
                                        <p:tav tm="100000">
                                          <p:val>
                                            <p:strVal val="#ppt_x"/>
                                          </p:val>
                                        </p:tav>
                                      </p:tavLst>
                                    </p:anim>
                                    <p:anim calcmode="lin" valueType="num">
                                      <p:cBhvr>
                                        <p:cTn id="8" dur="500" fill="hold"/>
                                        <p:tgtEl>
                                          <p:spTgt spid="1218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98" grpId="0" bldLvl="2"/>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日期占位符 1"/>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21858" name="页脚占位符 2"/>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21859" name="灯片编号占位符 3"/>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49</a:t>
            </a:fld>
            <a:endParaRPr lang="zh-CN" altLang="en-US" sz="1200" b="1" i="1" dirty="0">
              <a:latin typeface="Times New Roman" panose="02020603050405020304" pitchFamily="2" charset="0"/>
              <a:ea typeface="宋体" panose="02010600030101010101" pitchFamily="2" charset="-122"/>
            </a:endParaRPr>
          </a:p>
        </p:txBody>
      </p:sp>
      <p:sp>
        <p:nvSpPr>
          <p:cNvPr id="121861" name="灯片编号占位符 3"/>
          <p:cNvSpPr txBox="1">
            <a:spLocks noGrp="1"/>
          </p:cNvSpPr>
          <p:nvPr/>
        </p:nvSpPr>
        <p:spPr>
          <a:xfrm>
            <a:off x="7162800" y="6629400"/>
            <a:ext cx="1905000" cy="228600"/>
          </a:xfrm>
          <a:prstGeom prst="rect">
            <a:avLst/>
          </a:prstGeom>
          <a:noFill/>
          <a:ln w="9525">
            <a:noFill/>
            <a:miter/>
          </a:ln>
        </p:spPr>
        <p:txBody>
          <a:bodyPr/>
          <a:lstStyle/>
          <a:p>
            <a:pPr lvl="0" algn="r" eaLnBrk="1" fontAlgn="base" hangingPunct="1"/>
            <a:fld id="{9A0DB2DC-4C9A-4742-B13C-FB6460FD3503}" type="slidenum">
              <a:rPr lang="zh-CN" altLang="en-US" sz="1400" b="1" i="1" strike="noStrike" noProof="1" dirty="0">
                <a:solidFill>
                  <a:schemeClr val="accent1"/>
                </a:solidFill>
                <a:effectLst>
                  <a:outerShdw blurRad="38100" dist="38100" dir="2700000">
                    <a:srgbClr val="C0C0C0"/>
                  </a:outerShdw>
                </a:effectLst>
                <a:latin typeface="Arial" panose="020B0604020202020204" pitchFamily="34" charset="0"/>
                <a:ea typeface="宋体" panose="02010600030101010101" pitchFamily="2" charset="-122"/>
                <a:cs typeface="+mn-ea"/>
              </a:rPr>
              <a:t>49</a:t>
            </a:fld>
            <a:endParaRPr lang="zh-CN" altLang="en-US" sz="1400" b="1" i="1" strike="noStrike" noProof="1">
              <a:solidFill>
                <a:schemeClr val="accent1"/>
              </a:solidFill>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2" name="页脚占位符 4"/>
          <p:cNvSpPr txBox="1">
            <a:spLocks noGrp="1"/>
          </p:cNvSpPr>
          <p:nvPr/>
        </p:nvSpPr>
        <p:spPr>
          <a:xfrm>
            <a:off x="0" y="6705600"/>
            <a:ext cx="5029200" cy="152400"/>
          </a:xfrm>
          <a:prstGeom prst="rect">
            <a:avLst/>
          </a:prstGeom>
          <a:noFill/>
          <a:ln w="9525">
            <a:noFill/>
          </a:ln>
        </p:spPr>
        <p:txBody>
          <a:bodyPr tIns="0" bIns="0" anchor="t"/>
          <a:lstStyle/>
          <a:p>
            <a:pPr lvl="0"/>
            <a:r>
              <a:rPr lang="en-US" altLang="x-none" sz="1000" i="1" dirty="0">
                <a:latin typeface="Arial" panose="020B0604020202020204" pitchFamily="34" charset="0"/>
                <a:ea typeface="宋体" panose="02010600030101010101" pitchFamily="2" charset="-122"/>
              </a:rPr>
              <a:t>2007</a:t>
            </a:r>
            <a:r>
              <a:rPr lang="zh-CN" altLang="en-US" sz="1000" i="1" dirty="0">
                <a:latin typeface="Arial" panose="020B0604020202020204" pitchFamily="34" charset="0"/>
                <a:ea typeface="宋体" panose="02010600030101010101" pitchFamily="2" charset="-122"/>
              </a:rPr>
              <a:t>年度</a:t>
            </a:r>
            <a:r>
              <a:rPr lang="en-US" altLang="x-none" sz="1000" i="1" dirty="0">
                <a:latin typeface="Arial" panose="020B0604020202020204" pitchFamily="34" charset="0"/>
                <a:ea typeface="宋体" panose="02010600030101010101" pitchFamily="2" charset="-122"/>
              </a:rPr>
              <a:t>-</a:t>
            </a:r>
            <a:r>
              <a:rPr lang="zh-CN" altLang="en-US" sz="1000" i="1" dirty="0">
                <a:latin typeface="Arial" panose="020B0604020202020204" pitchFamily="34" charset="0"/>
                <a:ea typeface="宋体" panose="02010600030101010101" pitchFamily="2" charset="-122"/>
              </a:rPr>
              <a:t>教育部</a:t>
            </a:r>
            <a:r>
              <a:rPr lang="en-US" altLang="x-none" sz="1000" i="1" dirty="0">
                <a:latin typeface="Arial" panose="020B0604020202020204" pitchFamily="34" charset="0"/>
                <a:ea typeface="宋体" panose="02010600030101010101" pitchFamily="2" charset="-122"/>
              </a:rPr>
              <a:t>-IBM</a:t>
            </a:r>
            <a:r>
              <a:rPr lang="zh-CN" altLang="en-US" sz="1000" i="1" dirty="0">
                <a:latin typeface="Arial" panose="020B0604020202020204" pitchFamily="34" charset="0"/>
                <a:ea typeface="宋体" panose="02010600030101010101" pitchFamily="2" charset="-122"/>
              </a:rPr>
              <a:t>精品课程</a:t>
            </a:r>
            <a:r>
              <a:rPr lang="en-US" altLang="x-none" sz="1000" i="1" dirty="0">
                <a:latin typeface="Arial" panose="020B0604020202020204" pitchFamily="34" charset="0"/>
                <a:ea typeface="宋体" panose="02010600030101010101" pitchFamily="2" charset="-122"/>
              </a:rPr>
              <a:t>-</a:t>
            </a:r>
            <a:r>
              <a:rPr lang="zh-CN" altLang="en-US" sz="1000" i="1" dirty="0">
                <a:latin typeface="Arial" panose="020B0604020202020204" pitchFamily="34" charset="0"/>
                <a:ea typeface="宋体" panose="02010600030101010101" pitchFamily="2" charset="-122"/>
              </a:rPr>
              <a:t>南京大学计算机科学与技术系</a:t>
            </a:r>
            <a:r>
              <a:rPr lang="zh-CN" altLang="en-US" sz="1000" i="1" dirty="0">
                <a:solidFill>
                  <a:schemeClr val="accent1"/>
                </a:solidFill>
                <a:latin typeface="Arial" panose="020B0604020202020204" pitchFamily="34" charset="0"/>
                <a:ea typeface="宋体" panose="02010600030101010101" pitchFamily="2" charset="-122"/>
              </a:rPr>
              <a:t> </a:t>
            </a:r>
            <a:endParaRPr lang="en-US" altLang="x-none" sz="1000" i="1" dirty="0">
              <a:solidFill>
                <a:schemeClr val="accent1"/>
              </a:solidFill>
              <a:latin typeface="Arial" panose="020B0604020202020204" pitchFamily="34" charset="0"/>
              <a:ea typeface="宋体" panose="02010600030101010101" pitchFamily="2" charset="-122"/>
            </a:endParaRPr>
          </a:p>
        </p:txBody>
      </p:sp>
      <p:sp>
        <p:nvSpPr>
          <p:cNvPr id="121862" name="Rectangle 37"/>
          <p:cNvSpPr/>
          <p:nvPr/>
        </p:nvSpPr>
        <p:spPr>
          <a:xfrm>
            <a:off x="0" y="0"/>
            <a:ext cx="9144000" cy="6858000"/>
          </a:xfrm>
          <a:prstGeom prst="rect">
            <a:avLst/>
          </a:prstGeom>
          <a:solidFill>
            <a:schemeClr val="bg1"/>
          </a:solidFill>
          <a:ln w="9525">
            <a:noFill/>
          </a:ln>
        </p:spPr>
        <p:txBody>
          <a:bodyPr wrap="none" anchor="ctr"/>
          <a:lstStyle/>
          <a:p>
            <a:pPr lvl="0" algn="ctr">
              <a:spcBef>
                <a:spcPct val="20000"/>
              </a:spcBef>
              <a:buFont typeface="Wingdings" panose="05000000000000000000" pitchFamily="2" charset="2"/>
              <a:buChar char="§"/>
            </a:pPr>
            <a:endParaRPr lang="zh-CN" altLang="en-US" sz="2800" b="1" dirty="0">
              <a:latin typeface="Arial" panose="020B0604020202020204" pitchFamily="34" charset="0"/>
              <a:ea typeface="宋体" panose="02010600030101010101" pitchFamily="2" charset="-122"/>
            </a:endParaRPr>
          </a:p>
        </p:txBody>
      </p:sp>
      <p:sp>
        <p:nvSpPr>
          <p:cNvPr id="121863" name="Rectangle 3"/>
          <p:cNvSpPr>
            <a:spLocks noGrp="1"/>
          </p:cNvSpPr>
          <p:nvPr>
            <p:ph type="body"/>
          </p:nvPr>
        </p:nvSpPr>
        <p:spPr>
          <a:xfrm>
            <a:off x="0" y="2277428"/>
            <a:ext cx="8763000" cy="609600"/>
          </a:xfrm>
        </p:spPr>
        <p:txBody>
          <a:bodyPr wrap="square" anchor="t"/>
          <a:lstStyle/>
          <a:p>
            <a:pPr lvl="0" eaLnBrk="1" hangingPunct="1"/>
            <a:r>
              <a:rPr lang="zh-CN" altLang="en-US">
                <a:ea typeface="宋体" panose="02010600030101010101" pitchFamily="2" charset="-122"/>
              </a:rPr>
              <a:t>已知：</a:t>
            </a:r>
          </a:p>
        </p:txBody>
      </p:sp>
      <p:graphicFrame>
        <p:nvGraphicFramePr>
          <p:cNvPr id="121865" name="表格 121864"/>
          <p:cNvGraphicFramePr/>
          <p:nvPr/>
        </p:nvGraphicFramePr>
        <p:xfrm>
          <a:off x="1828800" y="44450"/>
          <a:ext cx="5257800" cy="2232025"/>
        </p:xfrm>
        <a:graphic>
          <a:graphicData uri="http://schemas.openxmlformats.org/drawingml/2006/table">
            <a:tbl>
              <a:tblPr/>
              <a:tblGrid>
                <a:gridCol w="1230313">
                  <a:extLst>
                    <a:ext uri="{9D8B030D-6E8A-4147-A177-3AD203B41FA5}">
                      <a16:colId xmlns:a16="http://schemas.microsoft.com/office/drawing/2014/main" val="20000"/>
                    </a:ext>
                  </a:extLst>
                </a:gridCol>
                <a:gridCol w="1343025">
                  <a:extLst>
                    <a:ext uri="{9D8B030D-6E8A-4147-A177-3AD203B41FA5}">
                      <a16:colId xmlns:a16="http://schemas.microsoft.com/office/drawing/2014/main" val="20001"/>
                    </a:ext>
                  </a:extLst>
                </a:gridCol>
                <a:gridCol w="1341437">
                  <a:extLst>
                    <a:ext uri="{9D8B030D-6E8A-4147-A177-3AD203B41FA5}">
                      <a16:colId xmlns:a16="http://schemas.microsoft.com/office/drawing/2014/main" val="20002"/>
                    </a:ext>
                  </a:extLst>
                </a:gridCol>
                <a:gridCol w="1343025">
                  <a:extLst>
                    <a:ext uri="{9D8B030D-6E8A-4147-A177-3AD203B41FA5}">
                      <a16:colId xmlns:a16="http://schemas.microsoft.com/office/drawing/2014/main" val="20003"/>
                    </a:ext>
                  </a:extLst>
                </a:gridCol>
              </a:tblGrid>
              <a:tr h="427038">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D</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452437">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1"/>
                  </a:ext>
                </a:extLst>
              </a:tr>
              <a:tr h="45402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2"/>
                  </a:ext>
                </a:extLst>
              </a:tr>
              <a:tr h="446088">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3"/>
                  </a:ext>
                </a:extLst>
              </a:tr>
              <a:tr h="452437">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d4</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4"/>
                  </a:ext>
                </a:extLst>
              </a:tr>
            </a:tbl>
          </a:graphicData>
        </a:graphic>
      </p:graphicFrame>
      <p:sp>
        <p:nvSpPr>
          <p:cNvPr id="121896" name="Rectangle 36"/>
          <p:cNvSpPr/>
          <p:nvPr/>
        </p:nvSpPr>
        <p:spPr>
          <a:xfrm>
            <a:off x="1290955" y="2241550"/>
            <a:ext cx="6182360" cy="560705"/>
          </a:xfrm>
          <a:prstGeom prst="rect">
            <a:avLst/>
          </a:prstGeom>
          <a:noFill/>
          <a:ln w="9525">
            <a:noFill/>
          </a:ln>
        </p:spPr>
        <p:txBody>
          <a:bodyPr wrap="square" anchor="t">
            <a:spAutoFit/>
          </a:bodyPr>
          <a:lstStyle/>
          <a:p>
            <a:pPr marL="342900" lvl="0" indent="-342900">
              <a:lnSpc>
                <a:spcPct val="110000"/>
              </a:lnSpc>
              <a:spcBef>
                <a:spcPct val="20000"/>
              </a:spcBef>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 A→B</a:t>
            </a:r>
            <a:r>
              <a:rPr lang="en-US" altLang="zh-CN" sz="2800" b="1" dirty="0">
                <a:solidFill>
                  <a:schemeClr val="accent2"/>
                </a:solidFill>
                <a:latin typeface="Arial" panose="020B0604020202020204" pitchFamily="34" charset="0"/>
                <a:ea typeface="宋体" panose="02010600030101010101" pitchFamily="2" charset="-122"/>
              </a:rPr>
              <a:t>,   </a:t>
            </a:r>
            <a:r>
              <a:rPr lang="en-US" altLang="x-none" sz="2800" b="1" dirty="0">
                <a:solidFill>
                  <a:schemeClr val="accent2"/>
                </a:solidFill>
                <a:latin typeface="Arial" panose="020B0604020202020204" pitchFamily="34" charset="0"/>
                <a:ea typeface="宋体" panose="02010600030101010101" pitchFamily="2" charset="-122"/>
              </a:rPr>
              <a:t>C→B,   AC→D,   D→ABC }</a:t>
            </a:r>
          </a:p>
        </p:txBody>
      </p:sp>
      <p:sp>
        <p:nvSpPr>
          <p:cNvPr id="121898" name="Rectangle 41"/>
          <p:cNvSpPr/>
          <p:nvPr/>
        </p:nvSpPr>
        <p:spPr>
          <a:xfrm>
            <a:off x="0" y="2857500"/>
            <a:ext cx="9144000" cy="2376488"/>
          </a:xfrm>
          <a:prstGeom prst="rect">
            <a:avLst/>
          </a:prstGeom>
          <a:noFill/>
          <a:ln w="9525">
            <a:noFill/>
          </a:ln>
        </p:spPr>
        <p:txBody>
          <a:bodyPr anchor="t"/>
          <a:lstStyle/>
          <a:p>
            <a:pPr marL="533400" lvl="0" indent="-533400">
              <a:lnSpc>
                <a:spcPct val="100000"/>
              </a:lnSpc>
              <a:spcBef>
                <a:spcPts val="0"/>
              </a:spcBef>
              <a:buFont typeface="Wingdings" panose="05000000000000000000" pitchFamily="2" charset="2"/>
              <a:buChar char="q"/>
            </a:pPr>
            <a:r>
              <a:rPr lang="zh-CN" altLang="en-US" sz="2800" b="1" dirty="0">
                <a:solidFill>
                  <a:srgbClr val="FF0000"/>
                </a:solidFill>
                <a:latin typeface="Times New Roman" panose="02020603050405020304" pitchFamily="2" charset="0"/>
                <a:ea typeface="宋体" panose="02010600030101010101" pitchFamily="2" charset="-122"/>
              </a:rPr>
              <a:t>思考问题：</a:t>
            </a:r>
            <a:r>
              <a:rPr lang="zh-CN" altLang="en-US" sz="2800" b="1" dirty="0">
                <a:solidFill>
                  <a:schemeClr val="accent2"/>
                </a:solidFill>
                <a:latin typeface="Times New Roman" panose="02020603050405020304" pitchFamily="2" charset="0"/>
                <a:ea typeface="宋体" panose="02010600030101010101" pitchFamily="2" charset="-122"/>
              </a:rPr>
              <a:t>为什么没有写出</a:t>
            </a:r>
          </a:p>
          <a:p>
            <a:pPr marL="990600" lvl="1" indent="-533400">
              <a:lnSpc>
                <a:spcPct val="100000"/>
              </a:lnSpc>
              <a:spcBef>
                <a:spcPts val="0"/>
              </a:spcBef>
              <a:buFont typeface="Wingdings" panose="05000000000000000000" pitchFamily="2" charset="2"/>
              <a:buAutoNum type="arabicParenR"/>
            </a:pPr>
            <a:r>
              <a:rPr lang="zh-CN" altLang="en-US" sz="2800" b="1" dirty="0">
                <a:latin typeface="Times New Roman" panose="02020603050405020304" pitchFamily="2" charset="0"/>
                <a:ea typeface="宋体" panose="02010600030101010101" pitchFamily="2" charset="-122"/>
              </a:rPr>
              <a:t>左边含有属性</a:t>
            </a:r>
            <a:r>
              <a:rPr lang="en-US" altLang="x-none" sz="2800" b="1" dirty="0">
                <a:latin typeface="Times New Roman" panose="02020603050405020304" pitchFamily="2" charset="0"/>
                <a:ea typeface="宋体" panose="02010600030101010101" pitchFamily="2" charset="-122"/>
              </a:rPr>
              <a:t>D</a:t>
            </a:r>
            <a:r>
              <a:rPr lang="zh-CN" altLang="en-US" sz="2800" b="1" dirty="0">
                <a:latin typeface="Times New Roman" panose="02020603050405020304" pitchFamily="2" charset="0"/>
                <a:ea typeface="宋体" panose="02010600030101010101" pitchFamily="2" charset="-122"/>
              </a:rPr>
              <a:t>的其它的那些可能的</a:t>
            </a:r>
            <a:r>
              <a:rPr lang="en-US" altLang="x-none" sz="2800" b="1" dirty="0">
                <a:latin typeface="Times New Roman" panose="02020603050405020304" pitchFamily="2" charset="0"/>
                <a:ea typeface="宋体" panose="02010600030101010101" pitchFamily="2" charset="-122"/>
              </a:rPr>
              <a:t>FD</a:t>
            </a:r>
            <a:r>
              <a:rPr lang="zh-CN" altLang="en-US" sz="2800" b="1" dirty="0">
                <a:latin typeface="Times New Roman" panose="02020603050405020304" pitchFamily="2" charset="0"/>
                <a:ea typeface="宋体" panose="02010600030101010101" pitchFamily="2" charset="-122"/>
              </a:rPr>
              <a:t>？</a:t>
            </a:r>
          </a:p>
          <a:p>
            <a:pPr marL="990600" lvl="1" indent="-533400">
              <a:lnSpc>
                <a:spcPct val="100000"/>
              </a:lnSpc>
              <a:spcBef>
                <a:spcPts val="0"/>
              </a:spcBef>
              <a:buFont typeface="Wingdings" panose="05000000000000000000" pitchFamily="2" charset="2"/>
              <a:buAutoNum type="arabicParenR"/>
            </a:pPr>
            <a:r>
              <a:rPr lang="zh-CN" altLang="en-US" sz="2800" b="1" dirty="0">
                <a:latin typeface="Times New Roman" panose="02020603050405020304" pitchFamily="2" charset="0"/>
                <a:ea typeface="宋体" panose="02010600030101010101" pitchFamily="2" charset="-122"/>
              </a:rPr>
              <a:t>右边为单个属性</a:t>
            </a:r>
            <a:r>
              <a:rPr lang="en-US" altLang="x-none" sz="2800" b="1" dirty="0">
                <a:latin typeface="Times New Roman" panose="02020603050405020304" pitchFamily="2" charset="0"/>
                <a:ea typeface="宋体" panose="02010600030101010101" pitchFamily="2" charset="-122"/>
              </a:rPr>
              <a:t>B</a:t>
            </a:r>
            <a:r>
              <a:rPr lang="zh-CN" altLang="en-US" sz="2800" b="1" dirty="0">
                <a:latin typeface="Times New Roman" panose="02020603050405020304" pitchFamily="2" charset="0"/>
                <a:ea typeface="宋体" panose="02010600030101010101" pitchFamily="2" charset="-122"/>
              </a:rPr>
              <a:t>的其它的那些可能的</a:t>
            </a:r>
            <a:r>
              <a:rPr lang="en-US" altLang="x-none" sz="2800" b="1" dirty="0">
                <a:latin typeface="Times New Roman" panose="02020603050405020304" pitchFamily="2" charset="0"/>
                <a:ea typeface="宋体" panose="02010600030101010101" pitchFamily="2" charset="-122"/>
              </a:rPr>
              <a:t>FD</a:t>
            </a:r>
            <a:r>
              <a:rPr lang="zh-CN" altLang="en-US" sz="2800" b="1" dirty="0">
                <a:latin typeface="Times New Roman" panose="02020603050405020304" pitchFamily="2" charset="0"/>
                <a:ea typeface="宋体" panose="02010600030101010101" pitchFamily="2" charset="-122"/>
              </a:rPr>
              <a:t>？</a:t>
            </a:r>
          </a:p>
          <a:p>
            <a:pPr marL="990600" lvl="1" indent="-533400">
              <a:lnSpc>
                <a:spcPct val="100000"/>
              </a:lnSpc>
              <a:spcBef>
                <a:spcPts val="0"/>
              </a:spcBef>
              <a:buFont typeface="Wingdings" panose="05000000000000000000" pitchFamily="2" charset="2"/>
              <a:buAutoNum type="arabicParenR"/>
            </a:pPr>
            <a:r>
              <a:rPr lang="zh-CN" altLang="en-US" sz="2800" b="1" dirty="0">
                <a:latin typeface="Times New Roman" panose="02020603050405020304" pitchFamily="2" charset="0"/>
                <a:ea typeface="宋体" panose="02010600030101010101" pitchFamily="2" charset="-122"/>
              </a:rPr>
              <a:t>右边为多个属性的那些可能的</a:t>
            </a:r>
            <a:r>
              <a:rPr lang="en-US" altLang="x-none" sz="2800" b="1" dirty="0">
                <a:latin typeface="Times New Roman" panose="02020603050405020304" pitchFamily="2" charset="0"/>
                <a:ea typeface="宋体" panose="02010600030101010101" pitchFamily="2" charset="-122"/>
              </a:rPr>
              <a:t>FD</a:t>
            </a:r>
            <a:r>
              <a:rPr lang="zh-CN" altLang="en-US" sz="2800" b="1" dirty="0">
                <a:latin typeface="Times New Roman" panose="02020603050405020304" pitchFamily="2" charset="0"/>
                <a:ea typeface="宋体" panose="02010600030101010101" pitchFamily="2" charset="-122"/>
              </a:rPr>
              <a:t>？</a:t>
            </a:r>
          </a:p>
        </p:txBody>
      </p:sp>
      <p:sp>
        <p:nvSpPr>
          <p:cNvPr id="121899" name="AutoShape 42"/>
          <p:cNvSpPr/>
          <p:nvPr/>
        </p:nvSpPr>
        <p:spPr>
          <a:xfrm>
            <a:off x="0" y="4708525"/>
            <a:ext cx="9144000" cy="2109528"/>
          </a:xfrm>
          <a:prstGeom prst="wedgeRoundRectCallout">
            <a:avLst>
              <a:gd name="adj1" fmla="val 5644"/>
              <a:gd name="adj2" fmla="val 51495"/>
              <a:gd name="adj3" fmla="val 16667"/>
            </a:avLst>
          </a:prstGeom>
          <a:solidFill>
            <a:srgbClr val="EAEAEA"/>
          </a:solidFill>
          <a:ln w="25400" cap="flat" cmpd="sng">
            <a:solidFill>
              <a:schemeClr val="tx1"/>
            </a:solidFill>
            <a:prstDash val="solid"/>
            <a:miter/>
            <a:headEnd type="none" w="med" len="med"/>
            <a:tailEnd type="none" w="med" len="med"/>
          </a:ln>
        </p:spPr>
        <p:txBody>
          <a:bodyPr wrap="square" bIns="0" anchor="t">
            <a:spAutoFit/>
          </a:bodyPr>
          <a:lstStyle/>
          <a:p>
            <a:pPr marL="457200" lvl="0" indent="-457200">
              <a:lnSpc>
                <a:spcPct val="100000"/>
              </a:lnSpc>
              <a:spcBef>
                <a:spcPts val="0"/>
              </a:spcBef>
              <a:spcAft>
                <a:spcPts val="1200"/>
              </a:spcAft>
              <a:buFont typeface="Wingdings" panose="05000000000000000000" pitchFamily="2" charset="2"/>
              <a:buAutoNum type="alphaLcParenR"/>
            </a:pPr>
            <a:r>
              <a:rPr lang="zh-CN" altLang="en-US" sz="2800" b="1" dirty="0">
                <a:solidFill>
                  <a:schemeClr val="accent2"/>
                </a:solidFill>
                <a:latin typeface="Times New Roman" panose="02020603050405020304" pitchFamily="2" charset="0"/>
                <a:ea typeface="宋体" panose="02010600030101010101" pitchFamily="2" charset="-122"/>
              </a:rPr>
              <a:t>形如</a:t>
            </a:r>
            <a:r>
              <a:rPr lang="en-US" altLang="x-none" sz="2800" b="1" dirty="0">
                <a:solidFill>
                  <a:schemeClr val="accent2"/>
                </a:solidFill>
                <a:latin typeface="Times New Roman" panose="02020603050405020304" pitchFamily="2" charset="0"/>
                <a:ea typeface="宋体" panose="02010600030101010101" pitchFamily="2" charset="-122"/>
              </a:rPr>
              <a:t>1)</a:t>
            </a:r>
            <a:r>
              <a:rPr lang="zh-CN" altLang="en-US" sz="2800" b="1" dirty="0">
                <a:solidFill>
                  <a:schemeClr val="accent2"/>
                </a:solidFill>
                <a:latin typeface="Times New Roman" panose="02020603050405020304" pitchFamily="2" charset="0"/>
                <a:ea typeface="宋体" panose="02010600030101010101" pitchFamily="2" charset="-122"/>
              </a:rPr>
              <a:t>和</a:t>
            </a:r>
            <a:r>
              <a:rPr lang="en-US" altLang="x-none" sz="2800" b="1" dirty="0">
                <a:solidFill>
                  <a:schemeClr val="accent2"/>
                </a:solidFill>
                <a:latin typeface="Times New Roman" panose="02020603050405020304" pitchFamily="2" charset="0"/>
                <a:ea typeface="宋体" panose="02010600030101010101" pitchFamily="2" charset="-122"/>
              </a:rPr>
              <a:t>2)</a:t>
            </a:r>
            <a:r>
              <a:rPr lang="zh-CN" altLang="en-US" sz="2800" b="1" dirty="0">
                <a:solidFill>
                  <a:schemeClr val="accent2"/>
                </a:solidFill>
                <a:latin typeface="Times New Roman" panose="02020603050405020304" pitchFamily="2" charset="0"/>
                <a:ea typeface="宋体" panose="02010600030101010101" pitchFamily="2" charset="-122"/>
              </a:rPr>
              <a:t>这两种情况，如果存在这样的函数依赖，那么一定可以从已知的这六个函数依赖中推导出来。</a:t>
            </a:r>
          </a:p>
          <a:p>
            <a:pPr marL="457200" lvl="0" indent="-457200">
              <a:spcBef>
                <a:spcPts val="0"/>
              </a:spcBef>
              <a:buFont typeface="Wingdings" panose="05000000000000000000" pitchFamily="2" charset="2"/>
              <a:buAutoNum type="alphaLcParenR"/>
            </a:pPr>
            <a:r>
              <a:rPr lang="zh-CN" altLang="en-US" sz="2800" b="1" dirty="0">
                <a:solidFill>
                  <a:schemeClr val="accent2"/>
                </a:solidFill>
                <a:latin typeface="Times New Roman" panose="02020603050405020304" pitchFamily="2" charset="0"/>
                <a:ea typeface="宋体" panose="02010600030101010101" pitchFamily="2" charset="-122"/>
              </a:rPr>
              <a:t>在情况</a:t>
            </a:r>
            <a:r>
              <a:rPr lang="en-US" altLang="x-none" sz="2800" b="1" dirty="0">
                <a:solidFill>
                  <a:schemeClr val="accent2"/>
                </a:solidFill>
                <a:latin typeface="Times New Roman" panose="02020603050405020304" pitchFamily="2" charset="0"/>
                <a:ea typeface="宋体" panose="02010600030101010101" pitchFamily="2" charset="-122"/>
              </a:rPr>
              <a:t>3)</a:t>
            </a:r>
            <a:r>
              <a:rPr lang="zh-CN" altLang="en-US" sz="2800" b="1" dirty="0">
                <a:solidFill>
                  <a:schemeClr val="accent2"/>
                </a:solidFill>
                <a:latin typeface="Times New Roman" panose="02020603050405020304" pitchFamily="2" charset="0"/>
                <a:ea typeface="宋体" panose="02010600030101010101" pitchFamily="2" charset="-122"/>
              </a:rPr>
              <a:t>中，可以用已知的这六个函数依赖来证明它是否成立。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1899"/>
                                        </p:tgtEl>
                                        <p:attrNameLst>
                                          <p:attrName>style.visibility</p:attrName>
                                        </p:attrNameLst>
                                      </p:cBhvr>
                                      <p:to>
                                        <p:strVal val="visible"/>
                                      </p:to>
                                    </p:set>
                                    <p:animEffect transition="in" filter="blinds(horizontal)">
                                      <p:cBhvr>
                                        <p:cTn id="7" dur="500"/>
                                        <p:tgtEl>
                                          <p:spTgt spid="1218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99"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22882"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22883"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50</a:t>
            </a:fld>
            <a:endParaRPr lang="zh-CN" altLang="en-US" sz="1200" b="1" i="1" dirty="0">
              <a:latin typeface="Times New Roman" panose="02020603050405020304" pitchFamily="2" charset="0"/>
              <a:ea typeface="宋体" panose="02010600030101010101" pitchFamily="2" charset="-122"/>
            </a:endParaRPr>
          </a:p>
        </p:txBody>
      </p:sp>
      <p:sp>
        <p:nvSpPr>
          <p:cNvPr id="122884" name="Rectangle 2"/>
          <p:cNvSpPr>
            <a:spLocks noGrp="1"/>
          </p:cNvSpPr>
          <p:nvPr>
            <p:ph type="title"/>
          </p:nvPr>
        </p:nvSpPr>
        <p:spPr/>
        <p:txBody>
          <a:bodyPr wrap="square" anchor="ctr"/>
          <a:lstStyle/>
          <a:p>
            <a:pPr lvl="0" eaLnBrk="1" hangingPunct="1"/>
            <a:r>
              <a:rPr lang="en-US" altLang="x-none" dirty="0">
                <a:ea typeface="宋体" panose="02010600030101010101" pitchFamily="2" charset="-122"/>
              </a:rPr>
              <a:t>Content of next</a:t>
            </a:r>
            <a:endParaRPr lang="zh-CN" altLang="en-US" dirty="0">
              <a:ea typeface="宋体" panose="02010600030101010101" pitchFamily="2" charset="-122"/>
            </a:endParaRPr>
          </a:p>
        </p:txBody>
      </p:sp>
      <p:sp>
        <p:nvSpPr>
          <p:cNvPr id="122885" name="Rectangle 3"/>
          <p:cNvSpPr>
            <a:spLocks noGrp="1"/>
          </p:cNvSpPr>
          <p:nvPr>
            <p:ph type="body"/>
          </p:nvPr>
        </p:nvSpPr>
        <p:spPr/>
        <p:txBody>
          <a:bodyPr wrap="square" anchor="t"/>
          <a:lstStyle/>
          <a:p>
            <a:pPr lvl="0" eaLnBrk="1" hangingPunct="1">
              <a:lnSpc>
                <a:spcPct val="120000"/>
              </a:lnSpc>
            </a:pPr>
            <a:r>
              <a:rPr lang="en-US" altLang="x-none" dirty="0">
                <a:solidFill>
                  <a:schemeClr val="accent2"/>
                </a:solidFill>
                <a:ea typeface="宋体" panose="02010600030101010101" pitchFamily="2" charset="-122"/>
              </a:rPr>
              <a:t>Closure of a Set of FDs </a:t>
            </a:r>
            <a:r>
              <a:rPr lang="en-US" altLang="x-none" dirty="0">
                <a:solidFill>
                  <a:schemeClr val="tx1"/>
                </a:solidFill>
                <a:ea typeface="宋体" panose="02010600030101010101" pitchFamily="2" charset="-122"/>
              </a:rPr>
              <a:t>(</a:t>
            </a:r>
            <a:r>
              <a:rPr lang="zh-CN" altLang="en-US" dirty="0">
                <a:solidFill>
                  <a:schemeClr val="tx1"/>
                </a:solidFill>
                <a:ea typeface="宋体" panose="02010600030101010101" pitchFamily="2" charset="-122"/>
              </a:rPr>
              <a:t>函数依赖集</a:t>
            </a:r>
            <a:r>
              <a:rPr lang="en-US" altLang="x-none" dirty="0">
                <a:solidFill>
                  <a:schemeClr val="tx1"/>
                </a:solidFill>
                <a:ea typeface="宋体" panose="02010600030101010101" pitchFamily="2" charset="-122"/>
              </a:rPr>
              <a:t>F</a:t>
            </a:r>
            <a:r>
              <a:rPr lang="zh-CN" altLang="en-US" dirty="0">
                <a:solidFill>
                  <a:schemeClr val="tx1"/>
                </a:solidFill>
                <a:ea typeface="宋体" panose="02010600030101010101" pitchFamily="2" charset="-122"/>
              </a:rPr>
              <a:t>的闭包</a:t>
            </a:r>
            <a:r>
              <a:rPr lang="en-US" altLang="x-none" baseline="30000" dirty="0">
                <a:solidFill>
                  <a:schemeClr val="tx1"/>
                </a:solidFill>
                <a:ea typeface="宋体" panose="02010600030101010101" pitchFamily="2" charset="-122"/>
              </a:rPr>
              <a:t> </a:t>
            </a:r>
            <a:r>
              <a:rPr lang="zh-CN" altLang="en-US" dirty="0">
                <a:solidFill>
                  <a:schemeClr val="tx1"/>
                </a:solidFill>
                <a:ea typeface="宋体" panose="02010600030101010101" pitchFamily="2" charset="-122"/>
              </a:rPr>
              <a:t>)</a:t>
            </a:r>
            <a:endParaRPr lang="en-US" altLang="x-none" dirty="0">
              <a:solidFill>
                <a:schemeClr val="accent2"/>
              </a:solidFill>
              <a:ea typeface="宋体" panose="02010600030101010101" pitchFamily="2" charset="-122"/>
            </a:endParaRPr>
          </a:p>
          <a:p>
            <a:pPr lvl="0" eaLnBrk="1" hangingPunct="1">
              <a:lnSpc>
                <a:spcPct val="120000"/>
              </a:lnSpc>
            </a:pPr>
            <a:r>
              <a:rPr lang="en-US" altLang="x-none" dirty="0">
                <a:solidFill>
                  <a:schemeClr val="accent2"/>
                </a:solidFill>
                <a:ea typeface="宋体" panose="02010600030101010101" pitchFamily="2" charset="-122"/>
              </a:rPr>
              <a:t>FD Set Cover </a:t>
            </a:r>
            <a:r>
              <a:rPr lang="en-US" altLang="x-none" dirty="0">
                <a:solidFill>
                  <a:schemeClr val="tx1"/>
                </a:solidFill>
                <a:ea typeface="宋体" panose="02010600030101010101" pitchFamily="2" charset="-122"/>
              </a:rPr>
              <a:t>(</a:t>
            </a:r>
            <a:r>
              <a:rPr lang="zh-CN" altLang="en-US" dirty="0">
                <a:solidFill>
                  <a:schemeClr val="tx1"/>
                </a:solidFill>
                <a:ea typeface="宋体" panose="02010600030101010101" pitchFamily="2" charset="-122"/>
              </a:rPr>
              <a:t>函数依赖集的覆盖)</a:t>
            </a:r>
          </a:p>
          <a:p>
            <a:pPr lvl="0" eaLnBrk="1" hangingPunct="1">
              <a:lnSpc>
                <a:spcPct val="120000"/>
              </a:lnSpc>
            </a:pPr>
            <a:r>
              <a:rPr lang="en-US" altLang="x-none" dirty="0">
                <a:solidFill>
                  <a:schemeClr val="accent2"/>
                </a:solidFill>
                <a:ea typeface="宋体" panose="02010600030101010101" pitchFamily="2" charset="-122"/>
              </a:rPr>
              <a:t>Equivalence of two sets of FDS </a:t>
            </a:r>
            <a:r>
              <a:rPr lang="en-US" altLang="x-none" dirty="0">
                <a:solidFill>
                  <a:schemeClr val="tx1"/>
                </a:solidFill>
                <a:ea typeface="宋体" panose="02010600030101010101" pitchFamily="2" charset="-122"/>
              </a:rPr>
              <a:t>(</a:t>
            </a:r>
            <a:r>
              <a:rPr lang="zh-CN" altLang="en-US" dirty="0">
                <a:solidFill>
                  <a:schemeClr val="tx1"/>
                </a:solidFill>
                <a:ea typeface="宋体" panose="02010600030101010101" pitchFamily="2" charset="-122"/>
              </a:rPr>
              <a:t>函数依赖集的等价</a:t>
            </a:r>
            <a:r>
              <a:rPr lang="en-US" altLang="x-none" dirty="0">
                <a:solidFill>
                  <a:schemeClr val="tx1"/>
                </a:solidFill>
                <a:ea typeface="宋体" panose="02010600030101010101" pitchFamily="2" charset="-122"/>
              </a:rPr>
              <a:t>)</a:t>
            </a:r>
          </a:p>
          <a:p>
            <a:pPr lvl="0" eaLnBrk="1" hangingPunct="1">
              <a:lnSpc>
                <a:spcPct val="120000"/>
              </a:lnSpc>
            </a:pPr>
            <a:endParaRPr lang="zh-CN" altLang="en-US" sz="1400" dirty="0">
              <a:solidFill>
                <a:schemeClr val="tx1"/>
              </a:solidFill>
              <a:ea typeface="宋体" panose="02010600030101010101" pitchFamily="2" charset="-122"/>
            </a:endParaRPr>
          </a:p>
          <a:p>
            <a:pPr lvl="0" eaLnBrk="1" hangingPunct="1">
              <a:lnSpc>
                <a:spcPct val="120000"/>
              </a:lnSpc>
            </a:pPr>
            <a:r>
              <a:rPr lang="en-US" altLang="x-none" dirty="0">
                <a:solidFill>
                  <a:schemeClr val="accent2"/>
                </a:solidFill>
                <a:ea typeface="宋体" panose="02010600030101010101" pitchFamily="2" charset="-122"/>
              </a:rPr>
              <a:t>Closure of a Set of Attributes</a:t>
            </a:r>
            <a:r>
              <a:rPr lang="en-US" altLang="x-none" dirty="0">
                <a:solidFill>
                  <a:schemeClr val="tx1"/>
                </a:solidFill>
                <a:ea typeface="宋体" panose="02010600030101010101" pitchFamily="2" charset="-122"/>
              </a:rPr>
              <a:t> (</a:t>
            </a:r>
            <a:r>
              <a:rPr lang="zh-CN" altLang="en-US" dirty="0">
                <a:solidFill>
                  <a:schemeClr val="tx1"/>
                </a:solidFill>
                <a:ea typeface="宋体" panose="02010600030101010101" pitchFamily="2" charset="-122"/>
              </a:rPr>
              <a:t>属性集的闭包)</a:t>
            </a:r>
          </a:p>
          <a:p>
            <a:pPr lvl="1" indent="-285750" eaLnBrk="1" hangingPunct="1">
              <a:lnSpc>
                <a:spcPct val="120000"/>
              </a:lnSpc>
            </a:pPr>
            <a:r>
              <a:rPr lang="en-US" altLang="x-none" dirty="0">
                <a:ea typeface="宋体" panose="02010600030101010101" pitchFamily="2" charset="-122"/>
              </a:rPr>
              <a:t>Algorithm 6.6.12</a:t>
            </a:r>
            <a:endParaRPr lang="zh-CN" altLang="en-US" dirty="0">
              <a:ea typeface="宋体" panose="02010600030101010101" pitchFamily="2" charset="-122"/>
            </a:endParaRPr>
          </a:p>
          <a:p>
            <a:pPr lvl="0" eaLnBrk="1" hangingPunct="1">
              <a:lnSpc>
                <a:spcPct val="120000"/>
              </a:lnSpc>
            </a:pPr>
            <a:r>
              <a:rPr lang="en-US" altLang="x-none" dirty="0">
                <a:solidFill>
                  <a:schemeClr val="accent2"/>
                </a:solidFill>
                <a:ea typeface="宋体" panose="02010600030101010101" pitchFamily="2" charset="-122"/>
              </a:rPr>
              <a:t>Minimal Cover </a:t>
            </a:r>
            <a:r>
              <a:rPr lang="en-US" altLang="x-none" dirty="0">
                <a:solidFill>
                  <a:schemeClr val="tx1"/>
                </a:solidFill>
                <a:ea typeface="宋体" panose="02010600030101010101" pitchFamily="2" charset="-122"/>
              </a:rPr>
              <a:t>(</a:t>
            </a:r>
            <a:r>
              <a:rPr lang="zh-CN" altLang="en-US" dirty="0">
                <a:solidFill>
                  <a:schemeClr val="tx1"/>
                </a:solidFill>
                <a:ea typeface="宋体" panose="02010600030101010101" pitchFamily="2" charset="-122"/>
              </a:rPr>
              <a:t>最小覆盖</a:t>
            </a:r>
            <a:r>
              <a:rPr lang="en-US" altLang="x-none" dirty="0">
                <a:solidFill>
                  <a:schemeClr val="tx1"/>
                </a:solidFill>
                <a:ea typeface="宋体" panose="02010600030101010101" pitchFamily="2" charset="-122"/>
              </a:rPr>
              <a:t>)</a:t>
            </a:r>
          </a:p>
          <a:p>
            <a:pPr lvl="1" indent="-285750" eaLnBrk="1" hangingPunct="1">
              <a:lnSpc>
                <a:spcPct val="120000"/>
              </a:lnSpc>
            </a:pPr>
            <a:r>
              <a:rPr lang="en-US" altLang="x-none" dirty="0">
                <a:ea typeface="宋体" panose="02010600030101010101" pitchFamily="2" charset="-122"/>
              </a:rPr>
              <a:t>Algorithm 6.6.13</a:t>
            </a:r>
            <a:endParaRPr lang="zh-CN" altLang="en-US" dirty="0">
              <a:solidFill>
                <a:schemeClr val="tx1"/>
              </a:solidFill>
              <a:ea typeface="宋体" panose="0201060003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23906"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23907"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51</a:t>
            </a:fld>
            <a:endParaRPr lang="zh-CN" altLang="en-US" sz="1200" b="1" i="1" dirty="0">
              <a:latin typeface="Times New Roman" panose="02020603050405020304" pitchFamily="2" charset="0"/>
              <a:ea typeface="宋体" panose="02010600030101010101" pitchFamily="2" charset="-122"/>
            </a:endParaRPr>
          </a:p>
        </p:txBody>
      </p:sp>
      <p:sp>
        <p:nvSpPr>
          <p:cNvPr id="123908"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6.6 </a:t>
            </a:r>
            <a:r>
              <a:rPr lang="en-US" altLang="x-none" dirty="0">
                <a:ea typeface="宋体" panose="02010600030101010101" pitchFamily="2" charset="-122"/>
              </a:rPr>
              <a:t>Functional Dependencies</a:t>
            </a:r>
          </a:p>
        </p:txBody>
      </p:sp>
      <p:sp>
        <p:nvSpPr>
          <p:cNvPr id="123909" name="Rectangle 3"/>
          <p:cNvSpPr>
            <a:spLocks noGrp="1"/>
          </p:cNvSpPr>
          <p:nvPr>
            <p:ph type="body"/>
          </p:nvPr>
        </p:nvSpPr>
        <p:spPr>
          <a:xfrm>
            <a:off x="250825" y="693420"/>
            <a:ext cx="8686800" cy="2331720"/>
          </a:xfrm>
        </p:spPr>
        <p:txBody>
          <a:bodyPr wrap="square" anchor="t">
            <a:spAutoFit/>
          </a:bodyPr>
          <a:lstStyle/>
          <a:p>
            <a:pPr lvl="0" eaLnBrk="1" hangingPunct="1">
              <a:lnSpc>
                <a:spcPct val="100000"/>
              </a:lnSpc>
            </a:pPr>
            <a:r>
              <a:rPr lang="en-US" altLang="x-none" dirty="0">
                <a:ea typeface="宋体" panose="02010600030101010101" pitchFamily="2" charset="-122"/>
              </a:rPr>
              <a:t>Def. 6.6.9 </a:t>
            </a:r>
            <a:r>
              <a:rPr lang="en-US" altLang="x-none" dirty="0">
                <a:solidFill>
                  <a:schemeClr val="accent2"/>
                </a:solidFill>
                <a:ea typeface="宋体" panose="02010600030101010101" pitchFamily="2" charset="-122"/>
              </a:rPr>
              <a:t>Closure of a Set of FDs </a:t>
            </a:r>
            <a:r>
              <a:rPr lang="en-US" altLang="x-none" dirty="0">
                <a:solidFill>
                  <a:schemeClr val="tx1"/>
                </a:solidFill>
                <a:ea typeface="宋体" panose="02010600030101010101" pitchFamily="2" charset="-122"/>
              </a:rPr>
              <a:t>(</a:t>
            </a:r>
            <a:r>
              <a:rPr lang="zh-CN" altLang="en-US" dirty="0">
                <a:solidFill>
                  <a:schemeClr val="tx1"/>
                </a:solidFill>
                <a:ea typeface="宋体" panose="02010600030101010101" pitchFamily="2" charset="-122"/>
              </a:rPr>
              <a:t>函数依赖集</a:t>
            </a:r>
            <a:r>
              <a:rPr lang="en-US" altLang="x-none" dirty="0">
                <a:solidFill>
                  <a:schemeClr val="tx1"/>
                </a:solidFill>
                <a:ea typeface="宋体" panose="02010600030101010101" pitchFamily="2" charset="-122"/>
              </a:rPr>
              <a:t>F</a:t>
            </a:r>
            <a:r>
              <a:rPr lang="zh-CN" altLang="en-US" dirty="0">
                <a:solidFill>
                  <a:schemeClr val="tx1"/>
                </a:solidFill>
                <a:ea typeface="宋体" panose="02010600030101010101" pitchFamily="2" charset="-122"/>
              </a:rPr>
              <a:t>的闭包，记为</a:t>
            </a:r>
            <a:r>
              <a:rPr lang="zh-CN" altLang="en-US" dirty="0">
                <a:ea typeface="宋体" panose="02010600030101010101" pitchFamily="2" charset="-122"/>
              </a:rPr>
              <a:t> </a:t>
            </a:r>
            <a:r>
              <a:rPr lang="en-US" altLang="x-none" dirty="0">
                <a:ea typeface="宋体" panose="02010600030101010101" pitchFamily="2" charset="-122"/>
              </a:rPr>
              <a:t>F</a:t>
            </a:r>
            <a:r>
              <a:rPr lang="en-US" altLang="x-none" baseline="30000" dirty="0">
                <a:ea typeface="宋体" panose="02010600030101010101" pitchFamily="2" charset="-122"/>
              </a:rPr>
              <a:t>+</a:t>
            </a:r>
            <a:r>
              <a:rPr lang="en-US" altLang="x-none" baseline="30000" dirty="0">
                <a:solidFill>
                  <a:schemeClr val="tx1"/>
                </a:solidFill>
                <a:ea typeface="宋体" panose="02010600030101010101" pitchFamily="2" charset="-122"/>
              </a:rPr>
              <a:t> </a:t>
            </a:r>
            <a:r>
              <a:rPr lang="zh-CN" altLang="en-US" dirty="0">
                <a:solidFill>
                  <a:schemeClr val="tx1"/>
                </a:solidFill>
                <a:ea typeface="宋体" panose="02010600030101010101" pitchFamily="2" charset="-122"/>
              </a:rPr>
              <a:t>)</a:t>
            </a:r>
          </a:p>
          <a:p>
            <a:pPr lvl="1" indent="-285750" eaLnBrk="1" hangingPunct="1">
              <a:lnSpc>
                <a:spcPct val="100000"/>
              </a:lnSpc>
            </a:pPr>
            <a:r>
              <a:rPr lang="en-US" altLang="x-none" dirty="0">
                <a:ea typeface="宋体" panose="02010600030101010101" pitchFamily="2" charset="-122"/>
              </a:rPr>
              <a:t>Given a set F of FDs on attributes of a table T, we define the CLOSURE of F, symbolized by F</a:t>
            </a:r>
            <a:r>
              <a:rPr lang="en-US" altLang="x-none" baseline="30000" dirty="0">
                <a:ea typeface="宋体" panose="02010600030101010101" pitchFamily="2" charset="-122"/>
              </a:rPr>
              <a:t>+</a:t>
            </a:r>
            <a:r>
              <a:rPr lang="en-US" altLang="x-none" dirty="0">
                <a:ea typeface="宋体" panose="02010600030101010101" pitchFamily="2" charset="-122"/>
              </a:rPr>
              <a:t>, to be </a:t>
            </a:r>
            <a:r>
              <a:rPr lang="en-US" altLang="x-none" u="sng" dirty="0">
                <a:ea typeface="宋体" panose="02010600030101010101" pitchFamily="2" charset="-122"/>
              </a:rPr>
              <a:t>the set of all FDs implied by F</a:t>
            </a:r>
            <a:r>
              <a:rPr lang="en-US" altLang="x-none" dirty="0">
                <a:ea typeface="宋体" panose="02010600030101010101" pitchFamily="2" charset="-122"/>
              </a:rPr>
              <a:t>.</a:t>
            </a:r>
          </a:p>
        </p:txBody>
      </p:sp>
      <p:sp>
        <p:nvSpPr>
          <p:cNvPr id="123911" name="文本框 123910"/>
          <p:cNvSpPr txBox="1"/>
          <p:nvPr/>
        </p:nvSpPr>
        <p:spPr>
          <a:xfrm>
            <a:off x="251460" y="3256915"/>
            <a:ext cx="8686165" cy="2115820"/>
          </a:xfrm>
          <a:prstGeom prst="rect">
            <a:avLst/>
          </a:prstGeom>
          <a:solidFill>
            <a:schemeClr val="bg1"/>
          </a:solidFill>
          <a:ln w="12700" cap="flat" cmpd="sng">
            <a:solidFill>
              <a:schemeClr val="accent2"/>
            </a:solidFill>
            <a:prstDash val="solid"/>
            <a:miter/>
            <a:headEnd type="none" w="med" len="med"/>
            <a:tailEnd type="none" w="med" len="med"/>
          </a:ln>
        </p:spPr>
        <p:txBody>
          <a:bodyPr wrap="square" lIns="90170" tIns="107950" rIns="90170" bIns="107950" anchor="t">
            <a:spAutoFit/>
          </a:bodyPr>
          <a:lstStyle/>
          <a:p>
            <a:pPr marL="1905" lvl="0" eaLnBrk="0" hangingPunct="0">
              <a:lnSpc>
                <a:spcPct val="100000"/>
              </a:lnSpc>
              <a:spcBef>
                <a:spcPct val="10000"/>
              </a:spcBef>
              <a:spcAft>
                <a:spcPct val="30000"/>
              </a:spcAft>
            </a:pPr>
            <a:r>
              <a:rPr lang="zh-CN" altLang="en-US" sz="2800" b="1" dirty="0">
                <a:latin typeface="Times New Roman" panose="02020603050405020304" pitchFamily="2" charset="0"/>
                <a:ea typeface="Times New Roman" panose="02020603050405020304" pitchFamily="2" charset="0"/>
              </a:rPr>
              <a:t>给定一个关系模式T及其函数依赖集F，则F的闭包可定义如下：</a:t>
            </a:r>
          </a:p>
          <a:p>
            <a:pPr marL="1499870" lvl="1" indent="-1042035" eaLnBrk="0" hangingPunct="0">
              <a:lnSpc>
                <a:spcPct val="100000"/>
              </a:lnSpc>
              <a:spcBef>
                <a:spcPct val="10000"/>
              </a:spcBef>
              <a:spcAft>
                <a:spcPct val="30000"/>
              </a:spcAft>
            </a:pPr>
            <a:r>
              <a:rPr lang="zh-CN" altLang="en-US" sz="2800" b="1" dirty="0">
                <a:solidFill>
                  <a:srgbClr val="FF0000"/>
                </a:solidFill>
                <a:latin typeface="Times New Roman" panose="02020603050405020304" pitchFamily="2" charset="0"/>
                <a:ea typeface="Times New Roman" panose="02020603050405020304" pitchFamily="2" charset="0"/>
              </a:rPr>
              <a:t>F</a:t>
            </a:r>
            <a:r>
              <a:rPr lang="zh-CN" altLang="en-US" sz="2800" b="1" baseline="30000" dirty="0">
                <a:solidFill>
                  <a:srgbClr val="FF0000"/>
                </a:solidFill>
                <a:latin typeface="Times New Roman" panose="02020603050405020304" pitchFamily="2" charset="0"/>
                <a:ea typeface="Times New Roman" panose="02020603050405020304" pitchFamily="2" charset="0"/>
              </a:rPr>
              <a:t>+</a:t>
            </a:r>
            <a:r>
              <a:rPr lang="zh-CN" altLang="en-US" sz="2800" b="1" dirty="0">
                <a:latin typeface="Times New Roman" panose="02020603050405020304" pitchFamily="2" charset="0"/>
                <a:ea typeface="Times New Roman" panose="02020603050405020304" pitchFamily="2" charset="0"/>
              </a:rPr>
              <a:t> </a:t>
            </a:r>
            <a:r>
              <a:rPr lang="zh-CN" altLang="en-US" sz="2800" b="1" dirty="0">
                <a:solidFill>
                  <a:srgbClr val="0000CC"/>
                </a:solidFill>
                <a:latin typeface="Times New Roman" panose="02020603050405020304" pitchFamily="2" charset="0"/>
                <a:ea typeface="Times New Roman" panose="02020603050405020304" pitchFamily="2" charset="0"/>
              </a:rPr>
              <a:t>= { 根据F中已有的函数依赖，利用Armstrong公理系统能够推导得到的所有函数依赖   }</a:t>
            </a:r>
          </a:p>
        </p:txBody>
      </p:sp>
      <p:sp>
        <p:nvSpPr>
          <p:cNvPr id="2" name="文本框 1"/>
          <p:cNvSpPr txBox="1"/>
          <p:nvPr/>
        </p:nvSpPr>
        <p:spPr>
          <a:xfrm>
            <a:off x="251460" y="5516880"/>
            <a:ext cx="8522970" cy="521970"/>
          </a:xfrm>
          <a:prstGeom prst="rect">
            <a:avLst/>
          </a:prstGeom>
          <a:noFill/>
        </p:spPr>
        <p:txBody>
          <a:bodyPr wrap="square" rtlCol="0">
            <a:spAutoFit/>
          </a:bodyPr>
          <a:lstStyle/>
          <a:p>
            <a:pPr marL="457200" indent="-457200">
              <a:buFont typeface="Arial" panose="020B0604020202020204" pitchFamily="34" charset="0"/>
              <a:buChar char="•"/>
            </a:pPr>
            <a:r>
              <a:rPr lang="zh-CN" altLang="en-US" sz="2800" b="1">
                <a:latin typeface="Arial" panose="020B0604020202020204" pitchFamily="34" charset="0"/>
              </a:rPr>
              <a:t>可简化表示为：</a:t>
            </a:r>
            <a:r>
              <a:rPr lang="en-US" altLang="zh-CN" sz="2800" b="1">
                <a:solidFill>
                  <a:srgbClr val="FF0000"/>
                </a:solidFill>
                <a:latin typeface="Arial" panose="020B0604020202020204" pitchFamily="34" charset="0"/>
              </a:rPr>
              <a:t>F</a:t>
            </a:r>
            <a:r>
              <a:rPr lang="en-US" altLang="zh-CN" sz="2800" b="1" baseline="30000">
                <a:solidFill>
                  <a:srgbClr val="FF0000"/>
                </a:solidFill>
                <a:latin typeface="Arial" panose="020B0604020202020204" pitchFamily="34" charset="0"/>
              </a:rPr>
              <a:t>+</a:t>
            </a:r>
            <a:r>
              <a:rPr lang="en-US" altLang="zh-CN" sz="2800" b="1">
                <a:solidFill>
                  <a:srgbClr val="FF0000"/>
                </a:solidFill>
                <a:latin typeface="Arial" panose="020B0604020202020204" pitchFamily="34" charset="0"/>
              </a:rPr>
              <a:t> = { X</a:t>
            </a:r>
            <a:r>
              <a:rPr lang="en-US" altLang="zh-CN" sz="2800" b="1">
                <a:solidFill>
                  <a:srgbClr val="FF0000"/>
                </a:solidFill>
                <a:latin typeface="Arial" panose="020B0604020202020204" pitchFamily="34" charset="0"/>
                <a:ea typeface="宋体" panose="02010600030101010101" pitchFamily="2" charset="-122"/>
              </a:rPr>
              <a:t>→Y | F</a:t>
            </a:r>
            <a:r>
              <a:rPr lang="en-US" altLang="zh-CN" sz="2800" b="1">
                <a:solidFill>
                  <a:srgbClr val="FF0000"/>
                </a:solidFill>
                <a:latin typeface="Arial" panose="020B0604020202020204" pitchFamily="34" charset="0"/>
                <a:ea typeface="微软雅黑" panose="020B0503020204020204" charset="-122"/>
              </a:rPr>
              <a:t>╞ X</a:t>
            </a:r>
            <a:r>
              <a:rPr lang="en-US" altLang="zh-CN" sz="2800" b="1">
                <a:solidFill>
                  <a:srgbClr val="FF0000"/>
                </a:solidFill>
                <a:latin typeface="Arial" panose="020B0604020202020204" pitchFamily="34" charset="0"/>
                <a:ea typeface="宋体" panose="02010600030101010101" pitchFamily="2" charset="-122"/>
              </a:rPr>
              <a:t>→Y </a:t>
            </a:r>
            <a:r>
              <a:rPr lang="en-US" altLang="zh-CN" sz="2800" b="1">
                <a:solidFill>
                  <a:srgbClr val="FF0000"/>
                </a:solidFill>
                <a:latin typeface="Arial" panose="020B0604020202020204"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3911"/>
                                        </p:tgtEl>
                                        <p:attrNameLst>
                                          <p:attrName>style.visibility</p:attrName>
                                        </p:attrNameLst>
                                      </p:cBhvr>
                                      <p:to>
                                        <p:strVal val="visible"/>
                                      </p:to>
                                    </p:set>
                                    <p:animEffect transition="in" filter="blinds(horizontal)">
                                      <p:cBhvr>
                                        <p:cTn id="7" dur="500"/>
                                        <p:tgtEl>
                                          <p:spTgt spid="12391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11" grpId="0" bldLvl="0" animBg="1"/>
      <p:bldP spid="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23906"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23907"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52</a:t>
            </a:fld>
            <a:endParaRPr lang="zh-CN" altLang="en-US" sz="1200" b="1" i="1" dirty="0">
              <a:latin typeface="Times New Roman" panose="02020603050405020304" pitchFamily="2" charset="0"/>
              <a:ea typeface="宋体" panose="02010600030101010101" pitchFamily="2" charset="-122"/>
            </a:endParaRPr>
          </a:p>
        </p:txBody>
      </p:sp>
      <p:sp>
        <p:nvSpPr>
          <p:cNvPr id="123908"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6.6 </a:t>
            </a:r>
            <a:r>
              <a:rPr lang="en-US" altLang="x-none" dirty="0">
                <a:ea typeface="宋体" panose="02010600030101010101" pitchFamily="2" charset="-122"/>
              </a:rPr>
              <a:t>Functional Dependencies</a:t>
            </a:r>
          </a:p>
        </p:txBody>
      </p:sp>
      <p:sp>
        <p:nvSpPr>
          <p:cNvPr id="123909" name="Rectangle 3"/>
          <p:cNvSpPr>
            <a:spLocks noGrp="1"/>
          </p:cNvSpPr>
          <p:nvPr>
            <p:ph type="body"/>
          </p:nvPr>
        </p:nvSpPr>
        <p:spPr>
          <a:xfrm>
            <a:off x="250825" y="765175"/>
            <a:ext cx="8686800" cy="1038860"/>
          </a:xfrm>
        </p:spPr>
        <p:txBody>
          <a:bodyPr wrap="square" anchor="t">
            <a:spAutoFit/>
          </a:bodyPr>
          <a:lstStyle/>
          <a:p>
            <a:pPr lvl="0" eaLnBrk="1" hangingPunct="1">
              <a:lnSpc>
                <a:spcPct val="110000"/>
              </a:lnSpc>
            </a:pPr>
            <a:r>
              <a:rPr lang="zh-CN" altLang="en-US" dirty="0">
                <a:solidFill>
                  <a:schemeClr val="tx1"/>
                </a:solidFill>
                <a:ea typeface="宋体" panose="02010600030101010101" pitchFamily="2" charset="-122"/>
              </a:rPr>
              <a:t>给定一个关系模式</a:t>
            </a:r>
            <a:r>
              <a:rPr lang="en-US" altLang="zh-CN" dirty="0">
                <a:solidFill>
                  <a:schemeClr val="tx1"/>
                </a:solidFill>
                <a:ea typeface="宋体" panose="02010600030101010101" pitchFamily="2" charset="-122"/>
              </a:rPr>
              <a:t>T</a:t>
            </a:r>
            <a:r>
              <a:rPr lang="zh-CN" altLang="en-US" dirty="0">
                <a:solidFill>
                  <a:schemeClr val="tx1"/>
                </a:solidFill>
                <a:ea typeface="宋体" panose="02010600030101010101" pitchFamily="2" charset="-122"/>
              </a:rPr>
              <a:t>及其函数依赖集</a:t>
            </a:r>
            <a:r>
              <a:rPr lang="en-US" altLang="x-none" dirty="0">
                <a:solidFill>
                  <a:schemeClr val="tx1"/>
                </a:solidFill>
                <a:ea typeface="宋体" panose="02010600030101010101" pitchFamily="2" charset="-122"/>
              </a:rPr>
              <a:t>F</a:t>
            </a:r>
            <a:r>
              <a:rPr lang="zh-CN" altLang="en-US" dirty="0">
                <a:solidFill>
                  <a:schemeClr val="tx1"/>
                </a:solidFill>
                <a:ea typeface="宋体" panose="02010600030101010101" pitchFamily="2" charset="-122"/>
              </a:rPr>
              <a:t>，则</a:t>
            </a:r>
            <a:r>
              <a:rPr lang="en-US" altLang="zh-CN" dirty="0">
                <a:solidFill>
                  <a:schemeClr val="tx1"/>
                </a:solidFill>
                <a:ea typeface="宋体" panose="02010600030101010101" pitchFamily="2" charset="-122"/>
              </a:rPr>
              <a:t>F</a:t>
            </a:r>
            <a:r>
              <a:rPr lang="zh-CN" altLang="en-US" dirty="0">
                <a:solidFill>
                  <a:schemeClr val="tx1"/>
                </a:solidFill>
                <a:ea typeface="宋体" panose="02010600030101010101" pitchFamily="2" charset="-122"/>
              </a:rPr>
              <a:t>的闭包</a:t>
            </a:r>
            <a:r>
              <a:rPr lang="en-US" altLang="zh-CN" dirty="0">
                <a:solidFill>
                  <a:schemeClr val="tx1"/>
                </a:solidFill>
                <a:ea typeface="宋体" panose="02010600030101010101" pitchFamily="2" charset="-122"/>
              </a:rPr>
              <a:t>F</a:t>
            </a:r>
            <a:r>
              <a:rPr lang="en-US" altLang="zh-CN" baseline="30000" dirty="0">
                <a:solidFill>
                  <a:schemeClr val="tx1"/>
                </a:solidFill>
                <a:ea typeface="宋体" panose="02010600030101010101" pitchFamily="2" charset="-122"/>
              </a:rPr>
              <a:t>+</a:t>
            </a:r>
            <a:r>
              <a:rPr lang="zh-CN" altLang="en-US" dirty="0">
                <a:solidFill>
                  <a:schemeClr val="tx1"/>
                </a:solidFill>
                <a:ea typeface="宋体" panose="02010600030101010101" pitchFamily="2" charset="-122"/>
              </a:rPr>
              <a:t>的计算过程如下</a:t>
            </a:r>
            <a:endParaRPr lang="en-US" altLang="x-none" dirty="0">
              <a:ea typeface="宋体" panose="02010600030101010101" pitchFamily="2" charset="-122"/>
            </a:endParaRPr>
          </a:p>
        </p:txBody>
      </p:sp>
      <p:sp>
        <p:nvSpPr>
          <p:cNvPr id="2" name="Rectangle 3"/>
          <p:cNvSpPr>
            <a:spLocks noGrp="1"/>
          </p:cNvSpPr>
          <p:nvPr/>
        </p:nvSpPr>
        <p:spPr>
          <a:xfrm>
            <a:off x="250825" y="1885950"/>
            <a:ext cx="8686800" cy="4023995"/>
          </a:xfrm>
          <a:prstGeom prst="rect">
            <a:avLst/>
          </a:prstGeom>
          <a:noFill/>
          <a:ln w="19050">
            <a:solidFill>
              <a:schemeClr val="accent1"/>
            </a:solidFill>
          </a:ln>
        </p:spPr>
        <p:txBody>
          <a:bodyPr wrap="square" anchor="t">
            <a:spAutoFit/>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800" b="1" u="none" kern="1200" baseline="0">
                <a:solidFill>
                  <a:srgbClr val="FF0000"/>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Ø"/>
              <a:defRPr sz="2800" b="1" u="none" kern="1200" baseline="0">
                <a:solidFill>
                  <a:schemeClr val="accent2"/>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accent2"/>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9pPr>
          </a:lstStyle>
          <a:p>
            <a:pPr marL="514350" lvl="0" indent="-514350" eaLnBrk="1" hangingPunct="1">
              <a:lnSpc>
                <a:spcPct val="110000"/>
              </a:lnSpc>
              <a:spcBef>
                <a:spcPts val="800"/>
              </a:spcBef>
              <a:spcAft>
                <a:spcPts val="800"/>
              </a:spcAft>
              <a:buFont typeface="+mj-ea"/>
              <a:buAutoNum type="circleNumDbPlain"/>
            </a:pPr>
            <a:r>
              <a:rPr lang="en-US" altLang="x-none" dirty="0">
                <a:solidFill>
                  <a:schemeClr val="accent6"/>
                </a:solidFill>
                <a:ea typeface="宋体" panose="02010600030101010101" pitchFamily="2" charset="-122"/>
              </a:rPr>
              <a:t>F</a:t>
            </a:r>
            <a:r>
              <a:rPr lang="zh-CN" altLang="x-none" dirty="0">
                <a:solidFill>
                  <a:schemeClr val="accent6"/>
                </a:solidFill>
                <a:ea typeface="宋体" panose="02010600030101010101" pitchFamily="2" charset="-122"/>
              </a:rPr>
              <a:t>中的每一个函数依赖都是其闭包</a:t>
            </a:r>
            <a:r>
              <a:rPr lang="en-US" altLang="x-none" dirty="0">
                <a:solidFill>
                  <a:schemeClr val="accent6"/>
                </a:solidFill>
                <a:ea typeface="宋体" panose="02010600030101010101" pitchFamily="2" charset="-122"/>
              </a:rPr>
              <a:t>F</a:t>
            </a:r>
            <a:r>
              <a:rPr lang="en-US" altLang="x-none" baseline="30000" dirty="0">
                <a:solidFill>
                  <a:schemeClr val="accent6"/>
                </a:solidFill>
                <a:ea typeface="宋体" panose="02010600030101010101" pitchFamily="2" charset="-122"/>
              </a:rPr>
              <a:t>+</a:t>
            </a:r>
            <a:r>
              <a:rPr lang="zh-CN" altLang="en-US" dirty="0">
                <a:solidFill>
                  <a:schemeClr val="accent6"/>
                </a:solidFill>
                <a:ea typeface="宋体" panose="02010600030101010101" pitchFamily="2" charset="-122"/>
              </a:rPr>
              <a:t>的成员</a:t>
            </a:r>
          </a:p>
          <a:p>
            <a:pPr marL="514350" lvl="0" indent="-514350" eaLnBrk="1" hangingPunct="1">
              <a:lnSpc>
                <a:spcPct val="110000"/>
              </a:lnSpc>
              <a:spcBef>
                <a:spcPts val="800"/>
              </a:spcBef>
              <a:spcAft>
                <a:spcPts val="800"/>
              </a:spcAft>
              <a:buFont typeface="+mj-ea"/>
              <a:buAutoNum type="circleNumDbPlain"/>
            </a:pPr>
            <a:r>
              <a:rPr lang="zh-CN" altLang="en-US" dirty="0">
                <a:solidFill>
                  <a:schemeClr val="accent6"/>
                </a:solidFill>
                <a:ea typeface="宋体" panose="02010600030101010101" pitchFamily="2" charset="-122"/>
              </a:rPr>
              <a:t>利用自反规则推导得到的所有平凡函数依赖，也都是闭包</a:t>
            </a:r>
            <a:r>
              <a:rPr lang="en-US" altLang="zh-CN" dirty="0">
                <a:solidFill>
                  <a:schemeClr val="accent6"/>
                </a:solidFill>
                <a:ea typeface="宋体" panose="02010600030101010101" pitchFamily="2" charset="-122"/>
              </a:rPr>
              <a:t>F</a:t>
            </a:r>
            <a:r>
              <a:rPr lang="en-US" altLang="zh-CN" baseline="30000" dirty="0">
                <a:solidFill>
                  <a:schemeClr val="accent6"/>
                </a:solidFill>
                <a:ea typeface="宋体" panose="02010600030101010101" pitchFamily="2" charset="-122"/>
              </a:rPr>
              <a:t>+</a:t>
            </a:r>
            <a:r>
              <a:rPr lang="zh-CN" altLang="en-US" dirty="0">
                <a:solidFill>
                  <a:schemeClr val="accent6"/>
                </a:solidFill>
                <a:ea typeface="宋体" panose="02010600030101010101" pitchFamily="2" charset="-122"/>
              </a:rPr>
              <a:t>的成员</a:t>
            </a:r>
          </a:p>
          <a:p>
            <a:pPr marL="514350" lvl="0" indent="-514350" eaLnBrk="1" hangingPunct="1">
              <a:lnSpc>
                <a:spcPct val="110000"/>
              </a:lnSpc>
              <a:spcBef>
                <a:spcPts val="800"/>
              </a:spcBef>
              <a:spcAft>
                <a:spcPts val="800"/>
              </a:spcAft>
              <a:buFont typeface="+mj-ea"/>
              <a:buAutoNum type="circleNumDbPlain"/>
            </a:pPr>
            <a:r>
              <a:rPr lang="zh-CN" altLang="en-US" dirty="0">
                <a:solidFill>
                  <a:schemeClr val="accent6"/>
                </a:solidFill>
                <a:ea typeface="宋体" panose="02010600030101010101" pitchFamily="2" charset="-122"/>
              </a:rPr>
              <a:t>如果函数依赖</a:t>
            </a:r>
            <a:r>
              <a:rPr lang="en-US" altLang="zh-CN" dirty="0">
                <a:solidFill>
                  <a:schemeClr val="accent6"/>
                </a:solidFill>
                <a:ea typeface="宋体" panose="02010600030101010101" pitchFamily="2" charset="-122"/>
              </a:rPr>
              <a:t>f</a:t>
            </a:r>
            <a:r>
              <a:rPr lang="en-US" altLang="zh-CN" baseline="-25000" dirty="0">
                <a:solidFill>
                  <a:schemeClr val="accent6"/>
                </a:solidFill>
                <a:ea typeface="宋体" panose="02010600030101010101" pitchFamily="2" charset="-122"/>
              </a:rPr>
              <a:t>1</a:t>
            </a:r>
            <a:r>
              <a:rPr lang="en-US" altLang="zh-CN" dirty="0">
                <a:solidFill>
                  <a:schemeClr val="accent6"/>
                </a:solidFill>
                <a:ea typeface="宋体" panose="02010600030101010101" pitchFamily="2" charset="-122"/>
              </a:rPr>
              <a:t>,f</a:t>
            </a:r>
            <a:r>
              <a:rPr lang="en-US" altLang="zh-CN" baseline="-25000" dirty="0">
                <a:solidFill>
                  <a:schemeClr val="accent6"/>
                </a:solidFill>
                <a:ea typeface="宋体" panose="02010600030101010101" pitchFamily="2" charset="-122"/>
              </a:rPr>
              <a:t>2</a:t>
            </a:r>
            <a:r>
              <a:rPr lang="en-US" altLang="zh-CN" dirty="0">
                <a:solidFill>
                  <a:schemeClr val="accent6"/>
                </a:solidFill>
                <a:ea typeface="宋体" panose="02010600030101010101" pitchFamily="2" charset="-122"/>
              </a:rPr>
              <a:t>,...,f</a:t>
            </a:r>
            <a:r>
              <a:rPr lang="en-US" altLang="zh-CN" baseline="-25000" dirty="0">
                <a:solidFill>
                  <a:schemeClr val="accent6"/>
                </a:solidFill>
                <a:ea typeface="宋体" panose="02010600030101010101" pitchFamily="2" charset="-122"/>
              </a:rPr>
              <a:t>k</a:t>
            </a:r>
            <a:r>
              <a:rPr lang="en-US" altLang="zh-CN" dirty="0">
                <a:solidFill>
                  <a:schemeClr val="accent6"/>
                </a:solidFill>
                <a:ea typeface="宋体" panose="02010600030101010101" pitchFamily="2" charset="-122"/>
                <a:sym typeface="+mn-ea"/>
              </a:rPr>
              <a:t>(k</a:t>
            </a:r>
            <a:r>
              <a:rPr lang="en-US" altLang="zh-CN" dirty="0">
                <a:solidFill>
                  <a:schemeClr val="accent6"/>
                </a:solidFill>
                <a:latin typeface="Arial" panose="020B0604020202020204" pitchFamily="34" charset="0"/>
                <a:ea typeface="宋体" panose="02010600030101010101" pitchFamily="2" charset="-122"/>
                <a:sym typeface="+mn-ea"/>
              </a:rPr>
              <a:t>≥1)</a:t>
            </a:r>
            <a:r>
              <a:rPr lang="zh-CN" altLang="en-US" dirty="0">
                <a:solidFill>
                  <a:schemeClr val="accent6"/>
                </a:solidFill>
                <a:ea typeface="宋体" panose="02010600030101010101" pitchFamily="2" charset="-122"/>
              </a:rPr>
              <a:t>是闭包</a:t>
            </a:r>
            <a:r>
              <a:rPr lang="en-US" altLang="zh-CN" dirty="0">
                <a:solidFill>
                  <a:schemeClr val="accent6"/>
                </a:solidFill>
                <a:ea typeface="宋体" panose="02010600030101010101" pitchFamily="2" charset="-122"/>
              </a:rPr>
              <a:t>F</a:t>
            </a:r>
            <a:r>
              <a:rPr lang="en-US" altLang="zh-CN" baseline="30000" dirty="0">
                <a:solidFill>
                  <a:schemeClr val="accent6"/>
                </a:solidFill>
                <a:ea typeface="宋体" panose="02010600030101010101" pitchFamily="2" charset="-122"/>
              </a:rPr>
              <a:t>+</a:t>
            </a:r>
            <a:r>
              <a:rPr lang="zh-CN" altLang="en-US" dirty="0">
                <a:solidFill>
                  <a:schemeClr val="accent6"/>
                </a:solidFill>
                <a:ea typeface="宋体" panose="02010600030101010101" pitchFamily="2" charset="-122"/>
              </a:rPr>
              <a:t>的成员，且利用</a:t>
            </a:r>
            <a:r>
              <a:rPr lang="en-US" altLang="zh-CN" dirty="0">
                <a:solidFill>
                  <a:schemeClr val="accent6"/>
                </a:solidFill>
                <a:ea typeface="宋体" panose="02010600030101010101" pitchFamily="2" charset="-122"/>
              </a:rPr>
              <a:t>Armstrong</a:t>
            </a:r>
            <a:r>
              <a:rPr lang="zh-CN" altLang="en-US" dirty="0">
                <a:solidFill>
                  <a:schemeClr val="accent6"/>
                </a:solidFill>
                <a:ea typeface="宋体" panose="02010600030101010101" pitchFamily="2" charset="-122"/>
              </a:rPr>
              <a:t>公理系统能够从</a:t>
            </a:r>
            <a:r>
              <a:rPr lang="en-US" altLang="zh-CN" dirty="0">
                <a:solidFill>
                  <a:schemeClr val="accent6"/>
                </a:solidFill>
                <a:ea typeface="宋体" panose="02010600030101010101" pitchFamily="2" charset="-122"/>
                <a:sym typeface="+mn-ea"/>
              </a:rPr>
              <a:t>f</a:t>
            </a:r>
            <a:r>
              <a:rPr lang="en-US" altLang="zh-CN" baseline="-25000" dirty="0">
                <a:solidFill>
                  <a:schemeClr val="accent6"/>
                </a:solidFill>
                <a:ea typeface="宋体" panose="02010600030101010101" pitchFamily="2" charset="-122"/>
                <a:sym typeface="+mn-ea"/>
              </a:rPr>
              <a:t>1</a:t>
            </a:r>
            <a:r>
              <a:rPr lang="en-US" altLang="zh-CN" dirty="0">
                <a:solidFill>
                  <a:schemeClr val="accent6"/>
                </a:solidFill>
                <a:ea typeface="宋体" panose="02010600030101010101" pitchFamily="2" charset="-122"/>
                <a:sym typeface="+mn-ea"/>
              </a:rPr>
              <a:t>,f</a:t>
            </a:r>
            <a:r>
              <a:rPr lang="en-US" altLang="zh-CN" baseline="-25000" dirty="0">
                <a:solidFill>
                  <a:schemeClr val="accent6"/>
                </a:solidFill>
                <a:ea typeface="宋体" panose="02010600030101010101" pitchFamily="2" charset="-122"/>
                <a:sym typeface="+mn-ea"/>
              </a:rPr>
              <a:t>2</a:t>
            </a:r>
            <a:r>
              <a:rPr lang="en-US" altLang="zh-CN" dirty="0">
                <a:solidFill>
                  <a:schemeClr val="accent6"/>
                </a:solidFill>
                <a:ea typeface="宋体" panose="02010600030101010101" pitchFamily="2" charset="-122"/>
                <a:sym typeface="+mn-ea"/>
              </a:rPr>
              <a:t>,...,f</a:t>
            </a:r>
            <a:r>
              <a:rPr lang="en-US" altLang="zh-CN" baseline="-25000" dirty="0">
                <a:solidFill>
                  <a:schemeClr val="accent6"/>
                </a:solidFill>
                <a:ea typeface="宋体" panose="02010600030101010101" pitchFamily="2" charset="-122"/>
                <a:sym typeface="+mn-ea"/>
              </a:rPr>
              <a:t>k</a:t>
            </a:r>
            <a:r>
              <a:rPr lang="zh-CN" altLang="en-US" dirty="0">
                <a:solidFill>
                  <a:schemeClr val="accent6"/>
                </a:solidFill>
                <a:ea typeface="宋体" panose="02010600030101010101" pitchFamily="2" charset="-122"/>
              </a:rPr>
              <a:t>推导得到函数依赖</a:t>
            </a:r>
            <a:r>
              <a:rPr lang="en-US" altLang="zh-CN" dirty="0">
                <a:solidFill>
                  <a:schemeClr val="accent6"/>
                </a:solidFill>
                <a:ea typeface="宋体" panose="02010600030101010101" pitchFamily="2" charset="-122"/>
              </a:rPr>
              <a:t>f</a:t>
            </a:r>
            <a:r>
              <a:rPr lang="zh-CN" altLang="en-US" dirty="0">
                <a:solidFill>
                  <a:schemeClr val="accent6"/>
                </a:solidFill>
                <a:ea typeface="宋体" panose="02010600030101010101" pitchFamily="2" charset="-122"/>
              </a:rPr>
              <a:t>，则函数依赖</a:t>
            </a:r>
            <a:r>
              <a:rPr lang="en-US" altLang="zh-CN" dirty="0">
                <a:solidFill>
                  <a:schemeClr val="accent6"/>
                </a:solidFill>
                <a:ea typeface="宋体" panose="02010600030101010101" pitchFamily="2" charset="-122"/>
              </a:rPr>
              <a:t>f</a:t>
            </a:r>
            <a:r>
              <a:rPr lang="zh-CN" altLang="en-US" dirty="0">
                <a:solidFill>
                  <a:schemeClr val="accent6"/>
                </a:solidFill>
                <a:ea typeface="宋体" panose="02010600030101010101" pitchFamily="2" charset="-122"/>
              </a:rPr>
              <a:t>也是闭包</a:t>
            </a:r>
            <a:r>
              <a:rPr lang="en-US" altLang="zh-CN" dirty="0">
                <a:solidFill>
                  <a:schemeClr val="accent6"/>
                </a:solidFill>
                <a:ea typeface="宋体" panose="02010600030101010101" pitchFamily="2" charset="-122"/>
              </a:rPr>
              <a:t>F</a:t>
            </a:r>
            <a:r>
              <a:rPr lang="en-US" altLang="zh-CN" baseline="30000" dirty="0">
                <a:solidFill>
                  <a:schemeClr val="accent6"/>
                </a:solidFill>
                <a:ea typeface="宋体" panose="02010600030101010101" pitchFamily="2" charset="-122"/>
              </a:rPr>
              <a:t>+</a:t>
            </a:r>
            <a:r>
              <a:rPr lang="zh-CN" altLang="zh-CN" dirty="0">
                <a:solidFill>
                  <a:schemeClr val="accent6"/>
                </a:solidFill>
                <a:ea typeface="宋体" panose="02010600030101010101" pitchFamily="2" charset="-122"/>
              </a:rPr>
              <a:t>的成员</a:t>
            </a:r>
          </a:p>
          <a:p>
            <a:pPr marL="514350" lvl="0" indent="-514350" eaLnBrk="1" hangingPunct="1">
              <a:lnSpc>
                <a:spcPct val="110000"/>
              </a:lnSpc>
              <a:spcBef>
                <a:spcPts val="800"/>
              </a:spcBef>
              <a:spcAft>
                <a:spcPts val="800"/>
              </a:spcAft>
              <a:buFont typeface="+mj-ea"/>
              <a:buAutoNum type="circleNumDbPlain"/>
            </a:pPr>
            <a:r>
              <a:rPr lang="zh-CN" altLang="zh-CN" dirty="0">
                <a:solidFill>
                  <a:schemeClr val="accent6"/>
                </a:solidFill>
                <a:ea typeface="宋体" panose="02010600030101010101" pitchFamily="2" charset="-122"/>
              </a:rPr>
              <a:t>重复步骤</a:t>
            </a:r>
            <a:r>
              <a:rPr lang="zh-CN" altLang="zh-CN" dirty="0">
                <a:solidFill>
                  <a:schemeClr val="accent6"/>
                </a:solidFill>
                <a:latin typeface="宋体" panose="02010600030101010101" pitchFamily="2" charset="-122"/>
                <a:ea typeface="宋体" panose="02010600030101010101" pitchFamily="2" charset="-122"/>
              </a:rPr>
              <a:t>③，直至</a:t>
            </a:r>
            <a:r>
              <a:rPr lang="en-US" altLang="zh-CN" dirty="0">
                <a:solidFill>
                  <a:schemeClr val="accent6"/>
                </a:solidFill>
                <a:latin typeface="Arial" panose="020B0604020202020204" pitchFamily="34" charset="0"/>
                <a:ea typeface="宋体" panose="02010600030101010101" pitchFamily="2" charset="-122"/>
              </a:rPr>
              <a:t>F</a:t>
            </a:r>
            <a:r>
              <a:rPr lang="en-US" altLang="zh-CN" baseline="30000" dirty="0">
                <a:solidFill>
                  <a:schemeClr val="accent6"/>
                </a:solidFill>
                <a:latin typeface="Arial" panose="020B0604020202020204" pitchFamily="34" charset="0"/>
                <a:ea typeface="宋体" panose="02010600030101010101" pitchFamily="2" charset="-122"/>
              </a:rPr>
              <a:t>+</a:t>
            </a:r>
            <a:r>
              <a:rPr lang="zh-CN" altLang="en-US" dirty="0">
                <a:solidFill>
                  <a:schemeClr val="accent6"/>
                </a:solidFill>
                <a:latin typeface="宋体" panose="02010600030101010101" pitchFamily="2" charset="-122"/>
                <a:ea typeface="宋体" panose="02010600030101010101" pitchFamily="2" charset="-122"/>
              </a:rPr>
              <a:t>中</a:t>
            </a:r>
            <a:r>
              <a:rPr lang="zh-CN" altLang="en-US" dirty="0">
                <a:solidFill>
                  <a:schemeClr val="accent6"/>
                </a:solidFill>
                <a:latin typeface="宋体" panose="02010600030101010101" pitchFamily="2" charset="-122"/>
                <a:ea typeface="宋体" panose="02010600030101010101" pitchFamily="2" charset="-122"/>
                <a:sym typeface="+mn-ea"/>
              </a:rPr>
              <a:t>不再</a:t>
            </a:r>
            <a:r>
              <a:rPr lang="zh-CN" altLang="en-US" dirty="0">
                <a:solidFill>
                  <a:schemeClr val="accent6"/>
                </a:solidFill>
                <a:latin typeface="宋体" panose="02010600030101010101" pitchFamily="2" charset="-122"/>
                <a:ea typeface="宋体" panose="02010600030101010101" pitchFamily="2" charset="-122"/>
              </a:rPr>
              <a:t>有新的函数依赖加入</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24930"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24931"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53</a:t>
            </a:fld>
            <a:endParaRPr lang="zh-CN" altLang="en-US" sz="1200" b="1" i="1" dirty="0">
              <a:latin typeface="Times New Roman" panose="02020603050405020304" pitchFamily="2" charset="0"/>
              <a:ea typeface="宋体" panose="02010600030101010101" pitchFamily="2" charset="-122"/>
            </a:endParaRPr>
          </a:p>
        </p:txBody>
      </p:sp>
      <p:sp>
        <p:nvSpPr>
          <p:cNvPr id="124932"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6.6 </a:t>
            </a:r>
            <a:r>
              <a:rPr lang="en-US" altLang="x-none" dirty="0">
                <a:ea typeface="宋体" panose="02010600030101010101" pitchFamily="2" charset="-122"/>
              </a:rPr>
              <a:t>Functional Dependencies</a:t>
            </a:r>
          </a:p>
        </p:txBody>
      </p:sp>
      <p:sp>
        <p:nvSpPr>
          <p:cNvPr id="124933" name="Rectangle 3"/>
          <p:cNvSpPr>
            <a:spLocks noGrp="1"/>
          </p:cNvSpPr>
          <p:nvPr>
            <p:ph type="body"/>
          </p:nvPr>
        </p:nvSpPr>
        <p:spPr>
          <a:xfrm>
            <a:off x="323850" y="765175"/>
            <a:ext cx="8382000" cy="5257800"/>
          </a:xfrm>
        </p:spPr>
        <p:txBody>
          <a:bodyPr wrap="square" anchor="t"/>
          <a:lstStyle/>
          <a:p>
            <a:pPr marL="457200" lvl="0" indent="-457200" eaLnBrk="1" hangingPunct="1"/>
            <a:r>
              <a:rPr lang="en-US" altLang="x-none" sz="2400" dirty="0">
                <a:ea typeface="宋体" panose="02010600030101010101" pitchFamily="2" charset="-122"/>
              </a:rPr>
              <a:t>Example 6.6.5</a:t>
            </a:r>
          </a:p>
          <a:p>
            <a:pPr marL="914400" lvl="1" indent="-457200" eaLnBrk="1" hangingPunct="1">
              <a:buNone/>
            </a:pPr>
            <a:r>
              <a:rPr lang="en-US" altLang="x-none" sz="2400" dirty="0">
                <a:ea typeface="宋体" panose="02010600030101010101" pitchFamily="2" charset="-122"/>
              </a:rPr>
              <a:t>F = { A</a:t>
            </a:r>
            <a:r>
              <a:rPr lang="en-US" altLang="x-none" sz="2400" b="0" dirty="0">
                <a:ea typeface="宋体" panose="02010600030101010101" pitchFamily="2" charset="-122"/>
              </a:rPr>
              <a:t>→</a:t>
            </a:r>
            <a:r>
              <a:rPr lang="en-US" altLang="x-none" sz="2400" dirty="0">
                <a:ea typeface="宋体" panose="02010600030101010101" pitchFamily="2" charset="-122"/>
              </a:rPr>
              <a:t>B, B</a:t>
            </a:r>
            <a:r>
              <a:rPr lang="en-US" altLang="x-none" sz="2400" b="0" dirty="0">
                <a:ea typeface="宋体" panose="02010600030101010101" pitchFamily="2" charset="-122"/>
              </a:rPr>
              <a:t>→</a:t>
            </a:r>
            <a:r>
              <a:rPr lang="en-US" altLang="x-none" sz="2400" dirty="0">
                <a:ea typeface="宋体" panose="02010600030101010101" pitchFamily="2" charset="-122"/>
              </a:rPr>
              <a:t>C, C</a:t>
            </a:r>
            <a:r>
              <a:rPr lang="en-US" altLang="x-none" sz="2400" b="0" dirty="0">
                <a:ea typeface="宋体" panose="02010600030101010101" pitchFamily="2" charset="-122"/>
              </a:rPr>
              <a:t>→</a:t>
            </a:r>
            <a:r>
              <a:rPr lang="en-US" altLang="x-none" sz="2400" dirty="0">
                <a:ea typeface="宋体" panose="02010600030101010101" pitchFamily="2" charset="-122"/>
              </a:rPr>
              <a:t>D, D</a:t>
            </a:r>
            <a:r>
              <a:rPr lang="en-US" altLang="x-none" sz="2400" b="0" dirty="0">
                <a:ea typeface="宋体" panose="02010600030101010101" pitchFamily="2" charset="-122"/>
              </a:rPr>
              <a:t>→</a:t>
            </a:r>
            <a:r>
              <a:rPr lang="en-US" altLang="x-none" sz="2400" dirty="0">
                <a:ea typeface="宋体" panose="02010600030101010101" pitchFamily="2" charset="-122"/>
              </a:rPr>
              <a:t>E, E</a:t>
            </a:r>
            <a:r>
              <a:rPr lang="en-US" altLang="x-none" sz="2400" b="0" dirty="0">
                <a:ea typeface="宋体" panose="02010600030101010101" pitchFamily="2" charset="-122"/>
              </a:rPr>
              <a:t>→</a:t>
            </a:r>
            <a:r>
              <a:rPr lang="en-US" altLang="x-none" sz="2400" dirty="0">
                <a:ea typeface="宋体" panose="02010600030101010101" pitchFamily="2" charset="-122"/>
              </a:rPr>
              <a:t>F, F</a:t>
            </a:r>
            <a:r>
              <a:rPr lang="en-US" altLang="x-none" sz="2400" b="0" dirty="0">
                <a:ea typeface="宋体" panose="02010600030101010101" pitchFamily="2" charset="-122"/>
              </a:rPr>
              <a:t>→</a:t>
            </a:r>
            <a:r>
              <a:rPr lang="en-US" altLang="x-none" sz="2400" dirty="0">
                <a:ea typeface="宋体" panose="02010600030101010101" pitchFamily="2" charset="-122"/>
              </a:rPr>
              <a:t>G, G</a:t>
            </a:r>
            <a:r>
              <a:rPr lang="en-US" altLang="x-none" sz="2400" b="0" dirty="0">
                <a:ea typeface="宋体" panose="02010600030101010101" pitchFamily="2" charset="-122"/>
              </a:rPr>
              <a:t>→</a:t>
            </a:r>
            <a:r>
              <a:rPr lang="en-US" altLang="x-none" sz="2400" dirty="0">
                <a:ea typeface="宋体" panose="02010600030101010101" pitchFamily="2" charset="-122"/>
              </a:rPr>
              <a:t>H }</a:t>
            </a:r>
          </a:p>
          <a:p>
            <a:pPr marL="914400" lvl="1" indent="-457200" eaLnBrk="1" hangingPunct="1">
              <a:buNone/>
            </a:pPr>
            <a:endParaRPr lang="en-US" altLang="x-none" sz="1400" dirty="0">
              <a:ea typeface="宋体" panose="02010600030101010101" pitchFamily="2" charset="-122"/>
            </a:endParaRPr>
          </a:p>
          <a:p>
            <a:pPr marL="914400" lvl="1" indent="-457200" eaLnBrk="1" hangingPunct="1">
              <a:buAutoNum type="arabicParenR"/>
            </a:pPr>
            <a:r>
              <a:rPr lang="en-US" altLang="x-none" sz="2400" dirty="0">
                <a:ea typeface="宋体" panose="02010600030101010101" pitchFamily="2" charset="-122"/>
              </a:rPr>
              <a:t>all FDs in F are element of F</a:t>
            </a:r>
            <a:r>
              <a:rPr lang="en-US" altLang="x-none" sz="2400" baseline="30000" dirty="0">
                <a:ea typeface="宋体" panose="02010600030101010101" pitchFamily="2" charset="-122"/>
              </a:rPr>
              <a:t>+</a:t>
            </a:r>
            <a:endParaRPr lang="en-US" altLang="x-none" sz="2400" dirty="0">
              <a:ea typeface="宋体" panose="02010600030101010101" pitchFamily="2" charset="-122"/>
            </a:endParaRPr>
          </a:p>
          <a:p>
            <a:pPr marL="914400" lvl="1" indent="-457200" eaLnBrk="1" hangingPunct="1">
              <a:buAutoNum type="arabicParenR"/>
            </a:pPr>
            <a:r>
              <a:rPr lang="en-US" altLang="x-none" sz="2400" dirty="0">
                <a:ea typeface="宋体" panose="02010600030101010101" pitchFamily="2" charset="-122"/>
              </a:rPr>
              <a:t>by Armstrong’s inclusion rule, A→A, B→B, AB→B ...... are element of F</a:t>
            </a:r>
            <a:r>
              <a:rPr lang="en-US" altLang="x-none" sz="2400" baseline="30000" dirty="0">
                <a:ea typeface="宋体" panose="02010600030101010101" pitchFamily="2" charset="-122"/>
              </a:rPr>
              <a:t>+</a:t>
            </a:r>
          </a:p>
          <a:p>
            <a:pPr marL="914400" lvl="1" indent="-457200" eaLnBrk="1" hangingPunct="1">
              <a:buAutoNum type="arabicParenR"/>
            </a:pPr>
            <a:r>
              <a:rPr lang="en-US" altLang="x-none" sz="2400" dirty="0">
                <a:ea typeface="宋体" panose="02010600030101010101" pitchFamily="2" charset="-122"/>
              </a:rPr>
              <a:t>by Armstrong’s transitivity rule, A→C, A→D, ...... are element of F</a:t>
            </a:r>
            <a:r>
              <a:rPr lang="en-US" altLang="x-none" sz="2400" baseline="30000" dirty="0">
                <a:ea typeface="宋体" panose="02010600030101010101" pitchFamily="2" charset="-122"/>
              </a:rPr>
              <a:t>+</a:t>
            </a:r>
            <a:endParaRPr lang="en-US" altLang="x-none" sz="2400" dirty="0">
              <a:ea typeface="宋体" panose="02010600030101010101" pitchFamily="2" charset="-122"/>
            </a:endParaRPr>
          </a:p>
          <a:p>
            <a:pPr marL="914400" lvl="1" indent="-457200" eaLnBrk="1" hangingPunct="1">
              <a:buAutoNum type="arabicParenR"/>
            </a:pPr>
            <a:r>
              <a:rPr lang="en-US" altLang="x-none" sz="2400" dirty="0">
                <a:ea typeface="宋体" panose="02010600030101010101" pitchFamily="2" charset="-122"/>
              </a:rPr>
              <a:t>by Armstrong’s augmentation rule, AD→BD, ABD→BCD, ...... are element of F</a:t>
            </a:r>
            <a:r>
              <a:rPr lang="en-US" altLang="x-none" sz="2400" baseline="30000" dirty="0">
                <a:ea typeface="宋体" panose="02010600030101010101" pitchFamily="2" charset="-122"/>
              </a:rPr>
              <a:t>+</a:t>
            </a:r>
            <a:endParaRPr lang="en-US" altLang="x-none" sz="2400" dirty="0">
              <a:ea typeface="宋体" panose="02010600030101010101" pitchFamily="2" charset="-122"/>
            </a:endParaRPr>
          </a:p>
          <a:p>
            <a:pPr marL="914400" lvl="1" indent="-457200" eaLnBrk="1" hangingPunct="1">
              <a:buAutoNum type="arabicParenR"/>
            </a:pPr>
            <a:r>
              <a:rPr lang="en-US" altLang="x-none" sz="2400" dirty="0">
                <a:ea typeface="宋体" panose="02010600030101010101" pitchFamily="2" charset="-122"/>
              </a:rPr>
              <a:t>by Armstrong’s union rule, A→AB, A→BC, A→ABC, ..., A→ABCDEFGH, ...... are element of F</a:t>
            </a:r>
            <a:r>
              <a:rPr lang="en-US" altLang="x-none" sz="2400" baseline="30000" dirty="0">
                <a:ea typeface="宋体" panose="02010600030101010101" pitchFamily="2" charset="-122"/>
              </a:rPr>
              <a:t>+</a:t>
            </a:r>
            <a:endParaRPr lang="en-US" altLang="x-none" sz="2400" dirty="0">
              <a:ea typeface="宋体" panose="02010600030101010101" pitchFamily="2" charset="-122"/>
            </a:endParaRPr>
          </a:p>
          <a:p>
            <a:pPr marL="914400" lvl="1" indent="-457200" eaLnBrk="1" hangingPunct="1">
              <a:buAutoNum type="arabicParenR"/>
            </a:pPr>
            <a:r>
              <a:rPr lang="en-US" altLang="x-none" sz="2400" dirty="0">
                <a:ea typeface="宋体" panose="02010600030101010101" pitchFamily="2" charset="-122"/>
              </a:rPr>
              <a: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2"/>
          <p:cNvSpPr>
            <a:spLocks noGrp="1"/>
          </p:cNvSpPr>
          <p:nvPr>
            <p:ph type="title"/>
          </p:nvPr>
        </p:nvSpPr>
        <p:spPr/>
        <p:txBody>
          <a:bodyPr vert="horz" wrap="square" lIns="91440" tIns="0" rIns="91440" bIns="0" anchor="ctr"/>
          <a:lstStyle/>
          <a:p>
            <a:pPr eaLnBrk="1" hangingPunct="1"/>
            <a:r>
              <a:rPr lang="en-US" altLang="zh-CN" sz="2800" u="sng" dirty="0">
                <a:solidFill>
                  <a:schemeClr val="accent2"/>
                </a:solidFill>
              </a:rPr>
              <a:t>Another Example: Closure of a Set of FDs (</a:t>
            </a:r>
            <a:r>
              <a:rPr lang="en-US" altLang="zh-CN" sz="2800" u="sng" dirty="0">
                <a:solidFill>
                  <a:schemeClr val="accent2"/>
                </a:solidFill>
                <a:latin typeface="Arial" panose="020B0604020202020204" pitchFamily="34" charset="0"/>
              </a:rPr>
              <a:t>F</a:t>
            </a:r>
            <a:r>
              <a:rPr lang="en-US" altLang="zh-CN" sz="2800" u="sng" baseline="30000" dirty="0">
                <a:solidFill>
                  <a:schemeClr val="accent2"/>
                </a:solidFill>
                <a:latin typeface="Arial" panose="020B0604020202020204" pitchFamily="34" charset="0"/>
              </a:rPr>
              <a:t>+</a:t>
            </a:r>
            <a:r>
              <a:rPr lang="en-US" altLang="zh-CN" sz="2800" u="sng" dirty="0">
                <a:solidFill>
                  <a:schemeClr val="accent2"/>
                </a:solidFill>
              </a:rPr>
              <a:t>)</a:t>
            </a:r>
            <a:endParaRPr lang="zh-CN" altLang="en-US" sz="2800" u="sng" dirty="0">
              <a:solidFill>
                <a:schemeClr val="accent2"/>
              </a:solidFill>
            </a:endParaRPr>
          </a:p>
        </p:txBody>
      </p:sp>
      <p:sp>
        <p:nvSpPr>
          <p:cNvPr id="55301" name="Rectangle 3"/>
          <p:cNvSpPr>
            <a:spLocks noGrp="1"/>
          </p:cNvSpPr>
          <p:nvPr>
            <p:ph idx="1"/>
          </p:nvPr>
        </p:nvSpPr>
        <p:spPr>
          <a:xfrm>
            <a:off x="0" y="692150"/>
            <a:ext cx="9144000" cy="576263"/>
          </a:xfrm>
          <a:solidFill>
            <a:srgbClr val="CCFFCC">
              <a:alpha val="100000"/>
            </a:srgbClr>
          </a:solidFill>
        </p:spPr>
        <p:txBody>
          <a:bodyPr vert="horz" wrap="square" lIns="91440" tIns="45720" rIns="91440" bIns="45720" anchor="t"/>
          <a:lstStyle/>
          <a:p>
            <a:pPr eaLnBrk="1" hangingPunct="1">
              <a:lnSpc>
                <a:spcPct val="105000"/>
              </a:lnSpc>
            </a:pPr>
            <a:r>
              <a:rPr lang="en-US" altLang="zh-CN" dirty="0">
                <a:solidFill>
                  <a:schemeClr val="accent2"/>
                </a:solidFill>
                <a:latin typeface="Arial" panose="020B0604020202020204" pitchFamily="34" charset="0"/>
              </a:rPr>
              <a:t>  F</a:t>
            </a:r>
            <a:r>
              <a:rPr lang="en-US" altLang="zh-CN">
                <a:solidFill>
                  <a:schemeClr val="accent2"/>
                </a:solidFill>
                <a:latin typeface="Arial" panose="020B0604020202020204" pitchFamily="34" charset="0"/>
              </a:rPr>
              <a:t> = { A→B, B→C </a:t>
            </a:r>
            <a:r>
              <a:rPr lang="en-US" altLang="zh-CN" dirty="0">
                <a:solidFill>
                  <a:schemeClr val="accent2"/>
                </a:solidFill>
                <a:latin typeface="Arial" panose="020B0604020202020204" pitchFamily="34" charset="0"/>
              </a:rPr>
              <a:t>}</a:t>
            </a:r>
            <a:endParaRPr lang="en-US" altLang="zh-CN" baseline="30000">
              <a:solidFill>
                <a:schemeClr val="accent2"/>
              </a:solidFill>
              <a:latin typeface="Arial" panose="020B0604020202020204" pitchFamily="34" charset="0"/>
            </a:endParaRPr>
          </a:p>
        </p:txBody>
      </p:sp>
      <p:sp>
        <p:nvSpPr>
          <p:cNvPr id="55304" name="Rectangle 7"/>
          <p:cNvSpPr/>
          <p:nvPr/>
        </p:nvSpPr>
        <p:spPr>
          <a:xfrm>
            <a:off x="0" y="2493963"/>
            <a:ext cx="9144000" cy="503237"/>
          </a:xfrm>
          <a:prstGeom prst="rect">
            <a:avLst/>
          </a:prstGeom>
          <a:noFill/>
          <a:ln w="9525">
            <a:noFill/>
          </a:ln>
        </p:spPr>
        <p:txBody>
          <a:bodyPr/>
          <a:lstStyle/>
          <a:p>
            <a:pPr marL="514350" lvl="0" indent="-514350" eaLnBrk="1" hangingPunct="1">
              <a:lnSpc>
                <a:spcPct val="105000"/>
              </a:lnSpc>
              <a:buFont typeface="+mj-ea"/>
              <a:buAutoNum type="circleNumDbPlain" startAt="2"/>
            </a:pPr>
            <a:r>
              <a:rPr lang="en-US" altLang="zh-CN" sz="2600" b="1" dirty="0">
                <a:solidFill>
                  <a:schemeClr val="accent2"/>
                </a:solidFill>
                <a:latin typeface="Arial" panose="020B0604020202020204" pitchFamily="34" charset="0"/>
              </a:rPr>
              <a:t>By </a:t>
            </a:r>
            <a:r>
              <a:rPr lang="en-US" altLang="zh-CN" sz="2600" b="1" dirty="0">
                <a:solidFill>
                  <a:srgbClr val="FF0000"/>
                </a:solidFill>
                <a:latin typeface="Arial" panose="020B0604020202020204" pitchFamily="34" charset="0"/>
              </a:rPr>
              <a:t>Inclusion Rule</a:t>
            </a:r>
            <a:r>
              <a:rPr lang="zh-CN" altLang="en-US" sz="2600" b="1" dirty="0">
                <a:solidFill>
                  <a:schemeClr val="accent2"/>
                </a:solidFill>
                <a:latin typeface="Arial" panose="020B0604020202020204" pitchFamily="34" charset="0"/>
              </a:rPr>
              <a:t>，</a:t>
            </a:r>
            <a:r>
              <a:rPr lang="en-US" altLang="zh-CN" sz="2600" b="1" dirty="0">
                <a:solidFill>
                  <a:schemeClr val="accent2"/>
                </a:solidFill>
                <a:latin typeface="Arial" panose="020B0604020202020204" pitchFamily="34" charset="0"/>
              </a:rPr>
              <a:t>the follow FDs are element of F</a:t>
            </a:r>
            <a:r>
              <a:rPr lang="en-US" altLang="zh-CN" sz="2600" b="1" baseline="30000" dirty="0">
                <a:solidFill>
                  <a:schemeClr val="accent2"/>
                </a:solidFill>
                <a:latin typeface="Arial" panose="020B0604020202020204" pitchFamily="34" charset="0"/>
              </a:rPr>
              <a:t>+</a:t>
            </a:r>
          </a:p>
        </p:txBody>
      </p:sp>
      <p:grpSp>
        <p:nvGrpSpPr>
          <p:cNvPr id="55311" name="组合 55310"/>
          <p:cNvGrpSpPr/>
          <p:nvPr/>
        </p:nvGrpSpPr>
        <p:grpSpPr>
          <a:xfrm>
            <a:off x="0" y="3643948"/>
            <a:ext cx="9144000" cy="1512887"/>
            <a:chOff x="0" y="2251"/>
            <a:chExt cx="5760" cy="953"/>
          </a:xfrm>
        </p:grpSpPr>
        <p:sp>
          <p:nvSpPr>
            <p:cNvPr id="55309" name="Rectangle 7"/>
            <p:cNvSpPr/>
            <p:nvPr/>
          </p:nvSpPr>
          <p:spPr>
            <a:xfrm>
              <a:off x="0" y="2251"/>
              <a:ext cx="5760" cy="953"/>
            </a:xfrm>
            <a:prstGeom prst="rect">
              <a:avLst/>
            </a:prstGeom>
            <a:noFill/>
            <a:ln w="9525">
              <a:noFill/>
            </a:ln>
          </p:spPr>
          <p:txBody>
            <a:bodyPr/>
            <a:lstStyle/>
            <a:p>
              <a:pPr marL="1600200" lvl="3" indent="-228600" eaLnBrk="1" hangingPunct="1">
                <a:lnSpc>
                  <a:spcPct val="105000"/>
                </a:lnSpc>
                <a:buFont typeface="Arial" panose="020B0604020202020204" pitchFamily="34" charset="0"/>
                <a:buNone/>
              </a:pPr>
              <a:r>
                <a:rPr lang="en-US" altLang="zh-CN" sz="2800" b="1" dirty="0">
                  <a:latin typeface="Arial" panose="020B0604020202020204" pitchFamily="34" charset="0"/>
                </a:rPr>
                <a:t>AB</a:t>
              </a:r>
              <a:r>
                <a:rPr lang="en-US" altLang="zh-CN" sz="2800" b="1">
                  <a:latin typeface="Arial" panose="020B0604020202020204" pitchFamily="34" charset="0"/>
                </a:rPr>
                <a:t>→A               AB→B              AB→AB</a:t>
              </a:r>
            </a:p>
            <a:p>
              <a:pPr marL="1600200" lvl="3" indent="-228600" eaLnBrk="1" hangingPunct="1">
                <a:lnSpc>
                  <a:spcPct val="105000"/>
                </a:lnSpc>
                <a:buFont typeface="Arial" panose="020B0604020202020204" pitchFamily="34" charset="0"/>
                <a:buNone/>
              </a:pPr>
              <a:r>
                <a:rPr lang="en-US" altLang="zh-CN" sz="2800" b="1">
                  <a:latin typeface="Arial" panose="020B0604020202020204" pitchFamily="34" charset="0"/>
                </a:rPr>
                <a:t>AC→A               AC→C              AC→AC</a:t>
              </a:r>
            </a:p>
            <a:p>
              <a:pPr marL="1600200" lvl="3" indent="-228600" eaLnBrk="1" hangingPunct="1">
                <a:lnSpc>
                  <a:spcPct val="105000"/>
                </a:lnSpc>
                <a:buFont typeface="Arial" panose="020B0604020202020204" pitchFamily="34" charset="0"/>
                <a:buNone/>
              </a:pPr>
              <a:r>
                <a:rPr lang="en-US" altLang="zh-CN" sz="2800" b="1">
                  <a:latin typeface="Arial" panose="020B0604020202020204" pitchFamily="34" charset="0"/>
                </a:rPr>
                <a:t>BC→B               BC→C              BC→BC</a:t>
              </a:r>
            </a:p>
          </p:txBody>
        </p:sp>
        <p:sp>
          <p:nvSpPr>
            <p:cNvPr id="55305" name="Line 4"/>
            <p:cNvSpPr/>
            <p:nvPr/>
          </p:nvSpPr>
          <p:spPr>
            <a:xfrm>
              <a:off x="657" y="2251"/>
              <a:ext cx="4718" cy="0"/>
            </a:xfrm>
            <a:prstGeom prst="line">
              <a:avLst/>
            </a:prstGeom>
            <a:ln w="38100" cap="rnd" cmpd="sng">
              <a:solidFill>
                <a:srgbClr val="0000FF"/>
              </a:solidFill>
              <a:prstDash val="sysDot"/>
              <a:headEnd type="none" w="med" len="med"/>
              <a:tailEnd type="none" w="med" len="med"/>
            </a:ln>
          </p:spPr>
        </p:sp>
      </p:grpSp>
      <p:sp>
        <p:nvSpPr>
          <p:cNvPr id="591878" name="Rectangle 6"/>
          <p:cNvSpPr/>
          <p:nvPr/>
        </p:nvSpPr>
        <p:spPr>
          <a:xfrm>
            <a:off x="34925" y="1341438"/>
            <a:ext cx="9144000" cy="1008062"/>
          </a:xfrm>
          <a:prstGeom prst="rect">
            <a:avLst/>
          </a:prstGeom>
          <a:noFill/>
          <a:ln w="9525">
            <a:noFill/>
          </a:ln>
        </p:spPr>
        <p:txBody>
          <a:bodyPr/>
          <a:lstStyle/>
          <a:p>
            <a:pPr marL="514350" lvl="0" indent="-514350" eaLnBrk="1" hangingPunct="1">
              <a:lnSpc>
                <a:spcPct val="105000"/>
              </a:lnSpc>
              <a:buFont typeface="+mj-ea"/>
              <a:buAutoNum type="circleNumDbPlain"/>
            </a:pPr>
            <a:r>
              <a:rPr lang="en-US" altLang="zh-CN" sz="2800" b="1" dirty="0">
                <a:solidFill>
                  <a:srgbClr val="0000FF"/>
                </a:solidFill>
                <a:latin typeface="Arial" panose="020B0604020202020204" pitchFamily="34" charset="0"/>
                <a:ea typeface="宋体" panose="02010600030101010101" pitchFamily="2" charset="-122"/>
              </a:rPr>
              <a:t>∵ </a:t>
            </a:r>
            <a:r>
              <a:rPr lang="en-US" altLang="zh-CN" sz="2800" b="1" dirty="0">
                <a:solidFill>
                  <a:srgbClr val="0000FF"/>
                </a:solidFill>
                <a:latin typeface="Arial" panose="020B0604020202020204" pitchFamily="34" charset="0"/>
              </a:rPr>
              <a:t>If X→Y ∈ F</a:t>
            </a:r>
            <a:r>
              <a:rPr lang="zh-CN" altLang="en-US" sz="2800" b="1" dirty="0">
                <a:solidFill>
                  <a:srgbClr val="0000FF"/>
                </a:solidFill>
                <a:latin typeface="Arial" panose="020B0604020202020204" pitchFamily="34" charset="0"/>
              </a:rPr>
              <a:t> </a:t>
            </a:r>
            <a:r>
              <a:rPr lang="en-US" altLang="zh-CN" sz="2800" b="1" dirty="0">
                <a:solidFill>
                  <a:srgbClr val="0000FF"/>
                </a:solidFill>
                <a:latin typeface="Arial" panose="020B0604020202020204" pitchFamily="34" charset="0"/>
              </a:rPr>
              <a:t>then X→Y ∈ F</a:t>
            </a:r>
            <a:r>
              <a:rPr lang="en-US" altLang="zh-CN" sz="2800" b="1" baseline="30000" dirty="0">
                <a:solidFill>
                  <a:srgbClr val="0000FF"/>
                </a:solidFill>
                <a:latin typeface="Arial" panose="020B0604020202020204" pitchFamily="34" charset="0"/>
              </a:rPr>
              <a:t>+</a:t>
            </a:r>
          </a:p>
          <a:p>
            <a:pPr marL="685800" lvl="1" indent="-228600" defTabSz="914400" eaLnBrk="1" hangingPunct="1">
              <a:lnSpc>
                <a:spcPct val="105000"/>
              </a:lnSpc>
              <a:buFont typeface="Wingdings" panose="05000000000000000000" pitchFamily="2" charset="2"/>
              <a:buNone/>
              <a:tabLst>
                <a:tab pos="537210" algn="l"/>
              </a:tabLst>
            </a:pPr>
            <a:r>
              <a:rPr lang="en-US" altLang="zh-CN" sz="2800" b="1" dirty="0">
                <a:latin typeface="Arial" panose="020B0604020202020204" pitchFamily="34" charset="0"/>
                <a:ea typeface="微软雅黑" panose="020B0503020204020204" charset="-122"/>
              </a:rPr>
              <a:t> ∴     </a:t>
            </a:r>
            <a:r>
              <a:rPr lang="en-US" altLang="zh-CN" sz="2800" b="1" dirty="0">
                <a:latin typeface="Arial" panose="020B0604020202020204" pitchFamily="34" charset="0"/>
              </a:rPr>
              <a:t>A</a:t>
            </a:r>
            <a:r>
              <a:rPr lang="en-US" altLang="zh-CN" sz="2800" b="1">
                <a:latin typeface="Arial" panose="020B0604020202020204" pitchFamily="34" charset="0"/>
              </a:rPr>
              <a:t>→B ∈ F</a:t>
            </a:r>
            <a:r>
              <a:rPr lang="en-US" altLang="zh-CN" sz="2800" b="1" baseline="30000">
                <a:latin typeface="Arial" panose="020B0604020202020204" pitchFamily="34" charset="0"/>
              </a:rPr>
              <a:t>+</a:t>
            </a:r>
            <a:r>
              <a:rPr lang="en-US" altLang="zh-CN" sz="2800" b="1">
                <a:latin typeface="Arial" panose="020B0604020202020204" pitchFamily="34" charset="0"/>
              </a:rPr>
              <a:t>        B→C ∈ F</a:t>
            </a:r>
            <a:r>
              <a:rPr lang="en-US" altLang="zh-CN" sz="2800" b="1" baseline="30000">
                <a:latin typeface="Arial" panose="020B0604020202020204" pitchFamily="34" charset="0"/>
              </a:rPr>
              <a:t>+</a:t>
            </a:r>
          </a:p>
        </p:txBody>
      </p:sp>
      <p:sp>
        <p:nvSpPr>
          <p:cNvPr id="55308" name="Rectangle 7"/>
          <p:cNvSpPr/>
          <p:nvPr/>
        </p:nvSpPr>
        <p:spPr>
          <a:xfrm>
            <a:off x="0" y="2925763"/>
            <a:ext cx="9144000" cy="503237"/>
          </a:xfrm>
          <a:prstGeom prst="rect">
            <a:avLst/>
          </a:prstGeom>
          <a:noFill/>
          <a:ln w="9525">
            <a:noFill/>
          </a:ln>
        </p:spPr>
        <p:txBody>
          <a:bodyPr/>
          <a:lstStyle/>
          <a:p>
            <a:pPr marL="1600200" lvl="3" indent="-228600" eaLnBrk="1" hangingPunct="1">
              <a:lnSpc>
                <a:spcPct val="105000"/>
              </a:lnSpc>
              <a:buFont typeface="Arial" panose="020B0604020202020204" pitchFamily="34" charset="0"/>
              <a:buNone/>
            </a:pPr>
            <a:r>
              <a:rPr lang="en-US" altLang="zh-CN" sz="2800" b="1" dirty="0">
                <a:latin typeface="Arial" panose="020B0604020202020204" pitchFamily="34" charset="0"/>
              </a:rPr>
              <a:t>A</a:t>
            </a:r>
            <a:r>
              <a:rPr lang="en-US" altLang="zh-CN" sz="2800" b="1">
                <a:latin typeface="Arial" panose="020B0604020202020204" pitchFamily="34" charset="0"/>
              </a:rPr>
              <a:t>→A                  B→B                C→C</a:t>
            </a:r>
          </a:p>
        </p:txBody>
      </p:sp>
      <p:grpSp>
        <p:nvGrpSpPr>
          <p:cNvPr id="55312" name="组合 55311"/>
          <p:cNvGrpSpPr/>
          <p:nvPr/>
        </p:nvGrpSpPr>
        <p:grpSpPr>
          <a:xfrm>
            <a:off x="0" y="5229225"/>
            <a:ext cx="9144000" cy="1584325"/>
            <a:chOff x="0" y="3322"/>
            <a:chExt cx="5760" cy="998"/>
          </a:xfrm>
        </p:grpSpPr>
        <p:sp>
          <p:nvSpPr>
            <p:cNvPr id="55310" name="Rectangle 7"/>
            <p:cNvSpPr/>
            <p:nvPr/>
          </p:nvSpPr>
          <p:spPr>
            <a:xfrm>
              <a:off x="0" y="3322"/>
              <a:ext cx="5760" cy="998"/>
            </a:xfrm>
            <a:prstGeom prst="rect">
              <a:avLst/>
            </a:prstGeom>
            <a:solidFill>
              <a:schemeClr val="bg1"/>
            </a:solidFill>
            <a:ln w="9525">
              <a:noFill/>
            </a:ln>
          </p:spPr>
          <p:txBody>
            <a:bodyPr/>
            <a:lstStyle/>
            <a:p>
              <a:pPr marL="1600200" lvl="3" indent="-228600" eaLnBrk="1" hangingPunct="1">
                <a:lnSpc>
                  <a:spcPct val="105000"/>
                </a:lnSpc>
                <a:buFont typeface="Arial" panose="020B0604020202020204" pitchFamily="34" charset="0"/>
                <a:buNone/>
              </a:pPr>
              <a:r>
                <a:rPr lang="en-US" altLang="zh-CN" sz="2800" b="1" dirty="0">
                  <a:latin typeface="Arial" panose="020B0604020202020204" pitchFamily="34" charset="0"/>
                </a:rPr>
                <a:t>ABC</a:t>
              </a:r>
              <a:r>
                <a:rPr lang="en-US" altLang="zh-CN" sz="2800" b="1">
                  <a:latin typeface="Arial" panose="020B0604020202020204" pitchFamily="34" charset="0"/>
                </a:rPr>
                <a:t>→A            ABC→B           ABC→C</a:t>
              </a:r>
            </a:p>
            <a:p>
              <a:pPr marL="1600200" lvl="3" indent="-228600" eaLnBrk="1" hangingPunct="1">
                <a:lnSpc>
                  <a:spcPct val="105000"/>
                </a:lnSpc>
                <a:buFont typeface="Arial" panose="020B0604020202020204" pitchFamily="34" charset="0"/>
                <a:buNone/>
              </a:pPr>
              <a:r>
                <a:rPr lang="en-US" altLang="zh-CN" sz="2800" b="1">
                  <a:latin typeface="Arial" panose="020B0604020202020204" pitchFamily="34" charset="0"/>
                </a:rPr>
                <a:t>ABC→AB         ABC→AC         ABC→BC</a:t>
              </a:r>
            </a:p>
            <a:p>
              <a:pPr marL="1600200" lvl="3" indent="-228600" eaLnBrk="1" hangingPunct="1">
                <a:lnSpc>
                  <a:spcPct val="105000"/>
                </a:lnSpc>
                <a:buFont typeface="Arial" panose="020B0604020202020204" pitchFamily="34" charset="0"/>
                <a:buNone/>
              </a:pPr>
              <a:r>
                <a:rPr lang="en-US" altLang="zh-CN" sz="2800" b="1">
                  <a:latin typeface="Arial" panose="020B0604020202020204" pitchFamily="34" charset="0"/>
                </a:rPr>
                <a:t>ABC→ABC</a:t>
              </a:r>
            </a:p>
          </p:txBody>
        </p:sp>
        <p:sp>
          <p:nvSpPr>
            <p:cNvPr id="55306" name="Line 5"/>
            <p:cNvSpPr/>
            <p:nvPr/>
          </p:nvSpPr>
          <p:spPr>
            <a:xfrm>
              <a:off x="657" y="3322"/>
              <a:ext cx="4718" cy="0"/>
            </a:xfrm>
            <a:prstGeom prst="line">
              <a:avLst/>
            </a:prstGeom>
            <a:ln w="38100" cap="rnd" cmpd="sng">
              <a:solidFill>
                <a:srgbClr val="0000FF"/>
              </a:solidFill>
              <a:prstDash val="sysDot"/>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91878">
                                            <p:txEl>
                                              <p:pRg st="0" end="0"/>
                                            </p:txEl>
                                          </p:spTgt>
                                        </p:tgtEl>
                                        <p:attrNameLst>
                                          <p:attrName>style.visibility</p:attrName>
                                        </p:attrNameLst>
                                      </p:cBhvr>
                                      <p:to>
                                        <p:strVal val="visible"/>
                                      </p:to>
                                    </p:set>
                                    <p:animEffect transition="in" filter="blinds(horizontal)">
                                      <p:cBhvr>
                                        <p:cTn id="7" dur="500"/>
                                        <p:tgtEl>
                                          <p:spTgt spid="59187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91878">
                                            <p:txEl>
                                              <p:pRg st="1" end="1"/>
                                            </p:txEl>
                                          </p:spTgt>
                                        </p:tgtEl>
                                        <p:attrNameLst>
                                          <p:attrName>style.visibility</p:attrName>
                                        </p:attrNameLst>
                                      </p:cBhvr>
                                      <p:to>
                                        <p:strVal val="visible"/>
                                      </p:to>
                                    </p:set>
                                    <p:animEffect transition="in" filter="blinds(horizontal)">
                                      <p:cBhvr>
                                        <p:cTn id="12" dur="500"/>
                                        <p:tgtEl>
                                          <p:spTgt spid="59187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5304"/>
                                        </p:tgtEl>
                                        <p:attrNameLst>
                                          <p:attrName>style.visibility</p:attrName>
                                        </p:attrNameLst>
                                      </p:cBhvr>
                                      <p:to>
                                        <p:strVal val="visible"/>
                                      </p:to>
                                    </p:set>
                                    <p:animEffect transition="in" filter="blinds(horizontal)">
                                      <p:cBhvr>
                                        <p:cTn id="17" dur="500"/>
                                        <p:tgtEl>
                                          <p:spTgt spid="5530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5308"/>
                                        </p:tgtEl>
                                        <p:attrNameLst>
                                          <p:attrName>style.visibility</p:attrName>
                                        </p:attrNameLst>
                                      </p:cBhvr>
                                      <p:to>
                                        <p:strVal val="visible"/>
                                      </p:to>
                                    </p:set>
                                    <p:animEffect transition="in" filter="blinds(horizontal)">
                                      <p:cBhvr>
                                        <p:cTn id="22" dur="500"/>
                                        <p:tgtEl>
                                          <p:spTgt spid="5530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5311"/>
                                        </p:tgtEl>
                                        <p:attrNameLst>
                                          <p:attrName>style.visibility</p:attrName>
                                        </p:attrNameLst>
                                      </p:cBhvr>
                                      <p:to>
                                        <p:strVal val="visible"/>
                                      </p:to>
                                    </p:set>
                                    <p:animEffect transition="in" filter="blinds(horizontal)">
                                      <p:cBhvr>
                                        <p:cTn id="27" dur="500"/>
                                        <p:tgtEl>
                                          <p:spTgt spid="5531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5312"/>
                                        </p:tgtEl>
                                        <p:attrNameLst>
                                          <p:attrName>style.visibility</p:attrName>
                                        </p:attrNameLst>
                                      </p:cBhvr>
                                      <p:to>
                                        <p:strVal val="visible"/>
                                      </p:to>
                                    </p:set>
                                    <p:animEffect transition="in" filter="blinds(horizontal)">
                                      <p:cBhvr>
                                        <p:cTn id="32" dur="500"/>
                                        <p:tgtEl>
                                          <p:spTgt spid="553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4" grpId="0"/>
      <p:bldP spid="591878" grpId="0" uiExpand="1" build="p" bldLvl="2"/>
      <p:bldP spid="55308"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Rectangle 5"/>
          <p:cNvSpPr/>
          <p:nvPr/>
        </p:nvSpPr>
        <p:spPr>
          <a:xfrm>
            <a:off x="0" y="0"/>
            <a:ext cx="9144000" cy="6858000"/>
          </a:xfrm>
          <a:prstGeom prst="rect">
            <a:avLst/>
          </a:prstGeom>
          <a:solidFill>
            <a:schemeClr val="bg1"/>
          </a:solidFill>
          <a:ln w="25400">
            <a:noFill/>
          </a:ln>
        </p:spPr>
        <p:txBody>
          <a:bodyPr wrap="none" anchor="ctr"/>
          <a:lstStyle/>
          <a:p>
            <a:endParaRPr lang="zh-CN" altLang="en-US" dirty="0">
              <a:latin typeface="Arial" panose="020B0604020202020204" pitchFamily="34" charset="0"/>
            </a:endParaRPr>
          </a:p>
        </p:txBody>
      </p:sp>
      <p:sp>
        <p:nvSpPr>
          <p:cNvPr id="592899" name="Rectangle 3"/>
          <p:cNvSpPr>
            <a:spLocks noGrp="1"/>
          </p:cNvSpPr>
          <p:nvPr>
            <p:ph idx="1"/>
          </p:nvPr>
        </p:nvSpPr>
        <p:spPr>
          <a:xfrm>
            <a:off x="0" y="187643"/>
            <a:ext cx="9144000" cy="2072640"/>
          </a:xfrm>
        </p:spPr>
        <p:txBody>
          <a:bodyPr vert="horz" wrap="square" lIns="91440" tIns="45720" rIns="91440" bIns="45720" anchor="t">
            <a:spAutoFit/>
          </a:bodyPr>
          <a:lstStyle/>
          <a:p>
            <a:pPr eaLnBrk="1" hangingPunct="1">
              <a:buFont typeface="Wingdings" panose="05000000000000000000" pitchFamily="2" charset="2"/>
              <a:buChar char="Ø"/>
            </a:pPr>
            <a:r>
              <a:rPr lang="en-US" altLang="zh-CN" dirty="0">
                <a:solidFill>
                  <a:schemeClr val="accent2"/>
                </a:solidFill>
                <a:latin typeface="Arial" panose="020B0604020202020204" pitchFamily="34" charset="0"/>
              </a:rPr>
              <a:t>By A→B and B→C</a:t>
            </a:r>
            <a:r>
              <a:rPr lang="zh-CN" altLang="en-US" dirty="0">
                <a:solidFill>
                  <a:schemeClr val="accent2"/>
                </a:solidFill>
                <a:latin typeface="Arial" panose="020B0604020202020204" pitchFamily="34" charset="0"/>
              </a:rPr>
              <a:t> </a:t>
            </a:r>
            <a:r>
              <a:rPr lang="en-US" altLang="zh-CN" dirty="0">
                <a:solidFill>
                  <a:schemeClr val="accent2"/>
                </a:solidFill>
                <a:latin typeface="Arial" panose="020B0604020202020204" pitchFamily="34" charset="0"/>
              </a:rPr>
              <a:t>and </a:t>
            </a:r>
            <a:r>
              <a:rPr lang="en-US" altLang="zh-CN" dirty="0">
                <a:latin typeface="Arial" panose="020B0604020202020204" pitchFamily="34" charset="0"/>
              </a:rPr>
              <a:t>Transitivity Rule</a:t>
            </a:r>
            <a:r>
              <a:rPr lang="zh-CN" altLang="en-US" dirty="0">
                <a:solidFill>
                  <a:schemeClr val="accent2"/>
                </a:solidFill>
                <a:latin typeface="Arial" panose="020B0604020202020204" pitchFamily="34" charset="0"/>
              </a:rPr>
              <a:t> </a:t>
            </a:r>
            <a:r>
              <a:rPr lang="en-US" altLang="zh-CN" dirty="0">
                <a:solidFill>
                  <a:schemeClr val="accent2"/>
                </a:solidFill>
                <a:latin typeface="Arial" panose="020B0604020202020204" pitchFamily="34" charset="0"/>
              </a:rPr>
              <a:t>we have:</a:t>
            </a:r>
          </a:p>
          <a:p>
            <a:pPr lvl="2" eaLnBrk="1" hangingPunct="1">
              <a:buNone/>
            </a:pPr>
            <a:r>
              <a:rPr lang="en-US" altLang="zh-CN">
                <a:solidFill>
                  <a:schemeClr val="tx1"/>
                </a:solidFill>
                <a:latin typeface="Arial" panose="020B0604020202020204" pitchFamily="34" charset="0"/>
              </a:rPr>
              <a:t>A</a:t>
            </a:r>
            <a:r>
              <a:rPr lang="en-US" altLang="zh-CN" dirty="0">
                <a:solidFill>
                  <a:schemeClr val="tx1"/>
                </a:solidFill>
                <a:latin typeface="Arial" panose="020B0604020202020204" pitchFamily="34" charset="0"/>
              </a:rPr>
              <a:t>→C ∈ F</a:t>
            </a:r>
            <a:r>
              <a:rPr lang="en-US" altLang="zh-CN" baseline="30000" dirty="0">
                <a:solidFill>
                  <a:schemeClr val="tx1"/>
                </a:solidFill>
                <a:latin typeface="Arial" panose="020B0604020202020204" pitchFamily="34" charset="0"/>
              </a:rPr>
              <a:t>+</a:t>
            </a:r>
            <a:endParaRPr lang="en-US" altLang="zh-CN" baseline="30000">
              <a:solidFill>
                <a:schemeClr val="tx1"/>
              </a:solidFill>
              <a:latin typeface="Arial" panose="020B0604020202020204" pitchFamily="34" charset="0"/>
            </a:endParaRPr>
          </a:p>
          <a:p>
            <a:pPr eaLnBrk="1" hangingPunct="1">
              <a:buFont typeface="Wingdings" panose="05000000000000000000" pitchFamily="2" charset="2"/>
              <a:buChar char="Ø"/>
            </a:pPr>
            <a:r>
              <a:rPr lang="en-US" altLang="zh-CN" dirty="0">
                <a:solidFill>
                  <a:schemeClr val="accent2"/>
                </a:solidFill>
                <a:latin typeface="Arial" panose="020B0604020202020204" pitchFamily="34" charset="0"/>
              </a:rPr>
              <a:t>By A→B and A→C</a:t>
            </a:r>
            <a:r>
              <a:rPr lang="zh-CN" altLang="en-US" dirty="0">
                <a:solidFill>
                  <a:schemeClr val="accent2"/>
                </a:solidFill>
                <a:latin typeface="Arial" panose="020B0604020202020204" pitchFamily="34" charset="0"/>
              </a:rPr>
              <a:t> </a:t>
            </a:r>
            <a:r>
              <a:rPr lang="en-US" altLang="zh-CN" dirty="0">
                <a:solidFill>
                  <a:schemeClr val="accent2"/>
                </a:solidFill>
                <a:latin typeface="Arial" panose="020B0604020202020204" pitchFamily="34" charset="0"/>
              </a:rPr>
              <a:t>and </a:t>
            </a:r>
            <a:r>
              <a:rPr lang="en-US" altLang="zh-CN" dirty="0">
                <a:latin typeface="Arial" panose="020B0604020202020204" pitchFamily="34" charset="0"/>
              </a:rPr>
              <a:t>Union Rule</a:t>
            </a:r>
            <a:r>
              <a:rPr lang="zh-CN" altLang="en-US" dirty="0">
                <a:solidFill>
                  <a:schemeClr val="accent2"/>
                </a:solidFill>
                <a:latin typeface="Arial" panose="020B0604020202020204" pitchFamily="34" charset="0"/>
              </a:rPr>
              <a:t> </a:t>
            </a:r>
            <a:r>
              <a:rPr lang="en-US" altLang="zh-CN" dirty="0">
                <a:solidFill>
                  <a:schemeClr val="accent2"/>
                </a:solidFill>
                <a:latin typeface="Arial" panose="020B0604020202020204" pitchFamily="34" charset="0"/>
              </a:rPr>
              <a:t>we have:</a:t>
            </a:r>
          </a:p>
          <a:p>
            <a:pPr lvl="2" eaLnBrk="1" hangingPunct="1">
              <a:buNone/>
            </a:pPr>
            <a:r>
              <a:rPr lang="en-US" altLang="zh-CN">
                <a:solidFill>
                  <a:schemeClr val="tx1"/>
                </a:solidFill>
                <a:latin typeface="Arial" panose="020B0604020202020204" pitchFamily="34" charset="0"/>
              </a:rPr>
              <a:t>A</a:t>
            </a:r>
            <a:r>
              <a:rPr lang="en-US" altLang="zh-CN" dirty="0">
                <a:solidFill>
                  <a:schemeClr val="tx1"/>
                </a:solidFill>
                <a:latin typeface="Arial" panose="020B0604020202020204" pitchFamily="34" charset="0"/>
              </a:rPr>
              <a:t>→BC ∈ F</a:t>
            </a:r>
            <a:r>
              <a:rPr lang="en-US" altLang="zh-CN" baseline="30000" dirty="0">
                <a:solidFill>
                  <a:schemeClr val="tx1"/>
                </a:solidFill>
                <a:latin typeface="Arial" panose="020B0604020202020204" pitchFamily="34" charset="0"/>
              </a:rPr>
              <a:t>+</a:t>
            </a:r>
            <a:endParaRPr lang="en-US" altLang="zh-CN" baseline="30000">
              <a:solidFill>
                <a:schemeClr val="tx1"/>
              </a:solidFill>
              <a:latin typeface="Arial" panose="020B0604020202020204" pitchFamily="34" charset="0"/>
            </a:endParaRPr>
          </a:p>
        </p:txBody>
      </p:sp>
      <p:sp>
        <p:nvSpPr>
          <p:cNvPr id="56327" name="Rectangle 4"/>
          <p:cNvSpPr/>
          <p:nvPr/>
        </p:nvSpPr>
        <p:spPr>
          <a:xfrm>
            <a:off x="0" y="2565400"/>
            <a:ext cx="9144000" cy="3538220"/>
          </a:xfrm>
          <a:prstGeom prst="rect">
            <a:avLst/>
          </a:prstGeom>
          <a:noFill/>
          <a:ln w="9525">
            <a:noFill/>
          </a:ln>
        </p:spPr>
        <p:txBody>
          <a:bodyPr>
            <a:spAutoFit/>
          </a:bodyPr>
          <a:lstStyle/>
          <a:p>
            <a:pPr marL="457200" indent="-457200">
              <a:buFont typeface="Wingdings" panose="05000000000000000000" charset="0"/>
              <a:buChar char=""/>
            </a:pPr>
            <a:r>
              <a:rPr lang="en-US" altLang="zh-CN" sz="2800" b="1" dirty="0">
                <a:solidFill>
                  <a:schemeClr val="accent2"/>
                </a:solidFill>
                <a:latin typeface="Arial" panose="020B0604020202020204" pitchFamily="34" charset="0"/>
              </a:rPr>
              <a:t>By A→B</a:t>
            </a:r>
            <a:r>
              <a:rPr lang="zh-CN" altLang="en-US" sz="2800" b="1" dirty="0">
                <a:solidFill>
                  <a:schemeClr val="accent2"/>
                </a:solidFill>
                <a:latin typeface="Arial" panose="020B0604020202020204" pitchFamily="34" charset="0"/>
              </a:rPr>
              <a:t> </a:t>
            </a:r>
            <a:r>
              <a:rPr lang="en-US" altLang="zh-CN" sz="2800" b="1" dirty="0">
                <a:solidFill>
                  <a:schemeClr val="accent2"/>
                </a:solidFill>
                <a:latin typeface="Arial" panose="020B0604020202020204" pitchFamily="34" charset="0"/>
              </a:rPr>
              <a:t>and </a:t>
            </a:r>
            <a:r>
              <a:rPr lang="en-US" altLang="zh-CN" sz="2800" b="1" dirty="0">
                <a:solidFill>
                  <a:srgbClr val="FF0000"/>
                </a:solidFill>
                <a:latin typeface="Arial" panose="020B0604020202020204" pitchFamily="34" charset="0"/>
              </a:rPr>
              <a:t>Augmentation rule </a:t>
            </a:r>
            <a:r>
              <a:rPr lang="en-US" altLang="zh-CN" sz="2800" b="1" dirty="0">
                <a:solidFill>
                  <a:srgbClr val="0000FF"/>
                </a:solidFill>
                <a:latin typeface="Arial" panose="020B0604020202020204" pitchFamily="34" charset="0"/>
              </a:rPr>
              <a:t>we have:</a:t>
            </a:r>
          </a:p>
          <a:p>
            <a:pPr marL="1143000" lvl="2" indent="-228600" eaLnBrk="1" hangingPunct="1">
              <a:buNone/>
            </a:pPr>
            <a:r>
              <a:rPr lang="en-US" altLang="zh-CN" sz="2800" b="1">
                <a:latin typeface="Arial" panose="020B0604020202020204" pitchFamily="34" charset="0"/>
              </a:rPr>
              <a:t>A</a:t>
            </a:r>
            <a:r>
              <a:rPr lang="en-US" altLang="zh-CN" sz="2800" b="1" dirty="0">
                <a:latin typeface="Arial" panose="020B0604020202020204" pitchFamily="34" charset="0"/>
              </a:rPr>
              <a:t>→AB∈F</a:t>
            </a:r>
            <a:r>
              <a:rPr lang="en-US" altLang="zh-CN" sz="2800" b="1" baseline="30000" dirty="0">
                <a:latin typeface="Arial" panose="020B0604020202020204" pitchFamily="34" charset="0"/>
              </a:rPr>
              <a:t>+</a:t>
            </a:r>
            <a:r>
              <a:rPr lang="en-US" altLang="zh-CN" sz="2800" b="1" dirty="0">
                <a:latin typeface="Arial" panose="020B0604020202020204" pitchFamily="34" charset="0"/>
              </a:rPr>
              <a:t>,  AC→BC∈F</a:t>
            </a:r>
            <a:r>
              <a:rPr lang="en-US" altLang="zh-CN" sz="2800" b="1" baseline="30000" dirty="0">
                <a:latin typeface="Arial" panose="020B0604020202020204" pitchFamily="34" charset="0"/>
              </a:rPr>
              <a:t>+</a:t>
            </a:r>
            <a:r>
              <a:rPr lang="en-US" altLang="zh-CN" sz="2800" b="1" dirty="0">
                <a:latin typeface="Arial" panose="020B0604020202020204" pitchFamily="34" charset="0"/>
              </a:rPr>
              <a:t>,  AC→ABC∈F</a:t>
            </a:r>
            <a:r>
              <a:rPr lang="en-US" altLang="zh-CN" sz="2800" b="1" baseline="30000" dirty="0">
                <a:latin typeface="Arial" panose="020B0604020202020204" pitchFamily="34" charset="0"/>
              </a:rPr>
              <a:t>+</a:t>
            </a:r>
            <a:endParaRPr lang="en-US" altLang="zh-CN" sz="2800" b="1" baseline="30000">
              <a:latin typeface="Arial" panose="020B0604020202020204" pitchFamily="34" charset="0"/>
            </a:endParaRPr>
          </a:p>
          <a:p>
            <a:pPr marL="457200" indent="-457200">
              <a:buFont typeface="Wingdings" panose="05000000000000000000" charset="0"/>
              <a:buChar char=""/>
            </a:pPr>
            <a:r>
              <a:rPr lang="en-US" altLang="zh-CN" sz="2800" b="1" dirty="0">
                <a:solidFill>
                  <a:schemeClr val="accent2"/>
                </a:solidFill>
                <a:latin typeface="Arial" panose="020B0604020202020204" pitchFamily="34" charset="0"/>
              </a:rPr>
              <a:t>By B→C and </a:t>
            </a:r>
            <a:r>
              <a:rPr lang="en-US" altLang="zh-CN" sz="2800" b="1" dirty="0">
                <a:solidFill>
                  <a:srgbClr val="FF0000"/>
                </a:solidFill>
                <a:latin typeface="Arial" panose="020B0604020202020204" pitchFamily="34" charset="0"/>
              </a:rPr>
              <a:t>Augmentation rule </a:t>
            </a:r>
            <a:r>
              <a:rPr lang="en-US" altLang="zh-CN" sz="2800" b="1" dirty="0">
                <a:solidFill>
                  <a:srgbClr val="0000FF"/>
                </a:solidFill>
                <a:latin typeface="Arial" panose="020B0604020202020204" pitchFamily="34" charset="0"/>
              </a:rPr>
              <a:t>we have:</a:t>
            </a:r>
            <a:endParaRPr lang="zh-CN" altLang="en-US" sz="2800" b="1" dirty="0">
              <a:solidFill>
                <a:srgbClr val="0000FF"/>
              </a:solidFill>
              <a:latin typeface="Arial" panose="020B0604020202020204" pitchFamily="34" charset="0"/>
            </a:endParaRPr>
          </a:p>
          <a:p>
            <a:pPr marL="1143000" lvl="2" indent="-228600" eaLnBrk="1" hangingPunct="1">
              <a:buNone/>
            </a:pPr>
            <a:r>
              <a:rPr lang="en-US" altLang="zh-CN" sz="2800" b="1">
                <a:latin typeface="Arial" panose="020B0604020202020204" pitchFamily="34" charset="0"/>
              </a:rPr>
              <a:t>AB</a:t>
            </a:r>
            <a:r>
              <a:rPr lang="en-US" altLang="zh-CN" sz="2800" b="1" dirty="0">
                <a:latin typeface="Arial" panose="020B0604020202020204" pitchFamily="34" charset="0"/>
              </a:rPr>
              <a:t>→AC∈F</a:t>
            </a:r>
            <a:r>
              <a:rPr lang="en-US" altLang="zh-CN" sz="2800" b="1" baseline="30000" dirty="0">
                <a:latin typeface="Arial" panose="020B0604020202020204" pitchFamily="34" charset="0"/>
              </a:rPr>
              <a:t>+</a:t>
            </a:r>
            <a:r>
              <a:rPr lang="en-US" altLang="zh-CN" sz="2800" b="1" dirty="0">
                <a:latin typeface="Arial" panose="020B0604020202020204" pitchFamily="34" charset="0"/>
              </a:rPr>
              <a:t>, </a:t>
            </a:r>
            <a:r>
              <a:rPr lang="en-US" altLang="zh-CN" sz="2800" b="1">
                <a:latin typeface="Arial" panose="020B0604020202020204" pitchFamily="34" charset="0"/>
              </a:rPr>
              <a:t> B</a:t>
            </a:r>
            <a:r>
              <a:rPr lang="en-US" altLang="zh-CN" sz="2800" b="1" dirty="0">
                <a:latin typeface="Arial" panose="020B0604020202020204" pitchFamily="34" charset="0"/>
              </a:rPr>
              <a:t>→BC∈F</a:t>
            </a:r>
            <a:r>
              <a:rPr lang="en-US" altLang="zh-CN" sz="2800" b="1" baseline="30000" dirty="0">
                <a:latin typeface="Arial" panose="020B0604020202020204" pitchFamily="34" charset="0"/>
              </a:rPr>
              <a:t>+</a:t>
            </a:r>
            <a:r>
              <a:rPr lang="en-US" altLang="zh-CN" sz="2800" b="1" dirty="0">
                <a:latin typeface="Arial" panose="020B0604020202020204" pitchFamily="34" charset="0"/>
              </a:rPr>
              <a:t>, </a:t>
            </a:r>
            <a:r>
              <a:rPr lang="en-US" altLang="zh-CN" sz="2800" b="1">
                <a:latin typeface="Arial" panose="020B0604020202020204" pitchFamily="34" charset="0"/>
              </a:rPr>
              <a:t> AB</a:t>
            </a:r>
            <a:r>
              <a:rPr lang="en-US" altLang="zh-CN" sz="2800" b="1" dirty="0">
                <a:latin typeface="Arial" panose="020B0604020202020204" pitchFamily="34" charset="0"/>
              </a:rPr>
              <a:t>→ABC∈F</a:t>
            </a:r>
            <a:r>
              <a:rPr lang="en-US" altLang="zh-CN" sz="2800" b="1" baseline="30000" dirty="0">
                <a:latin typeface="Arial" panose="020B0604020202020204" pitchFamily="34" charset="0"/>
              </a:rPr>
              <a:t>+</a:t>
            </a:r>
            <a:endParaRPr lang="en-US" altLang="zh-CN" sz="2800" b="1" baseline="30000">
              <a:latin typeface="Arial" panose="020B0604020202020204" pitchFamily="34" charset="0"/>
            </a:endParaRPr>
          </a:p>
          <a:p>
            <a:pPr marL="457200" indent="-457200">
              <a:buFont typeface="Wingdings" panose="05000000000000000000" charset="0"/>
              <a:buChar char=""/>
            </a:pPr>
            <a:r>
              <a:rPr lang="en-US" altLang="zh-CN" sz="2800" b="1" dirty="0">
                <a:solidFill>
                  <a:schemeClr val="accent2"/>
                </a:solidFill>
                <a:latin typeface="Arial" panose="020B0604020202020204" pitchFamily="34" charset="0"/>
              </a:rPr>
              <a:t>By A→C and </a:t>
            </a:r>
            <a:r>
              <a:rPr lang="en-US" altLang="zh-CN" sz="2800" b="1" dirty="0">
                <a:solidFill>
                  <a:srgbClr val="FF0000"/>
                </a:solidFill>
                <a:latin typeface="Arial" panose="020B0604020202020204" pitchFamily="34" charset="0"/>
              </a:rPr>
              <a:t>Augmentation rule </a:t>
            </a:r>
            <a:r>
              <a:rPr lang="en-US" altLang="zh-CN" sz="2800" b="1" dirty="0">
                <a:solidFill>
                  <a:srgbClr val="0000FF"/>
                </a:solidFill>
                <a:latin typeface="Arial" panose="020B0604020202020204" pitchFamily="34" charset="0"/>
              </a:rPr>
              <a:t>we have:</a:t>
            </a:r>
            <a:endParaRPr lang="zh-CN" altLang="en-US" sz="2800" b="1" dirty="0">
              <a:solidFill>
                <a:srgbClr val="0000FF"/>
              </a:solidFill>
              <a:latin typeface="Arial" panose="020B0604020202020204" pitchFamily="34" charset="0"/>
            </a:endParaRPr>
          </a:p>
          <a:p>
            <a:pPr marL="1143000" lvl="2" indent="-228600" eaLnBrk="1" hangingPunct="1">
              <a:buNone/>
            </a:pPr>
            <a:r>
              <a:rPr lang="en-US" altLang="zh-CN" sz="2800" b="1">
                <a:latin typeface="Arial" panose="020B0604020202020204" pitchFamily="34" charset="0"/>
              </a:rPr>
              <a:t>A</a:t>
            </a:r>
            <a:r>
              <a:rPr lang="en-US" altLang="zh-CN" sz="2800" b="1" dirty="0">
                <a:latin typeface="Arial" panose="020B0604020202020204" pitchFamily="34" charset="0"/>
              </a:rPr>
              <a:t>→AC∈F</a:t>
            </a:r>
            <a:r>
              <a:rPr lang="en-US" altLang="zh-CN" sz="2800" b="1" baseline="30000" dirty="0">
                <a:latin typeface="Arial" panose="020B0604020202020204" pitchFamily="34" charset="0"/>
              </a:rPr>
              <a:t>+</a:t>
            </a:r>
            <a:r>
              <a:rPr lang="en-US" altLang="zh-CN" sz="2800" b="1" dirty="0">
                <a:latin typeface="Arial" panose="020B0604020202020204" pitchFamily="34" charset="0"/>
              </a:rPr>
              <a:t>, </a:t>
            </a:r>
            <a:r>
              <a:rPr lang="en-US" altLang="zh-CN" sz="2800" b="1">
                <a:latin typeface="Arial" panose="020B0604020202020204" pitchFamily="34" charset="0"/>
              </a:rPr>
              <a:t> AB</a:t>
            </a:r>
            <a:r>
              <a:rPr lang="en-US" altLang="zh-CN" sz="2800" b="1" dirty="0">
                <a:latin typeface="Arial" panose="020B0604020202020204" pitchFamily="34" charset="0"/>
              </a:rPr>
              <a:t>→BC∈F</a:t>
            </a:r>
            <a:r>
              <a:rPr lang="en-US" altLang="zh-CN" sz="2800" b="1" baseline="30000" dirty="0">
                <a:latin typeface="Arial" panose="020B0604020202020204" pitchFamily="34" charset="0"/>
              </a:rPr>
              <a:t>+</a:t>
            </a:r>
            <a:endParaRPr lang="en-US" altLang="zh-CN" sz="2800" b="1" baseline="30000">
              <a:latin typeface="Arial" panose="020B0604020202020204" pitchFamily="34" charset="0"/>
            </a:endParaRPr>
          </a:p>
          <a:p>
            <a:pPr marL="457200" indent="-457200">
              <a:buFont typeface="Wingdings" panose="05000000000000000000" charset="0"/>
              <a:buChar char=""/>
            </a:pPr>
            <a:r>
              <a:rPr lang="en-US" altLang="zh-CN" sz="2800" b="1" dirty="0">
                <a:solidFill>
                  <a:schemeClr val="accent2"/>
                </a:solidFill>
                <a:latin typeface="Arial" panose="020B0604020202020204" pitchFamily="34" charset="0"/>
              </a:rPr>
              <a:t>By A→BC and </a:t>
            </a:r>
            <a:r>
              <a:rPr lang="en-US" altLang="zh-CN" sz="2800" b="1" dirty="0">
                <a:solidFill>
                  <a:srgbClr val="FF0000"/>
                </a:solidFill>
                <a:latin typeface="Arial" panose="020B0604020202020204" pitchFamily="34" charset="0"/>
              </a:rPr>
              <a:t>Augmentation rule </a:t>
            </a:r>
            <a:r>
              <a:rPr lang="en-US" altLang="zh-CN" sz="2800" b="1" dirty="0">
                <a:solidFill>
                  <a:srgbClr val="0000FF"/>
                </a:solidFill>
                <a:latin typeface="Arial" panose="020B0604020202020204" pitchFamily="34" charset="0"/>
              </a:rPr>
              <a:t>we have:</a:t>
            </a:r>
            <a:endParaRPr lang="zh-CN" altLang="en-US" sz="2800" b="1" dirty="0">
              <a:solidFill>
                <a:srgbClr val="0000FF"/>
              </a:solidFill>
              <a:latin typeface="Arial" panose="020B0604020202020204" pitchFamily="34" charset="0"/>
            </a:endParaRPr>
          </a:p>
          <a:p>
            <a:pPr marL="1143000" lvl="2" indent="-228600" eaLnBrk="1" hangingPunct="1">
              <a:buNone/>
            </a:pPr>
            <a:r>
              <a:rPr lang="en-US" altLang="zh-CN" sz="2800" b="1">
                <a:latin typeface="Arial" panose="020B0604020202020204" pitchFamily="34" charset="0"/>
              </a:rPr>
              <a:t>A</a:t>
            </a:r>
            <a:r>
              <a:rPr lang="en-US" altLang="zh-CN" sz="2800" b="1" dirty="0">
                <a:latin typeface="Arial" panose="020B0604020202020204" pitchFamily="34" charset="0"/>
              </a:rPr>
              <a:t>→ABC∈F</a:t>
            </a:r>
            <a:r>
              <a:rPr lang="en-US" altLang="zh-CN" sz="2800" b="1" baseline="30000" dirty="0">
                <a:latin typeface="Arial" panose="020B0604020202020204" pitchFamily="34" charset="0"/>
              </a:rPr>
              <a:t>+</a:t>
            </a:r>
            <a:endParaRPr lang="zh-CN" altLang="en-US" sz="2800" b="1" baseline="30000" dirty="0">
              <a:latin typeface="Arial" panose="020B0604020202020204" pitchFamily="34" charset="0"/>
            </a:endParaRPr>
          </a:p>
        </p:txBody>
      </p:sp>
      <p:sp>
        <p:nvSpPr>
          <p:cNvPr id="56328" name="Line 7"/>
          <p:cNvSpPr/>
          <p:nvPr/>
        </p:nvSpPr>
        <p:spPr>
          <a:xfrm>
            <a:off x="0" y="2492375"/>
            <a:ext cx="9144000" cy="0"/>
          </a:xfrm>
          <a:prstGeom prst="line">
            <a:avLst/>
          </a:prstGeom>
          <a:ln w="25400" cap="flat" cmpd="sng">
            <a:solidFill>
              <a:schemeClr val="tx1"/>
            </a:solidFill>
            <a:prstDash val="solid"/>
            <a:headEnd type="none" w="med" len="med"/>
            <a:tailEnd type="none" w="med" len="med"/>
          </a:ln>
        </p:spPr>
      </p:sp>
      <p:sp>
        <p:nvSpPr>
          <p:cNvPr id="124934" name="Text Box 4"/>
          <p:cNvSpPr txBox="1"/>
          <p:nvPr/>
        </p:nvSpPr>
        <p:spPr>
          <a:xfrm>
            <a:off x="6622733" y="6447155"/>
            <a:ext cx="2449512" cy="398780"/>
          </a:xfrm>
          <a:prstGeom prst="rect">
            <a:avLst/>
          </a:prstGeom>
          <a:noFill/>
          <a:ln w="9525">
            <a:noFill/>
          </a:ln>
        </p:spPr>
        <p:txBody>
          <a:bodyPr anchor="t">
            <a:spAutoFit/>
          </a:bodyPr>
          <a:lstStyle/>
          <a:p>
            <a:pPr lvl="0" algn="ctr">
              <a:spcBef>
                <a:spcPct val="50000"/>
              </a:spcBef>
            </a:pPr>
            <a:r>
              <a:rPr lang="en-US" altLang="x-none" sz="2000" b="1" i="1" u="sng" dirty="0">
                <a:latin typeface="Arial" panose="020B0604020202020204" pitchFamily="34" charset="0"/>
                <a:ea typeface="宋体" panose="02010600030101010101" pitchFamily="2" charset="-122"/>
              </a:rPr>
              <a:t>(Another Example)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3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56327">
                                            <p:txEl>
                                              <p:pRg st="0" end="0"/>
                                            </p:txEl>
                                          </p:spTgt>
                                        </p:tgtEl>
                                        <p:attrNameLst>
                                          <p:attrName>style.visibility</p:attrName>
                                        </p:attrNameLst>
                                      </p:cBhvr>
                                      <p:to>
                                        <p:strVal val="visible"/>
                                      </p:to>
                                    </p:set>
                                    <p:animEffect transition="in" filter="blinds(horizontal)">
                                      <p:cBhvr>
                                        <p:cTn id="11" dur="500"/>
                                        <p:tgtEl>
                                          <p:spTgt spid="56327">
                                            <p:txEl>
                                              <p:pRg st="0" end="0"/>
                                            </p:txEl>
                                          </p:spTgt>
                                        </p:tgtEl>
                                      </p:cBhvr>
                                    </p:animEffect>
                                  </p:childTnLst>
                                </p:cTn>
                              </p:par>
                              <p:par>
                                <p:cTn id="12" presetID="3" presetClass="entr" presetSubtype="10" fill="hold" grpId="0" nodeType="withEffect">
                                  <p:stCondLst>
                                    <p:cond delay="0"/>
                                  </p:stCondLst>
                                  <p:childTnLst>
                                    <p:set>
                                      <p:cBhvr>
                                        <p:cTn id="13" dur="1" fill="hold">
                                          <p:stCondLst>
                                            <p:cond delay="0"/>
                                          </p:stCondLst>
                                        </p:cTn>
                                        <p:tgtEl>
                                          <p:spTgt spid="56327">
                                            <p:txEl>
                                              <p:pRg st="1" end="1"/>
                                            </p:txEl>
                                          </p:spTgt>
                                        </p:tgtEl>
                                        <p:attrNameLst>
                                          <p:attrName>style.visibility</p:attrName>
                                        </p:attrNameLst>
                                      </p:cBhvr>
                                      <p:to>
                                        <p:strVal val="visible"/>
                                      </p:to>
                                    </p:set>
                                    <p:animEffect transition="in" filter="blinds(horizontal)">
                                      <p:cBhvr>
                                        <p:cTn id="14" dur="500"/>
                                        <p:tgtEl>
                                          <p:spTgt spid="56327">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56327">
                                            <p:txEl>
                                              <p:pRg st="2" end="2"/>
                                            </p:txEl>
                                          </p:spTgt>
                                        </p:tgtEl>
                                        <p:attrNameLst>
                                          <p:attrName>style.visibility</p:attrName>
                                        </p:attrNameLst>
                                      </p:cBhvr>
                                      <p:to>
                                        <p:strVal val="visible"/>
                                      </p:to>
                                    </p:set>
                                    <p:animEffect transition="in" filter="blinds(horizontal)">
                                      <p:cBhvr>
                                        <p:cTn id="19" dur="500"/>
                                        <p:tgtEl>
                                          <p:spTgt spid="56327">
                                            <p:txEl>
                                              <p:pRg st="2" end="2"/>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56327">
                                            <p:txEl>
                                              <p:pRg st="3" end="3"/>
                                            </p:txEl>
                                          </p:spTgt>
                                        </p:tgtEl>
                                        <p:attrNameLst>
                                          <p:attrName>style.visibility</p:attrName>
                                        </p:attrNameLst>
                                      </p:cBhvr>
                                      <p:to>
                                        <p:strVal val="visible"/>
                                      </p:to>
                                    </p:set>
                                    <p:animEffect transition="in" filter="blinds(horizontal)">
                                      <p:cBhvr>
                                        <p:cTn id="22" dur="500"/>
                                        <p:tgtEl>
                                          <p:spTgt spid="563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6327">
                                            <p:txEl>
                                              <p:pRg st="4" end="4"/>
                                            </p:txEl>
                                          </p:spTgt>
                                        </p:tgtEl>
                                        <p:attrNameLst>
                                          <p:attrName>style.visibility</p:attrName>
                                        </p:attrNameLst>
                                      </p:cBhvr>
                                      <p:to>
                                        <p:strVal val="visible"/>
                                      </p:to>
                                    </p:set>
                                    <p:animEffect transition="in" filter="blinds(horizontal)">
                                      <p:cBhvr>
                                        <p:cTn id="27" dur="500"/>
                                        <p:tgtEl>
                                          <p:spTgt spid="56327">
                                            <p:txEl>
                                              <p:pRg st="4" end="4"/>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56327">
                                            <p:txEl>
                                              <p:pRg st="5" end="5"/>
                                            </p:txEl>
                                          </p:spTgt>
                                        </p:tgtEl>
                                        <p:attrNameLst>
                                          <p:attrName>style.visibility</p:attrName>
                                        </p:attrNameLst>
                                      </p:cBhvr>
                                      <p:to>
                                        <p:strVal val="visible"/>
                                      </p:to>
                                    </p:set>
                                    <p:animEffect transition="in" filter="blinds(horizontal)">
                                      <p:cBhvr>
                                        <p:cTn id="30" dur="500"/>
                                        <p:tgtEl>
                                          <p:spTgt spid="56327">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56327">
                                            <p:txEl>
                                              <p:pRg st="6" end="6"/>
                                            </p:txEl>
                                          </p:spTgt>
                                        </p:tgtEl>
                                        <p:attrNameLst>
                                          <p:attrName>style.visibility</p:attrName>
                                        </p:attrNameLst>
                                      </p:cBhvr>
                                      <p:to>
                                        <p:strVal val="visible"/>
                                      </p:to>
                                    </p:set>
                                    <p:animEffect transition="in" filter="blinds(horizontal)">
                                      <p:cBhvr>
                                        <p:cTn id="35" dur="500"/>
                                        <p:tgtEl>
                                          <p:spTgt spid="56327">
                                            <p:txEl>
                                              <p:pRg st="6" end="6"/>
                                            </p:txEl>
                                          </p:spTgt>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56327">
                                            <p:txEl>
                                              <p:pRg st="7" end="7"/>
                                            </p:txEl>
                                          </p:spTgt>
                                        </p:tgtEl>
                                        <p:attrNameLst>
                                          <p:attrName>style.visibility</p:attrName>
                                        </p:attrNameLst>
                                      </p:cBhvr>
                                      <p:to>
                                        <p:strVal val="visible"/>
                                      </p:to>
                                    </p:set>
                                    <p:animEffect transition="in" filter="blinds(horizontal)">
                                      <p:cBhvr>
                                        <p:cTn id="38" dur="500"/>
                                        <p:tgtEl>
                                          <p:spTgt spid="5632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7"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8" name="Rectangle 3"/>
          <p:cNvSpPr>
            <a:spLocks noGrp="1"/>
          </p:cNvSpPr>
          <p:nvPr>
            <p:ph idx="1"/>
          </p:nvPr>
        </p:nvSpPr>
        <p:spPr>
          <a:xfrm>
            <a:off x="0" y="44450"/>
            <a:ext cx="9144000" cy="5562600"/>
          </a:xfrm>
          <a:solidFill>
            <a:schemeClr val="bg1">
              <a:alpha val="100000"/>
            </a:schemeClr>
          </a:solidFill>
        </p:spPr>
        <p:txBody>
          <a:bodyPr vert="horz" wrap="square" lIns="91440" tIns="45720" rIns="91440" bIns="45720" anchor="t"/>
          <a:lstStyle/>
          <a:p>
            <a:pPr eaLnBrk="1" hangingPunct="1">
              <a:buFont typeface="Wingdings" panose="05000000000000000000" pitchFamily="2" charset="2"/>
              <a:buChar char="Ø"/>
            </a:pPr>
            <a:endParaRPr lang="zh-CN" altLang="en-US" dirty="0">
              <a:solidFill>
                <a:schemeClr val="accent2"/>
              </a:solidFill>
            </a:endParaRPr>
          </a:p>
          <a:p>
            <a:pPr eaLnBrk="1" hangingPunct="1">
              <a:buFont typeface="Wingdings" panose="05000000000000000000" pitchFamily="2" charset="2"/>
              <a:buChar char="Ø"/>
            </a:pPr>
            <a:r>
              <a:rPr lang="en-US" altLang="zh-CN" dirty="0">
                <a:solidFill>
                  <a:schemeClr val="accent2"/>
                </a:solidFill>
                <a:latin typeface="Arial" panose="020B0604020202020204" pitchFamily="34" charset="0"/>
              </a:rPr>
              <a:t>By AB→B and</a:t>
            </a:r>
            <a:r>
              <a:rPr lang="en-US" altLang="zh-CN">
                <a:solidFill>
                  <a:schemeClr val="accent2"/>
                </a:solidFill>
                <a:latin typeface="Arial" panose="020B0604020202020204" pitchFamily="34" charset="0"/>
              </a:rPr>
              <a:t> B</a:t>
            </a:r>
            <a:r>
              <a:rPr lang="en-US" altLang="zh-CN" dirty="0">
                <a:solidFill>
                  <a:schemeClr val="accent2"/>
                </a:solidFill>
                <a:latin typeface="Arial" panose="020B0604020202020204" pitchFamily="34" charset="0"/>
              </a:rPr>
              <a:t>→C and </a:t>
            </a:r>
            <a:r>
              <a:rPr lang="en-US" altLang="zh-CN" dirty="0">
                <a:latin typeface="Arial" panose="020B0604020202020204" pitchFamily="34" charset="0"/>
              </a:rPr>
              <a:t>Transitivity Rule</a:t>
            </a:r>
            <a:r>
              <a:rPr lang="zh-CN" altLang="en-US" dirty="0">
                <a:solidFill>
                  <a:schemeClr val="accent2"/>
                </a:solidFill>
                <a:latin typeface="Arial" panose="020B0604020202020204" pitchFamily="34" charset="0"/>
              </a:rPr>
              <a:t> </a:t>
            </a:r>
            <a:r>
              <a:rPr lang="en-US" altLang="zh-CN" dirty="0">
                <a:solidFill>
                  <a:schemeClr val="accent2"/>
                </a:solidFill>
                <a:latin typeface="Arial" panose="020B0604020202020204" pitchFamily="34" charset="0"/>
              </a:rPr>
              <a:t>we have:</a:t>
            </a:r>
            <a:endParaRPr lang="zh-CN" altLang="en-US" dirty="0">
              <a:solidFill>
                <a:schemeClr val="accent2"/>
              </a:solidFill>
              <a:latin typeface="Arial" panose="020B0604020202020204" pitchFamily="34" charset="0"/>
            </a:endParaRPr>
          </a:p>
          <a:p>
            <a:pPr lvl="3" eaLnBrk="1" hangingPunct="1">
              <a:buNone/>
            </a:pPr>
            <a:r>
              <a:rPr lang="en-US" altLang="zh-CN">
                <a:latin typeface="Arial" panose="020B0604020202020204" pitchFamily="34" charset="0"/>
              </a:rPr>
              <a:t>AB</a:t>
            </a:r>
            <a:r>
              <a:rPr lang="en-US" altLang="zh-CN" dirty="0">
                <a:latin typeface="Arial" panose="020B0604020202020204" pitchFamily="34" charset="0"/>
              </a:rPr>
              <a:t>→C ∈ F</a:t>
            </a:r>
            <a:r>
              <a:rPr lang="en-US" altLang="zh-CN" baseline="30000" dirty="0">
                <a:latin typeface="Arial" panose="020B0604020202020204" pitchFamily="34" charset="0"/>
              </a:rPr>
              <a:t>+</a:t>
            </a:r>
            <a:endParaRPr lang="en-US" altLang="zh-CN" baseline="30000">
              <a:latin typeface="Arial" panose="020B0604020202020204" pitchFamily="34" charset="0"/>
            </a:endParaRPr>
          </a:p>
          <a:p>
            <a:pPr lvl="3" eaLnBrk="1" hangingPunct="1">
              <a:buNone/>
            </a:pPr>
            <a:endParaRPr lang="en-US" altLang="zh-CN" sz="1400">
              <a:latin typeface="Arial" panose="020B0604020202020204" pitchFamily="34" charset="0"/>
            </a:endParaRPr>
          </a:p>
          <a:p>
            <a:pPr eaLnBrk="1" hangingPunct="1">
              <a:buFont typeface="Wingdings" panose="05000000000000000000" pitchFamily="2" charset="2"/>
              <a:buChar char="Ø"/>
            </a:pPr>
            <a:r>
              <a:rPr lang="en-US" altLang="zh-CN" dirty="0">
                <a:solidFill>
                  <a:schemeClr val="accent2"/>
                </a:solidFill>
                <a:latin typeface="Arial" panose="020B0604020202020204" pitchFamily="34" charset="0"/>
              </a:rPr>
              <a:t>By AC→A and A→B and </a:t>
            </a:r>
            <a:r>
              <a:rPr lang="en-US" altLang="zh-CN" dirty="0">
                <a:latin typeface="Arial" panose="020B0604020202020204" pitchFamily="34" charset="0"/>
              </a:rPr>
              <a:t>Transitivity Rule</a:t>
            </a:r>
            <a:r>
              <a:rPr lang="zh-CN" altLang="en-US" dirty="0">
                <a:solidFill>
                  <a:schemeClr val="accent2"/>
                </a:solidFill>
                <a:latin typeface="Arial" panose="020B0604020202020204" pitchFamily="34" charset="0"/>
              </a:rPr>
              <a:t> </a:t>
            </a:r>
            <a:r>
              <a:rPr lang="en-US" altLang="zh-CN" dirty="0">
                <a:solidFill>
                  <a:schemeClr val="accent2"/>
                </a:solidFill>
                <a:latin typeface="Arial" panose="020B0604020202020204" pitchFamily="34" charset="0"/>
              </a:rPr>
              <a:t>we have:</a:t>
            </a:r>
            <a:endParaRPr lang="zh-CN" altLang="en-US" dirty="0">
              <a:solidFill>
                <a:schemeClr val="accent2"/>
              </a:solidFill>
              <a:latin typeface="Arial" panose="020B0604020202020204" pitchFamily="34" charset="0"/>
            </a:endParaRPr>
          </a:p>
          <a:p>
            <a:pPr lvl="3" eaLnBrk="1" hangingPunct="1">
              <a:buNone/>
            </a:pPr>
            <a:r>
              <a:rPr lang="en-US" altLang="zh-CN">
                <a:latin typeface="Arial" panose="020B0604020202020204" pitchFamily="34" charset="0"/>
              </a:rPr>
              <a:t>AC</a:t>
            </a:r>
            <a:r>
              <a:rPr lang="en-US" altLang="zh-CN" dirty="0">
                <a:latin typeface="Arial" panose="020B0604020202020204" pitchFamily="34" charset="0"/>
              </a:rPr>
              <a:t>→B ∈ F</a:t>
            </a:r>
            <a:r>
              <a:rPr lang="en-US" altLang="zh-CN" baseline="30000" dirty="0">
                <a:latin typeface="Arial" panose="020B0604020202020204" pitchFamily="34" charset="0"/>
              </a:rPr>
              <a:t>+</a:t>
            </a:r>
            <a:endParaRPr lang="en-US" altLang="zh-CN" baseline="30000">
              <a:latin typeface="Arial" panose="020B0604020202020204" pitchFamily="34" charset="0"/>
            </a:endParaRPr>
          </a:p>
          <a:p>
            <a:pPr lvl="3" eaLnBrk="1" hangingPunct="1">
              <a:buNone/>
            </a:pPr>
            <a:endParaRPr lang="en-US" altLang="zh-CN" sz="1400">
              <a:latin typeface="Arial" panose="020B0604020202020204" pitchFamily="34" charset="0"/>
            </a:endParaRPr>
          </a:p>
          <a:p>
            <a:pPr eaLnBrk="1" hangingPunct="1">
              <a:buFont typeface="Wingdings" panose="05000000000000000000" pitchFamily="2" charset="2"/>
              <a:buChar char="Ø"/>
            </a:pPr>
            <a:r>
              <a:rPr lang="en-US" altLang="zh-CN" dirty="0">
                <a:solidFill>
                  <a:schemeClr val="accent2"/>
                </a:solidFill>
                <a:latin typeface="Arial" panose="020B0604020202020204" pitchFamily="34" charset="0"/>
              </a:rPr>
              <a:t>By AC→B and </a:t>
            </a:r>
            <a:r>
              <a:rPr lang="en-US" altLang="zh-CN" dirty="0">
                <a:latin typeface="Arial" panose="020B0604020202020204" pitchFamily="34" charset="0"/>
              </a:rPr>
              <a:t>Augmentation rule </a:t>
            </a:r>
            <a:r>
              <a:rPr lang="en-US" altLang="zh-CN" dirty="0">
                <a:solidFill>
                  <a:srgbClr val="0000FF"/>
                </a:solidFill>
                <a:latin typeface="Arial" panose="020B0604020202020204" pitchFamily="34" charset="0"/>
              </a:rPr>
              <a:t>we have:</a:t>
            </a:r>
            <a:endParaRPr lang="zh-CN" altLang="en-US" dirty="0">
              <a:solidFill>
                <a:schemeClr val="accent2"/>
              </a:solidFill>
              <a:latin typeface="Arial" panose="020B0604020202020204" pitchFamily="34" charset="0"/>
            </a:endParaRPr>
          </a:p>
          <a:p>
            <a:pPr lvl="3" eaLnBrk="1" hangingPunct="1">
              <a:buNone/>
            </a:pPr>
            <a:r>
              <a:rPr lang="en-US" altLang="zh-CN">
                <a:latin typeface="Arial" panose="020B0604020202020204" pitchFamily="34" charset="0"/>
              </a:rPr>
              <a:t>AC</a:t>
            </a:r>
            <a:r>
              <a:rPr lang="en-US" altLang="zh-CN" dirty="0">
                <a:latin typeface="Arial" panose="020B0604020202020204" pitchFamily="34" charset="0"/>
              </a:rPr>
              <a:t>→AB ∈ F</a:t>
            </a:r>
            <a:r>
              <a:rPr lang="en-US" altLang="zh-CN" baseline="30000" dirty="0">
                <a:latin typeface="Arial" panose="020B0604020202020204" pitchFamily="34" charset="0"/>
              </a:rPr>
              <a:t>+</a:t>
            </a:r>
            <a:endParaRPr lang="zh-CN" altLang="en-US" baseline="30000" dirty="0">
              <a:latin typeface="Arial" panose="020B0604020202020204" pitchFamily="34" charset="0"/>
            </a:endParaRPr>
          </a:p>
        </p:txBody>
      </p:sp>
      <p:sp>
        <p:nvSpPr>
          <p:cNvPr id="124934" name="Text Box 4"/>
          <p:cNvSpPr txBox="1"/>
          <p:nvPr/>
        </p:nvSpPr>
        <p:spPr>
          <a:xfrm>
            <a:off x="6622733" y="6447155"/>
            <a:ext cx="2449512" cy="398780"/>
          </a:xfrm>
          <a:prstGeom prst="rect">
            <a:avLst/>
          </a:prstGeom>
          <a:noFill/>
          <a:ln w="9525">
            <a:noFill/>
          </a:ln>
        </p:spPr>
        <p:txBody>
          <a:bodyPr anchor="t">
            <a:spAutoFit/>
          </a:bodyPr>
          <a:lstStyle/>
          <a:p>
            <a:pPr lvl="0" algn="ctr">
              <a:spcBef>
                <a:spcPct val="50000"/>
              </a:spcBef>
            </a:pPr>
            <a:r>
              <a:rPr lang="en-US" altLang="x-none" sz="2000" b="1" i="1" u="sng" dirty="0">
                <a:latin typeface="Arial" panose="020B0604020202020204" pitchFamily="34" charset="0"/>
                <a:ea typeface="宋体" panose="02010600030101010101" pitchFamily="2" charset="-122"/>
              </a:rPr>
              <a:t>(Another Example)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4" name="Rectangle 3"/>
          <p:cNvSpPr>
            <a:spLocks noGrp="1"/>
          </p:cNvSpPr>
          <p:nvPr>
            <p:ph type="body"/>
          </p:nvPr>
        </p:nvSpPr>
        <p:spPr>
          <a:xfrm>
            <a:off x="0" y="0"/>
            <a:ext cx="9144000" cy="6858000"/>
          </a:xfrm>
          <a:solidFill>
            <a:schemeClr val="bg1">
              <a:alpha val="100000"/>
            </a:schemeClr>
          </a:solidFill>
        </p:spPr>
        <p:txBody>
          <a:bodyPr vert="horz" wrap="square" lIns="91440" tIns="45720" rIns="91440" bIns="45720" anchor="t"/>
          <a:lstStyle/>
          <a:p>
            <a:pPr eaLnBrk="1" hangingPunct="1">
              <a:lnSpc>
                <a:spcPct val="100000"/>
              </a:lnSpc>
              <a:spcBef>
                <a:spcPct val="10000"/>
              </a:spcBef>
            </a:pPr>
            <a:r>
              <a:rPr lang="en-US" altLang="zh-CN" dirty="0">
                <a:solidFill>
                  <a:schemeClr val="accent2"/>
                </a:solidFill>
                <a:latin typeface="Arial" panose="020B0604020202020204" pitchFamily="34" charset="0"/>
              </a:rPr>
              <a:t> F</a:t>
            </a:r>
            <a:r>
              <a:rPr lang="en-US" altLang="zh-CN">
                <a:solidFill>
                  <a:schemeClr val="accent2"/>
                </a:solidFill>
                <a:latin typeface="Arial" panose="020B0604020202020204" pitchFamily="34" charset="0"/>
              </a:rPr>
              <a:t> = { A→B, B→C </a:t>
            </a:r>
            <a:r>
              <a:rPr lang="en-US" altLang="zh-CN" dirty="0">
                <a:solidFill>
                  <a:schemeClr val="accent2"/>
                </a:solidFill>
                <a:latin typeface="Arial" panose="020B0604020202020204" pitchFamily="34" charset="0"/>
              </a:rPr>
              <a:t>}</a:t>
            </a:r>
            <a:endParaRPr lang="en-US" altLang="zh-CN" baseline="30000">
              <a:solidFill>
                <a:schemeClr val="accent2"/>
              </a:solidFill>
              <a:latin typeface="Arial" panose="020B0604020202020204" pitchFamily="34" charset="0"/>
            </a:endParaRPr>
          </a:p>
          <a:p>
            <a:pPr lvl="1" eaLnBrk="1" hangingPunct="1">
              <a:lnSpc>
                <a:spcPct val="100000"/>
              </a:lnSpc>
              <a:spcBef>
                <a:spcPct val="10000"/>
              </a:spcBef>
              <a:buNone/>
            </a:pPr>
            <a:r>
              <a:rPr lang="en-US" altLang="zh-CN">
                <a:solidFill>
                  <a:schemeClr val="accent2"/>
                </a:solidFill>
                <a:latin typeface="Arial" panose="020B0604020202020204" pitchFamily="34" charset="0"/>
              </a:rPr>
              <a:t>F</a:t>
            </a:r>
            <a:r>
              <a:rPr lang="en-US" altLang="zh-CN" baseline="30000">
                <a:solidFill>
                  <a:schemeClr val="accent2"/>
                </a:solidFill>
                <a:latin typeface="Arial" panose="020B0604020202020204" pitchFamily="34" charset="0"/>
              </a:rPr>
              <a:t>+</a:t>
            </a:r>
            <a:r>
              <a:rPr lang="en-US" altLang="zh-CN">
                <a:solidFill>
                  <a:schemeClr val="accent2"/>
                </a:solidFill>
                <a:latin typeface="Arial" panose="020B0604020202020204" pitchFamily="34" charset="0"/>
              </a:rPr>
              <a:t> </a:t>
            </a:r>
            <a:r>
              <a:rPr lang="zh-CN" altLang="en-US" dirty="0">
                <a:solidFill>
                  <a:schemeClr val="accent2"/>
                </a:solidFill>
                <a:latin typeface="Arial" panose="020B0604020202020204" pitchFamily="34" charset="0"/>
              </a:rPr>
              <a:t>= {</a:t>
            </a:r>
          </a:p>
          <a:p>
            <a:pPr lvl="2" eaLnBrk="1" hangingPunct="1">
              <a:lnSpc>
                <a:spcPct val="100000"/>
              </a:lnSpc>
              <a:spcBef>
                <a:spcPct val="10000"/>
              </a:spcBef>
              <a:buNone/>
            </a:pPr>
            <a:r>
              <a:rPr lang="en-US" altLang="zh-CN">
                <a:latin typeface="Arial" panose="020B0604020202020204" pitchFamily="34" charset="0"/>
              </a:rPr>
              <a:t>A→A,  A→B,  A→C,  A→AB,  A→BC,</a:t>
            </a:r>
          </a:p>
          <a:p>
            <a:pPr lvl="2" eaLnBrk="1" hangingPunct="1">
              <a:lnSpc>
                <a:spcPct val="100000"/>
              </a:lnSpc>
              <a:spcBef>
                <a:spcPct val="10000"/>
              </a:spcBef>
              <a:buNone/>
            </a:pPr>
            <a:r>
              <a:rPr lang="en-US" altLang="zh-CN">
                <a:latin typeface="Arial" panose="020B0604020202020204" pitchFamily="34" charset="0"/>
              </a:rPr>
              <a:t>A→AC,  A→ABC,</a:t>
            </a:r>
          </a:p>
          <a:p>
            <a:pPr lvl="2" eaLnBrk="1" hangingPunct="1">
              <a:lnSpc>
                <a:spcPct val="100000"/>
              </a:lnSpc>
              <a:spcBef>
                <a:spcPct val="10000"/>
              </a:spcBef>
              <a:buNone/>
            </a:pPr>
            <a:r>
              <a:rPr lang="en-US" altLang="zh-CN">
                <a:latin typeface="Arial" panose="020B0604020202020204" pitchFamily="34" charset="0"/>
              </a:rPr>
              <a:t>B→B,  B→C,  B→BC,</a:t>
            </a:r>
          </a:p>
          <a:p>
            <a:pPr lvl="2" eaLnBrk="1" hangingPunct="1">
              <a:lnSpc>
                <a:spcPct val="100000"/>
              </a:lnSpc>
              <a:spcBef>
                <a:spcPct val="10000"/>
              </a:spcBef>
              <a:buNone/>
            </a:pPr>
            <a:r>
              <a:rPr lang="en-US" altLang="zh-CN">
                <a:latin typeface="Arial" panose="020B0604020202020204" pitchFamily="34" charset="0"/>
              </a:rPr>
              <a:t>C→C,</a:t>
            </a:r>
          </a:p>
          <a:p>
            <a:pPr lvl="2" eaLnBrk="1" hangingPunct="1">
              <a:lnSpc>
                <a:spcPct val="100000"/>
              </a:lnSpc>
              <a:spcBef>
                <a:spcPct val="10000"/>
              </a:spcBef>
              <a:buNone/>
            </a:pPr>
            <a:r>
              <a:rPr lang="en-US" altLang="zh-CN">
                <a:latin typeface="Arial" panose="020B0604020202020204" pitchFamily="34" charset="0"/>
              </a:rPr>
              <a:t>AB→A,  AB→B,  AB→C,  AB→AB,  AB→BC,</a:t>
            </a:r>
          </a:p>
          <a:p>
            <a:pPr lvl="2" eaLnBrk="1" hangingPunct="1">
              <a:lnSpc>
                <a:spcPct val="100000"/>
              </a:lnSpc>
              <a:spcBef>
                <a:spcPct val="10000"/>
              </a:spcBef>
              <a:buNone/>
            </a:pPr>
            <a:r>
              <a:rPr lang="en-US" altLang="zh-CN">
                <a:latin typeface="Arial" panose="020B0604020202020204" pitchFamily="34" charset="0"/>
              </a:rPr>
              <a:t>AB→AC,  AB→ABC</a:t>
            </a:r>
          </a:p>
          <a:p>
            <a:pPr lvl="2" eaLnBrk="1" hangingPunct="1">
              <a:lnSpc>
                <a:spcPct val="100000"/>
              </a:lnSpc>
              <a:spcBef>
                <a:spcPct val="10000"/>
              </a:spcBef>
              <a:buNone/>
            </a:pPr>
            <a:r>
              <a:rPr lang="en-US" altLang="zh-CN">
                <a:latin typeface="Arial" panose="020B0604020202020204" pitchFamily="34" charset="0"/>
              </a:rPr>
              <a:t>AC→A,  AC→B,  AC→C,  AC→AB,  AC→BC,</a:t>
            </a:r>
          </a:p>
          <a:p>
            <a:pPr lvl="2" eaLnBrk="1" hangingPunct="1">
              <a:lnSpc>
                <a:spcPct val="100000"/>
              </a:lnSpc>
              <a:spcBef>
                <a:spcPct val="10000"/>
              </a:spcBef>
              <a:buNone/>
            </a:pPr>
            <a:r>
              <a:rPr lang="en-US" altLang="zh-CN">
                <a:latin typeface="Arial" panose="020B0604020202020204" pitchFamily="34" charset="0"/>
              </a:rPr>
              <a:t>AC→AC,  AC→ABC</a:t>
            </a:r>
          </a:p>
          <a:p>
            <a:pPr lvl="2" eaLnBrk="1" hangingPunct="1">
              <a:lnSpc>
                <a:spcPct val="100000"/>
              </a:lnSpc>
              <a:spcBef>
                <a:spcPct val="10000"/>
              </a:spcBef>
              <a:buNone/>
            </a:pPr>
            <a:r>
              <a:rPr lang="en-US" altLang="zh-CN">
                <a:latin typeface="Arial" panose="020B0604020202020204" pitchFamily="34" charset="0"/>
              </a:rPr>
              <a:t>BC→B,  BC→C,  BC→BC,</a:t>
            </a:r>
          </a:p>
          <a:p>
            <a:pPr lvl="2" eaLnBrk="1" hangingPunct="1">
              <a:lnSpc>
                <a:spcPct val="100000"/>
              </a:lnSpc>
              <a:spcBef>
                <a:spcPct val="10000"/>
              </a:spcBef>
              <a:buNone/>
            </a:pPr>
            <a:r>
              <a:rPr lang="en-US" altLang="zh-CN">
                <a:latin typeface="Arial" panose="020B0604020202020204" pitchFamily="34" charset="0"/>
              </a:rPr>
              <a:t>ABC→A,  ABC→B,  ABC→C,  ABC→AB,</a:t>
            </a:r>
          </a:p>
          <a:p>
            <a:pPr lvl="2" eaLnBrk="1" hangingPunct="1">
              <a:lnSpc>
                <a:spcPct val="100000"/>
              </a:lnSpc>
              <a:spcBef>
                <a:spcPct val="10000"/>
              </a:spcBef>
              <a:buNone/>
            </a:pPr>
            <a:r>
              <a:rPr lang="en-US" altLang="zh-CN">
                <a:latin typeface="Arial" panose="020B0604020202020204" pitchFamily="34" charset="0"/>
              </a:rPr>
              <a:t>ABC→BC,  ABC→AC,  ABC→ABC</a:t>
            </a:r>
          </a:p>
          <a:p>
            <a:pPr lvl="1" eaLnBrk="1" hangingPunct="1">
              <a:lnSpc>
                <a:spcPct val="100000"/>
              </a:lnSpc>
              <a:spcBef>
                <a:spcPct val="10000"/>
              </a:spcBef>
              <a:buNone/>
            </a:pPr>
            <a:r>
              <a:rPr lang="en-US" altLang="zh-CN">
                <a:solidFill>
                  <a:schemeClr val="accent2"/>
                </a:solidFill>
                <a:latin typeface="Arial" panose="020B0604020202020204" pitchFamily="34" charset="0"/>
              </a:rPr>
              <a:t>}</a:t>
            </a:r>
          </a:p>
        </p:txBody>
      </p:sp>
      <p:sp>
        <p:nvSpPr>
          <p:cNvPr id="124934" name="Text Box 4"/>
          <p:cNvSpPr txBox="1"/>
          <p:nvPr/>
        </p:nvSpPr>
        <p:spPr>
          <a:xfrm>
            <a:off x="6622733" y="6447155"/>
            <a:ext cx="2449512" cy="398780"/>
          </a:xfrm>
          <a:prstGeom prst="rect">
            <a:avLst/>
          </a:prstGeom>
          <a:noFill/>
          <a:ln w="9525">
            <a:noFill/>
          </a:ln>
        </p:spPr>
        <p:txBody>
          <a:bodyPr anchor="t">
            <a:spAutoFit/>
          </a:bodyPr>
          <a:lstStyle/>
          <a:p>
            <a:pPr lvl="0" algn="ctr">
              <a:spcBef>
                <a:spcPct val="50000"/>
              </a:spcBef>
            </a:pPr>
            <a:r>
              <a:rPr lang="en-US" altLang="x-none" sz="2000" b="1" i="1" u="sng" dirty="0">
                <a:latin typeface="Arial" panose="020B0604020202020204" pitchFamily="34" charset="0"/>
                <a:ea typeface="宋体" panose="02010600030101010101" pitchFamily="2" charset="-122"/>
              </a:rPr>
              <a:t>(Another Example)</a:t>
            </a: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25954"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25955"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58</a:t>
            </a:fld>
            <a:endParaRPr lang="zh-CN" altLang="en-US" sz="1200" b="1" i="1" dirty="0">
              <a:latin typeface="Times New Roman" panose="02020603050405020304" pitchFamily="2" charset="0"/>
              <a:ea typeface="宋体" panose="02010600030101010101" pitchFamily="2" charset="-122"/>
            </a:endParaRPr>
          </a:p>
        </p:txBody>
      </p:sp>
      <p:sp>
        <p:nvSpPr>
          <p:cNvPr id="125956"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6.6 </a:t>
            </a:r>
            <a:r>
              <a:rPr lang="en-US" altLang="x-none" dirty="0">
                <a:ea typeface="宋体" panose="02010600030101010101" pitchFamily="2" charset="-122"/>
              </a:rPr>
              <a:t>Functional Dependencies</a:t>
            </a:r>
          </a:p>
        </p:txBody>
      </p:sp>
      <p:sp>
        <p:nvSpPr>
          <p:cNvPr id="125958" name="Rectangle 3"/>
          <p:cNvSpPr>
            <a:spLocks noGrp="1"/>
          </p:cNvSpPr>
          <p:nvPr>
            <p:ph type="body"/>
          </p:nvPr>
        </p:nvSpPr>
        <p:spPr>
          <a:xfrm>
            <a:off x="228600" y="990600"/>
            <a:ext cx="8686800" cy="5181600"/>
          </a:xfrm>
        </p:spPr>
        <p:txBody>
          <a:bodyPr wrap="square" anchor="t"/>
          <a:lstStyle/>
          <a:p>
            <a:pPr lvl="0" eaLnBrk="1" hangingPunct="1">
              <a:lnSpc>
                <a:spcPct val="110000"/>
              </a:lnSpc>
              <a:spcBef>
                <a:spcPct val="40000"/>
              </a:spcBef>
            </a:pPr>
            <a:r>
              <a:rPr lang="en-US" altLang="x-none" sz="3000" dirty="0">
                <a:ea typeface="宋体" panose="02010600030101010101" pitchFamily="2" charset="-122"/>
              </a:rPr>
              <a:t>Def. 6.6.10 </a:t>
            </a:r>
            <a:r>
              <a:rPr lang="en-US" altLang="x-none" sz="3000" u="sng" dirty="0">
                <a:solidFill>
                  <a:schemeClr val="accent2"/>
                </a:solidFill>
                <a:ea typeface="宋体" panose="02010600030101010101" pitchFamily="2" charset="-122"/>
              </a:rPr>
              <a:t>FD Set Cover</a:t>
            </a:r>
            <a:r>
              <a:rPr lang="en-US" altLang="x-none" sz="3000" dirty="0">
                <a:solidFill>
                  <a:schemeClr val="accent2"/>
                </a:solidFill>
                <a:ea typeface="宋体" panose="02010600030101010101" pitchFamily="2" charset="-122"/>
              </a:rPr>
              <a:t> </a:t>
            </a:r>
            <a:r>
              <a:rPr lang="en-US" altLang="x-none" sz="3000" dirty="0">
                <a:solidFill>
                  <a:schemeClr val="tx1"/>
                </a:solidFill>
                <a:ea typeface="宋体" panose="02010600030101010101" pitchFamily="2" charset="-122"/>
              </a:rPr>
              <a:t>(</a:t>
            </a:r>
            <a:r>
              <a:rPr lang="zh-CN" altLang="en-US" sz="3000" dirty="0">
                <a:solidFill>
                  <a:schemeClr val="tx1"/>
                </a:solidFill>
                <a:ea typeface="宋体" panose="02010600030101010101" pitchFamily="2" charset="-122"/>
              </a:rPr>
              <a:t>函数依赖集的覆盖)</a:t>
            </a:r>
          </a:p>
          <a:p>
            <a:pPr lvl="1" indent="-285750" eaLnBrk="1" hangingPunct="1">
              <a:lnSpc>
                <a:spcPct val="110000"/>
              </a:lnSpc>
              <a:spcBef>
                <a:spcPct val="40000"/>
              </a:spcBef>
            </a:pPr>
            <a:r>
              <a:rPr lang="en-US" altLang="x-none" sz="3000" dirty="0">
                <a:ea typeface="宋体" panose="02010600030101010101" pitchFamily="2" charset="-122"/>
              </a:rPr>
              <a:t>A set </a:t>
            </a:r>
            <a:r>
              <a:rPr lang="en-US" altLang="x-none" sz="3000" dirty="0">
                <a:solidFill>
                  <a:srgbClr val="FF0000"/>
                </a:solidFill>
                <a:ea typeface="宋体" panose="02010600030101010101" pitchFamily="2" charset="-122"/>
              </a:rPr>
              <a:t>F</a:t>
            </a:r>
            <a:r>
              <a:rPr lang="en-US" altLang="x-none" sz="3000" dirty="0">
                <a:ea typeface="宋体" panose="02010600030101010101" pitchFamily="2" charset="-122"/>
              </a:rPr>
              <a:t> of FDs on a table T is said to </a:t>
            </a:r>
            <a:r>
              <a:rPr lang="en-US" altLang="x-none" sz="3000" dirty="0">
                <a:solidFill>
                  <a:srgbClr val="FF0000"/>
                </a:solidFill>
                <a:ea typeface="宋体" panose="02010600030101010101" pitchFamily="2" charset="-122"/>
              </a:rPr>
              <a:t>COVER </a:t>
            </a:r>
            <a:r>
              <a:rPr lang="en-US" altLang="x-none" sz="3000" dirty="0">
                <a:ea typeface="宋体" panose="02010600030101010101" pitchFamily="2" charset="-122"/>
              </a:rPr>
              <a:t>another set </a:t>
            </a:r>
            <a:r>
              <a:rPr lang="en-US" altLang="x-none" sz="3000" dirty="0">
                <a:solidFill>
                  <a:srgbClr val="FF0000"/>
                </a:solidFill>
                <a:ea typeface="宋体" panose="02010600030101010101" pitchFamily="2" charset="-122"/>
              </a:rPr>
              <a:t>G</a:t>
            </a:r>
            <a:r>
              <a:rPr lang="en-US" altLang="x-none" sz="3000" dirty="0">
                <a:ea typeface="宋体" panose="02010600030101010101" pitchFamily="2" charset="-122"/>
              </a:rPr>
              <a:t> of FDs on T if the set G can be derived by implication rules from the set F </a:t>
            </a:r>
            <a:r>
              <a:rPr lang="en-US" altLang="zh-CN" sz="3000" dirty="0">
                <a:ea typeface="宋体" panose="02010600030101010101" pitchFamily="2" charset="-122"/>
              </a:rPr>
              <a:t>(</a:t>
            </a:r>
            <a:r>
              <a:rPr lang="en-US" altLang="x-none" sz="3000" dirty="0">
                <a:ea typeface="宋体" panose="02010600030101010101" pitchFamily="2" charset="-122"/>
              </a:rPr>
              <a:t> </a:t>
            </a:r>
            <a:r>
              <a:rPr lang="en-US" altLang="x-none" sz="3000" dirty="0">
                <a:solidFill>
                  <a:srgbClr val="FF0000"/>
                </a:solidFill>
                <a:ea typeface="宋体" panose="02010600030101010101" pitchFamily="2" charset="-122"/>
              </a:rPr>
              <a:t>G </a:t>
            </a:r>
            <a:r>
              <a:rPr lang="en-US" altLang="x-none" sz="3000" dirty="0">
                <a:solidFill>
                  <a:srgbClr val="FF0000"/>
                </a:solidFill>
                <a:ea typeface="宋体" panose="02010600030101010101" pitchFamily="2" charset="-122"/>
                <a:sym typeface="Symbol" panose="05050102010706020507" pitchFamily="2" charset="2"/>
              </a:rPr>
              <a:t> </a:t>
            </a:r>
            <a:r>
              <a:rPr lang="en-US" altLang="x-none" sz="3000" dirty="0">
                <a:solidFill>
                  <a:srgbClr val="FF0000"/>
                </a:solidFill>
                <a:ea typeface="宋体" panose="02010600030101010101" pitchFamily="2" charset="-122"/>
              </a:rPr>
              <a:t>F</a:t>
            </a:r>
            <a:r>
              <a:rPr lang="en-US" altLang="x-none" sz="3000" baseline="30000" dirty="0">
                <a:solidFill>
                  <a:srgbClr val="FF0000"/>
                </a:solidFill>
                <a:ea typeface="宋体" panose="02010600030101010101" pitchFamily="2" charset="-122"/>
              </a:rPr>
              <a:t>+</a:t>
            </a:r>
            <a:r>
              <a:rPr lang="en-US" altLang="x-none" sz="3000" dirty="0">
                <a:ea typeface="宋体" panose="02010600030101010101" pitchFamily="2" charset="-122"/>
              </a:rPr>
              <a:t> )</a:t>
            </a:r>
          </a:p>
          <a:p>
            <a:pPr lvl="1" indent="-285750" eaLnBrk="1" hangingPunct="1">
              <a:lnSpc>
                <a:spcPct val="110000"/>
              </a:lnSpc>
              <a:spcBef>
                <a:spcPct val="40000"/>
              </a:spcBef>
            </a:pPr>
            <a:endParaRPr lang="en-US" altLang="x-none" sz="1400" dirty="0">
              <a:ea typeface="宋体" panose="02010600030101010101" pitchFamily="2" charset="-122"/>
            </a:endParaRPr>
          </a:p>
          <a:p>
            <a:pPr lvl="0" eaLnBrk="1" hangingPunct="1">
              <a:lnSpc>
                <a:spcPct val="110000"/>
              </a:lnSpc>
              <a:spcBef>
                <a:spcPct val="40000"/>
              </a:spcBef>
            </a:pPr>
            <a:r>
              <a:rPr lang="zh-CN" altLang="en-US" sz="3000" dirty="0">
                <a:ea typeface="宋体" panose="02010600030101010101" pitchFamily="2" charset="-122"/>
              </a:rPr>
              <a:t>函数依赖集的等价</a:t>
            </a:r>
            <a:endParaRPr lang="en-US" altLang="x-none" sz="3000" dirty="0">
              <a:ea typeface="宋体" panose="02010600030101010101" pitchFamily="2" charset="-122"/>
            </a:endParaRPr>
          </a:p>
          <a:p>
            <a:pPr lvl="1" indent="-285750" eaLnBrk="1" hangingPunct="1">
              <a:lnSpc>
                <a:spcPct val="110000"/>
              </a:lnSpc>
              <a:spcBef>
                <a:spcPct val="40000"/>
              </a:spcBef>
            </a:pPr>
            <a:r>
              <a:rPr lang="en-US" altLang="x-none" sz="3000" dirty="0">
                <a:ea typeface="宋体" panose="02010600030101010101" pitchFamily="2" charset="-122"/>
              </a:rPr>
              <a:t>If F covers G and G covers F, we say the two sets of FDs are equivalent, </a:t>
            </a:r>
            <a:r>
              <a:rPr lang="en-US" altLang="x-none" sz="3000" dirty="0">
                <a:solidFill>
                  <a:srgbClr val="FF0000"/>
                </a:solidFill>
                <a:ea typeface="宋体" panose="02010600030101010101" pitchFamily="2" charset="-122"/>
              </a:rPr>
              <a:t>F</a:t>
            </a:r>
            <a:r>
              <a:rPr lang="en-US" altLang="x-none" sz="3000" dirty="0">
                <a:solidFill>
                  <a:srgbClr val="FF0000"/>
                </a:solidFill>
                <a:ea typeface="宋体" panose="02010600030101010101" pitchFamily="2" charset="-122"/>
                <a:sym typeface="Symbol" panose="05050102010706020507" pitchFamily="2" charset="2"/>
              </a:rPr>
              <a:t></a:t>
            </a:r>
            <a:r>
              <a:rPr lang="en-US" altLang="x-none" sz="3000" dirty="0">
                <a:solidFill>
                  <a:srgbClr val="FF0000"/>
                </a:solidFill>
                <a:ea typeface="宋体" panose="02010600030101010101" pitchFamily="2" charset="-122"/>
              </a:rPr>
              <a:t>G</a:t>
            </a:r>
            <a:r>
              <a:rPr lang="en-US" altLang="x-none" sz="3000" dirty="0">
                <a:ea typeface="宋体" panose="02010600030101010101" pitchFamily="2" charset="-122"/>
              </a:rPr>
              <a:t>.</a:t>
            </a:r>
            <a:endParaRPr lang="zh-CN" altLang="en-US" sz="3000"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5958">
                                            <p:txEl>
                                              <p:pRg st="0" end="0"/>
                                            </p:txEl>
                                          </p:spTgt>
                                        </p:tgtEl>
                                        <p:attrNameLst>
                                          <p:attrName>style.visibility</p:attrName>
                                        </p:attrNameLst>
                                      </p:cBhvr>
                                      <p:to>
                                        <p:strVal val="visible"/>
                                      </p:to>
                                    </p:set>
                                    <p:animEffect transition="in" filter="blinds(horizontal)">
                                      <p:cBhvr>
                                        <p:cTn id="7" dur="500"/>
                                        <p:tgtEl>
                                          <p:spTgt spid="125958">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25958">
                                            <p:txEl>
                                              <p:pRg st="1" end="1"/>
                                            </p:txEl>
                                          </p:spTgt>
                                        </p:tgtEl>
                                        <p:attrNameLst>
                                          <p:attrName>style.visibility</p:attrName>
                                        </p:attrNameLst>
                                      </p:cBhvr>
                                      <p:to>
                                        <p:strVal val="visible"/>
                                      </p:to>
                                    </p:set>
                                    <p:animEffect transition="in" filter="blinds(horizontal)">
                                      <p:cBhvr>
                                        <p:cTn id="10" dur="500"/>
                                        <p:tgtEl>
                                          <p:spTgt spid="125958">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25958">
                                            <p:txEl>
                                              <p:pRg st="3" end="3"/>
                                            </p:txEl>
                                          </p:spTgt>
                                        </p:tgtEl>
                                        <p:attrNameLst>
                                          <p:attrName>style.visibility</p:attrName>
                                        </p:attrNameLst>
                                      </p:cBhvr>
                                      <p:to>
                                        <p:strVal val="visible"/>
                                      </p:to>
                                    </p:set>
                                    <p:animEffect transition="in" filter="blinds(horizontal)">
                                      <p:cBhvr>
                                        <p:cTn id="15" dur="500"/>
                                        <p:tgtEl>
                                          <p:spTgt spid="125958">
                                            <p:txEl>
                                              <p:pRg st="3" end="3"/>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25958">
                                            <p:txEl>
                                              <p:pRg st="4" end="4"/>
                                            </p:txEl>
                                          </p:spTgt>
                                        </p:tgtEl>
                                        <p:attrNameLst>
                                          <p:attrName>style.visibility</p:attrName>
                                        </p:attrNameLst>
                                      </p:cBhvr>
                                      <p:to>
                                        <p:strVal val="visible"/>
                                      </p:to>
                                    </p:set>
                                    <p:animEffect transition="in" filter="blinds(horizontal)">
                                      <p:cBhvr>
                                        <p:cTn id="18" dur="500"/>
                                        <p:tgtEl>
                                          <p:spTgt spid="12595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8" grpId="0" uiExpand="1"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26978"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26979"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59</a:t>
            </a:fld>
            <a:endParaRPr lang="zh-CN" altLang="en-US" sz="1200" b="1" i="1" dirty="0">
              <a:latin typeface="Times New Roman" panose="02020603050405020304" pitchFamily="2" charset="0"/>
              <a:ea typeface="宋体" panose="02010600030101010101" pitchFamily="2" charset="-122"/>
            </a:endParaRPr>
          </a:p>
        </p:txBody>
      </p:sp>
      <p:sp>
        <p:nvSpPr>
          <p:cNvPr id="126980"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6.6 </a:t>
            </a:r>
            <a:r>
              <a:rPr lang="en-US" altLang="x-none" dirty="0">
                <a:ea typeface="宋体" panose="02010600030101010101" pitchFamily="2" charset="-122"/>
              </a:rPr>
              <a:t>Functional Dependencies</a:t>
            </a:r>
            <a:endParaRPr lang="zh-CN" altLang="en-US" dirty="0">
              <a:ea typeface="宋体" panose="02010600030101010101" pitchFamily="2" charset="-122"/>
            </a:endParaRPr>
          </a:p>
        </p:txBody>
      </p:sp>
      <p:sp>
        <p:nvSpPr>
          <p:cNvPr id="126981" name="Rectangle 3"/>
          <p:cNvSpPr>
            <a:spLocks noGrp="1"/>
          </p:cNvSpPr>
          <p:nvPr>
            <p:ph type="body"/>
          </p:nvPr>
        </p:nvSpPr>
        <p:spPr/>
        <p:txBody>
          <a:bodyPr wrap="square" anchor="t"/>
          <a:lstStyle/>
          <a:p>
            <a:pPr lvl="0" eaLnBrk="1" hangingPunct="1">
              <a:spcBef>
                <a:spcPct val="50000"/>
              </a:spcBef>
              <a:buClrTx/>
              <a:buChar char="–"/>
            </a:pPr>
            <a:r>
              <a:rPr lang="en-US" altLang="x-none" sz="3000" dirty="0">
                <a:solidFill>
                  <a:schemeClr val="tx1"/>
                </a:solidFill>
                <a:ea typeface="宋体" panose="02010600030101010101" pitchFamily="2" charset="-122"/>
              </a:rPr>
              <a:t>Example 6.6.6: Consider the two sets of FDs on the set of attributes {A,B,C,D,E}</a:t>
            </a:r>
          </a:p>
          <a:p>
            <a:pPr lvl="2" indent="-228600" eaLnBrk="1" hangingPunct="1">
              <a:spcBef>
                <a:spcPct val="50000"/>
              </a:spcBef>
              <a:buClrTx/>
              <a:buNone/>
            </a:pPr>
            <a:r>
              <a:rPr lang="en-US" altLang="x-none" sz="3000" dirty="0">
                <a:ea typeface="宋体" panose="02010600030101010101" pitchFamily="2" charset="-122"/>
              </a:rPr>
              <a:t>F = { B→CD,  AD→E,  B→A }</a:t>
            </a:r>
          </a:p>
          <a:p>
            <a:pPr lvl="2" indent="-228600" eaLnBrk="1" hangingPunct="1">
              <a:spcBef>
                <a:spcPct val="50000"/>
              </a:spcBef>
              <a:buClrTx/>
              <a:buNone/>
            </a:pPr>
            <a:r>
              <a:rPr lang="en-US" altLang="x-none" sz="3000" dirty="0">
                <a:ea typeface="宋体" panose="02010600030101010101" pitchFamily="2" charset="-122"/>
              </a:rPr>
              <a:t>G = { B→CDE,  B→ABC,  AD→E }</a:t>
            </a:r>
          </a:p>
          <a:p>
            <a:pPr lvl="1" indent="-285750" eaLnBrk="1" hangingPunct="1">
              <a:spcBef>
                <a:spcPct val="50000"/>
              </a:spcBef>
              <a:buClr>
                <a:schemeClr val="accent1"/>
              </a:buClr>
            </a:pPr>
            <a:r>
              <a:rPr lang="en-US" altLang="x-none" sz="3000" dirty="0">
                <a:ea typeface="宋体" panose="02010600030101010101" pitchFamily="2" charset="-122"/>
              </a:rPr>
              <a:t>F covers G ?</a:t>
            </a:r>
          </a:p>
          <a:p>
            <a:pPr lvl="1" indent="-285750" eaLnBrk="1" hangingPunct="1">
              <a:spcBef>
                <a:spcPct val="50000"/>
              </a:spcBef>
              <a:buClr>
                <a:schemeClr val="accent1"/>
              </a:buClr>
            </a:pPr>
            <a:r>
              <a:rPr lang="en-US" altLang="x-none" sz="3000" dirty="0">
                <a:ea typeface="宋体" panose="02010600030101010101" pitchFamily="2" charset="-122"/>
              </a:rPr>
              <a:t>G covers F ?</a:t>
            </a:r>
            <a:endParaRPr lang="zh-CN" altLang="en-US" sz="3000" dirty="0">
              <a:ea typeface="宋体" panose="02010600030101010101"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28002"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28003"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60</a:t>
            </a:fld>
            <a:endParaRPr lang="zh-CN" altLang="en-US" sz="1200" b="1" i="1" dirty="0">
              <a:latin typeface="Times New Roman" panose="02020603050405020304" pitchFamily="2" charset="0"/>
              <a:ea typeface="宋体" panose="02010600030101010101" pitchFamily="2" charset="-122"/>
            </a:endParaRPr>
          </a:p>
        </p:txBody>
      </p:sp>
      <p:sp>
        <p:nvSpPr>
          <p:cNvPr id="128004" name="Rectangle 2"/>
          <p:cNvSpPr>
            <a:spLocks noGrp="1"/>
          </p:cNvSpPr>
          <p:nvPr>
            <p:ph type="title"/>
          </p:nvPr>
        </p:nvSpPr>
        <p:spPr/>
        <p:txBody>
          <a:bodyPr wrap="square" anchor="ctr"/>
          <a:lstStyle/>
          <a:p>
            <a:pPr lvl="0" eaLnBrk="1" hangingPunct="1"/>
            <a:r>
              <a:rPr lang="en-US" altLang="x-none" dirty="0">
                <a:solidFill>
                  <a:schemeClr val="tx1"/>
                </a:solidFill>
                <a:ea typeface="宋体" panose="02010600030101010101" pitchFamily="2" charset="-122"/>
                <a:sym typeface="+mn-ea"/>
              </a:rPr>
              <a:t>Example 6.6.6</a:t>
            </a:r>
            <a:endParaRPr lang="en-US" altLang="x-none" dirty="0">
              <a:ea typeface="宋体" panose="02010600030101010101" pitchFamily="2" charset="-122"/>
            </a:endParaRPr>
          </a:p>
        </p:txBody>
      </p:sp>
      <p:sp>
        <p:nvSpPr>
          <p:cNvPr id="128005" name="Rectangle 3"/>
          <p:cNvSpPr>
            <a:spLocks noGrp="1"/>
          </p:cNvSpPr>
          <p:nvPr>
            <p:ph type="body"/>
          </p:nvPr>
        </p:nvSpPr>
        <p:spPr>
          <a:xfrm>
            <a:off x="457200" y="762000"/>
            <a:ext cx="8229600" cy="1038860"/>
          </a:xfrm>
          <a:ln>
            <a:noFill/>
          </a:ln>
        </p:spPr>
        <p:txBody>
          <a:bodyPr wrap="square" anchor="t">
            <a:spAutoFit/>
          </a:bodyPr>
          <a:lstStyle/>
          <a:p>
            <a:pPr lvl="1" indent="-285750" eaLnBrk="1" hangingPunct="1">
              <a:buNone/>
            </a:pPr>
            <a:r>
              <a:rPr lang="en-US" altLang="x-none" dirty="0">
                <a:ea typeface="宋体" panose="02010600030101010101" pitchFamily="2" charset="-122"/>
              </a:rPr>
              <a:t>F:  </a:t>
            </a:r>
            <a:r>
              <a:rPr lang="en-US" altLang="x-none" dirty="0">
                <a:solidFill>
                  <a:srgbClr val="FF0066"/>
                </a:solidFill>
                <a:ea typeface="宋体" panose="02010600030101010101" pitchFamily="2" charset="-122"/>
              </a:rPr>
              <a:t>(f</a:t>
            </a:r>
            <a:r>
              <a:rPr lang="en-US" altLang="x-none" baseline="-25000" dirty="0">
                <a:solidFill>
                  <a:srgbClr val="FF0066"/>
                </a:solidFill>
                <a:ea typeface="宋体" panose="02010600030101010101" pitchFamily="2" charset="-122"/>
              </a:rPr>
              <a:t>1</a:t>
            </a:r>
            <a:r>
              <a:rPr lang="en-US" altLang="x-none" dirty="0">
                <a:solidFill>
                  <a:srgbClr val="FF0066"/>
                </a:solidFill>
                <a:ea typeface="宋体" panose="02010600030101010101" pitchFamily="2" charset="-122"/>
              </a:rPr>
              <a:t>)</a:t>
            </a:r>
            <a:r>
              <a:rPr lang="en-US" altLang="x-none" dirty="0">
                <a:ea typeface="宋体" panose="02010600030101010101" pitchFamily="2" charset="-122"/>
              </a:rPr>
              <a:t> B→CD        </a:t>
            </a:r>
            <a:r>
              <a:rPr lang="en-US" altLang="x-none" dirty="0">
                <a:solidFill>
                  <a:srgbClr val="FF0066"/>
                </a:solidFill>
                <a:ea typeface="宋体" panose="02010600030101010101" pitchFamily="2" charset="-122"/>
              </a:rPr>
              <a:t>(f</a:t>
            </a:r>
            <a:r>
              <a:rPr lang="en-US" altLang="x-none" baseline="-25000" dirty="0">
                <a:solidFill>
                  <a:srgbClr val="FF0066"/>
                </a:solidFill>
                <a:ea typeface="宋体" panose="02010600030101010101" pitchFamily="2" charset="-122"/>
              </a:rPr>
              <a:t>2</a:t>
            </a:r>
            <a:r>
              <a:rPr lang="en-US" altLang="x-none" dirty="0">
                <a:solidFill>
                  <a:srgbClr val="FF0066"/>
                </a:solidFill>
                <a:ea typeface="宋体" panose="02010600030101010101" pitchFamily="2" charset="-122"/>
              </a:rPr>
              <a:t>)</a:t>
            </a:r>
            <a:r>
              <a:rPr lang="en-US" altLang="x-none" dirty="0">
                <a:ea typeface="宋体" panose="02010600030101010101" pitchFamily="2" charset="-122"/>
              </a:rPr>
              <a:t> AD→E        </a:t>
            </a:r>
            <a:r>
              <a:rPr lang="en-US" altLang="x-none" dirty="0">
                <a:solidFill>
                  <a:srgbClr val="FF0066"/>
                </a:solidFill>
                <a:ea typeface="宋体" panose="02010600030101010101" pitchFamily="2" charset="-122"/>
              </a:rPr>
              <a:t>(f</a:t>
            </a:r>
            <a:r>
              <a:rPr lang="en-US" altLang="x-none" baseline="-25000" dirty="0">
                <a:solidFill>
                  <a:srgbClr val="FF0066"/>
                </a:solidFill>
                <a:ea typeface="宋体" panose="02010600030101010101" pitchFamily="2" charset="-122"/>
              </a:rPr>
              <a:t>3</a:t>
            </a:r>
            <a:r>
              <a:rPr lang="en-US" altLang="x-none" dirty="0">
                <a:solidFill>
                  <a:srgbClr val="FF0066"/>
                </a:solidFill>
                <a:ea typeface="宋体" panose="02010600030101010101" pitchFamily="2" charset="-122"/>
              </a:rPr>
              <a:t>)</a:t>
            </a:r>
            <a:r>
              <a:rPr lang="en-US" altLang="x-none" dirty="0">
                <a:ea typeface="宋体" panose="02010600030101010101" pitchFamily="2" charset="-122"/>
              </a:rPr>
              <a:t> B→A</a:t>
            </a:r>
          </a:p>
          <a:p>
            <a:pPr lvl="1" indent="-285750" eaLnBrk="1" hangingPunct="1">
              <a:buNone/>
            </a:pPr>
            <a:r>
              <a:rPr lang="en-US" altLang="x-none" dirty="0">
                <a:ea typeface="宋体" panose="02010600030101010101" pitchFamily="2" charset="-122"/>
              </a:rPr>
              <a:t>G: </a:t>
            </a:r>
            <a:r>
              <a:rPr lang="en-US" altLang="x-none" dirty="0">
                <a:solidFill>
                  <a:srgbClr val="FF0066"/>
                </a:solidFill>
                <a:ea typeface="宋体" panose="02010600030101010101" pitchFamily="2" charset="-122"/>
              </a:rPr>
              <a:t>(g</a:t>
            </a:r>
            <a:r>
              <a:rPr lang="en-US" altLang="x-none" baseline="-25000" dirty="0">
                <a:solidFill>
                  <a:srgbClr val="FF0066"/>
                </a:solidFill>
                <a:ea typeface="宋体" panose="02010600030101010101" pitchFamily="2" charset="-122"/>
              </a:rPr>
              <a:t>1</a:t>
            </a:r>
            <a:r>
              <a:rPr lang="en-US" altLang="x-none" dirty="0">
                <a:solidFill>
                  <a:srgbClr val="FF0066"/>
                </a:solidFill>
                <a:ea typeface="宋体" panose="02010600030101010101" pitchFamily="2" charset="-122"/>
              </a:rPr>
              <a:t>)</a:t>
            </a:r>
            <a:r>
              <a:rPr lang="en-US" altLang="x-none" dirty="0">
                <a:ea typeface="宋体" panose="02010600030101010101" pitchFamily="2" charset="-122"/>
              </a:rPr>
              <a:t> B→CDE    </a:t>
            </a:r>
            <a:r>
              <a:rPr lang="en-US" altLang="x-none" dirty="0">
                <a:solidFill>
                  <a:srgbClr val="FF0066"/>
                </a:solidFill>
                <a:ea typeface="宋体" panose="02010600030101010101" pitchFamily="2" charset="-122"/>
              </a:rPr>
              <a:t>(g</a:t>
            </a:r>
            <a:r>
              <a:rPr lang="en-US" altLang="x-none" baseline="-25000" dirty="0">
                <a:solidFill>
                  <a:srgbClr val="FF0066"/>
                </a:solidFill>
                <a:ea typeface="宋体" panose="02010600030101010101" pitchFamily="2" charset="-122"/>
              </a:rPr>
              <a:t>2</a:t>
            </a:r>
            <a:r>
              <a:rPr lang="en-US" altLang="x-none" dirty="0">
                <a:ea typeface="宋体" panose="02010600030101010101" pitchFamily="2" charset="-122"/>
              </a:rPr>
              <a:t>) B→ABC    </a:t>
            </a:r>
            <a:r>
              <a:rPr lang="en-US" altLang="x-none" dirty="0">
                <a:solidFill>
                  <a:srgbClr val="FF0066"/>
                </a:solidFill>
                <a:ea typeface="宋体" panose="02010600030101010101" pitchFamily="2" charset="-122"/>
              </a:rPr>
              <a:t>(g</a:t>
            </a:r>
            <a:r>
              <a:rPr lang="en-US" altLang="x-none" baseline="-25000" dirty="0">
                <a:solidFill>
                  <a:srgbClr val="FF0066"/>
                </a:solidFill>
                <a:ea typeface="宋体" panose="02010600030101010101" pitchFamily="2" charset="-122"/>
              </a:rPr>
              <a:t>3</a:t>
            </a:r>
            <a:r>
              <a:rPr lang="en-US" altLang="x-none" dirty="0">
                <a:solidFill>
                  <a:srgbClr val="FF0066"/>
                </a:solidFill>
                <a:ea typeface="宋体" panose="02010600030101010101" pitchFamily="2" charset="-122"/>
              </a:rPr>
              <a:t>)</a:t>
            </a:r>
            <a:r>
              <a:rPr lang="en-US" altLang="x-none" dirty="0">
                <a:ea typeface="宋体" panose="02010600030101010101" pitchFamily="2" charset="-122"/>
              </a:rPr>
              <a:t> AD→E }</a:t>
            </a:r>
          </a:p>
        </p:txBody>
      </p:sp>
      <p:sp>
        <p:nvSpPr>
          <p:cNvPr id="128007" name="Rectangle 4"/>
          <p:cNvSpPr/>
          <p:nvPr/>
        </p:nvSpPr>
        <p:spPr>
          <a:xfrm>
            <a:off x="228600" y="2079625"/>
            <a:ext cx="8686800" cy="3886200"/>
          </a:xfrm>
          <a:prstGeom prst="rect">
            <a:avLst/>
          </a:prstGeom>
          <a:solidFill>
            <a:schemeClr val="bg1"/>
          </a:solidFill>
          <a:ln w="19050" cap="flat" cmpd="sng">
            <a:solidFill>
              <a:schemeClr val="tx1"/>
            </a:solidFill>
            <a:prstDash val="solid"/>
            <a:miter/>
            <a:headEnd type="none" w="med" len="med"/>
            <a:tailEnd type="none" w="med" len="med"/>
          </a:ln>
        </p:spPr>
        <p:txBody>
          <a:bodyPr anchor="t"/>
          <a:lstStyle/>
          <a:p>
            <a:pPr marL="457200" lvl="0" indent="-457200">
              <a:spcBef>
                <a:spcPct val="20000"/>
              </a:spcBef>
              <a:buClr>
                <a:schemeClr val="tx1"/>
              </a:buClr>
              <a:buFont typeface="Wingdings" panose="05000000000000000000" pitchFamily="2" charset="2"/>
              <a:buNone/>
            </a:pPr>
            <a:r>
              <a:rPr lang="en-US" altLang="x-none" sz="2800" b="1" i="1" u="sng" dirty="0">
                <a:solidFill>
                  <a:srgbClr val="FF0000"/>
                </a:solidFill>
                <a:latin typeface="Arial" panose="020B0604020202020204" pitchFamily="34" charset="0"/>
                <a:ea typeface="宋体" panose="02010600030101010101" pitchFamily="2" charset="-122"/>
              </a:rPr>
              <a:t>F covers G ?</a:t>
            </a:r>
          </a:p>
          <a:p>
            <a:pPr marL="457200" lvl="0" indent="-457200">
              <a:spcBef>
                <a:spcPct val="20000"/>
              </a:spcBef>
              <a:buClr>
                <a:schemeClr val="tx1"/>
              </a:buClr>
              <a:buFont typeface="Wingdings" panose="05000000000000000000" pitchFamily="2" charset="2"/>
              <a:buChar char="Ø"/>
            </a:pPr>
            <a:r>
              <a:rPr lang="en-US" altLang="x-none" sz="2800" b="1" dirty="0">
                <a:solidFill>
                  <a:srgbClr val="FF0066"/>
                </a:solidFill>
                <a:latin typeface="Arial" panose="020B0604020202020204" pitchFamily="34" charset="0"/>
                <a:ea typeface="宋体" panose="02010600030101010101" pitchFamily="2" charset="-122"/>
              </a:rPr>
              <a:t>g</a:t>
            </a:r>
            <a:r>
              <a:rPr lang="en-US" altLang="x-none" sz="2800" b="1" baseline="-25000" dirty="0">
                <a:solidFill>
                  <a:srgbClr val="FF0066"/>
                </a:solidFill>
                <a:latin typeface="Arial" panose="020B0604020202020204" pitchFamily="34" charset="0"/>
                <a:ea typeface="宋体" panose="02010600030101010101" pitchFamily="2" charset="-122"/>
              </a:rPr>
              <a:t>1</a:t>
            </a:r>
            <a:r>
              <a:rPr lang="en-US" altLang="x-none" sz="2800" b="1" dirty="0">
                <a:solidFill>
                  <a:schemeClr val="accent2"/>
                </a:solidFill>
                <a:latin typeface="Arial" panose="020B0604020202020204" pitchFamily="34" charset="0"/>
                <a:ea typeface="宋体" panose="02010600030101010101" pitchFamily="2" charset="-122"/>
              </a:rPr>
              <a:t> can be derived from the set F ?</a:t>
            </a:r>
          </a:p>
          <a:p>
            <a:pPr marL="914400" lvl="1" indent="-457200">
              <a:spcBef>
                <a:spcPct val="20000"/>
              </a:spcBef>
              <a:buClr>
                <a:schemeClr val="tx1"/>
              </a:buClr>
              <a:buFont typeface="Wingdings" panose="05000000000000000000" pitchFamily="2" charset="2"/>
              <a:buAutoNum type="arabicParenR"/>
            </a:pPr>
            <a:r>
              <a:rPr lang="en-US" altLang="x-none" sz="2800" b="1" dirty="0">
                <a:solidFill>
                  <a:schemeClr val="accent2"/>
                </a:solidFill>
                <a:latin typeface="Arial" panose="020B0604020202020204" pitchFamily="34" charset="0"/>
                <a:ea typeface="宋体" panose="02010600030101010101" pitchFamily="2" charset="-122"/>
              </a:rPr>
              <a:t>by </a:t>
            </a:r>
            <a:r>
              <a:rPr lang="en-US" altLang="x-none" sz="2800" b="1" dirty="0">
                <a:solidFill>
                  <a:srgbClr val="FF0066"/>
                </a:solidFill>
                <a:latin typeface="Arial" panose="020B0604020202020204" pitchFamily="34" charset="0"/>
                <a:ea typeface="宋体" panose="02010600030101010101" pitchFamily="2" charset="-122"/>
              </a:rPr>
              <a:t>f</a:t>
            </a:r>
            <a:r>
              <a:rPr lang="en-US" altLang="x-none" sz="2800" b="1" baseline="-25000" dirty="0">
                <a:solidFill>
                  <a:srgbClr val="FF0066"/>
                </a:solidFill>
                <a:latin typeface="Arial" panose="020B0604020202020204" pitchFamily="34" charset="0"/>
                <a:ea typeface="宋体" panose="02010600030101010101" pitchFamily="2" charset="-122"/>
              </a:rPr>
              <a:t>1</a:t>
            </a:r>
            <a:r>
              <a:rPr lang="en-US" altLang="x-none" sz="2800" b="1" dirty="0">
                <a:solidFill>
                  <a:srgbClr val="FF0000"/>
                </a:solidFill>
                <a:latin typeface="Arial" panose="020B0604020202020204" pitchFamily="34" charset="0"/>
                <a:ea typeface="宋体" panose="02010600030101010101" pitchFamily="2" charset="-122"/>
              </a:rPr>
              <a:t> </a:t>
            </a:r>
            <a:r>
              <a:rPr lang="en-US" altLang="x-none" sz="2800" b="1" dirty="0">
                <a:solidFill>
                  <a:schemeClr val="accent2"/>
                </a:solidFill>
                <a:latin typeface="Arial" panose="020B0604020202020204" pitchFamily="34" charset="0"/>
                <a:ea typeface="宋体" panose="02010600030101010101" pitchFamily="2" charset="-122"/>
              </a:rPr>
              <a:t>and </a:t>
            </a:r>
            <a:r>
              <a:rPr lang="en-US" altLang="x-none" sz="2800" b="1" dirty="0">
                <a:solidFill>
                  <a:srgbClr val="FF0066"/>
                </a:solidFill>
                <a:latin typeface="Arial" panose="020B0604020202020204" pitchFamily="34" charset="0"/>
                <a:ea typeface="宋体" panose="02010600030101010101" pitchFamily="2" charset="-122"/>
              </a:rPr>
              <a:t>f</a:t>
            </a:r>
            <a:r>
              <a:rPr lang="en-US" altLang="x-none" sz="2800" b="1" baseline="-25000" dirty="0">
                <a:solidFill>
                  <a:srgbClr val="FF0066"/>
                </a:solidFill>
                <a:latin typeface="Arial" panose="020B0604020202020204" pitchFamily="34" charset="0"/>
                <a:ea typeface="宋体" panose="02010600030101010101" pitchFamily="2" charset="-122"/>
              </a:rPr>
              <a:t>3</a:t>
            </a:r>
            <a:r>
              <a:rPr lang="en-US" altLang="x-none" sz="2800" b="1" dirty="0">
                <a:solidFill>
                  <a:srgbClr val="FF0000"/>
                </a:solidFill>
                <a:latin typeface="Arial" panose="020B0604020202020204" pitchFamily="34" charset="0"/>
                <a:ea typeface="宋体" panose="02010600030101010101" pitchFamily="2" charset="-122"/>
              </a:rPr>
              <a:t> </a:t>
            </a:r>
            <a:r>
              <a:rPr lang="en-US" altLang="x-none" sz="2800" b="1" dirty="0">
                <a:solidFill>
                  <a:schemeClr val="accent2"/>
                </a:solidFill>
                <a:latin typeface="Arial" panose="020B0604020202020204" pitchFamily="34" charset="0"/>
                <a:ea typeface="宋体" panose="02010600030101010101" pitchFamily="2" charset="-122"/>
              </a:rPr>
              <a:t>and union rule, we have </a:t>
            </a:r>
            <a:r>
              <a:rPr lang="en-US" altLang="x-none" sz="2800" b="1" dirty="0">
                <a:solidFill>
                  <a:srgbClr val="FF0066"/>
                </a:solidFill>
                <a:latin typeface="Arial" panose="020B0604020202020204" pitchFamily="34" charset="0"/>
                <a:ea typeface="宋体" panose="02010600030101010101" pitchFamily="2" charset="-122"/>
              </a:rPr>
              <a:t>①</a:t>
            </a:r>
            <a:r>
              <a:rPr lang="en-US" altLang="x-none" sz="2800" b="1" dirty="0">
                <a:solidFill>
                  <a:schemeClr val="accent2"/>
                </a:solidFill>
                <a:latin typeface="Arial" panose="020B0604020202020204" pitchFamily="34" charset="0"/>
                <a:ea typeface="宋体" panose="02010600030101010101" pitchFamily="2" charset="-122"/>
              </a:rPr>
              <a:t> B→ACD</a:t>
            </a:r>
          </a:p>
          <a:p>
            <a:pPr marL="914400" lvl="1" indent="-457200">
              <a:spcBef>
                <a:spcPct val="20000"/>
              </a:spcBef>
              <a:buClr>
                <a:schemeClr val="tx1"/>
              </a:buClr>
              <a:buFont typeface="Wingdings" panose="05000000000000000000" pitchFamily="2" charset="2"/>
              <a:buAutoNum type="arabicParenR"/>
            </a:pPr>
            <a:r>
              <a:rPr lang="en-US" altLang="x-none" sz="2800" b="1" dirty="0">
                <a:solidFill>
                  <a:schemeClr val="accent2"/>
                </a:solidFill>
                <a:latin typeface="Arial" panose="020B0604020202020204" pitchFamily="34" charset="0"/>
                <a:ea typeface="宋体" panose="02010600030101010101" pitchFamily="2" charset="-122"/>
              </a:rPr>
              <a:t>by </a:t>
            </a:r>
            <a:r>
              <a:rPr lang="en-US" altLang="x-none" sz="2800" b="1" dirty="0">
                <a:solidFill>
                  <a:srgbClr val="FF0066"/>
                </a:solidFill>
                <a:latin typeface="Arial" panose="020B0604020202020204" pitchFamily="34" charset="0"/>
                <a:ea typeface="宋体" panose="02010600030101010101" pitchFamily="2" charset="-122"/>
              </a:rPr>
              <a:t>f</a:t>
            </a:r>
            <a:r>
              <a:rPr lang="en-US" altLang="x-none" sz="2800" b="1" baseline="-25000" dirty="0">
                <a:solidFill>
                  <a:srgbClr val="FF0066"/>
                </a:solidFill>
                <a:latin typeface="Arial" panose="020B0604020202020204" pitchFamily="34" charset="0"/>
                <a:ea typeface="宋体" panose="02010600030101010101" pitchFamily="2" charset="-122"/>
              </a:rPr>
              <a:t>2</a:t>
            </a:r>
            <a:r>
              <a:rPr lang="en-US" altLang="x-none" sz="2800" b="1" dirty="0">
                <a:solidFill>
                  <a:schemeClr val="accent2"/>
                </a:solidFill>
                <a:latin typeface="Arial" panose="020B0604020202020204" pitchFamily="34" charset="0"/>
                <a:ea typeface="宋体" panose="02010600030101010101" pitchFamily="2" charset="-122"/>
              </a:rPr>
              <a:t> and augmentation rule, we have </a:t>
            </a:r>
            <a:r>
              <a:rPr lang="en-US" altLang="x-none" sz="2800" b="1" dirty="0">
                <a:solidFill>
                  <a:srgbClr val="FF0066"/>
                </a:solidFill>
                <a:latin typeface="Arial" panose="020B0604020202020204" pitchFamily="34" charset="0"/>
                <a:ea typeface="宋体" panose="02010600030101010101" pitchFamily="2" charset="-122"/>
              </a:rPr>
              <a:t>②</a:t>
            </a:r>
            <a:r>
              <a:rPr lang="en-US" altLang="x-none" sz="2800" b="1" dirty="0">
                <a:solidFill>
                  <a:schemeClr val="accent2"/>
                </a:solidFill>
                <a:latin typeface="Arial" panose="020B0604020202020204" pitchFamily="34" charset="0"/>
                <a:ea typeface="宋体" panose="02010600030101010101" pitchFamily="2" charset="-122"/>
              </a:rPr>
              <a:t>CDAD→CDE, and can be rewritten </a:t>
            </a:r>
            <a:r>
              <a:rPr lang="en-US" altLang="x-none" sz="2800" b="1" dirty="0">
                <a:solidFill>
                  <a:srgbClr val="FF0066"/>
                </a:solidFill>
                <a:latin typeface="Arial" panose="020B0604020202020204" pitchFamily="34" charset="0"/>
                <a:ea typeface="宋体" panose="02010600030101010101" pitchFamily="2" charset="-122"/>
              </a:rPr>
              <a:t>③</a:t>
            </a:r>
            <a:r>
              <a:rPr lang="en-US" altLang="x-none" sz="2800" b="1" dirty="0">
                <a:solidFill>
                  <a:schemeClr val="accent2"/>
                </a:solidFill>
                <a:latin typeface="Arial" panose="020B0604020202020204" pitchFamily="34" charset="0"/>
                <a:ea typeface="宋体" panose="02010600030101010101" pitchFamily="2" charset="-122"/>
              </a:rPr>
              <a:t> ACD→CDE</a:t>
            </a:r>
          </a:p>
          <a:p>
            <a:pPr marL="914400" lvl="1" indent="-457200">
              <a:spcBef>
                <a:spcPct val="20000"/>
              </a:spcBef>
              <a:buClr>
                <a:schemeClr val="tx1"/>
              </a:buClr>
              <a:buFont typeface="Wingdings" panose="05000000000000000000" pitchFamily="2" charset="2"/>
              <a:buAutoNum type="arabicParenR"/>
            </a:pPr>
            <a:r>
              <a:rPr lang="en-US" altLang="x-none" sz="2800" b="1" dirty="0">
                <a:solidFill>
                  <a:schemeClr val="accent2"/>
                </a:solidFill>
                <a:latin typeface="Arial" panose="020B0604020202020204" pitchFamily="34" charset="0"/>
                <a:ea typeface="宋体" panose="02010600030101010101" pitchFamily="2" charset="-122"/>
              </a:rPr>
              <a:t>by </a:t>
            </a:r>
            <a:r>
              <a:rPr lang="en-US" altLang="x-none" sz="2800" b="1" dirty="0">
                <a:solidFill>
                  <a:srgbClr val="FF0066"/>
                </a:solidFill>
                <a:latin typeface="Arial" panose="020B0604020202020204" pitchFamily="34" charset="0"/>
                <a:ea typeface="宋体" panose="02010600030101010101" pitchFamily="2" charset="-122"/>
              </a:rPr>
              <a:t>①</a:t>
            </a:r>
            <a:r>
              <a:rPr lang="en-US" altLang="x-none" sz="2800" b="1" dirty="0">
                <a:solidFill>
                  <a:schemeClr val="accent2"/>
                </a:solidFill>
                <a:latin typeface="Arial" panose="020B0604020202020204" pitchFamily="34" charset="0"/>
                <a:ea typeface="宋体" panose="02010600030101010101" pitchFamily="2" charset="-122"/>
              </a:rPr>
              <a:t> and </a:t>
            </a:r>
            <a:r>
              <a:rPr lang="en-US" altLang="x-none" sz="2800" b="1" dirty="0">
                <a:solidFill>
                  <a:srgbClr val="FF0066"/>
                </a:solidFill>
                <a:latin typeface="Arial" panose="020B0604020202020204" pitchFamily="34" charset="0"/>
                <a:ea typeface="宋体" panose="02010600030101010101" pitchFamily="2" charset="-122"/>
              </a:rPr>
              <a:t>③</a:t>
            </a:r>
            <a:r>
              <a:rPr lang="en-US" altLang="x-none" sz="2800" b="1" dirty="0">
                <a:solidFill>
                  <a:schemeClr val="accent2"/>
                </a:solidFill>
                <a:latin typeface="Arial" panose="020B0604020202020204" pitchFamily="34" charset="0"/>
                <a:ea typeface="宋体" panose="02010600030101010101" pitchFamily="2" charset="-122"/>
              </a:rPr>
              <a:t> and transitivity rule, we have </a:t>
            </a:r>
            <a:r>
              <a:rPr lang="en-US" altLang="x-none" sz="2800" b="1" dirty="0">
                <a:solidFill>
                  <a:srgbClr val="FF0066"/>
                </a:solidFill>
                <a:latin typeface="Arial" panose="020B0604020202020204" pitchFamily="34" charset="0"/>
                <a:ea typeface="宋体" panose="02010600030101010101" pitchFamily="2" charset="-122"/>
              </a:rPr>
              <a:t>g</a:t>
            </a:r>
            <a:r>
              <a:rPr lang="en-US" altLang="x-none" sz="2800" b="1" baseline="-25000" dirty="0">
                <a:solidFill>
                  <a:srgbClr val="FF0066"/>
                </a:solidFill>
                <a:latin typeface="Arial" panose="020B0604020202020204" pitchFamily="34" charset="0"/>
                <a:ea typeface="宋体" panose="02010600030101010101" pitchFamily="2" charset="-122"/>
              </a:rPr>
              <a:t>1</a:t>
            </a:r>
            <a:endParaRPr lang="en-US" altLang="x-none" sz="2800" b="1" dirty="0">
              <a:solidFill>
                <a:schemeClr val="accent2"/>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8007">
                                            <p:bg/>
                                          </p:spTgt>
                                        </p:tgtEl>
                                        <p:attrNameLst>
                                          <p:attrName>style.visibility</p:attrName>
                                        </p:attrNameLst>
                                      </p:cBhvr>
                                      <p:to>
                                        <p:strVal val="visible"/>
                                      </p:to>
                                    </p:set>
                                    <p:animEffect transition="in" filter="blinds(horizontal)">
                                      <p:cBhvr>
                                        <p:cTn id="7" dur="500"/>
                                        <p:tgtEl>
                                          <p:spTgt spid="128007">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8007">
                                            <p:txEl>
                                              <p:pRg st="0" end="0"/>
                                            </p:txEl>
                                          </p:spTgt>
                                        </p:tgtEl>
                                        <p:attrNameLst>
                                          <p:attrName>style.visibility</p:attrName>
                                        </p:attrNameLst>
                                      </p:cBhvr>
                                      <p:to>
                                        <p:strVal val="visible"/>
                                      </p:to>
                                    </p:set>
                                    <p:animEffect transition="in" filter="blinds(horizontal)">
                                      <p:cBhvr>
                                        <p:cTn id="12" dur="500"/>
                                        <p:tgtEl>
                                          <p:spTgt spid="12800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8007">
                                            <p:txEl>
                                              <p:pRg st="1" end="1"/>
                                            </p:txEl>
                                          </p:spTgt>
                                        </p:tgtEl>
                                        <p:attrNameLst>
                                          <p:attrName>style.visibility</p:attrName>
                                        </p:attrNameLst>
                                      </p:cBhvr>
                                      <p:to>
                                        <p:strVal val="visible"/>
                                      </p:to>
                                    </p:set>
                                    <p:animEffect transition="in" filter="blinds(horizontal)">
                                      <p:cBhvr>
                                        <p:cTn id="17" dur="500"/>
                                        <p:tgtEl>
                                          <p:spTgt spid="12800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8007">
                                            <p:txEl>
                                              <p:pRg st="2" end="2"/>
                                            </p:txEl>
                                          </p:spTgt>
                                        </p:tgtEl>
                                        <p:attrNameLst>
                                          <p:attrName>style.visibility</p:attrName>
                                        </p:attrNameLst>
                                      </p:cBhvr>
                                      <p:to>
                                        <p:strVal val="visible"/>
                                      </p:to>
                                    </p:set>
                                    <p:animEffect transition="in" filter="blinds(horizontal)">
                                      <p:cBhvr>
                                        <p:cTn id="22" dur="500"/>
                                        <p:tgtEl>
                                          <p:spTgt spid="12800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28007">
                                            <p:txEl>
                                              <p:pRg st="3" end="3"/>
                                            </p:txEl>
                                          </p:spTgt>
                                        </p:tgtEl>
                                        <p:attrNameLst>
                                          <p:attrName>style.visibility</p:attrName>
                                        </p:attrNameLst>
                                      </p:cBhvr>
                                      <p:to>
                                        <p:strVal val="visible"/>
                                      </p:to>
                                    </p:set>
                                    <p:animEffect transition="in" filter="blinds(horizontal)">
                                      <p:cBhvr>
                                        <p:cTn id="27" dur="500"/>
                                        <p:tgtEl>
                                          <p:spTgt spid="128007">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28007">
                                            <p:txEl>
                                              <p:pRg st="4" end="4"/>
                                            </p:txEl>
                                          </p:spTgt>
                                        </p:tgtEl>
                                        <p:attrNameLst>
                                          <p:attrName>style.visibility</p:attrName>
                                        </p:attrNameLst>
                                      </p:cBhvr>
                                      <p:to>
                                        <p:strVal val="visible"/>
                                      </p:to>
                                    </p:set>
                                    <p:animEffect transition="in" filter="blinds(horizontal)">
                                      <p:cBhvr>
                                        <p:cTn id="32" dur="500"/>
                                        <p:tgtEl>
                                          <p:spTgt spid="12800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7" grpId="0" build="p" bldLvl="2"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29026"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29027"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61</a:t>
            </a:fld>
            <a:endParaRPr lang="zh-CN" altLang="en-US" sz="1200" b="1" i="1" dirty="0">
              <a:latin typeface="Times New Roman" panose="02020603050405020304" pitchFamily="2" charset="0"/>
              <a:ea typeface="宋体" panose="02010600030101010101" pitchFamily="2" charset="-122"/>
            </a:endParaRPr>
          </a:p>
        </p:txBody>
      </p:sp>
      <p:sp>
        <p:nvSpPr>
          <p:cNvPr id="129028" name="Rectangle 2"/>
          <p:cNvSpPr>
            <a:spLocks noGrp="1"/>
          </p:cNvSpPr>
          <p:nvPr>
            <p:ph type="title"/>
          </p:nvPr>
        </p:nvSpPr>
        <p:spPr/>
        <p:txBody>
          <a:bodyPr wrap="square" anchor="ctr"/>
          <a:lstStyle/>
          <a:p>
            <a:pPr lvl="0" eaLnBrk="1" hangingPunct="1"/>
            <a:r>
              <a:rPr lang="en-US" altLang="x-none" dirty="0">
                <a:solidFill>
                  <a:schemeClr val="tx1"/>
                </a:solidFill>
                <a:ea typeface="宋体" panose="02010600030101010101" pitchFamily="2" charset="-122"/>
                <a:sym typeface="+mn-ea"/>
              </a:rPr>
              <a:t>Example 6.6.6</a:t>
            </a:r>
            <a:endParaRPr lang="en-US" altLang="x-none" dirty="0">
              <a:ea typeface="宋体" panose="02010600030101010101" pitchFamily="2" charset="-122"/>
            </a:endParaRPr>
          </a:p>
        </p:txBody>
      </p:sp>
      <p:sp>
        <p:nvSpPr>
          <p:cNvPr id="129029" name="Rectangle 3"/>
          <p:cNvSpPr>
            <a:spLocks noGrp="1"/>
          </p:cNvSpPr>
          <p:nvPr>
            <p:ph type="body"/>
          </p:nvPr>
        </p:nvSpPr>
        <p:spPr>
          <a:xfrm>
            <a:off x="457200" y="762000"/>
            <a:ext cx="8229600" cy="1038860"/>
          </a:xfrm>
        </p:spPr>
        <p:txBody>
          <a:bodyPr wrap="square" anchor="t">
            <a:spAutoFit/>
          </a:bodyPr>
          <a:lstStyle/>
          <a:p>
            <a:pPr lvl="1" indent="-285750" eaLnBrk="1" hangingPunct="1">
              <a:buNone/>
            </a:pPr>
            <a:r>
              <a:rPr lang="en-US" altLang="x-none" dirty="0">
                <a:ea typeface="宋体" panose="02010600030101010101" pitchFamily="2" charset="-122"/>
              </a:rPr>
              <a:t>F:  </a:t>
            </a:r>
            <a:r>
              <a:rPr lang="en-US" altLang="x-none" dirty="0">
                <a:solidFill>
                  <a:srgbClr val="FF0066"/>
                </a:solidFill>
                <a:ea typeface="宋体" panose="02010600030101010101" pitchFamily="2" charset="-122"/>
              </a:rPr>
              <a:t>(f</a:t>
            </a:r>
            <a:r>
              <a:rPr lang="en-US" altLang="x-none" baseline="-25000" dirty="0">
                <a:solidFill>
                  <a:srgbClr val="FF0066"/>
                </a:solidFill>
                <a:ea typeface="宋体" panose="02010600030101010101" pitchFamily="2" charset="-122"/>
              </a:rPr>
              <a:t>1</a:t>
            </a:r>
            <a:r>
              <a:rPr lang="en-US" altLang="x-none" dirty="0">
                <a:solidFill>
                  <a:srgbClr val="FF0066"/>
                </a:solidFill>
                <a:ea typeface="宋体" panose="02010600030101010101" pitchFamily="2" charset="-122"/>
              </a:rPr>
              <a:t>)</a:t>
            </a:r>
            <a:r>
              <a:rPr lang="en-US" altLang="x-none" dirty="0">
                <a:ea typeface="宋体" panose="02010600030101010101" pitchFamily="2" charset="-122"/>
              </a:rPr>
              <a:t> B→CD        </a:t>
            </a:r>
            <a:r>
              <a:rPr lang="en-US" altLang="x-none" dirty="0">
                <a:solidFill>
                  <a:srgbClr val="FF0066"/>
                </a:solidFill>
                <a:ea typeface="宋体" panose="02010600030101010101" pitchFamily="2" charset="-122"/>
              </a:rPr>
              <a:t>(f</a:t>
            </a:r>
            <a:r>
              <a:rPr lang="en-US" altLang="x-none" baseline="-25000" dirty="0">
                <a:solidFill>
                  <a:srgbClr val="FF0066"/>
                </a:solidFill>
                <a:ea typeface="宋体" panose="02010600030101010101" pitchFamily="2" charset="-122"/>
              </a:rPr>
              <a:t>2</a:t>
            </a:r>
            <a:r>
              <a:rPr lang="en-US" altLang="x-none" dirty="0">
                <a:solidFill>
                  <a:srgbClr val="FF0066"/>
                </a:solidFill>
                <a:ea typeface="宋体" panose="02010600030101010101" pitchFamily="2" charset="-122"/>
              </a:rPr>
              <a:t>)</a:t>
            </a:r>
            <a:r>
              <a:rPr lang="en-US" altLang="x-none" dirty="0">
                <a:ea typeface="宋体" panose="02010600030101010101" pitchFamily="2" charset="-122"/>
              </a:rPr>
              <a:t> AD→E        </a:t>
            </a:r>
            <a:r>
              <a:rPr lang="en-US" altLang="x-none" dirty="0">
                <a:solidFill>
                  <a:srgbClr val="FF0066"/>
                </a:solidFill>
                <a:ea typeface="宋体" panose="02010600030101010101" pitchFamily="2" charset="-122"/>
              </a:rPr>
              <a:t>(f</a:t>
            </a:r>
            <a:r>
              <a:rPr lang="en-US" altLang="x-none" baseline="-25000" dirty="0">
                <a:solidFill>
                  <a:srgbClr val="FF0066"/>
                </a:solidFill>
                <a:ea typeface="宋体" panose="02010600030101010101" pitchFamily="2" charset="-122"/>
              </a:rPr>
              <a:t>3</a:t>
            </a:r>
            <a:r>
              <a:rPr lang="en-US" altLang="x-none" dirty="0">
                <a:solidFill>
                  <a:srgbClr val="FF0066"/>
                </a:solidFill>
                <a:ea typeface="宋体" panose="02010600030101010101" pitchFamily="2" charset="-122"/>
              </a:rPr>
              <a:t>)</a:t>
            </a:r>
            <a:r>
              <a:rPr lang="en-US" altLang="x-none" dirty="0">
                <a:ea typeface="宋体" panose="02010600030101010101" pitchFamily="2" charset="-122"/>
              </a:rPr>
              <a:t> B→A</a:t>
            </a:r>
          </a:p>
          <a:p>
            <a:pPr lvl="1" indent="-285750" eaLnBrk="1" hangingPunct="1">
              <a:buNone/>
            </a:pPr>
            <a:r>
              <a:rPr lang="en-US" altLang="x-none" dirty="0">
                <a:ea typeface="宋体" panose="02010600030101010101" pitchFamily="2" charset="-122"/>
              </a:rPr>
              <a:t>G: </a:t>
            </a:r>
            <a:r>
              <a:rPr lang="en-US" altLang="x-none" dirty="0">
                <a:solidFill>
                  <a:srgbClr val="FF0066"/>
                </a:solidFill>
                <a:ea typeface="宋体" panose="02010600030101010101" pitchFamily="2" charset="-122"/>
              </a:rPr>
              <a:t>(g</a:t>
            </a:r>
            <a:r>
              <a:rPr lang="en-US" altLang="x-none" baseline="-25000" dirty="0">
                <a:solidFill>
                  <a:srgbClr val="FF0066"/>
                </a:solidFill>
                <a:ea typeface="宋体" panose="02010600030101010101" pitchFamily="2" charset="-122"/>
              </a:rPr>
              <a:t>1</a:t>
            </a:r>
            <a:r>
              <a:rPr lang="en-US" altLang="x-none" dirty="0">
                <a:solidFill>
                  <a:srgbClr val="FF0066"/>
                </a:solidFill>
                <a:ea typeface="宋体" panose="02010600030101010101" pitchFamily="2" charset="-122"/>
              </a:rPr>
              <a:t>)</a:t>
            </a:r>
            <a:r>
              <a:rPr lang="en-US" altLang="x-none" dirty="0">
                <a:ea typeface="宋体" panose="02010600030101010101" pitchFamily="2" charset="-122"/>
              </a:rPr>
              <a:t> B→CDE    </a:t>
            </a:r>
            <a:r>
              <a:rPr lang="en-US" altLang="x-none" dirty="0">
                <a:solidFill>
                  <a:srgbClr val="FF0066"/>
                </a:solidFill>
                <a:ea typeface="宋体" panose="02010600030101010101" pitchFamily="2" charset="-122"/>
              </a:rPr>
              <a:t>(g</a:t>
            </a:r>
            <a:r>
              <a:rPr lang="en-US" altLang="x-none" baseline="-25000" dirty="0">
                <a:solidFill>
                  <a:srgbClr val="FF0066"/>
                </a:solidFill>
                <a:ea typeface="宋体" panose="02010600030101010101" pitchFamily="2" charset="-122"/>
              </a:rPr>
              <a:t>2</a:t>
            </a:r>
            <a:r>
              <a:rPr lang="en-US" altLang="x-none" dirty="0">
                <a:ea typeface="宋体" panose="02010600030101010101" pitchFamily="2" charset="-122"/>
              </a:rPr>
              <a:t>) B→ABC    </a:t>
            </a:r>
            <a:r>
              <a:rPr lang="en-US" altLang="x-none" dirty="0">
                <a:solidFill>
                  <a:srgbClr val="FF0066"/>
                </a:solidFill>
                <a:ea typeface="宋体" panose="02010600030101010101" pitchFamily="2" charset="-122"/>
              </a:rPr>
              <a:t>(g</a:t>
            </a:r>
            <a:r>
              <a:rPr lang="en-US" altLang="x-none" baseline="-25000" dirty="0">
                <a:solidFill>
                  <a:srgbClr val="FF0066"/>
                </a:solidFill>
                <a:ea typeface="宋体" panose="02010600030101010101" pitchFamily="2" charset="-122"/>
              </a:rPr>
              <a:t>3</a:t>
            </a:r>
            <a:r>
              <a:rPr lang="en-US" altLang="x-none" dirty="0">
                <a:solidFill>
                  <a:srgbClr val="FF0066"/>
                </a:solidFill>
                <a:ea typeface="宋体" panose="02010600030101010101" pitchFamily="2" charset="-122"/>
              </a:rPr>
              <a:t>)</a:t>
            </a:r>
            <a:r>
              <a:rPr lang="en-US" altLang="x-none" dirty="0">
                <a:ea typeface="宋体" panose="02010600030101010101" pitchFamily="2" charset="-122"/>
              </a:rPr>
              <a:t> AD→E }</a:t>
            </a:r>
          </a:p>
        </p:txBody>
      </p:sp>
      <p:sp>
        <p:nvSpPr>
          <p:cNvPr id="129031" name="Rectangle 4"/>
          <p:cNvSpPr/>
          <p:nvPr/>
        </p:nvSpPr>
        <p:spPr>
          <a:xfrm>
            <a:off x="228600" y="2007870"/>
            <a:ext cx="8686800" cy="3886200"/>
          </a:xfrm>
          <a:prstGeom prst="rect">
            <a:avLst/>
          </a:prstGeom>
          <a:solidFill>
            <a:schemeClr val="bg1"/>
          </a:solidFill>
          <a:ln w="19050" cap="flat" cmpd="sng">
            <a:solidFill>
              <a:schemeClr val="tx1"/>
            </a:solidFill>
            <a:prstDash val="solid"/>
            <a:miter/>
            <a:headEnd type="none" w="med" len="med"/>
            <a:tailEnd type="none" w="med" len="med"/>
          </a:ln>
        </p:spPr>
        <p:txBody>
          <a:bodyPr anchor="t"/>
          <a:lstStyle/>
          <a:p>
            <a:pPr marL="457200" lvl="0" indent="-457200">
              <a:spcBef>
                <a:spcPct val="20000"/>
              </a:spcBef>
              <a:buClr>
                <a:schemeClr val="tx1"/>
              </a:buClr>
              <a:buFont typeface="Wingdings" panose="05000000000000000000" pitchFamily="2" charset="2"/>
              <a:buNone/>
            </a:pPr>
            <a:r>
              <a:rPr lang="en-US" altLang="x-none" sz="2800" b="1" i="1" u="sng" dirty="0">
                <a:solidFill>
                  <a:srgbClr val="FF0000"/>
                </a:solidFill>
                <a:latin typeface="Arial" panose="020B0604020202020204" pitchFamily="34" charset="0"/>
                <a:ea typeface="宋体" panose="02010600030101010101" pitchFamily="2" charset="-122"/>
              </a:rPr>
              <a:t>F covers G ?</a:t>
            </a:r>
            <a:endParaRPr lang="en-US" altLang="x-none" sz="2800" b="1" baseline="-25000" dirty="0">
              <a:solidFill>
                <a:srgbClr val="FF0066"/>
              </a:solidFill>
              <a:latin typeface="Arial" panose="020B0604020202020204" pitchFamily="34" charset="0"/>
              <a:ea typeface="宋体" panose="02010600030101010101" pitchFamily="2" charset="-122"/>
            </a:endParaRPr>
          </a:p>
          <a:p>
            <a:pPr marL="457200" lvl="0" indent="-457200">
              <a:spcBef>
                <a:spcPct val="20000"/>
              </a:spcBef>
              <a:buClr>
                <a:schemeClr val="tx1"/>
              </a:buClr>
              <a:buFont typeface="Wingdings" panose="05000000000000000000" pitchFamily="2" charset="2"/>
              <a:buChar char="Ø"/>
            </a:pPr>
            <a:r>
              <a:rPr lang="en-US" altLang="x-none" sz="2800" b="1" dirty="0">
                <a:solidFill>
                  <a:srgbClr val="FF0066"/>
                </a:solidFill>
                <a:latin typeface="Arial" panose="020B0604020202020204" pitchFamily="34" charset="0"/>
                <a:ea typeface="宋体" panose="02010600030101010101" pitchFamily="2" charset="-122"/>
              </a:rPr>
              <a:t>g</a:t>
            </a:r>
            <a:r>
              <a:rPr lang="en-US" altLang="x-none" sz="2800" b="1" baseline="-25000" dirty="0">
                <a:solidFill>
                  <a:srgbClr val="FF0066"/>
                </a:solidFill>
                <a:latin typeface="Arial" panose="020B0604020202020204" pitchFamily="34" charset="0"/>
                <a:ea typeface="宋体" panose="02010600030101010101" pitchFamily="2" charset="-122"/>
              </a:rPr>
              <a:t>2</a:t>
            </a:r>
            <a:r>
              <a:rPr lang="en-US" altLang="x-none" sz="2800" b="1" dirty="0">
                <a:solidFill>
                  <a:schemeClr val="accent2"/>
                </a:solidFill>
                <a:latin typeface="Arial" panose="020B0604020202020204" pitchFamily="34" charset="0"/>
                <a:ea typeface="宋体" panose="02010600030101010101" pitchFamily="2" charset="-122"/>
              </a:rPr>
              <a:t> can be derived from the set F ?</a:t>
            </a:r>
          </a:p>
          <a:p>
            <a:pPr marL="914400" lvl="1" indent="-457200">
              <a:spcBef>
                <a:spcPct val="20000"/>
              </a:spcBef>
              <a:buClr>
                <a:schemeClr val="tx1"/>
              </a:buClr>
              <a:buFont typeface="Wingdings" panose="05000000000000000000" pitchFamily="2" charset="2"/>
              <a:buAutoNum type="arabicParenR"/>
            </a:pPr>
            <a:r>
              <a:rPr lang="en-US" altLang="x-none" sz="2800" b="1" dirty="0">
                <a:solidFill>
                  <a:schemeClr val="accent2"/>
                </a:solidFill>
                <a:latin typeface="Arial" panose="020B0604020202020204" pitchFamily="34" charset="0"/>
                <a:ea typeface="宋体" panose="02010600030101010101" pitchFamily="2" charset="-122"/>
              </a:rPr>
              <a:t>by </a:t>
            </a:r>
            <a:r>
              <a:rPr lang="en-US" altLang="x-none" sz="2800" b="1" dirty="0">
                <a:solidFill>
                  <a:srgbClr val="FF0066"/>
                </a:solidFill>
                <a:latin typeface="Arial" panose="020B0604020202020204" pitchFamily="34" charset="0"/>
                <a:ea typeface="宋体" panose="02010600030101010101" pitchFamily="2" charset="-122"/>
              </a:rPr>
              <a:t>f</a:t>
            </a:r>
            <a:r>
              <a:rPr lang="en-US" altLang="x-none" sz="2800" b="1" baseline="-25000" dirty="0">
                <a:solidFill>
                  <a:srgbClr val="FF0066"/>
                </a:solidFill>
                <a:latin typeface="Arial" panose="020B0604020202020204" pitchFamily="34" charset="0"/>
                <a:ea typeface="宋体" panose="02010600030101010101" pitchFamily="2" charset="-122"/>
              </a:rPr>
              <a:t>1</a:t>
            </a:r>
            <a:r>
              <a:rPr lang="en-US" altLang="x-none" sz="2800" b="1" dirty="0">
                <a:solidFill>
                  <a:schemeClr val="accent2"/>
                </a:solidFill>
                <a:latin typeface="Arial" panose="020B0604020202020204" pitchFamily="34" charset="0"/>
                <a:ea typeface="宋体" panose="02010600030101010101" pitchFamily="2" charset="-122"/>
              </a:rPr>
              <a:t> and decomposition rule, we have </a:t>
            </a:r>
            <a:r>
              <a:rPr lang="en-US" altLang="x-none" sz="2800" b="1" dirty="0">
                <a:solidFill>
                  <a:srgbClr val="FF0066"/>
                </a:solidFill>
                <a:latin typeface="Arial" panose="020B0604020202020204" pitchFamily="34" charset="0"/>
                <a:ea typeface="宋体" panose="02010600030101010101" pitchFamily="2" charset="-122"/>
              </a:rPr>
              <a:t>①</a:t>
            </a:r>
            <a:r>
              <a:rPr lang="en-US" altLang="x-none" sz="2800" b="1" dirty="0">
                <a:solidFill>
                  <a:schemeClr val="accent2"/>
                </a:solidFill>
                <a:latin typeface="Arial" panose="020B0604020202020204" pitchFamily="34" charset="0"/>
                <a:ea typeface="宋体" panose="02010600030101010101" pitchFamily="2" charset="-122"/>
              </a:rPr>
              <a:t> B→C</a:t>
            </a:r>
          </a:p>
          <a:p>
            <a:pPr marL="914400" lvl="1" indent="-457200">
              <a:spcBef>
                <a:spcPct val="20000"/>
              </a:spcBef>
              <a:buClr>
                <a:schemeClr val="tx1"/>
              </a:buClr>
              <a:buFont typeface="Wingdings" panose="05000000000000000000" pitchFamily="2" charset="2"/>
              <a:buAutoNum type="arabicParenR"/>
            </a:pPr>
            <a:r>
              <a:rPr lang="en-US" altLang="x-none" sz="2800" b="1" dirty="0">
                <a:solidFill>
                  <a:schemeClr val="accent2"/>
                </a:solidFill>
                <a:latin typeface="Arial" panose="020B0604020202020204" pitchFamily="34" charset="0"/>
                <a:ea typeface="宋体" panose="02010600030101010101" pitchFamily="2" charset="-122"/>
              </a:rPr>
              <a:t>by </a:t>
            </a:r>
            <a:r>
              <a:rPr lang="en-US" altLang="x-none" sz="2800" b="1" dirty="0">
                <a:solidFill>
                  <a:srgbClr val="FF0066"/>
                </a:solidFill>
                <a:latin typeface="Arial" panose="020B0604020202020204" pitchFamily="34" charset="0"/>
                <a:ea typeface="宋体" panose="02010600030101010101" pitchFamily="2" charset="-122"/>
              </a:rPr>
              <a:t>①</a:t>
            </a:r>
            <a:r>
              <a:rPr lang="en-US" altLang="x-none" sz="2800" b="1" dirty="0">
                <a:solidFill>
                  <a:schemeClr val="accent2"/>
                </a:solidFill>
                <a:latin typeface="Arial" panose="020B0604020202020204" pitchFamily="34" charset="0"/>
                <a:ea typeface="宋体" panose="02010600030101010101" pitchFamily="2" charset="-122"/>
              </a:rPr>
              <a:t> and </a:t>
            </a:r>
            <a:r>
              <a:rPr lang="en-US" altLang="x-none" sz="2800" b="1" dirty="0">
                <a:solidFill>
                  <a:srgbClr val="FF0066"/>
                </a:solidFill>
                <a:latin typeface="Arial" panose="020B0604020202020204" pitchFamily="34" charset="0"/>
                <a:ea typeface="宋体" panose="02010600030101010101" pitchFamily="2" charset="-122"/>
              </a:rPr>
              <a:t>f</a:t>
            </a:r>
            <a:r>
              <a:rPr lang="en-US" altLang="x-none" sz="2800" b="1" baseline="-25000" dirty="0">
                <a:solidFill>
                  <a:srgbClr val="FF0066"/>
                </a:solidFill>
                <a:latin typeface="Arial" panose="020B0604020202020204" pitchFamily="34" charset="0"/>
                <a:ea typeface="宋体" panose="02010600030101010101" pitchFamily="2" charset="-122"/>
              </a:rPr>
              <a:t>3</a:t>
            </a:r>
            <a:r>
              <a:rPr lang="en-US" altLang="x-none" sz="2800" b="1" dirty="0">
                <a:solidFill>
                  <a:schemeClr val="accent2"/>
                </a:solidFill>
                <a:latin typeface="Arial" panose="020B0604020202020204" pitchFamily="34" charset="0"/>
                <a:ea typeface="宋体" panose="02010600030101010101" pitchFamily="2" charset="-122"/>
              </a:rPr>
              <a:t> and union rule, we have </a:t>
            </a:r>
            <a:r>
              <a:rPr lang="en-US" altLang="x-none" sz="2800" b="1" dirty="0">
                <a:solidFill>
                  <a:srgbClr val="FF0066"/>
                </a:solidFill>
                <a:latin typeface="Arial" panose="020B0604020202020204" pitchFamily="34" charset="0"/>
                <a:ea typeface="宋体" panose="02010600030101010101" pitchFamily="2" charset="-122"/>
              </a:rPr>
              <a:t>②</a:t>
            </a:r>
            <a:r>
              <a:rPr lang="en-US" altLang="x-none" sz="2800" b="1" dirty="0">
                <a:solidFill>
                  <a:schemeClr val="accent2"/>
                </a:solidFill>
                <a:latin typeface="Arial" panose="020B0604020202020204" pitchFamily="34" charset="0"/>
                <a:ea typeface="宋体" panose="02010600030101010101" pitchFamily="2" charset="-122"/>
              </a:rPr>
              <a:t> B→AC</a:t>
            </a:r>
          </a:p>
          <a:p>
            <a:pPr marL="914400" lvl="1" indent="-457200">
              <a:spcBef>
                <a:spcPct val="20000"/>
              </a:spcBef>
              <a:buClr>
                <a:schemeClr val="tx1"/>
              </a:buClr>
              <a:buFont typeface="Wingdings" panose="05000000000000000000" pitchFamily="2" charset="2"/>
              <a:buAutoNum type="arabicParenR"/>
            </a:pPr>
            <a:r>
              <a:rPr lang="en-US" altLang="x-none" sz="2800" b="1" dirty="0">
                <a:solidFill>
                  <a:schemeClr val="accent2"/>
                </a:solidFill>
                <a:latin typeface="Arial" panose="020B0604020202020204" pitchFamily="34" charset="0"/>
                <a:ea typeface="宋体" panose="02010600030101010101" pitchFamily="2" charset="-122"/>
              </a:rPr>
              <a:t>by </a:t>
            </a:r>
            <a:r>
              <a:rPr lang="en-US" altLang="x-none" sz="2800" b="1" dirty="0">
                <a:solidFill>
                  <a:srgbClr val="FF0066"/>
                </a:solidFill>
                <a:latin typeface="Arial" panose="020B0604020202020204" pitchFamily="34" charset="0"/>
                <a:ea typeface="宋体" panose="02010600030101010101" pitchFamily="2" charset="-122"/>
              </a:rPr>
              <a:t>②</a:t>
            </a:r>
            <a:r>
              <a:rPr lang="en-US" altLang="x-none" sz="2800" b="1" dirty="0">
                <a:solidFill>
                  <a:schemeClr val="accent2"/>
                </a:solidFill>
                <a:latin typeface="Arial" panose="020B0604020202020204" pitchFamily="34" charset="0"/>
                <a:ea typeface="宋体" panose="02010600030101010101" pitchFamily="2" charset="-122"/>
              </a:rPr>
              <a:t> and augmentation rule, we have </a:t>
            </a:r>
            <a:r>
              <a:rPr lang="en-US" altLang="x-none" sz="2800" b="1" dirty="0">
                <a:solidFill>
                  <a:srgbClr val="FF0066"/>
                </a:solidFill>
                <a:latin typeface="Arial" panose="020B0604020202020204" pitchFamily="34" charset="0"/>
                <a:ea typeface="宋体" panose="02010600030101010101" pitchFamily="2" charset="-122"/>
              </a:rPr>
              <a:t>g</a:t>
            </a:r>
            <a:r>
              <a:rPr lang="en-US" altLang="x-none" sz="2800" b="1" baseline="-25000" dirty="0">
                <a:solidFill>
                  <a:srgbClr val="FF0066"/>
                </a:solidFill>
                <a:latin typeface="Arial" panose="020B0604020202020204" pitchFamily="34" charset="0"/>
                <a:ea typeface="宋体" panose="02010600030101010101" pitchFamily="2" charset="-122"/>
              </a:rPr>
              <a:t>2</a:t>
            </a:r>
            <a:r>
              <a:rPr lang="en-US" altLang="x-none" sz="2800" b="1" dirty="0">
                <a:solidFill>
                  <a:schemeClr val="accent2"/>
                </a:solidFill>
                <a:latin typeface="Arial" panose="020B0604020202020204" pitchFamily="34" charset="0"/>
                <a:ea typeface="宋体" panose="02010600030101010101" pitchFamily="2" charset="-122"/>
              </a:rPr>
              <a:t> B→ABC</a:t>
            </a:r>
            <a:endParaRPr lang="en-US" altLang="x-none" sz="2800" b="1" dirty="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9031">
                                            <p:bg/>
                                          </p:spTgt>
                                        </p:tgtEl>
                                        <p:attrNameLst>
                                          <p:attrName>style.visibility</p:attrName>
                                        </p:attrNameLst>
                                      </p:cBhvr>
                                      <p:to>
                                        <p:strVal val="visible"/>
                                      </p:to>
                                    </p:set>
                                    <p:animEffect transition="in" filter="blinds(horizontal)">
                                      <p:cBhvr>
                                        <p:cTn id="7" dur="500"/>
                                        <p:tgtEl>
                                          <p:spTgt spid="129031">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9031">
                                            <p:txEl>
                                              <p:pRg st="0" end="0"/>
                                            </p:txEl>
                                          </p:spTgt>
                                        </p:tgtEl>
                                        <p:attrNameLst>
                                          <p:attrName>style.visibility</p:attrName>
                                        </p:attrNameLst>
                                      </p:cBhvr>
                                      <p:to>
                                        <p:strVal val="visible"/>
                                      </p:to>
                                    </p:set>
                                    <p:animEffect transition="in" filter="blinds(horizontal)">
                                      <p:cBhvr>
                                        <p:cTn id="12" dur="500"/>
                                        <p:tgtEl>
                                          <p:spTgt spid="12903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9031">
                                            <p:txEl>
                                              <p:pRg st="1" end="1"/>
                                            </p:txEl>
                                          </p:spTgt>
                                        </p:tgtEl>
                                        <p:attrNameLst>
                                          <p:attrName>style.visibility</p:attrName>
                                        </p:attrNameLst>
                                      </p:cBhvr>
                                      <p:to>
                                        <p:strVal val="visible"/>
                                      </p:to>
                                    </p:set>
                                    <p:animEffect transition="in" filter="blinds(horizontal)">
                                      <p:cBhvr>
                                        <p:cTn id="17" dur="500"/>
                                        <p:tgtEl>
                                          <p:spTgt spid="12903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9031">
                                            <p:txEl>
                                              <p:pRg st="2" end="2"/>
                                            </p:txEl>
                                          </p:spTgt>
                                        </p:tgtEl>
                                        <p:attrNameLst>
                                          <p:attrName>style.visibility</p:attrName>
                                        </p:attrNameLst>
                                      </p:cBhvr>
                                      <p:to>
                                        <p:strVal val="visible"/>
                                      </p:to>
                                    </p:set>
                                    <p:animEffect transition="in" filter="blinds(horizontal)">
                                      <p:cBhvr>
                                        <p:cTn id="22" dur="500"/>
                                        <p:tgtEl>
                                          <p:spTgt spid="12903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29031">
                                            <p:txEl>
                                              <p:pRg st="3" end="3"/>
                                            </p:txEl>
                                          </p:spTgt>
                                        </p:tgtEl>
                                        <p:attrNameLst>
                                          <p:attrName>style.visibility</p:attrName>
                                        </p:attrNameLst>
                                      </p:cBhvr>
                                      <p:to>
                                        <p:strVal val="visible"/>
                                      </p:to>
                                    </p:set>
                                    <p:animEffect transition="in" filter="blinds(horizontal)">
                                      <p:cBhvr>
                                        <p:cTn id="27" dur="500"/>
                                        <p:tgtEl>
                                          <p:spTgt spid="129031">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29031">
                                            <p:txEl>
                                              <p:pRg st="4" end="4"/>
                                            </p:txEl>
                                          </p:spTgt>
                                        </p:tgtEl>
                                        <p:attrNameLst>
                                          <p:attrName>style.visibility</p:attrName>
                                        </p:attrNameLst>
                                      </p:cBhvr>
                                      <p:to>
                                        <p:strVal val="visible"/>
                                      </p:to>
                                    </p:set>
                                    <p:animEffect transition="in" filter="blinds(horizontal)">
                                      <p:cBhvr>
                                        <p:cTn id="32" dur="500"/>
                                        <p:tgtEl>
                                          <p:spTgt spid="1290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31" grpId="0" build="p" bldLvl="2"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30050"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30051"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62</a:t>
            </a:fld>
            <a:endParaRPr lang="zh-CN" altLang="en-US" sz="1200" b="1" i="1" dirty="0">
              <a:latin typeface="Times New Roman" panose="02020603050405020304" pitchFamily="2" charset="0"/>
              <a:ea typeface="宋体" panose="02010600030101010101" pitchFamily="2" charset="-122"/>
            </a:endParaRPr>
          </a:p>
        </p:txBody>
      </p:sp>
      <p:sp>
        <p:nvSpPr>
          <p:cNvPr id="130052" name="Rectangle 2"/>
          <p:cNvSpPr>
            <a:spLocks noGrp="1"/>
          </p:cNvSpPr>
          <p:nvPr>
            <p:ph type="title"/>
          </p:nvPr>
        </p:nvSpPr>
        <p:spPr/>
        <p:txBody>
          <a:bodyPr wrap="square" anchor="ctr"/>
          <a:lstStyle/>
          <a:p>
            <a:pPr lvl="0" eaLnBrk="1" hangingPunct="1"/>
            <a:r>
              <a:rPr lang="en-US" altLang="x-none" dirty="0">
                <a:solidFill>
                  <a:schemeClr val="tx1"/>
                </a:solidFill>
                <a:ea typeface="宋体" panose="02010600030101010101" pitchFamily="2" charset="-122"/>
                <a:sym typeface="+mn-ea"/>
              </a:rPr>
              <a:t>Example 6.6.6</a:t>
            </a:r>
            <a:endParaRPr lang="en-US" altLang="x-none" dirty="0">
              <a:ea typeface="宋体" panose="02010600030101010101" pitchFamily="2" charset="-122"/>
            </a:endParaRPr>
          </a:p>
        </p:txBody>
      </p:sp>
      <p:sp>
        <p:nvSpPr>
          <p:cNvPr id="130053" name="Rectangle 3"/>
          <p:cNvSpPr>
            <a:spLocks noGrp="1"/>
          </p:cNvSpPr>
          <p:nvPr>
            <p:ph type="body"/>
          </p:nvPr>
        </p:nvSpPr>
        <p:spPr>
          <a:xfrm>
            <a:off x="457200" y="762000"/>
            <a:ext cx="8229600" cy="1038860"/>
          </a:xfrm>
        </p:spPr>
        <p:txBody>
          <a:bodyPr wrap="square" anchor="t">
            <a:spAutoFit/>
          </a:bodyPr>
          <a:lstStyle/>
          <a:p>
            <a:pPr lvl="1" indent="-285750" eaLnBrk="1" hangingPunct="1">
              <a:buNone/>
            </a:pPr>
            <a:r>
              <a:rPr lang="en-US" altLang="x-none" dirty="0">
                <a:ea typeface="宋体" panose="02010600030101010101" pitchFamily="2" charset="-122"/>
              </a:rPr>
              <a:t>F:  </a:t>
            </a:r>
            <a:r>
              <a:rPr lang="en-US" altLang="x-none" dirty="0">
                <a:solidFill>
                  <a:srgbClr val="FF0066"/>
                </a:solidFill>
                <a:ea typeface="宋体" panose="02010600030101010101" pitchFamily="2" charset="-122"/>
              </a:rPr>
              <a:t>(f</a:t>
            </a:r>
            <a:r>
              <a:rPr lang="en-US" altLang="x-none" baseline="-25000" dirty="0">
                <a:solidFill>
                  <a:srgbClr val="FF0066"/>
                </a:solidFill>
                <a:ea typeface="宋体" panose="02010600030101010101" pitchFamily="2" charset="-122"/>
              </a:rPr>
              <a:t>1</a:t>
            </a:r>
            <a:r>
              <a:rPr lang="en-US" altLang="x-none" dirty="0">
                <a:solidFill>
                  <a:srgbClr val="FF0066"/>
                </a:solidFill>
                <a:ea typeface="宋体" panose="02010600030101010101" pitchFamily="2" charset="-122"/>
              </a:rPr>
              <a:t>)</a:t>
            </a:r>
            <a:r>
              <a:rPr lang="en-US" altLang="x-none" dirty="0">
                <a:ea typeface="宋体" panose="02010600030101010101" pitchFamily="2" charset="-122"/>
              </a:rPr>
              <a:t> B→CD        </a:t>
            </a:r>
            <a:r>
              <a:rPr lang="en-US" altLang="x-none" dirty="0">
                <a:solidFill>
                  <a:srgbClr val="FF0066"/>
                </a:solidFill>
                <a:ea typeface="宋体" panose="02010600030101010101" pitchFamily="2" charset="-122"/>
              </a:rPr>
              <a:t>(f</a:t>
            </a:r>
            <a:r>
              <a:rPr lang="en-US" altLang="x-none" baseline="-25000" dirty="0">
                <a:solidFill>
                  <a:srgbClr val="FF0066"/>
                </a:solidFill>
                <a:ea typeface="宋体" panose="02010600030101010101" pitchFamily="2" charset="-122"/>
              </a:rPr>
              <a:t>2</a:t>
            </a:r>
            <a:r>
              <a:rPr lang="en-US" altLang="x-none" dirty="0">
                <a:solidFill>
                  <a:srgbClr val="FF0066"/>
                </a:solidFill>
                <a:ea typeface="宋体" panose="02010600030101010101" pitchFamily="2" charset="-122"/>
              </a:rPr>
              <a:t>)</a:t>
            </a:r>
            <a:r>
              <a:rPr lang="en-US" altLang="x-none" dirty="0">
                <a:ea typeface="宋体" panose="02010600030101010101" pitchFamily="2" charset="-122"/>
              </a:rPr>
              <a:t> AD→E        </a:t>
            </a:r>
            <a:r>
              <a:rPr lang="en-US" altLang="x-none" dirty="0">
                <a:solidFill>
                  <a:srgbClr val="FF0066"/>
                </a:solidFill>
                <a:ea typeface="宋体" panose="02010600030101010101" pitchFamily="2" charset="-122"/>
              </a:rPr>
              <a:t>(f</a:t>
            </a:r>
            <a:r>
              <a:rPr lang="en-US" altLang="x-none" baseline="-25000" dirty="0">
                <a:solidFill>
                  <a:srgbClr val="FF0066"/>
                </a:solidFill>
                <a:ea typeface="宋体" panose="02010600030101010101" pitchFamily="2" charset="-122"/>
              </a:rPr>
              <a:t>3</a:t>
            </a:r>
            <a:r>
              <a:rPr lang="en-US" altLang="x-none" dirty="0">
                <a:solidFill>
                  <a:srgbClr val="FF0066"/>
                </a:solidFill>
                <a:ea typeface="宋体" panose="02010600030101010101" pitchFamily="2" charset="-122"/>
              </a:rPr>
              <a:t>)</a:t>
            </a:r>
            <a:r>
              <a:rPr lang="en-US" altLang="x-none" dirty="0">
                <a:ea typeface="宋体" panose="02010600030101010101" pitchFamily="2" charset="-122"/>
              </a:rPr>
              <a:t> B→A</a:t>
            </a:r>
          </a:p>
          <a:p>
            <a:pPr lvl="1" indent="-285750" eaLnBrk="1" hangingPunct="1">
              <a:buNone/>
            </a:pPr>
            <a:r>
              <a:rPr lang="en-US" altLang="x-none" dirty="0">
                <a:ea typeface="宋体" panose="02010600030101010101" pitchFamily="2" charset="-122"/>
              </a:rPr>
              <a:t>G: </a:t>
            </a:r>
            <a:r>
              <a:rPr lang="en-US" altLang="x-none" dirty="0">
                <a:solidFill>
                  <a:srgbClr val="FF0066"/>
                </a:solidFill>
                <a:ea typeface="宋体" panose="02010600030101010101" pitchFamily="2" charset="-122"/>
              </a:rPr>
              <a:t>(g</a:t>
            </a:r>
            <a:r>
              <a:rPr lang="en-US" altLang="x-none" baseline="-25000" dirty="0">
                <a:solidFill>
                  <a:srgbClr val="FF0066"/>
                </a:solidFill>
                <a:ea typeface="宋体" panose="02010600030101010101" pitchFamily="2" charset="-122"/>
              </a:rPr>
              <a:t>1</a:t>
            </a:r>
            <a:r>
              <a:rPr lang="en-US" altLang="x-none" dirty="0">
                <a:solidFill>
                  <a:srgbClr val="FF0066"/>
                </a:solidFill>
                <a:ea typeface="宋体" panose="02010600030101010101" pitchFamily="2" charset="-122"/>
              </a:rPr>
              <a:t>)</a:t>
            </a:r>
            <a:r>
              <a:rPr lang="en-US" altLang="x-none" dirty="0">
                <a:ea typeface="宋体" panose="02010600030101010101" pitchFamily="2" charset="-122"/>
              </a:rPr>
              <a:t> B→CDE    </a:t>
            </a:r>
            <a:r>
              <a:rPr lang="en-US" altLang="x-none" dirty="0">
                <a:solidFill>
                  <a:srgbClr val="FF0066"/>
                </a:solidFill>
                <a:ea typeface="宋体" panose="02010600030101010101" pitchFamily="2" charset="-122"/>
              </a:rPr>
              <a:t>(g</a:t>
            </a:r>
            <a:r>
              <a:rPr lang="en-US" altLang="x-none" baseline="-25000" dirty="0">
                <a:solidFill>
                  <a:srgbClr val="FF0066"/>
                </a:solidFill>
                <a:ea typeface="宋体" panose="02010600030101010101" pitchFamily="2" charset="-122"/>
              </a:rPr>
              <a:t>2</a:t>
            </a:r>
            <a:r>
              <a:rPr lang="en-US" altLang="x-none" dirty="0">
                <a:ea typeface="宋体" panose="02010600030101010101" pitchFamily="2" charset="-122"/>
              </a:rPr>
              <a:t>) B→ABC    </a:t>
            </a:r>
            <a:r>
              <a:rPr lang="en-US" altLang="x-none" dirty="0">
                <a:solidFill>
                  <a:srgbClr val="FF0066"/>
                </a:solidFill>
                <a:ea typeface="宋体" panose="02010600030101010101" pitchFamily="2" charset="-122"/>
              </a:rPr>
              <a:t>(g</a:t>
            </a:r>
            <a:r>
              <a:rPr lang="en-US" altLang="x-none" baseline="-25000" dirty="0">
                <a:solidFill>
                  <a:srgbClr val="FF0066"/>
                </a:solidFill>
                <a:ea typeface="宋体" panose="02010600030101010101" pitchFamily="2" charset="-122"/>
              </a:rPr>
              <a:t>3</a:t>
            </a:r>
            <a:r>
              <a:rPr lang="en-US" altLang="x-none" dirty="0">
                <a:solidFill>
                  <a:srgbClr val="FF0066"/>
                </a:solidFill>
                <a:ea typeface="宋体" panose="02010600030101010101" pitchFamily="2" charset="-122"/>
              </a:rPr>
              <a:t>)</a:t>
            </a:r>
            <a:r>
              <a:rPr lang="en-US" altLang="x-none" dirty="0">
                <a:ea typeface="宋体" panose="02010600030101010101" pitchFamily="2" charset="-122"/>
              </a:rPr>
              <a:t> AD→E }</a:t>
            </a:r>
          </a:p>
        </p:txBody>
      </p:sp>
      <p:sp>
        <p:nvSpPr>
          <p:cNvPr id="130054" name="Rectangle 4"/>
          <p:cNvSpPr/>
          <p:nvPr/>
        </p:nvSpPr>
        <p:spPr>
          <a:xfrm>
            <a:off x="228600" y="2303780"/>
            <a:ext cx="8686800" cy="3352800"/>
          </a:xfrm>
          <a:prstGeom prst="rect">
            <a:avLst/>
          </a:prstGeom>
          <a:solidFill>
            <a:schemeClr val="bg1"/>
          </a:solidFill>
          <a:ln w="19050" cap="flat" cmpd="sng">
            <a:solidFill>
              <a:schemeClr val="tx1"/>
            </a:solidFill>
            <a:prstDash val="solid"/>
            <a:miter/>
            <a:headEnd type="none" w="med" len="med"/>
            <a:tailEnd type="none" w="med" len="med"/>
          </a:ln>
        </p:spPr>
        <p:txBody>
          <a:bodyPr anchor="t"/>
          <a:lstStyle/>
          <a:p>
            <a:pPr marL="457200" lvl="0" indent="-457200">
              <a:spcBef>
                <a:spcPct val="20000"/>
              </a:spcBef>
              <a:buClr>
                <a:schemeClr val="tx1"/>
              </a:buClr>
              <a:buFont typeface="Wingdings" panose="05000000000000000000" pitchFamily="2" charset="2"/>
              <a:buNone/>
            </a:pPr>
            <a:r>
              <a:rPr lang="en-US" altLang="x-none" sz="2800" b="1" i="1" u="sng" dirty="0">
                <a:solidFill>
                  <a:srgbClr val="FF0000"/>
                </a:solidFill>
                <a:latin typeface="Arial" panose="020B0604020202020204" pitchFamily="34" charset="0"/>
                <a:ea typeface="宋体" panose="02010600030101010101" pitchFamily="2" charset="-122"/>
              </a:rPr>
              <a:t>F covers G ?</a:t>
            </a:r>
          </a:p>
          <a:p>
            <a:pPr marL="457200" lvl="0" indent="-457200">
              <a:spcBef>
                <a:spcPct val="20000"/>
              </a:spcBef>
              <a:buClr>
                <a:schemeClr val="tx1"/>
              </a:buClr>
              <a:buFont typeface="Wingdings" panose="05000000000000000000" pitchFamily="2" charset="2"/>
              <a:buChar char="Ø"/>
            </a:pPr>
            <a:r>
              <a:rPr lang="en-US" altLang="x-none" sz="2800" b="1" dirty="0">
                <a:solidFill>
                  <a:srgbClr val="FF0066"/>
                </a:solidFill>
                <a:latin typeface="Arial" panose="020B0604020202020204" pitchFamily="34" charset="0"/>
                <a:ea typeface="宋体" panose="02010600030101010101" pitchFamily="2" charset="-122"/>
              </a:rPr>
              <a:t>g</a:t>
            </a:r>
            <a:r>
              <a:rPr lang="en-US" altLang="x-none" sz="2800" b="1" baseline="-25000" dirty="0">
                <a:solidFill>
                  <a:srgbClr val="FF0066"/>
                </a:solidFill>
                <a:latin typeface="Arial" panose="020B0604020202020204" pitchFamily="34" charset="0"/>
                <a:ea typeface="宋体" panose="02010600030101010101" pitchFamily="2" charset="-122"/>
              </a:rPr>
              <a:t>3</a:t>
            </a:r>
            <a:r>
              <a:rPr lang="en-US" altLang="x-none" sz="2800" b="1" dirty="0">
                <a:solidFill>
                  <a:schemeClr val="accent2"/>
                </a:solidFill>
                <a:latin typeface="Arial" panose="020B0604020202020204" pitchFamily="34" charset="0"/>
                <a:ea typeface="宋体" panose="02010600030101010101" pitchFamily="2" charset="-122"/>
              </a:rPr>
              <a:t> is an element of the set F.</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6" name="Rectangle 2"/>
          <p:cNvSpPr>
            <a:spLocks noGrp="1"/>
          </p:cNvSpPr>
          <p:nvPr>
            <p:ph type="title"/>
          </p:nvPr>
        </p:nvSpPr>
        <p:spPr/>
        <p:txBody>
          <a:bodyPr wrap="square" anchor="ctr"/>
          <a:lstStyle/>
          <a:p>
            <a:pPr lvl="0" eaLnBrk="1" hangingPunct="1"/>
            <a:r>
              <a:rPr lang="en-US" altLang="x-none" dirty="0">
                <a:solidFill>
                  <a:schemeClr val="tx1"/>
                </a:solidFill>
                <a:ea typeface="宋体" panose="02010600030101010101" pitchFamily="2" charset="-122"/>
                <a:sym typeface="+mn-ea"/>
              </a:rPr>
              <a:t>Example 6.6.6</a:t>
            </a:r>
            <a:endParaRPr lang="en-US" altLang="x-none" dirty="0">
              <a:ea typeface="宋体" panose="02010600030101010101" pitchFamily="2" charset="-122"/>
            </a:endParaRPr>
          </a:p>
        </p:txBody>
      </p:sp>
      <p:sp>
        <p:nvSpPr>
          <p:cNvPr id="131077" name="Rectangle 3"/>
          <p:cNvSpPr>
            <a:spLocks noGrp="1"/>
          </p:cNvSpPr>
          <p:nvPr>
            <p:ph type="body"/>
          </p:nvPr>
        </p:nvSpPr>
        <p:spPr>
          <a:xfrm>
            <a:off x="457200" y="694690"/>
            <a:ext cx="8229600" cy="1038860"/>
          </a:xfrm>
        </p:spPr>
        <p:txBody>
          <a:bodyPr wrap="square" anchor="t">
            <a:spAutoFit/>
          </a:bodyPr>
          <a:lstStyle/>
          <a:p>
            <a:pPr lvl="1" indent="-285750" eaLnBrk="1" hangingPunct="1">
              <a:buNone/>
            </a:pPr>
            <a:r>
              <a:rPr lang="en-US" altLang="x-none" dirty="0">
                <a:ea typeface="宋体" panose="02010600030101010101" pitchFamily="2" charset="-122"/>
              </a:rPr>
              <a:t>F:  </a:t>
            </a:r>
            <a:r>
              <a:rPr lang="en-US" altLang="x-none" dirty="0">
                <a:solidFill>
                  <a:srgbClr val="FF0066"/>
                </a:solidFill>
                <a:ea typeface="宋体" panose="02010600030101010101" pitchFamily="2" charset="-122"/>
              </a:rPr>
              <a:t>(f</a:t>
            </a:r>
            <a:r>
              <a:rPr lang="en-US" altLang="x-none" baseline="-25000" dirty="0">
                <a:solidFill>
                  <a:srgbClr val="FF0066"/>
                </a:solidFill>
                <a:ea typeface="宋体" panose="02010600030101010101" pitchFamily="2" charset="-122"/>
              </a:rPr>
              <a:t>1</a:t>
            </a:r>
            <a:r>
              <a:rPr lang="en-US" altLang="x-none" dirty="0">
                <a:solidFill>
                  <a:srgbClr val="FF0066"/>
                </a:solidFill>
                <a:ea typeface="宋体" panose="02010600030101010101" pitchFamily="2" charset="-122"/>
              </a:rPr>
              <a:t>)</a:t>
            </a:r>
            <a:r>
              <a:rPr lang="en-US" altLang="x-none" dirty="0">
                <a:ea typeface="宋体" panose="02010600030101010101" pitchFamily="2" charset="-122"/>
              </a:rPr>
              <a:t> B→CD        </a:t>
            </a:r>
            <a:r>
              <a:rPr lang="en-US" altLang="x-none" dirty="0">
                <a:solidFill>
                  <a:srgbClr val="FF0066"/>
                </a:solidFill>
                <a:ea typeface="宋体" panose="02010600030101010101" pitchFamily="2" charset="-122"/>
              </a:rPr>
              <a:t>(f</a:t>
            </a:r>
            <a:r>
              <a:rPr lang="en-US" altLang="x-none" baseline="-25000" dirty="0">
                <a:solidFill>
                  <a:srgbClr val="FF0066"/>
                </a:solidFill>
                <a:ea typeface="宋体" panose="02010600030101010101" pitchFamily="2" charset="-122"/>
              </a:rPr>
              <a:t>2</a:t>
            </a:r>
            <a:r>
              <a:rPr lang="en-US" altLang="x-none" dirty="0">
                <a:solidFill>
                  <a:srgbClr val="FF0066"/>
                </a:solidFill>
                <a:ea typeface="宋体" panose="02010600030101010101" pitchFamily="2" charset="-122"/>
              </a:rPr>
              <a:t>)</a:t>
            </a:r>
            <a:r>
              <a:rPr lang="en-US" altLang="x-none" dirty="0">
                <a:ea typeface="宋体" panose="02010600030101010101" pitchFamily="2" charset="-122"/>
              </a:rPr>
              <a:t> AD→E        </a:t>
            </a:r>
            <a:r>
              <a:rPr lang="en-US" altLang="x-none" dirty="0">
                <a:solidFill>
                  <a:srgbClr val="FF0066"/>
                </a:solidFill>
                <a:ea typeface="宋体" panose="02010600030101010101" pitchFamily="2" charset="-122"/>
              </a:rPr>
              <a:t>(f</a:t>
            </a:r>
            <a:r>
              <a:rPr lang="en-US" altLang="x-none" baseline="-25000" dirty="0">
                <a:solidFill>
                  <a:srgbClr val="FF0066"/>
                </a:solidFill>
                <a:ea typeface="宋体" panose="02010600030101010101" pitchFamily="2" charset="-122"/>
              </a:rPr>
              <a:t>3</a:t>
            </a:r>
            <a:r>
              <a:rPr lang="en-US" altLang="x-none" dirty="0">
                <a:solidFill>
                  <a:srgbClr val="FF0066"/>
                </a:solidFill>
                <a:ea typeface="宋体" panose="02010600030101010101" pitchFamily="2" charset="-122"/>
              </a:rPr>
              <a:t>)</a:t>
            </a:r>
            <a:r>
              <a:rPr lang="en-US" altLang="x-none" dirty="0">
                <a:ea typeface="宋体" panose="02010600030101010101" pitchFamily="2" charset="-122"/>
              </a:rPr>
              <a:t> B→A</a:t>
            </a:r>
          </a:p>
          <a:p>
            <a:pPr lvl="1" indent="-285750" eaLnBrk="1" hangingPunct="1">
              <a:buNone/>
            </a:pPr>
            <a:r>
              <a:rPr lang="en-US" altLang="x-none" dirty="0">
                <a:ea typeface="宋体" panose="02010600030101010101" pitchFamily="2" charset="-122"/>
              </a:rPr>
              <a:t>G: </a:t>
            </a:r>
            <a:r>
              <a:rPr lang="en-US" altLang="x-none" dirty="0">
                <a:solidFill>
                  <a:srgbClr val="FF0066"/>
                </a:solidFill>
                <a:ea typeface="宋体" panose="02010600030101010101" pitchFamily="2" charset="-122"/>
              </a:rPr>
              <a:t>(g</a:t>
            </a:r>
            <a:r>
              <a:rPr lang="en-US" altLang="x-none" baseline="-25000" dirty="0">
                <a:solidFill>
                  <a:srgbClr val="FF0066"/>
                </a:solidFill>
                <a:ea typeface="宋体" panose="02010600030101010101" pitchFamily="2" charset="-122"/>
              </a:rPr>
              <a:t>1</a:t>
            </a:r>
            <a:r>
              <a:rPr lang="en-US" altLang="x-none" dirty="0">
                <a:solidFill>
                  <a:srgbClr val="FF0066"/>
                </a:solidFill>
                <a:ea typeface="宋体" panose="02010600030101010101" pitchFamily="2" charset="-122"/>
              </a:rPr>
              <a:t>)</a:t>
            </a:r>
            <a:r>
              <a:rPr lang="en-US" altLang="x-none" dirty="0">
                <a:ea typeface="宋体" panose="02010600030101010101" pitchFamily="2" charset="-122"/>
              </a:rPr>
              <a:t> B→CDE    </a:t>
            </a:r>
            <a:r>
              <a:rPr lang="en-US" altLang="x-none" dirty="0">
                <a:solidFill>
                  <a:srgbClr val="FF0066"/>
                </a:solidFill>
                <a:ea typeface="宋体" panose="02010600030101010101" pitchFamily="2" charset="-122"/>
              </a:rPr>
              <a:t>(g</a:t>
            </a:r>
            <a:r>
              <a:rPr lang="en-US" altLang="x-none" baseline="-25000" dirty="0">
                <a:solidFill>
                  <a:srgbClr val="FF0066"/>
                </a:solidFill>
                <a:ea typeface="宋体" panose="02010600030101010101" pitchFamily="2" charset="-122"/>
              </a:rPr>
              <a:t>2</a:t>
            </a:r>
            <a:r>
              <a:rPr lang="en-US" altLang="x-none" dirty="0">
                <a:ea typeface="宋体" panose="02010600030101010101" pitchFamily="2" charset="-122"/>
              </a:rPr>
              <a:t>) B→ABC    </a:t>
            </a:r>
            <a:r>
              <a:rPr lang="en-US" altLang="x-none" dirty="0">
                <a:solidFill>
                  <a:srgbClr val="FF0066"/>
                </a:solidFill>
                <a:ea typeface="宋体" panose="02010600030101010101" pitchFamily="2" charset="-122"/>
              </a:rPr>
              <a:t>(g</a:t>
            </a:r>
            <a:r>
              <a:rPr lang="en-US" altLang="x-none" baseline="-25000" dirty="0">
                <a:solidFill>
                  <a:srgbClr val="FF0066"/>
                </a:solidFill>
                <a:ea typeface="宋体" panose="02010600030101010101" pitchFamily="2" charset="-122"/>
              </a:rPr>
              <a:t>3</a:t>
            </a:r>
            <a:r>
              <a:rPr lang="en-US" altLang="x-none" dirty="0">
                <a:solidFill>
                  <a:srgbClr val="FF0066"/>
                </a:solidFill>
                <a:ea typeface="宋体" panose="02010600030101010101" pitchFamily="2" charset="-122"/>
              </a:rPr>
              <a:t>)</a:t>
            </a:r>
            <a:r>
              <a:rPr lang="en-US" altLang="x-none" dirty="0">
                <a:ea typeface="宋体" panose="02010600030101010101" pitchFamily="2" charset="-122"/>
              </a:rPr>
              <a:t> AD→E }</a:t>
            </a:r>
          </a:p>
        </p:txBody>
      </p:sp>
      <p:sp>
        <p:nvSpPr>
          <p:cNvPr id="131078" name="Rectangle 4"/>
          <p:cNvSpPr/>
          <p:nvPr/>
        </p:nvSpPr>
        <p:spPr>
          <a:xfrm>
            <a:off x="228600" y="1940560"/>
            <a:ext cx="8686800" cy="3410585"/>
          </a:xfrm>
          <a:prstGeom prst="rect">
            <a:avLst/>
          </a:prstGeom>
          <a:solidFill>
            <a:schemeClr val="bg1"/>
          </a:solidFill>
          <a:ln w="19050" cap="flat" cmpd="sng">
            <a:solidFill>
              <a:schemeClr val="tx1"/>
            </a:solidFill>
            <a:prstDash val="solid"/>
            <a:miter/>
            <a:headEnd type="none" w="med" len="med"/>
            <a:tailEnd type="none" w="med" len="med"/>
          </a:ln>
        </p:spPr>
        <p:txBody>
          <a:bodyPr anchor="t">
            <a:spAutoFit/>
          </a:bodyPr>
          <a:lstStyle/>
          <a:p>
            <a:pPr marL="457200" lvl="0" indent="-457200">
              <a:spcBef>
                <a:spcPct val="20000"/>
              </a:spcBef>
              <a:buClr>
                <a:schemeClr val="tx1"/>
              </a:buClr>
              <a:buFont typeface="Wingdings" panose="05000000000000000000" pitchFamily="2" charset="2"/>
              <a:buChar char="q"/>
            </a:pPr>
            <a:r>
              <a:rPr lang="en-US" altLang="x-none" sz="2800" b="1" dirty="0">
                <a:solidFill>
                  <a:srgbClr val="FF0000"/>
                </a:solidFill>
                <a:latin typeface="Arial" panose="020B0604020202020204" pitchFamily="34" charset="0"/>
                <a:ea typeface="宋体" panose="02010600030101010101" pitchFamily="2" charset="-122"/>
              </a:rPr>
              <a:t>G covers F ?</a:t>
            </a:r>
          </a:p>
          <a:p>
            <a:pPr marL="914400" lvl="1" indent="-457200">
              <a:spcBef>
                <a:spcPct val="20000"/>
              </a:spcBef>
              <a:buClr>
                <a:schemeClr val="tx1"/>
              </a:buClr>
              <a:buFont typeface="Wingdings" panose="05000000000000000000" pitchFamily="2" charset="2"/>
              <a:buChar char="Ø"/>
            </a:pPr>
            <a:r>
              <a:rPr lang="en-US" altLang="x-none" sz="2800" b="1" dirty="0">
                <a:solidFill>
                  <a:srgbClr val="FF0066"/>
                </a:solidFill>
                <a:latin typeface="Arial" panose="020B0604020202020204" pitchFamily="34" charset="0"/>
                <a:ea typeface="宋体" panose="02010600030101010101" pitchFamily="2" charset="-122"/>
              </a:rPr>
              <a:t>f</a:t>
            </a:r>
            <a:r>
              <a:rPr lang="en-US" altLang="x-none" sz="2800" b="1" baseline="-25000" dirty="0">
                <a:solidFill>
                  <a:srgbClr val="FF0066"/>
                </a:solidFill>
                <a:latin typeface="Arial" panose="020B0604020202020204" pitchFamily="34" charset="0"/>
                <a:ea typeface="宋体" panose="02010600030101010101" pitchFamily="2" charset="-122"/>
              </a:rPr>
              <a:t>1</a:t>
            </a:r>
            <a:r>
              <a:rPr lang="en-US" altLang="x-none" sz="2800" b="1" dirty="0">
                <a:solidFill>
                  <a:schemeClr val="accent2"/>
                </a:solidFill>
                <a:latin typeface="Arial" panose="020B0604020202020204" pitchFamily="34" charset="0"/>
                <a:ea typeface="宋体" panose="02010600030101010101" pitchFamily="2" charset="-122"/>
              </a:rPr>
              <a:t> can be derived from the set G ?</a:t>
            </a:r>
          </a:p>
          <a:p>
            <a:pPr marL="1371600" lvl="2" indent="-457200">
              <a:spcBef>
                <a:spcPct val="20000"/>
              </a:spcBef>
              <a:buClr>
                <a:schemeClr val="tx1"/>
              </a:buClr>
              <a:buFont typeface="Arial" panose="020B0604020202020204" pitchFamily="34" charset="0"/>
              <a:buChar char="•"/>
            </a:pPr>
            <a:r>
              <a:rPr lang="en-US" altLang="x-none" sz="2800" b="1" dirty="0">
                <a:solidFill>
                  <a:schemeClr val="accent2"/>
                </a:solidFill>
                <a:latin typeface="Arial" panose="020B0604020202020204" pitchFamily="34" charset="0"/>
                <a:ea typeface="宋体" panose="02010600030101010101" pitchFamily="2" charset="-122"/>
              </a:rPr>
              <a:t>by </a:t>
            </a:r>
            <a:r>
              <a:rPr lang="en-US" altLang="x-none" sz="2800" b="1" dirty="0">
                <a:solidFill>
                  <a:srgbClr val="FF0066"/>
                </a:solidFill>
                <a:latin typeface="Arial" panose="020B0604020202020204" pitchFamily="34" charset="0"/>
                <a:ea typeface="宋体" panose="02010600030101010101" pitchFamily="2" charset="-122"/>
              </a:rPr>
              <a:t>g</a:t>
            </a:r>
            <a:r>
              <a:rPr lang="en-US" altLang="x-none" sz="2800" b="1" baseline="-25000" dirty="0">
                <a:solidFill>
                  <a:srgbClr val="FF0066"/>
                </a:solidFill>
                <a:latin typeface="Arial" panose="020B0604020202020204" pitchFamily="34" charset="0"/>
                <a:ea typeface="宋体" panose="02010600030101010101" pitchFamily="2" charset="-122"/>
              </a:rPr>
              <a:t>1</a:t>
            </a:r>
            <a:r>
              <a:rPr lang="en-US" altLang="x-none" sz="2800" b="1" dirty="0">
                <a:solidFill>
                  <a:srgbClr val="FF0000"/>
                </a:solidFill>
                <a:latin typeface="Arial" panose="020B0604020202020204" pitchFamily="34" charset="0"/>
                <a:ea typeface="宋体" panose="02010600030101010101" pitchFamily="2" charset="-122"/>
              </a:rPr>
              <a:t> </a:t>
            </a:r>
            <a:r>
              <a:rPr lang="en-US" altLang="x-none" sz="2800" b="1" dirty="0">
                <a:solidFill>
                  <a:schemeClr val="accent2"/>
                </a:solidFill>
                <a:latin typeface="Arial" panose="020B0604020202020204" pitchFamily="34" charset="0"/>
                <a:ea typeface="宋体" panose="02010600030101010101" pitchFamily="2" charset="-122"/>
              </a:rPr>
              <a:t>and decomposition rule, we have </a:t>
            </a:r>
            <a:r>
              <a:rPr lang="en-US" altLang="x-none" sz="2800" b="1" dirty="0">
                <a:solidFill>
                  <a:srgbClr val="FF0066"/>
                </a:solidFill>
                <a:latin typeface="Arial" panose="020B0604020202020204" pitchFamily="34" charset="0"/>
                <a:ea typeface="宋体" panose="02010600030101010101" pitchFamily="2" charset="-122"/>
              </a:rPr>
              <a:t>f</a:t>
            </a:r>
            <a:r>
              <a:rPr lang="en-US" altLang="x-none" sz="2800" b="1" baseline="-25000" dirty="0">
                <a:solidFill>
                  <a:srgbClr val="FF0066"/>
                </a:solidFill>
                <a:latin typeface="Arial" panose="020B0604020202020204" pitchFamily="34" charset="0"/>
                <a:ea typeface="宋体" panose="02010600030101010101" pitchFamily="2" charset="-122"/>
              </a:rPr>
              <a:t>1</a:t>
            </a:r>
            <a:endParaRPr lang="en-US" altLang="x-none" sz="2800" b="1" dirty="0">
              <a:solidFill>
                <a:schemeClr val="accent2"/>
              </a:solidFill>
              <a:latin typeface="Arial" panose="020B0604020202020204" pitchFamily="34" charset="0"/>
              <a:ea typeface="宋体" panose="02010600030101010101" pitchFamily="2" charset="-122"/>
            </a:endParaRPr>
          </a:p>
          <a:p>
            <a:pPr marL="1371600" lvl="2" indent="-457200">
              <a:spcBef>
                <a:spcPct val="20000"/>
              </a:spcBef>
              <a:buClr>
                <a:schemeClr val="tx1"/>
              </a:buClr>
              <a:buFont typeface="Wingdings" panose="05000000000000000000" pitchFamily="2" charset="2"/>
              <a:buAutoNum type="arabicParenR"/>
            </a:pPr>
            <a:endParaRPr lang="en-US" altLang="x-none" sz="1000" b="1" baseline="-25000" dirty="0">
              <a:solidFill>
                <a:srgbClr val="FF0066"/>
              </a:solidFill>
              <a:latin typeface="Arial" panose="020B0604020202020204" pitchFamily="34" charset="0"/>
              <a:ea typeface="宋体" panose="02010600030101010101" pitchFamily="2" charset="-122"/>
            </a:endParaRPr>
          </a:p>
          <a:p>
            <a:pPr marL="914400" lvl="1" indent="-457200">
              <a:spcBef>
                <a:spcPct val="20000"/>
              </a:spcBef>
              <a:buClr>
                <a:schemeClr val="tx1"/>
              </a:buClr>
              <a:buFont typeface="Wingdings" panose="05000000000000000000" pitchFamily="2" charset="2"/>
              <a:buChar char="Ø"/>
            </a:pPr>
            <a:r>
              <a:rPr lang="en-US" altLang="x-none" sz="2800" b="1" dirty="0">
                <a:solidFill>
                  <a:srgbClr val="FF0066"/>
                </a:solidFill>
                <a:latin typeface="Arial" panose="020B0604020202020204" pitchFamily="34" charset="0"/>
                <a:ea typeface="宋体" panose="02010600030101010101" pitchFamily="2" charset="-122"/>
              </a:rPr>
              <a:t>f</a:t>
            </a:r>
            <a:r>
              <a:rPr lang="en-US" altLang="x-none" sz="2800" b="1" baseline="-25000" dirty="0">
                <a:solidFill>
                  <a:srgbClr val="FF0066"/>
                </a:solidFill>
                <a:latin typeface="Arial" panose="020B0604020202020204" pitchFamily="34" charset="0"/>
                <a:ea typeface="宋体" panose="02010600030101010101" pitchFamily="2" charset="-122"/>
              </a:rPr>
              <a:t>2</a:t>
            </a:r>
            <a:r>
              <a:rPr lang="en-US" altLang="x-none" sz="2800" b="1" dirty="0">
                <a:solidFill>
                  <a:schemeClr val="accent2"/>
                </a:solidFill>
                <a:latin typeface="Arial" panose="020B0604020202020204" pitchFamily="34" charset="0"/>
                <a:ea typeface="宋体" panose="02010600030101010101" pitchFamily="2" charset="-122"/>
              </a:rPr>
              <a:t> is an element of the set G.</a:t>
            </a:r>
          </a:p>
          <a:p>
            <a:pPr marL="914400" lvl="1" indent="-457200">
              <a:spcBef>
                <a:spcPct val="20000"/>
              </a:spcBef>
              <a:buClr>
                <a:schemeClr val="tx1"/>
              </a:buClr>
              <a:buFont typeface="Wingdings" panose="05000000000000000000" pitchFamily="2" charset="2"/>
              <a:buChar char="Ø"/>
            </a:pPr>
            <a:endParaRPr lang="en-US" altLang="x-none" sz="1000" b="1" dirty="0">
              <a:solidFill>
                <a:srgbClr val="FF0066"/>
              </a:solidFill>
              <a:latin typeface="Arial" panose="020B0604020202020204" pitchFamily="34" charset="0"/>
              <a:ea typeface="宋体" panose="02010600030101010101" pitchFamily="2" charset="-122"/>
            </a:endParaRPr>
          </a:p>
          <a:p>
            <a:pPr marL="914400" lvl="1" indent="-457200">
              <a:spcBef>
                <a:spcPct val="20000"/>
              </a:spcBef>
              <a:buClr>
                <a:schemeClr val="tx1"/>
              </a:buClr>
              <a:buFont typeface="Wingdings" panose="05000000000000000000" pitchFamily="2" charset="2"/>
              <a:buChar char="Ø"/>
            </a:pPr>
            <a:r>
              <a:rPr lang="en-US" altLang="x-none" sz="2800" b="1" dirty="0">
                <a:solidFill>
                  <a:srgbClr val="FF0066"/>
                </a:solidFill>
                <a:latin typeface="Arial" panose="020B0604020202020204" pitchFamily="34" charset="0"/>
                <a:ea typeface="宋体" panose="02010600030101010101" pitchFamily="2" charset="-122"/>
              </a:rPr>
              <a:t>f</a:t>
            </a:r>
            <a:r>
              <a:rPr lang="en-US" altLang="x-none" sz="2800" b="1" baseline="-25000" dirty="0">
                <a:solidFill>
                  <a:srgbClr val="FF0066"/>
                </a:solidFill>
                <a:latin typeface="Arial" panose="020B0604020202020204" pitchFamily="34" charset="0"/>
                <a:ea typeface="宋体" panose="02010600030101010101" pitchFamily="2" charset="-122"/>
              </a:rPr>
              <a:t>3</a:t>
            </a:r>
            <a:r>
              <a:rPr lang="en-US" altLang="x-none" sz="2800" b="1" dirty="0">
                <a:solidFill>
                  <a:schemeClr val="accent2"/>
                </a:solidFill>
                <a:latin typeface="Arial" panose="020B0604020202020204" pitchFamily="34" charset="0"/>
                <a:ea typeface="宋体" panose="02010600030101010101" pitchFamily="2" charset="-122"/>
              </a:rPr>
              <a:t> can be derived from the set G ?</a:t>
            </a:r>
          </a:p>
          <a:p>
            <a:pPr marL="1371600" lvl="2" indent="-457200">
              <a:spcBef>
                <a:spcPct val="20000"/>
              </a:spcBef>
              <a:buClr>
                <a:schemeClr val="tx1"/>
              </a:buClr>
              <a:buFont typeface="Arial" panose="020B0604020202020204" pitchFamily="34" charset="0"/>
              <a:buChar char="•"/>
            </a:pPr>
            <a:r>
              <a:rPr lang="en-US" altLang="x-none" sz="2800" b="1" dirty="0">
                <a:solidFill>
                  <a:schemeClr val="accent2"/>
                </a:solidFill>
                <a:latin typeface="Arial" panose="020B0604020202020204" pitchFamily="34" charset="0"/>
                <a:ea typeface="宋体" panose="02010600030101010101" pitchFamily="2" charset="-122"/>
              </a:rPr>
              <a:t>by </a:t>
            </a:r>
            <a:r>
              <a:rPr lang="en-US" altLang="x-none" sz="2800" b="1" dirty="0">
                <a:solidFill>
                  <a:srgbClr val="FF0066"/>
                </a:solidFill>
                <a:latin typeface="Arial" panose="020B0604020202020204" pitchFamily="34" charset="0"/>
                <a:ea typeface="宋体" panose="02010600030101010101" pitchFamily="2" charset="-122"/>
              </a:rPr>
              <a:t>g</a:t>
            </a:r>
            <a:r>
              <a:rPr lang="en-US" altLang="x-none" sz="2800" b="1" baseline="-25000" dirty="0">
                <a:solidFill>
                  <a:srgbClr val="FF0066"/>
                </a:solidFill>
                <a:latin typeface="Arial" panose="020B0604020202020204" pitchFamily="34" charset="0"/>
                <a:ea typeface="宋体" panose="02010600030101010101" pitchFamily="2" charset="-122"/>
              </a:rPr>
              <a:t>2</a:t>
            </a:r>
            <a:r>
              <a:rPr lang="en-US" altLang="x-none" sz="2800" b="1" dirty="0">
                <a:solidFill>
                  <a:schemeClr val="accent2"/>
                </a:solidFill>
                <a:latin typeface="Arial" panose="020B0604020202020204" pitchFamily="34" charset="0"/>
                <a:ea typeface="宋体" panose="02010600030101010101" pitchFamily="2" charset="-122"/>
              </a:rPr>
              <a:t> and decomposition rule, we have </a:t>
            </a:r>
            <a:r>
              <a:rPr lang="en-US" altLang="x-none" sz="2800" b="1" dirty="0">
                <a:solidFill>
                  <a:srgbClr val="FF0066"/>
                </a:solidFill>
                <a:latin typeface="Arial" panose="020B0604020202020204" pitchFamily="34" charset="0"/>
                <a:ea typeface="宋体" panose="02010600030101010101" pitchFamily="2" charset="-122"/>
              </a:rPr>
              <a:t>f</a:t>
            </a:r>
            <a:r>
              <a:rPr lang="en-US" altLang="x-none" sz="2800" b="1" baseline="-25000" dirty="0">
                <a:solidFill>
                  <a:srgbClr val="FF0066"/>
                </a:solidFill>
                <a:latin typeface="Arial" panose="020B0604020202020204" pitchFamily="34" charset="0"/>
                <a:ea typeface="宋体" panose="02010600030101010101" pitchFamily="2" charset="-122"/>
              </a:rPr>
              <a:t>3</a:t>
            </a:r>
            <a:endParaRPr lang="en-US" altLang="x-none" sz="2800" b="1" dirty="0">
              <a:solidFill>
                <a:schemeClr val="accent2"/>
              </a:solidFill>
              <a:latin typeface="Arial" panose="020B0604020202020204" pitchFamily="34" charset="0"/>
              <a:ea typeface="宋体" panose="02010600030101010101" pitchFamily="2" charset="-122"/>
            </a:endParaRPr>
          </a:p>
        </p:txBody>
      </p:sp>
      <p:sp>
        <p:nvSpPr>
          <p:cNvPr id="2" name="文本框 1"/>
          <p:cNvSpPr txBox="1"/>
          <p:nvPr/>
        </p:nvSpPr>
        <p:spPr>
          <a:xfrm>
            <a:off x="254635" y="5706745"/>
            <a:ext cx="8637905" cy="521970"/>
          </a:xfrm>
          <a:prstGeom prst="rect">
            <a:avLst/>
          </a:prstGeom>
          <a:noFill/>
        </p:spPr>
        <p:txBody>
          <a:bodyPr wrap="square" rtlCol="0">
            <a:spAutoFit/>
          </a:bodyPr>
          <a:lstStyle/>
          <a:p>
            <a:pPr marL="457200" indent="-457200">
              <a:buFont typeface="Wingdings" panose="05000000000000000000" charset="0"/>
              <a:buChar char=""/>
            </a:pPr>
            <a:r>
              <a:rPr lang="en-US" altLang="zh-CN" sz="2800" b="1">
                <a:solidFill>
                  <a:srgbClr val="FF0000"/>
                </a:solidFill>
                <a:latin typeface="Arial" panose="020B0604020202020204" pitchFamily="34" charset="0"/>
              </a:rPr>
              <a:t>conclusion</a:t>
            </a:r>
            <a:r>
              <a:rPr lang="en-US" altLang="zh-CN" sz="2800" b="1">
                <a:solidFill>
                  <a:srgbClr val="0000CC"/>
                </a:solidFill>
                <a:latin typeface="Arial" panose="020B0604020202020204" pitchFamily="34" charset="0"/>
              </a:rPr>
              <a:t>: F covers G  and  G covers F</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32098"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32099"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64</a:t>
            </a:fld>
            <a:endParaRPr lang="zh-CN" altLang="en-US" sz="1200" b="1" i="1" dirty="0">
              <a:latin typeface="Times New Roman" panose="02020603050405020304" pitchFamily="2" charset="0"/>
              <a:ea typeface="宋体" panose="02010600030101010101" pitchFamily="2" charset="-122"/>
            </a:endParaRPr>
          </a:p>
        </p:txBody>
      </p:sp>
      <p:sp>
        <p:nvSpPr>
          <p:cNvPr id="132100"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6.6 </a:t>
            </a:r>
            <a:r>
              <a:rPr lang="en-US" altLang="x-none" dirty="0">
                <a:ea typeface="宋体" panose="02010600030101010101" pitchFamily="2" charset="-122"/>
              </a:rPr>
              <a:t>Functional Dependencies</a:t>
            </a:r>
          </a:p>
        </p:txBody>
      </p:sp>
      <p:sp>
        <p:nvSpPr>
          <p:cNvPr id="132101" name="Rectangle 3"/>
          <p:cNvSpPr>
            <a:spLocks noGrp="1"/>
          </p:cNvSpPr>
          <p:nvPr>
            <p:ph type="body"/>
          </p:nvPr>
        </p:nvSpPr>
        <p:spPr>
          <a:xfrm>
            <a:off x="241300" y="838200"/>
            <a:ext cx="8686800" cy="4125595"/>
          </a:xfrm>
        </p:spPr>
        <p:txBody>
          <a:bodyPr wrap="square" anchor="t">
            <a:spAutoFit/>
          </a:bodyPr>
          <a:lstStyle/>
          <a:p>
            <a:pPr lvl="0" eaLnBrk="1" hangingPunct="1">
              <a:lnSpc>
                <a:spcPct val="110000"/>
              </a:lnSpc>
              <a:spcBef>
                <a:spcPct val="50000"/>
              </a:spcBef>
            </a:pPr>
            <a:r>
              <a:rPr lang="en-US" altLang="x-none" sz="3200" dirty="0">
                <a:ea typeface="宋体" panose="02010600030101010101" pitchFamily="2" charset="-122"/>
              </a:rPr>
              <a:t>Def. 6.6.11 </a:t>
            </a:r>
            <a:r>
              <a:rPr lang="en-US" altLang="x-none" sz="3200" u="sng" dirty="0">
                <a:solidFill>
                  <a:schemeClr val="accent2"/>
                </a:solidFill>
                <a:ea typeface="宋体" panose="02010600030101010101" pitchFamily="2" charset="-122"/>
              </a:rPr>
              <a:t>Closure of a Set of Attributes（</a:t>
            </a:r>
            <a:r>
              <a:rPr lang="zh-CN" altLang="en-US" sz="3200" u="sng" dirty="0">
                <a:solidFill>
                  <a:schemeClr val="accent2"/>
                </a:solidFill>
                <a:ea typeface="宋体" panose="02010600030101010101" pitchFamily="2" charset="-122"/>
              </a:rPr>
              <a:t>属性集的闭包）</a:t>
            </a:r>
          </a:p>
          <a:p>
            <a:pPr lvl="1" indent="-285750" eaLnBrk="1" hangingPunct="1">
              <a:lnSpc>
                <a:spcPct val="110000"/>
              </a:lnSpc>
              <a:spcBef>
                <a:spcPct val="50000"/>
              </a:spcBef>
            </a:pPr>
            <a:r>
              <a:rPr lang="en-US" altLang="x-none" sz="3200" dirty="0">
                <a:ea typeface="宋体" panose="02010600030101010101" pitchFamily="2" charset="-122"/>
              </a:rPr>
              <a:t>Given a set </a:t>
            </a:r>
            <a:r>
              <a:rPr lang="en-US" altLang="x-none" sz="3200" dirty="0">
                <a:solidFill>
                  <a:srgbClr val="FF0000"/>
                </a:solidFill>
                <a:ea typeface="宋体" panose="02010600030101010101" pitchFamily="2" charset="-122"/>
              </a:rPr>
              <a:t>X</a:t>
            </a:r>
            <a:r>
              <a:rPr lang="en-US" altLang="x-none" sz="3200" dirty="0">
                <a:ea typeface="宋体" panose="02010600030101010101" pitchFamily="2" charset="-122"/>
              </a:rPr>
              <a:t> of attributes in a table </a:t>
            </a:r>
            <a:r>
              <a:rPr lang="en-US" altLang="x-none" sz="3200" dirty="0">
                <a:solidFill>
                  <a:srgbClr val="FF0000"/>
                </a:solidFill>
                <a:ea typeface="宋体" panose="02010600030101010101" pitchFamily="2" charset="-122"/>
              </a:rPr>
              <a:t>T</a:t>
            </a:r>
            <a:r>
              <a:rPr lang="en-US" altLang="x-none" sz="3200" dirty="0">
                <a:ea typeface="宋体" panose="02010600030101010101" pitchFamily="2" charset="-122"/>
              </a:rPr>
              <a:t> and a set </a:t>
            </a:r>
            <a:r>
              <a:rPr lang="en-US" altLang="x-none" sz="3200" dirty="0">
                <a:solidFill>
                  <a:srgbClr val="FF0000"/>
                </a:solidFill>
                <a:ea typeface="宋体" panose="02010600030101010101" pitchFamily="2" charset="-122"/>
              </a:rPr>
              <a:t>F</a:t>
            </a:r>
            <a:r>
              <a:rPr lang="en-US" altLang="x-none" sz="3200" dirty="0">
                <a:ea typeface="宋体" panose="02010600030101010101" pitchFamily="2" charset="-122"/>
              </a:rPr>
              <a:t> of FDs on </a:t>
            </a:r>
            <a:r>
              <a:rPr lang="en-US" altLang="x-none" sz="3200" dirty="0">
                <a:solidFill>
                  <a:srgbClr val="FF0000"/>
                </a:solidFill>
                <a:ea typeface="宋体" panose="02010600030101010101" pitchFamily="2" charset="-122"/>
              </a:rPr>
              <a:t>T</a:t>
            </a:r>
            <a:r>
              <a:rPr lang="en-US" altLang="x-none" sz="3200" dirty="0">
                <a:ea typeface="宋体" panose="02010600030101010101" pitchFamily="2" charset="-122"/>
              </a:rPr>
              <a:t>, we define the CLOSURE of the set </a:t>
            </a:r>
            <a:r>
              <a:rPr lang="en-US" altLang="x-none" sz="3200" dirty="0">
                <a:solidFill>
                  <a:srgbClr val="FF0000"/>
                </a:solidFill>
                <a:ea typeface="宋体" panose="02010600030101010101" pitchFamily="2" charset="-122"/>
              </a:rPr>
              <a:t>X </a:t>
            </a:r>
            <a:r>
              <a:rPr lang="en-US" altLang="x-none" sz="3200" dirty="0">
                <a:ea typeface="宋体" panose="02010600030101010101" pitchFamily="2" charset="-122"/>
              </a:rPr>
              <a:t>(under </a:t>
            </a:r>
            <a:r>
              <a:rPr lang="en-US" altLang="x-none" sz="3200" dirty="0">
                <a:solidFill>
                  <a:srgbClr val="FF0000"/>
                </a:solidFill>
                <a:ea typeface="宋体" panose="02010600030101010101" pitchFamily="2" charset="-122"/>
              </a:rPr>
              <a:t>F</a:t>
            </a:r>
            <a:r>
              <a:rPr lang="en-US" altLang="x-none" sz="3200" dirty="0">
                <a:ea typeface="宋体" panose="02010600030101010101" pitchFamily="2" charset="-122"/>
              </a:rPr>
              <a:t>), denoted by </a:t>
            </a:r>
            <a:r>
              <a:rPr lang="en-US" altLang="x-none" sz="3200" dirty="0">
                <a:solidFill>
                  <a:srgbClr val="FF0000"/>
                </a:solidFill>
                <a:ea typeface="宋体" panose="02010600030101010101" pitchFamily="2" charset="-122"/>
              </a:rPr>
              <a:t>X</a:t>
            </a:r>
            <a:r>
              <a:rPr lang="en-US" altLang="x-none" sz="3200" baseline="30000" dirty="0">
                <a:solidFill>
                  <a:srgbClr val="FF0000"/>
                </a:solidFill>
                <a:ea typeface="宋体" panose="02010600030101010101" pitchFamily="2" charset="-122"/>
              </a:rPr>
              <a:t>+</a:t>
            </a:r>
            <a:r>
              <a:rPr lang="en-US" altLang="x-none" sz="3200" dirty="0">
                <a:ea typeface="宋体" panose="02010600030101010101" pitchFamily="2" charset="-122"/>
              </a:rPr>
              <a:t> or </a:t>
            </a:r>
            <a:r>
              <a:rPr lang="en-US" altLang="x-none" sz="3200" dirty="0">
                <a:solidFill>
                  <a:srgbClr val="FF0000"/>
                </a:solidFill>
                <a:ea typeface="宋体" panose="02010600030101010101" pitchFamily="2" charset="-122"/>
              </a:rPr>
              <a:t>X</a:t>
            </a:r>
            <a:r>
              <a:rPr lang="en-US" altLang="x-none" sz="3200" baseline="30000" dirty="0">
                <a:solidFill>
                  <a:srgbClr val="FF0000"/>
                </a:solidFill>
                <a:ea typeface="宋体" panose="02010600030101010101" pitchFamily="2" charset="-122"/>
              </a:rPr>
              <a:t>+</a:t>
            </a:r>
            <a:r>
              <a:rPr lang="en-US" altLang="x-none" sz="3200" baseline="-25000" dirty="0">
                <a:solidFill>
                  <a:srgbClr val="FF0000"/>
                </a:solidFill>
                <a:ea typeface="宋体" panose="02010600030101010101" pitchFamily="2" charset="-122"/>
              </a:rPr>
              <a:t>F</a:t>
            </a:r>
            <a:r>
              <a:rPr lang="en-US" altLang="x-none" sz="3200" dirty="0">
                <a:ea typeface="宋体" panose="02010600030101010101" pitchFamily="2" charset="-122"/>
              </a:rPr>
              <a:t>, as the largest set of attributes Y such that X→Y is in F</a:t>
            </a:r>
            <a:r>
              <a:rPr lang="en-US" altLang="x-none" sz="3200" baseline="30000" dirty="0">
                <a:ea typeface="宋体" panose="02010600030101010101" pitchFamily="2" charset="-122"/>
              </a:rPr>
              <a:t>+</a:t>
            </a:r>
            <a:r>
              <a:rPr lang="en-US" altLang="x-none" sz="3200" dirty="0">
                <a:ea typeface="宋体" panose="02010600030101010101" pitchFamily="2" charset="-122"/>
              </a:rPr>
              <a:t>.</a:t>
            </a:r>
            <a:endParaRPr lang="en-US" altLang="x-none" sz="3200" dirty="0">
              <a:solidFill>
                <a:srgbClr val="FF0000"/>
              </a:solidFill>
              <a:ea typeface="宋体" panose="02010600030101010101" pitchFamily="2" charset="-122"/>
            </a:endParaRPr>
          </a:p>
        </p:txBody>
      </p:sp>
      <p:grpSp>
        <p:nvGrpSpPr>
          <p:cNvPr id="4" name="组合 3"/>
          <p:cNvGrpSpPr/>
          <p:nvPr/>
        </p:nvGrpSpPr>
        <p:grpSpPr>
          <a:xfrm>
            <a:off x="1496060" y="5013325"/>
            <a:ext cx="5379720" cy="935990"/>
            <a:chOff x="2356" y="7895"/>
            <a:chExt cx="8472" cy="1474"/>
          </a:xfrm>
        </p:grpSpPr>
        <p:graphicFrame>
          <p:nvGraphicFramePr>
            <p:cNvPr id="2" name="对象 1">
              <a:hlinkClick r:id="" action="ppaction://ole?verb=0"/>
            </p:cNvPr>
            <p:cNvGraphicFramePr>
              <a:graphicFrameLocks noChangeAspect="1"/>
            </p:cNvGraphicFramePr>
            <p:nvPr/>
          </p:nvGraphicFramePr>
          <p:xfrm>
            <a:off x="3511" y="8059"/>
            <a:ext cx="6173" cy="1060"/>
          </p:xfrm>
          <a:graphic>
            <a:graphicData uri="http://schemas.openxmlformats.org/presentationml/2006/ole">
              <mc:AlternateContent xmlns:mc="http://schemas.openxmlformats.org/markup-compatibility/2006">
                <mc:Choice xmlns:v="urn:schemas-microsoft-com:vml" Requires="v">
                  <p:oleObj spid="_x0000_s2056" r:id="rId3" imgW="1257300" imgH="215900" progId="Equation.KSEE3">
                    <p:embed/>
                  </p:oleObj>
                </mc:Choice>
                <mc:Fallback>
                  <p:oleObj r:id="rId3" imgW="1257300" imgH="215900" progId="Equation.KSEE3">
                    <p:embed/>
                    <p:pic>
                      <p:nvPicPr>
                        <p:cNvPr id="0" name="图片 2048"/>
                        <p:cNvPicPr/>
                        <p:nvPr/>
                      </p:nvPicPr>
                      <p:blipFill>
                        <a:blip r:embed="rId4"/>
                        <a:stretch>
                          <a:fillRect/>
                        </a:stretch>
                      </p:blipFill>
                      <p:spPr>
                        <a:xfrm>
                          <a:off x="3511" y="8059"/>
                          <a:ext cx="6173" cy="1060"/>
                        </a:xfrm>
                        <a:prstGeom prst="rect">
                          <a:avLst/>
                        </a:prstGeom>
                      </p:spPr>
                    </p:pic>
                  </p:oleObj>
                </mc:Fallback>
              </mc:AlternateContent>
            </a:graphicData>
          </a:graphic>
        </p:graphicFrame>
        <p:sp>
          <p:nvSpPr>
            <p:cNvPr id="3" name="矩形 2"/>
            <p:cNvSpPr/>
            <p:nvPr/>
          </p:nvSpPr>
          <p:spPr>
            <a:xfrm>
              <a:off x="2356" y="7895"/>
              <a:ext cx="8473" cy="147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3"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65</a:t>
            </a:fld>
            <a:endParaRPr lang="zh-CN" altLang="en-US" sz="1200" b="1" i="1" dirty="0">
              <a:latin typeface="Times New Roman" panose="02020603050405020304" pitchFamily="2" charset="0"/>
              <a:ea typeface="宋体" panose="02010600030101010101" pitchFamily="2" charset="-122"/>
            </a:endParaRPr>
          </a:p>
        </p:txBody>
      </p:sp>
      <p:sp>
        <p:nvSpPr>
          <p:cNvPr id="133124" name="Rectangle 2"/>
          <p:cNvSpPr>
            <a:spLocks noGrp="1"/>
          </p:cNvSpPr>
          <p:nvPr>
            <p:ph type="title"/>
          </p:nvPr>
        </p:nvSpPr>
        <p:spPr/>
        <p:txBody>
          <a:bodyPr wrap="square" anchor="ctr"/>
          <a:lstStyle/>
          <a:p>
            <a:pPr lvl="0" eaLnBrk="1" hangingPunct="1"/>
            <a:r>
              <a:rPr lang="en-US" altLang="x-none" sz="2800" dirty="0">
                <a:ea typeface="宋体" panose="02010600030101010101" pitchFamily="2" charset="-122"/>
                <a:sym typeface="+mn-ea"/>
              </a:rPr>
              <a:t>algorithm 6.6.12  </a:t>
            </a:r>
            <a:r>
              <a:rPr lang="en-US" altLang="zh-CN" sz="2800" dirty="0">
                <a:ea typeface="宋体" panose="02010600030101010101" pitchFamily="2" charset="-122"/>
                <a:sym typeface="+mn-ea"/>
              </a:rPr>
              <a:t>Closure of a set of Attributes</a:t>
            </a:r>
            <a:endParaRPr lang="en-US" altLang="x-none" sz="2800" dirty="0">
              <a:ea typeface="宋体" panose="02010600030101010101" pitchFamily="2" charset="-122"/>
            </a:endParaRPr>
          </a:p>
        </p:txBody>
      </p:sp>
      <p:sp>
        <p:nvSpPr>
          <p:cNvPr id="133125" name="Rectangle 3"/>
          <p:cNvSpPr>
            <a:spLocks noGrp="1"/>
          </p:cNvSpPr>
          <p:nvPr>
            <p:ph type="body"/>
          </p:nvPr>
        </p:nvSpPr>
        <p:spPr>
          <a:xfrm>
            <a:off x="325755" y="766445"/>
            <a:ext cx="8634095" cy="571500"/>
          </a:xfrm>
        </p:spPr>
        <p:txBody>
          <a:bodyPr wrap="square" anchor="t"/>
          <a:lstStyle/>
          <a:p>
            <a:pPr marL="742950" lvl="1" indent="-742950" eaLnBrk="1" hangingPunct="1">
              <a:buNone/>
            </a:pPr>
            <a:r>
              <a:rPr lang="en-US" altLang="x-none" sz="3000" u="sng" dirty="0">
                <a:ea typeface="宋体" panose="02010600030101010101" pitchFamily="2" charset="-122"/>
              </a:rPr>
              <a:t>Input</a:t>
            </a:r>
            <a:r>
              <a:rPr lang="en-US" altLang="x-none" sz="3000" dirty="0">
                <a:ea typeface="宋体" panose="02010600030101010101" pitchFamily="2" charset="-122"/>
              </a:rPr>
              <a:t>: X is</a:t>
            </a:r>
            <a:r>
              <a:rPr lang="en-US" altLang="zh-CN" sz="3000" dirty="0">
                <a:ea typeface="宋体" panose="02010600030101010101" pitchFamily="2" charset="-122"/>
              </a:rPr>
              <a:t> a set of attributes, F is a set of FDs</a:t>
            </a:r>
          </a:p>
        </p:txBody>
      </p:sp>
      <p:sp>
        <p:nvSpPr>
          <p:cNvPr id="133127" name="Rectangle 4"/>
          <p:cNvSpPr/>
          <p:nvPr/>
        </p:nvSpPr>
        <p:spPr>
          <a:xfrm>
            <a:off x="457200" y="1415415"/>
            <a:ext cx="8305800" cy="5110480"/>
          </a:xfrm>
          <a:prstGeom prst="rect">
            <a:avLst/>
          </a:prstGeom>
          <a:solidFill>
            <a:schemeClr val="bg1"/>
          </a:solidFill>
          <a:ln w="19050" cap="flat" cmpd="sng">
            <a:solidFill>
              <a:schemeClr val="tx1"/>
            </a:solidFill>
            <a:prstDash val="solid"/>
            <a:miter/>
            <a:headEnd type="none" w="med" len="med"/>
            <a:tailEnd type="none" w="med" len="med"/>
          </a:ln>
        </p:spPr>
        <p:txBody>
          <a:bodyPr anchor="t"/>
          <a:lstStyle/>
          <a:p>
            <a:pPr marL="914400" lvl="1" indent="-457200" eaLnBrk="0" hangingPunct="0">
              <a:lnSpc>
                <a:spcPct val="110000"/>
              </a:lnSpc>
              <a:spcBef>
                <a:spcPct val="20000"/>
              </a:spcBef>
              <a:buClr>
                <a:schemeClr val="accent1"/>
              </a:buClr>
              <a:buFont typeface="Wingdings" panose="05000000000000000000" pitchFamily="2" charset="2"/>
              <a:buNone/>
            </a:pPr>
            <a:r>
              <a:rPr lang="zh-CN" altLang="en-US" sz="3200" b="1" dirty="0">
                <a:solidFill>
                  <a:srgbClr val="FF0000"/>
                </a:solidFill>
                <a:latin typeface="Arial" panose="020B0604020202020204" pitchFamily="34" charset="0"/>
                <a:ea typeface="宋体" panose="02010600030101010101" pitchFamily="2" charset="-122"/>
              </a:rPr>
              <a:t>  </a:t>
            </a:r>
            <a:r>
              <a:rPr lang="en-US" altLang="x-none" sz="3200" b="1" dirty="0">
                <a:solidFill>
                  <a:srgbClr val="FF0000"/>
                </a:solidFill>
                <a:latin typeface="Arial" panose="020B0604020202020204" pitchFamily="34" charset="0"/>
                <a:ea typeface="宋体" panose="02010600030101010101" pitchFamily="2" charset="-122"/>
              </a:rPr>
              <a:t>X</a:t>
            </a:r>
            <a:r>
              <a:rPr lang="en-US" altLang="x-none" sz="3200" b="1" baseline="30000" dirty="0">
                <a:solidFill>
                  <a:srgbClr val="FF0000"/>
                </a:solidFill>
                <a:latin typeface="Arial" panose="020B0604020202020204" pitchFamily="34" charset="0"/>
                <a:ea typeface="宋体" panose="02010600030101010101" pitchFamily="2" charset="-122"/>
              </a:rPr>
              <a:t>+</a:t>
            </a:r>
            <a:r>
              <a:rPr lang="en-US" altLang="x-none" sz="3200" b="1" dirty="0">
                <a:latin typeface="Arial" panose="020B0604020202020204" pitchFamily="34" charset="0"/>
                <a:ea typeface="宋体" panose="02010600030101010101" pitchFamily="2" charset="-122"/>
              </a:rPr>
              <a:t> </a:t>
            </a:r>
            <a:r>
              <a:rPr lang="en-US" altLang="x-none" sz="3200" b="1" dirty="0">
                <a:solidFill>
                  <a:srgbClr val="3333FF"/>
                </a:solidFill>
                <a:latin typeface="Arial" panose="020B0604020202020204" pitchFamily="34" charset="0"/>
                <a:ea typeface="宋体" panose="02010600030101010101" pitchFamily="2" charset="-122"/>
              </a:rPr>
              <a:t>:=</a:t>
            </a:r>
            <a:r>
              <a:rPr lang="en-US" altLang="x-none" sz="3200" b="1" dirty="0">
                <a:latin typeface="Arial" panose="020B0604020202020204" pitchFamily="34" charset="0"/>
                <a:ea typeface="宋体" panose="02010600030101010101" pitchFamily="2" charset="-122"/>
              </a:rPr>
              <a:t> </a:t>
            </a:r>
            <a:r>
              <a:rPr lang="en-US" altLang="x-none" sz="3200" b="1" dirty="0">
                <a:solidFill>
                  <a:srgbClr val="FF0000"/>
                </a:solidFill>
                <a:latin typeface="Arial" panose="020B0604020202020204" pitchFamily="34" charset="0"/>
                <a:ea typeface="宋体" panose="02010600030101010101" pitchFamily="2" charset="-122"/>
              </a:rPr>
              <a:t>X</a:t>
            </a:r>
            <a:r>
              <a:rPr lang="en-US" altLang="x-none" sz="3200" b="1" dirty="0">
                <a:solidFill>
                  <a:srgbClr val="3333FF"/>
                </a:solidFill>
                <a:latin typeface="Arial" panose="020B0604020202020204" pitchFamily="34" charset="0"/>
                <a:ea typeface="宋体" panose="02010600030101010101" pitchFamily="2" charset="-122"/>
              </a:rPr>
              <a:t>;</a:t>
            </a:r>
          </a:p>
          <a:p>
            <a:pPr marL="914400" lvl="1" indent="-457200">
              <a:lnSpc>
                <a:spcPct val="110000"/>
              </a:lnSpc>
              <a:spcBef>
                <a:spcPct val="20000"/>
              </a:spcBef>
              <a:buClr>
                <a:schemeClr val="accent1"/>
              </a:buClr>
              <a:buFont typeface="Wingdings" panose="05000000000000000000" pitchFamily="2" charset="2"/>
              <a:buNone/>
            </a:pPr>
            <a:r>
              <a:rPr lang="zh-CN" altLang="en-US" sz="3200" b="1" dirty="0">
                <a:latin typeface="Arial" panose="020B0604020202020204" pitchFamily="34" charset="0"/>
                <a:ea typeface="宋体" panose="02010600030101010101" pitchFamily="2" charset="-122"/>
              </a:rPr>
              <a:t>  </a:t>
            </a:r>
            <a:r>
              <a:rPr lang="en-US" altLang="x-none" sz="3200" b="1" dirty="0">
                <a:solidFill>
                  <a:srgbClr val="3333FF"/>
                </a:solidFill>
                <a:latin typeface="Arial" panose="020B0604020202020204" pitchFamily="34" charset="0"/>
                <a:ea typeface="宋体" panose="02010600030101010101" pitchFamily="2" charset="-122"/>
              </a:rPr>
              <a:t>repeat</a:t>
            </a:r>
            <a:r>
              <a:rPr lang="zh-CN" altLang="en-US" sz="3200" b="1" dirty="0">
                <a:solidFill>
                  <a:srgbClr val="3333FF"/>
                </a:solidFill>
                <a:latin typeface="Arial" panose="020B0604020202020204" pitchFamily="34" charset="0"/>
                <a:ea typeface="宋体" panose="02010600030101010101" pitchFamily="2" charset="-122"/>
              </a:rPr>
              <a:t> {</a:t>
            </a:r>
          </a:p>
          <a:p>
            <a:pPr marL="1600200" lvl="3" indent="-228600">
              <a:lnSpc>
                <a:spcPct val="110000"/>
              </a:lnSpc>
              <a:spcBef>
                <a:spcPct val="20000"/>
              </a:spcBef>
              <a:buClr>
                <a:schemeClr val="accent1"/>
              </a:buClr>
              <a:buFont typeface="Wingdings" panose="05000000000000000000" pitchFamily="2" charset="2"/>
              <a:buNone/>
            </a:pPr>
            <a:r>
              <a:rPr lang="en-US" altLang="x-none" sz="3200" b="1" dirty="0">
                <a:solidFill>
                  <a:srgbClr val="FF0000"/>
                </a:solidFill>
                <a:latin typeface="Arial" panose="020B0604020202020204" pitchFamily="34" charset="0"/>
                <a:ea typeface="宋体" panose="02010600030101010101" pitchFamily="2" charset="-122"/>
              </a:rPr>
              <a:t>oldX</a:t>
            </a:r>
            <a:r>
              <a:rPr lang="en-US" altLang="x-none" sz="3200" b="1" baseline="30000" dirty="0">
                <a:solidFill>
                  <a:srgbClr val="FF0000"/>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 := </a:t>
            </a:r>
            <a:r>
              <a:rPr lang="en-US" altLang="x-none" sz="3200" b="1" dirty="0">
                <a:solidFill>
                  <a:srgbClr val="FF0000"/>
                </a:solidFill>
                <a:latin typeface="Arial" panose="020B0604020202020204" pitchFamily="34" charset="0"/>
                <a:ea typeface="宋体" panose="02010600030101010101" pitchFamily="2" charset="-122"/>
              </a:rPr>
              <a:t>X</a:t>
            </a:r>
            <a:r>
              <a:rPr lang="en-US" altLang="x-none" sz="3200" b="1" baseline="30000" dirty="0">
                <a:solidFill>
                  <a:srgbClr val="FF0000"/>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a:t>
            </a:r>
          </a:p>
          <a:p>
            <a:pPr marL="1600200" lvl="3" indent="-228600">
              <a:lnSpc>
                <a:spcPct val="110000"/>
              </a:lnSpc>
              <a:spcBef>
                <a:spcPct val="20000"/>
              </a:spcBef>
              <a:buClr>
                <a:schemeClr val="accent1"/>
              </a:buClr>
              <a:buFont typeface="Wingdings" panose="05000000000000000000" pitchFamily="2" charset="2"/>
              <a:buNone/>
            </a:pPr>
            <a:r>
              <a:rPr lang="en-US" altLang="x-none" sz="3200" b="1" dirty="0">
                <a:solidFill>
                  <a:schemeClr val="accent2"/>
                </a:solidFill>
                <a:latin typeface="Arial" panose="020B0604020202020204" pitchFamily="34" charset="0"/>
                <a:ea typeface="宋体" panose="02010600030101010101" pitchFamily="2" charset="-122"/>
              </a:rPr>
              <a:t>for each  </a:t>
            </a:r>
            <a:r>
              <a:rPr lang="en-US" altLang="x-none" sz="3200" b="1" dirty="0">
                <a:solidFill>
                  <a:srgbClr val="FF0000"/>
                </a:solidFill>
                <a:latin typeface="Arial" panose="020B0604020202020204" pitchFamily="34" charset="0"/>
                <a:ea typeface="宋体" panose="02010600030101010101" pitchFamily="2" charset="-122"/>
              </a:rPr>
              <a:t>Y</a:t>
            </a:r>
            <a:r>
              <a:rPr lang="en-US" altLang="x-none" sz="3200" b="1" dirty="0">
                <a:solidFill>
                  <a:srgbClr val="FF0000"/>
                </a:solidFill>
                <a:latin typeface="Arial" panose="020B0604020202020204" pitchFamily="34" charset="0"/>
                <a:ea typeface="宋体" panose="02010600030101010101" pitchFamily="2" charset="-122"/>
                <a:sym typeface="Symbol" panose="05050102010706020507" pitchFamily="2" charset="2"/>
              </a:rPr>
              <a:t>Z</a:t>
            </a:r>
            <a:r>
              <a:rPr lang="en-US" altLang="x-none" sz="3200" b="1" dirty="0">
                <a:solidFill>
                  <a:schemeClr val="accent2"/>
                </a:solidFill>
                <a:latin typeface="Arial" panose="020B0604020202020204" pitchFamily="34" charset="0"/>
                <a:ea typeface="宋体" panose="02010600030101010101" pitchFamily="2" charset="-122"/>
                <a:sym typeface="Symbol" panose="05050102010706020507" pitchFamily="2" charset="2"/>
              </a:rPr>
              <a:t> in F</a:t>
            </a:r>
            <a:r>
              <a:rPr lang="zh-CN" altLang="en-US" sz="3200" b="1" dirty="0">
                <a:solidFill>
                  <a:schemeClr val="accent2"/>
                </a:solidFill>
                <a:latin typeface="Arial" panose="020B0604020202020204" pitchFamily="34" charset="0"/>
                <a:ea typeface="宋体" panose="02010600030101010101" pitchFamily="2" charset="-122"/>
                <a:sym typeface="Symbol" panose="05050102010706020507" pitchFamily="2" charset="2"/>
              </a:rPr>
              <a:t> {</a:t>
            </a:r>
            <a:endParaRPr lang="en-US" altLang="x-none" sz="3200" b="1" dirty="0">
              <a:solidFill>
                <a:schemeClr val="accent2"/>
              </a:solidFill>
              <a:latin typeface="Arial" panose="020B0604020202020204" pitchFamily="34" charset="0"/>
              <a:ea typeface="宋体" panose="02010600030101010101" pitchFamily="2" charset="-122"/>
              <a:sym typeface="Symbol" panose="05050102010706020507" pitchFamily="2" charset="2"/>
            </a:endParaRPr>
          </a:p>
          <a:p>
            <a:pPr marL="2057400" lvl="4" indent="-228600">
              <a:lnSpc>
                <a:spcPct val="110000"/>
              </a:lnSpc>
              <a:spcBef>
                <a:spcPct val="20000"/>
              </a:spcBef>
              <a:buClr>
                <a:schemeClr val="accent1"/>
              </a:buClr>
            </a:pPr>
            <a:r>
              <a:rPr lang="zh-CN" altLang="en-US" sz="3200" b="1" dirty="0">
                <a:solidFill>
                  <a:schemeClr val="accent2"/>
                </a:solidFill>
                <a:latin typeface="Arial" panose="020B0604020202020204" pitchFamily="34" charset="0"/>
                <a:ea typeface="宋体" panose="02010600030101010101" pitchFamily="2" charset="-122"/>
                <a:sym typeface="Symbol" panose="05050102010706020507" pitchFamily="2" charset="2"/>
              </a:rPr>
              <a:t>    </a:t>
            </a:r>
            <a:r>
              <a:rPr lang="en-US" altLang="x-none" sz="3200" b="1" dirty="0">
                <a:solidFill>
                  <a:schemeClr val="accent2"/>
                </a:solidFill>
                <a:latin typeface="Arial" panose="020B0604020202020204" pitchFamily="34" charset="0"/>
                <a:ea typeface="宋体" panose="02010600030101010101" pitchFamily="2" charset="-122"/>
                <a:sym typeface="Symbol" panose="05050102010706020507" pitchFamily="2" charset="2"/>
              </a:rPr>
              <a:t>if </a:t>
            </a:r>
            <a:r>
              <a:rPr lang="en-US" altLang="x-none" sz="3200" b="1" dirty="0">
                <a:solidFill>
                  <a:srgbClr val="FF0000"/>
                </a:solidFill>
                <a:latin typeface="Arial" panose="020B0604020202020204" pitchFamily="34" charset="0"/>
                <a:ea typeface="宋体" panose="02010600030101010101" pitchFamily="2" charset="-122"/>
                <a:sym typeface="Symbol" panose="05050102010706020507" pitchFamily="2" charset="2"/>
              </a:rPr>
              <a:t>Y</a:t>
            </a:r>
            <a:r>
              <a:rPr lang="en-US" altLang="x-none" sz="3200" b="1" dirty="0">
                <a:solidFill>
                  <a:schemeClr val="accent2"/>
                </a:solidFill>
                <a:latin typeface="Arial" panose="020B0604020202020204" pitchFamily="34" charset="0"/>
                <a:ea typeface="宋体" panose="02010600030101010101" pitchFamily="2" charset="-122"/>
                <a:sym typeface="Symbol" panose="05050102010706020507" pitchFamily="2" charset="2"/>
              </a:rPr>
              <a:t> </a:t>
            </a:r>
            <a:r>
              <a:rPr lang="en-US" altLang="x-none" sz="3200" b="1" dirty="0">
                <a:solidFill>
                  <a:srgbClr val="FF0000"/>
                </a:solidFill>
                <a:latin typeface="Arial" panose="020B0604020202020204" pitchFamily="34" charset="0"/>
                <a:ea typeface="宋体" panose="02010600030101010101" pitchFamily="2" charset="-122"/>
              </a:rPr>
              <a:t>X</a:t>
            </a:r>
            <a:r>
              <a:rPr lang="en-US" altLang="x-none" sz="3200" b="1" baseline="30000" dirty="0">
                <a:solidFill>
                  <a:srgbClr val="FF0000"/>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sym typeface="Symbol" panose="05050102010706020507" pitchFamily="2" charset="2"/>
              </a:rPr>
              <a:t> then </a:t>
            </a:r>
            <a:r>
              <a:rPr lang="en-US" altLang="x-none" sz="3200" b="1" dirty="0">
                <a:solidFill>
                  <a:srgbClr val="FF0000"/>
                </a:solidFill>
                <a:latin typeface="Arial" panose="020B0604020202020204" pitchFamily="34" charset="0"/>
                <a:ea typeface="宋体" panose="02010600030101010101" pitchFamily="2" charset="-122"/>
              </a:rPr>
              <a:t>X</a:t>
            </a:r>
            <a:r>
              <a:rPr lang="en-US" altLang="x-none" sz="3200" b="1" baseline="30000" dirty="0">
                <a:solidFill>
                  <a:srgbClr val="FF0000"/>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sym typeface="Symbol" panose="05050102010706020507" pitchFamily="2" charset="2"/>
              </a:rPr>
              <a:t> := </a:t>
            </a:r>
            <a:r>
              <a:rPr lang="en-US" altLang="x-none" sz="3200" b="1" dirty="0">
                <a:solidFill>
                  <a:srgbClr val="FF0000"/>
                </a:solidFill>
                <a:latin typeface="Arial" panose="020B0604020202020204" pitchFamily="34" charset="0"/>
                <a:ea typeface="宋体" panose="02010600030101010101" pitchFamily="2" charset="-122"/>
              </a:rPr>
              <a:t>X</a:t>
            </a:r>
            <a:r>
              <a:rPr lang="en-US" altLang="x-none" sz="3200" b="1" baseline="30000" dirty="0">
                <a:solidFill>
                  <a:srgbClr val="FF0000"/>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sym typeface="Symbol" panose="05050102010706020507" pitchFamily="2" charset="2"/>
              </a:rPr>
              <a:t>  </a:t>
            </a:r>
            <a:r>
              <a:rPr lang="en-US" altLang="x-none" sz="3200" b="1" dirty="0">
                <a:solidFill>
                  <a:srgbClr val="FF0000"/>
                </a:solidFill>
                <a:latin typeface="Arial" panose="020B0604020202020204" pitchFamily="34" charset="0"/>
                <a:ea typeface="宋体" panose="02010600030101010101" pitchFamily="2" charset="-122"/>
                <a:sym typeface="Symbol" panose="05050102010706020507" pitchFamily="2" charset="2"/>
              </a:rPr>
              <a:t>Z</a:t>
            </a:r>
            <a:r>
              <a:rPr lang="en-US" altLang="x-none" sz="3200" b="1" dirty="0">
                <a:solidFill>
                  <a:schemeClr val="accent2"/>
                </a:solidFill>
                <a:latin typeface="Arial" panose="020B0604020202020204" pitchFamily="34" charset="0"/>
                <a:ea typeface="宋体" panose="02010600030101010101" pitchFamily="2" charset="-122"/>
                <a:sym typeface="Symbol" panose="05050102010706020507" pitchFamily="2" charset="2"/>
              </a:rPr>
              <a:t>;</a:t>
            </a:r>
          </a:p>
          <a:p>
            <a:pPr marL="1600200" lvl="3" indent="-228600">
              <a:lnSpc>
                <a:spcPct val="110000"/>
              </a:lnSpc>
              <a:spcBef>
                <a:spcPct val="20000"/>
              </a:spcBef>
              <a:buClr>
                <a:schemeClr val="accent1"/>
              </a:buClr>
            </a:pPr>
            <a:r>
              <a:rPr lang="zh-CN" altLang="en-US" sz="3200" b="1" dirty="0">
                <a:solidFill>
                  <a:schemeClr val="accent2"/>
                </a:solidFill>
                <a:latin typeface="Arial" panose="020B0604020202020204" pitchFamily="34" charset="0"/>
                <a:ea typeface="宋体" panose="02010600030101010101" pitchFamily="2" charset="-122"/>
                <a:sym typeface="Symbol" panose="05050102010706020507" pitchFamily="2" charset="2"/>
              </a:rPr>
              <a:t>}</a:t>
            </a:r>
            <a:endParaRPr lang="en-US" altLang="x-none" sz="3200" b="1" dirty="0">
              <a:solidFill>
                <a:schemeClr val="accent2"/>
              </a:solidFill>
              <a:latin typeface="Arial" panose="020B0604020202020204" pitchFamily="34" charset="0"/>
              <a:ea typeface="宋体" panose="02010600030101010101" pitchFamily="2" charset="-122"/>
              <a:sym typeface="Symbol" panose="05050102010706020507" pitchFamily="2" charset="2"/>
            </a:endParaRPr>
          </a:p>
          <a:p>
            <a:pPr marL="914400" lvl="1" indent="-457200">
              <a:lnSpc>
                <a:spcPct val="110000"/>
              </a:lnSpc>
              <a:spcBef>
                <a:spcPct val="20000"/>
              </a:spcBef>
              <a:buClr>
                <a:schemeClr val="accent1"/>
              </a:buClr>
              <a:buFont typeface="Wingdings" panose="05000000000000000000" pitchFamily="2" charset="2"/>
              <a:buNone/>
            </a:pPr>
            <a:r>
              <a:rPr lang="zh-CN" altLang="en-US" sz="3200" b="1" dirty="0">
                <a:latin typeface="Arial" panose="020B0604020202020204" pitchFamily="34" charset="0"/>
                <a:ea typeface="宋体" panose="02010600030101010101" pitchFamily="2" charset="-122"/>
                <a:sym typeface="Symbol" panose="05050102010706020507" pitchFamily="2" charset="2"/>
              </a:rPr>
              <a:t> </a:t>
            </a:r>
            <a:r>
              <a:rPr lang="zh-CN" altLang="en-US" sz="3200" b="1" dirty="0">
                <a:solidFill>
                  <a:srgbClr val="3333FF"/>
                </a:solidFill>
                <a:latin typeface="Arial" panose="020B0604020202020204" pitchFamily="34" charset="0"/>
                <a:ea typeface="宋体" panose="02010600030101010101" pitchFamily="2" charset="-122"/>
                <a:sym typeface="Symbol" panose="05050102010706020507" pitchFamily="2" charset="2"/>
              </a:rPr>
              <a:t> } </a:t>
            </a:r>
            <a:r>
              <a:rPr lang="en-US" altLang="x-none" sz="3200" b="1" dirty="0">
                <a:solidFill>
                  <a:srgbClr val="3333FF"/>
                </a:solidFill>
                <a:latin typeface="Arial" panose="020B0604020202020204" pitchFamily="34" charset="0"/>
                <a:ea typeface="宋体" panose="02010600030101010101" pitchFamily="2" charset="-122"/>
                <a:sym typeface="Symbol" panose="05050102010706020507" pitchFamily="2" charset="2"/>
              </a:rPr>
              <a:t>until (</a:t>
            </a:r>
            <a:r>
              <a:rPr lang="en-US" altLang="x-none" sz="3200" b="1" dirty="0">
                <a:latin typeface="Arial" panose="020B0604020202020204" pitchFamily="34" charset="0"/>
                <a:ea typeface="宋体" panose="02010600030101010101" pitchFamily="2" charset="-122"/>
                <a:sym typeface="Symbol" panose="05050102010706020507" pitchFamily="2" charset="2"/>
              </a:rPr>
              <a:t> </a:t>
            </a:r>
            <a:r>
              <a:rPr lang="en-US" altLang="x-none" sz="3200" b="1" dirty="0">
                <a:solidFill>
                  <a:srgbClr val="FF0000"/>
                </a:solidFill>
                <a:latin typeface="Arial" panose="020B0604020202020204" pitchFamily="34" charset="0"/>
                <a:ea typeface="宋体" panose="02010600030101010101" pitchFamily="2" charset="-122"/>
              </a:rPr>
              <a:t>oldX</a:t>
            </a:r>
            <a:r>
              <a:rPr lang="en-US" altLang="x-none" sz="3200" b="1" baseline="30000" dirty="0">
                <a:solidFill>
                  <a:srgbClr val="FF0000"/>
                </a:solidFill>
                <a:latin typeface="Arial" panose="020B0604020202020204" pitchFamily="34" charset="0"/>
                <a:ea typeface="宋体" panose="02010600030101010101" pitchFamily="2" charset="-122"/>
              </a:rPr>
              <a:t>+</a:t>
            </a:r>
            <a:r>
              <a:rPr lang="en-US" altLang="x-none" sz="3200" b="1" dirty="0">
                <a:latin typeface="Arial" panose="020B0604020202020204" pitchFamily="34" charset="0"/>
                <a:ea typeface="宋体" panose="02010600030101010101" pitchFamily="2" charset="-122"/>
              </a:rPr>
              <a:t> </a:t>
            </a:r>
            <a:r>
              <a:rPr lang="en-US" altLang="x-none" sz="3200" b="1" dirty="0">
                <a:solidFill>
                  <a:srgbClr val="3333FF"/>
                </a:solidFill>
                <a:latin typeface="Arial" panose="020B0604020202020204" pitchFamily="34" charset="0"/>
                <a:ea typeface="宋体" panose="02010600030101010101" pitchFamily="2" charset="-122"/>
              </a:rPr>
              <a:t>=</a:t>
            </a:r>
            <a:r>
              <a:rPr lang="en-US" altLang="x-none" sz="3200" b="1" dirty="0">
                <a:latin typeface="Arial" panose="020B0604020202020204" pitchFamily="34" charset="0"/>
                <a:ea typeface="宋体" panose="02010600030101010101" pitchFamily="2" charset="-122"/>
              </a:rPr>
              <a:t> </a:t>
            </a:r>
            <a:r>
              <a:rPr lang="en-US" altLang="x-none" sz="3200" b="1" dirty="0">
                <a:solidFill>
                  <a:srgbClr val="FF0000"/>
                </a:solidFill>
                <a:latin typeface="Arial" panose="020B0604020202020204" pitchFamily="34" charset="0"/>
                <a:ea typeface="宋体" panose="02010600030101010101" pitchFamily="2" charset="-122"/>
              </a:rPr>
              <a:t>X</a:t>
            </a:r>
            <a:r>
              <a:rPr lang="en-US" altLang="x-none" sz="3200" b="1" baseline="30000" dirty="0">
                <a:solidFill>
                  <a:srgbClr val="FF0000"/>
                </a:solidFill>
                <a:latin typeface="Arial" panose="020B0604020202020204" pitchFamily="34" charset="0"/>
                <a:ea typeface="宋体" panose="02010600030101010101" pitchFamily="2" charset="-122"/>
              </a:rPr>
              <a:t>+ </a:t>
            </a:r>
            <a:r>
              <a:rPr lang="en-US" altLang="x-none" sz="3200" b="1" dirty="0">
                <a:solidFill>
                  <a:srgbClr val="3333FF"/>
                </a:solidFill>
                <a:latin typeface="Arial" panose="020B0604020202020204" pitchFamily="34" charset="0"/>
                <a:ea typeface="宋体" panose="02010600030101010101" pitchFamily="2" charset="-122"/>
                <a:sym typeface="Symbol" panose="05050102010706020507" pitchFamily="2" charset="2"/>
              </a:rPr>
              <a:t>)</a:t>
            </a:r>
          </a:p>
          <a:p>
            <a:pPr marL="914400" lvl="1" indent="-457200">
              <a:lnSpc>
                <a:spcPct val="110000"/>
              </a:lnSpc>
              <a:spcBef>
                <a:spcPct val="20000"/>
              </a:spcBef>
              <a:buClr>
                <a:schemeClr val="accent1"/>
              </a:buClr>
              <a:buFont typeface="Wingdings" panose="05000000000000000000" pitchFamily="2" charset="2"/>
              <a:buNone/>
            </a:pPr>
            <a:r>
              <a:rPr lang="en-US" altLang="x-none" sz="3200" b="1" dirty="0">
                <a:latin typeface="Arial" panose="020B0604020202020204" pitchFamily="34" charset="0"/>
                <a:ea typeface="宋体" panose="02010600030101010101" pitchFamily="2" charset="-122"/>
                <a:sym typeface="Symbol" panose="05050102010706020507" pitchFamily="2" charset="2"/>
              </a:rPr>
              <a:t> </a:t>
            </a:r>
            <a:r>
              <a:rPr lang="en-US" altLang="x-none" sz="3200" b="1" dirty="0">
                <a:solidFill>
                  <a:srgbClr val="3333FF"/>
                </a:solidFill>
                <a:latin typeface="Arial" panose="020B0604020202020204" pitchFamily="34" charset="0"/>
                <a:ea typeface="宋体" panose="02010600030101010101" pitchFamily="2" charset="-122"/>
                <a:sym typeface="Symbol" panose="05050102010706020507" pitchFamily="2" charset="2"/>
              </a:rPr>
              <a:t> return</a:t>
            </a:r>
            <a:r>
              <a:rPr lang="en-US" altLang="x-none" sz="3200" b="1" dirty="0">
                <a:latin typeface="Arial" panose="020B0604020202020204" pitchFamily="34" charset="0"/>
                <a:ea typeface="宋体" panose="02010600030101010101" pitchFamily="2" charset="-122"/>
                <a:sym typeface="Symbol" panose="05050102010706020507" pitchFamily="2" charset="2"/>
              </a:rPr>
              <a:t>  </a:t>
            </a:r>
            <a:r>
              <a:rPr lang="en-US" altLang="x-none" sz="3200" b="1" dirty="0">
                <a:solidFill>
                  <a:srgbClr val="FF0000"/>
                </a:solidFill>
                <a:latin typeface="Arial" panose="020B0604020202020204" pitchFamily="34" charset="0"/>
                <a:ea typeface="宋体" panose="02010600030101010101" pitchFamily="2" charset="-122"/>
                <a:sym typeface="Symbol" panose="05050102010706020507" pitchFamily="2" charset="2"/>
              </a:rPr>
              <a:t>X</a:t>
            </a:r>
            <a:r>
              <a:rPr lang="en-US" altLang="x-none" sz="3200" b="1" baseline="30000" dirty="0">
                <a:solidFill>
                  <a:srgbClr val="FF0000"/>
                </a:solidFill>
                <a:latin typeface="Arial" panose="020B0604020202020204" pitchFamily="34" charset="0"/>
                <a:ea typeface="宋体" panose="02010600030101010101" pitchFamily="2" charset="-122"/>
                <a:sym typeface="Symbol" panose="05050102010706020507" pitchFamily="2" charset="2"/>
              </a:rPr>
              <a:t>+</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Rectangle 3"/>
          <p:cNvSpPr>
            <a:spLocks noGrp="1"/>
          </p:cNvSpPr>
          <p:nvPr>
            <p:ph type="body"/>
          </p:nvPr>
        </p:nvSpPr>
        <p:spPr>
          <a:xfrm>
            <a:off x="228600" y="44450"/>
            <a:ext cx="8686800" cy="1225550"/>
          </a:xfrm>
        </p:spPr>
        <p:txBody>
          <a:bodyPr wrap="square" anchor="t"/>
          <a:lstStyle/>
          <a:p>
            <a:pPr marL="1905" lvl="0" indent="-1905" eaLnBrk="1" hangingPunct="1">
              <a:buNone/>
            </a:pPr>
            <a:r>
              <a:rPr lang="en-US" altLang="x-none" sz="3200" dirty="0">
                <a:ea typeface="宋体" panose="02010600030101010101" pitchFamily="2" charset="-122"/>
              </a:rPr>
              <a:t>Exp 6.6.7: </a:t>
            </a:r>
            <a:r>
              <a:rPr lang="en-US" altLang="x-none" sz="3200" dirty="0">
                <a:solidFill>
                  <a:schemeClr val="accent2"/>
                </a:solidFill>
                <a:ea typeface="宋体" panose="02010600030101010101" pitchFamily="2" charset="-122"/>
              </a:rPr>
              <a:t>compute </a:t>
            </a:r>
            <a:r>
              <a:rPr lang="zh-CN" altLang="en-US" sz="3200" dirty="0">
                <a:solidFill>
                  <a:schemeClr val="accent2"/>
                </a:solidFill>
                <a:ea typeface="宋体" panose="02010600030101010101" pitchFamily="2" charset="-122"/>
              </a:rPr>
              <a:t>{</a:t>
            </a:r>
            <a:r>
              <a:rPr lang="en-US" altLang="x-none" sz="3200" dirty="0">
                <a:solidFill>
                  <a:schemeClr val="accent2"/>
                </a:solidFill>
                <a:ea typeface="宋体" panose="02010600030101010101" pitchFamily="2" charset="-122"/>
              </a:rPr>
              <a:t>B</a:t>
            </a:r>
            <a:r>
              <a:rPr lang="zh-CN" altLang="en-US" sz="3200" dirty="0">
                <a:solidFill>
                  <a:schemeClr val="accent2"/>
                </a:solidFill>
                <a:ea typeface="宋体" panose="02010600030101010101" pitchFamily="2" charset="-122"/>
              </a:rPr>
              <a:t>}</a:t>
            </a:r>
            <a:r>
              <a:rPr lang="en-US" altLang="x-none" sz="3200" baseline="30000" dirty="0">
                <a:solidFill>
                  <a:schemeClr val="accent2"/>
                </a:solidFill>
                <a:ea typeface="宋体" panose="02010600030101010101" pitchFamily="2" charset="-122"/>
              </a:rPr>
              <a:t>+</a:t>
            </a:r>
          </a:p>
          <a:p>
            <a:pPr marL="1905" lvl="1" indent="455295" eaLnBrk="1" hangingPunct="1">
              <a:buNone/>
            </a:pPr>
            <a:r>
              <a:rPr lang="en-US" altLang="x-none" sz="3200" dirty="0">
                <a:ea typeface="宋体" panose="02010600030101010101" pitchFamily="2" charset="-122"/>
              </a:rPr>
              <a:t>F = { </a:t>
            </a:r>
            <a:r>
              <a:rPr lang="en-US" altLang="x-none" sz="3200" dirty="0">
                <a:solidFill>
                  <a:srgbClr val="FF0066"/>
                </a:solidFill>
                <a:ea typeface="宋体" panose="02010600030101010101" pitchFamily="2" charset="-122"/>
              </a:rPr>
              <a:t>(f</a:t>
            </a:r>
            <a:r>
              <a:rPr lang="en-US" altLang="x-none" sz="3200" baseline="-25000" dirty="0">
                <a:solidFill>
                  <a:srgbClr val="FF0066"/>
                </a:solidFill>
                <a:ea typeface="宋体" panose="02010600030101010101" pitchFamily="2" charset="-122"/>
              </a:rPr>
              <a:t>1</a:t>
            </a:r>
            <a:r>
              <a:rPr lang="en-US" altLang="x-none" sz="3200" dirty="0">
                <a:solidFill>
                  <a:srgbClr val="FF0066"/>
                </a:solidFill>
                <a:ea typeface="宋体" panose="02010600030101010101" pitchFamily="2" charset="-122"/>
              </a:rPr>
              <a:t>)</a:t>
            </a:r>
            <a:r>
              <a:rPr lang="en-US" altLang="x-none" sz="3200" dirty="0">
                <a:ea typeface="宋体" panose="02010600030101010101" pitchFamily="2" charset="-122"/>
              </a:rPr>
              <a:t> B</a:t>
            </a:r>
            <a:r>
              <a:rPr lang="en-US" altLang="x-none" sz="3200" b="0" dirty="0">
                <a:ea typeface="宋体" panose="02010600030101010101" pitchFamily="2" charset="-122"/>
              </a:rPr>
              <a:t>→</a:t>
            </a:r>
            <a:r>
              <a:rPr lang="en-US" altLang="x-none" sz="3200" dirty="0">
                <a:ea typeface="宋体" panose="02010600030101010101" pitchFamily="2" charset="-122"/>
              </a:rPr>
              <a:t>CD,   </a:t>
            </a:r>
            <a:r>
              <a:rPr lang="en-US" altLang="x-none" sz="3200" dirty="0">
                <a:solidFill>
                  <a:srgbClr val="FF0066"/>
                </a:solidFill>
                <a:ea typeface="宋体" panose="02010600030101010101" pitchFamily="2" charset="-122"/>
              </a:rPr>
              <a:t>(f</a:t>
            </a:r>
            <a:r>
              <a:rPr lang="en-US" altLang="x-none" sz="3200" baseline="-25000" dirty="0">
                <a:solidFill>
                  <a:srgbClr val="FF0066"/>
                </a:solidFill>
                <a:ea typeface="宋体" panose="02010600030101010101" pitchFamily="2" charset="-122"/>
              </a:rPr>
              <a:t>2</a:t>
            </a:r>
            <a:r>
              <a:rPr lang="en-US" altLang="x-none" sz="3200" dirty="0">
                <a:solidFill>
                  <a:srgbClr val="FF0066"/>
                </a:solidFill>
                <a:ea typeface="宋体" panose="02010600030101010101" pitchFamily="2" charset="-122"/>
              </a:rPr>
              <a:t>)</a:t>
            </a:r>
            <a:r>
              <a:rPr lang="en-US" altLang="x-none" sz="3200" dirty="0">
                <a:ea typeface="宋体" panose="02010600030101010101" pitchFamily="2" charset="-122"/>
              </a:rPr>
              <a:t> AD</a:t>
            </a:r>
            <a:r>
              <a:rPr lang="en-US" altLang="x-none" sz="3200" b="0" dirty="0">
                <a:ea typeface="宋体" panose="02010600030101010101" pitchFamily="2" charset="-122"/>
              </a:rPr>
              <a:t>→</a:t>
            </a:r>
            <a:r>
              <a:rPr lang="en-US" altLang="x-none" sz="3200" dirty="0">
                <a:ea typeface="宋体" panose="02010600030101010101" pitchFamily="2" charset="-122"/>
              </a:rPr>
              <a:t>E,   </a:t>
            </a:r>
            <a:r>
              <a:rPr lang="en-US" altLang="x-none" sz="3200" dirty="0">
                <a:solidFill>
                  <a:srgbClr val="FF0066"/>
                </a:solidFill>
                <a:ea typeface="宋体" panose="02010600030101010101" pitchFamily="2" charset="-122"/>
              </a:rPr>
              <a:t>(f</a:t>
            </a:r>
            <a:r>
              <a:rPr lang="en-US" altLang="x-none" sz="3200" baseline="-25000" dirty="0">
                <a:solidFill>
                  <a:srgbClr val="FF0066"/>
                </a:solidFill>
                <a:ea typeface="宋体" panose="02010600030101010101" pitchFamily="2" charset="-122"/>
              </a:rPr>
              <a:t>3</a:t>
            </a:r>
            <a:r>
              <a:rPr lang="en-US" altLang="x-none" sz="3200" dirty="0">
                <a:solidFill>
                  <a:srgbClr val="FF0066"/>
                </a:solidFill>
                <a:ea typeface="宋体" panose="02010600030101010101" pitchFamily="2" charset="-122"/>
              </a:rPr>
              <a:t>)</a:t>
            </a:r>
            <a:r>
              <a:rPr lang="en-US" altLang="x-none" sz="3200" dirty="0">
                <a:ea typeface="宋体" panose="02010600030101010101" pitchFamily="2" charset="-122"/>
              </a:rPr>
              <a:t> B</a:t>
            </a:r>
            <a:r>
              <a:rPr lang="en-US" altLang="x-none" sz="3200" b="0" dirty="0">
                <a:ea typeface="宋体" panose="02010600030101010101" pitchFamily="2" charset="-122"/>
              </a:rPr>
              <a:t>→</a:t>
            </a:r>
            <a:r>
              <a:rPr lang="en-US" altLang="x-none" sz="3200" dirty="0">
                <a:ea typeface="宋体" panose="02010600030101010101" pitchFamily="2" charset="-122"/>
              </a:rPr>
              <a:t>A }</a:t>
            </a:r>
          </a:p>
        </p:txBody>
      </p:sp>
      <p:sp>
        <p:nvSpPr>
          <p:cNvPr id="134150" name="Rectangle 4"/>
          <p:cNvSpPr/>
          <p:nvPr/>
        </p:nvSpPr>
        <p:spPr>
          <a:xfrm>
            <a:off x="228600" y="1270000"/>
            <a:ext cx="8686800" cy="5589588"/>
          </a:xfrm>
          <a:prstGeom prst="rect">
            <a:avLst/>
          </a:prstGeom>
          <a:solidFill>
            <a:schemeClr val="bg1"/>
          </a:solidFill>
          <a:ln w="19050" cap="flat" cmpd="sng">
            <a:solidFill>
              <a:schemeClr val="tx1"/>
            </a:solidFill>
            <a:prstDash val="solid"/>
            <a:miter/>
            <a:headEnd type="none" w="med" len="med"/>
            <a:tailEnd type="none" w="med" len="med"/>
          </a:ln>
        </p:spPr>
        <p:txBody>
          <a:bodyPr anchor="t"/>
          <a:lstStyle/>
          <a:p>
            <a:pPr marL="457200" lvl="0" indent="-457200">
              <a:lnSpc>
                <a:spcPct val="110000"/>
              </a:lnSpc>
              <a:spcBef>
                <a:spcPct val="20000"/>
              </a:spcBef>
              <a:buClr>
                <a:schemeClr val="tx1"/>
              </a:buClr>
              <a:buFont typeface="Wingdings" panose="05000000000000000000" pitchFamily="2" charset="2"/>
              <a:buChar char="q"/>
            </a:pPr>
            <a:r>
              <a:rPr lang="en-US" altLang="x-none" sz="3200" b="1" dirty="0">
                <a:solidFill>
                  <a:schemeClr val="accent2"/>
                </a:solidFill>
                <a:latin typeface="Arial" panose="020B0604020202020204" pitchFamily="34" charset="0"/>
                <a:ea typeface="宋体" panose="02010600030101010101" pitchFamily="2" charset="-122"/>
              </a:rPr>
              <a:t>set X = </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B</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baseline="30000"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 = { B }</a:t>
            </a:r>
          </a:p>
          <a:p>
            <a:pPr marL="457200" lvl="0" indent="-457200">
              <a:lnSpc>
                <a:spcPct val="110000"/>
              </a:lnSpc>
              <a:spcBef>
                <a:spcPct val="20000"/>
              </a:spcBef>
              <a:buClr>
                <a:schemeClr val="tx1"/>
              </a:buClr>
              <a:buFont typeface="Wingdings" panose="05000000000000000000" pitchFamily="2" charset="2"/>
              <a:buChar char="q"/>
            </a:pPr>
            <a:r>
              <a:rPr lang="en-US" altLang="x-none" sz="3200" b="1" dirty="0">
                <a:solidFill>
                  <a:srgbClr val="FF0000"/>
                </a:solidFill>
                <a:latin typeface="Arial" panose="020B0604020202020204" pitchFamily="34" charset="0"/>
                <a:ea typeface="宋体" panose="02010600030101010101" pitchFamily="2" charset="-122"/>
              </a:rPr>
              <a:t>first loop</a:t>
            </a:r>
          </a:p>
          <a:p>
            <a:pPr marL="914400" lvl="1" indent="-457200">
              <a:lnSpc>
                <a:spcPct val="110000"/>
              </a:lnSpc>
              <a:spcBef>
                <a:spcPct val="20000"/>
              </a:spcBef>
              <a:buClr>
                <a:schemeClr val="tx1"/>
              </a:buClr>
              <a:buFont typeface="Wingdings" panose="05000000000000000000" pitchFamily="2" charset="2"/>
              <a:buAutoNum type="arabicParenR"/>
            </a:pPr>
            <a:r>
              <a:rPr lang="en-US" altLang="x-none" sz="3200" b="1" dirty="0">
                <a:solidFill>
                  <a:schemeClr val="accent2"/>
                </a:solidFill>
                <a:latin typeface="Arial" panose="020B0604020202020204" pitchFamily="34" charset="0"/>
                <a:ea typeface="宋体" panose="02010600030101010101" pitchFamily="2" charset="-122"/>
              </a:rPr>
              <a:t>the left side of </a:t>
            </a:r>
            <a:r>
              <a:rPr lang="en-US" altLang="x-none" sz="3200" b="1" dirty="0">
                <a:solidFill>
                  <a:srgbClr val="FF0066"/>
                </a:solidFill>
                <a:latin typeface="Arial" panose="020B0604020202020204" pitchFamily="34" charset="0"/>
                <a:ea typeface="宋体" panose="02010600030101010101" pitchFamily="2" charset="-122"/>
              </a:rPr>
              <a:t>f</a:t>
            </a:r>
            <a:r>
              <a:rPr lang="en-US" altLang="x-none" sz="3200" b="1" baseline="-25000" dirty="0">
                <a:solidFill>
                  <a:srgbClr val="FF0066"/>
                </a:solidFill>
                <a:latin typeface="Arial" panose="020B0604020202020204" pitchFamily="34" charset="0"/>
                <a:ea typeface="宋体" panose="02010600030101010101" pitchFamily="2" charset="-122"/>
              </a:rPr>
              <a:t>1</a:t>
            </a:r>
            <a:r>
              <a:rPr lang="en-US" altLang="x-none" sz="3200" b="1" dirty="0">
                <a:solidFill>
                  <a:schemeClr val="accent2"/>
                </a:solidFill>
                <a:latin typeface="Arial" panose="020B0604020202020204" pitchFamily="34" charset="0"/>
                <a:ea typeface="宋体" panose="02010600030101010101" pitchFamily="2" charset="-122"/>
              </a:rPr>
              <a:t> is a subset of </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B</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baseline="30000"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 then</a:t>
            </a:r>
            <a:r>
              <a:rPr lang="zh-CN" altLang="en-US" sz="3200" b="1" dirty="0">
                <a:solidFill>
                  <a:schemeClr val="accent2"/>
                </a:solidFill>
                <a:latin typeface="Arial" panose="020B0604020202020204" pitchFamily="34" charset="0"/>
                <a:ea typeface="宋体" panose="02010600030101010101" pitchFamily="2" charset="-122"/>
              </a:rPr>
              <a:t> {</a:t>
            </a:r>
            <a:r>
              <a:rPr lang="en-US" altLang="x-none" sz="3200" b="1" dirty="0">
                <a:solidFill>
                  <a:schemeClr val="accent2"/>
                </a:solidFill>
                <a:latin typeface="Arial" panose="020B0604020202020204" pitchFamily="34" charset="0"/>
                <a:ea typeface="宋体" panose="02010600030101010101" pitchFamily="2" charset="-122"/>
              </a:rPr>
              <a:t>B</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baseline="30000" dirty="0">
                <a:solidFill>
                  <a:schemeClr val="accent2"/>
                </a:solidFill>
                <a:latin typeface="Arial" panose="020B0604020202020204" pitchFamily="34" charset="0"/>
                <a:ea typeface="宋体" panose="02010600030101010101" pitchFamily="2" charset="-122"/>
              </a:rPr>
              <a:t>+</a:t>
            </a:r>
            <a:r>
              <a:rPr lang="zh-CN" altLang="en-US" sz="3200" b="1" dirty="0">
                <a:solidFill>
                  <a:schemeClr val="accent2"/>
                </a:solidFill>
                <a:latin typeface="Arial" panose="020B0604020202020204" pitchFamily="34" charset="0"/>
                <a:ea typeface="宋体" panose="02010600030101010101" pitchFamily="2" charset="-122"/>
              </a:rPr>
              <a:t> </a:t>
            </a:r>
            <a:r>
              <a:rPr lang="en-US" altLang="x-none" sz="3200" b="1" dirty="0">
                <a:solidFill>
                  <a:schemeClr val="accent2"/>
                </a:solidFill>
                <a:latin typeface="Arial" panose="020B0604020202020204" pitchFamily="34" charset="0"/>
                <a:ea typeface="宋体" panose="02010600030101010101" pitchFamily="2" charset="-122"/>
              </a:rPr>
              <a:t>=</a:t>
            </a:r>
            <a:r>
              <a:rPr lang="zh-CN" altLang="en-US" sz="3200" b="1" dirty="0">
                <a:solidFill>
                  <a:schemeClr val="accent2"/>
                </a:solidFill>
                <a:latin typeface="Arial" panose="020B0604020202020204" pitchFamily="34" charset="0"/>
                <a:ea typeface="宋体" panose="02010600030101010101" pitchFamily="2" charset="-122"/>
              </a:rPr>
              <a:t> {</a:t>
            </a:r>
            <a:r>
              <a:rPr lang="en-US" altLang="x-none" sz="3200" b="1" dirty="0">
                <a:solidFill>
                  <a:schemeClr val="accent2"/>
                </a:solidFill>
                <a:latin typeface="Arial" panose="020B0604020202020204" pitchFamily="34" charset="0"/>
                <a:ea typeface="宋体" panose="02010600030101010101" pitchFamily="2" charset="-122"/>
              </a:rPr>
              <a:t>B</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baseline="30000"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 union {C</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D}={B</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C</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D}</a:t>
            </a:r>
          </a:p>
          <a:p>
            <a:pPr marL="914400" lvl="1" indent="-457200">
              <a:lnSpc>
                <a:spcPct val="110000"/>
              </a:lnSpc>
              <a:spcBef>
                <a:spcPct val="20000"/>
              </a:spcBef>
              <a:buClr>
                <a:schemeClr val="tx1"/>
              </a:buClr>
              <a:buFont typeface="Wingdings" panose="05000000000000000000" pitchFamily="2" charset="2"/>
              <a:buAutoNum type="arabicParenR" startAt="2"/>
            </a:pPr>
            <a:r>
              <a:rPr lang="en-US" altLang="x-none" sz="3200" b="1" dirty="0">
                <a:solidFill>
                  <a:schemeClr val="accent2"/>
                </a:solidFill>
                <a:latin typeface="Arial" panose="020B0604020202020204" pitchFamily="34" charset="0"/>
                <a:ea typeface="宋体" panose="02010600030101010101" pitchFamily="2" charset="-122"/>
              </a:rPr>
              <a:t>the left side of </a:t>
            </a:r>
            <a:r>
              <a:rPr lang="en-US" altLang="x-none" sz="3200" b="1" dirty="0">
                <a:solidFill>
                  <a:srgbClr val="FF0066"/>
                </a:solidFill>
                <a:latin typeface="Arial" panose="020B0604020202020204" pitchFamily="34" charset="0"/>
                <a:ea typeface="宋体" panose="02010600030101010101" pitchFamily="2" charset="-122"/>
              </a:rPr>
              <a:t>f</a:t>
            </a:r>
            <a:r>
              <a:rPr lang="en-US" altLang="x-none" sz="3200" b="1" baseline="-25000" dirty="0">
                <a:solidFill>
                  <a:srgbClr val="FF0066"/>
                </a:solidFill>
                <a:latin typeface="Arial" panose="020B0604020202020204" pitchFamily="34" charset="0"/>
                <a:ea typeface="宋体" panose="02010600030101010101" pitchFamily="2" charset="-122"/>
              </a:rPr>
              <a:t>2</a:t>
            </a:r>
            <a:r>
              <a:rPr lang="en-US" altLang="x-none" sz="3200" b="1" dirty="0">
                <a:solidFill>
                  <a:schemeClr val="accent2"/>
                </a:solidFill>
                <a:latin typeface="Arial" panose="020B0604020202020204" pitchFamily="34" charset="0"/>
                <a:ea typeface="宋体" panose="02010600030101010101" pitchFamily="2" charset="-122"/>
              </a:rPr>
              <a:t> is</a:t>
            </a:r>
            <a:r>
              <a:rPr lang="zh-CN" altLang="en-US" sz="3200" b="1" dirty="0">
                <a:solidFill>
                  <a:schemeClr val="accent2"/>
                </a:solidFill>
                <a:latin typeface="Arial" panose="020B0604020202020204" pitchFamily="34" charset="0"/>
                <a:ea typeface="宋体" panose="02010600030101010101" pitchFamily="2" charset="-122"/>
              </a:rPr>
              <a:t>n</a:t>
            </a:r>
            <a:r>
              <a:rPr lang="en-US" altLang="x-none" sz="3200" b="1" dirty="0">
                <a:solidFill>
                  <a:schemeClr val="accent2"/>
                </a:solidFill>
                <a:latin typeface="Arial" panose="020B0604020202020204" pitchFamily="34" charset="0"/>
                <a:ea typeface="宋体" panose="02010600030101010101" pitchFamily="2" charset="-122"/>
              </a:rPr>
              <a:t>’</a:t>
            </a:r>
            <a:r>
              <a:rPr lang="zh-CN" altLang="en-US" sz="3200" b="1" dirty="0">
                <a:solidFill>
                  <a:schemeClr val="accent2"/>
                </a:solidFill>
                <a:latin typeface="Arial" panose="020B0604020202020204" pitchFamily="34" charset="0"/>
                <a:ea typeface="宋体" panose="02010600030101010101" pitchFamily="2" charset="-122"/>
              </a:rPr>
              <a:t>t</a:t>
            </a:r>
            <a:r>
              <a:rPr lang="en-US" altLang="x-none" sz="3200" b="1" dirty="0">
                <a:solidFill>
                  <a:schemeClr val="accent2"/>
                </a:solidFill>
                <a:latin typeface="Arial" panose="020B0604020202020204" pitchFamily="34" charset="0"/>
                <a:ea typeface="宋体" panose="02010600030101010101" pitchFamily="2" charset="-122"/>
              </a:rPr>
              <a:t> a subset of </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B</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baseline="30000" dirty="0">
                <a:solidFill>
                  <a:schemeClr val="accent2"/>
                </a:solidFill>
                <a:latin typeface="Arial" panose="020B0604020202020204" pitchFamily="34" charset="0"/>
                <a:ea typeface="宋体" panose="02010600030101010101" pitchFamily="2" charset="-122"/>
              </a:rPr>
              <a:t>+ </a:t>
            </a:r>
            <a:r>
              <a:rPr lang="en-US" altLang="x-none" sz="3200" b="1" dirty="0">
                <a:solidFill>
                  <a:schemeClr val="accent2"/>
                </a:solidFill>
                <a:latin typeface="Arial" panose="020B0604020202020204" pitchFamily="34" charset="0"/>
                <a:ea typeface="宋体" panose="02010600030101010101" pitchFamily="2" charset="-122"/>
              </a:rPr>
              <a:t>, then </a:t>
            </a:r>
            <a:r>
              <a:rPr lang="en-US" altLang="x-none" sz="3200" b="1" dirty="0">
                <a:solidFill>
                  <a:srgbClr val="FF0066"/>
                </a:solidFill>
                <a:latin typeface="Arial" panose="020B0604020202020204" pitchFamily="34" charset="0"/>
                <a:ea typeface="宋体" panose="02010600030101010101" pitchFamily="2" charset="-122"/>
              </a:rPr>
              <a:t>f</a:t>
            </a:r>
            <a:r>
              <a:rPr lang="en-US" altLang="x-none" sz="3200" b="1" baseline="-25000" dirty="0">
                <a:solidFill>
                  <a:srgbClr val="FF0066"/>
                </a:solidFill>
                <a:latin typeface="Arial" panose="020B0604020202020204" pitchFamily="34" charset="0"/>
                <a:ea typeface="宋体" panose="02010600030101010101" pitchFamily="2" charset="-122"/>
              </a:rPr>
              <a:t>2</a:t>
            </a:r>
            <a:r>
              <a:rPr lang="en-US" altLang="x-none" sz="3200" b="1" dirty="0">
                <a:solidFill>
                  <a:schemeClr val="accent2"/>
                </a:solidFill>
                <a:latin typeface="Arial" panose="020B0604020202020204" pitchFamily="34" charset="0"/>
                <a:ea typeface="宋体" panose="02010600030101010101" pitchFamily="2" charset="-122"/>
              </a:rPr>
              <a:t> does not apply at this time</a:t>
            </a:r>
          </a:p>
          <a:p>
            <a:pPr marL="914400" lvl="1" indent="-457200">
              <a:lnSpc>
                <a:spcPct val="110000"/>
              </a:lnSpc>
              <a:spcBef>
                <a:spcPct val="20000"/>
              </a:spcBef>
              <a:buClr>
                <a:schemeClr val="tx1"/>
              </a:buClr>
              <a:buFont typeface="Wingdings" panose="05000000000000000000" pitchFamily="2" charset="2"/>
              <a:buAutoNum type="arabicParenR" startAt="3"/>
            </a:pPr>
            <a:r>
              <a:rPr lang="en-US" altLang="x-none" sz="3200" b="1" dirty="0">
                <a:solidFill>
                  <a:schemeClr val="accent2"/>
                </a:solidFill>
                <a:latin typeface="Arial" panose="020B0604020202020204" pitchFamily="34" charset="0"/>
                <a:ea typeface="宋体" panose="02010600030101010101" pitchFamily="2" charset="-122"/>
              </a:rPr>
              <a:t>the left side of </a:t>
            </a:r>
            <a:r>
              <a:rPr lang="en-US" altLang="x-none" sz="3200" b="1" dirty="0">
                <a:solidFill>
                  <a:srgbClr val="FF0066"/>
                </a:solidFill>
                <a:latin typeface="Arial" panose="020B0604020202020204" pitchFamily="34" charset="0"/>
                <a:ea typeface="宋体" panose="02010600030101010101" pitchFamily="2" charset="-122"/>
              </a:rPr>
              <a:t>f</a:t>
            </a:r>
            <a:r>
              <a:rPr lang="en-US" altLang="x-none" sz="3200" b="1" baseline="-25000" dirty="0">
                <a:solidFill>
                  <a:srgbClr val="FF0066"/>
                </a:solidFill>
                <a:latin typeface="Arial" panose="020B0604020202020204" pitchFamily="34" charset="0"/>
                <a:ea typeface="宋体" panose="02010600030101010101" pitchFamily="2" charset="-122"/>
              </a:rPr>
              <a:t>3</a:t>
            </a:r>
            <a:r>
              <a:rPr lang="en-US" altLang="x-none" sz="3200" b="1" dirty="0">
                <a:solidFill>
                  <a:schemeClr val="accent2"/>
                </a:solidFill>
                <a:latin typeface="Arial" panose="020B0604020202020204" pitchFamily="34" charset="0"/>
                <a:ea typeface="宋体" panose="02010600030101010101" pitchFamily="2" charset="-122"/>
              </a:rPr>
              <a:t> is a subset of </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B</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baseline="30000"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 then</a:t>
            </a:r>
            <a:r>
              <a:rPr lang="zh-CN" altLang="en-US" sz="3200" b="1" dirty="0">
                <a:solidFill>
                  <a:schemeClr val="accent2"/>
                </a:solidFill>
                <a:latin typeface="Arial" panose="020B0604020202020204" pitchFamily="34" charset="0"/>
                <a:ea typeface="宋体" panose="02010600030101010101" pitchFamily="2" charset="-122"/>
              </a:rPr>
              <a:t> {</a:t>
            </a:r>
            <a:r>
              <a:rPr lang="en-US" altLang="x-none" sz="3200" b="1" dirty="0">
                <a:solidFill>
                  <a:schemeClr val="accent2"/>
                </a:solidFill>
                <a:latin typeface="Arial" panose="020B0604020202020204" pitchFamily="34" charset="0"/>
                <a:ea typeface="宋体" panose="02010600030101010101" pitchFamily="2" charset="-122"/>
              </a:rPr>
              <a:t>B</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baseline="30000"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 = </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B</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baseline="30000"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 union {A} = {A</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B</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C</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D}</a:t>
            </a:r>
          </a:p>
          <a:p>
            <a:pPr marL="914400" lvl="1" indent="-457200">
              <a:lnSpc>
                <a:spcPct val="110000"/>
              </a:lnSpc>
              <a:spcBef>
                <a:spcPct val="20000"/>
              </a:spcBef>
              <a:buClr>
                <a:schemeClr val="tx1"/>
              </a:buClr>
              <a:buFont typeface="Wingdings" panose="05000000000000000000" pitchFamily="2" charset="2"/>
              <a:buAutoNum type="arabicParenR" startAt="3"/>
            </a:pPr>
            <a:r>
              <a:rPr lang="en-US" altLang="x-none" sz="3200" b="1" dirty="0">
                <a:solidFill>
                  <a:schemeClr val="accent2"/>
                </a:solidFill>
                <a:latin typeface="Arial" panose="020B0604020202020204" pitchFamily="34" charset="0"/>
                <a:ea typeface="宋体" panose="02010600030101010101" pitchFamily="2" charset="-122"/>
              </a:rPr>
              <a:t>X </a:t>
            </a:r>
            <a:r>
              <a:rPr lang="en-US" altLang="x-none" sz="3200" b="1" dirty="0">
                <a:solidFill>
                  <a:schemeClr val="accent2"/>
                </a:solidFill>
                <a:latin typeface="Arial" panose="020B0604020202020204" pitchFamily="34" charset="0"/>
                <a:ea typeface="宋体" panose="02010600030101010101" pitchFamily="2" charset="-122"/>
                <a:sym typeface="Symbol" panose="05050102010706020507" pitchFamily="2" charset="2"/>
              </a:rPr>
              <a:t> </a:t>
            </a:r>
            <a:r>
              <a:rPr lang="zh-CN" altLang="en-US" sz="3200" b="1"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3200" b="1" dirty="0">
                <a:solidFill>
                  <a:schemeClr val="accent2"/>
                </a:solidFill>
                <a:latin typeface="Arial" panose="020B0604020202020204" pitchFamily="34" charset="0"/>
                <a:ea typeface="宋体" panose="02010600030101010101" pitchFamily="2" charset="-122"/>
              </a:rPr>
              <a:t>B</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baseline="30000"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sym typeface="Symbol" panose="05050102010706020507" pitchFamily="2" charset="2"/>
              </a:rPr>
              <a:t>, go to step 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4150">
                                            <p:bg/>
                                          </p:spTgt>
                                        </p:tgtEl>
                                        <p:attrNameLst>
                                          <p:attrName>style.visibility</p:attrName>
                                        </p:attrNameLst>
                                      </p:cBhvr>
                                      <p:to>
                                        <p:strVal val="visible"/>
                                      </p:to>
                                    </p:set>
                                    <p:animEffect transition="in" filter="blinds(horizontal)">
                                      <p:cBhvr>
                                        <p:cTn id="7" dur="500"/>
                                        <p:tgtEl>
                                          <p:spTgt spid="134150">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4150">
                                            <p:txEl>
                                              <p:pRg st="0" end="0"/>
                                            </p:txEl>
                                          </p:spTgt>
                                        </p:tgtEl>
                                        <p:attrNameLst>
                                          <p:attrName>style.visibility</p:attrName>
                                        </p:attrNameLst>
                                      </p:cBhvr>
                                      <p:to>
                                        <p:strVal val="visible"/>
                                      </p:to>
                                    </p:set>
                                    <p:animEffect transition="in" filter="blinds(horizontal)">
                                      <p:cBhvr>
                                        <p:cTn id="12" dur="500"/>
                                        <p:tgtEl>
                                          <p:spTgt spid="13415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4150">
                                            <p:txEl>
                                              <p:pRg st="1" end="1"/>
                                            </p:txEl>
                                          </p:spTgt>
                                        </p:tgtEl>
                                        <p:attrNameLst>
                                          <p:attrName>style.visibility</p:attrName>
                                        </p:attrNameLst>
                                      </p:cBhvr>
                                      <p:to>
                                        <p:strVal val="visible"/>
                                      </p:to>
                                    </p:set>
                                    <p:animEffect transition="in" filter="blinds(horizontal)">
                                      <p:cBhvr>
                                        <p:cTn id="17" dur="500"/>
                                        <p:tgtEl>
                                          <p:spTgt spid="134150">
                                            <p:txEl>
                                              <p:pRg st="1" end="1"/>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134150">
                                            <p:txEl>
                                              <p:pRg st="2" end="2"/>
                                            </p:txEl>
                                          </p:spTgt>
                                        </p:tgtEl>
                                        <p:attrNameLst>
                                          <p:attrName>style.visibility</p:attrName>
                                        </p:attrNameLst>
                                      </p:cBhvr>
                                      <p:to>
                                        <p:strVal val="visible"/>
                                      </p:to>
                                    </p:set>
                                    <p:animEffect transition="in" filter="blinds(horizontal)">
                                      <p:cBhvr>
                                        <p:cTn id="20" dur="500"/>
                                        <p:tgtEl>
                                          <p:spTgt spid="134150">
                                            <p:txEl>
                                              <p:pRg st="2" end="2"/>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34150">
                                            <p:txEl>
                                              <p:pRg st="3" end="3"/>
                                            </p:txEl>
                                          </p:spTgt>
                                        </p:tgtEl>
                                        <p:attrNameLst>
                                          <p:attrName>style.visibility</p:attrName>
                                        </p:attrNameLst>
                                      </p:cBhvr>
                                      <p:to>
                                        <p:strVal val="visible"/>
                                      </p:to>
                                    </p:set>
                                    <p:animEffect transition="in" filter="blinds(horizontal)">
                                      <p:cBhvr>
                                        <p:cTn id="23" dur="500"/>
                                        <p:tgtEl>
                                          <p:spTgt spid="134150">
                                            <p:txEl>
                                              <p:pRg st="3" end="3"/>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34150">
                                            <p:txEl>
                                              <p:pRg st="4" end="4"/>
                                            </p:txEl>
                                          </p:spTgt>
                                        </p:tgtEl>
                                        <p:attrNameLst>
                                          <p:attrName>style.visibility</p:attrName>
                                        </p:attrNameLst>
                                      </p:cBhvr>
                                      <p:to>
                                        <p:strVal val="visible"/>
                                      </p:to>
                                    </p:set>
                                    <p:animEffect transition="in" filter="blinds(horizontal)">
                                      <p:cBhvr>
                                        <p:cTn id="26" dur="500"/>
                                        <p:tgtEl>
                                          <p:spTgt spid="134150">
                                            <p:txEl>
                                              <p:pRg st="4" end="4"/>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134150">
                                            <p:txEl>
                                              <p:pRg st="5" end="5"/>
                                            </p:txEl>
                                          </p:spTgt>
                                        </p:tgtEl>
                                        <p:attrNameLst>
                                          <p:attrName>style.visibility</p:attrName>
                                        </p:attrNameLst>
                                      </p:cBhvr>
                                      <p:to>
                                        <p:strVal val="visible"/>
                                      </p:to>
                                    </p:set>
                                    <p:animEffect transition="in" filter="blinds(horizontal)">
                                      <p:cBhvr>
                                        <p:cTn id="29" dur="500"/>
                                        <p:tgtEl>
                                          <p:spTgt spid="13415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50" grpId="0" uiExpand="1" build="p"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3" name="Rectangle 3"/>
          <p:cNvSpPr/>
          <p:nvPr/>
        </p:nvSpPr>
        <p:spPr>
          <a:xfrm>
            <a:off x="1588" y="-19050"/>
            <a:ext cx="9144000" cy="6834188"/>
          </a:xfrm>
          <a:prstGeom prst="rect">
            <a:avLst/>
          </a:prstGeom>
          <a:solidFill>
            <a:schemeClr val="bg1"/>
          </a:solidFill>
          <a:ln w="19050" cap="flat" cmpd="sng">
            <a:solidFill>
              <a:schemeClr val="tx1"/>
            </a:solidFill>
            <a:prstDash val="solid"/>
            <a:miter/>
            <a:headEnd type="none" w="med" len="med"/>
            <a:tailEnd type="none" w="med" len="med"/>
          </a:ln>
        </p:spPr>
        <p:txBody>
          <a:bodyPr anchor="t"/>
          <a:lstStyle/>
          <a:p>
            <a:pPr marL="457200" lvl="0" indent="-457200">
              <a:spcBef>
                <a:spcPct val="20000"/>
              </a:spcBef>
              <a:buClr>
                <a:schemeClr val="tx1"/>
              </a:buClr>
              <a:buFont typeface="Wingdings" panose="05000000000000000000" pitchFamily="2" charset="2"/>
              <a:buChar char="q"/>
            </a:pPr>
            <a:r>
              <a:rPr lang="en-US" altLang="x-none" sz="3200" b="1" dirty="0">
                <a:solidFill>
                  <a:srgbClr val="FF0000"/>
                </a:solidFill>
                <a:latin typeface="Arial" panose="020B0604020202020204" pitchFamily="34" charset="0"/>
                <a:ea typeface="宋体" panose="02010600030101010101" pitchFamily="2" charset="-122"/>
              </a:rPr>
              <a:t>second loop</a:t>
            </a:r>
          </a:p>
          <a:p>
            <a:pPr marL="914400" lvl="1" indent="-457200">
              <a:spcBef>
                <a:spcPct val="20000"/>
              </a:spcBef>
              <a:buClr>
                <a:schemeClr val="tx1"/>
              </a:buClr>
              <a:buFont typeface="Wingdings" panose="05000000000000000000" pitchFamily="2" charset="2"/>
              <a:buAutoNum type="arabicParenR"/>
            </a:pPr>
            <a:r>
              <a:rPr lang="en-US" altLang="x-none" sz="3200" b="1" dirty="0">
                <a:solidFill>
                  <a:schemeClr val="accent2"/>
                </a:solidFill>
                <a:latin typeface="Arial" panose="020B0604020202020204" pitchFamily="34" charset="0"/>
                <a:ea typeface="宋体" panose="02010600030101010101" pitchFamily="2" charset="-122"/>
              </a:rPr>
              <a:t>X = </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B</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baseline="30000"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 = { A</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B</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C</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D }</a:t>
            </a:r>
          </a:p>
          <a:p>
            <a:pPr marL="914400" lvl="1" indent="-457200">
              <a:spcBef>
                <a:spcPct val="20000"/>
              </a:spcBef>
              <a:buClr>
                <a:schemeClr val="tx1"/>
              </a:buClr>
              <a:buFont typeface="Wingdings" panose="05000000000000000000" pitchFamily="2" charset="2"/>
              <a:buAutoNum type="arabicParenR" startAt="2"/>
            </a:pPr>
            <a:r>
              <a:rPr lang="en-US" altLang="x-none" sz="3200" b="1" dirty="0">
                <a:solidFill>
                  <a:schemeClr val="accent2"/>
                </a:solidFill>
                <a:latin typeface="Arial" panose="020B0604020202020204" pitchFamily="34" charset="0"/>
                <a:ea typeface="宋体" panose="02010600030101010101" pitchFamily="2" charset="-122"/>
              </a:rPr>
              <a:t>skip the FDs that have been applied</a:t>
            </a:r>
          </a:p>
          <a:p>
            <a:pPr marL="914400" lvl="1" indent="-457200">
              <a:spcBef>
                <a:spcPct val="20000"/>
              </a:spcBef>
              <a:buClr>
                <a:schemeClr val="tx1"/>
              </a:buClr>
              <a:buFont typeface="Wingdings" panose="05000000000000000000" pitchFamily="2" charset="2"/>
              <a:buAutoNum type="arabicParenR" startAt="2"/>
            </a:pPr>
            <a:r>
              <a:rPr lang="en-US" altLang="x-none" sz="3200" b="1" dirty="0">
                <a:solidFill>
                  <a:schemeClr val="accent2"/>
                </a:solidFill>
                <a:latin typeface="Arial" panose="020B0604020202020204" pitchFamily="34" charset="0"/>
                <a:ea typeface="宋体" panose="02010600030101010101" pitchFamily="2" charset="-122"/>
              </a:rPr>
              <a:t>the left side of </a:t>
            </a:r>
            <a:r>
              <a:rPr lang="en-US" altLang="x-none" sz="3200" b="1" dirty="0">
                <a:solidFill>
                  <a:srgbClr val="FF0066"/>
                </a:solidFill>
                <a:latin typeface="Arial" panose="020B0604020202020204" pitchFamily="34" charset="0"/>
                <a:ea typeface="宋体" panose="02010600030101010101" pitchFamily="2" charset="-122"/>
              </a:rPr>
              <a:t>f</a:t>
            </a:r>
            <a:r>
              <a:rPr lang="en-US" altLang="x-none" sz="3200" b="1" baseline="-25000" dirty="0">
                <a:solidFill>
                  <a:srgbClr val="FF0066"/>
                </a:solidFill>
                <a:latin typeface="Arial" panose="020B0604020202020204" pitchFamily="34" charset="0"/>
                <a:ea typeface="宋体" panose="02010600030101010101" pitchFamily="2" charset="-122"/>
              </a:rPr>
              <a:t>2</a:t>
            </a:r>
            <a:r>
              <a:rPr lang="en-US" altLang="x-none" sz="3200" b="1" dirty="0">
                <a:solidFill>
                  <a:schemeClr val="accent2"/>
                </a:solidFill>
                <a:latin typeface="Arial" panose="020B0604020202020204" pitchFamily="34" charset="0"/>
                <a:ea typeface="宋体" panose="02010600030101010101" pitchFamily="2" charset="-122"/>
              </a:rPr>
              <a:t> is a subset of </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B</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baseline="30000" dirty="0">
                <a:solidFill>
                  <a:schemeClr val="accent2"/>
                </a:solidFill>
                <a:latin typeface="Arial" panose="020B0604020202020204" pitchFamily="34" charset="0"/>
                <a:ea typeface="宋体" panose="02010600030101010101" pitchFamily="2" charset="-122"/>
              </a:rPr>
              <a:t>+ </a:t>
            </a:r>
            <a:r>
              <a:rPr lang="en-US" altLang="x-none" sz="3200" b="1" dirty="0">
                <a:solidFill>
                  <a:schemeClr val="accent2"/>
                </a:solidFill>
                <a:latin typeface="Arial" panose="020B0604020202020204" pitchFamily="34" charset="0"/>
                <a:ea typeface="宋体" panose="02010600030101010101" pitchFamily="2" charset="-122"/>
              </a:rPr>
              <a:t>, then</a:t>
            </a:r>
          </a:p>
          <a:p>
            <a:pPr marL="1143000" lvl="2" indent="-228600">
              <a:spcBef>
                <a:spcPct val="20000"/>
              </a:spcBef>
              <a:buClr>
                <a:schemeClr val="tx1"/>
              </a:buClr>
              <a:buFont typeface="Wingdings" panose="05000000000000000000" pitchFamily="2" charset="2"/>
              <a:buNone/>
            </a:pP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B</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baseline="30000"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 = </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B</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baseline="30000"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 union {E} = {A</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B</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C</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D</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E}</a:t>
            </a:r>
          </a:p>
          <a:p>
            <a:pPr marL="914400" lvl="1" indent="-457200">
              <a:spcBef>
                <a:spcPct val="20000"/>
              </a:spcBef>
              <a:buClr>
                <a:schemeClr val="tx1"/>
              </a:buClr>
              <a:buFont typeface="Wingdings" panose="05000000000000000000" pitchFamily="2" charset="2"/>
              <a:buAutoNum type="arabicParenR" startAt="4"/>
            </a:pPr>
            <a:r>
              <a:rPr lang="en-US" altLang="x-none" sz="3200" b="1" dirty="0">
                <a:solidFill>
                  <a:schemeClr val="accent2"/>
                </a:solidFill>
                <a:latin typeface="Arial" panose="020B0604020202020204" pitchFamily="34" charset="0"/>
                <a:ea typeface="宋体" panose="02010600030101010101" pitchFamily="2" charset="-122"/>
              </a:rPr>
              <a:t>X </a:t>
            </a:r>
            <a:r>
              <a:rPr lang="en-US" altLang="x-none" sz="3200" b="1" dirty="0">
                <a:solidFill>
                  <a:schemeClr val="accent2"/>
                </a:solidFill>
                <a:latin typeface="Arial" panose="020B0604020202020204" pitchFamily="34" charset="0"/>
                <a:ea typeface="宋体" panose="02010600030101010101" pitchFamily="2" charset="-122"/>
                <a:sym typeface="Symbol" panose="05050102010706020507" pitchFamily="2" charset="2"/>
              </a:rPr>
              <a:t> </a:t>
            </a:r>
            <a:r>
              <a:rPr lang="zh-CN" altLang="en-US" sz="3200" b="1"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3200" b="1" dirty="0">
                <a:solidFill>
                  <a:schemeClr val="accent2"/>
                </a:solidFill>
                <a:latin typeface="Arial" panose="020B0604020202020204" pitchFamily="34" charset="0"/>
                <a:ea typeface="宋体" panose="02010600030101010101" pitchFamily="2" charset="-122"/>
              </a:rPr>
              <a:t>B</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baseline="30000"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sym typeface="Symbol" panose="05050102010706020507" pitchFamily="2" charset="2"/>
              </a:rPr>
              <a:t>, go to step b)</a:t>
            </a:r>
          </a:p>
          <a:p>
            <a:pPr marL="457200" lvl="0" indent="-457200">
              <a:spcBef>
                <a:spcPct val="20000"/>
              </a:spcBef>
              <a:buClr>
                <a:schemeClr val="tx1"/>
              </a:buClr>
              <a:buFont typeface="Wingdings" panose="05000000000000000000" pitchFamily="2" charset="2"/>
              <a:buChar char="q"/>
            </a:pPr>
            <a:r>
              <a:rPr lang="en-US" altLang="x-none" sz="3200" b="1" dirty="0">
                <a:solidFill>
                  <a:srgbClr val="FF0000"/>
                </a:solidFill>
                <a:latin typeface="Arial" panose="020B0604020202020204" pitchFamily="34" charset="0"/>
                <a:ea typeface="宋体" panose="02010600030101010101" pitchFamily="2" charset="-122"/>
                <a:sym typeface="Symbol" panose="05050102010706020507" pitchFamily="2" charset="2"/>
              </a:rPr>
              <a:t>third loop</a:t>
            </a:r>
          </a:p>
          <a:p>
            <a:pPr marL="914400" lvl="1" indent="-457200">
              <a:spcBef>
                <a:spcPct val="20000"/>
              </a:spcBef>
              <a:buClr>
                <a:schemeClr val="tx1"/>
              </a:buClr>
              <a:buFont typeface="Wingdings" panose="05000000000000000000" pitchFamily="2" charset="2"/>
              <a:buAutoNum type="arabicParenR"/>
            </a:pPr>
            <a:r>
              <a:rPr lang="en-US" altLang="x-none" sz="3200" b="1" dirty="0">
                <a:solidFill>
                  <a:schemeClr val="accent2"/>
                </a:solidFill>
                <a:latin typeface="Arial" panose="020B0604020202020204" pitchFamily="34" charset="0"/>
                <a:ea typeface="宋体" panose="02010600030101010101" pitchFamily="2" charset="-122"/>
                <a:sym typeface="Symbol" panose="05050102010706020507" pitchFamily="2" charset="2"/>
              </a:rPr>
              <a:t>X = </a:t>
            </a:r>
            <a:r>
              <a:rPr lang="zh-CN" altLang="en-US" sz="3200" b="1"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3200" b="1" dirty="0">
                <a:solidFill>
                  <a:schemeClr val="accent2"/>
                </a:solidFill>
                <a:latin typeface="Arial" panose="020B0604020202020204" pitchFamily="34" charset="0"/>
                <a:ea typeface="宋体" panose="02010600030101010101" pitchFamily="2" charset="-122"/>
              </a:rPr>
              <a:t>B</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baseline="30000" dirty="0">
                <a:solidFill>
                  <a:schemeClr val="accent2"/>
                </a:solidFill>
                <a:latin typeface="Arial" panose="020B0604020202020204" pitchFamily="34" charset="0"/>
                <a:ea typeface="宋体" panose="02010600030101010101" pitchFamily="2" charset="-122"/>
              </a:rPr>
              <a:t>+ </a:t>
            </a:r>
            <a:r>
              <a:rPr lang="en-US" altLang="x-none" sz="3200" b="1" dirty="0">
                <a:solidFill>
                  <a:schemeClr val="accent2"/>
                </a:solidFill>
                <a:latin typeface="Arial" panose="020B0604020202020204" pitchFamily="34" charset="0"/>
                <a:ea typeface="宋体" panose="02010600030101010101" pitchFamily="2" charset="-122"/>
              </a:rPr>
              <a:t>= {A</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B</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C</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D</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E}</a:t>
            </a:r>
            <a:endParaRPr lang="en-US" altLang="x-none" sz="3200" b="1" dirty="0">
              <a:solidFill>
                <a:schemeClr val="accent2"/>
              </a:solidFill>
              <a:latin typeface="Arial" panose="020B0604020202020204" pitchFamily="34" charset="0"/>
              <a:ea typeface="宋体" panose="02010600030101010101" pitchFamily="2" charset="-122"/>
              <a:sym typeface="Symbol" panose="05050102010706020507" pitchFamily="2" charset="2"/>
            </a:endParaRPr>
          </a:p>
          <a:p>
            <a:pPr marL="914400" lvl="1" indent="-457200">
              <a:spcBef>
                <a:spcPct val="20000"/>
              </a:spcBef>
              <a:buClr>
                <a:schemeClr val="tx1"/>
              </a:buClr>
              <a:buFont typeface="Wingdings" panose="05000000000000000000" pitchFamily="2" charset="2"/>
              <a:buAutoNum type="arabicParenR"/>
            </a:pPr>
            <a:r>
              <a:rPr lang="en-US" altLang="x-none" sz="3200" b="1" dirty="0">
                <a:solidFill>
                  <a:schemeClr val="accent2"/>
                </a:solidFill>
                <a:latin typeface="Arial" panose="020B0604020202020204" pitchFamily="34" charset="0"/>
                <a:ea typeface="宋体" panose="02010600030101010101" pitchFamily="2" charset="-122"/>
              </a:rPr>
              <a:t>loop through FDs in F again</a:t>
            </a:r>
          </a:p>
          <a:p>
            <a:pPr marL="914400" lvl="1" indent="-457200">
              <a:spcBef>
                <a:spcPct val="20000"/>
              </a:spcBef>
              <a:buClr>
                <a:schemeClr val="tx1"/>
              </a:buClr>
              <a:buFont typeface="Wingdings" panose="05000000000000000000" pitchFamily="2" charset="2"/>
              <a:buAutoNum type="arabicParenR"/>
            </a:pPr>
            <a:r>
              <a:rPr lang="en-US" altLang="x-none" sz="3200" b="1" dirty="0">
                <a:solidFill>
                  <a:schemeClr val="accent2"/>
                </a:solidFill>
                <a:latin typeface="Arial" panose="020B0604020202020204" pitchFamily="34" charset="0"/>
                <a:ea typeface="宋体" panose="02010600030101010101" pitchFamily="2" charset="-122"/>
              </a:rPr>
              <a:t>end with X = </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dirty="0">
                <a:solidFill>
                  <a:schemeClr val="accent2"/>
                </a:solidFill>
                <a:latin typeface="Arial" panose="020B0604020202020204" pitchFamily="34" charset="0"/>
                <a:ea typeface="宋体" panose="02010600030101010101" pitchFamily="2" charset="-122"/>
              </a:rPr>
              <a:t>B</a:t>
            </a:r>
            <a:r>
              <a:rPr lang="zh-CN" altLang="en-US" sz="3200" b="1" dirty="0">
                <a:solidFill>
                  <a:schemeClr val="accent2"/>
                </a:solidFill>
                <a:latin typeface="Arial" panose="020B0604020202020204" pitchFamily="34" charset="0"/>
                <a:ea typeface="宋体" panose="02010600030101010101" pitchFamily="2" charset="-122"/>
              </a:rPr>
              <a:t>}</a:t>
            </a:r>
            <a:r>
              <a:rPr lang="en-US" altLang="x-none" sz="3200" b="1" baseline="30000" dirty="0">
                <a:solidFill>
                  <a:schemeClr val="accent2"/>
                </a:solidFill>
                <a:latin typeface="Arial" panose="020B0604020202020204" pitchFamily="34" charset="0"/>
                <a:ea typeface="宋体" panose="02010600030101010101" pitchFamily="2" charset="-122"/>
              </a:rPr>
              <a:t>+</a:t>
            </a:r>
          </a:p>
          <a:p>
            <a:pPr marL="457200" lvl="0" indent="-457200">
              <a:spcBef>
                <a:spcPct val="20000"/>
              </a:spcBef>
              <a:buClr>
                <a:schemeClr val="tx1"/>
              </a:buClr>
              <a:buFont typeface="Wingdings" panose="05000000000000000000" pitchFamily="2" charset="2"/>
              <a:buChar char="q"/>
            </a:pPr>
            <a:r>
              <a:rPr lang="en-US" altLang="x-none" sz="3200" b="1" dirty="0">
                <a:solidFill>
                  <a:srgbClr val="FF0000"/>
                </a:solidFill>
                <a:latin typeface="Arial" panose="020B0604020202020204" pitchFamily="34" charset="0"/>
                <a:ea typeface="宋体" panose="02010600030101010101" pitchFamily="2" charset="-122"/>
              </a:rPr>
              <a:t>return </a:t>
            </a:r>
            <a:r>
              <a:rPr lang="zh-CN" altLang="en-US" sz="3200" b="1" dirty="0">
                <a:solidFill>
                  <a:srgbClr val="FF0000"/>
                </a:solidFill>
                <a:latin typeface="Arial" panose="020B0604020202020204" pitchFamily="34" charset="0"/>
                <a:ea typeface="宋体" panose="02010600030101010101" pitchFamily="2" charset="-122"/>
              </a:rPr>
              <a:t>{</a:t>
            </a:r>
            <a:r>
              <a:rPr lang="en-US" altLang="x-none" sz="3200" b="1" dirty="0">
                <a:solidFill>
                  <a:srgbClr val="FF0000"/>
                </a:solidFill>
                <a:latin typeface="Arial" panose="020B0604020202020204" pitchFamily="34" charset="0"/>
                <a:ea typeface="宋体" panose="02010600030101010101" pitchFamily="2" charset="-122"/>
              </a:rPr>
              <a:t>B</a:t>
            </a:r>
            <a:r>
              <a:rPr lang="zh-CN" altLang="en-US" sz="3200" b="1" dirty="0">
                <a:solidFill>
                  <a:srgbClr val="FF0000"/>
                </a:solidFill>
                <a:latin typeface="Arial" panose="020B0604020202020204" pitchFamily="34" charset="0"/>
                <a:ea typeface="宋体" panose="02010600030101010101" pitchFamily="2" charset="-122"/>
              </a:rPr>
              <a:t>}</a:t>
            </a:r>
            <a:r>
              <a:rPr lang="en-US" altLang="x-none" sz="3200" b="1" baseline="30000" dirty="0">
                <a:solidFill>
                  <a:srgbClr val="FF0000"/>
                </a:solidFill>
                <a:latin typeface="Arial" panose="020B0604020202020204" pitchFamily="34" charset="0"/>
                <a:ea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5173">
                                            <p:txEl>
                                              <p:pRg st="0" end="0"/>
                                            </p:txEl>
                                          </p:spTgt>
                                        </p:tgtEl>
                                        <p:attrNameLst>
                                          <p:attrName>style.visibility</p:attrName>
                                        </p:attrNameLst>
                                      </p:cBhvr>
                                      <p:to>
                                        <p:strVal val="visible"/>
                                      </p:to>
                                    </p:set>
                                    <p:animEffect transition="in" filter="blinds(horizontal)">
                                      <p:cBhvr>
                                        <p:cTn id="7" dur="500"/>
                                        <p:tgtEl>
                                          <p:spTgt spid="13517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35173">
                                            <p:txEl>
                                              <p:pRg st="1" end="1"/>
                                            </p:txEl>
                                          </p:spTgt>
                                        </p:tgtEl>
                                        <p:attrNameLst>
                                          <p:attrName>style.visibility</p:attrName>
                                        </p:attrNameLst>
                                      </p:cBhvr>
                                      <p:to>
                                        <p:strVal val="visible"/>
                                      </p:to>
                                    </p:set>
                                    <p:animEffect transition="in" filter="blinds(horizontal)">
                                      <p:cBhvr>
                                        <p:cTn id="10" dur="500"/>
                                        <p:tgtEl>
                                          <p:spTgt spid="13517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35173">
                                            <p:txEl>
                                              <p:pRg st="2" end="2"/>
                                            </p:txEl>
                                          </p:spTgt>
                                        </p:tgtEl>
                                        <p:attrNameLst>
                                          <p:attrName>style.visibility</p:attrName>
                                        </p:attrNameLst>
                                      </p:cBhvr>
                                      <p:to>
                                        <p:strVal val="visible"/>
                                      </p:to>
                                    </p:set>
                                    <p:animEffect transition="in" filter="blinds(horizontal)">
                                      <p:cBhvr>
                                        <p:cTn id="13" dur="500"/>
                                        <p:tgtEl>
                                          <p:spTgt spid="135173">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35173">
                                            <p:txEl>
                                              <p:pRg st="3" end="3"/>
                                            </p:txEl>
                                          </p:spTgt>
                                        </p:tgtEl>
                                        <p:attrNameLst>
                                          <p:attrName>style.visibility</p:attrName>
                                        </p:attrNameLst>
                                      </p:cBhvr>
                                      <p:to>
                                        <p:strVal val="visible"/>
                                      </p:to>
                                    </p:set>
                                    <p:animEffect transition="in" filter="blinds(horizontal)">
                                      <p:cBhvr>
                                        <p:cTn id="16" dur="500"/>
                                        <p:tgtEl>
                                          <p:spTgt spid="135173">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135173">
                                            <p:txEl>
                                              <p:pRg st="4" end="4"/>
                                            </p:txEl>
                                          </p:spTgt>
                                        </p:tgtEl>
                                        <p:attrNameLst>
                                          <p:attrName>style.visibility</p:attrName>
                                        </p:attrNameLst>
                                      </p:cBhvr>
                                      <p:to>
                                        <p:strVal val="visible"/>
                                      </p:to>
                                    </p:set>
                                    <p:animEffect transition="in" filter="blinds(horizontal)">
                                      <p:cBhvr>
                                        <p:cTn id="19" dur="500"/>
                                        <p:tgtEl>
                                          <p:spTgt spid="135173">
                                            <p:txEl>
                                              <p:pRg st="4" end="4"/>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135173">
                                            <p:txEl>
                                              <p:pRg st="5" end="5"/>
                                            </p:txEl>
                                          </p:spTgt>
                                        </p:tgtEl>
                                        <p:attrNameLst>
                                          <p:attrName>style.visibility</p:attrName>
                                        </p:attrNameLst>
                                      </p:cBhvr>
                                      <p:to>
                                        <p:strVal val="visible"/>
                                      </p:to>
                                    </p:set>
                                    <p:animEffect transition="in" filter="blinds(horizontal)">
                                      <p:cBhvr>
                                        <p:cTn id="22" dur="500"/>
                                        <p:tgtEl>
                                          <p:spTgt spid="13517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35173">
                                            <p:txEl>
                                              <p:pRg st="6" end="6"/>
                                            </p:txEl>
                                          </p:spTgt>
                                        </p:tgtEl>
                                        <p:attrNameLst>
                                          <p:attrName>style.visibility</p:attrName>
                                        </p:attrNameLst>
                                      </p:cBhvr>
                                      <p:to>
                                        <p:strVal val="visible"/>
                                      </p:to>
                                    </p:set>
                                    <p:animEffect transition="in" filter="blinds(horizontal)">
                                      <p:cBhvr>
                                        <p:cTn id="27" dur="500"/>
                                        <p:tgtEl>
                                          <p:spTgt spid="135173">
                                            <p:txEl>
                                              <p:pRg st="6" end="6"/>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135173">
                                            <p:txEl>
                                              <p:pRg st="7" end="7"/>
                                            </p:txEl>
                                          </p:spTgt>
                                        </p:tgtEl>
                                        <p:attrNameLst>
                                          <p:attrName>style.visibility</p:attrName>
                                        </p:attrNameLst>
                                      </p:cBhvr>
                                      <p:to>
                                        <p:strVal val="visible"/>
                                      </p:to>
                                    </p:set>
                                    <p:animEffect transition="in" filter="blinds(horizontal)">
                                      <p:cBhvr>
                                        <p:cTn id="30" dur="500"/>
                                        <p:tgtEl>
                                          <p:spTgt spid="135173">
                                            <p:txEl>
                                              <p:pRg st="7" end="7"/>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135173">
                                            <p:txEl>
                                              <p:pRg st="8" end="8"/>
                                            </p:txEl>
                                          </p:spTgt>
                                        </p:tgtEl>
                                        <p:attrNameLst>
                                          <p:attrName>style.visibility</p:attrName>
                                        </p:attrNameLst>
                                      </p:cBhvr>
                                      <p:to>
                                        <p:strVal val="visible"/>
                                      </p:to>
                                    </p:set>
                                    <p:animEffect transition="in" filter="blinds(horizontal)">
                                      <p:cBhvr>
                                        <p:cTn id="33" dur="500"/>
                                        <p:tgtEl>
                                          <p:spTgt spid="135173">
                                            <p:txEl>
                                              <p:pRg st="8" end="8"/>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135173">
                                            <p:txEl>
                                              <p:pRg st="9" end="9"/>
                                            </p:txEl>
                                          </p:spTgt>
                                        </p:tgtEl>
                                        <p:attrNameLst>
                                          <p:attrName>style.visibility</p:attrName>
                                        </p:attrNameLst>
                                      </p:cBhvr>
                                      <p:to>
                                        <p:strVal val="visible"/>
                                      </p:to>
                                    </p:set>
                                    <p:animEffect transition="in" filter="blinds(horizontal)">
                                      <p:cBhvr>
                                        <p:cTn id="36" dur="500"/>
                                        <p:tgtEl>
                                          <p:spTgt spid="135173">
                                            <p:txEl>
                                              <p:pRg st="9" end="9"/>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135173">
                                            <p:txEl>
                                              <p:pRg st="10" end="10"/>
                                            </p:txEl>
                                          </p:spTgt>
                                        </p:tgtEl>
                                        <p:attrNameLst>
                                          <p:attrName>style.visibility</p:attrName>
                                        </p:attrNameLst>
                                      </p:cBhvr>
                                      <p:to>
                                        <p:strVal val="visible"/>
                                      </p:to>
                                    </p:set>
                                    <p:animEffect transition="in" filter="blinds(horizontal)">
                                      <p:cBhvr>
                                        <p:cTn id="41" dur="500"/>
                                        <p:tgtEl>
                                          <p:spTgt spid="13517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360000" y="48895"/>
            <a:ext cx="7920058" cy="1045112"/>
          </a:xfrm>
          <a:prstGeom prst="rect">
            <a:avLst/>
          </a:prstGeom>
        </p:spPr>
      </p:pic>
      <p:pic>
        <p:nvPicPr>
          <p:cNvPr id="5" name="图片 4"/>
          <p:cNvPicPr>
            <a:picLocks noChangeAspect="1"/>
          </p:cNvPicPr>
          <p:nvPr/>
        </p:nvPicPr>
        <p:blipFill>
          <a:blip r:embed="rId3"/>
          <a:stretch>
            <a:fillRect/>
          </a:stretch>
        </p:blipFill>
        <p:spPr>
          <a:xfrm>
            <a:off x="360000" y="1264920"/>
            <a:ext cx="7920058" cy="1494412"/>
          </a:xfrm>
          <a:prstGeom prst="rect">
            <a:avLst/>
          </a:prstGeom>
        </p:spPr>
      </p:pic>
      <p:pic>
        <p:nvPicPr>
          <p:cNvPr id="6" name="图片 5"/>
          <p:cNvPicPr>
            <a:picLocks noChangeAspect="1"/>
          </p:cNvPicPr>
          <p:nvPr/>
        </p:nvPicPr>
        <p:blipFill>
          <a:blip r:embed="rId4"/>
          <a:stretch>
            <a:fillRect/>
          </a:stretch>
        </p:blipFill>
        <p:spPr>
          <a:xfrm>
            <a:off x="360000" y="2981325"/>
            <a:ext cx="7920058" cy="1065961"/>
          </a:xfrm>
          <a:prstGeom prst="rect">
            <a:avLst/>
          </a:prstGeom>
        </p:spPr>
      </p:pic>
      <p:pic>
        <p:nvPicPr>
          <p:cNvPr id="7" name="图片 6"/>
          <p:cNvPicPr>
            <a:picLocks noChangeAspect="1"/>
          </p:cNvPicPr>
          <p:nvPr/>
        </p:nvPicPr>
        <p:blipFill>
          <a:blip r:embed="rId5"/>
          <a:stretch>
            <a:fillRect/>
          </a:stretch>
        </p:blipFill>
        <p:spPr>
          <a:xfrm>
            <a:off x="360000" y="4297680"/>
            <a:ext cx="7920058" cy="1455342"/>
          </a:xfrm>
          <a:prstGeom prst="rect">
            <a:avLst/>
          </a:prstGeom>
        </p:spPr>
      </p:pic>
      <p:sp>
        <p:nvSpPr>
          <p:cNvPr id="2" name="文本框 1"/>
          <p:cNvSpPr txBox="1"/>
          <p:nvPr/>
        </p:nvSpPr>
        <p:spPr>
          <a:xfrm>
            <a:off x="430530" y="5963920"/>
            <a:ext cx="8173720" cy="521970"/>
          </a:xfrm>
          <a:prstGeom prst="rect">
            <a:avLst/>
          </a:prstGeom>
          <a:noFill/>
        </p:spPr>
        <p:txBody>
          <a:bodyPr wrap="square" rtlCol="0">
            <a:spAutoFit/>
          </a:bodyPr>
          <a:lstStyle/>
          <a:p>
            <a:r>
              <a:rPr lang="zh-CN" altLang="zh-CN" sz="2800" b="1">
                <a:solidFill>
                  <a:srgbClr val="FF0000"/>
                </a:solidFill>
                <a:latin typeface="Arial" panose="020B0604020202020204" pitchFamily="34" charset="0"/>
                <a:ea typeface="宋体" panose="02010600030101010101" pitchFamily="2" charset="-122"/>
              </a:rPr>
              <a:t>【思考题】</a:t>
            </a:r>
            <a:r>
              <a:rPr lang="zh-CN" altLang="zh-CN" sz="2800" b="1">
                <a:solidFill>
                  <a:schemeClr val="accent6"/>
                </a:solidFill>
                <a:latin typeface="Arial" panose="020B0604020202020204" pitchFamily="34" charset="0"/>
                <a:ea typeface="宋体" panose="02010600030101010101" pitchFamily="2" charset="-122"/>
              </a:rPr>
              <a:t>如何判断 </a:t>
            </a:r>
            <a:r>
              <a:rPr lang="en-US" altLang="zh-CN" sz="2800" b="1">
                <a:solidFill>
                  <a:schemeClr val="accent6"/>
                </a:solidFill>
                <a:latin typeface="Arial" panose="020B0604020202020204" pitchFamily="34" charset="0"/>
                <a:ea typeface="宋体" panose="02010600030101010101" pitchFamily="2" charset="-122"/>
              </a:rPr>
              <a:t>F</a:t>
            </a:r>
            <a:r>
              <a:rPr lang="en-US" altLang="zh-CN" sz="2800" b="1">
                <a:solidFill>
                  <a:schemeClr val="accent6"/>
                </a:solidFill>
                <a:latin typeface="Arial" panose="020B0604020202020204" pitchFamily="34" charset="0"/>
                <a:ea typeface="微软雅黑" panose="020B0503020204020204" charset="-122"/>
              </a:rPr>
              <a:t>╞ X</a:t>
            </a:r>
            <a:r>
              <a:rPr lang="en-US" altLang="zh-CN" sz="2800" b="1">
                <a:solidFill>
                  <a:schemeClr val="accent6"/>
                </a:solidFill>
                <a:latin typeface="Arial" panose="020B0604020202020204" pitchFamily="34" charset="0"/>
                <a:ea typeface="宋体" panose="02010600030101010101" pitchFamily="2" charset="-122"/>
              </a:rPr>
              <a:t>→Y </a:t>
            </a:r>
            <a:r>
              <a:rPr lang="zh-CN" altLang="en-US" sz="2800" b="1">
                <a:solidFill>
                  <a:schemeClr val="accent6"/>
                </a:solidFill>
                <a:latin typeface="Arial" panose="020B0604020202020204" pitchFamily="34" charset="0"/>
                <a:ea typeface="宋体" panose="02010600030101010101" pitchFamily="2" charset="-122"/>
              </a:rPr>
              <a:t>是否成立？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37218"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37219"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69</a:t>
            </a:fld>
            <a:endParaRPr lang="zh-CN" altLang="en-US" sz="1200" b="1" i="1" dirty="0">
              <a:latin typeface="Times New Roman" panose="02020603050405020304" pitchFamily="2" charset="0"/>
              <a:ea typeface="宋体" panose="02010600030101010101" pitchFamily="2" charset="-122"/>
            </a:endParaRPr>
          </a:p>
        </p:txBody>
      </p:sp>
      <p:sp>
        <p:nvSpPr>
          <p:cNvPr id="137220"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6.6 </a:t>
            </a:r>
            <a:r>
              <a:rPr lang="en-US" altLang="x-none" dirty="0">
                <a:ea typeface="宋体" panose="02010600030101010101" pitchFamily="2" charset="-122"/>
              </a:rPr>
              <a:t>Functional Dependencies</a:t>
            </a:r>
          </a:p>
        </p:txBody>
      </p:sp>
      <p:sp>
        <p:nvSpPr>
          <p:cNvPr id="137221" name="Rectangle 3"/>
          <p:cNvSpPr>
            <a:spLocks noGrp="1"/>
          </p:cNvSpPr>
          <p:nvPr>
            <p:ph type="body"/>
          </p:nvPr>
        </p:nvSpPr>
        <p:spPr>
          <a:xfrm>
            <a:off x="0" y="838200"/>
            <a:ext cx="9144000" cy="2438400"/>
          </a:xfrm>
        </p:spPr>
        <p:txBody>
          <a:bodyPr wrap="square" anchor="t"/>
          <a:lstStyle/>
          <a:p>
            <a:pPr lvl="0" eaLnBrk="1" hangingPunct="1">
              <a:lnSpc>
                <a:spcPct val="110000"/>
              </a:lnSpc>
              <a:spcBef>
                <a:spcPct val="40000"/>
              </a:spcBef>
            </a:pPr>
            <a:r>
              <a:rPr lang="en-US" altLang="x-none" sz="3200" dirty="0">
                <a:ea typeface="宋体" panose="02010600030101010101" pitchFamily="2" charset="-122"/>
              </a:rPr>
              <a:t>Algorithm 6.6.13 </a:t>
            </a:r>
            <a:r>
              <a:rPr lang="en-US" altLang="x-none" sz="3200" u="sng" dirty="0">
                <a:solidFill>
                  <a:schemeClr val="accent2"/>
                </a:solidFill>
                <a:ea typeface="宋体" panose="02010600030101010101" pitchFamily="2" charset="-122"/>
              </a:rPr>
              <a:t>Minimal Cover</a:t>
            </a:r>
            <a:r>
              <a:rPr lang="en-US" altLang="x-none" sz="3200" dirty="0">
                <a:solidFill>
                  <a:schemeClr val="accent2"/>
                </a:solidFill>
                <a:ea typeface="宋体" panose="02010600030101010101" pitchFamily="2" charset="-122"/>
              </a:rPr>
              <a:t> (</a:t>
            </a:r>
            <a:r>
              <a:rPr lang="zh-CN" altLang="en-US" sz="3200" dirty="0">
                <a:solidFill>
                  <a:schemeClr val="accent2"/>
                </a:solidFill>
                <a:ea typeface="宋体" panose="02010600030101010101" pitchFamily="2" charset="-122"/>
              </a:rPr>
              <a:t>最小覆盖</a:t>
            </a:r>
            <a:r>
              <a:rPr lang="en-US" altLang="x-none" sz="3200" dirty="0">
                <a:solidFill>
                  <a:schemeClr val="accent2"/>
                </a:solidFill>
                <a:ea typeface="宋体" panose="02010600030101010101" pitchFamily="2" charset="-122"/>
              </a:rPr>
              <a:t>)</a:t>
            </a:r>
          </a:p>
          <a:p>
            <a:pPr lvl="1" indent="-285750" eaLnBrk="1" hangingPunct="1">
              <a:lnSpc>
                <a:spcPct val="110000"/>
              </a:lnSpc>
              <a:spcBef>
                <a:spcPct val="40000"/>
              </a:spcBef>
            </a:pPr>
            <a:r>
              <a:rPr lang="en-US" altLang="x-none" sz="3200" dirty="0">
                <a:ea typeface="宋体" panose="02010600030101010101" pitchFamily="2" charset="-122"/>
              </a:rPr>
              <a:t>a minimal set M of FDs that covers a given set F of FDs.</a:t>
            </a:r>
          </a:p>
        </p:txBody>
      </p:sp>
      <p:sp>
        <p:nvSpPr>
          <p:cNvPr id="137223" name="Rectangle 4"/>
          <p:cNvSpPr/>
          <p:nvPr/>
        </p:nvSpPr>
        <p:spPr>
          <a:xfrm>
            <a:off x="0" y="2929890"/>
            <a:ext cx="9144000" cy="3307080"/>
          </a:xfrm>
          <a:prstGeom prst="rect">
            <a:avLst/>
          </a:prstGeom>
          <a:solidFill>
            <a:schemeClr val="bg1"/>
          </a:solidFill>
          <a:ln w="19050" cap="flat" cmpd="sng">
            <a:solidFill>
              <a:schemeClr val="tx1"/>
            </a:solidFill>
            <a:prstDash val="solid"/>
            <a:miter/>
            <a:headEnd type="none" w="med" len="med"/>
            <a:tailEnd type="none" w="med" len="med"/>
          </a:ln>
        </p:spPr>
        <p:txBody>
          <a:bodyPr anchor="t">
            <a:spAutoFit/>
          </a:bodyPr>
          <a:lstStyle/>
          <a:p>
            <a:pPr marL="800100" lvl="1" indent="-342900">
              <a:lnSpc>
                <a:spcPct val="100000"/>
              </a:lnSpc>
              <a:spcBef>
                <a:spcPts val="20"/>
              </a:spcBef>
              <a:spcAft>
                <a:spcPts val="0"/>
              </a:spcAft>
              <a:buClr>
                <a:schemeClr val="accent1"/>
              </a:buClr>
              <a:buAutoNum type="alphaLcParenR"/>
            </a:pPr>
            <a:r>
              <a:rPr lang="zh-CN" altLang="en-US" sz="3000" b="1" dirty="0">
                <a:solidFill>
                  <a:schemeClr val="accent2"/>
                </a:solidFill>
                <a:latin typeface="Arial" panose="020B0604020202020204" pitchFamily="34" charset="0"/>
                <a:ea typeface="宋体" panose="02010600030101010101" pitchFamily="2" charset="-122"/>
              </a:rPr>
              <a:t> 没有冗余(</a:t>
            </a:r>
            <a:r>
              <a:rPr lang="en-US" altLang="x-none" sz="3000" b="1" dirty="0">
                <a:solidFill>
                  <a:srgbClr val="FF0000"/>
                </a:solidFill>
                <a:latin typeface="Arial" panose="020B0604020202020204" pitchFamily="34" charset="0"/>
                <a:ea typeface="宋体" panose="02010600030101010101" pitchFamily="2" charset="-122"/>
              </a:rPr>
              <a:t>inessential</a:t>
            </a:r>
            <a:r>
              <a:rPr lang="zh-CN" altLang="en-US" sz="3000" b="1" dirty="0">
                <a:solidFill>
                  <a:schemeClr val="accent2"/>
                </a:solidFill>
                <a:latin typeface="Arial" panose="020B0604020202020204" pitchFamily="34" charset="0"/>
                <a:ea typeface="宋体" panose="02010600030101010101" pitchFamily="2" charset="-122"/>
              </a:rPr>
              <a:t>)的函数依赖</a:t>
            </a:r>
          </a:p>
          <a:p>
            <a:pPr marL="800100" lvl="1" indent="-342900">
              <a:lnSpc>
                <a:spcPct val="100000"/>
              </a:lnSpc>
              <a:spcBef>
                <a:spcPts val="20"/>
              </a:spcBef>
              <a:spcAft>
                <a:spcPts val="0"/>
              </a:spcAft>
              <a:buClr>
                <a:schemeClr val="accent1"/>
              </a:buClr>
              <a:buAutoNum type="alphaLcParenR"/>
            </a:pPr>
            <a:endParaRPr lang="zh-CN" altLang="en-US" sz="3000" b="1" dirty="0">
              <a:solidFill>
                <a:schemeClr val="accent2"/>
              </a:solidFill>
              <a:latin typeface="Arial" panose="020B0604020202020204" pitchFamily="34" charset="0"/>
              <a:ea typeface="宋体" panose="02010600030101010101" pitchFamily="2" charset="-122"/>
            </a:endParaRPr>
          </a:p>
          <a:p>
            <a:pPr marL="800100" lvl="1" indent="-342900">
              <a:lnSpc>
                <a:spcPct val="100000"/>
              </a:lnSpc>
              <a:spcBef>
                <a:spcPts val="20"/>
              </a:spcBef>
              <a:spcAft>
                <a:spcPts val="0"/>
              </a:spcAft>
              <a:buClr>
                <a:schemeClr val="accent1"/>
              </a:buClr>
              <a:buAutoNum type="alphaLcParenR"/>
            </a:pPr>
            <a:endParaRPr lang="zh-CN" altLang="en-US" sz="3000" b="1" dirty="0">
              <a:solidFill>
                <a:schemeClr val="accent2"/>
              </a:solidFill>
              <a:latin typeface="Arial" panose="020B0604020202020204" pitchFamily="34" charset="0"/>
              <a:ea typeface="宋体" panose="02010600030101010101" pitchFamily="2" charset="-122"/>
            </a:endParaRPr>
          </a:p>
          <a:p>
            <a:pPr marL="800100" lvl="1" indent="-342900">
              <a:lnSpc>
                <a:spcPct val="100000"/>
              </a:lnSpc>
              <a:spcBef>
                <a:spcPts val="20"/>
              </a:spcBef>
              <a:spcAft>
                <a:spcPts val="0"/>
              </a:spcAft>
              <a:buClr>
                <a:schemeClr val="accent1"/>
              </a:buClr>
              <a:buAutoNum type="alphaLcParenR"/>
            </a:pPr>
            <a:endParaRPr lang="zh-CN" altLang="en-US" sz="3000" b="1" dirty="0">
              <a:solidFill>
                <a:schemeClr val="accent2"/>
              </a:solidFill>
              <a:latin typeface="Arial" panose="020B0604020202020204" pitchFamily="34" charset="0"/>
              <a:ea typeface="宋体" panose="02010600030101010101" pitchFamily="2" charset="-122"/>
            </a:endParaRPr>
          </a:p>
          <a:p>
            <a:pPr marL="800100" lvl="1" indent="-342900">
              <a:lnSpc>
                <a:spcPct val="100000"/>
              </a:lnSpc>
              <a:spcBef>
                <a:spcPts val="20"/>
              </a:spcBef>
              <a:spcAft>
                <a:spcPts val="0"/>
              </a:spcAft>
              <a:buClr>
                <a:schemeClr val="accent1"/>
              </a:buClr>
              <a:buAutoNum type="alphaLcParenR"/>
            </a:pPr>
            <a:r>
              <a:rPr lang="zh-CN" altLang="en-US" sz="3000" b="1" dirty="0">
                <a:solidFill>
                  <a:schemeClr val="accent2"/>
                </a:solidFill>
                <a:latin typeface="Arial" panose="020B0604020202020204" pitchFamily="34" charset="0"/>
                <a:ea typeface="宋体" panose="02010600030101010101" pitchFamily="2" charset="-122"/>
              </a:rPr>
              <a:t> 每一个函数依赖的左边都没有多余的属性</a:t>
            </a:r>
          </a:p>
          <a:p>
            <a:pPr marL="800100" lvl="1" indent="-342900">
              <a:lnSpc>
                <a:spcPct val="100000"/>
              </a:lnSpc>
              <a:spcBef>
                <a:spcPts val="20"/>
              </a:spcBef>
              <a:spcAft>
                <a:spcPts val="0"/>
              </a:spcAft>
              <a:buClr>
                <a:schemeClr val="accent1"/>
              </a:buClr>
              <a:buAutoNum type="alphaLcParenR"/>
            </a:pPr>
            <a:endParaRPr lang="zh-CN" altLang="en-US" sz="3000" b="1" dirty="0">
              <a:solidFill>
                <a:schemeClr val="accent2"/>
              </a:solidFill>
              <a:latin typeface="Arial" panose="020B0604020202020204" pitchFamily="34" charset="0"/>
              <a:ea typeface="宋体" panose="02010600030101010101" pitchFamily="2" charset="-122"/>
            </a:endParaRPr>
          </a:p>
          <a:p>
            <a:pPr marL="800100" lvl="1" indent="-342900">
              <a:lnSpc>
                <a:spcPct val="100000"/>
              </a:lnSpc>
              <a:spcBef>
                <a:spcPts val="20"/>
              </a:spcBef>
              <a:spcAft>
                <a:spcPts val="0"/>
              </a:spcAft>
              <a:buClr>
                <a:schemeClr val="accent1"/>
              </a:buClr>
              <a:buAutoNum type="alphaLcParenR"/>
            </a:pPr>
            <a:endParaRPr lang="zh-CN" altLang="en-US" sz="3000" b="1" dirty="0">
              <a:solidFill>
                <a:schemeClr val="accent2"/>
              </a:solidFill>
              <a:latin typeface="Arial" panose="020B0604020202020204" pitchFamily="34" charset="0"/>
              <a:ea typeface="宋体" panose="02010600030101010101" pitchFamily="2" charset="-122"/>
            </a:endParaRPr>
          </a:p>
        </p:txBody>
      </p:sp>
      <p:sp>
        <p:nvSpPr>
          <p:cNvPr id="2" name="文本框 1"/>
          <p:cNvSpPr txBox="1"/>
          <p:nvPr/>
        </p:nvSpPr>
        <p:spPr>
          <a:xfrm>
            <a:off x="951230" y="3497580"/>
            <a:ext cx="7940675" cy="944880"/>
          </a:xfrm>
          <a:prstGeom prst="rect">
            <a:avLst/>
          </a:prstGeom>
          <a:noFill/>
        </p:spPr>
        <p:txBody>
          <a:bodyPr wrap="square" rtlCol="0">
            <a:spAutoFit/>
          </a:bodyPr>
          <a:lstStyle/>
          <a:p>
            <a:r>
              <a:rPr lang="en-US" altLang="zh-CN" sz="2800">
                <a:latin typeface="Arial" panose="020B0604020202020204" pitchFamily="34" charset="0"/>
              </a:rPr>
              <a:t>We can't find a set H of FDs that H is a proper subset of M and H cover M.</a:t>
            </a:r>
          </a:p>
        </p:txBody>
      </p:sp>
      <p:sp>
        <p:nvSpPr>
          <p:cNvPr id="3" name="文本框 2"/>
          <p:cNvSpPr txBox="1"/>
          <p:nvPr/>
        </p:nvSpPr>
        <p:spPr>
          <a:xfrm>
            <a:off x="951230" y="5317490"/>
            <a:ext cx="7940675" cy="518160"/>
          </a:xfrm>
          <a:prstGeom prst="rect">
            <a:avLst/>
          </a:prstGeom>
          <a:noFill/>
        </p:spPr>
        <p:txBody>
          <a:bodyPr wrap="square" rtlCol="0">
            <a:spAutoFit/>
          </a:bodyPr>
          <a:lstStyle/>
          <a:p>
            <a:r>
              <a:rPr lang="en-US" altLang="zh-CN" sz="2800">
                <a:latin typeface="Arial" panose="020B0604020202020204" pitchFamily="34" charset="0"/>
              </a:rPr>
              <a:t>Each FD of M is a </a:t>
            </a:r>
            <a:r>
              <a:rPr lang="en-US" altLang="zh-CN" sz="2800" u="sng">
                <a:latin typeface="Arial" panose="020B0604020202020204" pitchFamily="34" charset="0"/>
              </a:rPr>
              <a:t>full functional dependency</a:t>
            </a:r>
            <a:r>
              <a:rPr lang="en-US" altLang="zh-CN" sz="2800">
                <a:latin typeface="Arial" panose="020B0604020202020204" pitchFamily="34" charset="0"/>
              </a:rPr>
              <a:t>.</a:t>
            </a:r>
          </a:p>
        </p:txBody>
      </p:sp>
      <p:sp>
        <p:nvSpPr>
          <p:cNvPr id="4" name="文本框 3"/>
          <p:cNvSpPr txBox="1"/>
          <p:nvPr/>
        </p:nvSpPr>
        <p:spPr>
          <a:xfrm>
            <a:off x="4573270" y="5768975"/>
            <a:ext cx="2222500" cy="457200"/>
          </a:xfrm>
          <a:prstGeom prst="rect">
            <a:avLst/>
          </a:prstGeom>
          <a:noFill/>
        </p:spPr>
        <p:txBody>
          <a:bodyPr wrap="none" rtlCol="0">
            <a:spAutoFit/>
          </a:bodyPr>
          <a:lstStyle/>
          <a:p>
            <a:pPr algn="l"/>
            <a:r>
              <a:rPr lang="en-US" altLang="zh-CN" b="1">
                <a:latin typeface="Arial" panose="020B0604020202020204" pitchFamily="34" charset="0"/>
                <a:sym typeface="+mn-ea"/>
              </a:rPr>
              <a:t>(</a:t>
            </a:r>
            <a:r>
              <a:rPr lang="zh-CN" altLang="zh-CN" b="1">
                <a:latin typeface="Arial" panose="020B0604020202020204" pitchFamily="34" charset="0"/>
                <a:ea typeface="宋体" panose="02010600030101010101" pitchFamily="2" charset="-122"/>
                <a:sym typeface="+mn-ea"/>
              </a:rPr>
              <a:t>完全函数依赖</a:t>
            </a:r>
            <a:r>
              <a:rPr lang="en-US" altLang="zh-CN" b="1">
                <a:latin typeface="Arial" panose="020B0604020202020204" pitchFamily="34" charset="0"/>
                <a:sym typeface="+mn-ea"/>
              </a:rPr>
              <a:t>)</a:t>
            </a:r>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7223"/>
                                        </p:tgtEl>
                                        <p:attrNameLst>
                                          <p:attrName>style.visibility</p:attrName>
                                        </p:attrNameLst>
                                      </p:cBhvr>
                                      <p:to>
                                        <p:strVal val="visible"/>
                                      </p:to>
                                    </p:set>
                                    <p:animEffect transition="in" filter="blinds(horizontal)">
                                      <p:cBhvr>
                                        <p:cTn id="7" dur="500"/>
                                        <p:tgtEl>
                                          <p:spTgt spid="13722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23" grpId="0" bldLvl="0" animBg="1"/>
      <p:bldP spid="2" grpId="0"/>
      <p:bldP spid="3" grpId="0"/>
      <p:bldP spid="4"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3"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70</a:t>
            </a:fld>
            <a:endParaRPr lang="zh-CN" altLang="en-US" sz="1200" b="1" i="1" dirty="0">
              <a:latin typeface="Times New Roman" panose="02020603050405020304" pitchFamily="2" charset="0"/>
              <a:ea typeface="宋体" panose="02010600030101010101" pitchFamily="2" charset="-122"/>
            </a:endParaRPr>
          </a:p>
        </p:txBody>
      </p:sp>
      <p:sp>
        <p:nvSpPr>
          <p:cNvPr id="138245" name="Rectangle 4"/>
          <p:cNvSpPr/>
          <p:nvPr/>
        </p:nvSpPr>
        <p:spPr>
          <a:xfrm>
            <a:off x="0" y="-7937"/>
            <a:ext cx="9144000" cy="1340485"/>
          </a:xfrm>
          <a:prstGeom prst="rect">
            <a:avLst/>
          </a:prstGeom>
          <a:solidFill>
            <a:schemeClr val="bg1"/>
          </a:solidFill>
          <a:ln w="25400" cap="flat" cmpd="sng">
            <a:noFill/>
            <a:prstDash val="solid"/>
            <a:miter/>
            <a:headEnd type="none" w="med" len="med"/>
            <a:tailEnd type="none" w="med" len="med"/>
          </a:ln>
        </p:spPr>
        <p:txBody>
          <a:bodyPr lIns="90170" tIns="46990" rIns="90170" bIns="46990" anchor="t">
            <a:spAutoFit/>
          </a:bodyPr>
          <a:lstStyle/>
          <a:p>
            <a:pPr marL="342900" lvl="0" indent="-342900">
              <a:lnSpc>
                <a:spcPct val="90000"/>
              </a:lnSpc>
              <a:buClr>
                <a:srgbClr val="996600"/>
              </a:buClr>
              <a:buFont typeface="Wingdings" panose="05000000000000000000" pitchFamily="2" charset="2"/>
              <a:buChar char="p"/>
            </a:pPr>
            <a:r>
              <a:rPr lang="en-US" altLang="x-none" sz="3000" b="1" dirty="0">
                <a:solidFill>
                  <a:srgbClr val="FF0066"/>
                </a:solidFill>
                <a:latin typeface="Arial" panose="020B0604020202020204" pitchFamily="34" charset="0"/>
                <a:ea typeface="宋体" panose="02010600030101010101" pitchFamily="2" charset="-122"/>
              </a:rPr>
              <a:t>step 1</a:t>
            </a:r>
            <a:r>
              <a:rPr lang="en-US" altLang="x-none" sz="3000" b="1" dirty="0">
                <a:solidFill>
                  <a:schemeClr val="accent2"/>
                </a:solidFill>
                <a:latin typeface="Arial" panose="020B0604020202020204" pitchFamily="34" charset="0"/>
                <a:ea typeface="宋体" panose="02010600030101010101" pitchFamily="2" charset="-122"/>
              </a:rPr>
              <a:t>: From the set F of FDs, we create an equivalent set H of FDs, with only single attributes on the right side.</a:t>
            </a:r>
          </a:p>
        </p:txBody>
      </p:sp>
      <p:sp>
        <p:nvSpPr>
          <p:cNvPr id="138246" name="Rectangle 3"/>
          <p:cNvSpPr>
            <a:spLocks noGrp="1"/>
          </p:cNvSpPr>
          <p:nvPr/>
        </p:nvSpPr>
        <p:spPr>
          <a:xfrm>
            <a:off x="635" y="2574925"/>
            <a:ext cx="9143365" cy="1753235"/>
          </a:xfrm>
          <a:prstGeom prst="rect">
            <a:avLst/>
          </a:prstGeom>
          <a:noFill/>
          <a:ln w="25400" cap="flat" cmpd="sng">
            <a:noFill/>
            <a:prstDash val="solid"/>
            <a:miter/>
            <a:headEnd type="none" w="med" len="med"/>
            <a:tailEnd type="none" w="med" len="med"/>
          </a:ln>
        </p:spPr>
        <p:txBody>
          <a:bodyPr wrap="square" anchor="t">
            <a:spAutoFit/>
          </a:bodyPr>
          <a:lstStyle/>
          <a:p>
            <a:pPr marL="342900" lvl="0" indent="-342900">
              <a:lnSpc>
                <a:spcPct val="90000"/>
              </a:lnSpc>
              <a:buClr>
                <a:srgbClr val="996633"/>
              </a:buClr>
              <a:buFont typeface="Wingdings" panose="05000000000000000000" pitchFamily="2" charset="2"/>
              <a:buChar char="p"/>
            </a:pPr>
            <a:r>
              <a:rPr lang="en-US" altLang="x-none" sz="3000" b="1" dirty="0">
                <a:solidFill>
                  <a:srgbClr val="FF0066"/>
                </a:solidFill>
                <a:latin typeface="Arial" panose="020B0604020202020204" pitchFamily="34" charset="0"/>
                <a:ea typeface="宋体" panose="02010600030101010101" pitchFamily="2" charset="-122"/>
              </a:rPr>
              <a:t>step 3</a:t>
            </a:r>
            <a:r>
              <a:rPr lang="en-US" altLang="x-none" sz="3000" b="1" dirty="0">
                <a:solidFill>
                  <a:srgbClr val="FF0000"/>
                </a:solidFill>
                <a:latin typeface="Arial" panose="020B0604020202020204" pitchFamily="34" charset="0"/>
                <a:ea typeface="宋体" panose="02010600030101010101" pitchFamily="2" charset="-122"/>
              </a:rPr>
              <a:t>: </a:t>
            </a:r>
            <a:r>
              <a:rPr lang="en-US" altLang="x-none" sz="3000" b="1" dirty="0">
                <a:solidFill>
                  <a:schemeClr val="accent2"/>
                </a:solidFill>
                <a:latin typeface="Arial" panose="020B0604020202020204" pitchFamily="34" charset="0"/>
                <a:ea typeface="宋体" panose="02010600030101010101" pitchFamily="2" charset="-122"/>
              </a:rPr>
              <a:t>From the set H of FDs, successively replace individual FDs with FDs that have a smaller number of attributes on the left-hand side, as long as the result does not change H</a:t>
            </a:r>
            <a:r>
              <a:rPr lang="en-US" altLang="x-none" sz="3000" b="1" baseline="30000" dirty="0">
                <a:solidFill>
                  <a:schemeClr val="accent2"/>
                </a:solidFill>
                <a:latin typeface="Arial" panose="020B0604020202020204" pitchFamily="34" charset="0"/>
                <a:ea typeface="宋体" panose="02010600030101010101" pitchFamily="2" charset="-122"/>
              </a:rPr>
              <a:t>+</a:t>
            </a:r>
            <a:r>
              <a:rPr lang="en-US" altLang="x-none" sz="3000" b="1" dirty="0">
                <a:solidFill>
                  <a:schemeClr val="accent2"/>
                </a:solidFill>
                <a:latin typeface="Arial" panose="020B0604020202020204" pitchFamily="34" charset="0"/>
                <a:ea typeface="宋体" panose="02010600030101010101" pitchFamily="2" charset="-122"/>
              </a:rPr>
              <a:t>.</a:t>
            </a:r>
          </a:p>
        </p:txBody>
      </p:sp>
      <p:sp>
        <p:nvSpPr>
          <p:cNvPr id="138247" name="Rectangle 3"/>
          <p:cNvSpPr>
            <a:spLocks noGrp="1"/>
          </p:cNvSpPr>
          <p:nvPr/>
        </p:nvSpPr>
        <p:spPr>
          <a:xfrm>
            <a:off x="-635" y="1492250"/>
            <a:ext cx="9144635" cy="922020"/>
          </a:xfrm>
          <a:prstGeom prst="rect">
            <a:avLst/>
          </a:prstGeom>
          <a:solidFill>
            <a:schemeClr val="bg1"/>
          </a:solidFill>
          <a:ln w="25400" cap="flat" cmpd="sng">
            <a:noFill/>
            <a:prstDash val="solid"/>
            <a:miter/>
            <a:headEnd type="none" w="med" len="med"/>
            <a:tailEnd type="none" w="med" len="med"/>
          </a:ln>
        </p:spPr>
        <p:txBody>
          <a:bodyPr wrap="square" anchor="t">
            <a:spAutoFit/>
          </a:bodyPr>
          <a:lstStyle/>
          <a:p>
            <a:pPr marL="342900" lvl="0" indent="-342900">
              <a:lnSpc>
                <a:spcPct val="90000"/>
              </a:lnSpc>
              <a:spcBef>
                <a:spcPct val="20000"/>
              </a:spcBef>
              <a:buClr>
                <a:srgbClr val="996633"/>
              </a:buClr>
              <a:buFont typeface="Wingdings" panose="05000000000000000000" pitchFamily="2" charset="2"/>
              <a:buChar char="p"/>
            </a:pPr>
            <a:r>
              <a:rPr lang="en-US" altLang="x-none" sz="3000" b="1" dirty="0">
                <a:solidFill>
                  <a:srgbClr val="FF0066"/>
                </a:solidFill>
                <a:latin typeface="Arial" panose="020B0604020202020204" pitchFamily="34" charset="0"/>
                <a:ea typeface="宋体" panose="02010600030101010101" pitchFamily="2" charset="-122"/>
                <a:sym typeface="Arial" panose="020B0604020202020204" pitchFamily="34" charset="0"/>
              </a:rPr>
              <a:t>step </a:t>
            </a:r>
            <a:r>
              <a:rPr lang="en-US" altLang="x-none" sz="3000" b="1" dirty="0">
                <a:solidFill>
                  <a:srgbClr val="FF0066"/>
                </a:solidFill>
                <a:latin typeface="Arial" panose="020B0604020202020204" pitchFamily="34" charset="0"/>
                <a:ea typeface="宋体" panose="02010600030101010101" pitchFamily="2" charset="-122"/>
              </a:rPr>
              <a:t>2</a:t>
            </a:r>
            <a:r>
              <a:rPr lang="en-US" altLang="x-none" sz="3000" b="1" dirty="0">
                <a:solidFill>
                  <a:srgbClr val="FF0000"/>
                </a:solidFill>
                <a:latin typeface="Arial" panose="020B0604020202020204" pitchFamily="34" charset="0"/>
                <a:ea typeface="宋体" panose="02010600030101010101" pitchFamily="2" charset="-122"/>
              </a:rPr>
              <a:t>: </a:t>
            </a:r>
            <a:r>
              <a:rPr lang="en-US" altLang="x-none" sz="3000" b="1" dirty="0">
                <a:solidFill>
                  <a:schemeClr val="accent2"/>
                </a:solidFill>
                <a:latin typeface="Arial" panose="020B0604020202020204" pitchFamily="34" charset="0"/>
                <a:ea typeface="宋体" panose="02010600030101010101" pitchFamily="2" charset="-122"/>
              </a:rPr>
              <a:t>From the set H of FDs, successively remove individual FDs that are inessential in H.</a:t>
            </a:r>
            <a:endParaRPr lang="en-US" altLang="x-none" sz="2800" b="1" dirty="0">
              <a:solidFill>
                <a:srgbClr val="FF0000"/>
              </a:solidFill>
              <a:latin typeface="Arial" panose="020B0604020202020204" pitchFamily="34" charset="0"/>
              <a:ea typeface="Times New Roman" panose="02020603050405020304" pitchFamily="2" charset="0"/>
            </a:endParaRPr>
          </a:p>
        </p:txBody>
      </p:sp>
      <p:sp>
        <p:nvSpPr>
          <p:cNvPr id="138248" name="Rectangle 3"/>
          <p:cNvSpPr>
            <a:spLocks noGrp="1"/>
          </p:cNvSpPr>
          <p:nvPr/>
        </p:nvSpPr>
        <p:spPr>
          <a:xfrm>
            <a:off x="-1270" y="4511675"/>
            <a:ext cx="9109075" cy="2308860"/>
          </a:xfrm>
          <a:prstGeom prst="rect">
            <a:avLst/>
          </a:prstGeom>
          <a:solidFill>
            <a:schemeClr val="bg1"/>
          </a:solidFill>
          <a:ln w="25400" cap="flat" cmpd="sng">
            <a:noFill/>
            <a:prstDash val="solid"/>
            <a:miter/>
            <a:headEnd type="none" w="med" len="med"/>
            <a:tailEnd type="none" w="med" len="med"/>
          </a:ln>
        </p:spPr>
        <p:txBody>
          <a:bodyPr wrap="square" lIns="90170" tIns="46990" rIns="90170" bIns="46990" anchor="t">
            <a:spAutoFit/>
          </a:bodyPr>
          <a:lstStyle/>
          <a:p>
            <a:pPr marL="342900" lvl="0" indent="-342900">
              <a:lnSpc>
                <a:spcPct val="90000"/>
              </a:lnSpc>
              <a:spcBef>
                <a:spcPct val="20000"/>
              </a:spcBef>
              <a:buClr>
                <a:srgbClr val="996633"/>
              </a:buClr>
              <a:buFont typeface="Wingdings" panose="05000000000000000000" pitchFamily="2" charset="2"/>
              <a:buChar char="p"/>
            </a:pPr>
            <a:r>
              <a:rPr lang="en-US" altLang="x-none" sz="3200" b="1" dirty="0">
                <a:solidFill>
                  <a:srgbClr val="FF0066"/>
                </a:solidFill>
                <a:latin typeface="Arial" panose="020B0604020202020204" pitchFamily="34" charset="0"/>
                <a:ea typeface="宋体" panose="02010600030101010101" pitchFamily="2" charset="-122"/>
              </a:rPr>
              <a:t>step 4</a:t>
            </a:r>
            <a:r>
              <a:rPr lang="en-US" altLang="x-none" sz="3200" b="1" dirty="0">
                <a:solidFill>
                  <a:srgbClr val="FF0000"/>
                </a:solidFill>
                <a:latin typeface="Arial" panose="020B0604020202020204" pitchFamily="34" charset="0"/>
                <a:ea typeface="宋体" panose="02010600030101010101" pitchFamily="2" charset="-122"/>
              </a:rPr>
              <a:t>: </a:t>
            </a:r>
            <a:r>
              <a:rPr lang="en-US" altLang="x-none" sz="3200" b="1" dirty="0">
                <a:solidFill>
                  <a:schemeClr val="accent2"/>
                </a:solidFill>
                <a:latin typeface="Arial" panose="020B0604020202020204" pitchFamily="34" charset="0"/>
                <a:ea typeface="宋体" panose="02010600030101010101" pitchFamily="2" charset="-122"/>
              </a:rPr>
              <a:t>From the remaining set of FDs, gather all FDs with equal left-hand sides and use the union rule to create an equivalent set of FDs M where all left-hand sides are unique.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8245"/>
                                        </p:tgtEl>
                                        <p:attrNameLst>
                                          <p:attrName>style.visibility</p:attrName>
                                        </p:attrNameLst>
                                      </p:cBhvr>
                                      <p:to>
                                        <p:strVal val="visible"/>
                                      </p:to>
                                    </p:set>
                                    <p:animEffect transition="in" filter="blinds(horizontal)">
                                      <p:cBhvr>
                                        <p:cTn id="7" dur="500"/>
                                        <p:tgtEl>
                                          <p:spTgt spid="13824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38247"/>
                                        </p:tgtEl>
                                        <p:attrNameLst>
                                          <p:attrName>style.visibility</p:attrName>
                                        </p:attrNameLst>
                                      </p:cBhvr>
                                      <p:to>
                                        <p:strVal val="visible"/>
                                      </p:to>
                                    </p:set>
                                    <p:anim calcmode="lin" valueType="num">
                                      <p:cBhvr>
                                        <p:cTn id="12" dur="500" fill="hold"/>
                                        <p:tgtEl>
                                          <p:spTgt spid="138247"/>
                                        </p:tgtEl>
                                        <p:attrNameLst>
                                          <p:attrName>ppt_x</p:attrName>
                                        </p:attrNameLst>
                                      </p:cBhvr>
                                      <p:tavLst>
                                        <p:tav tm="0">
                                          <p:val>
                                            <p:strVal val="#ppt_x"/>
                                          </p:val>
                                        </p:tav>
                                        <p:tav tm="100000">
                                          <p:val>
                                            <p:strVal val="#ppt_x"/>
                                          </p:val>
                                        </p:tav>
                                      </p:tavLst>
                                    </p:anim>
                                    <p:anim calcmode="lin" valueType="num">
                                      <p:cBhvr>
                                        <p:cTn id="13" dur="500" fill="hold"/>
                                        <p:tgtEl>
                                          <p:spTgt spid="13824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38246"/>
                                        </p:tgtEl>
                                        <p:attrNameLst>
                                          <p:attrName>style.visibility</p:attrName>
                                        </p:attrNameLst>
                                      </p:cBhvr>
                                      <p:to>
                                        <p:strVal val="visible"/>
                                      </p:to>
                                    </p:set>
                                    <p:anim calcmode="lin" valueType="num">
                                      <p:cBhvr>
                                        <p:cTn id="18" dur="500" fill="hold"/>
                                        <p:tgtEl>
                                          <p:spTgt spid="138246"/>
                                        </p:tgtEl>
                                        <p:attrNameLst>
                                          <p:attrName>ppt_x</p:attrName>
                                        </p:attrNameLst>
                                      </p:cBhvr>
                                      <p:tavLst>
                                        <p:tav tm="0">
                                          <p:val>
                                            <p:strVal val="#ppt_x"/>
                                          </p:val>
                                        </p:tav>
                                        <p:tav tm="100000">
                                          <p:val>
                                            <p:strVal val="#ppt_x"/>
                                          </p:val>
                                        </p:tav>
                                      </p:tavLst>
                                    </p:anim>
                                    <p:anim calcmode="lin" valueType="num">
                                      <p:cBhvr>
                                        <p:cTn id="19" dur="500" fill="hold"/>
                                        <p:tgtEl>
                                          <p:spTgt spid="138246"/>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38248"/>
                                        </p:tgtEl>
                                        <p:attrNameLst>
                                          <p:attrName>style.visibility</p:attrName>
                                        </p:attrNameLst>
                                      </p:cBhvr>
                                      <p:to>
                                        <p:strVal val="visible"/>
                                      </p:to>
                                    </p:set>
                                    <p:anim calcmode="lin" valueType="num">
                                      <p:cBhvr>
                                        <p:cTn id="24" dur="500" fill="hold"/>
                                        <p:tgtEl>
                                          <p:spTgt spid="138248"/>
                                        </p:tgtEl>
                                        <p:attrNameLst>
                                          <p:attrName>ppt_x</p:attrName>
                                        </p:attrNameLst>
                                      </p:cBhvr>
                                      <p:tavLst>
                                        <p:tav tm="0">
                                          <p:val>
                                            <p:strVal val="#ppt_x"/>
                                          </p:val>
                                        </p:tav>
                                        <p:tav tm="100000">
                                          <p:val>
                                            <p:strVal val="#ppt_x"/>
                                          </p:val>
                                        </p:tav>
                                      </p:tavLst>
                                    </p:anim>
                                    <p:anim calcmode="lin" valueType="num">
                                      <p:cBhvr>
                                        <p:cTn id="25" dur="500" fill="hold"/>
                                        <p:tgtEl>
                                          <p:spTgt spid="1382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5" grpId="0" bldLvl="0" animBg="1"/>
      <p:bldP spid="138246" grpId="0" bldLvl="0" animBg="1"/>
      <p:bldP spid="138247" grpId="0" bldLvl="0" animBg="1"/>
      <p:bldP spid="138248" grpId="0" bldLvl="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7"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71</a:t>
            </a:fld>
            <a:endParaRPr lang="zh-CN" altLang="en-US" sz="1200" b="1" i="1" dirty="0">
              <a:latin typeface="Times New Roman" panose="02020603050405020304" pitchFamily="2" charset="0"/>
              <a:ea typeface="宋体" panose="02010600030101010101" pitchFamily="2" charset="-122"/>
            </a:endParaRPr>
          </a:p>
        </p:txBody>
      </p:sp>
      <p:sp>
        <p:nvSpPr>
          <p:cNvPr id="139268" name="Rectangle 3"/>
          <p:cNvSpPr>
            <a:spLocks noGrp="1"/>
          </p:cNvSpPr>
          <p:nvPr>
            <p:ph type="body"/>
          </p:nvPr>
        </p:nvSpPr>
        <p:spPr>
          <a:xfrm>
            <a:off x="0" y="3284538"/>
            <a:ext cx="9144000" cy="3322955"/>
          </a:xfrm>
          <a:solidFill>
            <a:schemeClr val="bg1"/>
          </a:solidFill>
          <a:ln w="25400">
            <a:solidFill>
              <a:schemeClr val="accent2"/>
            </a:solidFill>
            <a:miter/>
          </a:ln>
        </p:spPr>
        <p:txBody>
          <a:bodyPr wrap="square" anchor="t">
            <a:spAutoFit/>
          </a:bodyPr>
          <a:lstStyle/>
          <a:p>
            <a:pPr lvl="0" eaLnBrk="1" hangingPunct="1">
              <a:spcBef>
                <a:spcPct val="0"/>
              </a:spcBef>
            </a:pPr>
            <a:r>
              <a:rPr lang="en-US" altLang="x-none" sz="3000" dirty="0">
                <a:solidFill>
                  <a:srgbClr val="FF0066"/>
                </a:solidFill>
                <a:ea typeface="宋体" panose="02010600030101010101" pitchFamily="2" charset="-122"/>
              </a:rPr>
              <a:t>step 2</a:t>
            </a:r>
            <a:r>
              <a:rPr lang="en-US" altLang="x-none" sz="3000" dirty="0">
                <a:ea typeface="宋体" panose="02010600030101010101" pitchFamily="2" charset="-122"/>
              </a:rPr>
              <a:t>: From the set H of FDs, successively remove individual FDs that are inessential in H.</a:t>
            </a:r>
          </a:p>
          <a:p>
            <a:pPr lvl="1" indent="-285750" eaLnBrk="1" hangingPunct="1">
              <a:spcBef>
                <a:spcPct val="0"/>
              </a:spcBef>
            </a:pPr>
            <a:r>
              <a:rPr lang="en-US" altLang="x-none" sz="3000" dirty="0">
                <a:ea typeface="宋体" panose="02010600030101010101" pitchFamily="2" charset="-122"/>
              </a:rPr>
              <a:t>An FD X</a:t>
            </a:r>
            <a:r>
              <a:rPr lang="en-US" altLang="x-none" sz="3000" b="0" dirty="0">
                <a:ea typeface="宋体" panose="02010600030101010101" pitchFamily="2" charset="-122"/>
              </a:rPr>
              <a:t>→</a:t>
            </a:r>
            <a:r>
              <a:rPr lang="en-US" altLang="x-none" sz="3000" dirty="0">
                <a:ea typeface="宋体" panose="02010600030101010101" pitchFamily="2" charset="-122"/>
              </a:rPr>
              <a:t>Y is inessential in a set H of FDs, if X</a:t>
            </a:r>
            <a:r>
              <a:rPr lang="en-US" altLang="x-none" sz="3000" b="0" dirty="0">
                <a:ea typeface="宋体" panose="02010600030101010101" pitchFamily="2" charset="-122"/>
              </a:rPr>
              <a:t>→</a:t>
            </a:r>
            <a:r>
              <a:rPr lang="en-US" altLang="x-none" sz="3000" dirty="0">
                <a:ea typeface="宋体" panose="02010600030101010101" pitchFamily="2" charset="-122"/>
              </a:rPr>
              <a:t>Y can be removed from H, with result J, so that H</a:t>
            </a:r>
            <a:r>
              <a:rPr lang="en-US" altLang="x-none" sz="3000" baseline="30000" dirty="0">
                <a:ea typeface="宋体" panose="02010600030101010101" pitchFamily="2" charset="-122"/>
              </a:rPr>
              <a:t>+</a:t>
            </a:r>
            <a:r>
              <a:rPr lang="en-US" altLang="x-none" sz="3000" dirty="0">
                <a:ea typeface="宋体" panose="02010600030101010101" pitchFamily="2" charset="-122"/>
              </a:rPr>
              <a:t>=J</a:t>
            </a:r>
            <a:r>
              <a:rPr lang="en-US" altLang="x-none" sz="3000" baseline="30000" dirty="0">
                <a:ea typeface="宋体" panose="02010600030101010101" pitchFamily="2" charset="-122"/>
              </a:rPr>
              <a:t>+</a:t>
            </a:r>
            <a:r>
              <a:rPr lang="en-US" altLang="x-none" sz="3000" dirty="0">
                <a:ea typeface="宋体" panose="02010600030101010101" pitchFamily="2" charset="-122"/>
              </a:rPr>
              <a:t>, or H=J.</a:t>
            </a:r>
          </a:p>
          <a:p>
            <a:pPr lvl="1" indent="-285750" eaLnBrk="1" hangingPunct="1">
              <a:spcBef>
                <a:spcPct val="0"/>
              </a:spcBef>
            </a:pPr>
            <a:r>
              <a:rPr lang="en-US" altLang="x-none" sz="3000" dirty="0">
                <a:ea typeface="宋体" panose="02010600030101010101" pitchFamily="2" charset="-122"/>
              </a:rPr>
              <a:t>That is, removal of the FD from H has no effect on H</a:t>
            </a:r>
            <a:r>
              <a:rPr lang="en-US" altLang="x-none" sz="3000" baseline="30000" dirty="0">
                <a:ea typeface="宋体" panose="02010600030101010101" pitchFamily="2" charset="-122"/>
              </a:rPr>
              <a:t>+</a:t>
            </a:r>
            <a:r>
              <a:rPr lang="en-US" altLang="x-none" sz="3000" dirty="0">
                <a:ea typeface="宋体" panose="02010600030101010101" pitchFamily="2" charset="-122"/>
              </a:rPr>
              <a:t>.</a:t>
            </a:r>
          </a:p>
        </p:txBody>
      </p:sp>
      <p:grpSp>
        <p:nvGrpSpPr>
          <p:cNvPr id="139269" name="组合 139269"/>
          <p:cNvGrpSpPr/>
          <p:nvPr/>
        </p:nvGrpSpPr>
        <p:grpSpPr>
          <a:xfrm>
            <a:off x="71438" y="115888"/>
            <a:ext cx="8964612" cy="3033712"/>
            <a:chOff x="0" y="0"/>
            <a:chExt cx="9144000" cy="3907596"/>
          </a:xfrm>
        </p:grpSpPr>
        <p:grpSp>
          <p:nvGrpSpPr>
            <p:cNvPr id="139270" name="组合 139270"/>
            <p:cNvGrpSpPr/>
            <p:nvPr/>
          </p:nvGrpSpPr>
          <p:grpSpPr>
            <a:xfrm>
              <a:off x="1187624" y="0"/>
              <a:ext cx="3244949" cy="1368152"/>
              <a:chOff x="0" y="0"/>
              <a:chExt cx="2457450" cy="833755"/>
            </a:xfrm>
          </p:grpSpPr>
          <p:sp>
            <p:nvSpPr>
              <p:cNvPr id="139271" name="椭圆 31"/>
              <p:cNvSpPr/>
              <p:nvPr/>
            </p:nvSpPr>
            <p:spPr>
              <a:xfrm>
                <a:off x="0" y="0"/>
                <a:ext cx="2457450" cy="833755"/>
              </a:xfrm>
              <a:prstGeom prst="ellipse">
                <a:avLst/>
              </a:prstGeom>
              <a:solidFill>
                <a:srgbClr val="F2F2F2"/>
              </a:solidFill>
              <a:ln w="25400" cap="flat" cmpd="sng">
                <a:solidFill>
                  <a:srgbClr val="00956F"/>
                </a:solidFill>
                <a:prstDash val="solid"/>
                <a:round/>
                <a:headEnd type="none" w="med" len="med"/>
                <a:tailEnd type="none" w="med" len="med"/>
              </a:ln>
            </p:spPr>
            <p:txBody>
              <a:bodyPr anchor="ctr"/>
              <a:lstStyle/>
              <a:p>
                <a:pPr lvl="0" algn="ctr"/>
                <a:endParaRPr lang="zh-CN" altLang="en-US" dirty="0">
                  <a:solidFill>
                    <a:srgbClr val="FFFFFF"/>
                  </a:solidFill>
                  <a:latin typeface="Arial" panose="020B0604020202020204" pitchFamily="34" charset="0"/>
                  <a:ea typeface="Times New Roman" panose="02020603050405020304" pitchFamily="2" charset="0"/>
                </a:endParaRPr>
              </a:p>
            </p:txBody>
          </p:sp>
          <p:grpSp>
            <p:nvGrpSpPr>
              <p:cNvPr id="139272" name="组合 139272"/>
              <p:cNvGrpSpPr/>
              <p:nvPr/>
            </p:nvGrpSpPr>
            <p:grpSpPr>
              <a:xfrm>
                <a:off x="374015" y="167005"/>
                <a:ext cx="826135" cy="510540"/>
                <a:chOff x="0" y="0"/>
                <a:chExt cx="826618" cy="510540"/>
              </a:xfrm>
            </p:grpSpPr>
            <p:sp>
              <p:nvSpPr>
                <p:cNvPr id="139273" name="椭圆 36"/>
                <p:cNvSpPr/>
                <p:nvPr/>
              </p:nvSpPr>
              <p:spPr>
                <a:xfrm>
                  <a:off x="0" y="0"/>
                  <a:ext cx="826618" cy="510540"/>
                </a:xfrm>
                <a:prstGeom prst="ellipse">
                  <a:avLst/>
                </a:prstGeom>
                <a:noFill/>
                <a:ln w="25400" cap="flat" cmpd="sng">
                  <a:solidFill>
                    <a:srgbClr val="00956F"/>
                  </a:solidFill>
                  <a:prstDash val="solid"/>
                  <a:round/>
                  <a:headEnd type="none" w="med" len="med"/>
                  <a:tailEnd type="none" w="med" len="med"/>
                </a:ln>
              </p:spPr>
              <p:txBody>
                <a:bodyPr lIns="0" tIns="0" rIns="0" bIns="0" anchor="t"/>
                <a:lstStyle/>
                <a:p>
                  <a:pPr lvl="0" algn="ctr"/>
                  <a:r>
                    <a:rPr lang="en-US" altLang="x-none" sz="1400" b="1" dirty="0">
                      <a:solidFill>
                        <a:srgbClr val="002060"/>
                      </a:solidFill>
                      <a:latin typeface="Arial" panose="020B0604020202020204" pitchFamily="34" charset="0"/>
                      <a:ea typeface="宋体" panose="02010600030101010101" pitchFamily="2" charset="-122"/>
                    </a:rPr>
                    <a:t> </a:t>
                  </a:r>
                  <a:endParaRPr lang="zh-CN" altLang="en-US" sz="1000" dirty="0">
                    <a:solidFill>
                      <a:srgbClr val="FFFFFF"/>
                    </a:solidFill>
                    <a:latin typeface="Arial" panose="020B0604020202020204" pitchFamily="34" charset="0"/>
                    <a:ea typeface="宋体" panose="02010600030101010101" pitchFamily="2" charset="-122"/>
                  </a:endParaRPr>
                </a:p>
              </p:txBody>
            </p:sp>
            <p:sp>
              <p:nvSpPr>
                <p:cNvPr id="139274" name="矩形 37"/>
                <p:cNvSpPr/>
                <p:nvPr/>
              </p:nvSpPr>
              <p:spPr>
                <a:xfrm>
                  <a:off x="175565" y="51206"/>
                  <a:ext cx="489585" cy="393700"/>
                </a:xfrm>
                <a:prstGeom prst="rect">
                  <a:avLst/>
                </a:prstGeom>
                <a:solidFill>
                  <a:schemeClr val="bg1"/>
                </a:solidFill>
                <a:ln w="25400" cap="flat" cmpd="sng">
                  <a:solidFill>
                    <a:srgbClr val="00956F"/>
                  </a:solidFill>
                  <a:prstDash val="solid"/>
                  <a:miter/>
                  <a:headEnd type="none" w="med" len="med"/>
                  <a:tailEnd type="none" w="med" len="med"/>
                </a:ln>
              </p:spPr>
              <p:txBody>
                <a:bodyPr lIns="0" tIns="0" rIns="0" bIns="0" anchor="ctr"/>
                <a:lstStyle/>
                <a:p>
                  <a:pPr lvl="0" algn="ctr"/>
                  <a:r>
                    <a:rPr lang="en-US" altLang="x-none" sz="3200" b="1" dirty="0">
                      <a:solidFill>
                        <a:srgbClr val="002060"/>
                      </a:solidFill>
                      <a:latin typeface="Arial" panose="020B0604020202020204" pitchFamily="34" charset="0"/>
                      <a:ea typeface="宋体" panose="02010600030101010101" pitchFamily="2" charset="-122"/>
                    </a:rPr>
                    <a:t>B</a:t>
                  </a:r>
                  <a:endParaRPr lang="zh-CN" altLang="en-US" sz="3200" dirty="0">
                    <a:solidFill>
                      <a:srgbClr val="FFFFFF"/>
                    </a:solidFill>
                    <a:latin typeface="Arial" panose="020B0604020202020204" pitchFamily="34" charset="0"/>
                    <a:ea typeface="宋体" panose="02010600030101010101" pitchFamily="2" charset="-122"/>
                  </a:endParaRPr>
                </a:p>
              </p:txBody>
            </p:sp>
          </p:grpSp>
          <p:grpSp>
            <p:nvGrpSpPr>
              <p:cNvPr id="139275" name="组合 139275"/>
              <p:cNvGrpSpPr/>
              <p:nvPr/>
            </p:nvGrpSpPr>
            <p:grpSpPr>
              <a:xfrm>
                <a:off x="1361440" y="167005"/>
                <a:ext cx="826135" cy="510540"/>
                <a:chOff x="0" y="0"/>
                <a:chExt cx="826618" cy="510540"/>
              </a:xfrm>
            </p:grpSpPr>
            <p:sp>
              <p:nvSpPr>
                <p:cNvPr id="139276" name="椭圆 34"/>
                <p:cNvSpPr/>
                <p:nvPr/>
              </p:nvSpPr>
              <p:spPr>
                <a:xfrm>
                  <a:off x="0" y="0"/>
                  <a:ext cx="826618" cy="510540"/>
                </a:xfrm>
                <a:prstGeom prst="ellipse">
                  <a:avLst/>
                </a:prstGeom>
                <a:noFill/>
                <a:ln w="25400" cap="flat" cmpd="sng">
                  <a:solidFill>
                    <a:srgbClr val="00956F"/>
                  </a:solidFill>
                  <a:prstDash val="solid"/>
                  <a:round/>
                  <a:headEnd type="none" w="med" len="med"/>
                  <a:tailEnd type="none" w="med" len="med"/>
                </a:ln>
              </p:spPr>
              <p:txBody>
                <a:bodyPr lIns="0" tIns="0" rIns="0" bIns="0" anchor="t"/>
                <a:lstStyle/>
                <a:p>
                  <a:pPr lvl="0" algn="ctr"/>
                  <a:r>
                    <a:rPr lang="en-US" altLang="x-none" sz="1400" b="1" dirty="0">
                      <a:solidFill>
                        <a:srgbClr val="002060"/>
                      </a:solidFill>
                      <a:latin typeface="Arial" panose="020B0604020202020204" pitchFamily="34" charset="0"/>
                      <a:ea typeface="宋体" panose="02010600030101010101" pitchFamily="2" charset="-122"/>
                    </a:rPr>
                    <a:t> </a:t>
                  </a:r>
                  <a:endParaRPr lang="zh-CN" altLang="en-US" sz="1000" dirty="0">
                    <a:solidFill>
                      <a:srgbClr val="FFFFFF"/>
                    </a:solidFill>
                    <a:latin typeface="Arial" panose="020B0604020202020204" pitchFamily="34" charset="0"/>
                    <a:ea typeface="宋体" panose="02010600030101010101" pitchFamily="2" charset="-122"/>
                  </a:endParaRPr>
                </a:p>
              </p:txBody>
            </p:sp>
            <p:sp>
              <p:nvSpPr>
                <p:cNvPr id="139277" name="矩形 35"/>
                <p:cNvSpPr/>
                <p:nvPr/>
              </p:nvSpPr>
              <p:spPr>
                <a:xfrm>
                  <a:off x="175565" y="51206"/>
                  <a:ext cx="489585" cy="393700"/>
                </a:xfrm>
                <a:prstGeom prst="rect">
                  <a:avLst/>
                </a:prstGeom>
                <a:solidFill>
                  <a:schemeClr val="bg1"/>
                </a:solidFill>
                <a:ln w="25400" cap="flat" cmpd="sng">
                  <a:solidFill>
                    <a:srgbClr val="00956F"/>
                  </a:solidFill>
                  <a:prstDash val="solid"/>
                  <a:miter/>
                  <a:headEnd type="none" w="med" len="med"/>
                  <a:tailEnd type="none" w="med" len="med"/>
                </a:ln>
              </p:spPr>
              <p:txBody>
                <a:bodyPr lIns="0" tIns="0" rIns="0" bIns="0" anchor="ctr"/>
                <a:lstStyle/>
                <a:p>
                  <a:pPr lvl="0" algn="ctr"/>
                  <a:r>
                    <a:rPr lang="en-US" altLang="x-none" sz="3200" b="1" dirty="0">
                      <a:solidFill>
                        <a:srgbClr val="002060"/>
                      </a:solidFill>
                      <a:latin typeface="Arial" panose="020B0604020202020204" pitchFamily="34" charset="0"/>
                      <a:ea typeface="宋体" panose="02010600030101010101" pitchFamily="2" charset="-122"/>
                    </a:rPr>
                    <a:t>C</a:t>
                  </a:r>
                  <a:endParaRPr lang="zh-CN" altLang="en-US" sz="3200" dirty="0">
                    <a:solidFill>
                      <a:srgbClr val="FFFFFF"/>
                    </a:solidFill>
                    <a:latin typeface="Arial" panose="020B0604020202020204" pitchFamily="34" charset="0"/>
                    <a:ea typeface="宋体" panose="02010600030101010101" pitchFamily="2" charset="-122"/>
                  </a:endParaRPr>
                </a:p>
              </p:txBody>
            </p:sp>
          </p:grpSp>
        </p:grpSp>
        <p:grpSp>
          <p:nvGrpSpPr>
            <p:cNvPr id="139278" name="组合 139278"/>
            <p:cNvGrpSpPr/>
            <p:nvPr/>
          </p:nvGrpSpPr>
          <p:grpSpPr>
            <a:xfrm>
              <a:off x="4063355" y="1800200"/>
              <a:ext cx="3244949" cy="1368152"/>
              <a:chOff x="0" y="0"/>
              <a:chExt cx="2457450" cy="833755"/>
            </a:xfrm>
          </p:grpSpPr>
          <p:sp>
            <p:nvSpPr>
              <p:cNvPr id="139279" name="椭圆 24"/>
              <p:cNvSpPr/>
              <p:nvPr/>
            </p:nvSpPr>
            <p:spPr>
              <a:xfrm>
                <a:off x="0" y="0"/>
                <a:ext cx="2457450" cy="833755"/>
              </a:xfrm>
              <a:prstGeom prst="ellipse">
                <a:avLst/>
              </a:prstGeom>
              <a:solidFill>
                <a:srgbClr val="F2F2F2"/>
              </a:solidFill>
              <a:ln w="25400" cap="flat" cmpd="sng">
                <a:solidFill>
                  <a:srgbClr val="00956F"/>
                </a:solidFill>
                <a:prstDash val="solid"/>
                <a:round/>
                <a:headEnd type="none" w="med" len="med"/>
                <a:tailEnd type="none" w="med" len="med"/>
              </a:ln>
            </p:spPr>
            <p:txBody>
              <a:bodyPr anchor="ctr"/>
              <a:lstStyle/>
              <a:p>
                <a:pPr lvl="0" algn="ctr"/>
                <a:endParaRPr lang="zh-CN" altLang="en-US" dirty="0">
                  <a:solidFill>
                    <a:srgbClr val="FFFFFF"/>
                  </a:solidFill>
                  <a:latin typeface="Arial" panose="020B0604020202020204" pitchFamily="34" charset="0"/>
                  <a:ea typeface="Times New Roman" panose="02020603050405020304" pitchFamily="2" charset="0"/>
                </a:endParaRPr>
              </a:p>
            </p:txBody>
          </p:sp>
          <p:grpSp>
            <p:nvGrpSpPr>
              <p:cNvPr id="139280" name="组合 139280"/>
              <p:cNvGrpSpPr/>
              <p:nvPr/>
            </p:nvGrpSpPr>
            <p:grpSpPr>
              <a:xfrm>
                <a:off x="374015" y="167005"/>
                <a:ext cx="826135" cy="510540"/>
                <a:chOff x="0" y="0"/>
                <a:chExt cx="826618" cy="510540"/>
              </a:xfrm>
            </p:grpSpPr>
            <p:sp>
              <p:nvSpPr>
                <p:cNvPr id="139281" name="椭圆 29"/>
                <p:cNvSpPr/>
                <p:nvPr/>
              </p:nvSpPr>
              <p:spPr>
                <a:xfrm>
                  <a:off x="0" y="0"/>
                  <a:ext cx="826618" cy="510540"/>
                </a:xfrm>
                <a:prstGeom prst="ellipse">
                  <a:avLst/>
                </a:prstGeom>
                <a:noFill/>
                <a:ln w="25400" cap="flat" cmpd="sng">
                  <a:solidFill>
                    <a:srgbClr val="00956F"/>
                  </a:solidFill>
                  <a:prstDash val="solid"/>
                  <a:round/>
                  <a:headEnd type="none" w="med" len="med"/>
                  <a:tailEnd type="none" w="med" len="med"/>
                </a:ln>
              </p:spPr>
              <p:txBody>
                <a:bodyPr lIns="0" tIns="0" rIns="0" bIns="0" anchor="t"/>
                <a:lstStyle/>
                <a:p>
                  <a:pPr lvl="0" algn="ctr"/>
                  <a:r>
                    <a:rPr lang="en-US" altLang="x-none" sz="1400" b="1" dirty="0">
                      <a:solidFill>
                        <a:srgbClr val="002060"/>
                      </a:solidFill>
                      <a:latin typeface="Arial" panose="020B0604020202020204" pitchFamily="34" charset="0"/>
                      <a:ea typeface="宋体" panose="02010600030101010101" pitchFamily="2" charset="-122"/>
                    </a:rPr>
                    <a:t> </a:t>
                  </a:r>
                  <a:endParaRPr lang="zh-CN" altLang="en-US" sz="1000" dirty="0">
                    <a:solidFill>
                      <a:srgbClr val="FFFFFF"/>
                    </a:solidFill>
                    <a:latin typeface="Arial" panose="020B0604020202020204" pitchFamily="34" charset="0"/>
                    <a:ea typeface="宋体" panose="02010600030101010101" pitchFamily="2" charset="-122"/>
                  </a:endParaRPr>
                </a:p>
              </p:txBody>
            </p:sp>
            <p:sp>
              <p:nvSpPr>
                <p:cNvPr id="139282" name="矩形 30"/>
                <p:cNvSpPr/>
                <p:nvPr/>
              </p:nvSpPr>
              <p:spPr>
                <a:xfrm>
                  <a:off x="175565" y="51206"/>
                  <a:ext cx="489585" cy="393700"/>
                </a:xfrm>
                <a:prstGeom prst="rect">
                  <a:avLst/>
                </a:prstGeom>
                <a:solidFill>
                  <a:schemeClr val="bg1"/>
                </a:solidFill>
                <a:ln w="25400" cap="flat" cmpd="sng">
                  <a:solidFill>
                    <a:srgbClr val="00956F"/>
                  </a:solidFill>
                  <a:prstDash val="solid"/>
                  <a:miter/>
                  <a:headEnd type="none" w="med" len="med"/>
                  <a:tailEnd type="none" w="med" len="med"/>
                </a:ln>
              </p:spPr>
              <p:txBody>
                <a:bodyPr lIns="0" tIns="0" rIns="0" bIns="0" anchor="ctr"/>
                <a:lstStyle/>
                <a:p>
                  <a:pPr lvl="0" algn="ctr"/>
                  <a:r>
                    <a:rPr lang="en-US" altLang="x-none" sz="3200" b="1" dirty="0">
                      <a:solidFill>
                        <a:srgbClr val="002060"/>
                      </a:solidFill>
                      <a:latin typeface="Arial" panose="020B0604020202020204" pitchFamily="34" charset="0"/>
                      <a:ea typeface="宋体" panose="02010600030101010101" pitchFamily="2" charset="-122"/>
                    </a:rPr>
                    <a:t>E</a:t>
                  </a:r>
                  <a:endParaRPr lang="zh-CN" altLang="en-US" sz="3200" dirty="0">
                    <a:solidFill>
                      <a:srgbClr val="FFFFFF"/>
                    </a:solidFill>
                    <a:latin typeface="Arial" panose="020B0604020202020204" pitchFamily="34" charset="0"/>
                    <a:ea typeface="宋体" panose="02010600030101010101" pitchFamily="2" charset="-122"/>
                  </a:endParaRPr>
                </a:p>
              </p:txBody>
            </p:sp>
          </p:grpSp>
          <p:grpSp>
            <p:nvGrpSpPr>
              <p:cNvPr id="139283" name="组合 139283"/>
              <p:cNvGrpSpPr/>
              <p:nvPr/>
            </p:nvGrpSpPr>
            <p:grpSpPr>
              <a:xfrm>
                <a:off x="1361440" y="167005"/>
                <a:ext cx="826135" cy="510540"/>
                <a:chOff x="0" y="0"/>
                <a:chExt cx="826618" cy="510540"/>
              </a:xfrm>
            </p:grpSpPr>
            <p:sp>
              <p:nvSpPr>
                <p:cNvPr id="139284" name="椭圆 27"/>
                <p:cNvSpPr/>
                <p:nvPr/>
              </p:nvSpPr>
              <p:spPr>
                <a:xfrm>
                  <a:off x="0" y="0"/>
                  <a:ext cx="826618" cy="510540"/>
                </a:xfrm>
                <a:prstGeom prst="ellipse">
                  <a:avLst/>
                </a:prstGeom>
                <a:noFill/>
                <a:ln w="25400" cap="flat" cmpd="sng">
                  <a:solidFill>
                    <a:srgbClr val="00956F"/>
                  </a:solidFill>
                  <a:prstDash val="solid"/>
                  <a:round/>
                  <a:headEnd type="none" w="med" len="med"/>
                  <a:tailEnd type="none" w="med" len="med"/>
                </a:ln>
              </p:spPr>
              <p:txBody>
                <a:bodyPr lIns="0" tIns="0" rIns="0" bIns="0" anchor="t"/>
                <a:lstStyle/>
                <a:p>
                  <a:pPr lvl="0" algn="ctr"/>
                  <a:r>
                    <a:rPr lang="en-US" altLang="x-none" sz="1400" b="1" dirty="0">
                      <a:solidFill>
                        <a:srgbClr val="002060"/>
                      </a:solidFill>
                      <a:latin typeface="Arial" panose="020B0604020202020204" pitchFamily="34" charset="0"/>
                      <a:ea typeface="宋体" panose="02010600030101010101" pitchFamily="2" charset="-122"/>
                    </a:rPr>
                    <a:t> </a:t>
                  </a:r>
                  <a:endParaRPr lang="zh-CN" altLang="en-US" sz="1000" dirty="0">
                    <a:solidFill>
                      <a:srgbClr val="FFFFFF"/>
                    </a:solidFill>
                    <a:latin typeface="Arial" panose="020B0604020202020204" pitchFamily="34" charset="0"/>
                    <a:ea typeface="宋体" panose="02010600030101010101" pitchFamily="2" charset="-122"/>
                  </a:endParaRPr>
                </a:p>
              </p:txBody>
            </p:sp>
            <p:sp>
              <p:nvSpPr>
                <p:cNvPr id="139285" name="矩形 28"/>
                <p:cNvSpPr/>
                <p:nvPr/>
              </p:nvSpPr>
              <p:spPr>
                <a:xfrm>
                  <a:off x="175565" y="51206"/>
                  <a:ext cx="489585" cy="393700"/>
                </a:xfrm>
                <a:prstGeom prst="rect">
                  <a:avLst/>
                </a:prstGeom>
                <a:solidFill>
                  <a:schemeClr val="bg1"/>
                </a:solidFill>
                <a:ln w="25400" cap="flat" cmpd="sng">
                  <a:solidFill>
                    <a:srgbClr val="00956F"/>
                  </a:solidFill>
                  <a:prstDash val="solid"/>
                  <a:miter/>
                  <a:headEnd type="none" w="med" len="med"/>
                  <a:tailEnd type="none" w="med" len="med"/>
                </a:ln>
              </p:spPr>
              <p:txBody>
                <a:bodyPr lIns="0" tIns="0" rIns="0" bIns="0" anchor="ctr"/>
                <a:lstStyle/>
                <a:p>
                  <a:pPr lvl="0" algn="ctr"/>
                  <a:r>
                    <a:rPr lang="en-US" altLang="x-none" sz="3200" b="1" dirty="0">
                      <a:solidFill>
                        <a:srgbClr val="002060"/>
                      </a:solidFill>
                      <a:latin typeface="Arial" panose="020B0604020202020204" pitchFamily="34" charset="0"/>
                      <a:ea typeface="宋体" panose="02010600030101010101" pitchFamily="2" charset="-122"/>
                    </a:rPr>
                    <a:t>F</a:t>
                  </a:r>
                  <a:endParaRPr lang="zh-CN" altLang="en-US" sz="3200" dirty="0">
                    <a:solidFill>
                      <a:srgbClr val="FFFFFF"/>
                    </a:solidFill>
                    <a:latin typeface="Arial" panose="020B0604020202020204" pitchFamily="34" charset="0"/>
                    <a:ea typeface="宋体" panose="02010600030101010101" pitchFamily="2" charset="-122"/>
                  </a:endParaRPr>
                </a:p>
              </p:txBody>
            </p:sp>
          </p:grpSp>
        </p:grpSp>
        <p:grpSp>
          <p:nvGrpSpPr>
            <p:cNvPr id="139286" name="组合 139286"/>
            <p:cNvGrpSpPr/>
            <p:nvPr/>
          </p:nvGrpSpPr>
          <p:grpSpPr>
            <a:xfrm>
              <a:off x="1342237" y="2042582"/>
              <a:ext cx="1138627" cy="727452"/>
              <a:chOff x="0" y="0"/>
              <a:chExt cx="826618" cy="510540"/>
            </a:xfrm>
          </p:grpSpPr>
          <p:sp>
            <p:nvSpPr>
              <p:cNvPr id="139287" name="椭圆 22"/>
              <p:cNvSpPr/>
              <p:nvPr/>
            </p:nvSpPr>
            <p:spPr>
              <a:xfrm>
                <a:off x="0" y="0"/>
                <a:ext cx="826618" cy="510540"/>
              </a:xfrm>
              <a:prstGeom prst="ellipse">
                <a:avLst/>
              </a:prstGeom>
              <a:noFill/>
              <a:ln w="25400" cap="flat" cmpd="sng">
                <a:solidFill>
                  <a:srgbClr val="00956F"/>
                </a:solidFill>
                <a:prstDash val="solid"/>
                <a:round/>
                <a:headEnd type="none" w="med" len="med"/>
                <a:tailEnd type="none" w="med" len="med"/>
              </a:ln>
            </p:spPr>
            <p:txBody>
              <a:bodyPr lIns="0" tIns="0" rIns="0" bIns="0" anchor="t"/>
              <a:lstStyle/>
              <a:p>
                <a:pPr lvl="0" algn="ctr"/>
                <a:r>
                  <a:rPr lang="en-US" altLang="x-none" sz="1400" b="1" dirty="0">
                    <a:solidFill>
                      <a:srgbClr val="002060"/>
                    </a:solidFill>
                    <a:latin typeface="Arial" panose="020B0604020202020204" pitchFamily="34" charset="0"/>
                    <a:ea typeface="宋体" panose="02010600030101010101" pitchFamily="2" charset="-122"/>
                  </a:rPr>
                  <a:t> </a:t>
                </a:r>
                <a:endParaRPr lang="zh-CN" altLang="en-US" sz="1000" dirty="0">
                  <a:solidFill>
                    <a:srgbClr val="FFFFFF"/>
                  </a:solidFill>
                  <a:latin typeface="Arial" panose="020B0604020202020204" pitchFamily="34" charset="0"/>
                  <a:ea typeface="宋体" panose="02010600030101010101" pitchFamily="2" charset="-122"/>
                </a:endParaRPr>
              </a:p>
            </p:txBody>
          </p:sp>
          <p:sp>
            <p:nvSpPr>
              <p:cNvPr id="139288" name="矩形 23"/>
              <p:cNvSpPr/>
              <p:nvPr/>
            </p:nvSpPr>
            <p:spPr>
              <a:xfrm>
                <a:off x="175565" y="51206"/>
                <a:ext cx="489585" cy="393700"/>
              </a:xfrm>
              <a:prstGeom prst="rect">
                <a:avLst/>
              </a:prstGeom>
              <a:solidFill>
                <a:schemeClr val="bg1"/>
              </a:solidFill>
              <a:ln w="25400" cap="flat" cmpd="sng">
                <a:solidFill>
                  <a:srgbClr val="00956F"/>
                </a:solidFill>
                <a:prstDash val="solid"/>
                <a:miter/>
                <a:headEnd type="none" w="med" len="med"/>
                <a:tailEnd type="none" w="med" len="med"/>
              </a:ln>
            </p:spPr>
            <p:txBody>
              <a:bodyPr lIns="0" tIns="0" rIns="0" bIns="0" anchor="ctr"/>
              <a:lstStyle/>
              <a:p>
                <a:pPr lvl="0" algn="ctr"/>
                <a:r>
                  <a:rPr lang="en-US" altLang="x-none" sz="3200" b="1" dirty="0">
                    <a:solidFill>
                      <a:srgbClr val="002060"/>
                    </a:solidFill>
                    <a:latin typeface="Arial" panose="020B0604020202020204" pitchFamily="34" charset="0"/>
                    <a:ea typeface="宋体" panose="02010600030101010101" pitchFamily="2" charset="-122"/>
                  </a:rPr>
                  <a:t>D</a:t>
                </a:r>
                <a:endParaRPr lang="zh-CN" altLang="en-US" sz="3200" dirty="0">
                  <a:solidFill>
                    <a:srgbClr val="FFFFFF"/>
                  </a:solidFill>
                  <a:latin typeface="Arial" panose="020B0604020202020204" pitchFamily="34" charset="0"/>
                  <a:ea typeface="宋体" panose="02010600030101010101" pitchFamily="2" charset="-122"/>
                </a:endParaRPr>
              </a:p>
            </p:txBody>
          </p:sp>
        </p:grpSp>
        <p:grpSp>
          <p:nvGrpSpPr>
            <p:cNvPr id="139289" name="组合 139289"/>
            <p:cNvGrpSpPr/>
            <p:nvPr/>
          </p:nvGrpSpPr>
          <p:grpSpPr>
            <a:xfrm>
              <a:off x="6084168" y="299856"/>
              <a:ext cx="1138627" cy="727452"/>
              <a:chOff x="0" y="0"/>
              <a:chExt cx="826618" cy="510540"/>
            </a:xfrm>
          </p:grpSpPr>
          <p:sp>
            <p:nvSpPr>
              <p:cNvPr id="139290" name="椭圆 20"/>
              <p:cNvSpPr/>
              <p:nvPr/>
            </p:nvSpPr>
            <p:spPr>
              <a:xfrm>
                <a:off x="0" y="0"/>
                <a:ext cx="826618" cy="510540"/>
              </a:xfrm>
              <a:prstGeom prst="ellipse">
                <a:avLst/>
              </a:prstGeom>
              <a:noFill/>
              <a:ln w="25400" cap="flat" cmpd="sng">
                <a:solidFill>
                  <a:srgbClr val="00956F"/>
                </a:solidFill>
                <a:prstDash val="solid"/>
                <a:round/>
                <a:headEnd type="none" w="med" len="med"/>
                <a:tailEnd type="none" w="med" len="med"/>
              </a:ln>
            </p:spPr>
            <p:txBody>
              <a:bodyPr lIns="0" tIns="0" rIns="0" bIns="0" anchor="t"/>
              <a:lstStyle/>
              <a:p>
                <a:pPr lvl="0" algn="ctr"/>
                <a:r>
                  <a:rPr lang="en-US" altLang="x-none" sz="1400" b="1" dirty="0">
                    <a:solidFill>
                      <a:srgbClr val="002060"/>
                    </a:solidFill>
                    <a:latin typeface="Arial" panose="020B0604020202020204" pitchFamily="34" charset="0"/>
                    <a:ea typeface="宋体" panose="02010600030101010101" pitchFamily="2" charset="-122"/>
                  </a:rPr>
                  <a:t> </a:t>
                </a:r>
                <a:endParaRPr lang="zh-CN" altLang="en-US" sz="1000" dirty="0">
                  <a:solidFill>
                    <a:srgbClr val="FFFFFF"/>
                  </a:solidFill>
                  <a:latin typeface="Arial" panose="020B0604020202020204" pitchFamily="34" charset="0"/>
                  <a:ea typeface="宋体" panose="02010600030101010101" pitchFamily="2" charset="-122"/>
                </a:endParaRPr>
              </a:p>
            </p:txBody>
          </p:sp>
          <p:sp>
            <p:nvSpPr>
              <p:cNvPr id="139291" name="矩形 21"/>
              <p:cNvSpPr/>
              <p:nvPr/>
            </p:nvSpPr>
            <p:spPr>
              <a:xfrm>
                <a:off x="175565" y="51206"/>
                <a:ext cx="489585" cy="393700"/>
              </a:xfrm>
              <a:prstGeom prst="rect">
                <a:avLst/>
              </a:prstGeom>
              <a:solidFill>
                <a:schemeClr val="bg1"/>
              </a:solidFill>
              <a:ln w="25400" cap="flat" cmpd="sng">
                <a:solidFill>
                  <a:srgbClr val="00956F"/>
                </a:solidFill>
                <a:prstDash val="solid"/>
                <a:miter/>
                <a:headEnd type="none" w="med" len="med"/>
                <a:tailEnd type="none" w="med" len="med"/>
              </a:ln>
            </p:spPr>
            <p:txBody>
              <a:bodyPr lIns="0" tIns="0" rIns="0" bIns="0" anchor="ctr"/>
              <a:lstStyle/>
              <a:p>
                <a:pPr lvl="0" algn="ctr"/>
                <a:r>
                  <a:rPr lang="en-US" altLang="x-none" sz="3200" b="1" dirty="0">
                    <a:solidFill>
                      <a:srgbClr val="002060"/>
                    </a:solidFill>
                    <a:latin typeface="Arial" panose="020B0604020202020204" pitchFamily="34" charset="0"/>
                    <a:ea typeface="宋体" panose="02010600030101010101" pitchFamily="2" charset="-122"/>
                  </a:rPr>
                  <a:t>A</a:t>
                </a:r>
                <a:endParaRPr lang="zh-CN" altLang="en-US" sz="3200" dirty="0">
                  <a:solidFill>
                    <a:srgbClr val="FFFFFF"/>
                  </a:solidFill>
                  <a:latin typeface="Arial" panose="020B0604020202020204" pitchFamily="34" charset="0"/>
                  <a:ea typeface="宋体" panose="02010600030101010101" pitchFamily="2" charset="-122"/>
                </a:endParaRPr>
              </a:p>
            </p:txBody>
          </p:sp>
        </p:grpSp>
        <p:sp>
          <p:nvSpPr>
            <p:cNvPr id="139292" name="矩形 13"/>
            <p:cNvSpPr/>
            <p:nvPr/>
          </p:nvSpPr>
          <p:spPr>
            <a:xfrm>
              <a:off x="698674" y="77197"/>
              <a:ext cx="488950" cy="393700"/>
            </a:xfrm>
            <a:prstGeom prst="rect">
              <a:avLst/>
            </a:prstGeom>
            <a:noFill/>
            <a:ln w="9525">
              <a:noFill/>
            </a:ln>
          </p:spPr>
          <p:txBody>
            <a:bodyPr lIns="0" tIns="0" rIns="0" bIns="0" anchor="ctr"/>
            <a:lstStyle/>
            <a:p>
              <a:pPr lvl="0" algn="ctr"/>
              <a:r>
                <a:rPr lang="en-US" altLang="x-none" sz="3200" b="1" dirty="0">
                  <a:solidFill>
                    <a:srgbClr val="002060"/>
                  </a:solidFill>
                  <a:latin typeface="Arial" panose="020B0604020202020204" pitchFamily="34" charset="0"/>
                  <a:ea typeface="宋体" panose="02010600030101010101" pitchFamily="2" charset="-122"/>
                </a:rPr>
                <a:t>X</a:t>
              </a:r>
              <a:endParaRPr lang="zh-CN" altLang="en-US" sz="3200" dirty="0">
                <a:solidFill>
                  <a:srgbClr val="FFFFFF"/>
                </a:solidFill>
                <a:latin typeface="Arial" panose="020B0604020202020204" pitchFamily="34" charset="0"/>
                <a:ea typeface="宋体" panose="02010600030101010101" pitchFamily="2" charset="-122"/>
              </a:endParaRPr>
            </a:p>
          </p:txBody>
        </p:sp>
        <p:sp>
          <p:nvSpPr>
            <p:cNvPr id="139293" name="任意多边形 14"/>
            <p:cNvSpPr/>
            <p:nvPr/>
          </p:nvSpPr>
          <p:spPr>
            <a:xfrm>
              <a:off x="4282440" y="173922"/>
              <a:ext cx="1950720" cy="228782"/>
            </a:xfrm>
            <a:custGeom>
              <a:avLst/>
              <a:gdLst/>
              <a:ahLst/>
              <a:cxnLst>
                <a:cxn ang="0">
                  <a:pos x="0" y="198302"/>
                </a:cxn>
                <a:cxn ang="0">
                  <a:pos x="838200" y="182"/>
                </a:cxn>
                <a:cxn ang="0">
                  <a:pos x="1950720" y="228782"/>
                </a:cxn>
              </a:cxnLst>
              <a:rect l="0" t="0" r="0" b="0"/>
              <a:pathLst>
                <a:path w="1950720" h="228782">
                  <a:moveTo>
                    <a:pt x="0" y="198302"/>
                  </a:moveTo>
                  <a:cubicBezTo>
                    <a:pt x="256540" y="96702"/>
                    <a:pt x="513080" y="-4898"/>
                    <a:pt x="838200" y="182"/>
                  </a:cubicBezTo>
                  <a:cubicBezTo>
                    <a:pt x="1163320" y="5262"/>
                    <a:pt x="1752600" y="185602"/>
                    <a:pt x="1950720" y="228782"/>
                  </a:cubicBezTo>
                </a:path>
              </a:pathLst>
            </a:custGeom>
            <a:noFill/>
            <a:ln w="38100" cap="flat" cmpd="sng">
              <a:solidFill>
                <a:srgbClr val="FF0000"/>
              </a:solidFill>
              <a:prstDash val="solid"/>
              <a:round/>
              <a:headEnd type="none" w="med" len="med"/>
              <a:tailEnd type="arrow" w="lg" len="lg"/>
            </a:ln>
          </p:spPr>
          <p:txBody>
            <a:bodyPr/>
            <a:lstStyle/>
            <a:p>
              <a:endParaRPr lang="zh-CN" altLang="en-US"/>
            </a:p>
          </p:txBody>
        </p:sp>
        <p:cxnSp>
          <p:nvCxnSpPr>
            <p:cNvPr id="139294" name="直接箭头连接符 15"/>
            <p:cNvCxnSpPr>
              <a:stCxn id="139273" idx="4"/>
              <a:endCxn id="139287" idx="0"/>
            </p:cNvCxnSpPr>
            <p:nvPr/>
          </p:nvCxnSpPr>
          <p:spPr>
            <a:xfrm flipH="1">
              <a:off x="1911551" y="1111819"/>
              <a:ext cx="315379" cy="930763"/>
            </a:xfrm>
            <a:prstGeom prst="straightConnector1">
              <a:avLst/>
            </a:prstGeom>
            <a:ln w="38100" cap="flat" cmpd="sng">
              <a:solidFill>
                <a:srgbClr val="FF0000"/>
              </a:solidFill>
              <a:prstDash val="solid"/>
              <a:round/>
              <a:headEnd type="none" w="med" len="med"/>
              <a:tailEnd type="arrow" w="lg" len="lg"/>
            </a:ln>
          </p:spPr>
        </p:cxnSp>
        <p:cxnSp>
          <p:nvCxnSpPr>
            <p:cNvPr id="139295" name="直接箭头连接符 16"/>
            <p:cNvCxnSpPr>
              <a:stCxn id="139276" idx="5"/>
            </p:cNvCxnSpPr>
            <p:nvPr/>
          </p:nvCxnSpPr>
          <p:spPr>
            <a:xfrm>
              <a:off x="3916461" y="989130"/>
              <a:ext cx="2167707" cy="1169144"/>
            </a:xfrm>
            <a:prstGeom prst="straightConnector1">
              <a:avLst/>
            </a:prstGeom>
            <a:ln w="38100" cap="flat" cmpd="sng">
              <a:solidFill>
                <a:srgbClr val="FF0000"/>
              </a:solidFill>
              <a:prstDash val="solid"/>
              <a:round/>
              <a:headEnd type="none" w="med" len="med"/>
              <a:tailEnd type="arrow" w="lg" len="lg"/>
            </a:ln>
          </p:spPr>
        </p:cxnSp>
        <p:cxnSp>
          <p:nvCxnSpPr>
            <p:cNvPr id="139296" name="直接箭头连接符 17"/>
            <p:cNvCxnSpPr>
              <a:stCxn id="139287" idx="6"/>
            </p:cNvCxnSpPr>
            <p:nvPr/>
          </p:nvCxnSpPr>
          <p:spPr>
            <a:xfrm>
              <a:off x="2480864" y="2406308"/>
              <a:ext cx="2076360" cy="74987"/>
            </a:xfrm>
            <a:prstGeom prst="straightConnector1">
              <a:avLst/>
            </a:prstGeom>
            <a:ln w="38100" cap="flat" cmpd="sng">
              <a:solidFill>
                <a:srgbClr val="FF0000"/>
              </a:solidFill>
              <a:prstDash val="solid"/>
              <a:round/>
              <a:headEnd type="none" w="med" len="med"/>
              <a:tailEnd type="arrow" w="lg" len="lg"/>
            </a:ln>
          </p:spPr>
        </p:cxnSp>
        <p:sp>
          <p:nvSpPr>
            <p:cNvPr id="139297" name="任意多边形 18"/>
            <p:cNvSpPr/>
            <p:nvPr/>
          </p:nvSpPr>
          <p:spPr>
            <a:xfrm>
              <a:off x="7269480" y="768464"/>
              <a:ext cx="350548" cy="1584960"/>
            </a:xfrm>
            <a:custGeom>
              <a:avLst/>
              <a:gdLst/>
              <a:ahLst/>
              <a:cxnLst>
                <a:cxn ang="0">
                  <a:pos x="15240" y="1584960"/>
                </a:cxn>
                <a:cxn ang="0">
                  <a:pos x="350520" y="807720"/>
                </a:cxn>
                <a:cxn ang="0">
                  <a:pos x="0" y="0"/>
                </a:cxn>
              </a:cxnLst>
              <a:rect l="0" t="0" r="0" b="0"/>
              <a:pathLst>
                <a:path w="350548" h="1584960">
                  <a:moveTo>
                    <a:pt x="15240" y="1584960"/>
                  </a:moveTo>
                  <a:cubicBezTo>
                    <a:pt x="184150" y="1328420"/>
                    <a:pt x="353060" y="1071880"/>
                    <a:pt x="350520" y="807720"/>
                  </a:cubicBezTo>
                  <a:cubicBezTo>
                    <a:pt x="347980" y="543560"/>
                    <a:pt x="173990" y="271780"/>
                    <a:pt x="0" y="0"/>
                  </a:cubicBezTo>
                </a:path>
              </a:pathLst>
            </a:custGeom>
            <a:noFill/>
            <a:ln w="38100" cap="flat" cmpd="sng">
              <a:solidFill>
                <a:srgbClr val="FF0000"/>
              </a:solidFill>
              <a:prstDash val="solid"/>
              <a:round/>
              <a:headEnd type="none" w="med" len="med"/>
              <a:tailEnd type="arrow" w="lg" len="lg"/>
            </a:ln>
          </p:spPr>
          <p:txBody>
            <a:bodyPr/>
            <a:lstStyle/>
            <a:p>
              <a:endParaRPr lang="zh-CN" altLang="en-US"/>
            </a:p>
          </p:txBody>
        </p:sp>
        <p:sp>
          <p:nvSpPr>
            <p:cNvPr id="139298" name="TextBox 19"/>
            <p:cNvSpPr txBox="1"/>
            <p:nvPr/>
          </p:nvSpPr>
          <p:spPr>
            <a:xfrm>
              <a:off x="0" y="3384376"/>
              <a:ext cx="9144000" cy="523220"/>
            </a:xfrm>
            <a:prstGeom prst="rect">
              <a:avLst/>
            </a:prstGeom>
            <a:noFill/>
            <a:ln w="9525">
              <a:noFill/>
            </a:ln>
          </p:spPr>
          <p:txBody>
            <a:bodyPr anchor="t">
              <a:spAutoFit/>
            </a:bodyPr>
            <a:lstStyle/>
            <a:p>
              <a:pPr lvl="0" algn="ctr"/>
              <a:r>
                <a:rPr lang="en-US" altLang="x-none" sz="2800" b="1" dirty="0">
                  <a:latin typeface="Arial" panose="020B0604020202020204" pitchFamily="34" charset="0"/>
                  <a:ea typeface="Times New Roman" panose="02020603050405020304" pitchFamily="2" charset="0"/>
                </a:rPr>
                <a:t>Figure 6.20 Example of an Inessential FD: X</a:t>
              </a:r>
              <a:r>
                <a:rPr lang="zh-CN" altLang="en-US" sz="2800" b="1" dirty="0">
                  <a:latin typeface="Arial" panose="020B0604020202020204" pitchFamily="34" charset="0"/>
                  <a:ea typeface="Times New Roman" panose="02020603050405020304" pitchFamily="2" charset="0"/>
                </a:rPr>
                <a:t>→</a:t>
              </a:r>
              <a:r>
                <a:rPr lang="en-US" altLang="x-none" sz="2800" b="1" dirty="0">
                  <a:latin typeface="Arial" panose="020B0604020202020204" pitchFamily="34" charset="0"/>
                  <a:ea typeface="Times New Roman" panose="02020603050405020304" pitchFamily="2" charset="0"/>
                </a:rPr>
                <a:t>A</a:t>
              </a:r>
              <a:endParaRPr lang="zh-CN" altLang="en-US" sz="2800" b="1" dirty="0">
                <a:latin typeface="Arial" panose="020B0604020202020204" pitchFamily="34" charset="0"/>
                <a:ea typeface="Times New Roman" panose="02020603050405020304" pitchFamily="2" charset="0"/>
              </a:endParaRPr>
            </a:p>
          </p:txBody>
        </p:sp>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1"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72</a:t>
            </a:fld>
            <a:endParaRPr lang="zh-CN" altLang="en-US" sz="1200" b="1" i="1" dirty="0">
              <a:latin typeface="Times New Roman" panose="02020603050405020304" pitchFamily="2" charset="0"/>
              <a:ea typeface="宋体" panose="02010600030101010101" pitchFamily="2" charset="-122"/>
            </a:endParaRPr>
          </a:p>
        </p:txBody>
      </p:sp>
      <p:sp>
        <p:nvSpPr>
          <p:cNvPr id="140293" name="Rectangle 3"/>
          <p:cNvSpPr>
            <a:spLocks noGrp="1"/>
          </p:cNvSpPr>
          <p:nvPr>
            <p:ph type="body"/>
          </p:nvPr>
        </p:nvSpPr>
        <p:spPr>
          <a:xfrm>
            <a:off x="0" y="3500438"/>
            <a:ext cx="9144000" cy="2679065"/>
          </a:xfrm>
          <a:ln w="25400">
            <a:solidFill>
              <a:schemeClr val="accent2"/>
            </a:solidFill>
            <a:miter/>
          </a:ln>
        </p:spPr>
        <p:txBody>
          <a:bodyPr wrap="square" anchor="t">
            <a:spAutoFit/>
          </a:bodyPr>
          <a:lstStyle/>
          <a:p>
            <a:pPr lvl="1" indent="-285750" eaLnBrk="1" hangingPunct="1">
              <a:lnSpc>
                <a:spcPct val="110000"/>
              </a:lnSpc>
              <a:buNone/>
            </a:pPr>
            <a:r>
              <a:rPr lang="en-US" altLang="x-none" sz="3000" dirty="0">
                <a:solidFill>
                  <a:srgbClr val="0000FF"/>
                </a:solidFill>
                <a:ea typeface="宋体" panose="02010600030101010101" pitchFamily="2" charset="-122"/>
              </a:rPr>
              <a:t>F = {</a:t>
            </a:r>
            <a:r>
              <a:rPr lang="zh-CN" altLang="en-US" sz="3000" dirty="0">
                <a:solidFill>
                  <a:srgbClr val="0000FF"/>
                </a:solidFill>
                <a:ea typeface="宋体" panose="02010600030101010101" pitchFamily="2" charset="-122"/>
              </a:rPr>
              <a:t> </a:t>
            </a:r>
            <a:r>
              <a:rPr lang="en-US" altLang="x-none" sz="3000" dirty="0">
                <a:solidFill>
                  <a:srgbClr val="FF0000"/>
                </a:solidFill>
                <a:ea typeface="宋体" panose="02010600030101010101" pitchFamily="2" charset="-122"/>
              </a:rPr>
              <a:t>B→D, D→E, C→F, BC→A, EF→A</a:t>
            </a:r>
            <a:r>
              <a:rPr lang="zh-CN" altLang="en-US" sz="3000" dirty="0">
                <a:solidFill>
                  <a:srgbClr val="FF0000"/>
                </a:solidFill>
                <a:ea typeface="宋体" panose="02010600030101010101" pitchFamily="2" charset="-122"/>
              </a:rPr>
              <a:t> </a:t>
            </a:r>
            <a:r>
              <a:rPr lang="en-US" altLang="x-none" sz="3000" dirty="0">
                <a:solidFill>
                  <a:srgbClr val="0000FF"/>
                </a:solidFill>
                <a:ea typeface="宋体" panose="02010600030101010101" pitchFamily="2" charset="-122"/>
              </a:rPr>
              <a:t>}</a:t>
            </a:r>
          </a:p>
          <a:p>
            <a:pPr marL="1905" lvl="0" indent="-1905" eaLnBrk="1" hangingPunct="1">
              <a:lnSpc>
                <a:spcPct val="110000"/>
              </a:lnSpc>
            </a:pPr>
            <a:r>
              <a:rPr lang="zh-CN" altLang="en-US" sz="3000" dirty="0">
                <a:solidFill>
                  <a:srgbClr val="0000FF"/>
                </a:solidFill>
                <a:ea typeface="宋体" panose="02010600030101010101" pitchFamily="2" charset="-122"/>
              </a:rPr>
              <a:t>remove  BC</a:t>
            </a:r>
            <a:r>
              <a:rPr lang="zh-CN" altLang="en-US" sz="3000" dirty="0">
                <a:solidFill>
                  <a:srgbClr val="0000FF"/>
                </a:solidFill>
                <a:ea typeface="宋体" panose="02010600030101010101" pitchFamily="2" charset="-122"/>
                <a:sym typeface="Arial" panose="020B0604020202020204" pitchFamily="34" charset="0"/>
              </a:rPr>
              <a:t>→A  from F:</a:t>
            </a:r>
          </a:p>
          <a:p>
            <a:pPr lvl="1" indent="-285750" eaLnBrk="1" hangingPunct="1">
              <a:lnSpc>
                <a:spcPct val="110000"/>
              </a:lnSpc>
              <a:buNone/>
            </a:pPr>
            <a:r>
              <a:rPr lang="en-US" altLang="x-none" sz="3000" dirty="0">
                <a:ea typeface="宋体" panose="02010600030101010101" pitchFamily="2" charset="-122"/>
              </a:rPr>
              <a:t>H = {</a:t>
            </a:r>
            <a:r>
              <a:rPr lang="zh-CN" altLang="en-US" sz="3000" dirty="0">
                <a:ea typeface="宋体" panose="02010600030101010101" pitchFamily="2" charset="-122"/>
              </a:rPr>
              <a:t> </a:t>
            </a:r>
            <a:r>
              <a:rPr lang="en-US" altLang="x-none" sz="3000" dirty="0">
                <a:solidFill>
                  <a:srgbClr val="FF0000"/>
                </a:solidFill>
                <a:ea typeface="宋体" panose="02010600030101010101" pitchFamily="2" charset="-122"/>
              </a:rPr>
              <a:t>B→D, D→E, C→F, </a:t>
            </a:r>
            <a:r>
              <a:rPr lang="zh-CN" altLang="en-US" sz="3000" dirty="0">
                <a:solidFill>
                  <a:srgbClr val="FF0000"/>
                </a:solidFill>
                <a:ea typeface="宋体" panose="02010600030101010101" pitchFamily="2" charset="-122"/>
              </a:rPr>
              <a:t>             </a:t>
            </a:r>
            <a:r>
              <a:rPr lang="en-US" altLang="x-none" sz="3000" dirty="0">
                <a:solidFill>
                  <a:srgbClr val="FF0000"/>
                </a:solidFill>
                <a:ea typeface="宋体" panose="02010600030101010101" pitchFamily="2" charset="-122"/>
              </a:rPr>
              <a:t>EF→A</a:t>
            </a:r>
            <a:r>
              <a:rPr lang="zh-CN" altLang="en-US" sz="3000" dirty="0">
                <a:solidFill>
                  <a:srgbClr val="FF0000"/>
                </a:solidFill>
                <a:ea typeface="宋体" panose="02010600030101010101" pitchFamily="2" charset="-122"/>
              </a:rPr>
              <a:t> </a:t>
            </a:r>
            <a:r>
              <a:rPr lang="en-US" altLang="x-none" sz="3000" dirty="0">
                <a:ea typeface="宋体" panose="02010600030101010101" pitchFamily="2" charset="-122"/>
              </a:rPr>
              <a:t>}</a:t>
            </a:r>
          </a:p>
          <a:p>
            <a:pPr lvl="2" indent="-228600" eaLnBrk="1" hangingPunct="1">
              <a:lnSpc>
                <a:spcPct val="110000"/>
              </a:lnSpc>
              <a:buNone/>
            </a:pPr>
            <a:endParaRPr lang="en-US" altLang="x-none" sz="1400" dirty="0">
              <a:ea typeface="宋体" panose="02010600030101010101" pitchFamily="2" charset="-122"/>
            </a:endParaRPr>
          </a:p>
          <a:p>
            <a:pPr marL="1905" lvl="0" indent="-1905" eaLnBrk="1" hangingPunct="1">
              <a:lnSpc>
                <a:spcPct val="110000"/>
              </a:lnSpc>
            </a:pPr>
            <a:r>
              <a:rPr lang="en-US" altLang="x-none" sz="3000" dirty="0">
                <a:solidFill>
                  <a:srgbClr val="0000FF"/>
                </a:solidFill>
                <a:ea typeface="宋体" panose="02010600030101010101" pitchFamily="2" charset="-122"/>
              </a:rPr>
              <a:t>BC→A is inessential in F because of F</a:t>
            </a:r>
            <a:r>
              <a:rPr lang="en-US" altLang="x-none" sz="3000" baseline="30000" dirty="0">
                <a:solidFill>
                  <a:srgbClr val="0000FF"/>
                </a:solidFill>
                <a:ea typeface="宋体" panose="02010600030101010101" pitchFamily="2" charset="-122"/>
              </a:rPr>
              <a:t>+</a:t>
            </a:r>
            <a:r>
              <a:rPr lang="en-US" altLang="x-none" sz="3000" dirty="0">
                <a:solidFill>
                  <a:srgbClr val="0000FF"/>
                </a:solidFill>
                <a:ea typeface="宋体" panose="02010600030101010101" pitchFamily="2" charset="-122"/>
              </a:rPr>
              <a:t>=H</a:t>
            </a:r>
            <a:r>
              <a:rPr lang="en-US" altLang="x-none" sz="3000" baseline="30000" dirty="0">
                <a:solidFill>
                  <a:srgbClr val="0000FF"/>
                </a:solidFill>
                <a:ea typeface="宋体" panose="02010600030101010101" pitchFamily="2" charset="-122"/>
              </a:rPr>
              <a:t>+</a:t>
            </a:r>
          </a:p>
        </p:txBody>
      </p:sp>
      <p:grpSp>
        <p:nvGrpSpPr>
          <p:cNvPr id="2" name="组合 140293"/>
          <p:cNvGrpSpPr/>
          <p:nvPr/>
        </p:nvGrpSpPr>
        <p:grpSpPr>
          <a:xfrm>
            <a:off x="71438" y="115888"/>
            <a:ext cx="8964612" cy="3033712"/>
            <a:chOff x="0" y="0"/>
            <a:chExt cx="9144000" cy="3907596"/>
          </a:xfrm>
        </p:grpSpPr>
        <p:grpSp>
          <p:nvGrpSpPr>
            <p:cNvPr id="140294" name="组合 140294"/>
            <p:cNvGrpSpPr/>
            <p:nvPr/>
          </p:nvGrpSpPr>
          <p:grpSpPr>
            <a:xfrm>
              <a:off x="1187624" y="0"/>
              <a:ext cx="3244949" cy="1368152"/>
              <a:chOff x="0" y="0"/>
              <a:chExt cx="2457450" cy="833755"/>
            </a:xfrm>
          </p:grpSpPr>
          <p:sp>
            <p:nvSpPr>
              <p:cNvPr id="140295" name="椭圆 29"/>
              <p:cNvSpPr/>
              <p:nvPr/>
            </p:nvSpPr>
            <p:spPr>
              <a:xfrm>
                <a:off x="0" y="0"/>
                <a:ext cx="2457450" cy="833755"/>
              </a:xfrm>
              <a:prstGeom prst="ellipse">
                <a:avLst/>
              </a:prstGeom>
              <a:solidFill>
                <a:srgbClr val="F2F2F2"/>
              </a:solidFill>
              <a:ln w="25400" cap="flat" cmpd="sng">
                <a:solidFill>
                  <a:srgbClr val="00956F"/>
                </a:solidFill>
                <a:prstDash val="solid"/>
                <a:round/>
                <a:headEnd type="none" w="med" len="med"/>
                <a:tailEnd type="none" w="med" len="med"/>
              </a:ln>
            </p:spPr>
            <p:txBody>
              <a:bodyPr anchor="ctr"/>
              <a:lstStyle/>
              <a:p>
                <a:pPr lvl="0" algn="ctr"/>
                <a:endParaRPr lang="zh-CN" altLang="en-US" dirty="0">
                  <a:solidFill>
                    <a:srgbClr val="FFFFFF"/>
                  </a:solidFill>
                  <a:latin typeface="Arial" panose="020B0604020202020204" pitchFamily="34" charset="0"/>
                  <a:ea typeface="Times New Roman" panose="02020603050405020304" pitchFamily="2" charset="0"/>
                </a:endParaRPr>
              </a:p>
            </p:txBody>
          </p:sp>
          <p:grpSp>
            <p:nvGrpSpPr>
              <p:cNvPr id="140296" name="组合 140296"/>
              <p:cNvGrpSpPr/>
              <p:nvPr/>
            </p:nvGrpSpPr>
            <p:grpSpPr>
              <a:xfrm>
                <a:off x="374015" y="167005"/>
                <a:ext cx="826135" cy="510540"/>
                <a:chOff x="0" y="0"/>
                <a:chExt cx="826618" cy="510540"/>
              </a:xfrm>
            </p:grpSpPr>
            <p:sp>
              <p:nvSpPr>
                <p:cNvPr id="140297" name="椭圆 34"/>
                <p:cNvSpPr/>
                <p:nvPr/>
              </p:nvSpPr>
              <p:spPr>
                <a:xfrm>
                  <a:off x="0" y="0"/>
                  <a:ext cx="826618" cy="510540"/>
                </a:xfrm>
                <a:prstGeom prst="ellipse">
                  <a:avLst/>
                </a:prstGeom>
                <a:noFill/>
                <a:ln w="25400" cap="flat" cmpd="sng">
                  <a:solidFill>
                    <a:srgbClr val="00956F"/>
                  </a:solidFill>
                  <a:prstDash val="solid"/>
                  <a:round/>
                  <a:headEnd type="none" w="med" len="med"/>
                  <a:tailEnd type="none" w="med" len="med"/>
                </a:ln>
              </p:spPr>
              <p:txBody>
                <a:bodyPr lIns="0" tIns="0" rIns="0" bIns="0" anchor="t"/>
                <a:lstStyle/>
                <a:p>
                  <a:pPr lvl="0" algn="ctr"/>
                  <a:r>
                    <a:rPr lang="en-US" altLang="x-none" sz="1400" b="1" dirty="0">
                      <a:solidFill>
                        <a:srgbClr val="002060"/>
                      </a:solidFill>
                      <a:latin typeface="Arial" panose="020B0604020202020204" pitchFamily="34" charset="0"/>
                      <a:ea typeface="宋体" panose="02010600030101010101" pitchFamily="2" charset="-122"/>
                    </a:rPr>
                    <a:t> </a:t>
                  </a:r>
                  <a:endParaRPr lang="zh-CN" altLang="en-US" sz="1000" dirty="0">
                    <a:solidFill>
                      <a:srgbClr val="FFFFFF"/>
                    </a:solidFill>
                    <a:latin typeface="Arial" panose="020B0604020202020204" pitchFamily="34" charset="0"/>
                    <a:ea typeface="宋体" panose="02010600030101010101" pitchFamily="2" charset="-122"/>
                  </a:endParaRPr>
                </a:p>
              </p:txBody>
            </p:sp>
            <p:sp>
              <p:nvSpPr>
                <p:cNvPr id="140298" name="矩形 35"/>
                <p:cNvSpPr/>
                <p:nvPr/>
              </p:nvSpPr>
              <p:spPr>
                <a:xfrm>
                  <a:off x="175565" y="51206"/>
                  <a:ext cx="489585" cy="393700"/>
                </a:xfrm>
                <a:prstGeom prst="rect">
                  <a:avLst/>
                </a:prstGeom>
                <a:solidFill>
                  <a:schemeClr val="bg1"/>
                </a:solidFill>
                <a:ln w="25400" cap="flat" cmpd="sng">
                  <a:solidFill>
                    <a:srgbClr val="00956F"/>
                  </a:solidFill>
                  <a:prstDash val="solid"/>
                  <a:miter/>
                  <a:headEnd type="none" w="med" len="med"/>
                  <a:tailEnd type="none" w="med" len="med"/>
                </a:ln>
              </p:spPr>
              <p:txBody>
                <a:bodyPr lIns="0" tIns="0" rIns="0" bIns="0" anchor="ctr"/>
                <a:lstStyle/>
                <a:p>
                  <a:pPr lvl="0" algn="ctr"/>
                  <a:r>
                    <a:rPr lang="en-US" altLang="x-none" sz="3200" b="1" dirty="0">
                      <a:solidFill>
                        <a:srgbClr val="002060"/>
                      </a:solidFill>
                      <a:latin typeface="Arial" panose="020B0604020202020204" pitchFamily="34" charset="0"/>
                      <a:ea typeface="宋体" panose="02010600030101010101" pitchFamily="2" charset="-122"/>
                    </a:rPr>
                    <a:t>B</a:t>
                  </a:r>
                  <a:endParaRPr lang="zh-CN" altLang="en-US" sz="3200" dirty="0">
                    <a:solidFill>
                      <a:srgbClr val="FFFFFF"/>
                    </a:solidFill>
                    <a:latin typeface="Arial" panose="020B0604020202020204" pitchFamily="34" charset="0"/>
                    <a:ea typeface="宋体" panose="02010600030101010101" pitchFamily="2" charset="-122"/>
                  </a:endParaRPr>
                </a:p>
              </p:txBody>
            </p:sp>
          </p:grpSp>
          <p:grpSp>
            <p:nvGrpSpPr>
              <p:cNvPr id="140299" name="组合 140299"/>
              <p:cNvGrpSpPr/>
              <p:nvPr/>
            </p:nvGrpSpPr>
            <p:grpSpPr>
              <a:xfrm>
                <a:off x="1361440" y="167005"/>
                <a:ext cx="826135" cy="510540"/>
                <a:chOff x="0" y="0"/>
                <a:chExt cx="826618" cy="510540"/>
              </a:xfrm>
            </p:grpSpPr>
            <p:sp>
              <p:nvSpPr>
                <p:cNvPr id="140300" name="椭圆 32"/>
                <p:cNvSpPr/>
                <p:nvPr/>
              </p:nvSpPr>
              <p:spPr>
                <a:xfrm>
                  <a:off x="0" y="0"/>
                  <a:ext cx="826618" cy="510540"/>
                </a:xfrm>
                <a:prstGeom prst="ellipse">
                  <a:avLst/>
                </a:prstGeom>
                <a:noFill/>
                <a:ln w="25400" cap="flat" cmpd="sng">
                  <a:solidFill>
                    <a:srgbClr val="00956F"/>
                  </a:solidFill>
                  <a:prstDash val="solid"/>
                  <a:round/>
                  <a:headEnd type="none" w="med" len="med"/>
                  <a:tailEnd type="none" w="med" len="med"/>
                </a:ln>
              </p:spPr>
              <p:txBody>
                <a:bodyPr lIns="0" tIns="0" rIns="0" bIns="0" anchor="t"/>
                <a:lstStyle/>
                <a:p>
                  <a:pPr lvl="0" algn="ctr"/>
                  <a:r>
                    <a:rPr lang="en-US" altLang="x-none" sz="1400" b="1" dirty="0">
                      <a:solidFill>
                        <a:srgbClr val="002060"/>
                      </a:solidFill>
                      <a:latin typeface="Arial" panose="020B0604020202020204" pitchFamily="34" charset="0"/>
                      <a:ea typeface="宋体" panose="02010600030101010101" pitchFamily="2" charset="-122"/>
                    </a:rPr>
                    <a:t> </a:t>
                  </a:r>
                  <a:endParaRPr lang="zh-CN" altLang="en-US" sz="1000" dirty="0">
                    <a:solidFill>
                      <a:srgbClr val="FFFFFF"/>
                    </a:solidFill>
                    <a:latin typeface="Arial" panose="020B0604020202020204" pitchFamily="34" charset="0"/>
                    <a:ea typeface="宋体" panose="02010600030101010101" pitchFamily="2" charset="-122"/>
                  </a:endParaRPr>
                </a:p>
              </p:txBody>
            </p:sp>
            <p:sp>
              <p:nvSpPr>
                <p:cNvPr id="140301" name="矩形 33"/>
                <p:cNvSpPr/>
                <p:nvPr/>
              </p:nvSpPr>
              <p:spPr>
                <a:xfrm>
                  <a:off x="175565" y="51206"/>
                  <a:ext cx="489585" cy="393700"/>
                </a:xfrm>
                <a:prstGeom prst="rect">
                  <a:avLst/>
                </a:prstGeom>
                <a:solidFill>
                  <a:schemeClr val="bg1"/>
                </a:solidFill>
                <a:ln w="25400" cap="flat" cmpd="sng">
                  <a:solidFill>
                    <a:srgbClr val="00956F"/>
                  </a:solidFill>
                  <a:prstDash val="solid"/>
                  <a:miter/>
                  <a:headEnd type="none" w="med" len="med"/>
                  <a:tailEnd type="none" w="med" len="med"/>
                </a:ln>
              </p:spPr>
              <p:txBody>
                <a:bodyPr lIns="0" tIns="0" rIns="0" bIns="0" anchor="ctr"/>
                <a:lstStyle/>
                <a:p>
                  <a:pPr lvl="0" algn="ctr"/>
                  <a:r>
                    <a:rPr lang="en-US" altLang="x-none" sz="3200" b="1" dirty="0">
                      <a:solidFill>
                        <a:srgbClr val="002060"/>
                      </a:solidFill>
                      <a:latin typeface="Arial" panose="020B0604020202020204" pitchFamily="34" charset="0"/>
                      <a:ea typeface="宋体" panose="02010600030101010101" pitchFamily="2" charset="-122"/>
                    </a:rPr>
                    <a:t>C</a:t>
                  </a:r>
                  <a:endParaRPr lang="zh-CN" altLang="en-US" sz="3200" dirty="0">
                    <a:solidFill>
                      <a:srgbClr val="FFFFFF"/>
                    </a:solidFill>
                    <a:latin typeface="Arial" panose="020B0604020202020204" pitchFamily="34" charset="0"/>
                    <a:ea typeface="宋体" panose="02010600030101010101" pitchFamily="2" charset="-122"/>
                  </a:endParaRPr>
                </a:p>
              </p:txBody>
            </p:sp>
          </p:grpSp>
        </p:grpSp>
        <p:grpSp>
          <p:nvGrpSpPr>
            <p:cNvPr id="140302" name="组合 140302"/>
            <p:cNvGrpSpPr/>
            <p:nvPr/>
          </p:nvGrpSpPr>
          <p:grpSpPr>
            <a:xfrm>
              <a:off x="4063355" y="1800200"/>
              <a:ext cx="3244949" cy="1368152"/>
              <a:chOff x="0" y="0"/>
              <a:chExt cx="2457450" cy="833755"/>
            </a:xfrm>
          </p:grpSpPr>
          <p:sp>
            <p:nvSpPr>
              <p:cNvPr id="140303" name="椭圆 22"/>
              <p:cNvSpPr/>
              <p:nvPr/>
            </p:nvSpPr>
            <p:spPr>
              <a:xfrm>
                <a:off x="0" y="0"/>
                <a:ext cx="2457450" cy="833755"/>
              </a:xfrm>
              <a:prstGeom prst="ellipse">
                <a:avLst/>
              </a:prstGeom>
              <a:solidFill>
                <a:srgbClr val="F2F2F2"/>
              </a:solidFill>
              <a:ln w="25400" cap="flat" cmpd="sng">
                <a:solidFill>
                  <a:srgbClr val="00956F"/>
                </a:solidFill>
                <a:prstDash val="solid"/>
                <a:round/>
                <a:headEnd type="none" w="med" len="med"/>
                <a:tailEnd type="none" w="med" len="med"/>
              </a:ln>
            </p:spPr>
            <p:txBody>
              <a:bodyPr anchor="ctr"/>
              <a:lstStyle/>
              <a:p>
                <a:pPr lvl="0" algn="ctr"/>
                <a:endParaRPr lang="zh-CN" altLang="en-US" dirty="0">
                  <a:solidFill>
                    <a:srgbClr val="FFFFFF"/>
                  </a:solidFill>
                  <a:latin typeface="Arial" panose="020B0604020202020204" pitchFamily="34" charset="0"/>
                  <a:ea typeface="Times New Roman" panose="02020603050405020304" pitchFamily="2" charset="0"/>
                </a:endParaRPr>
              </a:p>
            </p:txBody>
          </p:sp>
          <p:grpSp>
            <p:nvGrpSpPr>
              <p:cNvPr id="140304" name="组合 140304"/>
              <p:cNvGrpSpPr/>
              <p:nvPr/>
            </p:nvGrpSpPr>
            <p:grpSpPr>
              <a:xfrm>
                <a:off x="374015" y="167005"/>
                <a:ext cx="826135" cy="510540"/>
                <a:chOff x="0" y="0"/>
                <a:chExt cx="826618" cy="510540"/>
              </a:xfrm>
            </p:grpSpPr>
            <p:sp>
              <p:nvSpPr>
                <p:cNvPr id="140305" name="椭圆 27"/>
                <p:cNvSpPr/>
                <p:nvPr/>
              </p:nvSpPr>
              <p:spPr>
                <a:xfrm>
                  <a:off x="0" y="0"/>
                  <a:ext cx="826618" cy="510540"/>
                </a:xfrm>
                <a:prstGeom prst="ellipse">
                  <a:avLst/>
                </a:prstGeom>
                <a:noFill/>
                <a:ln w="25400" cap="flat" cmpd="sng">
                  <a:solidFill>
                    <a:srgbClr val="00956F"/>
                  </a:solidFill>
                  <a:prstDash val="solid"/>
                  <a:round/>
                  <a:headEnd type="none" w="med" len="med"/>
                  <a:tailEnd type="none" w="med" len="med"/>
                </a:ln>
              </p:spPr>
              <p:txBody>
                <a:bodyPr lIns="0" tIns="0" rIns="0" bIns="0" anchor="t"/>
                <a:lstStyle/>
                <a:p>
                  <a:pPr lvl="0" algn="ctr"/>
                  <a:r>
                    <a:rPr lang="en-US" altLang="x-none" sz="1400" b="1" dirty="0">
                      <a:solidFill>
                        <a:srgbClr val="002060"/>
                      </a:solidFill>
                      <a:latin typeface="Arial" panose="020B0604020202020204" pitchFamily="34" charset="0"/>
                      <a:ea typeface="宋体" panose="02010600030101010101" pitchFamily="2" charset="-122"/>
                    </a:rPr>
                    <a:t> </a:t>
                  </a:r>
                  <a:endParaRPr lang="zh-CN" altLang="en-US" sz="1000" dirty="0">
                    <a:solidFill>
                      <a:srgbClr val="FFFFFF"/>
                    </a:solidFill>
                    <a:latin typeface="Arial" panose="020B0604020202020204" pitchFamily="34" charset="0"/>
                    <a:ea typeface="宋体" panose="02010600030101010101" pitchFamily="2" charset="-122"/>
                  </a:endParaRPr>
                </a:p>
              </p:txBody>
            </p:sp>
            <p:sp>
              <p:nvSpPr>
                <p:cNvPr id="140306" name="矩形 28"/>
                <p:cNvSpPr/>
                <p:nvPr/>
              </p:nvSpPr>
              <p:spPr>
                <a:xfrm>
                  <a:off x="175565" y="51206"/>
                  <a:ext cx="489585" cy="393700"/>
                </a:xfrm>
                <a:prstGeom prst="rect">
                  <a:avLst/>
                </a:prstGeom>
                <a:solidFill>
                  <a:schemeClr val="bg1"/>
                </a:solidFill>
                <a:ln w="25400" cap="flat" cmpd="sng">
                  <a:solidFill>
                    <a:srgbClr val="00956F"/>
                  </a:solidFill>
                  <a:prstDash val="solid"/>
                  <a:miter/>
                  <a:headEnd type="none" w="med" len="med"/>
                  <a:tailEnd type="none" w="med" len="med"/>
                </a:ln>
              </p:spPr>
              <p:txBody>
                <a:bodyPr lIns="0" tIns="0" rIns="0" bIns="0" anchor="ctr"/>
                <a:lstStyle/>
                <a:p>
                  <a:pPr lvl="0" algn="ctr"/>
                  <a:r>
                    <a:rPr lang="en-US" altLang="x-none" sz="3200" b="1" dirty="0">
                      <a:solidFill>
                        <a:srgbClr val="002060"/>
                      </a:solidFill>
                      <a:latin typeface="Arial" panose="020B0604020202020204" pitchFamily="34" charset="0"/>
                      <a:ea typeface="宋体" panose="02010600030101010101" pitchFamily="2" charset="-122"/>
                    </a:rPr>
                    <a:t>E</a:t>
                  </a:r>
                  <a:endParaRPr lang="zh-CN" altLang="en-US" sz="3200" dirty="0">
                    <a:solidFill>
                      <a:srgbClr val="FFFFFF"/>
                    </a:solidFill>
                    <a:latin typeface="Arial" panose="020B0604020202020204" pitchFamily="34" charset="0"/>
                    <a:ea typeface="宋体" panose="02010600030101010101" pitchFamily="2" charset="-122"/>
                  </a:endParaRPr>
                </a:p>
              </p:txBody>
            </p:sp>
          </p:grpSp>
          <p:grpSp>
            <p:nvGrpSpPr>
              <p:cNvPr id="140307" name="组合 140307"/>
              <p:cNvGrpSpPr/>
              <p:nvPr/>
            </p:nvGrpSpPr>
            <p:grpSpPr>
              <a:xfrm>
                <a:off x="1361440" y="167005"/>
                <a:ext cx="826135" cy="510540"/>
                <a:chOff x="0" y="0"/>
                <a:chExt cx="826618" cy="510540"/>
              </a:xfrm>
            </p:grpSpPr>
            <p:sp>
              <p:nvSpPr>
                <p:cNvPr id="140308" name="椭圆 25"/>
                <p:cNvSpPr/>
                <p:nvPr/>
              </p:nvSpPr>
              <p:spPr>
                <a:xfrm>
                  <a:off x="0" y="0"/>
                  <a:ext cx="826618" cy="510540"/>
                </a:xfrm>
                <a:prstGeom prst="ellipse">
                  <a:avLst/>
                </a:prstGeom>
                <a:noFill/>
                <a:ln w="25400" cap="flat" cmpd="sng">
                  <a:solidFill>
                    <a:srgbClr val="00956F"/>
                  </a:solidFill>
                  <a:prstDash val="solid"/>
                  <a:round/>
                  <a:headEnd type="none" w="med" len="med"/>
                  <a:tailEnd type="none" w="med" len="med"/>
                </a:ln>
              </p:spPr>
              <p:txBody>
                <a:bodyPr lIns="0" tIns="0" rIns="0" bIns="0" anchor="t"/>
                <a:lstStyle/>
                <a:p>
                  <a:pPr lvl="0" algn="ctr"/>
                  <a:r>
                    <a:rPr lang="en-US" altLang="x-none" sz="1400" b="1" dirty="0">
                      <a:solidFill>
                        <a:srgbClr val="002060"/>
                      </a:solidFill>
                      <a:latin typeface="Arial" panose="020B0604020202020204" pitchFamily="34" charset="0"/>
                      <a:ea typeface="宋体" panose="02010600030101010101" pitchFamily="2" charset="-122"/>
                    </a:rPr>
                    <a:t> </a:t>
                  </a:r>
                  <a:endParaRPr lang="zh-CN" altLang="en-US" sz="1000" dirty="0">
                    <a:solidFill>
                      <a:srgbClr val="FFFFFF"/>
                    </a:solidFill>
                    <a:latin typeface="Arial" panose="020B0604020202020204" pitchFamily="34" charset="0"/>
                    <a:ea typeface="宋体" panose="02010600030101010101" pitchFamily="2" charset="-122"/>
                  </a:endParaRPr>
                </a:p>
              </p:txBody>
            </p:sp>
            <p:sp>
              <p:nvSpPr>
                <p:cNvPr id="140309" name="矩形 26"/>
                <p:cNvSpPr/>
                <p:nvPr/>
              </p:nvSpPr>
              <p:spPr>
                <a:xfrm>
                  <a:off x="175565" y="51206"/>
                  <a:ext cx="489585" cy="393700"/>
                </a:xfrm>
                <a:prstGeom prst="rect">
                  <a:avLst/>
                </a:prstGeom>
                <a:solidFill>
                  <a:schemeClr val="bg1"/>
                </a:solidFill>
                <a:ln w="25400" cap="flat" cmpd="sng">
                  <a:solidFill>
                    <a:srgbClr val="00956F"/>
                  </a:solidFill>
                  <a:prstDash val="solid"/>
                  <a:miter/>
                  <a:headEnd type="none" w="med" len="med"/>
                  <a:tailEnd type="none" w="med" len="med"/>
                </a:ln>
              </p:spPr>
              <p:txBody>
                <a:bodyPr lIns="0" tIns="0" rIns="0" bIns="0" anchor="ctr"/>
                <a:lstStyle/>
                <a:p>
                  <a:pPr lvl="0" algn="ctr"/>
                  <a:r>
                    <a:rPr lang="en-US" altLang="x-none" sz="3200" b="1" dirty="0">
                      <a:solidFill>
                        <a:srgbClr val="002060"/>
                      </a:solidFill>
                      <a:latin typeface="Arial" panose="020B0604020202020204" pitchFamily="34" charset="0"/>
                      <a:ea typeface="宋体" panose="02010600030101010101" pitchFamily="2" charset="-122"/>
                    </a:rPr>
                    <a:t>F</a:t>
                  </a:r>
                  <a:endParaRPr lang="zh-CN" altLang="en-US" sz="3200" dirty="0">
                    <a:solidFill>
                      <a:srgbClr val="FFFFFF"/>
                    </a:solidFill>
                    <a:latin typeface="Arial" panose="020B0604020202020204" pitchFamily="34" charset="0"/>
                    <a:ea typeface="宋体" panose="02010600030101010101" pitchFamily="2" charset="-122"/>
                  </a:endParaRPr>
                </a:p>
              </p:txBody>
            </p:sp>
          </p:grpSp>
        </p:grpSp>
        <p:grpSp>
          <p:nvGrpSpPr>
            <p:cNvPr id="140310" name="组合 140310"/>
            <p:cNvGrpSpPr/>
            <p:nvPr/>
          </p:nvGrpSpPr>
          <p:grpSpPr>
            <a:xfrm>
              <a:off x="1342237" y="2042582"/>
              <a:ext cx="1138627" cy="727452"/>
              <a:chOff x="0" y="0"/>
              <a:chExt cx="826618" cy="510540"/>
            </a:xfrm>
          </p:grpSpPr>
          <p:sp>
            <p:nvSpPr>
              <p:cNvPr id="140311" name="椭圆 20"/>
              <p:cNvSpPr/>
              <p:nvPr/>
            </p:nvSpPr>
            <p:spPr>
              <a:xfrm>
                <a:off x="0" y="0"/>
                <a:ext cx="826618" cy="510540"/>
              </a:xfrm>
              <a:prstGeom prst="ellipse">
                <a:avLst/>
              </a:prstGeom>
              <a:noFill/>
              <a:ln w="25400" cap="flat" cmpd="sng">
                <a:solidFill>
                  <a:srgbClr val="00956F"/>
                </a:solidFill>
                <a:prstDash val="solid"/>
                <a:round/>
                <a:headEnd type="none" w="med" len="med"/>
                <a:tailEnd type="none" w="med" len="med"/>
              </a:ln>
            </p:spPr>
            <p:txBody>
              <a:bodyPr lIns="0" tIns="0" rIns="0" bIns="0" anchor="t"/>
              <a:lstStyle/>
              <a:p>
                <a:pPr lvl="0" algn="ctr"/>
                <a:r>
                  <a:rPr lang="en-US" altLang="x-none" sz="1400" b="1" dirty="0">
                    <a:solidFill>
                      <a:srgbClr val="002060"/>
                    </a:solidFill>
                    <a:latin typeface="Arial" panose="020B0604020202020204" pitchFamily="34" charset="0"/>
                    <a:ea typeface="宋体" panose="02010600030101010101" pitchFamily="2" charset="-122"/>
                  </a:rPr>
                  <a:t> </a:t>
                </a:r>
                <a:endParaRPr lang="zh-CN" altLang="en-US" sz="1000" dirty="0">
                  <a:solidFill>
                    <a:srgbClr val="FFFFFF"/>
                  </a:solidFill>
                  <a:latin typeface="Arial" panose="020B0604020202020204" pitchFamily="34" charset="0"/>
                  <a:ea typeface="宋体" panose="02010600030101010101" pitchFamily="2" charset="-122"/>
                </a:endParaRPr>
              </a:p>
            </p:txBody>
          </p:sp>
          <p:sp>
            <p:nvSpPr>
              <p:cNvPr id="140312" name="矩形 21"/>
              <p:cNvSpPr/>
              <p:nvPr/>
            </p:nvSpPr>
            <p:spPr>
              <a:xfrm>
                <a:off x="175565" y="51206"/>
                <a:ext cx="489585" cy="393700"/>
              </a:xfrm>
              <a:prstGeom prst="rect">
                <a:avLst/>
              </a:prstGeom>
              <a:solidFill>
                <a:schemeClr val="bg1"/>
              </a:solidFill>
              <a:ln w="25400" cap="flat" cmpd="sng">
                <a:solidFill>
                  <a:srgbClr val="00956F"/>
                </a:solidFill>
                <a:prstDash val="solid"/>
                <a:miter/>
                <a:headEnd type="none" w="med" len="med"/>
                <a:tailEnd type="none" w="med" len="med"/>
              </a:ln>
            </p:spPr>
            <p:txBody>
              <a:bodyPr lIns="0" tIns="0" rIns="0" bIns="0" anchor="ctr"/>
              <a:lstStyle/>
              <a:p>
                <a:pPr lvl="0" algn="ctr"/>
                <a:r>
                  <a:rPr lang="en-US" altLang="x-none" sz="3200" b="1" dirty="0">
                    <a:solidFill>
                      <a:srgbClr val="002060"/>
                    </a:solidFill>
                    <a:latin typeface="Arial" panose="020B0604020202020204" pitchFamily="34" charset="0"/>
                    <a:ea typeface="宋体" panose="02010600030101010101" pitchFamily="2" charset="-122"/>
                  </a:rPr>
                  <a:t>D</a:t>
                </a:r>
                <a:endParaRPr lang="zh-CN" altLang="en-US" sz="3200" dirty="0">
                  <a:solidFill>
                    <a:srgbClr val="FFFFFF"/>
                  </a:solidFill>
                  <a:latin typeface="Arial" panose="020B0604020202020204" pitchFamily="34" charset="0"/>
                  <a:ea typeface="宋体" panose="02010600030101010101" pitchFamily="2" charset="-122"/>
                </a:endParaRPr>
              </a:p>
            </p:txBody>
          </p:sp>
        </p:grpSp>
        <p:grpSp>
          <p:nvGrpSpPr>
            <p:cNvPr id="140313" name="组合 140313"/>
            <p:cNvGrpSpPr/>
            <p:nvPr/>
          </p:nvGrpSpPr>
          <p:grpSpPr>
            <a:xfrm>
              <a:off x="6084168" y="299856"/>
              <a:ext cx="1138627" cy="727452"/>
              <a:chOff x="0" y="0"/>
              <a:chExt cx="826618" cy="510540"/>
            </a:xfrm>
          </p:grpSpPr>
          <p:sp>
            <p:nvSpPr>
              <p:cNvPr id="140314" name="椭圆 18"/>
              <p:cNvSpPr/>
              <p:nvPr/>
            </p:nvSpPr>
            <p:spPr>
              <a:xfrm>
                <a:off x="0" y="0"/>
                <a:ext cx="826618" cy="510540"/>
              </a:xfrm>
              <a:prstGeom prst="ellipse">
                <a:avLst/>
              </a:prstGeom>
              <a:noFill/>
              <a:ln w="25400" cap="flat" cmpd="sng">
                <a:solidFill>
                  <a:srgbClr val="00956F"/>
                </a:solidFill>
                <a:prstDash val="solid"/>
                <a:round/>
                <a:headEnd type="none" w="med" len="med"/>
                <a:tailEnd type="none" w="med" len="med"/>
              </a:ln>
            </p:spPr>
            <p:txBody>
              <a:bodyPr lIns="0" tIns="0" rIns="0" bIns="0" anchor="t"/>
              <a:lstStyle/>
              <a:p>
                <a:pPr lvl="0" algn="ctr"/>
                <a:r>
                  <a:rPr lang="en-US" altLang="x-none" sz="1400" b="1" dirty="0">
                    <a:solidFill>
                      <a:srgbClr val="002060"/>
                    </a:solidFill>
                    <a:latin typeface="Arial" panose="020B0604020202020204" pitchFamily="34" charset="0"/>
                    <a:ea typeface="宋体" panose="02010600030101010101" pitchFamily="2" charset="-122"/>
                  </a:rPr>
                  <a:t> </a:t>
                </a:r>
                <a:endParaRPr lang="zh-CN" altLang="en-US" sz="1000" dirty="0">
                  <a:solidFill>
                    <a:srgbClr val="FFFFFF"/>
                  </a:solidFill>
                  <a:latin typeface="Arial" panose="020B0604020202020204" pitchFamily="34" charset="0"/>
                  <a:ea typeface="宋体" panose="02010600030101010101" pitchFamily="2" charset="-122"/>
                </a:endParaRPr>
              </a:p>
            </p:txBody>
          </p:sp>
          <p:sp>
            <p:nvSpPr>
              <p:cNvPr id="140315" name="矩形 19"/>
              <p:cNvSpPr/>
              <p:nvPr/>
            </p:nvSpPr>
            <p:spPr>
              <a:xfrm>
                <a:off x="175565" y="51206"/>
                <a:ext cx="489585" cy="393700"/>
              </a:xfrm>
              <a:prstGeom prst="rect">
                <a:avLst/>
              </a:prstGeom>
              <a:solidFill>
                <a:schemeClr val="bg1"/>
              </a:solidFill>
              <a:ln w="25400" cap="flat" cmpd="sng">
                <a:solidFill>
                  <a:srgbClr val="00956F"/>
                </a:solidFill>
                <a:prstDash val="solid"/>
                <a:miter/>
                <a:headEnd type="none" w="med" len="med"/>
                <a:tailEnd type="none" w="med" len="med"/>
              </a:ln>
            </p:spPr>
            <p:txBody>
              <a:bodyPr lIns="0" tIns="0" rIns="0" bIns="0" anchor="ctr"/>
              <a:lstStyle/>
              <a:p>
                <a:pPr lvl="0" algn="ctr"/>
                <a:r>
                  <a:rPr lang="en-US" altLang="x-none" sz="3200" b="1" dirty="0">
                    <a:solidFill>
                      <a:srgbClr val="002060"/>
                    </a:solidFill>
                    <a:latin typeface="Arial" panose="020B0604020202020204" pitchFamily="34" charset="0"/>
                    <a:ea typeface="宋体" panose="02010600030101010101" pitchFamily="2" charset="-122"/>
                  </a:rPr>
                  <a:t>A</a:t>
                </a:r>
                <a:endParaRPr lang="zh-CN" altLang="en-US" sz="3200" dirty="0">
                  <a:solidFill>
                    <a:srgbClr val="FFFFFF"/>
                  </a:solidFill>
                  <a:latin typeface="Arial" panose="020B0604020202020204" pitchFamily="34" charset="0"/>
                  <a:ea typeface="宋体" panose="02010600030101010101" pitchFamily="2" charset="-122"/>
                </a:endParaRPr>
              </a:p>
            </p:txBody>
          </p:sp>
        </p:grpSp>
        <p:sp>
          <p:nvSpPr>
            <p:cNvPr id="140316" name="矩形 11"/>
            <p:cNvSpPr/>
            <p:nvPr/>
          </p:nvSpPr>
          <p:spPr>
            <a:xfrm>
              <a:off x="698674" y="77197"/>
              <a:ext cx="488950" cy="393700"/>
            </a:xfrm>
            <a:prstGeom prst="rect">
              <a:avLst/>
            </a:prstGeom>
            <a:noFill/>
            <a:ln w="9525">
              <a:noFill/>
            </a:ln>
          </p:spPr>
          <p:txBody>
            <a:bodyPr lIns="0" tIns="0" rIns="0" bIns="0" anchor="ctr"/>
            <a:lstStyle/>
            <a:p>
              <a:pPr lvl="0" algn="ctr"/>
              <a:r>
                <a:rPr lang="en-US" altLang="x-none" sz="3200" b="1" dirty="0">
                  <a:solidFill>
                    <a:srgbClr val="002060"/>
                  </a:solidFill>
                  <a:latin typeface="Arial" panose="020B0604020202020204" pitchFamily="34" charset="0"/>
                  <a:ea typeface="宋体" panose="02010600030101010101" pitchFamily="2" charset="-122"/>
                </a:rPr>
                <a:t>X</a:t>
              </a:r>
              <a:endParaRPr lang="zh-CN" altLang="en-US" sz="3200" dirty="0">
                <a:solidFill>
                  <a:srgbClr val="FFFFFF"/>
                </a:solidFill>
                <a:latin typeface="Arial" panose="020B0604020202020204" pitchFamily="34" charset="0"/>
                <a:ea typeface="宋体" panose="02010600030101010101" pitchFamily="2" charset="-122"/>
              </a:endParaRPr>
            </a:p>
          </p:txBody>
        </p:sp>
        <p:sp>
          <p:nvSpPr>
            <p:cNvPr id="140317" name="任意多边形 12"/>
            <p:cNvSpPr/>
            <p:nvPr/>
          </p:nvSpPr>
          <p:spPr>
            <a:xfrm>
              <a:off x="4282440" y="173922"/>
              <a:ext cx="1950720" cy="228782"/>
            </a:xfrm>
            <a:custGeom>
              <a:avLst/>
              <a:gdLst/>
              <a:ahLst/>
              <a:cxnLst>
                <a:cxn ang="0">
                  <a:pos x="0" y="198302"/>
                </a:cxn>
                <a:cxn ang="0">
                  <a:pos x="838200" y="182"/>
                </a:cxn>
                <a:cxn ang="0">
                  <a:pos x="1950720" y="228782"/>
                </a:cxn>
              </a:cxnLst>
              <a:rect l="0" t="0" r="0" b="0"/>
              <a:pathLst>
                <a:path w="1950720" h="228782">
                  <a:moveTo>
                    <a:pt x="0" y="198302"/>
                  </a:moveTo>
                  <a:cubicBezTo>
                    <a:pt x="256540" y="96702"/>
                    <a:pt x="513080" y="-4898"/>
                    <a:pt x="838200" y="182"/>
                  </a:cubicBezTo>
                  <a:cubicBezTo>
                    <a:pt x="1163320" y="5262"/>
                    <a:pt x="1752600" y="185602"/>
                    <a:pt x="1950720" y="228782"/>
                  </a:cubicBezTo>
                </a:path>
              </a:pathLst>
            </a:custGeom>
            <a:noFill/>
            <a:ln w="38100" cap="flat" cmpd="sng">
              <a:solidFill>
                <a:srgbClr val="FF0000"/>
              </a:solidFill>
              <a:prstDash val="solid"/>
              <a:round/>
              <a:headEnd type="none" w="med" len="med"/>
              <a:tailEnd type="arrow" w="lg" len="lg"/>
            </a:ln>
          </p:spPr>
          <p:txBody>
            <a:bodyPr/>
            <a:lstStyle/>
            <a:p>
              <a:endParaRPr lang="zh-CN" altLang="en-US"/>
            </a:p>
          </p:txBody>
        </p:sp>
        <p:cxnSp>
          <p:nvCxnSpPr>
            <p:cNvPr id="140318" name="直接箭头连接符 13"/>
            <p:cNvCxnSpPr>
              <a:stCxn id="140297" idx="4"/>
              <a:endCxn id="140311" idx="0"/>
            </p:cNvCxnSpPr>
            <p:nvPr/>
          </p:nvCxnSpPr>
          <p:spPr>
            <a:xfrm flipH="1">
              <a:off x="1911551" y="1111819"/>
              <a:ext cx="315379" cy="930763"/>
            </a:xfrm>
            <a:prstGeom prst="straightConnector1">
              <a:avLst/>
            </a:prstGeom>
            <a:ln w="38100" cap="flat" cmpd="sng">
              <a:solidFill>
                <a:srgbClr val="FF0000"/>
              </a:solidFill>
              <a:prstDash val="solid"/>
              <a:round/>
              <a:headEnd type="none" w="med" len="med"/>
              <a:tailEnd type="arrow" w="lg" len="lg"/>
            </a:ln>
          </p:spPr>
        </p:cxnSp>
        <p:cxnSp>
          <p:nvCxnSpPr>
            <p:cNvPr id="140319" name="直接箭头连接符 14"/>
            <p:cNvCxnSpPr>
              <a:stCxn id="140300" idx="5"/>
            </p:cNvCxnSpPr>
            <p:nvPr/>
          </p:nvCxnSpPr>
          <p:spPr>
            <a:xfrm>
              <a:off x="3916461" y="989130"/>
              <a:ext cx="2167707" cy="1169144"/>
            </a:xfrm>
            <a:prstGeom prst="straightConnector1">
              <a:avLst/>
            </a:prstGeom>
            <a:ln w="38100" cap="flat" cmpd="sng">
              <a:solidFill>
                <a:srgbClr val="FF0000"/>
              </a:solidFill>
              <a:prstDash val="solid"/>
              <a:round/>
              <a:headEnd type="none" w="med" len="med"/>
              <a:tailEnd type="arrow" w="lg" len="lg"/>
            </a:ln>
          </p:spPr>
        </p:cxnSp>
        <p:cxnSp>
          <p:nvCxnSpPr>
            <p:cNvPr id="140320" name="直接箭头连接符 15"/>
            <p:cNvCxnSpPr>
              <a:stCxn id="140311" idx="6"/>
            </p:cNvCxnSpPr>
            <p:nvPr/>
          </p:nvCxnSpPr>
          <p:spPr>
            <a:xfrm>
              <a:off x="2480864" y="2406308"/>
              <a:ext cx="2076360" cy="74987"/>
            </a:xfrm>
            <a:prstGeom prst="straightConnector1">
              <a:avLst/>
            </a:prstGeom>
            <a:ln w="38100" cap="flat" cmpd="sng">
              <a:solidFill>
                <a:srgbClr val="FF0000"/>
              </a:solidFill>
              <a:prstDash val="solid"/>
              <a:round/>
              <a:headEnd type="none" w="med" len="med"/>
              <a:tailEnd type="arrow" w="lg" len="lg"/>
            </a:ln>
          </p:spPr>
        </p:cxnSp>
        <p:sp>
          <p:nvSpPr>
            <p:cNvPr id="140321" name="任意多边形 16"/>
            <p:cNvSpPr/>
            <p:nvPr/>
          </p:nvSpPr>
          <p:spPr>
            <a:xfrm>
              <a:off x="7269480" y="768464"/>
              <a:ext cx="350548" cy="1584960"/>
            </a:xfrm>
            <a:custGeom>
              <a:avLst/>
              <a:gdLst/>
              <a:ahLst/>
              <a:cxnLst>
                <a:cxn ang="0">
                  <a:pos x="15240" y="1584960"/>
                </a:cxn>
                <a:cxn ang="0">
                  <a:pos x="350520" y="807720"/>
                </a:cxn>
                <a:cxn ang="0">
                  <a:pos x="0" y="0"/>
                </a:cxn>
              </a:cxnLst>
              <a:rect l="0" t="0" r="0" b="0"/>
              <a:pathLst>
                <a:path w="350548" h="1584960">
                  <a:moveTo>
                    <a:pt x="15240" y="1584960"/>
                  </a:moveTo>
                  <a:cubicBezTo>
                    <a:pt x="184150" y="1328420"/>
                    <a:pt x="353060" y="1071880"/>
                    <a:pt x="350520" y="807720"/>
                  </a:cubicBezTo>
                  <a:cubicBezTo>
                    <a:pt x="347980" y="543560"/>
                    <a:pt x="173990" y="271780"/>
                    <a:pt x="0" y="0"/>
                  </a:cubicBezTo>
                </a:path>
              </a:pathLst>
            </a:custGeom>
            <a:noFill/>
            <a:ln w="38100" cap="flat" cmpd="sng">
              <a:solidFill>
                <a:srgbClr val="FF0000"/>
              </a:solidFill>
              <a:prstDash val="solid"/>
              <a:round/>
              <a:headEnd type="none" w="med" len="med"/>
              <a:tailEnd type="arrow" w="lg" len="lg"/>
            </a:ln>
          </p:spPr>
          <p:txBody>
            <a:bodyPr/>
            <a:lstStyle/>
            <a:p>
              <a:endParaRPr lang="zh-CN" altLang="en-US"/>
            </a:p>
          </p:txBody>
        </p:sp>
        <p:sp>
          <p:nvSpPr>
            <p:cNvPr id="140322" name="TextBox 17"/>
            <p:cNvSpPr txBox="1"/>
            <p:nvPr/>
          </p:nvSpPr>
          <p:spPr>
            <a:xfrm>
              <a:off x="0" y="3384376"/>
              <a:ext cx="9144000" cy="523220"/>
            </a:xfrm>
            <a:prstGeom prst="rect">
              <a:avLst/>
            </a:prstGeom>
            <a:noFill/>
            <a:ln w="9525">
              <a:noFill/>
            </a:ln>
          </p:spPr>
          <p:txBody>
            <a:bodyPr anchor="t">
              <a:spAutoFit/>
            </a:bodyPr>
            <a:lstStyle/>
            <a:p>
              <a:pPr lvl="0" algn="ctr"/>
              <a:r>
                <a:rPr lang="en-US" altLang="x-none" sz="2800" b="1" dirty="0">
                  <a:latin typeface="Arial" panose="020B0604020202020204" pitchFamily="34" charset="0"/>
                  <a:ea typeface="Times New Roman" panose="02020603050405020304" pitchFamily="2" charset="0"/>
                </a:rPr>
                <a:t>Figure 6.20 Example of an Inessential FD: X</a:t>
              </a:r>
              <a:r>
                <a:rPr lang="zh-CN" altLang="en-US" sz="2800" b="1" dirty="0">
                  <a:latin typeface="Arial" panose="020B0604020202020204" pitchFamily="34" charset="0"/>
                  <a:ea typeface="Times New Roman" panose="02020603050405020304" pitchFamily="2" charset="0"/>
                </a:rPr>
                <a:t>→</a:t>
              </a:r>
              <a:r>
                <a:rPr lang="en-US" altLang="x-none" sz="2800" b="1" dirty="0">
                  <a:latin typeface="Arial" panose="020B0604020202020204" pitchFamily="34" charset="0"/>
                  <a:ea typeface="Times New Roman" panose="02020603050405020304" pitchFamily="2" charset="0"/>
                </a:rPr>
                <a:t>A</a:t>
              </a:r>
              <a:endParaRPr lang="zh-CN" altLang="en-US" sz="2800" b="1" dirty="0">
                <a:latin typeface="Arial" panose="020B0604020202020204" pitchFamily="34" charset="0"/>
                <a:ea typeface="Times New Roman" panose="02020603050405020304" pitchFamily="2"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0293">
                                            <p:bg/>
                                          </p:spTgt>
                                        </p:tgtEl>
                                        <p:attrNameLst>
                                          <p:attrName>style.visibility</p:attrName>
                                        </p:attrNameLst>
                                      </p:cBhvr>
                                      <p:to>
                                        <p:strVal val="visible"/>
                                      </p:to>
                                    </p:set>
                                    <p:animEffect transition="in" filter="blinds(horizontal)">
                                      <p:cBhvr>
                                        <p:cTn id="7" dur="500"/>
                                        <p:tgtEl>
                                          <p:spTgt spid="140293">
                                            <p:bg/>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40293">
                                            <p:txEl>
                                              <p:pRg st="0" end="0"/>
                                            </p:txEl>
                                          </p:spTgt>
                                        </p:tgtEl>
                                        <p:attrNameLst>
                                          <p:attrName>style.visibility</p:attrName>
                                        </p:attrNameLst>
                                      </p:cBhvr>
                                      <p:to>
                                        <p:strVal val="visible"/>
                                      </p:to>
                                    </p:set>
                                    <p:animEffect transition="in" filter="blinds(horizontal)">
                                      <p:cBhvr>
                                        <p:cTn id="10" dur="500"/>
                                        <p:tgtEl>
                                          <p:spTgt spid="14029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40293">
                                            <p:txEl>
                                              <p:pRg st="1" end="1"/>
                                            </p:txEl>
                                          </p:spTgt>
                                        </p:tgtEl>
                                        <p:attrNameLst>
                                          <p:attrName>style.visibility</p:attrName>
                                        </p:attrNameLst>
                                      </p:cBhvr>
                                      <p:to>
                                        <p:strVal val="visible"/>
                                      </p:to>
                                    </p:set>
                                    <p:animEffect transition="in" filter="blinds(horizontal)">
                                      <p:cBhvr>
                                        <p:cTn id="15" dur="500"/>
                                        <p:tgtEl>
                                          <p:spTgt spid="140293">
                                            <p:txEl>
                                              <p:pRg st="1" end="1"/>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40293">
                                            <p:txEl>
                                              <p:pRg st="2" end="2"/>
                                            </p:txEl>
                                          </p:spTgt>
                                        </p:tgtEl>
                                        <p:attrNameLst>
                                          <p:attrName>style.visibility</p:attrName>
                                        </p:attrNameLst>
                                      </p:cBhvr>
                                      <p:to>
                                        <p:strVal val="visible"/>
                                      </p:to>
                                    </p:set>
                                    <p:animEffect transition="in" filter="blinds(horizontal)">
                                      <p:cBhvr>
                                        <p:cTn id="18" dur="500"/>
                                        <p:tgtEl>
                                          <p:spTgt spid="14029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40293">
                                            <p:txEl>
                                              <p:pRg st="4" end="4"/>
                                            </p:txEl>
                                          </p:spTgt>
                                        </p:tgtEl>
                                        <p:attrNameLst>
                                          <p:attrName>style.visibility</p:attrName>
                                        </p:attrNameLst>
                                      </p:cBhvr>
                                      <p:to>
                                        <p:strVal val="visible"/>
                                      </p:to>
                                    </p:set>
                                    <p:animEffect transition="in" filter="blinds(horizontal)">
                                      <p:cBhvr>
                                        <p:cTn id="23" dur="500"/>
                                        <p:tgtEl>
                                          <p:spTgt spid="14029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3" grpId="0" uiExpand="1" build="p"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5"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73</a:t>
            </a:fld>
            <a:endParaRPr lang="zh-CN" altLang="en-US" sz="1200" b="1" i="1" dirty="0">
              <a:latin typeface="Times New Roman" panose="02020603050405020304" pitchFamily="2" charset="0"/>
              <a:ea typeface="宋体" panose="02010600030101010101" pitchFamily="2" charset="-122"/>
            </a:endParaRPr>
          </a:p>
        </p:txBody>
      </p:sp>
      <p:sp>
        <p:nvSpPr>
          <p:cNvPr id="141316" name="Rectangle 3"/>
          <p:cNvSpPr>
            <a:spLocks noGrp="1"/>
          </p:cNvSpPr>
          <p:nvPr>
            <p:ph type="body"/>
          </p:nvPr>
        </p:nvSpPr>
        <p:spPr>
          <a:xfrm>
            <a:off x="0" y="3429000"/>
            <a:ext cx="9144000" cy="3044190"/>
          </a:xfrm>
          <a:ln w="25400">
            <a:solidFill>
              <a:schemeClr val="accent2"/>
            </a:solidFill>
            <a:miter/>
          </a:ln>
        </p:spPr>
        <p:txBody>
          <a:bodyPr wrap="square" anchor="t">
            <a:spAutoFit/>
          </a:bodyPr>
          <a:lstStyle/>
          <a:p>
            <a:pPr lvl="0" eaLnBrk="1" hangingPunct="1">
              <a:lnSpc>
                <a:spcPct val="120000"/>
              </a:lnSpc>
              <a:spcBef>
                <a:spcPct val="30000"/>
              </a:spcBef>
            </a:pPr>
            <a:r>
              <a:rPr lang="en-US" altLang="x-none" sz="3200" dirty="0">
                <a:solidFill>
                  <a:srgbClr val="FF0066"/>
                </a:solidFill>
                <a:ea typeface="宋体" panose="02010600030101010101" pitchFamily="2" charset="-122"/>
              </a:rPr>
              <a:t>step 3</a:t>
            </a:r>
            <a:r>
              <a:rPr lang="en-US" altLang="x-none" sz="3200" dirty="0">
                <a:ea typeface="宋体" panose="02010600030101010101" pitchFamily="2" charset="-122"/>
              </a:rPr>
              <a:t>: </a:t>
            </a:r>
            <a:r>
              <a:rPr lang="en-US" altLang="x-none" sz="3200" dirty="0">
                <a:solidFill>
                  <a:schemeClr val="accent2"/>
                </a:solidFill>
                <a:ea typeface="宋体" panose="02010600030101010101" pitchFamily="2" charset="-122"/>
              </a:rPr>
              <a:t>From the set H of FDs, successively replace individual FDs with FDs that have a smaller number of attributes on the left-hand side, as long as the result does not change H</a:t>
            </a:r>
            <a:r>
              <a:rPr lang="en-US" altLang="x-none" sz="3200" baseline="30000" dirty="0">
                <a:solidFill>
                  <a:schemeClr val="accent2"/>
                </a:solidFill>
                <a:ea typeface="宋体" panose="02010600030101010101" pitchFamily="2" charset="-122"/>
              </a:rPr>
              <a:t>+</a:t>
            </a:r>
            <a:r>
              <a:rPr lang="en-US" altLang="x-none" sz="3200" dirty="0">
                <a:solidFill>
                  <a:schemeClr val="accent2"/>
                </a:solidFill>
                <a:ea typeface="宋体" panose="02010600030101010101" pitchFamily="2" charset="-122"/>
              </a:rPr>
              <a:t>.</a:t>
            </a:r>
          </a:p>
        </p:txBody>
      </p:sp>
      <p:grpSp>
        <p:nvGrpSpPr>
          <p:cNvPr id="141317" name="组合 141317"/>
          <p:cNvGrpSpPr/>
          <p:nvPr/>
        </p:nvGrpSpPr>
        <p:grpSpPr>
          <a:xfrm>
            <a:off x="107950" y="115888"/>
            <a:ext cx="8964613" cy="3025775"/>
            <a:chOff x="0" y="0"/>
            <a:chExt cx="9144000" cy="3474387"/>
          </a:xfrm>
        </p:grpSpPr>
        <p:sp>
          <p:nvSpPr>
            <p:cNvPr id="141318" name="椭圆 9"/>
            <p:cNvSpPr/>
            <p:nvPr/>
          </p:nvSpPr>
          <p:spPr>
            <a:xfrm>
              <a:off x="1187624" y="0"/>
              <a:ext cx="4896544" cy="1567036"/>
            </a:xfrm>
            <a:prstGeom prst="ellipse">
              <a:avLst/>
            </a:prstGeom>
            <a:solidFill>
              <a:srgbClr val="F2F2F2"/>
            </a:solidFill>
            <a:ln w="25400" cap="flat" cmpd="sng">
              <a:solidFill>
                <a:srgbClr val="00956F"/>
              </a:solidFill>
              <a:prstDash val="solid"/>
              <a:round/>
              <a:headEnd type="none" w="med" len="med"/>
              <a:tailEnd type="none" w="med" len="med"/>
            </a:ln>
          </p:spPr>
          <p:txBody>
            <a:bodyPr anchor="ctr"/>
            <a:lstStyle/>
            <a:p>
              <a:pPr lvl="0" algn="ctr"/>
              <a:endParaRPr lang="zh-CN" altLang="en-US" dirty="0">
                <a:solidFill>
                  <a:srgbClr val="FFFFFF"/>
                </a:solidFill>
                <a:latin typeface="Arial" panose="020B0604020202020204" pitchFamily="34" charset="0"/>
                <a:ea typeface="Times New Roman" panose="02020603050405020304" pitchFamily="2" charset="0"/>
              </a:endParaRPr>
            </a:p>
          </p:txBody>
        </p:sp>
        <p:grpSp>
          <p:nvGrpSpPr>
            <p:cNvPr id="141319" name="组合 141319"/>
            <p:cNvGrpSpPr/>
            <p:nvPr/>
          </p:nvGrpSpPr>
          <p:grpSpPr>
            <a:xfrm>
              <a:off x="1681493" y="346055"/>
              <a:ext cx="1090873" cy="837772"/>
              <a:chOff x="0" y="0"/>
              <a:chExt cx="826618" cy="510540"/>
            </a:xfrm>
          </p:grpSpPr>
          <p:sp>
            <p:nvSpPr>
              <p:cNvPr id="141320" name="椭圆 28"/>
              <p:cNvSpPr/>
              <p:nvPr/>
            </p:nvSpPr>
            <p:spPr>
              <a:xfrm>
                <a:off x="0" y="0"/>
                <a:ext cx="826618" cy="510540"/>
              </a:xfrm>
              <a:prstGeom prst="ellipse">
                <a:avLst/>
              </a:prstGeom>
              <a:noFill/>
              <a:ln w="25400" cap="flat" cmpd="sng">
                <a:solidFill>
                  <a:srgbClr val="00956F"/>
                </a:solidFill>
                <a:prstDash val="solid"/>
                <a:round/>
                <a:headEnd type="none" w="med" len="med"/>
                <a:tailEnd type="none" w="med" len="med"/>
              </a:ln>
            </p:spPr>
            <p:txBody>
              <a:bodyPr lIns="0" tIns="0" rIns="0" bIns="0" anchor="t"/>
              <a:lstStyle/>
              <a:p>
                <a:pPr lvl="0" algn="ctr"/>
                <a:r>
                  <a:rPr lang="en-US" altLang="x-none" sz="1400" b="1" dirty="0">
                    <a:solidFill>
                      <a:srgbClr val="002060"/>
                    </a:solidFill>
                    <a:latin typeface="Arial" panose="020B0604020202020204" pitchFamily="34" charset="0"/>
                    <a:ea typeface="宋体" panose="02010600030101010101" pitchFamily="2" charset="-122"/>
                  </a:rPr>
                  <a:t> </a:t>
                </a:r>
                <a:endParaRPr lang="zh-CN" altLang="en-US" sz="1000" dirty="0">
                  <a:solidFill>
                    <a:srgbClr val="FFFFFF"/>
                  </a:solidFill>
                  <a:latin typeface="Arial" panose="020B0604020202020204" pitchFamily="34" charset="0"/>
                  <a:ea typeface="宋体" panose="02010600030101010101" pitchFamily="2" charset="-122"/>
                </a:endParaRPr>
              </a:p>
            </p:txBody>
          </p:sp>
          <p:sp>
            <p:nvSpPr>
              <p:cNvPr id="141321" name="矩形 29"/>
              <p:cNvSpPr/>
              <p:nvPr/>
            </p:nvSpPr>
            <p:spPr>
              <a:xfrm>
                <a:off x="175565" y="51206"/>
                <a:ext cx="489585" cy="393700"/>
              </a:xfrm>
              <a:prstGeom prst="rect">
                <a:avLst/>
              </a:prstGeom>
              <a:solidFill>
                <a:schemeClr val="bg1"/>
              </a:solidFill>
              <a:ln w="25400" cap="flat" cmpd="sng">
                <a:solidFill>
                  <a:srgbClr val="00956F"/>
                </a:solidFill>
                <a:prstDash val="solid"/>
                <a:miter/>
                <a:headEnd type="none" w="med" len="med"/>
                <a:tailEnd type="none" w="med" len="med"/>
              </a:ln>
            </p:spPr>
            <p:txBody>
              <a:bodyPr lIns="0" tIns="0" rIns="0" bIns="0" anchor="ctr"/>
              <a:lstStyle/>
              <a:p>
                <a:pPr lvl="0" algn="ctr"/>
                <a:r>
                  <a:rPr lang="en-US" altLang="x-none" sz="3200" b="1" dirty="0">
                    <a:solidFill>
                      <a:srgbClr val="002060"/>
                    </a:solidFill>
                    <a:latin typeface="Arial" panose="020B0604020202020204" pitchFamily="34" charset="0"/>
                    <a:ea typeface="宋体" panose="02010600030101010101" pitchFamily="2" charset="-122"/>
                  </a:rPr>
                  <a:t>B</a:t>
                </a:r>
                <a:endParaRPr lang="zh-CN" altLang="en-US" sz="3200" dirty="0">
                  <a:solidFill>
                    <a:srgbClr val="FFFFFF"/>
                  </a:solidFill>
                  <a:latin typeface="Arial" panose="020B0604020202020204" pitchFamily="34" charset="0"/>
                  <a:ea typeface="宋体" panose="02010600030101010101" pitchFamily="2" charset="-122"/>
                </a:endParaRPr>
              </a:p>
            </p:txBody>
          </p:sp>
        </p:grpSp>
        <p:grpSp>
          <p:nvGrpSpPr>
            <p:cNvPr id="141322" name="组合 141322"/>
            <p:cNvGrpSpPr/>
            <p:nvPr/>
          </p:nvGrpSpPr>
          <p:grpSpPr>
            <a:xfrm>
              <a:off x="2985343" y="346055"/>
              <a:ext cx="1090873" cy="837772"/>
              <a:chOff x="0" y="0"/>
              <a:chExt cx="826618" cy="510540"/>
            </a:xfrm>
          </p:grpSpPr>
          <p:sp>
            <p:nvSpPr>
              <p:cNvPr id="141323" name="椭圆 26"/>
              <p:cNvSpPr/>
              <p:nvPr/>
            </p:nvSpPr>
            <p:spPr>
              <a:xfrm>
                <a:off x="0" y="0"/>
                <a:ext cx="826618" cy="510540"/>
              </a:xfrm>
              <a:prstGeom prst="ellipse">
                <a:avLst/>
              </a:prstGeom>
              <a:noFill/>
              <a:ln w="25400" cap="flat" cmpd="sng">
                <a:solidFill>
                  <a:srgbClr val="00956F"/>
                </a:solidFill>
                <a:prstDash val="solid"/>
                <a:round/>
                <a:headEnd type="none" w="med" len="med"/>
                <a:tailEnd type="none" w="med" len="med"/>
              </a:ln>
            </p:spPr>
            <p:txBody>
              <a:bodyPr lIns="0" tIns="0" rIns="0" bIns="0" anchor="t"/>
              <a:lstStyle/>
              <a:p>
                <a:pPr lvl="0" algn="ctr"/>
                <a:r>
                  <a:rPr lang="en-US" altLang="x-none" sz="1400" b="1" dirty="0">
                    <a:solidFill>
                      <a:srgbClr val="002060"/>
                    </a:solidFill>
                    <a:latin typeface="Arial" panose="020B0604020202020204" pitchFamily="34" charset="0"/>
                    <a:ea typeface="宋体" panose="02010600030101010101" pitchFamily="2" charset="-122"/>
                  </a:rPr>
                  <a:t> </a:t>
                </a:r>
                <a:endParaRPr lang="zh-CN" altLang="en-US" sz="1000" dirty="0">
                  <a:solidFill>
                    <a:srgbClr val="FFFFFF"/>
                  </a:solidFill>
                  <a:latin typeface="Arial" panose="020B0604020202020204" pitchFamily="34" charset="0"/>
                  <a:ea typeface="宋体" panose="02010600030101010101" pitchFamily="2" charset="-122"/>
                </a:endParaRPr>
              </a:p>
            </p:txBody>
          </p:sp>
          <p:sp>
            <p:nvSpPr>
              <p:cNvPr id="141324" name="矩形 27"/>
              <p:cNvSpPr/>
              <p:nvPr/>
            </p:nvSpPr>
            <p:spPr>
              <a:xfrm>
                <a:off x="175565" y="51206"/>
                <a:ext cx="489585" cy="393700"/>
              </a:xfrm>
              <a:prstGeom prst="rect">
                <a:avLst/>
              </a:prstGeom>
              <a:solidFill>
                <a:schemeClr val="bg1"/>
              </a:solidFill>
              <a:ln w="25400" cap="flat" cmpd="sng">
                <a:solidFill>
                  <a:srgbClr val="00956F"/>
                </a:solidFill>
                <a:prstDash val="solid"/>
                <a:miter/>
                <a:headEnd type="none" w="med" len="med"/>
                <a:tailEnd type="none" w="med" len="med"/>
              </a:ln>
            </p:spPr>
            <p:txBody>
              <a:bodyPr lIns="0" tIns="0" rIns="0" bIns="0" anchor="ctr"/>
              <a:lstStyle/>
              <a:p>
                <a:pPr lvl="0" algn="ctr"/>
                <a:r>
                  <a:rPr lang="en-US" altLang="x-none" sz="3200" b="1" dirty="0">
                    <a:solidFill>
                      <a:srgbClr val="002060"/>
                    </a:solidFill>
                    <a:latin typeface="Arial" panose="020B0604020202020204" pitchFamily="34" charset="0"/>
                    <a:ea typeface="宋体" panose="02010600030101010101" pitchFamily="2" charset="-122"/>
                  </a:rPr>
                  <a:t>C</a:t>
                </a:r>
                <a:endParaRPr lang="zh-CN" altLang="en-US" sz="3200" dirty="0">
                  <a:solidFill>
                    <a:srgbClr val="FFFFFF"/>
                  </a:solidFill>
                  <a:latin typeface="Arial" panose="020B0604020202020204" pitchFamily="34" charset="0"/>
                  <a:ea typeface="宋体" panose="02010600030101010101" pitchFamily="2" charset="-122"/>
                </a:endParaRPr>
              </a:p>
            </p:txBody>
          </p:sp>
        </p:grpSp>
        <p:grpSp>
          <p:nvGrpSpPr>
            <p:cNvPr id="141325" name="组合 141325"/>
            <p:cNvGrpSpPr/>
            <p:nvPr/>
          </p:nvGrpSpPr>
          <p:grpSpPr>
            <a:xfrm>
              <a:off x="2555776" y="1872208"/>
              <a:ext cx="1138627" cy="727452"/>
              <a:chOff x="0" y="0"/>
              <a:chExt cx="826618" cy="510540"/>
            </a:xfrm>
          </p:grpSpPr>
          <p:sp>
            <p:nvSpPr>
              <p:cNvPr id="141326" name="椭圆 24"/>
              <p:cNvSpPr/>
              <p:nvPr/>
            </p:nvSpPr>
            <p:spPr>
              <a:xfrm>
                <a:off x="0" y="0"/>
                <a:ext cx="826618" cy="510540"/>
              </a:xfrm>
              <a:prstGeom prst="ellipse">
                <a:avLst/>
              </a:prstGeom>
              <a:noFill/>
              <a:ln w="25400" cap="flat" cmpd="sng">
                <a:solidFill>
                  <a:srgbClr val="00956F"/>
                </a:solidFill>
                <a:prstDash val="solid"/>
                <a:round/>
                <a:headEnd type="none" w="med" len="med"/>
                <a:tailEnd type="none" w="med" len="med"/>
              </a:ln>
            </p:spPr>
            <p:txBody>
              <a:bodyPr lIns="0" tIns="0" rIns="0" bIns="0" anchor="t"/>
              <a:lstStyle/>
              <a:p>
                <a:pPr lvl="0" algn="ctr"/>
                <a:r>
                  <a:rPr lang="en-US" altLang="x-none" sz="1400" b="1" dirty="0">
                    <a:solidFill>
                      <a:srgbClr val="002060"/>
                    </a:solidFill>
                    <a:latin typeface="Arial" panose="020B0604020202020204" pitchFamily="34" charset="0"/>
                    <a:ea typeface="宋体" panose="02010600030101010101" pitchFamily="2" charset="-122"/>
                  </a:rPr>
                  <a:t> </a:t>
                </a:r>
                <a:endParaRPr lang="zh-CN" altLang="en-US" sz="1000" dirty="0">
                  <a:solidFill>
                    <a:srgbClr val="FFFFFF"/>
                  </a:solidFill>
                  <a:latin typeface="Arial" panose="020B0604020202020204" pitchFamily="34" charset="0"/>
                  <a:ea typeface="宋体" panose="02010600030101010101" pitchFamily="2" charset="-122"/>
                </a:endParaRPr>
              </a:p>
            </p:txBody>
          </p:sp>
          <p:sp>
            <p:nvSpPr>
              <p:cNvPr id="141327" name="矩形 25"/>
              <p:cNvSpPr/>
              <p:nvPr/>
            </p:nvSpPr>
            <p:spPr>
              <a:xfrm>
                <a:off x="175565" y="51206"/>
                <a:ext cx="489585" cy="393700"/>
              </a:xfrm>
              <a:prstGeom prst="rect">
                <a:avLst/>
              </a:prstGeom>
              <a:solidFill>
                <a:schemeClr val="bg1"/>
              </a:solidFill>
              <a:ln w="25400" cap="flat" cmpd="sng">
                <a:solidFill>
                  <a:srgbClr val="00956F"/>
                </a:solidFill>
                <a:prstDash val="solid"/>
                <a:miter/>
                <a:headEnd type="none" w="med" len="med"/>
                <a:tailEnd type="none" w="med" len="med"/>
              </a:ln>
            </p:spPr>
            <p:txBody>
              <a:bodyPr lIns="0" tIns="0" rIns="0" bIns="0" anchor="ctr"/>
              <a:lstStyle/>
              <a:p>
                <a:pPr lvl="0" algn="ctr"/>
                <a:r>
                  <a:rPr lang="en-US" altLang="x-none" sz="3200" b="1" dirty="0">
                    <a:solidFill>
                      <a:srgbClr val="002060"/>
                    </a:solidFill>
                    <a:latin typeface="Arial" panose="020B0604020202020204" pitchFamily="34" charset="0"/>
                    <a:ea typeface="宋体" panose="02010600030101010101" pitchFamily="2" charset="-122"/>
                  </a:rPr>
                  <a:t>E</a:t>
                </a:r>
                <a:endParaRPr lang="zh-CN" altLang="en-US" sz="3200" dirty="0">
                  <a:solidFill>
                    <a:srgbClr val="FFFFFF"/>
                  </a:solidFill>
                  <a:latin typeface="Arial" panose="020B0604020202020204" pitchFamily="34" charset="0"/>
                  <a:ea typeface="宋体" panose="02010600030101010101" pitchFamily="2" charset="-122"/>
                </a:endParaRPr>
              </a:p>
            </p:txBody>
          </p:sp>
        </p:grpSp>
        <p:grpSp>
          <p:nvGrpSpPr>
            <p:cNvPr id="141328" name="组合 141328"/>
            <p:cNvGrpSpPr/>
            <p:nvPr/>
          </p:nvGrpSpPr>
          <p:grpSpPr>
            <a:xfrm>
              <a:off x="6732240" y="288032"/>
              <a:ext cx="1138627" cy="727452"/>
              <a:chOff x="0" y="0"/>
              <a:chExt cx="826618" cy="510540"/>
            </a:xfrm>
          </p:grpSpPr>
          <p:sp>
            <p:nvSpPr>
              <p:cNvPr id="141329" name="椭圆 22"/>
              <p:cNvSpPr/>
              <p:nvPr/>
            </p:nvSpPr>
            <p:spPr>
              <a:xfrm>
                <a:off x="0" y="0"/>
                <a:ext cx="826618" cy="510540"/>
              </a:xfrm>
              <a:prstGeom prst="ellipse">
                <a:avLst/>
              </a:prstGeom>
              <a:noFill/>
              <a:ln w="25400" cap="flat" cmpd="sng">
                <a:solidFill>
                  <a:srgbClr val="00956F"/>
                </a:solidFill>
                <a:prstDash val="solid"/>
                <a:round/>
                <a:headEnd type="none" w="med" len="med"/>
                <a:tailEnd type="none" w="med" len="med"/>
              </a:ln>
            </p:spPr>
            <p:txBody>
              <a:bodyPr lIns="0" tIns="0" rIns="0" bIns="0" anchor="t"/>
              <a:lstStyle/>
              <a:p>
                <a:pPr lvl="0" algn="ctr"/>
                <a:r>
                  <a:rPr lang="en-US" altLang="x-none" sz="1400" b="1" dirty="0">
                    <a:solidFill>
                      <a:srgbClr val="002060"/>
                    </a:solidFill>
                    <a:latin typeface="Arial" panose="020B0604020202020204" pitchFamily="34" charset="0"/>
                    <a:ea typeface="宋体" panose="02010600030101010101" pitchFamily="2" charset="-122"/>
                  </a:rPr>
                  <a:t> </a:t>
                </a:r>
                <a:endParaRPr lang="zh-CN" altLang="en-US" sz="1000" dirty="0">
                  <a:solidFill>
                    <a:srgbClr val="FFFFFF"/>
                  </a:solidFill>
                  <a:latin typeface="Arial" panose="020B0604020202020204" pitchFamily="34" charset="0"/>
                  <a:ea typeface="宋体" panose="02010600030101010101" pitchFamily="2" charset="-122"/>
                </a:endParaRPr>
              </a:p>
            </p:txBody>
          </p:sp>
          <p:sp>
            <p:nvSpPr>
              <p:cNvPr id="141330" name="矩形 23"/>
              <p:cNvSpPr/>
              <p:nvPr/>
            </p:nvSpPr>
            <p:spPr>
              <a:xfrm>
                <a:off x="175565" y="51206"/>
                <a:ext cx="489585" cy="393700"/>
              </a:xfrm>
              <a:prstGeom prst="rect">
                <a:avLst/>
              </a:prstGeom>
              <a:solidFill>
                <a:schemeClr val="bg1"/>
              </a:solidFill>
              <a:ln w="25400" cap="flat" cmpd="sng">
                <a:solidFill>
                  <a:srgbClr val="00956F"/>
                </a:solidFill>
                <a:prstDash val="solid"/>
                <a:miter/>
                <a:headEnd type="none" w="med" len="med"/>
                <a:tailEnd type="none" w="med" len="med"/>
              </a:ln>
            </p:spPr>
            <p:txBody>
              <a:bodyPr lIns="0" tIns="0" rIns="0" bIns="0" anchor="ctr"/>
              <a:lstStyle/>
              <a:p>
                <a:pPr lvl="0" algn="ctr"/>
                <a:r>
                  <a:rPr lang="en-US" altLang="x-none" sz="3200" b="1" dirty="0">
                    <a:solidFill>
                      <a:srgbClr val="002060"/>
                    </a:solidFill>
                    <a:latin typeface="Arial" panose="020B0604020202020204" pitchFamily="34" charset="0"/>
                    <a:ea typeface="宋体" panose="02010600030101010101" pitchFamily="2" charset="-122"/>
                  </a:rPr>
                  <a:t>A</a:t>
                </a:r>
                <a:endParaRPr lang="zh-CN" altLang="en-US" sz="3200" dirty="0">
                  <a:solidFill>
                    <a:srgbClr val="FFFFFF"/>
                  </a:solidFill>
                  <a:latin typeface="Arial" panose="020B0604020202020204" pitchFamily="34" charset="0"/>
                  <a:ea typeface="宋体" panose="02010600030101010101" pitchFamily="2" charset="-122"/>
                </a:endParaRPr>
              </a:p>
            </p:txBody>
          </p:sp>
        </p:grpSp>
        <p:sp>
          <p:nvSpPr>
            <p:cNvPr id="141331" name="矩形 14"/>
            <p:cNvSpPr/>
            <p:nvPr/>
          </p:nvSpPr>
          <p:spPr>
            <a:xfrm>
              <a:off x="986706" y="0"/>
              <a:ext cx="488950" cy="393700"/>
            </a:xfrm>
            <a:prstGeom prst="rect">
              <a:avLst/>
            </a:prstGeom>
            <a:noFill/>
            <a:ln w="9525">
              <a:noFill/>
            </a:ln>
          </p:spPr>
          <p:txBody>
            <a:bodyPr lIns="0" tIns="0" rIns="0" bIns="0" anchor="ctr"/>
            <a:lstStyle/>
            <a:p>
              <a:pPr lvl="0" algn="ctr"/>
              <a:r>
                <a:rPr lang="en-US" altLang="x-none" sz="3200" b="1" dirty="0">
                  <a:solidFill>
                    <a:srgbClr val="002060"/>
                  </a:solidFill>
                  <a:latin typeface="Arial" panose="020B0604020202020204" pitchFamily="34" charset="0"/>
                  <a:ea typeface="宋体" panose="02010600030101010101" pitchFamily="2" charset="-122"/>
                </a:rPr>
                <a:t>X</a:t>
              </a:r>
              <a:endParaRPr lang="zh-CN" altLang="en-US" sz="3200" dirty="0">
                <a:solidFill>
                  <a:srgbClr val="FFFFFF"/>
                </a:solidFill>
                <a:latin typeface="Arial" panose="020B0604020202020204" pitchFamily="34" charset="0"/>
                <a:ea typeface="宋体" panose="02010600030101010101" pitchFamily="2" charset="-122"/>
              </a:endParaRPr>
            </a:p>
          </p:txBody>
        </p:sp>
        <p:sp>
          <p:nvSpPr>
            <p:cNvPr id="141332" name="任意多边形 15"/>
            <p:cNvSpPr/>
            <p:nvPr/>
          </p:nvSpPr>
          <p:spPr>
            <a:xfrm>
              <a:off x="5508104" y="144016"/>
              <a:ext cx="1512168" cy="114391"/>
            </a:xfrm>
            <a:custGeom>
              <a:avLst/>
              <a:gdLst/>
              <a:ahLst/>
              <a:cxnLst>
                <a:cxn ang="0">
                  <a:pos x="0" y="99151"/>
                </a:cxn>
                <a:cxn ang="0">
                  <a:pos x="649760" y="91"/>
                </a:cxn>
                <a:cxn ang="0">
                  <a:pos x="1512168" y="114391"/>
                </a:cxn>
              </a:cxnLst>
              <a:rect l="0" t="0" r="0" b="0"/>
              <a:pathLst>
                <a:path w="1950720" h="228782">
                  <a:moveTo>
                    <a:pt x="0" y="198302"/>
                  </a:moveTo>
                  <a:cubicBezTo>
                    <a:pt x="256540" y="96702"/>
                    <a:pt x="513080" y="-4898"/>
                    <a:pt x="838200" y="182"/>
                  </a:cubicBezTo>
                  <a:cubicBezTo>
                    <a:pt x="1163320" y="5262"/>
                    <a:pt x="1752600" y="185602"/>
                    <a:pt x="1950720" y="228782"/>
                  </a:cubicBezTo>
                </a:path>
              </a:pathLst>
            </a:custGeom>
            <a:noFill/>
            <a:ln w="38100" cap="flat" cmpd="sng">
              <a:solidFill>
                <a:srgbClr val="FF0000"/>
              </a:solidFill>
              <a:prstDash val="solid"/>
              <a:round/>
              <a:headEnd type="none" w="med" len="med"/>
              <a:tailEnd type="arrow" w="lg" len="lg"/>
            </a:ln>
          </p:spPr>
          <p:txBody>
            <a:bodyPr/>
            <a:lstStyle/>
            <a:p>
              <a:endParaRPr lang="zh-CN" altLang="en-US"/>
            </a:p>
          </p:txBody>
        </p:sp>
        <p:sp>
          <p:nvSpPr>
            <p:cNvPr id="141333" name="TextBox 16"/>
            <p:cNvSpPr txBox="1"/>
            <p:nvPr/>
          </p:nvSpPr>
          <p:spPr>
            <a:xfrm>
              <a:off x="0" y="2520280"/>
              <a:ext cx="9144000" cy="954107"/>
            </a:xfrm>
            <a:prstGeom prst="rect">
              <a:avLst/>
            </a:prstGeom>
            <a:noFill/>
            <a:ln w="9525">
              <a:noFill/>
            </a:ln>
          </p:spPr>
          <p:txBody>
            <a:bodyPr anchor="t">
              <a:spAutoFit/>
            </a:bodyPr>
            <a:lstStyle/>
            <a:p>
              <a:pPr lvl="0" algn="ctr"/>
              <a:r>
                <a:rPr lang="en-US" altLang="x-none" sz="2800" b="1" dirty="0">
                  <a:latin typeface="Arial" panose="020B0604020202020204" pitchFamily="34" charset="0"/>
                  <a:ea typeface="Times New Roman" panose="02020603050405020304" pitchFamily="2" charset="0"/>
                </a:rPr>
                <a:t>Figure 6.21 Example of an FD: X</a:t>
              </a:r>
              <a:r>
                <a:rPr lang="zh-CN" altLang="en-US" sz="2800" b="1" dirty="0">
                  <a:latin typeface="Arial" panose="020B0604020202020204" pitchFamily="34" charset="0"/>
                  <a:ea typeface="Times New Roman" panose="02020603050405020304" pitchFamily="2" charset="0"/>
                </a:rPr>
                <a:t>→</a:t>
              </a:r>
              <a:r>
                <a:rPr lang="en-US" altLang="x-none" sz="2800" b="1" dirty="0">
                  <a:latin typeface="Arial" panose="020B0604020202020204" pitchFamily="34" charset="0"/>
                  <a:ea typeface="Times New Roman" panose="02020603050405020304" pitchFamily="2" charset="0"/>
                </a:rPr>
                <a:t>A where B can be removed</a:t>
              </a:r>
              <a:endParaRPr lang="zh-CN" altLang="en-US" sz="2800" b="1" dirty="0">
                <a:latin typeface="Arial" panose="020B0604020202020204" pitchFamily="34" charset="0"/>
                <a:ea typeface="Times New Roman" panose="02020603050405020304" pitchFamily="2" charset="0"/>
              </a:endParaRPr>
            </a:p>
          </p:txBody>
        </p:sp>
        <p:grpSp>
          <p:nvGrpSpPr>
            <p:cNvPr id="141334" name="组合 141334"/>
            <p:cNvGrpSpPr/>
            <p:nvPr/>
          </p:nvGrpSpPr>
          <p:grpSpPr>
            <a:xfrm>
              <a:off x="4283968" y="360040"/>
              <a:ext cx="1090873" cy="837772"/>
              <a:chOff x="0" y="0"/>
              <a:chExt cx="826618" cy="510540"/>
            </a:xfrm>
          </p:grpSpPr>
          <p:sp>
            <p:nvSpPr>
              <p:cNvPr id="141335" name="椭圆 20"/>
              <p:cNvSpPr/>
              <p:nvPr/>
            </p:nvSpPr>
            <p:spPr>
              <a:xfrm>
                <a:off x="0" y="0"/>
                <a:ext cx="826618" cy="510540"/>
              </a:xfrm>
              <a:prstGeom prst="ellipse">
                <a:avLst/>
              </a:prstGeom>
              <a:noFill/>
              <a:ln w="25400" cap="flat" cmpd="sng">
                <a:solidFill>
                  <a:srgbClr val="00956F"/>
                </a:solidFill>
                <a:prstDash val="solid"/>
                <a:round/>
                <a:headEnd type="none" w="med" len="med"/>
                <a:tailEnd type="none" w="med" len="med"/>
              </a:ln>
            </p:spPr>
            <p:txBody>
              <a:bodyPr lIns="0" tIns="0" rIns="0" bIns="0" anchor="t"/>
              <a:lstStyle/>
              <a:p>
                <a:pPr lvl="0" algn="ctr"/>
                <a:r>
                  <a:rPr lang="en-US" altLang="x-none" sz="1400" b="1" dirty="0">
                    <a:solidFill>
                      <a:srgbClr val="002060"/>
                    </a:solidFill>
                    <a:latin typeface="Arial" panose="020B0604020202020204" pitchFamily="34" charset="0"/>
                    <a:ea typeface="宋体" panose="02010600030101010101" pitchFamily="2" charset="-122"/>
                  </a:rPr>
                  <a:t> </a:t>
                </a:r>
                <a:endParaRPr lang="zh-CN" altLang="en-US" sz="1000" dirty="0">
                  <a:solidFill>
                    <a:srgbClr val="FFFFFF"/>
                  </a:solidFill>
                  <a:latin typeface="Arial" panose="020B0604020202020204" pitchFamily="34" charset="0"/>
                  <a:ea typeface="宋体" panose="02010600030101010101" pitchFamily="2" charset="-122"/>
                </a:endParaRPr>
              </a:p>
            </p:txBody>
          </p:sp>
          <p:sp>
            <p:nvSpPr>
              <p:cNvPr id="141336" name="矩形 21"/>
              <p:cNvSpPr/>
              <p:nvPr/>
            </p:nvSpPr>
            <p:spPr>
              <a:xfrm>
                <a:off x="175565" y="51206"/>
                <a:ext cx="489585" cy="393700"/>
              </a:xfrm>
              <a:prstGeom prst="rect">
                <a:avLst/>
              </a:prstGeom>
              <a:solidFill>
                <a:schemeClr val="bg1"/>
              </a:solidFill>
              <a:ln w="25400" cap="flat" cmpd="sng">
                <a:solidFill>
                  <a:srgbClr val="00956F"/>
                </a:solidFill>
                <a:prstDash val="solid"/>
                <a:miter/>
                <a:headEnd type="none" w="med" len="med"/>
                <a:tailEnd type="none" w="med" len="med"/>
              </a:ln>
            </p:spPr>
            <p:txBody>
              <a:bodyPr lIns="0" tIns="0" rIns="0" bIns="0" anchor="ctr"/>
              <a:lstStyle/>
              <a:p>
                <a:pPr lvl="0" algn="ctr"/>
                <a:r>
                  <a:rPr lang="en-US" altLang="x-none" sz="3200" b="1" dirty="0">
                    <a:solidFill>
                      <a:srgbClr val="002060"/>
                    </a:solidFill>
                    <a:latin typeface="Arial" panose="020B0604020202020204" pitchFamily="34" charset="0"/>
                    <a:ea typeface="宋体" panose="02010600030101010101" pitchFamily="2" charset="-122"/>
                  </a:rPr>
                  <a:t>D</a:t>
                </a:r>
                <a:endParaRPr lang="zh-CN" altLang="en-US" sz="3200" dirty="0">
                  <a:solidFill>
                    <a:srgbClr val="FFFFFF"/>
                  </a:solidFill>
                  <a:latin typeface="Arial" panose="020B0604020202020204" pitchFamily="34" charset="0"/>
                  <a:ea typeface="宋体" panose="02010600030101010101" pitchFamily="2" charset="-122"/>
                </a:endParaRPr>
              </a:p>
            </p:txBody>
          </p:sp>
        </p:grpSp>
        <p:sp>
          <p:nvSpPr>
            <p:cNvPr id="141337" name="任意多边形 18"/>
            <p:cNvSpPr/>
            <p:nvPr/>
          </p:nvSpPr>
          <p:spPr>
            <a:xfrm>
              <a:off x="2179320" y="1189464"/>
              <a:ext cx="426720" cy="899160"/>
            </a:xfrm>
            <a:custGeom>
              <a:avLst/>
              <a:gdLst/>
              <a:ahLst/>
              <a:cxnLst>
                <a:cxn ang="0">
                  <a:pos x="0" y="0"/>
                </a:cxn>
                <a:cxn ang="0">
                  <a:pos x="76200" y="396240"/>
                </a:cxn>
                <a:cxn ang="0">
                  <a:pos x="426720" y="899160"/>
                </a:cxn>
              </a:cxnLst>
              <a:rect l="0" t="0" r="0" b="0"/>
              <a:pathLst>
                <a:path w="426720" h="899160">
                  <a:moveTo>
                    <a:pt x="0" y="0"/>
                  </a:moveTo>
                  <a:cubicBezTo>
                    <a:pt x="2540" y="123190"/>
                    <a:pt x="5080" y="246380"/>
                    <a:pt x="76200" y="396240"/>
                  </a:cubicBezTo>
                  <a:cubicBezTo>
                    <a:pt x="147320" y="546100"/>
                    <a:pt x="287020" y="722630"/>
                    <a:pt x="426720" y="899160"/>
                  </a:cubicBezTo>
                </a:path>
              </a:pathLst>
            </a:custGeom>
            <a:noFill/>
            <a:ln w="38100" cap="flat" cmpd="sng">
              <a:solidFill>
                <a:srgbClr val="FF0000"/>
              </a:solidFill>
              <a:prstDash val="solid"/>
              <a:round/>
              <a:headEnd type="arrow" w="lg" len="lg"/>
              <a:tailEnd type="none" w="med" len="med"/>
            </a:ln>
          </p:spPr>
          <p:txBody>
            <a:bodyPr/>
            <a:lstStyle/>
            <a:p>
              <a:endParaRPr lang="zh-CN" altLang="en-US"/>
            </a:p>
          </p:txBody>
        </p:sp>
        <p:sp>
          <p:nvSpPr>
            <p:cNvPr id="141338" name="任意多边形 19"/>
            <p:cNvSpPr/>
            <p:nvPr/>
          </p:nvSpPr>
          <p:spPr>
            <a:xfrm>
              <a:off x="3688080" y="1082784"/>
              <a:ext cx="317136" cy="1051560"/>
            </a:xfrm>
            <a:custGeom>
              <a:avLst/>
              <a:gdLst/>
              <a:ahLst/>
              <a:cxnLst>
                <a:cxn ang="0">
                  <a:pos x="0" y="1051560"/>
                </a:cxn>
                <a:cxn ang="0">
                  <a:pos x="304800" y="609600"/>
                </a:cxn>
                <a:cxn ang="0">
                  <a:pos x="228600" y="0"/>
                </a:cxn>
              </a:cxnLst>
              <a:rect l="0" t="0" r="0" b="0"/>
              <a:pathLst>
                <a:path w="317136" h="1051560">
                  <a:moveTo>
                    <a:pt x="0" y="1051560"/>
                  </a:moveTo>
                  <a:cubicBezTo>
                    <a:pt x="133350" y="918210"/>
                    <a:pt x="266700" y="784860"/>
                    <a:pt x="304800" y="609600"/>
                  </a:cubicBezTo>
                  <a:cubicBezTo>
                    <a:pt x="342900" y="434340"/>
                    <a:pt x="285750" y="217170"/>
                    <a:pt x="228600" y="0"/>
                  </a:cubicBezTo>
                </a:path>
              </a:pathLst>
            </a:custGeom>
            <a:noFill/>
            <a:ln w="38100" cap="flat" cmpd="sng">
              <a:solidFill>
                <a:srgbClr val="FF0000"/>
              </a:solidFill>
              <a:prstDash val="solid"/>
              <a:round/>
              <a:headEnd type="arrow" w="lg" len="lg"/>
              <a:tailEnd type="none" w="med" len="med"/>
            </a:ln>
          </p:spPr>
          <p:txBody>
            <a:bodyPr/>
            <a:lstStyle/>
            <a:p>
              <a:endParaRPr lang="zh-CN" altLang="en-US"/>
            </a:p>
          </p:txBody>
        </p:sp>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9"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74</a:t>
            </a:fld>
            <a:endParaRPr lang="zh-CN" altLang="en-US" sz="1200" b="1" i="1" dirty="0">
              <a:latin typeface="Times New Roman" panose="02020603050405020304" pitchFamily="2" charset="0"/>
              <a:ea typeface="宋体" panose="02010600030101010101" pitchFamily="2" charset="-122"/>
            </a:endParaRPr>
          </a:p>
        </p:txBody>
      </p:sp>
      <p:sp>
        <p:nvSpPr>
          <p:cNvPr id="142341" name="Rectangle 3"/>
          <p:cNvSpPr>
            <a:spLocks noGrp="1"/>
          </p:cNvSpPr>
          <p:nvPr>
            <p:ph type="body"/>
          </p:nvPr>
        </p:nvSpPr>
        <p:spPr>
          <a:xfrm>
            <a:off x="0" y="3429000"/>
            <a:ext cx="9072245" cy="3044190"/>
          </a:xfrm>
          <a:ln w="25400">
            <a:solidFill>
              <a:schemeClr val="accent2"/>
            </a:solidFill>
            <a:miter/>
          </a:ln>
        </p:spPr>
        <p:txBody>
          <a:bodyPr wrap="square" anchor="t">
            <a:spAutoFit/>
          </a:bodyPr>
          <a:lstStyle/>
          <a:p>
            <a:pPr lvl="0" eaLnBrk="1" hangingPunct="1">
              <a:lnSpc>
                <a:spcPct val="120000"/>
              </a:lnSpc>
              <a:spcBef>
                <a:spcPct val="0"/>
              </a:spcBef>
            </a:pPr>
            <a:r>
              <a:rPr lang="en-US" altLang="x-none" sz="3200" dirty="0">
                <a:ea typeface="宋体" panose="02010600030101010101" pitchFamily="2" charset="-122"/>
              </a:rPr>
              <a:t>Let: </a:t>
            </a:r>
            <a:r>
              <a:rPr lang="en-US" altLang="x-none" sz="3200" dirty="0">
                <a:solidFill>
                  <a:srgbClr val="0000FF"/>
                </a:solidFill>
                <a:ea typeface="宋体" panose="02010600030101010101" pitchFamily="2" charset="-122"/>
              </a:rPr>
              <a:t>F = {</a:t>
            </a:r>
            <a:r>
              <a:rPr lang="en-US" altLang="x-none" sz="3200" dirty="0">
                <a:ea typeface="宋体" panose="02010600030101010101" pitchFamily="2" charset="-122"/>
              </a:rPr>
              <a:t>C→E, E→B, BCD→A</a:t>
            </a:r>
            <a:r>
              <a:rPr lang="en-US" altLang="x-none" sz="3200" dirty="0">
                <a:solidFill>
                  <a:srgbClr val="0000FF"/>
                </a:solidFill>
                <a:ea typeface="宋体" panose="02010600030101010101" pitchFamily="2" charset="-122"/>
              </a:rPr>
              <a:t>}</a:t>
            </a:r>
            <a:endParaRPr lang="en-US" altLang="x-none" sz="3200" dirty="0">
              <a:ea typeface="宋体" panose="02010600030101010101" pitchFamily="2" charset="-122"/>
            </a:endParaRPr>
          </a:p>
          <a:p>
            <a:pPr lvl="0" eaLnBrk="1" hangingPunct="1">
              <a:lnSpc>
                <a:spcPct val="120000"/>
              </a:lnSpc>
              <a:spcBef>
                <a:spcPct val="0"/>
              </a:spcBef>
            </a:pPr>
            <a:r>
              <a:rPr lang="en-US" altLang="x-none" sz="3200" dirty="0">
                <a:solidFill>
                  <a:schemeClr val="accent2"/>
                </a:solidFill>
                <a:ea typeface="宋体" panose="02010600030101010101" pitchFamily="2" charset="-122"/>
              </a:rPr>
              <a:t>We say B can be removed from </a:t>
            </a:r>
            <a:r>
              <a:rPr lang="en-US" altLang="x-none" sz="3200" dirty="0">
                <a:ea typeface="宋体" panose="02010600030101010101" pitchFamily="2" charset="-122"/>
              </a:rPr>
              <a:t>BCD→A</a:t>
            </a:r>
            <a:r>
              <a:rPr lang="en-US" altLang="x-none" sz="3200" dirty="0">
                <a:solidFill>
                  <a:schemeClr val="accent2"/>
                </a:solidFill>
                <a:ea typeface="宋体" panose="02010600030101010101" pitchFamily="2" charset="-122"/>
              </a:rPr>
              <a:t> (</a:t>
            </a:r>
            <a:r>
              <a:rPr lang="en-US" altLang="x-none" sz="3200" i="1" u="sng" dirty="0">
                <a:solidFill>
                  <a:schemeClr val="accent2"/>
                </a:solidFill>
                <a:ea typeface="宋体" panose="02010600030101010101" pitchFamily="2" charset="-122"/>
              </a:rPr>
              <a:t>replace </a:t>
            </a:r>
            <a:r>
              <a:rPr lang="en-US" altLang="x-none" sz="3200" i="1" u="sng" dirty="0">
                <a:ea typeface="宋体" panose="02010600030101010101" pitchFamily="2" charset="-122"/>
              </a:rPr>
              <a:t>BCD→A</a:t>
            </a:r>
            <a:r>
              <a:rPr lang="en-US" altLang="x-none" sz="3200" i="1" u="sng" dirty="0">
                <a:solidFill>
                  <a:schemeClr val="accent2"/>
                </a:solidFill>
                <a:ea typeface="宋体" panose="02010600030101010101" pitchFamily="2" charset="-122"/>
              </a:rPr>
              <a:t> by </a:t>
            </a:r>
            <a:r>
              <a:rPr lang="en-US" altLang="x-none" sz="3200" i="1" u="sng" dirty="0">
                <a:ea typeface="宋体" panose="02010600030101010101" pitchFamily="2" charset="-122"/>
              </a:rPr>
              <a:t>CD→A</a:t>
            </a:r>
            <a:r>
              <a:rPr lang="en-US" altLang="x-none" sz="3200" dirty="0">
                <a:solidFill>
                  <a:schemeClr val="accent2"/>
                </a:solidFill>
                <a:ea typeface="宋体" panose="02010600030101010101" pitchFamily="2" charset="-122"/>
              </a:rPr>
              <a:t>) because:</a:t>
            </a:r>
          </a:p>
          <a:p>
            <a:pPr lvl="1" indent="-285750" eaLnBrk="1" hangingPunct="1">
              <a:lnSpc>
                <a:spcPct val="120000"/>
              </a:lnSpc>
              <a:spcBef>
                <a:spcPct val="0"/>
              </a:spcBef>
            </a:pPr>
            <a:r>
              <a:rPr lang="en-US" altLang="x-none" sz="3200" dirty="0">
                <a:ea typeface="宋体" panose="02010600030101010101" pitchFamily="2" charset="-122"/>
              </a:rPr>
              <a:t>Let: H = </a:t>
            </a:r>
            <a:r>
              <a:rPr lang="en-US" altLang="x-none" sz="3200" dirty="0">
                <a:solidFill>
                  <a:srgbClr val="0000FF"/>
                </a:solidFill>
                <a:ea typeface="宋体" panose="02010600030101010101" pitchFamily="2" charset="-122"/>
              </a:rPr>
              <a:t>{ </a:t>
            </a:r>
            <a:r>
              <a:rPr lang="en-US" altLang="x-none" sz="3200" dirty="0">
                <a:solidFill>
                  <a:srgbClr val="FF0000"/>
                </a:solidFill>
                <a:ea typeface="宋体" panose="02010600030101010101" pitchFamily="2" charset="-122"/>
              </a:rPr>
              <a:t>C→E, E→B, CD→A </a:t>
            </a:r>
            <a:r>
              <a:rPr lang="en-US" altLang="x-none" sz="3200" dirty="0">
                <a:solidFill>
                  <a:srgbClr val="0000FF"/>
                </a:solidFill>
                <a:ea typeface="宋体" panose="02010600030101010101" pitchFamily="2" charset="-122"/>
              </a:rPr>
              <a:t>}</a:t>
            </a:r>
          </a:p>
          <a:p>
            <a:pPr lvl="1" indent="-285750" eaLnBrk="1" hangingPunct="1">
              <a:lnSpc>
                <a:spcPct val="120000"/>
              </a:lnSpc>
              <a:spcBef>
                <a:spcPct val="0"/>
              </a:spcBef>
            </a:pPr>
            <a:r>
              <a:rPr lang="en-US" altLang="x-none" sz="3200" dirty="0">
                <a:solidFill>
                  <a:srgbClr val="0000FF"/>
                </a:solidFill>
                <a:ea typeface="宋体" panose="02010600030101010101" pitchFamily="2" charset="-122"/>
              </a:rPr>
              <a:t>We have: F</a:t>
            </a:r>
            <a:r>
              <a:rPr lang="en-US" altLang="x-none" sz="3200" baseline="30000" dirty="0">
                <a:solidFill>
                  <a:srgbClr val="0000FF"/>
                </a:solidFill>
                <a:ea typeface="宋体" panose="02010600030101010101" pitchFamily="2" charset="-122"/>
              </a:rPr>
              <a:t>+</a:t>
            </a:r>
            <a:r>
              <a:rPr lang="en-US" altLang="x-none" sz="3200" dirty="0">
                <a:solidFill>
                  <a:srgbClr val="0000FF"/>
                </a:solidFill>
                <a:ea typeface="宋体" panose="02010600030101010101" pitchFamily="2" charset="-122"/>
              </a:rPr>
              <a:t> = H</a:t>
            </a:r>
            <a:r>
              <a:rPr lang="en-US" altLang="x-none" sz="3200" baseline="30000" dirty="0">
                <a:solidFill>
                  <a:srgbClr val="0000FF"/>
                </a:solidFill>
                <a:ea typeface="宋体" panose="02010600030101010101" pitchFamily="2" charset="-122"/>
              </a:rPr>
              <a:t>+</a:t>
            </a:r>
          </a:p>
        </p:txBody>
      </p:sp>
      <p:grpSp>
        <p:nvGrpSpPr>
          <p:cNvPr id="2" name="组合 142341"/>
          <p:cNvGrpSpPr/>
          <p:nvPr/>
        </p:nvGrpSpPr>
        <p:grpSpPr>
          <a:xfrm>
            <a:off x="107950" y="115888"/>
            <a:ext cx="8964613" cy="3025775"/>
            <a:chOff x="0" y="0"/>
            <a:chExt cx="9144000" cy="3474387"/>
          </a:xfrm>
        </p:grpSpPr>
        <p:sp>
          <p:nvSpPr>
            <p:cNvPr id="142342" name="椭圆 7"/>
            <p:cNvSpPr/>
            <p:nvPr/>
          </p:nvSpPr>
          <p:spPr>
            <a:xfrm>
              <a:off x="1187624" y="0"/>
              <a:ext cx="4896544" cy="1567036"/>
            </a:xfrm>
            <a:prstGeom prst="ellipse">
              <a:avLst/>
            </a:prstGeom>
            <a:solidFill>
              <a:srgbClr val="F2F2F2"/>
            </a:solidFill>
            <a:ln w="25400" cap="flat" cmpd="sng">
              <a:solidFill>
                <a:srgbClr val="00956F"/>
              </a:solidFill>
              <a:prstDash val="solid"/>
              <a:round/>
              <a:headEnd type="none" w="med" len="med"/>
              <a:tailEnd type="none" w="med" len="med"/>
            </a:ln>
          </p:spPr>
          <p:txBody>
            <a:bodyPr anchor="ctr"/>
            <a:lstStyle/>
            <a:p>
              <a:pPr lvl="0" algn="ctr"/>
              <a:endParaRPr lang="zh-CN" altLang="en-US" dirty="0">
                <a:solidFill>
                  <a:srgbClr val="FFFFFF"/>
                </a:solidFill>
                <a:latin typeface="Arial" panose="020B0604020202020204" pitchFamily="34" charset="0"/>
                <a:ea typeface="Times New Roman" panose="02020603050405020304" pitchFamily="2" charset="0"/>
              </a:endParaRPr>
            </a:p>
          </p:txBody>
        </p:sp>
        <p:grpSp>
          <p:nvGrpSpPr>
            <p:cNvPr id="142343" name="组合 142343"/>
            <p:cNvGrpSpPr/>
            <p:nvPr/>
          </p:nvGrpSpPr>
          <p:grpSpPr>
            <a:xfrm>
              <a:off x="1681493" y="346055"/>
              <a:ext cx="1090873" cy="837772"/>
              <a:chOff x="0" y="0"/>
              <a:chExt cx="826618" cy="510540"/>
            </a:xfrm>
          </p:grpSpPr>
          <p:sp>
            <p:nvSpPr>
              <p:cNvPr id="142344" name="椭圆 26"/>
              <p:cNvSpPr/>
              <p:nvPr/>
            </p:nvSpPr>
            <p:spPr>
              <a:xfrm>
                <a:off x="0" y="0"/>
                <a:ext cx="826618" cy="510540"/>
              </a:xfrm>
              <a:prstGeom prst="ellipse">
                <a:avLst/>
              </a:prstGeom>
              <a:noFill/>
              <a:ln w="25400" cap="flat" cmpd="sng">
                <a:solidFill>
                  <a:srgbClr val="00956F"/>
                </a:solidFill>
                <a:prstDash val="solid"/>
                <a:round/>
                <a:headEnd type="none" w="med" len="med"/>
                <a:tailEnd type="none" w="med" len="med"/>
              </a:ln>
            </p:spPr>
            <p:txBody>
              <a:bodyPr lIns="0" tIns="0" rIns="0" bIns="0" anchor="t"/>
              <a:lstStyle/>
              <a:p>
                <a:pPr lvl="0" algn="ctr"/>
                <a:r>
                  <a:rPr lang="en-US" altLang="x-none" sz="1400" b="1" dirty="0">
                    <a:solidFill>
                      <a:srgbClr val="002060"/>
                    </a:solidFill>
                    <a:latin typeface="Arial" panose="020B0604020202020204" pitchFamily="34" charset="0"/>
                    <a:ea typeface="宋体" panose="02010600030101010101" pitchFamily="2" charset="-122"/>
                  </a:rPr>
                  <a:t> </a:t>
                </a:r>
                <a:endParaRPr lang="zh-CN" altLang="en-US" sz="1000" dirty="0">
                  <a:solidFill>
                    <a:srgbClr val="FFFFFF"/>
                  </a:solidFill>
                  <a:latin typeface="Arial" panose="020B0604020202020204" pitchFamily="34" charset="0"/>
                  <a:ea typeface="宋体" panose="02010600030101010101" pitchFamily="2" charset="-122"/>
                </a:endParaRPr>
              </a:p>
            </p:txBody>
          </p:sp>
          <p:sp>
            <p:nvSpPr>
              <p:cNvPr id="142345" name="矩形 27"/>
              <p:cNvSpPr/>
              <p:nvPr/>
            </p:nvSpPr>
            <p:spPr>
              <a:xfrm>
                <a:off x="175565" y="51206"/>
                <a:ext cx="489585" cy="393700"/>
              </a:xfrm>
              <a:prstGeom prst="rect">
                <a:avLst/>
              </a:prstGeom>
              <a:solidFill>
                <a:schemeClr val="bg1"/>
              </a:solidFill>
              <a:ln w="25400" cap="flat" cmpd="sng">
                <a:solidFill>
                  <a:srgbClr val="00956F"/>
                </a:solidFill>
                <a:prstDash val="solid"/>
                <a:miter/>
                <a:headEnd type="none" w="med" len="med"/>
                <a:tailEnd type="none" w="med" len="med"/>
              </a:ln>
            </p:spPr>
            <p:txBody>
              <a:bodyPr lIns="0" tIns="0" rIns="0" bIns="0" anchor="ctr"/>
              <a:lstStyle/>
              <a:p>
                <a:pPr lvl="0" algn="ctr"/>
                <a:r>
                  <a:rPr lang="en-US" altLang="x-none" sz="3200" b="1" dirty="0">
                    <a:solidFill>
                      <a:srgbClr val="002060"/>
                    </a:solidFill>
                    <a:latin typeface="Arial" panose="020B0604020202020204" pitchFamily="34" charset="0"/>
                    <a:ea typeface="宋体" panose="02010600030101010101" pitchFamily="2" charset="-122"/>
                  </a:rPr>
                  <a:t>B</a:t>
                </a:r>
                <a:endParaRPr lang="zh-CN" altLang="en-US" sz="3200" dirty="0">
                  <a:solidFill>
                    <a:srgbClr val="FFFFFF"/>
                  </a:solidFill>
                  <a:latin typeface="Arial" panose="020B0604020202020204" pitchFamily="34" charset="0"/>
                  <a:ea typeface="宋体" panose="02010600030101010101" pitchFamily="2" charset="-122"/>
                </a:endParaRPr>
              </a:p>
            </p:txBody>
          </p:sp>
        </p:grpSp>
        <p:grpSp>
          <p:nvGrpSpPr>
            <p:cNvPr id="142346" name="组合 142346"/>
            <p:cNvGrpSpPr/>
            <p:nvPr/>
          </p:nvGrpSpPr>
          <p:grpSpPr>
            <a:xfrm>
              <a:off x="2985343" y="346055"/>
              <a:ext cx="1090873" cy="837772"/>
              <a:chOff x="0" y="0"/>
              <a:chExt cx="826618" cy="510540"/>
            </a:xfrm>
          </p:grpSpPr>
          <p:sp>
            <p:nvSpPr>
              <p:cNvPr id="142347" name="椭圆 24"/>
              <p:cNvSpPr/>
              <p:nvPr/>
            </p:nvSpPr>
            <p:spPr>
              <a:xfrm>
                <a:off x="0" y="0"/>
                <a:ext cx="826618" cy="510540"/>
              </a:xfrm>
              <a:prstGeom prst="ellipse">
                <a:avLst/>
              </a:prstGeom>
              <a:noFill/>
              <a:ln w="25400" cap="flat" cmpd="sng">
                <a:solidFill>
                  <a:srgbClr val="00956F"/>
                </a:solidFill>
                <a:prstDash val="solid"/>
                <a:round/>
                <a:headEnd type="none" w="med" len="med"/>
                <a:tailEnd type="none" w="med" len="med"/>
              </a:ln>
            </p:spPr>
            <p:txBody>
              <a:bodyPr lIns="0" tIns="0" rIns="0" bIns="0" anchor="t"/>
              <a:lstStyle/>
              <a:p>
                <a:pPr lvl="0" algn="ctr"/>
                <a:r>
                  <a:rPr lang="en-US" altLang="x-none" sz="1400" b="1" dirty="0">
                    <a:solidFill>
                      <a:srgbClr val="002060"/>
                    </a:solidFill>
                    <a:latin typeface="Arial" panose="020B0604020202020204" pitchFamily="34" charset="0"/>
                    <a:ea typeface="宋体" panose="02010600030101010101" pitchFamily="2" charset="-122"/>
                  </a:rPr>
                  <a:t> </a:t>
                </a:r>
                <a:endParaRPr lang="zh-CN" altLang="en-US" sz="1000" dirty="0">
                  <a:solidFill>
                    <a:srgbClr val="FFFFFF"/>
                  </a:solidFill>
                  <a:latin typeface="Arial" panose="020B0604020202020204" pitchFamily="34" charset="0"/>
                  <a:ea typeface="宋体" panose="02010600030101010101" pitchFamily="2" charset="-122"/>
                </a:endParaRPr>
              </a:p>
            </p:txBody>
          </p:sp>
          <p:sp>
            <p:nvSpPr>
              <p:cNvPr id="142348" name="矩形 25"/>
              <p:cNvSpPr/>
              <p:nvPr/>
            </p:nvSpPr>
            <p:spPr>
              <a:xfrm>
                <a:off x="175565" y="51206"/>
                <a:ext cx="489585" cy="393700"/>
              </a:xfrm>
              <a:prstGeom prst="rect">
                <a:avLst/>
              </a:prstGeom>
              <a:solidFill>
                <a:schemeClr val="bg1"/>
              </a:solidFill>
              <a:ln w="25400" cap="flat" cmpd="sng">
                <a:solidFill>
                  <a:srgbClr val="00956F"/>
                </a:solidFill>
                <a:prstDash val="solid"/>
                <a:miter/>
                <a:headEnd type="none" w="med" len="med"/>
                <a:tailEnd type="none" w="med" len="med"/>
              </a:ln>
            </p:spPr>
            <p:txBody>
              <a:bodyPr lIns="0" tIns="0" rIns="0" bIns="0" anchor="ctr"/>
              <a:lstStyle/>
              <a:p>
                <a:pPr lvl="0" algn="ctr"/>
                <a:r>
                  <a:rPr lang="en-US" altLang="x-none" sz="3200" b="1" dirty="0">
                    <a:solidFill>
                      <a:srgbClr val="002060"/>
                    </a:solidFill>
                    <a:latin typeface="Arial" panose="020B0604020202020204" pitchFamily="34" charset="0"/>
                    <a:ea typeface="宋体" panose="02010600030101010101" pitchFamily="2" charset="-122"/>
                  </a:rPr>
                  <a:t>C</a:t>
                </a:r>
                <a:endParaRPr lang="zh-CN" altLang="en-US" sz="3200" dirty="0">
                  <a:solidFill>
                    <a:srgbClr val="FFFFFF"/>
                  </a:solidFill>
                  <a:latin typeface="Arial" panose="020B0604020202020204" pitchFamily="34" charset="0"/>
                  <a:ea typeface="宋体" panose="02010600030101010101" pitchFamily="2" charset="-122"/>
                </a:endParaRPr>
              </a:p>
            </p:txBody>
          </p:sp>
        </p:grpSp>
        <p:grpSp>
          <p:nvGrpSpPr>
            <p:cNvPr id="142349" name="组合 142349"/>
            <p:cNvGrpSpPr/>
            <p:nvPr/>
          </p:nvGrpSpPr>
          <p:grpSpPr>
            <a:xfrm>
              <a:off x="2555776" y="1872208"/>
              <a:ext cx="1138627" cy="727452"/>
              <a:chOff x="0" y="0"/>
              <a:chExt cx="826618" cy="510540"/>
            </a:xfrm>
          </p:grpSpPr>
          <p:sp>
            <p:nvSpPr>
              <p:cNvPr id="142350" name="椭圆 22"/>
              <p:cNvSpPr/>
              <p:nvPr/>
            </p:nvSpPr>
            <p:spPr>
              <a:xfrm>
                <a:off x="0" y="0"/>
                <a:ext cx="826618" cy="510540"/>
              </a:xfrm>
              <a:prstGeom prst="ellipse">
                <a:avLst/>
              </a:prstGeom>
              <a:noFill/>
              <a:ln w="25400" cap="flat" cmpd="sng">
                <a:solidFill>
                  <a:srgbClr val="00956F"/>
                </a:solidFill>
                <a:prstDash val="solid"/>
                <a:round/>
                <a:headEnd type="none" w="med" len="med"/>
                <a:tailEnd type="none" w="med" len="med"/>
              </a:ln>
            </p:spPr>
            <p:txBody>
              <a:bodyPr lIns="0" tIns="0" rIns="0" bIns="0" anchor="t"/>
              <a:lstStyle/>
              <a:p>
                <a:pPr lvl="0" algn="ctr"/>
                <a:r>
                  <a:rPr lang="en-US" altLang="x-none" sz="1400" b="1" dirty="0">
                    <a:solidFill>
                      <a:srgbClr val="002060"/>
                    </a:solidFill>
                    <a:latin typeface="Arial" panose="020B0604020202020204" pitchFamily="34" charset="0"/>
                    <a:ea typeface="宋体" panose="02010600030101010101" pitchFamily="2" charset="-122"/>
                  </a:rPr>
                  <a:t> </a:t>
                </a:r>
                <a:endParaRPr lang="zh-CN" altLang="en-US" sz="1000" dirty="0">
                  <a:solidFill>
                    <a:srgbClr val="FFFFFF"/>
                  </a:solidFill>
                  <a:latin typeface="Arial" panose="020B0604020202020204" pitchFamily="34" charset="0"/>
                  <a:ea typeface="宋体" panose="02010600030101010101" pitchFamily="2" charset="-122"/>
                </a:endParaRPr>
              </a:p>
            </p:txBody>
          </p:sp>
          <p:sp>
            <p:nvSpPr>
              <p:cNvPr id="142351" name="矩形 23"/>
              <p:cNvSpPr/>
              <p:nvPr/>
            </p:nvSpPr>
            <p:spPr>
              <a:xfrm>
                <a:off x="175565" y="51206"/>
                <a:ext cx="489585" cy="393700"/>
              </a:xfrm>
              <a:prstGeom prst="rect">
                <a:avLst/>
              </a:prstGeom>
              <a:solidFill>
                <a:schemeClr val="bg1"/>
              </a:solidFill>
              <a:ln w="25400" cap="flat" cmpd="sng">
                <a:solidFill>
                  <a:srgbClr val="00956F"/>
                </a:solidFill>
                <a:prstDash val="solid"/>
                <a:miter/>
                <a:headEnd type="none" w="med" len="med"/>
                <a:tailEnd type="none" w="med" len="med"/>
              </a:ln>
            </p:spPr>
            <p:txBody>
              <a:bodyPr lIns="0" tIns="0" rIns="0" bIns="0" anchor="ctr"/>
              <a:lstStyle/>
              <a:p>
                <a:pPr lvl="0" algn="ctr"/>
                <a:r>
                  <a:rPr lang="en-US" altLang="x-none" sz="3200" b="1" dirty="0">
                    <a:solidFill>
                      <a:srgbClr val="002060"/>
                    </a:solidFill>
                    <a:latin typeface="Arial" panose="020B0604020202020204" pitchFamily="34" charset="0"/>
                    <a:ea typeface="宋体" panose="02010600030101010101" pitchFamily="2" charset="-122"/>
                  </a:rPr>
                  <a:t>E</a:t>
                </a:r>
                <a:endParaRPr lang="zh-CN" altLang="en-US" sz="3200" dirty="0">
                  <a:solidFill>
                    <a:srgbClr val="FFFFFF"/>
                  </a:solidFill>
                  <a:latin typeface="Arial" panose="020B0604020202020204" pitchFamily="34" charset="0"/>
                  <a:ea typeface="宋体" panose="02010600030101010101" pitchFamily="2" charset="-122"/>
                </a:endParaRPr>
              </a:p>
            </p:txBody>
          </p:sp>
        </p:grpSp>
        <p:grpSp>
          <p:nvGrpSpPr>
            <p:cNvPr id="142352" name="组合 142352"/>
            <p:cNvGrpSpPr/>
            <p:nvPr/>
          </p:nvGrpSpPr>
          <p:grpSpPr>
            <a:xfrm>
              <a:off x="6732240" y="288032"/>
              <a:ext cx="1138627" cy="727452"/>
              <a:chOff x="0" y="0"/>
              <a:chExt cx="826618" cy="510540"/>
            </a:xfrm>
          </p:grpSpPr>
          <p:sp>
            <p:nvSpPr>
              <p:cNvPr id="142353" name="椭圆 20"/>
              <p:cNvSpPr/>
              <p:nvPr/>
            </p:nvSpPr>
            <p:spPr>
              <a:xfrm>
                <a:off x="0" y="0"/>
                <a:ext cx="826618" cy="510540"/>
              </a:xfrm>
              <a:prstGeom prst="ellipse">
                <a:avLst/>
              </a:prstGeom>
              <a:noFill/>
              <a:ln w="25400" cap="flat" cmpd="sng">
                <a:solidFill>
                  <a:srgbClr val="00956F"/>
                </a:solidFill>
                <a:prstDash val="solid"/>
                <a:round/>
                <a:headEnd type="none" w="med" len="med"/>
                <a:tailEnd type="none" w="med" len="med"/>
              </a:ln>
            </p:spPr>
            <p:txBody>
              <a:bodyPr lIns="0" tIns="0" rIns="0" bIns="0" anchor="t"/>
              <a:lstStyle/>
              <a:p>
                <a:pPr lvl="0" algn="ctr"/>
                <a:r>
                  <a:rPr lang="en-US" altLang="x-none" sz="1400" b="1" dirty="0">
                    <a:solidFill>
                      <a:srgbClr val="002060"/>
                    </a:solidFill>
                    <a:latin typeface="Arial" panose="020B0604020202020204" pitchFamily="34" charset="0"/>
                    <a:ea typeface="宋体" panose="02010600030101010101" pitchFamily="2" charset="-122"/>
                  </a:rPr>
                  <a:t> </a:t>
                </a:r>
                <a:endParaRPr lang="zh-CN" altLang="en-US" sz="1000" dirty="0">
                  <a:solidFill>
                    <a:srgbClr val="FFFFFF"/>
                  </a:solidFill>
                  <a:latin typeface="Arial" panose="020B0604020202020204" pitchFamily="34" charset="0"/>
                  <a:ea typeface="宋体" panose="02010600030101010101" pitchFamily="2" charset="-122"/>
                </a:endParaRPr>
              </a:p>
            </p:txBody>
          </p:sp>
          <p:sp>
            <p:nvSpPr>
              <p:cNvPr id="142354" name="矩形 21"/>
              <p:cNvSpPr/>
              <p:nvPr/>
            </p:nvSpPr>
            <p:spPr>
              <a:xfrm>
                <a:off x="175565" y="51206"/>
                <a:ext cx="489585" cy="393700"/>
              </a:xfrm>
              <a:prstGeom prst="rect">
                <a:avLst/>
              </a:prstGeom>
              <a:solidFill>
                <a:schemeClr val="bg1"/>
              </a:solidFill>
              <a:ln w="25400" cap="flat" cmpd="sng">
                <a:solidFill>
                  <a:srgbClr val="00956F"/>
                </a:solidFill>
                <a:prstDash val="solid"/>
                <a:miter/>
                <a:headEnd type="none" w="med" len="med"/>
                <a:tailEnd type="none" w="med" len="med"/>
              </a:ln>
            </p:spPr>
            <p:txBody>
              <a:bodyPr lIns="0" tIns="0" rIns="0" bIns="0" anchor="ctr"/>
              <a:lstStyle/>
              <a:p>
                <a:pPr lvl="0" algn="ctr"/>
                <a:r>
                  <a:rPr lang="en-US" altLang="x-none" sz="3200" b="1" dirty="0">
                    <a:solidFill>
                      <a:srgbClr val="002060"/>
                    </a:solidFill>
                    <a:latin typeface="Arial" panose="020B0604020202020204" pitchFamily="34" charset="0"/>
                    <a:ea typeface="宋体" panose="02010600030101010101" pitchFamily="2" charset="-122"/>
                  </a:rPr>
                  <a:t>A</a:t>
                </a:r>
                <a:endParaRPr lang="zh-CN" altLang="en-US" sz="3200" dirty="0">
                  <a:solidFill>
                    <a:srgbClr val="FFFFFF"/>
                  </a:solidFill>
                  <a:latin typeface="Arial" panose="020B0604020202020204" pitchFamily="34" charset="0"/>
                  <a:ea typeface="宋体" panose="02010600030101010101" pitchFamily="2" charset="-122"/>
                </a:endParaRPr>
              </a:p>
            </p:txBody>
          </p:sp>
        </p:grpSp>
        <p:sp>
          <p:nvSpPr>
            <p:cNvPr id="142355" name="矩形 12"/>
            <p:cNvSpPr/>
            <p:nvPr/>
          </p:nvSpPr>
          <p:spPr>
            <a:xfrm>
              <a:off x="986706" y="0"/>
              <a:ext cx="488950" cy="393700"/>
            </a:xfrm>
            <a:prstGeom prst="rect">
              <a:avLst/>
            </a:prstGeom>
            <a:noFill/>
            <a:ln w="9525">
              <a:noFill/>
            </a:ln>
          </p:spPr>
          <p:txBody>
            <a:bodyPr lIns="0" tIns="0" rIns="0" bIns="0" anchor="ctr"/>
            <a:lstStyle/>
            <a:p>
              <a:pPr lvl="0" algn="ctr"/>
              <a:r>
                <a:rPr lang="en-US" altLang="x-none" sz="3200" b="1" dirty="0">
                  <a:solidFill>
                    <a:srgbClr val="002060"/>
                  </a:solidFill>
                  <a:latin typeface="Arial" panose="020B0604020202020204" pitchFamily="34" charset="0"/>
                  <a:ea typeface="宋体" panose="02010600030101010101" pitchFamily="2" charset="-122"/>
                </a:rPr>
                <a:t>X</a:t>
              </a:r>
              <a:endParaRPr lang="zh-CN" altLang="en-US" sz="3200" dirty="0">
                <a:solidFill>
                  <a:srgbClr val="FFFFFF"/>
                </a:solidFill>
                <a:latin typeface="Arial" panose="020B0604020202020204" pitchFamily="34" charset="0"/>
                <a:ea typeface="宋体" panose="02010600030101010101" pitchFamily="2" charset="-122"/>
              </a:endParaRPr>
            </a:p>
          </p:txBody>
        </p:sp>
        <p:sp>
          <p:nvSpPr>
            <p:cNvPr id="142356" name="任意多边形 13"/>
            <p:cNvSpPr/>
            <p:nvPr/>
          </p:nvSpPr>
          <p:spPr>
            <a:xfrm>
              <a:off x="5508104" y="144016"/>
              <a:ext cx="1512168" cy="114391"/>
            </a:xfrm>
            <a:custGeom>
              <a:avLst/>
              <a:gdLst/>
              <a:ahLst/>
              <a:cxnLst>
                <a:cxn ang="0">
                  <a:pos x="0" y="99151"/>
                </a:cxn>
                <a:cxn ang="0">
                  <a:pos x="649760" y="91"/>
                </a:cxn>
                <a:cxn ang="0">
                  <a:pos x="1512168" y="114391"/>
                </a:cxn>
              </a:cxnLst>
              <a:rect l="0" t="0" r="0" b="0"/>
              <a:pathLst>
                <a:path w="1950720" h="228782">
                  <a:moveTo>
                    <a:pt x="0" y="198302"/>
                  </a:moveTo>
                  <a:cubicBezTo>
                    <a:pt x="256540" y="96702"/>
                    <a:pt x="513080" y="-4898"/>
                    <a:pt x="838200" y="182"/>
                  </a:cubicBezTo>
                  <a:cubicBezTo>
                    <a:pt x="1163320" y="5262"/>
                    <a:pt x="1752600" y="185602"/>
                    <a:pt x="1950720" y="228782"/>
                  </a:cubicBezTo>
                </a:path>
              </a:pathLst>
            </a:custGeom>
            <a:noFill/>
            <a:ln w="38100" cap="flat" cmpd="sng">
              <a:solidFill>
                <a:srgbClr val="FF0000"/>
              </a:solidFill>
              <a:prstDash val="solid"/>
              <a:round/>
              <a:headEnd type="none" w="med" len="med"/>
              <a:tailEnd type="arrow" w="lg" len="lg"/>
            </a:ln>
          </p:spPr>
          <p:txBody>
            <a:bodyPr/>
            <a:lstStyle/>
            <a:p>
              <a:endParaRPr lang="zh-CN" altLang="en-US"/>
            </a:p>
          </p:txBody>
        </p:sp>
        <p:sp>
          <p:nvSpPr>
            <p:cNvPr id="142357" name="TextBox 14"/>
            <p:cNvSpPr txBox="1"/>
            <p:nvPr/>
          </p:nvSpPr>
          <p:spPr>
            <a:xfrm>
              <a:off x="0" y="2520280"/>
              <a:ext cx="9144000" cy="954107"/>
            </a:xfrm>
            <a:prstGeom prst="rect">
              <a:avLst/>
            </a:prstGeom>
            <a:noFill/>
            <a:ln w="9525">
              <a:noFill/>
            </a:ln>
          </p:spPr>
          <p:txBody>
            <a:bodyPr anchor="t">
              <a:spAutoFit/>
            </a:bodyPr>
            <a:lstStyle/>
            <a:p>
              <a:pPr lvl="0" algn="ctr"/>
              <a:r>
                <a:rPr lang="en-US" altLang="x-none" sz="2800" b="1" dirty="0">
                  <a:latin typeface="Arial" panose="020B0604020202020204" pitchFamily="34" charset="0"/>
                  <a:ea typeface="Times New Roman" panose="02020603050405020304" pitchFamily="2" charset="0"/>
                </a:rPr>
                <a:t>Figure 6.21 Example of an FD: X</a:t>
              </a:r>
              <a:r>
                <a:rPr lang="zh-CN" altLang="en-US" sz="2800" b="1" dirty="0">
                  <a:latin typeface="Arial" panose="020B0604020202020204" pitchFamily="34" charset="0"/>
                  <a:ea typeface="Times New Roman" panose="02020603050405020304" pitchFamily="2" charset="0"/>
                </a:rPr>
                <a:t>→</a:t>
              </a:r>
              <a:r>
                <a:rPr lang="en-US" altLang="x-none" sz="2800" b="1" dirty="0">
                  <a:latin typeface="Arial" panose="020B0604020202020204" pitchFamily="34" charset="0"/>
                  <a:ea typeface="Times New Roman" panose="02020603050405020304" pitchFamily="2" charset="0"/>
                </a:rPr>
                <a:t>A where B can be removed</a:t>
              </a:r>
              <a:endParaRPr lang="zh-CN" altLang="en-US" sz="2800" b="1" dirty="0">
                <a:latin typeface="Arial" panose="020B0604020202020204" pitchFamily="34" charset="0"/>
                <a:ea typeface="Times New Roman" panose="02020603050405020304" pitchFamily="2" charset="0"/>
              </a:endParaRPr>
            </a:p>
          </p:txBody>
        </p:sp>
        <p:grpSp>
          <p:nvGrpSpPr>
            <p:cNvPr id="142358" name="组合 142358"/>
            <p:cNvGrpSpPr/>
            <p:nvPr/>
          </p:nvGrpSpPr>
          <p:grpSpPr>
            <a:xfrm>
              <a:off x="4283968" y="360040"/>
              <a:ext cx="1090873" cy="837772"/>
              <a:chOff x="0" y="0"/>
              <a:chExt cx="826618" cy="510540"/>
            </a:xfrm>
          </p:grpSpPr>
          <p:sp>
            <p:nvSpPr>
              <p:cNvPr id="142359" name="椭圆 18"/>
              <p:cNvSpPr/>
              <p:nvPr/>
            </p:nvSpPr>
            <p:spPr>
              <a:xfrm>
                <a:off x="0" y="0"/>
                <a:ext cx="826618" cy="510540"/>
              </a:xfrm>
              <a:prstGeom prst="ellipse">
                <a:avLst/>
              </a:prstGeom>
              <a:noFill/>
              <a:ln w="25400" cap="flat" cmpd="sng">
                <a:solidFill>
                  <a:srgbClr val="00956F"/>
                </a:solidFill>
                <a:prstDash val="solid"/>
                <a:round/>
                <a:headEnd type="none" w="med" len="med"/>
                <a:tailEnd type="none" w="med" len="med"/>
              </a:ln>
            </p:spPr>
            <p:txBody>
              <a:bodyPr lIns="0" tIns="0" rIns="0" bIns="0" anchor="t"/>
              <a:lstStyle/>
              <a:p>
                <a:pPr lvl="0" algn="ctr"/>
                <a:r>
                  <a:rPr lang="en-US" altLang="x-none" sz="1400" b="1" dirty="0">
                    <a:solidFill>
                      <a:srgbClr val="002060"/>
                    </a:solidFill>
                    <a:latin typeface="Arial" panose="020B0604020202020204" pitchFamily="34" charset="0"/>
                    <a:ea typeface="宋体" panose="02010600030101010101" pitchFamily="2" charset="-122"/>
                  </a:rPr>
                  <a:t> </a:t>
                </a:r>
                <a:endParaRPr lang="zh-CN" altLang="en-US" sz="1000" dirty="0">
                  <a:solidFill>
                    <a:srgbClr val="FFFFFF"/>
                  </a:solidFill>
                  <a:latin typeface="Arial" panose="020B0604020202020204" pitchFamily="34" charset="0"/>
                  <a:ea typeface="宋体" panose="02010600030101010101" pitchFamily="2" charset="-122"/>
                </a:endParaRPr>
              </a:p>
            </p:txBody>
          </p:sp>
          <p:sp>
            <p:nvSpPr>
              <p:cNvPr id="142360" name="矩形 19"/>
              <p:cNvSpPr/>
              <p:nvPr/>
            </p:nvSpPr>
            <p:spPr>
              <a:xfrm>
                <a:off x="175565" y="51206"/>
                <a:ext cx="489585" cy="393700"/>
              </a:xfrm>
              <a:prstGeom prst="rect">
                <a:avLst/>
              </a:prstGeom>
              <a:solidFill>
                <a:schemeClr val="bg1"/>
              </a:solidFill>
              <a:ln w="25400" cap="flat" cmpd="sng">
                <a:solidFill>
                  <a:srgbClr val="00956F"/>
                </a:solidFill>
                <a:prstDash val="solid"/>
                <a:miter/>
                <a:headEnd type="none" w="med" len="med"/>
                <a:tailEnd type="none" w="med" len="med"/>
              </a:ln>
            </p:spPr>
            <p:txBody>
              <a:bodyPr lIns="0" tIns="0" rIns="0" bIns="0" anchor="ctr"/>
              <a:lstStyle/>
              <a:p>
                <a:pPr lvl="0" algn="ctr"/>
                <a:r>
                  <a:rPr lang="en-US" altLang="x-none" sz="3200" b="1" dirty="0">
                    <a:solidFill>
                      <a:srgbClr val="002060"/>
                    </a:solidFill>
                    <a:latin typeface="Arial" panose="020B0604020202020204" pitchFamily="34" charset="0"/>
                    <a:ea typeface="宋体" panose="02010600030101010101" pitchFamily="2" charset="-122"/>
                  </a:rPr>
                  <a:t>D</a:t>
                </a:r>
                <a:endParaRPr lang="zh-CN" altLang="en-US" sz="3200" dirty="0">
                  <a:solidFill>
                    <a:srgbClr val="FFFFFF"/>
                  </a:solidFill>
                  <a:latin typeface="Arial" panose="020B0604020202020204" pitchFamily="34" charset="0"/>
                  <a:ea typeface="宋体" panose="02010600030101010101" pitchFamily="2" charset="-122"/>
                </a:endParaRPr>
              </a:p>
            </p:txBody>
          </p:sp>
        </p:grpSp>
        <p:sp>
          <p:nvSpPr>
            <p:cNvPr id="142361" name="任意多边形 16"/>
            <p:cNvSpPr/>
            <p:nvPr/>
          </p:nvSpPr>
          <p:spPr>
            <a:xfrm>
              <a:off x="2179320" y="1189464"/>
              <a:ext cx="426720" cy="899160"/>
            </a:xfrm>
            <a:custGeom>
              <a:avLst/>
              <a:gdLst/>
              <a:ahLst/>
              <a:cxnLst>
                <a:cxn ang="0">
                  <a:pos x="0" y="0"/>
                </a:cxn>
                <a:cxn ang="0">
                  <a:pos x="76200" y="396240"/>
                </a:cxn>
                <a:cxn ang="0">
                  <a:pos x="426720" y="899160"/>
                </a:cxn>
              </a:cxnLst>
              <a:rect l="0" t="0" r="0" b="0"/>
              <a:pathLst>
                <a:path w="426720" h="899160">
                  <a:moveTo>
                    <a:pt x="0" y="0"/>
                  </a:moveTo>
                  <a:cubicBezTo>
                    <a:pt x="2540" y="123190"/>
                    <a:pt x="5080" y="246380"/>
                    <a:pt x="76200" y="396240"/>
                  </a:cubicBezTo>
                  <a:cubicBezTo>
                    <a:pt x="147320" y="546100"/>
                    <a:pt x="287020" y="722630"/>
                    <a:pt x="426720" y="899160"/>
                  </a:cubicBezTo>
                </a:path>
              </a:pathLst>
            </a:custGeom>
            <a:noFill/>
            <a:ln w="38100" cap="flat" cmpd="sng">
              <a:solidFill>
                <a:srgbClr val="FF0000"/>
              </a:solidFill>
              <a:prstDash val="solid"/>
              <a:round/>
              <a:headEnd type="arrow" w="lg" len="lg"/>
              <a:tailEnd type="none" w="med" len="med"/>
            </a:ln>
          </p:spPr>
          <p:txBody>
            <a:bodyPr/>
            <a:lstStyle/>
            <a:p>
              <a:endParaRPr lang="zh-CN" altLang="en-US"/>
            </a:p>
          </p:txBody>
        </p:sp>
        <p:sp>
          <p:nvSpPr>
            <p:cNvPr id="142362" name="任意多边形 17"/>
            <p:cNvSpPr/>
            <p:nvPr/>
          </p:nvSpPr>
          <p:spPr>
            <a:xfrm>
              <a:off x="3688080" y="1082784"/>
              <a:ext cx="317136" cy="1051560"/>
            </a:xfrm>
            <a:custGeom>
              <a:avLst/>
              <a:gdLst/>
              <a:ahLst/>
              <a:cxnLst>
                <a:cxn ang="0">
                  <a:pos x="0" y="1051560"/>
                </a:cxn>
                <a:cxn ang="0">
                  <a:pos x="304800" y="609600"/>
                </a:cxn>
                <a:cxn ang="0">
                  <a:pos x="228600" y="0"/>
                </a:cxn>
              </a:cxnLst>
              <a:rect l="0" t="0" r="0" b="0"/>
              <a:pathLst>
                <a:path w="317136" h="1051560">
                  <a:moveTo>
                    <a:pt x="0" y="1051560"/>
                  </a:moveTo>
                  <a:cubicBezTo>
                    <a:pt x="133350" y="918210"/>
                    <a:pt x="266700" y="784860"/>
                    <a:pt x="304800" y="609600"/>
                  </a:cubicBezTo>
                  <a:cubicBezTo>
                    <a:pt x="342900" y="434340"/>
                    <a:pt x="285750" y="217170"/>
                    <a:pt x="228600" y="0"/>
                  </a:cubicBezTo>
                </a:path>
              </a:pathLst>
            </a:custGeom>
            <a:noFill/>
            <a:ln w="38100" cap="flat" cmpd="sng">
              <a:solidFill>
                <a:srgbClr val="FF0000"/>
              </a:solidFill>
              <a:prstDash val="solid"/>
              <a:round/>
              <a:headEnd type="arrow" w="lg" len="lg"/>
              <a:tailEnd type="none" w="med" len="me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2341">
                                            <p:bg/>
                                          </p:spTgt>
                                        </p:tgtEl>
                                        <p:attrNameLst>
                                          <p:attrName>style.visibility</p:attrName>
                                        </p:attrNameLst>
                                      </p:cBhvr>
                                      <p:to>
                                        <p:strVal val="visible"/>
                                      </p:to>
                                    </p:set>
                                    <p:animEffect transition="in" filter="blinds(horizontal)">
                                      <p:cBhvr>
                                        <p:cTn id="7" dur="500"/>
                                        <p:tgtEl>
                                          <p:spTgt spid="142341">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2341">
                                            <p:txEl>
                                              <p:pRg st="0" end="0"/>
                                            </p:txEl>
                                          </p:spTgt>
                                        </p:tgtEl>
                                        <p:attrNameLst>
                                          <p:attrName>style.visibility</p:attrName>
                                        </p:attrNameLst>
                                      </p:cBhvr>
                                      <p:to>
                                        <p:strVal val="visible"/>
                                      </p:to>
                                    </p:set>
                                    <p:animEffect transition="in" filter="blinds(horizontal)">
                                      <p:cBhvr>
                                        <p:cTn id="12" dur="500"/>
                                        <p:tgtEl>
                                          <p:spTgt spid="14234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2341">
                                            <p:txEl>
                                              <p:pRg st="1" end="1"/>
                                            </p:txEl>
                                          </p:spTgt>
                                        </p:tgtEl>
                                        <p:attrNameLst>
                                          <p:attrName>style.visibility</p:attrName>
                                        </p:attrNameLst>
                                      </p:cBhvr>
                                      <p:to>
                                        <p:strVal val="visible"/>
                                      </p:to>
                                    </p:set>
                                    <p:animEffect transition="in" filter="blinds(horizontal)">
                                      <p:cBhvr>
                                        <p:cTn id="17" dur="500"/>
                                        <p:tgtEl>
                                          <p:spTgt spid="14234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2341">
                                            <p:txEl>
                                              <p:pRg st="2" end="2"/>
                                            </p:txEl>
                                          </p:spTgt>
                                        </p:tgtEl>
                                        <p:attrNameLst>
                                          <p:attrName>style.visibility</p:attrName>
                                        </p:attrNameLst>
                                      </p:cBhvr>
                                      <p:to>
                                        <p:strVal val="visible"/>
                                      </p:to>
                                    </p:set>
                                    <p:animEffect transition="in" filter="blinds(horizontal)">
                                      <p:cBhvr>
                                        <p:cTn id="22" dur="500"/>
                                        <p:tgtEl>
                                          <p:spTgt spid="14234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42341">
                                            <p:txEl>
                                              <p:pRg st="3" end="3"/>
                                            </p:txEl>
                                          </p:spTgt>
                                        </p:tgtEl>
                                        <p:attrNameLst>
                                          <p:attrName>style.visibility</p:attrName>
                                        </p:attrNameLst>
                                      </p:cBhvr>
                                      <p:to>
                                        <p:strVal val="visible"/>
                                      </p:to>
                                    </p:set>
                                    <p:animEffect transition="in" filter="blinds(horizontal)">
                                      <p:cBhvr>
                                        <p:cTn id="27" dur="500"/>
                                        <p:tgtEl>
                                          <p:spTgt spid="14234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41" grpId="0" build="p" bldLvl="2"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43362"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43363"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75</a:t>
            </a:fld>
            <a:endParaRPr lang="zh-CN" altLang="en-US" sz="1200" b="1" i="1" dirty="0">
              <a:latin typeface="Times New Roman" panose="02020603050405020304" pitchFamily="2" charset="0"/>
              <a:ea typeface="宋体" panose="02010600030101010101" pitchFamily="2" charset="-122"/>
            </a:endParaRPr>
          </a:p>
        </p:txBody>
      </p:sp>
      <p:sp>
        <p:nvSpPr>
          <p:cNvPr id="143364"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6.6 </a:t>
            </a:r>
            <a:r>
              <a:rPr lang="en-US" altLang="x-none" dirty="0">
                <a:ea typeface="宋体" panose="02010600030101010101" pitchFamily="2" charset="-122"/>
              </a:rPr>
              <a:t>Functional Dependencies</a:t>
            </a:r>
          </a:p>
        </p:txBody>
      </p:sp>
      <p:sp>
        <p:nvSpPr>
          <p:cNvPr id="143365" name="Rectangle 3"/>
          <p:cNvSpPr>
            <a:spLocks noGrp="1"/>
          </p:cNvSpPr>
          <p:nvPr>
            <p:ph type="body"/>
          </p:nvPr>
        </p:nvSpPr>
        <p:spPr/>
        <p:txBody>
          <a:bodyPr wrap="square" anchor="t"/>
          <a:lstStyle/>
          <a:p>
            <a:pPr lvl="0" indent="-285750" eaLnBrk="1" hangingPunct="1">
              <a:lnSpc>
                <a:spcPct val="130000"/>
              </a:lnSpc>
            </a:pPr>
            <a:r>
              <a:rPr lang="en-US" altLang="x-none" sz="3200" dirty="0">
                <a:solidFill>
                  <a:srgbClr val="FF0066"/>
                </a:solidFill>
                <a:ea typeface="宋体" panose="02010600030101010101" pitchFamily="2" charset="-122"/>
              </a:rPr>
              <a:t>step 4</a:t>
            </a:r>
            <a:r>
              <a:rPr lang="en-US" altLang="x-none" sz="3200" dirty="0">
                <a:ea typeface="宋体" panose="02010600030101010101" pitchFamily="2" charset="-122"/>
              </a:rPr>
              <a:t>: </a:t>
            </a:r>
            <a:r>
              <a:rPr lang="en-US" altLang="x-none" sz="3200" dirty="0">
                <a:solidFill>
                  <a:srgbClr val="0000CC"/>
                </a:solidFill>
                <a:ea typeface="宋体" panose="02010600030101010101" pitchFamily="2" charset="-122"/>
              </a:rPr>
              <a:t>From the remaining set of FDs, gather all FDs with equal left-hand sides and use the union rule to create an equivalent set of FDs M where all left-hand sides are unique.</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45410"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45411"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76</a:t>
            </a:fld>
            <a:endParaRPr lang="zh-CN" altLang="en-US" sz="1200" b="1" i="1" dirty="0">
              <a:latin typeface="Times New Roman" panose="02020603050405020304" pitchFamily="2" charset="0"/>
              <a:ea typeface="宋体" panose="02010600030101010101" pitchFamily="2" charset="-122"/>
            </a:endParaRPr>
          </a:p>
        </p:txBody>
      </p:sp>
      <p:sp>
        <p:nvSpPr>
          <p:cNvPr id="145412"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6.6 </a:t>
            </a:r>
            <a:r>
              <a:rPr lang="en-US" altLang="x-none" dirty="0">
                <a:ea typeface="宋体" panose="02010600030101010101" pitchFamily="2" charset="-122"/>
              </a:rPr>
              <a:t>Functional Dependencies</a:t>
            </a:r>
            <a:endParaRPr lang="zh-CN" altLang="en-US" dirty="0">
              <a:ea typeface="宋体" panose="02010600030101010101" pitchFamily="2" charset="-122"/>
            </a:endParaRPr>
          </a:p>
        </p:txBody>
      </p:sp>
      <p:sp>
        <p:nvSpPr>
          <p:cNvPr id="145413" name="Rectangle 3"/>
          <p:cNvSpPr>
            <a:spLocks noGrp="1"/>
          </p:cNvSpPr>
          <p:nvPr>
            <p:ph type="body"/>
          </p:nvPr>
        </p:nvSpPr>
        <p:spPr/>
        <p:txBody>
          <a:bodyPr wrap="square" anchor="t"/>
          <a:lstStyle/>
          <a:p>
            <a:pPr marL="457200" lvl="0" indent="-457200" eaLnBrk="1" hangingPunct="1"/>
            <a:r>
              <a:rPr lang="en-US" altLang="x-none" dirty="0">
                <a:ea typeface="宋体" panose="02010600030101010101" pitchFamily="2" charset="-122"/>
              </a:rPr>
              <a:t>Example 6.6.8  Construct the minimal cover cover M for the set F of FDs.</a:t>
            </a:r>
          </a:p>
          <a:p>
            <a:pPr marL="914400" lvl="1" indent="-457200" eaLnBrk="1" hangingPunct="1"/>
            <a:r>
              <a:rPr lang="en-US" altLang="x-none" dirty="0">
                <a:ea typeface="宋体" panose="02010600030101010101" pitchFamily="2" charset="-122"/>
              </a:rPr>
              <a:t>F:</a:t>
            </a:r>
          </a:p>
          <a:p>
            <a:pPr marL="1371600" lvl="2" indent="-457200" eaLnBrk="1" hangingPunct="1">
              <a:buAutoNum type="arabicParenR"/>
            </a:pPr>
            <a:r>
              <a:rPr lang="en-US" altLang="x-none" dirty="0">
                <a:ea typeface="宋体" panose="02010600030101010101" pitchFamily="2" charset="-122"/>
              </a:rPr>
              <a:t>A B D → A C</a:t>
            </a:r>
          </a:p>
          <a:p>
            <a:pPr marL="1371600" lvl="2" indent="-457200" eaLnBrk="1" hangingPunct="1">
              <a:buAutoNum type="arabicParenR"/>
            </a:pPr>
            <a:r>
              <a:rPr lang="en-US" altLang="x-none" dirty="0">
                <a:ea typeface="宋体" panose="02010600030101010101" pitchFamily="2" charset="-122"/>
              </a:rPr>
              <a:t>C → B E</a:t>
            </a:r>
          </a:p>
          <a:p>
            <a:pPr marL="1371600" lvl="2" indent="-457200" eaLnBrk="1" hangingPunct="1">
              <a:buAutoNum type="arabicParenR"/>
            </a:pPr>
            <a:r>
              <a:rPr lang="en-US" altLang="x-none" dirty="0">
                <a:ea typeface="宋体" panose="02010600030101010101" pitchFamily="2" charset="-122"/>
              </a:rPr>
              <a:t>A D → B F</a:t>
            </a:r>
          </a:p>
          <a:p>
            <a:pPr marL="1371600" lvl="2" indent="-457200" eaLnBrk="1" hangingPunct="1">
              <a:buAutoNum type="arabicParenR"/>
            </a:pPr>
            <a:r>
              <a:rPr lang="en-US" altLang="x-none" dirty="0">
                <a:ea typeface="宋体" panose="02010600030101010101" pitchFamily="2" charset="-122"/>
              </a:rPr>
              <a:t>B → E</a:t>
            </a:r>
          </a:p>
        </p:txBody>
      </p:sp>
      <p:sp>
        <p:nvSpPr>
          <p:cNvPr id="145414" name="AutoShape 4">
            <a:hlinkClick r:id="rId2" action="ppaction://hlinkpres?slideindex=1&amp;slidetitle="/>
          </p:cNvPr>
          <p:cNvSpPr/>
          <p:nvPr/>
        </p:nvSpPr>
        <p:spPr>
          <a:xfrm>
            <a:off x="7742238" y="5876925"/>
            <a:ext cx="1295400" cy="506413"/>
          </a:xfrm>
          <a:prstGeom prst="actionButtonForwardNext">
            <a:avLst/>
          </a:prstGeom>
          <a:solidFill>
            <a:srgbClr val="CCFFFF"/>
          </a:solidFill>
          <a:ln w="9525">
            <a:noFill/>
          </a:ln>
        </p:spPr>
        <p:txBody>
          <a:bodyPr wrap="none" lIns="90170" tIns="46990" rIns="90170" bIns="46990" anchor="ctr"/>
          <a:lstStyle/>
          <a:p>
            <a:pPr lvl="0" algn="ctr"/>
            <a:r>
              <a:rPr lang="zh-CN" altLang="en-US" b="1" dirty="0">
                <a:solidFill>
                  <a:srgbClr val="FF0000"/>
                </a:solidFill>
                <a:latin typeface="Times New Roman" panose="02020603050405020304" pitchFamily="2" charset="0"/>
                <a:ea typeface="宋体" panose="02010600030101010101" pitchFamily="2" charset="-122"/>
              </a:rPr>
              <a:t>计算过程</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44386"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44387"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77</a:t>
            </a:fld>
            <a:endParaRPr lang="zh-CN" altLang="en-US" sz="1200" b="1" i="1" dirty="0">
              <a:latin typeface="Times New Roman" panose="02020603050405020304" pitchFamily="2" charset="0"/>
              <a:ea typeface="宋体" panose="02010600030101010101" pitchFamily="2" charset="-122"/>
            </a:endParaRPr>
          </a:p>
        </p:txBody>
      </p:sp>
      <p:sp>
        <p:nvSpPr>
          <p:cNvPr id="144388"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6.6 </a:t>
            </a:r>
            <a:r>
              <a:rPr lang="en-US" altLang="x-none" dirty="0">
                <a:ea typeface="宋体" panose="02010600030101010101" pitchFamily="2" charset="-122"/>
              </a:rPr>
              <a:t>Functional Dependencies</a:t>
            </a:r>
            <a:endParaRPr lang="zh-CN" altLang="en-US" dirty="0">
              <a:ea typeface="宋体" panose="02010600030101010101" pitchFamily="2" charset="-122"/>
            </a:endParaRPr>
          </a:p>
        </p:txBody>
      </p:sp>
      <p:sp>
        <p:nvSpPr>
          <p:cNvPr id="144389" name="Rectangle 3"/>
          <p:cNvSpPr>
            <a:spLocks noGrp="1"/>
          </p:cNvSpPr>
          <p:nvPr>
            <p:ph type="body"/>
          </p:nvPr>
        </p:nvSpPr>
        <p:spPr>
          <a:xfrm>
            <a:off x="0" y="838200"/>
            <a:ext cx="9144000" cy="5638800"/>
          </a:xfrm>
        </p:spPr>
        <p:txBody>
          <a:bodyPr wrap="square" anchor="t"/>
          <a:lstStyle/>
          <a:p>
            <a:pPr lvl="0" eaLnBrk="1" hangingPunct="1">
              <a:lnSpc>
                <a:spcPct val="115000"/>
              </a:lnSpc>
              <a:spcBef>
                <a:spcPts val="0"/>
              </a:spcBef>
              <a:spcAft>
                <a:spcPts val="0"/>
              </a:spcAft>
            </a:pPr>
            <a:r>
              <a:rPr lang="en-US" altLang="x-none" sz="3000" dirty="0">
                <a:ea typeface="宋体" panose="02010600030101010101" pitchFamily="2" charset="-122"/>
              </a:rPr>
              <a:t>Example 1</a:t>
            </a:r>
          </a:p>
          <a:p>
            <a:pPr lvl="1" indent="-285750" eaLnBrk="1" hangingPunct="1">
              <a:lnSpc>
                <a:spcPct val="115000"/>
              </a:lnSpc>
              <a:spcBef>
                <a:spcPts val="0"/>
              </a:spcBef>
              <a:spcAft>
                <a:spcPts val="0"/>
              </a:spcAft>
            </a:pPr>
            <a:r>
              <a:rPr lang="en-US" altLang="x-none" sz="3000" dirty="0">
                <a:ea typeface="宋体" panose="02010600030101010101" pitchFamily="2" charset="-122"/>
              </a:rPr>
              <a:t>Suppose X = { a, b, c, d } and</a:t>
            </a:r>
          </a:p>
          <a:p>
            <a:pPr lvl="2" indent="-228600" eaLnBrk="1" hangingPunct="1">
              <a:lnSpc>
                <a:spcPct val="115000"/>
              </a:lnSpc>
              <a:spcBef>
                <a:spcPts val="0"/>
              </a:spcBef>
              <a:spcAft>
                <a:spcPts val="0"/>
              </a:spcAft>
              <a:buNone/>
            </a:pPr>
            <a:r>
              <a:rPr lang="en-US" altLang="x-none" sz="3000" dirty="0">
                <a:ea typeface="宋体" panose="02010600030101010101" pitchFamily="2" charset="-122"/>
              </a:rPr>
              <a:t>F = { a → b,      b c → d,      a c → d }</a:t>
            </a:r>
          </a:p>
          <a:p>
            <a:pPr marL="457200" lvl="1" indent="0" eaLnBrk="1" hangingPunct="1">
              <a:lnSpc>
                <a:spcPct val="115000"/>
              </a:lnSpc>
              <a:spcBef>
                <a:spcPts val="0"/>
              </a:spcBef>
              <a:spcAft>
                <a:spcPts val="0"/>
              </a:spcAft>
              <a:buNone/>
            </a:pPr>
            <a:r>
              <a:rPr lang="en-US" altLang="x-none" sz="3000" dirty="0">
                <a:ea typeface="宋体" panose="02010600030101010101" pitchFamily="2" charset="-122"/>
              </a:rPr>
              <a:t>Give the minimal cover M for the set F of FDs.</a:t>
            </a:r>
          </a:p>
          <a:p>
            <a:pPr lvl="1" indent="-285750" eaLnBrk="1" hangingPunct="1">
              <a:lnSpc>
                <a:spcPct val="115000"/>
              </a:lnSpc>
              <a:spcBef>
                <a:spcPts val="0"/>
              </a:spcBef>
              <a:spcAft>
                <a:spcPts val="0"/>
              </a:spcAft>
            </a:pPr>
            <a:endParaRPr lang="en-US" altLang="x-none" sz="3000" dirty="0">
              <a:ea typeface="宋体" panose="02010600030101010101" pitchFamily="2" charset="-122"/>
            </a:endParaRPr>
          </a:p>
          <a:p>
            <a:pPr lvl="0" eaLnBrk="1" hangingPunct="1">
              <a:lnSpc>
                <a:spcPct val="115000"/>
              </a:lnSpc>
              <a:spcBef>
                <a:spcPts val="0"/>
              </a:spcBef>
              <a:spcAft>
                <a:spcPts val="0"/>
              </a:spcAft>
            </a:pPr>
            <a:r>
              <a:rPr lang="en-US" altLang="x-none" sz="3000" dirty="0">
                <a:ea typeface="宋体" panose="02010600030101010101" pitchFamily="2" charset="-122"/>
              </a:rPr>
              <a:t>Example 2</a:t>
            </a:r>
          </a:p>
          <a:p>
            <a:pPr lvl="1" indent="-285750" eaLnBrk="1" hangingPunct="1">
              <a:lnSpc>
                <a:spcPct val="115000"/>
              </a:lnSpc>
              <a:spcBef>
                <a:spcPts val="0"/>
              </a:spcBef>
              <a:spcAft>
                <a:spcPts val="0"/>
              </a:spcAft>
            </a:pPr>
            <a:r>
              <a:rPr lang="en-US" altLang="x-none" sz="3000" dirty="0">
                <a:ea typeface="宋体" panose="02010600030101010101" pitchFamily="2" charset="-122"/>
              </a:rPr>
              <a:t>Suppose Y = { a, b, c, d } and</a:t>
            </a:r>
          </a:p>
          <a:p>
            <a:pPr lvl="2" indent="-228600" eaLnBrk="1" hangingPunct="1">
              <a:lnSpc>
                <a:spcPct val="115000"/>
              </a:lnSpc>
              <a:spcBef>
                <a:spcPts val="0"/>
              </a:spcBef>
              <a:spcAft>
                <a:spcPts val="0"/>
              </a:spcAft>
              <a:buNone/>
            </a:pPr>
            <a:r>
              <a:rPr lang="en-US" altLang="x-none" sz="3000" dirty="0">
                <a:ea typeface="宋体" panose="02010600030101010101" pitchFamily="2" charset="-122"/>
              </a:rPr>
              <a:t>G = { a → a c,      b → a b c,      d → a b c }</a:t>
            </a:r>
          </a:p>
          <a:p>
            <a:pPr marL="457200" lvl="1" indent="0" eaLnBrk="1" hangingPunct="1">
              <a:lnSpc>
                <a:spcPct val="115000"/>
              </a:lnSpc>
              <a:spcBef>
                <a:spcPts val="0"/>
              </a:spcBef>
              <a:spcAft>
                <a:spcPts val="0"/>
              </a:spcAft>
              <a:buNone/>
            </a:pPr>
            <a:r>
              <a:rPr lang="en-US" altLang="x-none" sz="3000" dirty="0">
                <a:ea typeface="宋体" panose="02010600030101010101" pitchFamily="2" charset="-122"/>
              </a:rPr>
              <a:t>Give the minimal cover N for the set G of FDs.</a:t>
            </a:r>
          </a:p>
        </p:txBody>
      </p:sp>
      <p:sp>
        <p:nvSpPr>
          <p:cNvPr id="144390" name="AutoShape 4">
            <a:hlinkClick r:id="rId2" action="ppaction://hlinkpres?slideindex=1&amp;slidetitle="/>
          </p:cNvPr>
          <p:cNvSpPr/>
          <p:nvPr/>
        </p:nvSpPr>
        <p:spPr>
          <a:xfrm>
            <a:off x="7524750" y="838200"/>
            <a:ext cx="1439863" cy="504825"/>
          </a:xfrm>
          <a:prstGeom prst="actionButtonForwardNext">
            <a:avLst/>
          </a:prstGeom>
          <a:solidFill>
            <a:srgbClr val="CCFFFF"/>
          </a:solidFill>
          <a:ln w="9525">
            <a:noFill/>
          </a:ln>
        </p:spPr>
        <p:txBody>
          <a:bodyPr wrap="none" lIns="90170" tIns="46990" rIns="90170" bIns="46990" anchor="ctr"/>
          <a:lstStyle/>
          <a:p>
            <a:pPr lvl="0" algn="ctr"/>
            <a:r>
              <a:rPr lang="zh-CN" altLang="en-US" b="1" dirty="0">
                <a:solidFill>
                  <a:srgbClr val="FF0000"/>
                </a:solidFill>
                <a:latin typeface="Times New Roman" panose="02020603050405020304" pitchFamily="2" charset="0"/>
                <a:ea typeface="宋体" panose="02010600030101010101" pitchFamily="2" charset="-122"/>
              </a:rPr>
              <a:t>计算过程</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46434"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46435"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78</a:t>
            </a:fld>
            <a:endParaRPr lang="zh-CN" altLang="en-US" sz="1200" b="1" i="1" dirty="0">
              <a:latin typeface="Times New Roman" panose="02020603050405020304" pitchFamily="2" charset="0"/>
              <a:ea typeface="宋体" panose="02010600030101010101" pitchFamily="2" charset="-122"/>
            </a:endParaRPr>
          </a:p>
        </p:txBody>
      </p:sp>
      <p:sp>
        <p:nvSpPr>
          <p:cNvPr id="146436" name="Rectangle 2"/>
          <p:cNvSpPr>
            <a:spLocks noGrp="1"/>
          </p:cNvSpPr>
          <p:nvPr>
            <p:ph type="title"/>
          </p:nvPr>
        </p:nvSpPr>
        <p:spPr/>
        <p:txBody>
          <a:bodyPr wrap="square" anchor="ctr"/>
          <a:lstStyle/>
          <a:p>
            <a:pPr lvl="0" eaLnBrk="1" hangingPunct="1"/>
            <a:r>
              <a:rPr lang="en-US" altLang="x-none" dirty="0">
                <a:ea typeface="宋体" panose="02010600030101010101" pitchFamily="2" charset="-122"/>
              </a:rPr>
              <a:t>Content of next</a:t>
            </a:r>
            <a:endParaRPr lang="zh-CN" altLang="en-US" dirty="0">
              <a:ea typeface="宋体" panose="02010600030101010101" pitchFamily="2" charset="-122"/>
            </a:endParaRPr>
          </a:p>
        </p:txBody>
      </p:sp>
      <p:sp>
        <p:nvSpPr>
          <p:cNvPr id="146437" name="Rectangle 3"/>
          <p:cNvSpPr>
            <a:spLocks noGrp="1"/>
          </p:cNvSpPr>
          <p:nvPr>
            <p:ph type="body"/>
          </p:nvPr>
        </p:nvSpPr>
        <p:spPr/>
        <p:txBody>
          <a:bodyPr wrap="square" anchor="t"/>
          <a:lstStyle/>
          <a:p>
            <a:pPr lvl="0" eaLnBrk="1" hangingPunct="1">
              <a:lnSpc>
                <a:spcPct val="120000"/>
              </a:lnSpc>
            </a:pPr>
            <a:r>
              <a:rPr lang="en-US" altLang="x-none" dirty="0">
                <a:ea typeface="宋体" panose="02010600030101010101" pitchFamily="2" charset="-122"/>
              </a:rPr>
              <a:t>The process of normalization</a:t>
            </a:r>
          </a:p>
          <a:p>
            <a:pPr lvl="1" indent="-285750" eaLnBrk="1" hangingPunct="1">
              <a:lnSpc>
                <a:spcPct val="120000"/>
              </a:lnSpc>
            </a:pPr>
            <a:r>
              <a:rPr lang="en-US" altLang="x-none" dirty="0">
                <a:solidFill>
                  <a:schemeClr val="tx1"/>
                </a:solidFill>
                <a:ea typeface="宋体" panose="02010600030101010101" pitchFamily="2" charset="-122"/>
              </a:rPr>
              <a:t>Decompositions of table</a:t>
            </a:r>
          </a:p>
          <a:p>
            <a:pPr lvl="0" eaLnBrk="1" hangingPunct="1">
              <a:lnSpc>
                <a:spcPct val="120000"/>
              </a:lnSpc>
            </a:pPr>
            <a:endParaRPr lang="zh-CN" altLang="en-US" dirty="0">
              <a:solidFill>
                <a:schemeClr val="tx1"/>
              </a:solidFill>
              <a:ea typeface="宋体" panose="02010600030101010101" pitchFamily="2" charset="-122"/>
            </a:endParaRPr>
          </a:p>
          <a:p>
            <a:pPr lvl="0" eaLnBrk="1" hangingPunct="1">
              <a:lnSpc>
                <a:spcPct val="120000"/>
              </a:lnSpc>
            </a:pPr>
            <a:r>
              <a:rPr lang="en-US" altLang="x-none" dirty="0">
                <a:ea typeface="宋体" panose="02010600030101010101" pitchFamily="2" charset="-122"/>
              </a:rPr>
              <a:t>Lossless Decomposition &amp; Lossy Decomposition</a:t>
            </a:r>
            <a:r>
              <a:rPr lang="zh-CN" altLang="en-US" dirty="0">
                <a:ea typeface="宋体" panose="02010600030101010101" pitchFamily="2" charset="-122"/>
              </a:rPr>
              <a:t> (无损分解)</a:t>
            </a:r>
            <a:endParaRPr lang="en-US" altLang="x-none" dirty="0">
              <a:ea typeface="宋体" panose="02010600030101010101" pitchFamily="2" charset="-122"/>
            </a:endParaRPr>
          </a:p>
          <a:p>
            <a:pPr lvl="1" indent="-285750" eaLnBrk="1" hangingPunct="1">
              <a:lnSpc>
                <a:spcPct val="120000"/>
              </a:lnSpc>
            </a:pPr>
            <a:r>
              <a:rPr lang="en-US" altLang="x-none" dirty="0">
                <a:ea typeface="宋体" panose="02010600030101010101" pitchFamily="2" charset="-122"/>
              </a:rPr>
              <a:t>Theorem 6.7.3 &amp; 6.7.4</a:t>
            </a:r>
          </a:p>
          <a:p>
            <a:pPr lvl="1" indent="-285750" eaLnBrk="1" hangingPunct="1">
              <a:lnSpc>
                <a:spcPct val="120000"/>
              </a:lnSpc>
            </a:pPr>
            <a:endParaRPr lang="zh-CN" altLang="en-US" dirty="0">
              <a:ea typeface="宋体" panose="02010600030101010101" pitchFamily="2" charset="-122"/>
            </a:endParaRPr>
          </a:p>
          <a:p>
            <a:pPr lvl="0" eaLnBrk="1" hangingPunct="1">
              <a:lnSpc>
                <a:spcPct val="120000"/>
              </a:lnSpc>
            </a:pPr>
            <a:r>
              <a:rPr lang="en-US" altLang="x-none" dirty="0">
                <a:ea typeface="宋体" panose="02010600030101010101" pitchFamily="2" charset="-122"/>
              </a:rPr>
              <a:t>FD Preserved</a:t>
            </a:r>
            <a:r>
              <a:rPr lang="zh-CN" altLang="en-US" dirty="0">
                <a:ea typeface="宋体" panose="02010600030101010101" pitchFamily="2" charset="-122"/>
              </a:rPr>
              <a:t> (依赖保持)</a:t>
            </a:r>
          </a:p>
        </p:txBody>
      </p:sp>
      <p:sp>
        <p:nvSpPr>
          <p:cNvPr id="146438" name="动作按钮: 前进或下一项 146438">
            <a:hlinkClick r:id="rId2" action="ppaction://hlinksldjump"/>
          </p:cNvPr>
          <p:cNvSpPr/>
          <p:nvPr/>
        </p:nvSpPr>
        <p:spPr>
          <a:xfrm>
            <a:off x="8172450" y="6021388"/>
            <a:ext cx="504825" cy="360362"/>
          </a:xfrm>
          <a:prstGeom prst="actionButtonForwardNext">
            <a:avLst/>
          </a:prstGeom>
          <a:noFill/>
          <a:ln w="19050" cap="flat" cmpd="sng">
            <a:solidFill>
              <a:schemeClr val="accent1"/>
            </a:solidFill>
            <a:prstDash val="solid"/>
            <a:miter/>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47458"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47459"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79</a:t>
            </a:fld>
            <a:endParaRPr lang="zh-CN" altLang="en-US" sz="1200" b="1" i="1" dirty="0">
              <a:latin typeface="Times New Roman" panose="02020603050405020304" pitchFamily="2" charset="0"/>
              <a:ea typeface="宋体" panose="02010600030101010101" pitchFamily="2" charset="-122"/>
            </a:endParaRPr>
          </a:p>
        </p:txBody>
      </p:sp>
      <p:sp>
        <p:nvSpPr>
          <p:cNvPr id="147460"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6.7  </a:t>
            </a:r>
            <a:r>
              <a:rPr lang="en-US" altLang="x-none" dirty="0">
                <a:ea typeface="宋体" panose="02010600030101010101" pitchFamily="2" charset="-122"/>
              </a:rPr>
              <a:t>Lossless Decompositions</a:t>
            </a:r>
          </a:p>
        </p:txBody>
      </p:sp>
      <p:sp>
        <p:nvSpPr>
          <p:cNvPr id="147461" name="Rectangle 3"/>
          <p:cNvSpPr>
            <a:spLocks noGrp="1"/>
          </p:cNvSpPr>
          <p:nvPr>
            <p:ph type="body"/>
          </p:nvPr>
        </p:nvSpPr>
        <p:spPr/>
        <p:txBody>
          <a:bodyPr wrap="square" anchor="t"/>
          <a:lstStyle/>
          <a:p>
            <a:pPr lvl="0" eaLnBrk="1" hangingPunct="1"/>
            <a:r>
              <a:rPr lang="en-US" altLang="x-none" dirty="0">
                <a:ea typeface="宋体" panose="02010600030101010101" pitchFamily="2" charset="-122"/>
              </a:rPr>
              <a:t>The process of normalization</a:t>
            </a:r>
          </a:p>
          <a:p>
            <a:pPr lvl="1" indent="-285750" eaLnBrk="1" hangingPunct="1"/>
            <a:r>
              <a:rPr lang="en-US" altLang="x-none" dirty="0">
                <a:ea typeface="宋体" panose="02010600030101010101" pitchFamily="2" charset="-122"/>
              </a:rPr>
              <a:t>decompose a table into two or more small tables</a:t>
            </a:r>
          </a:p>
          <a:p>
            <a:pPr lvl="2" indent="-228600" eaLnBrk="1" hangingPunct="1"/>
            <a:r>
              <a:rPr lang="en-US" altLang="x-none" dirty="0">
                <a:ea typeface="宋体" panose="02010600030101010101" pitchFamily="2" charset="-122"/>
              </a:rPr>
              <a:t>projecting onto two or more subsets of columns that cover all columns and have some columns in common.</a:t>
            </a:r>
          </a:p>
          <a:p>
            <a:pPr lvl="2" indent="-228600" eaLnBrk="1" hangingPunct="1"/>
            <a:endParaRPr lang="en-US" altLang="x-none" sz="1400" dirty="0">
              <a:ea typeface="宋体" panose="02010600030101010101" pitchFamily="2" charset="-122"/>
            </a:endParaRPr>
          </a:p>
          <a:p>
            <a:pPr lvl="1" indent="-285750" eaLnBrk="1" hangingPunct="1"/>
            <a:r>
              <a:rPr lang="en-US" altLang="x-none" dirty="0">
                <a:ea typeface="宋体" panose="02010600030101010101" pitchFamily="2" charset="-122"/>
              </a:rPr>
              <a:t>but it doesn't always work when join back that keep all information of original table.</a:t>
            </a:r>
          </a:p>
          <a:p>
            <a:pPr lvl="2" indent="-228600" eaLnBrk="1" hangingPunct="1"/>
            <a:r>
              <a:rPr lang="en-US" altLang="x-none" dirty="0">
                <a:ea typeface="宋体" panose="02010600030101010101" pitchFamily="2" charset="-122"/>
              </a:rPr>
              <a:t>Always get ALL rows back, but</a:t>
            </a:r>
          </a:p>
          <a:p>
            <a:pPr lvl="2" indent="-228600" eaLnBrk="1" hangingPunct="1"/>
            <a:r>
              <a:rPr lang="en-US" altLang="x-none" dirty="0">
                <a:ea typeface="宋体" panose="02010600030101010101" pitchFamily="2" charset="-122"/>
              </a:rPr>
              <a:t>might get MORE</a:t>
            </a:r>
          </a:p>
          <a:p>
            <a:pPr lvl="3" indent="-228600" eaLnBrk="1" hangingPunct="1"/>
            <a:r>
              <a:rPr lang="en-US" altLang="x-none" dirty="0">
                <a:ea typeface="宋体" panose="02010600030101010101" pitchFamily="2" charset="-122"/>
              </a:rPr>
              <a:t>see example 6.7.1 (pg. 374, next slide)</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48483"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80</a:t>
            </a:fld>
            <a:endParaRPr lang="zh-CN" altLang="en-US" sz="1200" b="1" i="1" dirty="0">
              <a:latin typeface="Times New Roman" panose="02020603050405020304" pitchFamily="2" charset="0"/>
              <a:ea typeface="宋体" panose="02010600030101010101" pitchFamily="2" charset="-122"/>
            </a:endParaRPr>
          </a:p>
        </p:txBody>
      </p:sp>
      <p:sp>
        <p:nvSpPr>
          <p:cNvPr id="148484"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6.7  </a:t>
            </a:r>
            <a:r>
              <a:rPr lang="en-US" altLang="x-none" dirty="0">
                <a:ea typeface="宋体" panose="02010600030101010101" pitchFamily="2" charset="-122"/>
              </a:rPr>
              <a:t>Lossless Decompositions</a:t>
            </a:r>
            <a:endParaRPr lang="zh-CN" altLang="en-US" dirty="0">
              <a:ea typeface="宋体" panose="02010600030101010101" pitchFamily="2" charset="-122"/>
            </a:endParaRPr>
          </a:p>
        </p:txBody>
      </p:sp>
      <p:sp>
        <p:nvSpPr>
          <p:cNvPr id="148485" name="Rectangle 3"/>
          <p:cNvSpPr>
            <a:spLocks noGrp="1"/>
          </p:cNvSpPr>
          <p:nvPr>
            <p:ph type="body"/>
          </p:nvPr>
        </p:nvSpPr>
        <p:spPr>
          <a:xfrm>
            <a:off x="76200" y="838200"/>
            <a:ext cx="8229600" cy="490538"/>
          </a:xfrm>
        </p:spPr>
        <p:txBody>
          <a:bodyPr wrap="square" anchor="t"/>
          <a:lstStyle/>
          <a:p>
            <a:pPr lvl="0" eaLnBrk="1" hangingPunct="1">
              <a:lnSpc>
                <a:spcPct val="90000"/>
              </a:lnSpc>
            </a:pPr>
            <a:r>
              <a:rPr lang="en-US" altLang="x-none" dirty="0">
                <a:ea typeface="宋体" panose="02010600030101010101" pitchFamily="2" charset="-122"/>
              </a:rPr>
              <a:t>example 6.7.1</a:t>
            </a:r>
            <a:endParaRPr lang="zh-CN" altLang="en-US" dirty="0">
              <a:ea typeface="宋体" panose="02010600030101010101" pitchFamily="2" charset="-122"/>
            </a:endParaRPr>
          </a:p>
        </p:txBody>
      </p:sp>
      <p:grpSp>
        <p:nvGrpSpPr>
          <p:cNvPr id="148486" name="组合 148486"/>
          <p:cNvGrpSpPr/>
          <p:nvPr/>
        </p:nvGrpSpPr>
        <p:grpSpPr>
          <a:xfrm>
            <a:off x="1752600" y="1285875"/>
            <a:ext cx="2133600" cy="2446338"/>
            <a:chOff x="0" y="0"/>
            <a:chExt cx="1344" cy="1541"/>
          </a:xfrm>
        </p:grpSpPr>
        <p:sp>
          <p:nvSpPr>
            <p:cNvPr id="148487" name="Rectangle 5"/>
            <p:cNvSpPr/>
            <p:nvPr/>
          </p:nvSpPr>
          <p:spPr>
            <a:xfrm>
              <a:off x="912" y="1288"/>
              <a:ext cx="432"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c4</a:t>
              </a:r>
            </a:p>
          </p:txBody>
        </p:sp>
        <p:sp>
          <p:nvSpPr>
            <p:cNvPr id="148488" name="Rectangle 6"/>
            <p:cNvSpPr/>
            <p:nvPr/>
          </p:nvSpPr>
          <p:spPr>
            <a:xfrm>
              <a:off x="384" y="1288"/>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48489" name="Rectangle 7"/>
            <p:cNvSpPr/>
            <p:nvPr/>
          </p:nvSpPr>
          <p:spPr>
            <a:xfrm>
              <a:off x="0" y="1288"/>
              <a:ext cx="384"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a4</a:t>
              </a:r>
            </a:p>
          </p:txBody>
        </p:sp>
        <p:sp>
          <p:nvSpPr>
            <p:cNvPr id="148490" name="Rectangle 8"/>
            <p:cNvSpPr/>
            <p:nvPr/>
          </p:nvSpPr>
          <p:spPr>
            <a:xfrm>
              <a:off x="912" y="1035"/>
              <a:ext cx="432"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c3</a:t>
              </a:r>
            </a:p>
          </p:txBody>
        </p:sp>
        <p:sp>
          <p:nvSpPr>
            <p:cNvPr id="148491" name="Rectangle 9"/>
            <p:cNvSpPr/>
            <p:nvPr/>
          </p:nvSpPr>
          <p:spPr>
            <a:xfrm>
              <a:off x="384" y="1035"/>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300</a:t>
              </a:r>
            </a:p>
          </p:txBody>
        </p:sp>
        <p:sp>
          <p:nvSpPr>
            <p:cNvPr id="148492" name="Rectangle 10"/>
            <p:cNvSpPr/>
            <p:nvPr/>
          </p:nvSpPr>
          <p:spPr>
            <a:xfrm>
              <a:off x="0" y="1035"/>
              <a:ext cx="384"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a3</a:t>
              </a:r>
            </a:p>
          </p:txBody>
        </p:sp>
        <p:sp>
          <p:nvSpPr>
            <p:cNvPr id="148493" name="Rectangle 11"/>
            <p:cNvSpPr/>
            <p:nvPr/>
          </p:nvSpPr>
          <p:spPr>
            <a:xfrm>
              <a:off x="912" y="782"/>
              <a:ext cx="432"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c2</a:t>
              </a:r>
            </a:p>
          </p:txBody>
        </p:sp>
        <p:sp>
          <p:nvSpPr>
            <p:cNvPr id="148494" name="Rectangle 12"/>
            <p:cNvSpPr/>
            <p:nvPr/>
          </p:nvSpPr>
          <p:spPr>
            <a:xfrm>
              <a:off x="384" y="782"/>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48495" name="Rectangle 13"/>
            <p:cNvSpPr/>
            <p:nvPr/>
          </p:nvSpPr>
          <p:spPr>
            <a:xfrm>
              <a:off x="0" y="782"/>
              <a:ext cx="384"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a2</a:t>
              </a:r>
            </a:p>
          </p:txBody>
        </p:sp>
        <p:sp>
          <p:nvSpPr>
            <p:cNvPr id="148496" name="Rectangle 14"/>
            <p:cNvSpPr/>
            <p:nvPr/>
          </p:nvSpPr>
          <p:spPr>
            <a:xfrm>
              <a:off x="912" y="529"/>
              <a:ext cx="432"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c1</a:t>
              </a:r>
            </a:p>
          </p:txBody>
        </p:sp>
        <p:sp>
          <p:nvSpPr>
            <p:cNvPr id="148497" name="Rectangle 15"/>
            <p:cNvSpPr/>
            <p:nvPr/>
          </p:nvSpPr>
          <p:spPr>
            <a:xfrm>
              <a:off x="384" y="529"/>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100</a:t>
              </a:r>
            </a:p>
          </p:txBody>
        </p:sp>
        <p:sp>
          <p:nvSpPr>
            <p:cNvPr id="148498" name="Rectangle 16"/>
            <p:cNvSpPr/>
            <p:nvPr/>
          </p:nvSpPr>
          <p:spPr>
            <a:xfrm>
              <a:off x="0" y="529"/>
              <a:ext cx="384"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a1</a:t>
              </a:r>
            </a:p>
          </p:txBody>
        </p:sp>
        <p:sp>
          <p:nvSpPr>
            <p:cNvPr id="148499" name="Rectangle 17"/>
            <p:cNvSpPr/>
            <p:nvPr/>
          </p:nvSpPr>
          <p:spPr>
            <a:xfrm>
              <a:off x="912" y="276"/>
              <a:ext cx="432"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C</a:t>
              </a:r>
            </a:p>
          </p:txBody>
        </p:sp>
        <p:sp>
          <p:nvSpPr>
            <p:cNvPr id="148500" name="Rectangle 18"/>
            <p:cNvSpPr/>
            <p:nvPr/>
          </p:nvSpPr>
          <p:spPr>
            <a:xfrm>
              <a:off x="384" y="276"/>
              <a:ext cx="528"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148501" name="Rectangle 19"/>
            <p:cNvSpPr/>
            <p:nvPr/>
          </p:nvSpPr>
          <p:spPr>
            <a:xfrm>
              <a:off x="0" y="276"/>
              <a:ext cx="384"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a:t>
              </a:r>
            </a:p>
          </p:txBody>
        </p:sp>
        <p:sp>
          <p:nvSpPr>
            <p:cNvPr id="148502" name="Line 20"/>
            <p:cNvSpPr/>
            <p:nvPr/>
          </p:nvSpPr>
          <p:spPr>
            <a:xfrm>
              <a:off x="0" y="276"/>
              <a:ext cx="1344"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03" name="Line 21"/>
            <p:cNvSpPr/>
            <p:nvPr/>
          </p:nvSpPr>
          <p:spPr>
            <a:xfrm>
              <a:off x="0" y="529"/>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04" name="Line 22"/>
            <p:cNvSpPr/>
            <p:nvPr/>
          </p:nvSpPr>
          <p:spPr>
            <a:xfrm>
              <a:off x="0" y="782"/>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05" name="Line 23"/>
            <p:cNvSpPr/>
            <p:nvPr/>
          </p:nvSpPr>
          <p:spPr>
            <a:xfrm>
              <a:off x="0" y="1035"/>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06" name="Line 24"/>
            <p:cNvSpPr/>
            <p:nvPr/>
          </p:nvSpPr>
          <p:spPr>
            <a:xfrm>
              <a:off x="0" y="1541"/>
              <a:ext cx="1344"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07" name="Line 25"/>
            <p:cNvSpPr/>
            <p:nvPr/>
          </p:nvSpPr>
          <p:spPr>
            <a:xfrm>
              <a:off x="0" y="276"/>
              <a:ext cx="0" cy="1265"/>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08" name="Line 26"/>
            <p:cNvSpPr/>
            <p:nvPr/>
          </p:nvSpPr>
          <p:spPr>
            <a:xfrm>
              <a:off x="384" y="276"/>
              <a:ext cx="0" cy="1265"/>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09" name="Line 27"/>
            <p:cNvSpPr/>
            <p:nvPr/>
          </p:nvSpPr>
          <p:spPr>
            <a:xfrm>
              <a:off x="912" y="276"/>
              <a:ext cx="0" cy="1265"/>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10" name="Line 28"/>
            <p:cNvSpPr/>
            <p:nvPr/>
          </p:nvSpPr>
          <p:spPr>
            <a:xfrm>
              <a:off x="1344" y="276"/>
              <a:ext cx="0" cy="1265"/>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11" name="Line 29"/>
            <p:cNvSpPr/>
            <p:nvPr/>
          </p:nvSpPr>
          <p:spPr>
            <a:xfrm>
              <a:off x="0" y="1288"/>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12" name="Text Box 30"/>
            <p:cNvSpPr txBox="1"/>
            <p:nvPr/>
          </p:nvSpPr>
          <p:spPr>
            <a:xfrm>
              <a:off x="48" y="0"/>
              <a:ext cx="1248" cy="230"/>
            </a:xfrm>
            <a:prstGeom prst="rect">
              <a:avLst/>
            </a:prstGeom>
            <a:noFill/>
            <a:ln w="9525">
              <a:noFill/>
            </a:ln>
          </p:spPr>
          <p:txBody>
            <a:bodyPr tIns="0" bIns="0" anchor="t">
              <a:spAutoFit/>
            </a:bodyPr>
            <a:lstStyle/>
            <a:p>
              <a:pPr lvl="0" algn="ctr">
                <a:spcBef>
                  <a:spcPct val="50000"/>
                </a:spcBef>
              </a:pPr>
              <a:r>
                <a:rPr lang="en-US" altLang="x-none" b="1" dirty="0">
                  <a:latin typeface="Times New Roman" panose="02020603050405020304" pitchFamily="2" charset="0"/>
                  <a:ea typeface="宋体" panose="02010600030101010101" pitchFamily="2" charset="-122"/>
                </a:rPr>
                <a:t>ABC</a:t>
              </a:r>
            </a:p>
          </p:txBody>
        </p:sp>
      </p:grpSp>
      <p:grpSp>
        <p:nvGrpSpPr>
          <p:cNvPr id="148513" name="组合 148513"/>
          <p:cNvGrpSpPr/>
          <p:nvPr/>
        </p:nvGrpSpPr>
        <p:grpSpPr>
          <a:xfrm>
            <a:off x="1143000" y="3800475"/>
            <a:ext cx="3505200" cy="2843213"/>
            <a:chOff x="0" y="0"/>
            <a:chExt cx="2208" cy="1791"/>
          </a:xfrm>
        </p:grpSpPr>
        <p:sp>
          <p:nvSpPr>
            <p:cNvPr id="148514" name="Rectangle 32"/>
            <p:cNvSpPr/>
            <p:nvPr/>
          </p:nvSpPr>
          <p:spPr>
            <a:xfrm>
              <a:off x="384" y="1538"/>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48515" name="Rectangle 33"/>
            <p:cNvSpPr/>
            <p:nvPr/>
          </p:nvSpPr>
          <p:spPr>
            <a:xfrm>
              <a:off x="0" y="1538"/>
              <a:ext cx="384"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a4</a:t>
              </a:r>
            </a:p>
          </p:txBody>
        </p:sp>
        <p:sp>
          <p:nvSpPr>
            <p:cNvPr id="148516" name="Rectangle 34"/>
            <p:cNvSpPr/>
            <p:nvPr/>
          </p:nvSpPr>
          <p:spPr>
            <a:xfrm>
              <a:off x="384" y="1285"/>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300</a:t>
              </a:r>
            </a:p>
          </p:txBody>
        </p:sp>
        <p:sp>
          <p:nvSpPr>
            <p:cNvPr id="148517" name="Rectangle 35"/>
            <p:cNvSpPr/>
            <p:nvPr/>
          </p:nvSpPr>
          <p:spPr>
            <a:xfrm>
              <a:off x="0" y="1285"/>
              <a:ext cx="384"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a3</a:t>
              </a:r>
            </a:p>
          </p:txBody>
        </p:sp>
        <p:sp>
          <p:nvSpPr>
            <p:cNvPr id="148518" name="Rectangle 36"/>
            <p:cNvSpPr/>
            <p:nvPr/>
          </p:nvSpPr>
          <p:spPr>
            <a:xfrm>
              <a:off x="384" y="1032"/>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48519" name="Rectangle 37"/>
            <p:cNvSpPr/>
            <p:nvPr/>
          </p:nvSpPr>
          <p:spPr>
            <a:xfrm>
              <a:off x="0" y="1032"/>
              <a:ext cx="384"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a2</a:t>
              </a:r>
            </a:p>
          </p:txBody>
        </p:sp>
        <p:sp>
          <p:nvSpPr>
            <p:cNvPr id="148520" name="Rectangle 38"/>
            <p:cNvSpPr/>
            <p:nvPr/>
          </p:nvSpPr>
          <p:spPr>
            <a:xfrm>
              <a:off x="384" y="779"/>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100</a:t>
              </a:r>
            </a:p>
          </p:txBody>
        </p:sp>
        <p:sp>
          <p:nvSpPr>
            <p:cNvPr id="148521" name="Rectangle 39"/>
            <p:cNvSpPr/>
            <p:nvPr/>
          </p:nvSpPr>
          <p:spPr>
            <a:xfrm>
              <a:off x="0" y="779"/>
              <a:ext cx="384"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a1</a:t>
              </a:r>
            </a:p>
          </p:txBody>
        </p:sp>
        <p:sp>
          <p:nvSpPr>
            <p:cNvPr id="148522" name="Rectangle 40"/>
            <p:cNvSpPr/>
            <p:nvPr/>
          </p:nvSpPr>
          <p:spPr>
            <a:xfrm>
              <a:off x="384" y="526"/>
              <a:ext cx="528"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148523" name="Rectangle 41"/>
            <p:cNvSpPr/>
            <p:nvPr/>
          </p:nvSpPr>
          <p:spPr>
            <a:xfrm>
              <a:off x="0" y="526"/>
              <a:ext cx="384"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a:t>
              </a:r>
            </a:p>
          </p:txBody>
        </p:sp>
        <p:sp>
          <p:nvSpPr>
            <p:cNvPr id="148524" name="Line 42"/>
            <p:cNvSpPr/>
            <p:nvPr/>
          </p:nvSpPr>
          <p:spPr>
            <a:xfrm>
              <a:off x="0" y="526"/>
              <a:ext cx="912"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25" name="Line 43"/>
            <p:cNvSpPr/>
            <p:nvPr/>
          </p:nvSpPr>
          <p:spPr>
            <a:xfrm>
              <a:off x="0" y="779"/>
              <a:ext cx="912"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26" name="Line 44"/>
            <p:cNvSpPr/>
            <p:nvPr/>
          </p:nvSpPr>
          <p:spPr>
            <a:xfrm>
              <a:off x="0" y="1032"/>
              <a:ext cx="912"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27" name="Line 45"/>
            <p:cNvSpPr/>
            <p:nvPr/>
          </p:nvSpPr>
          <p:spPr>
            <a:xfrm>
              <a:off x="0" y="1285"/>
              <a:ext cx="912"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28" name="Line 46"/>
            <p:cNvSpPr/>
            <p:nvPr/>
          </p:nvSpPr>
          <p:spPr>
            <a:xfrm>
              <a:off x="0" y="1791"/>
              <a:ext cx="912"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29" name="Line 47"/>
            <p:cNvSpPr/>
            <p:nvPr/>
          </p:nvSpPr>
          <p:spPr>
            <a:xfrm>
              <a:off x="0" y="526"/>
              <a:ext cx="0" cy="1265"/>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30" name="Line 48"/>
            <p:cNvSpPr/>
            <p:nvPr/>
          </p:nvSpPr>
          <p:spPr>
            <a:xfrm>
              <a:off x="384" y="526"/>
              <a:ext cx="0" cy="1265"/>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31" name="Line 49"/>
            <p:cNvSpPr/>
            <p:nvPr/>
          </p:nvSpPr>
          <p:spPr>
            <a:xfrm>
              <a:off x="912" y="526"/>
              <a:ext cx="0" cy="1265"/>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32" name="Line 50"/>
            <p:cNvSpPr/>
            <p:nvPr/>
          </p:nvSpPr>
          <p:spPr>
            <a:xfrm>
              <a:off x="0" y="1538"/>
              <a:ext cx="912"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33" name="Text Box 51"/>
            <p:cNvSpPr txBox="1"/>
            <p:nvPr/>
          </p:nvSpPr>
          <p:spPr>
            <a:xfrm>
              <a:off x="48" y="240"/>
              <a:ext cx="624" cy="230"/>
            </a:xfrm>
            <a:prstGeom prst="rect">
              <a:avLst/>
            </a:prstGeom>
            <a:noFill/>
            <a:ln w="9525">
              <a:noFill/>
            </a:ln>
          </p:spPr>
          <p:txBody>
            <a:bodyPr tIns="0" bIns="0" anchor="t">
              <a:spAutoFit/>
            </a:bodyPr>
            <a:lstStyle/>
            <a:p>
              <a:pPr lvl="0" algn="ctr">
                <a:spcBef>
                  <a:spcPct val="50000"/>
                </a:spcBef>
              </a:pPr>
              <a:r>
                <a:rPr lang="en-US" altLang="x-none" b="1" dirty="0">
                  <a:latin typeface="Times New Roman" panose="02020603050405020304" pitchFamily="2" charset="0"/>
                  <a:ea typeface="宋体" panose="02010600030101010101" pitchFamily="2" charset="-122"/>
                </a:rPr>
                <a:t>AB</a:t>
              </a:r>
            </a:p>
          </p:txBody>
        </p:sp>
        <p:sp>
          <p:nvSpPr>
            <p:cNvPr id="148534" name="Rectangle 53"/>
            <p:cNvSpPr/>
            <p:nvPr/>
          </p:nvSpPr>
          <p:spPr>
            <a:xfrm>
              <a:off x="1776" y="1538"/>
              <a:ext cx="432"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c4</a:t>
              </a:r>
            </a:p>
          </p:txBody>
        </p:sp>
        <p:sp>
          <p:nvSpPr>
            <p:cNvPr id="148535" name="Rectangle 54"/>
            <p:cNvSpPr/>
            <p:nvPr/>
          </p:nvSpPr>
          <p:spPr>
            <a:xfrm>
              <a:off x="1248" y="1538"/>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48536" name="Rectangle 55"/>
            <p:cNvSpPr/>
            <p:nvPr/>
          </p:nvSpPr>
          <p:spPr>
            <a:xfrm>
              <a:off x="1776" y="1285"/>
              <a:ext cx="432"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c3</a:t>
              </a:r>
            </a:p>
          </p:txBody>
        </p:sp>
        <p:sp>
          <p:nvSpPr>
            <p:cNvPr id="148537" name="Rectangle 56"/>
            <p:cNvSpPr/>
            <p:nvPr/>
          </p:nvSpPr>
          <p:spPr>
            <a:xfrm>
              <a:off x="1248" y="1285"/>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300</a:t>
              </a:r>
            </a:p>
          </p:txBody>
        </p:sp>
        <p:sp>
          <p:nvSpPr>
            <p:cNvPr id="148538" name="Rectangle 57"/>
            <p:cNvSpPr/>
            <p:nvPr/>
          </p:nvSpPr>
          <p:spPr>
            <a:xfrm>
              <a:off x="1776" y="1032"/>
              <a:ext cx="432"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c2</a:t>
              </a:r>
            </a:p>
          </p:txBody>
        </p:sp>
        <p:sp>
          <p:nvSpPr>
            <p:cNvPr id="148539" name="Rectangle 58"/>
            <p:cNvSpPr/>
            <p:nvPr/>
          </p:nvSpPr>
          <p:spPr>
            <a:xfrm>
              <a:off x="1248" y="1032"/>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48540" name="Rectangle 59"/>
            <p:cNvSpPr/>
            <p:nvPr/>
          </p:nvSpPr>
          <p:spPr>
            <a:xfrm>
              <a:off x="1776" y="779"/>
              <a:ext cx="432"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c1</a:t>
              </a:r>
            </a:p>
          </p:txBody>
        </p:sp>
        <p:sp>
          <p:nvSpPr>
            <p:cNvPr id="148541" name="Rectangle 60"/>
            <p:cNvSpPr/>
            <p:nvPr/>
          </p:nvSpPr>
          <p:spPr>
            <a:xfrm>
              <a:off x="1248" y="779"/>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100</a:t>
              </a:r>
            </a:p>
          </p:txBody>
        </p:sp>
        <p:sp>
          <p:nvSpPr>
            <p:cNvPr id="148542" name="Rectangle 61"/>
            <p:cNvSpPr/>
            <p:nvPr/>
          </p:nvSpPr>
          <p:spPr>
            <a:xfrm>
              <a:off x="1776" y="526"/>
              <a:ext cx="432"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C</a:t>
              </a:r>
            </a:p>
          </p:txBody>
        </p:sp>
        <p:sp>
          <p:nvSpPr>
            <p:cNvPr id="148543" name="Rectangle 62"/>
            <p:cNvSpPr/>
            <p:nvPr/>
          </p:nvSpPr>
          <p:spPr>
            <a:xfrm>
              <a:off x="1248" y="526"/>
              <a:ext cx="528"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148544" name="Line 63"/>
            <p:cNvSpPr/>
            <p:nvPr/>
          </p:nvSpPr>
          <p:spPr>
            <a:xfrm>
              <a:off x="1248" y="526"/>
              <a:ext cx="960"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45" name="Line 64"/>
            <p:cNvSpPr/>
            <p:nvPr/>
          </p:nvSpPr>
          <p:spPr>
            <a:xfrm>
              <a:off x="1248" y="779"/>
              <a:ext cx="960"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46" name="Line 65"/>
            <p:cNvSpPr/>
            <p:nvPr/>
          </p:nvSpPr>
          <p:spPr>
            <a:xfrm>
              <a:off x="1248" y="1032"/>
              <a:ext cx="960"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47" name="Line 66"/>
            <p:cNvSpPr/>
            <p:nvPr/>
          </p:nvSpPr>
          <p:spPr>
            <a:xfrm>
              <a:off x="1248" y="1285"/>
              <a:ext cx="960"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48" name="Line 67"/>
            <p:cNvSpPr/>
            <p:nvPr/>
          </p:nvSpPr>
          <p:spPr>
            <a:xfrm>
              <a:off x="1248" y="1791"/>
              <a:ext cx="960"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49" name="Line 68"/>
            <p:cNvSpPr/>
            <p:nvPr/>
          </p:nvSpPr>
          <p:spPr>
            <a:xfrm>
              <a:off x="1248" y="526"/>
              <a:ext cx="0" cy="1265"/>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50" name="Line 69"/>
            <p:cNvSpPr/>
            <p:nvPr/>
          </p:nvSpPr>
          <p:spPr>
            <a:xfrm>
              <a:off x="1776" y="526"/>
              <a:ext cx="0" cy="1265"/>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51" name="Line 70"/>
            <p:cNvSpPr/>
            <p:nvPr/>
          </p:nvSpPr>
          <p:spPr>
            <a:xfrm>
              <a:off x="2208" y="526"/>
              <a:ext cx="0" cy="1265"/>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52" name="Line 71"/>
            <p:cNvSpPr/>
            <p:nvPr/>
          </p:nvSpPr>
          <p:spPr>
            <a:xfrm>
              <a:off x="1248" y="1538"/>
              <a:ext cx="960"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53" name="Text Box 72"/>
            <p:cNvSpPr txBox="1"/>
            <p:nvPr/>
          </p:nvSpPr>
          <p:spPr>
            <a:xfrm>
              <a:off x="1296" y="240"/>
              <a:ext cx="624" cy="230"/>
            </a:xfrm>
            <a:prstGeom prst="rect">
              <a:avLst/>
            </a:prstGeom>
            <a:noFill/>
            <a:ln w="9525">
              <a:noFill/>
            </a:ln>
          </p:spPr>
          <p:txBody>
            <a:bodyPr tIns="0" bIns="0" anchor="t">
              <a:spAutoFit/>
            </a:bodyPr>
            <a:lstStyle/>
            <a:p>
              <a:pPr lvl="0" algn="ctr">
                <a:spcBef>
                  <a:spcPct val="50000"/>
                </a:spcBef>
              </a:pPr>
              <a:r>
                <a:rPr lang="en-US" altLang="x-none" b="1" dirty="0">
                  <a:latin typeface="Times New Roman" panose="02020603050405020304" pitchFamily="2" charset="0"/>
                  <a:ea typeface="宋体" panose="02010600030101010101" pitchFamily="2" charset="-122"/>
                </a:rPr>
                <a:t>BC</a:t>
              </a:r>
            </a:p>
          </p:txBody>
        </p:sp>
        <p:sp>
          <p:nvSpPr>
            <p:cNvPr id="148554" name="AutoShape 73"/>
            <p:cNvSpPr/>
            <p:nvPr/>
          </p:nvSpPr>
          <p:spPr>
            <a:xfrm>
              <a:off x="912" y="0"/>
              <a:ext cx="240" cy="240"/>
            </a:xfrm>
            <a:prstGeom prst="downArrow">
              <a:avLst>
                <a:gd name="adj1" fmla="val 50000"/>
                <a:gd name="adj2" fmla="val 25000"/>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algn="ctr"/>
              <a:endParaRPr lang="zh-CN" altLang="en-US" dirty="0">
                <a:latin typeface="Times New Roman" panose="02020603050405020304" pitchFamily="2" charset="0"/>
                <a:ea typeface="宋体" panose="02010600030101010101" pitchFamily="2" charset="-122"/>
              </a:endParaRPr>
            </a:p>
          </p:txBody>
        </p:sp>
      </p:grpSp>
      <p:grpSp>
        <p:nvGrpSpPr>
          <p:cNvPr id="148555" name="组合 148555"/>
          <p:cNvGrpSpPr/>
          <p:nvPr/>
        </p:nvGrpSpPr>
        <p:grpSpPr>
          <a:xfrm>
            <a:off x="4953000" y="1590675"/>
            <a:ext cx="2971800" cy="4419600"/>
            <a:chOff x="0" y="0"/>
            <a:chExt cx="1872" cy="2784"/>
          </a:xfrm>
        </p:grpSpPr>
        <p:sp>
          <p:nvSpPr>
            <p:cNvPr id="148556" name="AutoShape 74"/>
            <p:cNvSpPr/>
            <p:nvPr/>
          </p:nvSpPr>
          <p:spPr>
            <a:xfrm>
              <a:off x="0" y="2064"/>
              <a:ext cx="1296" cy="720"/>
            </a:xfrm>
            <a:custGeom>
              <a:avLst/>
              <a:gdLst/>
              <a:ahLst/>
              <a:cxnLst>
                <a:cxn ang="17694720">
                  <a:pos x="0" y="0"/>
                </a:cxn>
                <a:cxn ang="11796480">
                  <a:pos x="0" y="0"/>
                </a:cxn>
                <a:cxn ang="11796480">
                  <a:pos x="0" y="0"/>
                </a:cxn>
                <a:cxn ang="5898240">
                  <a:pos x="0" y="0"/>
                </a:cxn>
                <a:cxn ang="0">
                  <a:pos x="0" y="0"/>
                </a:cxn>
                <a:cxn ang="0">
                  <a:pos x="0" y="0"/>
                </a:cxn>
              </a:cxnLst>
              <a:rect l="0" t="0" r="0" b="0"/>
              <a:pathLst>
                <a:path w="21600" h="21600">
                  <a:moveTo>
                    <a:pt x="19383" y="0"/>
                  </a:moveTo>
                  <a:lnTo>
                    <a:pt x="17166" y="7200"/>
                  </a:lnTo>
                  <a:lnTo>
                    <a:pt x="18683" y="7200"/>
                  </a:lnTo>
                  <a:lnTo>
                    <a:pt x="18683" y="20094"/>
                  </a:lnTo>
                  <a:lnTo>
                    <a:pt x="0" y="20094"/>
                  </a:lnTo>
                  <a:lnTo>
                    <a:pt x="0" y="21600"/>
                  </a:lnTo>
                  <a:lnTo>
                    <a:pt x="20083" y="21600"/>
                  </a:lnTo>
                  <a:lnTo>
                    <a:pt x="20083" y="7200"/>
                  </a:lnTo>
                  <a:lnTo>
                    <a:pt x="21600" y="7200"/>
                  </a:lnTo>
                  <a:lnTo>
                    <a:pt x="19383" y="0"/>
                  </a:lnTo>
                  <a:close/>
                </a:path>
              </a:pathLst>
            </a:custGeom>
            <a:solidFill>
              <a:schemeClr val="accent1"/>
            </a:solidFill>
            <a:ln w="9525" cap="flat" cmpd="sng">
              <a:solidFill>
                <a:schemeClr val="tx1"/>
              </a:solidFill>
              <a:prstDash val="solid"/>
              <a:round/>
              <a:headEnd type="none" w="med" len="med"/>
              <a:tailEnd type="none" w="med" len="med"/>
            </a:ln>
          </p:spPr>
          <p:txBody>
            <a:bodyPr/>
            <a:lstStyle/>
            <a:p>
              <a:endParaRPr lang="zh-CN" altLang="en-US"/>
            </a:p>
          </p:txBody>
        </p:sp>
        <p:sp>
          <p:nvSpPr>
            <p:cNvPr id="148557" name="Rectangle 76"/>
            <p:cNvSpPr/>
            <p:nvPr/>
          </p:nvSpPr>
          <p:spPr>
            <a:xfrm>
              <a:off x="1440" y="1288"/>
              <a:ext cx="432"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c3</a:t>
              </a:r>
            </a:p>
          </p:txBody>
        </p:sp>
        <p:sp>
          <p:nvSpPr>
            <p:cNvPr id="148558" name="Rectangle 77"/>
            <p:cNvSpPr/>
            <p:nvPr/>
          </p:nvSpPr>
          <p:spPr>
            <a:xfrm>
              <a:off x="912" y="1288"/>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300</a:t>
              </a:r>
            </a:p>
          </p:txBody>
        </p:sp>
        <p:sp>
          <p:nvSpPr>
            <p:cNvPr id="148559" name="Rectangle 78"/>
            <p:cNvSpPr/>
            <p:nvPr/>
          </p:nvSpPr>
          <p:spPr>
            <a:xfrm>
              <a:off x="528" y="1288"/>
              <a:ext cx="384"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a3</a:t>
              </a:r>
            </a:p>
          </p:txBody>
        </p:sp>
        <p:sp>
          <p:nvSpPr>
            <p:cNvPr id="148560" name="Rectangle 79"/>
            <p:cNvSpPr/>
            <p:nvPr/>
          </p:nvSpPr>
          <p:spPr>
            <a:xfrm>
              <a:off x="1440" y="1794"/>
              <a:ext cx="432"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c4</a:t>
              </a:r>
            </a:p>
          </p:txBody>
        </p:sp>
        <p:sp>
          <p:nvSpPr>
            <p:cNvPr id="148561" name="Rectangle 80"/>
            <p:cNvSpPr/>
            <p:nvPr/>
          </p:nvSpPr>
          <p:spPr>
            <a:xfrm>
              <a:off x="912" y="1794"/>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48562" name="Rectangle 81"/>
            <p:cNvSpPr/>
            <p:nvPr/>
          </p:nvSpPr>
          <p:spPr>
            <a:xfrm>
              <a:off x="528" y="1794"/>
              <a:ext cx="384"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a4</a:t>
              </a:r>
            </a:p>
          </p:txBody>
        </p:sp>
        <p:sp>
          <p:nvSpPr>
            <p:cNvPr id="148563" name="Rectangle 82"/>
            <p:cNvSpPr/>
            <p:nvPr/>
          </p:nvSpPr>
          <p:spPr>
            <a:xfrm>
              <a:off x="1440" y="1541"/>
              <a:ext cx="432"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c2</a:t>
              </a:r>
            </a:p>
          </p:txBody>
        </p:sp>
        <p:sp>
          <p:nvSpPr>
            <p:cNvPr id="148564" name="Rectangle 83"/>
            <p:cNvSpPr/>
            <p:nvPr/>
          </p:nvSpPr>
          <p:spPr>
            <a:xfrm>
              <a:off x="912" y="1541"/>
              <a:ext cx="528"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48565" name="Rectangle 84"/>
            <p:cNvSpPr/>
            <p:nvPr/>
          </p:nvSpPr>
          <p:spPr>
            <a:xfrm>
              <a:off x="528" y="1541"/>
              <a:ext cx="384"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a4</a:t>
              </a:r>
            </a:p>
          </p:txBody>
        </p:sp>
        <p:sp>
          <p:nvSpPr>
            <p:cNvPr id="148566" name="Rectangle 85"/>
            <p:cNvSpPr/>
            <p:nvPr/>
          </p:nvSpPr>
          <p:spPr>
            <a:xfrm>
              <a:off x="1440" y="1035"/>
              <a:ext cx="432"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c4</a:t>
              </a:r>
            </a:p>
          </p:txBody>
        </p:sp>
        <p:sp>
          <p:nvSpPr>
            <p:cNvPr id="148567" name="Rectangle 86"/>
            <p:cNvSpPr/>
            <p:nvPr/>
          </p:nvSpPr>
          <p:spPr>
            <a:xfrm>
              <a:off x="912" y="1035"/>
              <a:ext cx="528"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48568" name="Rectangle 87"/>
            <p:cNvSpPr/>
            <p:nvPr/>
          </p:nvSpPr>
          <p:spPr>
            <a:xfrm>
              <a:off x="528" y="1035"/>
              <a:ext cx="384"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a2</a:t>
              </a:r>
            </a:p>
          </p:txBody>
        </p:sp>
        <p:sp>
          <p:nvSpPr>
            <p:cNvPr id="148569" name="Rectangle 88"/>
            <p:cNvSpPr/>
            <p:nvPr/>
          </p:nvSpPr>
          <p:spPr>
            <a:xfrm>
              <a:off x="1440" y="782"/>
              <a:ext cx="432"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c2</a:t>
              </a:r>
            </a:p>
          </p:txBody>
        </p:sp>
        <p:sp>
          <p:nvSpPr>
            <p:cNvPr id="148570" name="Rectangle 89"/>
            <p:cNvSpPr/>
            <p:nvPr/>
          </p:nvSpPr>
          <p:spPr>
            <a:xfrm>
              <a:off x="912" y="782"/>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48571" name="Rectangle 90"/>
            <p:cNvSpPr/>
            <p:nvPr/>
          </p:nvSpPr>
          <p:spPr>
            <a:xfrm>
              <a:off x="528" y="782"/>
              <a:ext cx="384"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a2</a:t>
              </a:r>
            </a:p>
          </p:txBody>
        </p:sp>
        <p:sp>
          <p:nvSpPr>
            <p:cNvPr id="148572" name="Rectangle 91"/>
            <p:cNvSpPr/>
            <p:nvPr/>
          </p:nvSpPr>
          <p:spPr>
            <a:xfrm>
              <a:off x="1440" y="529"/>
              <a:ext cx="432"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c1</a:t>
              </a:r>
            </a:p>
          </p:txBody>
        </p:sp>
        <p:sp>
          <p:nvSpPr>
            <p:cNvPr id="148573" name="Rectangle 92"/>
            <p:cNvSpPr/>
            <p:nvPr/>
          </p:nvSpPr>
          <p:spPr>
            <a:xfrm>
              <a:off x="912" y="529"/>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100</a:t>
              </a:r>
            </a:p>
          </p:txBody>
        </p:sp>
        <p:sp>
          <p:nvSpPr>
            <p:cNvPr id="148574" name="Rectangle 93"/>
            <p:cNvSpPr/>
            <p:nvPr/>
          </p:nvSpPr>
          <p:spPr>
            <a:xfrm>
              <a:off x="528" y="529"/>
              <a:ext cx="384"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a1</a:t>
              </a:r>
            </a:p>
          </p:txBody>
        </p:sp>
        <p:sp>
          <p:nvSpPr>
            <p:cNvPr id="148575" name="Rectangle 94"/>
            <p:cNvSpPr/>
            <p:nvPr/>
          </p:nvSpPr>
          <p:spPr>
            <a:xfrm>
              <a:off x="1440" y="276"/>
              <a:ext cx="432"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C</a:t>
              </a:r>
            </a:p>
          </p:txBody>
        </p:sp>
        <p:sp>
          <p:nvSpPr>
            <p:cNvPr id="148576" name="Rectangle 95"/>
            <p:cNvSpPr/>
            <p:nvPr/>
          </p:nvSpPr>
          <p:spPr>
            <a:xfrm>
              <a:off x="912" y="276"/>
              <a:ext cx="528"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148577" name="Rectangle 96"/>
            <p:cNvSpPr/>
            <p:nvPr/>
          </p:nvSpPr>
          <p:spPr>
            <a:xfrm>
              <a:off x="528" y="276"/>
              <a:ext cx="384"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a:t>
              </a:r>
            </a:p>
          </p:txBody>
        </p:sp>
        <p:sp>
          <p:nvSpPr>
            <p:cNvPr id="148578" name="Line 97"/>
            <p:cNvSpPr/>
            <p:nvPr/>
          </p:nvSpPr>
          <p:spPr>
            <a:xfrm>
              <a:off x="528" y="276"/>
              <a:ext cx="1344"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79" name="Line 98"/>
            <p:cNvSpPr/>
            <p:nvPr/>
          </p:nvSpPr>
          <p:spPr>
            <a:xfrm>
              <a:off x="528" y="529"/>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80" name="Line 99"/>
            <p:cNvSpPr/>
            <p:nvPr/>
          </p:nvSpPr>
          <p:spPr>
            <a:xfrm>
              <a:off x="528" y="782"/>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81" name="Line 100"/>
            <p:cNvSpPr/>
            <p:nvPr/>
          </p:nvSpPr>
          <p:spPr>
            <a:xfrm>
              <a:off x="528" y="1035"/>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82" name="Line 101"/>
            <p:cNvSpPr/>
            <p:nvPr/>
          </p:nvSpPr>
          <p:spPr>
            <a:xfrm>
              <a:off x="528" y="2047"/>
              <a:ext cx="1344"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83" name="Line 102"/>
            <p:cNvSpPr/>
            <p:nvPr/>
          </p:nvSpPr>
          <p:spPr>
            <a:xfrm>
              <a:off x="528" y="276"/>
              <a:ext cx="0" cy="1771"/>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84" name="Line 103"/>
            <p:cNvSpPr/>
            <p:nvPr/>
          </p:nvSpPr>
          <p:spPr>
            <a:xfrm>
              <a:off x="912" y="276"/>
              <a:ext cx="0" cy="1771"/>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85" name="Line 104"/>
            <p:cNvSpPr/>
            <p:nvPr/>
          </p:nvSpPr>
          <p:spPr>
            <a:xfrm>
              <a:off x="1440" y="276"/>
              <a:ext cx="0" cy="1771"/>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86" name="Line 105"/>
            <p:cNvSpPr/>
            <p:nvPr/>
          </p:nvSpPr>
          <p:spPr>
            <a:xfrm>
              <a:off x="1872" y="276"/>
              <a:ext cx="0" cy="1771"/>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87" name="Line 106"/>
            <p:cNvSpPr/>
            <p:nvPr/>
          </p:nvSpPr>
          <p:spPr>
            <a:xfrm>
              <a:off x="528" y="1288"/>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88" name="Line 107"/>
            <p:cNvSpPr/>
            <p:nvPr/>
          </p:nvSpPr>
          <p:spPr>
            <a:xfrm>
              <a:off x="528" y="1794"/>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89" name="Line 108"/>
            <p:cNvSpPr/>
            <p:nvPr/>
          </p:nvSpPr>
          <p:spPr>
            <a:xfrm>
              <a:off x="528" y="1541"/>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90" name="Text Box 109"/>
            <p:cNvSpPr txBox="1"/>
            <p:nvPr/>
          </p:nvSpPr>
          <p:spPr>
            <a:xfrm>
              <a:off x="576" y="0"/>
              <a:ext cx="1248" cy="230"/>
            </a:xfrm>
            <a:prstGeom prst="rect">
              <a:avLst/>
            </a:prstGeom>
            <a:noFill/>
            <a:ln w="9525">
              <a:noFill/>
            </a:ln>
          </p:spPr>
          <p:txBody>
            <a:bodyPr tIns="0" bIns="0" anchor="t">
              <a:spAutoFit/>
            </a:bodyPr>
            <a:lstStyle/>
            <a:p>
              <a:pPr lvl="0" algn="ctr">
                <a:spcBef>
                  <a:spcPct val="50000"/>
                </a:spcBef>
              </a:pPr>
              <a:r>
                <a:rPr lang="en-US" altLang="x-none" b="1" dirty="0">
                  <a:latin typeface="Times New Roman" panose="02020603050405020304" pitchFamily="2" charset="0"/>
                  <a:ea typeface="宋体" panose="02010600030101010101" pitchFamily="2" charset="-122"/>
                </a:rPr>
                <a:t>AB  </a:t>
              </a:r>
              <a:r>
                <a:rPr lang="en-US" altLang="x-none" b="1" dirty="0">
                  <a:latin typeface="Arial" panose="020B0604020202020204" pitchFamily="34" charset="0"/>
                  <a:ea typeface="宋体" panose="02010600030101010101" pitchFamily="2" charset="-122"/>
                  <a:sym typeface="Symbol" panose="05050102010706020507" pitchFamily="2" charset="2"/>
                </a:rPr>
                <a:t>join</a:t>
              </a:r>
              <a:r>
                <a:rPr lang="en-US" altLang="x-none" b="1" dirty="0">
                  <a:latin typeface="Times New Roman" panose="02020603050405020304" pitchFamily="2" charset="0"/>
                  <a:ea typeface="宋体" panose="02010600030101010101" pitchFamily="2" charset="-122"/>
                </a:rPr>
                <a:t>  BC</a:t>
              </a:r>
            </a:p>
          </p:txBody>
        </p:sp>
      </p:grpSp>
      <p:grpSp>
        <p:nvGrpSpPr>
          <p:cNvPr id="148591" name="组合 148591"/>
          <p:cNvGrpSpPr/>
          <p:nvPr/>
        </p:nvGrpSpPr>
        <p:grpSpPr>
          <a:xfrm>
            <a:off x="3016250" y="685800"/>
            <a:ext cx="4559300" cy="914400"/>
            <a:chOff x="0" y="0"/>
            <a:chExt cx="2872" cy="576"/>
          </a:xfrm>
        </p:grpSpPr>
        <p:sp>
          <p:nvSpPr>
            <p:cNvPr id="148592" name="Oval 120"/>
            <p:cNvSpPr/>
            <p:nvPr/>
          </p:nvSpPr>
          <p:spPr>
            <a:xfrm>
              <a:off x="0" y="0"/>
              <a:ext cx="2872" cy="387"/>
            </a:xfrm>
            <a:prstGeom prst="ellipse">
              <a:avLst/>
            </a:prstGeom>
            <a:noFill/>
            <a:ln w="9525" cap="flat" cmpd="sng">
              <a:solidFill>
                <a:schemeClr val="tx1"/>
              </a:solidFill>
              <a:prstDash val="solid"/>
              <a:round/>
              <a:headEnd type="none" w="med" len="med"/>
              <a:tailEnd type="none" w="med" len="med"/>
            </a:ln>
          </p:spPr>
          <p:txBody>
            <a:bodyPr lIns="0" tIns="0" rIns="0" bIns="0" anchor="t">
              <a:spAutoFit/>
            </a:bodyPr>
            <a:lstStyle/>
            <a:p>
              <a:pPr lvl="0" algn="ctr">
                <a:spcBef>
                  <a:spcPct val="50000"/>
                </a:spcBef>
              </a:pPr>
              <a:r>
                <a:rPr lang="en-US" altLang="x-none" sz="2800" b="1" dirty="0">
                  <a:solidFill>
                    <a:schemeClr val="accent2"/>
                  </a:solidFill>
                  <a:latin typeface="Times New Roman" panose="02020603050405020304" pitchFamily="2" charset="0"/>
                  <a:ea typeface="宋体" panose="02010600030101010101" pitchFamily="2" charset="-122"/>
                </a:rPr>
                <a:t>ABC ≠ AB join BC</a:t>
              </a:r>
              <a:r>
                <a:rPr lang="en-US" altLang="x-none" sz="2800" b="1" u="sng" dirty="0">
                  <a:latin typeface="Times New Roman" panose="02020603050405020304" pitchFamily="2" charset="0"/>
                  <a:ea typeface="宋体" panose="02010600030101010101" pitchFamily="2" charset="-122"/>
                </a:rPr>
                <a:t> </a:t>
              </a:r>
            </a:p>
          </p:txBody>
        </p:sp>
        <p:sp>
          <p:nvSpPr>
            <p:cNvPr id="148593" name="Line 121"/>
            <p:cNvSpPr/>
            <p:nvPr/>
          </p:nvSpPr>
          <p:spPr>
            <a:xfrm flipV="1">
              <a:off x="596" y="336"/>
              <a:ext cx="144" cy="240"/>
            </a:xfrm>
            <a:prstGeom prst="line">
              <a:avLst/>
            </a:prstGeom>
            <a:ln w="38100" cap="flat" cmpd="sng">
              <a:solidFill>
                <a:schemeClr val="tx1"/>
              </a:solidFill>
              <a:prstDash val="solid"/>
              <a:round/>
              <a:headEnd type="none" w="med" len="med"/>
              <a:tailEnd type="triangl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48594" name="Line 122"/>
            <p:cNvSpPr/>
            <p:nvPr/>
          </p:nvSpPr>
          <p:spPr>
            <a:xfrm flipH="1" flipV="1">
              <a:off x="1892" y="336"/>
              <a:ext cx="192" cy="192"/>
            </a:xfrm>
            <a:prstGeom prst="line">
              <a:avLst/>
            </a:prstGeom>
            <a:ln w="38100" cap="flat" cmpd="sng">
              <a:solidFill>
                <a:schemeClr val="tx1"/>
              </a:solidFill>
              <a:prstDash val="solid"/>
              <a:round/>
              <a:headEnd type="none" w="med" len="med"/>
              <a:tailEnd type="triangl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8513"/>
                                        </p:tgtEl>
                                        <p:attrNameLst>
                                          <p:attrName>style.visibility</p:attrName>
                                        </p:attrNameLst>
                                      </p:cBhvr>
                                      <p:to>
                                        <p:strVal val="visible"/>
                                      </p:to>
                                    </p:set>
                                    <p:animEffect transition="in" filter="blinds(horizontal)">
                                      <p:cBhvr>
                                        <p:cTn id="7" dur="500"/>
                                        <p:tgtEl>
                                          <p:spTgt spid="1485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8555"/>
                                        </p:tgtEl>
                                        <p:attrNameLst>
                                          <p:attrName>style.visibility</p:attrName>
                                        </p:attrNameLst>
                                      </p:cBhvr>
                                      <p:to>
                                        <p:strVal val="visible"/>
                                      </p:to>
                                    </p:set>
                                    <p:animEffect transition="in" filter="blinds(horizontal)">
                                      <p:cBhvr>
                                        <p:cTn id="12" dur="500"/>
                                        <p:tgtEl>
                                          <p:spTgt spid="14855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48591"/>
                                        </p:tgtEl>
                                        <p:attrNameLst>
                                          <p:attrName>style.visibility</p:attrName>
                                        </p:attrNameLst>
                                      </p:cBhvr>
                                      <p:to>
                                        <p:strVal val="visible"/>
                                      </p:to>
                                    </p:set>
                                    <p:animEffect transition="in" filter="blinds(horizontal)">
                                      <p:cBhvr>
                                        <p:cTn id="17" dur="500"/>
                                        <p:tgtEl>
                                          <p:spTgt spid="1485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49506"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49507"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81</a:t>
            </a:fld>
            <a:endParaRPr lang="zh-CN" altLang="en-US" sz="1200" b="1" i="1" dirty="0">
              <a:latin typeface="Times New Roman" panose="02020603050405020304" pitchFamily="2" charset="0"/>
              <a:ea typeface="宋体" panose="02010600030101010101" pitchFamily="2" charset="-122"/>
            </a:endParaRPr>
          </a:p>
        </p:txBody>
      </p:sp>
      <p:sp>
        <p:nvSpPr>
          <p:cNvPr id="149508"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6.7  </a:t>
            </a:r>
            <a:r>
              <a:rPr lang="en-US" altLang="x-none" dirty="0">
                <a:ea typeface="宋体" panose="02010600030101010101" pitchFamily="2" charset="-122"/>
              </a:rPr>
              <a:t>Lossless Decompositions</a:t>
            </a:r>
          </a:p>
        </p:txBody>
      </p:sp>
      <p:sp>
        <p:nvSpPr>
          <p:cNvPr id="149509" name="Rectangle 3"/>
          <p:cNvSpPr>
            <a:spLocks noGrp="1"/>
          </p:cNvSpPr>
          <p:nvPr>
            <p:ph type="body"/>
          </p:nvPr>
        </p:nvSpPr>
        <p:spPr>
          <a:xfrm>
            <a:off x="179388" y="774700"/>
            <a:ext cx="8878887" cy="565150"/>
          </a:xfrm>
        </p:spPr>
        <p:txBody>
          <a:bodyPr wrap="square" anchor="t">
            <a:spAutoFit/>
          </a:bodyPr>
          <a:lstStyle/>
          <a:p>
            <a:pPr lvl="0">
              <a:lnSpc>
                <a:spcPct val="110000"/>
              </a:lnSpc>
              <a:buFont typeface="Wingdings" panose="05000000000000000000" charset="0"/>
              <a:buChar char=""/>
            </a:pPr>
            <a:r>
              <a:rPr lang="en-US" altLang="zh-CN" dirty="0">
                <a:ea typeface="宋体" panose="02010600030101010101" pitchFamily="2" charset="-122"/>
              </a:rPr>
              <a:t>decomposition of table T</a:t>
            </a:r>
            <a:r>
              <a:rPr lang="en-US" altLang="x-none" dirty="0">
                <a:ea typeface="宋体" panose="02010600030101010101" pitchFamily="2" charset="-122"/>
              </a:rPr>
              <a:t> </a:t>
            </a:r>
            <a:r>
              <a:rPr lang="en-US" altLang="x-none" dirty="0">
                <a:solidFill>
                  <a:schemeClr val="tx1"/>
                </a:solidFill>
                <a:ea typeface="宋体" panose="02010600030101010101" pitchFamily="2" charset="-122"/>
              </a:rPr>
              <a:t>(</a:t>
            </a:r>
            <a:r>
              <a:rPr lang="zh-CN" altLang="x-none" dirty="0">
                <a:solidFill>
                  <a:schemeClr val="tx1"/>
                </a:solidFill>
                <a:ea typeface="宋体" panose="02010600030101010101" pitchFamily="2" charset="-122"/>
              </a:rPr>
              <a:t>关系</a:t>
            </a:r>
            <a:r>
              <a:rPr lang="zh-CN" altLang="en-US" dirty="0">
                <a:solidFill>
                  <a:schemeClr val="tx1"/>
                </a:solidFill>
                <a:ea typeface="宋体" panose="02010600030101010101" pitchFamily="2" charset="-122"/>
              </a:rPr>
              <a:t>分解)</a:t>
            </a:r>
            <a:endParaRPr lang="en-US" altLang="x-none" dirty="0">
              <a:solidFill>
                <a:schemeClr val="tx1"/>
              </a:solidFill>
              <a:ea typeface="宋体" panose="02010600030101010101" pitchFamily="2" charset="-122"/>
            </a:endParaRPr>
          </a:p>
        </p:txBody>
      </p:sp>
      <p:sp>
        <p:nvSpPr>
          <p:cNvPr id="2" name="Rectangle 3"/>
          <p:cNvSpPr>
            <a:spLocks noGrp="1"/>
          </p:cNvSpPr>
          <p:nvPr/>
        </p:nvSpPr>
        <p:spPr>
          <a:xfrm>
            <a:off x="188913" y="1430020"/>
            <a:ext cx="8878887" cy="3279140"/>
          </a:xfrm>
          <a:prstGeom prst="rect">
            <a:avLst/>
          </a:prstGeom>
          <a:noFill/>
          <a:ln w="9525">
            <a:solidFill>
              <a:schemeClr val="accent1"/>
            </a:solidFill>
          </a:ln>
        </p:spPr>
        <p:txBody>
          <a:bodyPr wrap="square" anchor="t">
            <a:spAutoFit/>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800" b="1" u="none" kern="1200" baseline="0">
                <a:solidFill>
                  <a:srgbClr val="FF0000"/>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Ø"/>
              <a:defRPr sz="2800" b="1" u="none" kern="1200" baseline="0">
                <a:solidFill>
                  <a:schemeClr val="accent2"/>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accent2"/>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9pPr>
          </a:lstStyle>
          <a:p>
            <a:pPr marL="0" lvl="0" indent="483235">
              <a:lnSpc>
                <a:spcPct val="100000"/>
              </a:lnSpc>
              <a:buNone/>
            </a:pPr>
            <a:r>
              <a:rPr lang="en-US" altLang="x-none" dirty="0">
                <a:solidFill>
                  <a:schemeClr val="accent2"/>
                </a:solidFill>
                <a:ea typeface="宋体" panose="02010600030101010101" pitchFamily="2" charset="-122"/>
              </a:rPr>
              <a:t>For any table T with an associated set of functional dependencies F,</a:t>
            </a:r>
            <a:r>
              <a:rPr lang="en-US" altLang="x-none" dirty="0">
                <a:solidFill>
                  <a:schemeClr val="accent1"/>
                </a:solidFill>
                <a:ea typeface="宋体" panose="02010600030101010101" pitchFamily="2" charset="-122"/>
              </a:rPr>
              <a:t> </a:t>
            </a:r>
            <a:r>
              <a:rPr lang="en-US" altLang="x-none" i="1" dirty="0">
                <a:ea typeface="宋体" panose="02010600030101010101" pitchFamily="2" charset="-122"/>
              </a:rPr>
              <a:t>a decomposition</a:t>
            </a:r>
            <a:r>
              <a:rPr lang="en-US" altLang="x-none" dirty="0">
                <a:solidFill>
                  <a:schemeClr val="accent1"/>
                </a:solidFill>
                <a:ea typeface="宋体" panose="02010600030101010101" pitchFamily="2" charset="-122"/>
              </a:rPr>
              <a:t> </a:t>
            </a:r>
            <a:r>
              <a:rPr lang="en-US" altLang="x-none" dirty="0">
                <a:solidFill>
                  <a:schemeClr val="accent2"/>
                </a:solidFill>
                <a:ea typeface="宋体" panose="02010600030101010101" pitchFamily="2" charset="-122"/>
              </a:rPr>
              <a:t>of T into k tables is a set of tables {T</a:t>
            </a:r>
            <a:r>
              <a:rPr lang="en-US" altLang="x-none" baseline="-25000" dirty="0">
                <a:solidFill>
                  <a:schemeClr val="accent2"/>
                </a:solidFill>
                <a:ea typeface="宋体" panose="02010600030101010101" pitchFamily="2" charset="-122"/>
              </a:rPr>
              <a:t>1</a:t>
            </a:r>
            <a:r>
              <a:rPr lang="en-US" altLang="x-none" dirty="0">
                <a:solidFill>
                  <a:schemeClr val="accent2"/>
                </a:solidFill>
                <a:ea typeface="宋体" panose="02010600030101010101" pitchFamily="2" charset="-122"/>
              </a:rPr>
              <a:t>, T</a:t>
            </a:r>
            <a:r>
              <a:rPr lang="en-US" altLang="x-none" baseline="-25000" dirty="0">
                <a:solidFill>
                  <a:schemeClr val="accent2"/>
                </a:solidFill>
                <a:ea typeface="宋体" panose="02010600030101010101" pitchFamily="2" charset="-122"/>
              </a:rPr>
              <a:t>2</a:t>
            </a:r>
            <a:r>
              <a:rPr lang="en-US" altLang="x-none" dirty="0">
                <a:solidFill>
                  <a:schemeClr val="accent2"/>
                </a:solidFill>
                <a:ea typeface="宋体" panose="02010600030101010101" pitchFamily="2" charset="-122"/>
              </a:rPr>
              <a:t>, ..., T</a:t>
            </a:r>
            <a:r>
              <a:rPr lang="en-US" altLang="x-none" baseline="-25000" dirty="0">
                <a:solidFill>
                  <a:schemeClr val="accent2"/>
                </a:solidFill>
                <a:ea typeface="宋体" panose="02010600030101010101" pitchFamily="2" charset="-122"/>
              </a:rPr>
              <a:t>k</a:t>
            </a:r>
            <a:r>
              <a:rPr lang="en-US" altLang="x-none" dirty="0">
                <a:solidFill>
                  <a:schemeClr val="accent2"/>
                </a:solidFill>
                <a:ea typeface="宋体" panose="02010600030101010101" pitchFamily="2" charset="-122"/>
              </a:rPr>
              <a:t>}, with two properties:</a:t>
            </a:r>
          </a:p>
          <a:p>
            <a:pPr marL="457200" lvl="0" indent="-457200">
              <a:lnSpc>
                <a:spcPct val="150000"/>
              </a:lnSpc>
              <a:buAutoNum type="arabicParenR"/>
            </a:pPr>
            <a:r>
              <a:rPr lang="en-US" altLang="x-none" dirty="0">
                <a:solidFill>
                  <a:schemeClr val="tx1"/>
                </a:solidFill>
                <a:ea typeface="宋体" panose="02010600030101010101" pitchFamily="2" charset="-122"/>
              </a:rPr>
              <a:t>for every table T</a:t>
            </a:r>
            <a:r>
              <a:rPr lang="en-US" altLang="x-none" baseline="-25000" dirty="0">
                <a:solidFill>
                  <a:schemeClr val="tx1"/>
                </a:solidFill>
                <a:ea typeface="宋体" panose="02010600030101010101" pitchFamily="2" charset="-122"/>
              </a:rPr>
              <a:t>i</a:t>
            </a:r>
            <a:r>
              <a:rPr lang="en-US" altLang="x-none" dirty="0">
                <a:solidFill>
                  <a:schemeClr val="tx1"/>
                </a:solidFill>
                <a:ea typeface="宋体" panose="02010600030101010101" pitchFamily="2" charset="-122"/>
              </a:rPr>
              <a:t> in the set, Head(T</a:t>
            </a:r>
            <a:r>
              <a:rPr lang="en-US" altLang="x-none" baseline="-25000" dirty="0">
                <a:solidFill>
                  <a:schemeClr val="tx1"/>
                </a:solidFill>
                <a:ea typeface="宋体" panose="02010600030101010101" pitchFamily="2" charset="-122"/>
              </a:rPr>
              <a:t>i</a:t>
            </a:r>
            <a:r>
              <a:rPr lang="en-US" altLang="x-none" dirty="0">
                <a:solidFill>
                  <a:schemeClr val="tx1"/>
                </a:solidFill>
                <a:ea typeface="宋体" panose="02010600030101010101" pitchFamily="2" charset="-122"/>
              </a:rPr>
              <a:t>) </a:t>
            </a:r>
            <a:r>
              <a:rPr lang="en-US" altLang="x-none" dirty="0">
                <a:solidFill>
                  <a:schemeClr val="tx1"/>
                </a:solidFill>
                <a:ea typeface="宋体" panose="02010600030101010101" pitchFamily="2" charset="-122"/>
                <a:sym typeface="Symbol" panose="05050102010706020507" charset="0"/>
              </a:rPr>
              <a:t></a:t>
            </a:r>
            <a:r>
              <a:rPr lang="en-US" altLang="x-none" dirty="0">
                <a:solidFill>
                  <a:schemeClr val="tx1"/>
                </a:solidFill>
                <a:ea typeface="宋体" panose="02010600030101010101" pitchFamily="2" charset="-122"/>
              </a:rPr>
              <a:t> Head(T);</a:t>
            </a:r>
          </a:p>
          <a:p>
            <a:pPr marL="457200" lvl="0" indent="-457200">
              <a:lnSpc>
                <a:spcPct val="150000"/>
              </a:lnSpc>
              <a:buAutoNum type="arabicParenR"/>
            </a:pPr>
            <a:r>
              <a:rPr lang="en-US" altLang="x-none" dirty="0">
                <a:solidFill>
                  <a:schemeClr val="tx1"/>
                </a:solidFill>
                <a:ea typeface="宋体" panose="02010600030101010101" pitchFamily="2" charset="-122"/>
              </a:rPr>
              <a:t>Head(T) = Head(T</a:t>
            </a:r>
            <a:r>
              <a:rPr lang="en-US" altLang="x-none" baseline="-25000" dirty="0">
                <a:solidFill>
                  <a:schemeClr val="tx1"/>
                </a:solidFill>
                <a:ea typeface="宋体" panose="02010600030101010101" pitchFamily="2" charset="-122"/>
              </a:rPr>
              <a:t>1</a:t>
            </a:r>
            <a:r>
              <a:rPr lang="en-US" altLang="x-none" dirty="0">
                <a:solidFill>
                  <a:schemeClr val="tx1"/>
                </a:solidFill>
                <a:ea typeface="宋体" panose="02010600030101010101" pitchFamily="2" charset="-122"/>
              </a:rPr>
              <a:t>)</a:t>
            </a:r>
            <a:r>
              <a:rPr lang="en-US" altLang="x-none" dirty="0">
                <a:solidFill>
                  <a:schemeClr val="tx1"/>
                </a:solidFill>
                <a:latin typeface="微软雅黑" panose="020B0503020204020204" charset="-122"/>
                <a:ea typeface="微软雅黑" panose="020B0503020204020204" charset="-122"/>
              </a:rPr>
              <a:t>∪</a:t>
            </a:r>
            <a:r>
              <a:rPr lang="en-US" altLang="x-none" dirty="0">
                <a:solidFill>
                  <a:schemeClr val="tx1"/>
                </a:solidFill>
                <a:ea typeface="宋体" panose="02010600030101010101" pitchFamily="2" charset="-122"/>
              </a:rPr>
              <a:t>Head(T</a:t>
            </a:r>
            <a:r>
              <a:rPr lang="en-US" altLang="x-none" baseline="-25000" dirty="0">
                <a:solidFill>
                  <a:schemeClr val="tx1"/>
                </a:solidFill>
                <a:ea typeface="宋体" panose="02010600030101010101" pitchFamily="2" charset="-122"/>
              </a:rPr>
              <a:t>2</a:t>
            </a:r>
            <a:r>
              <a:rPr lang="en-US" altLang="x-none" dirty="0">
                <a:solidFill>
                  <a:schemeClr val="tx1"/>
                </a:solidFill>
                <a:ea typeface="宋体" panose="02010600030101010101" pitchFamily="2" charset="-122"/>
              </a:rPr>
              <a:t>)</a:t>
            </a:r>
            <a:r>
              <a:rPr lang="en-US" altLang="x-none" dirty="0">
                <a:solidFill>
                  <a:schemeClr val="tx1"/>
                </a:solidFill>
                <a:latin typeface="微软雅黑" panose="020B0503020204020204" charset="-122"/>
                <a:ea typeface="微软雅黑" panose="020B0503020204020204" charset="-122"/>
                <a:sym typeface="+mn-ea"/>
              </a:rPr>
              <a:t>∪</a:t>
            </a:r>
            <a:r>
              <a:rPr lang="en-US" altLang="x-none" dirty="0">
                <a:solidFill>
                  <a:schemeClr val="tx1"/>
                </a:solidFill>
                <a:ea typeface="宋体" panose="02010600030101010101" pitchFamily="2" charset="-122"/>
              </a:rPr>
              <a:t>......</a:t>
            </a:r>
            <a:r>
              <a:rPr lang="en-US" altLang="x-none" dirty="0">
                <a:solidFill>
                  <a:schemeClr val="tx1"/>
                </a:solidFill>
                <a:latin typeface="微软雅黑" panose="020B0503020204020204" charset="-122"/>
                <a:ea typeface="微软雅黑" panose="020B0503020204020204" charset="-122"/>
                <a:sym typeface="+mn-ea"/>
              </a:rPr>
              <a:t>∪</a:t>
            </a:r>
            <a:r>
              <a:rPr lang="en-US" altLang="x-none" dirty="0">
                <a:solidFill>
                  <a:schemeClr val="tx1"/>
                </a:solidFill>
                <a:ea typeface="宋体" panose="02010600030101010101" pitchFamily="2" charset="-122"/>
              </a:rPr>
              <a:t>Head(T</a:t>
            </a:r>
            <a:r>
              <a:rPr lang="en-US" altLang="x-none" baseline="-25000" dirty="0">
                <a:solidFill>
                  <a:schemeClr val="tx1"/>
                </a:solidFill>
                <a:ea typeface="宋体" panose="02010600030101010101" pitchFamily="2" charset="-122"/>
              </a:rPr>
              <a:t>k</a:t>
            </a:r>
            <a:r>
              <a:rPr lang="en-US" altLang="x-none" dirty="0">
                <a:solidFill>
                  <a:schemeClr val="tx1"/>
                </a:solidFill>
                <a:ea typeface="宋体" panose="02010600030101010101" pitchFamily="2" charset="-122"/>
              </a:rPr>
              <a:t>)</a:t>
            </a:r>
          </a:p>
        </p:txBody>
      </p:sp>
      <p:sp>
        <p:nvSpPr>
          <p:cNvPr id="3" name="文本框 2"/>
          <p:cNvSpPr txBox="1"/>
          <p:nvPr/>
        </p:nvSpPr>
        <p:spPr>
          <a:xfrm>
            <a:off x="194310" y="4867910"/>
            <a:ext cx="8842375" cy="1383665"/>
          </a:xfrm>
          <a:prstGeom prst="rect">
            <a:avLst/>
          </a:prstGeom>
          <a:noFill/>
        </p:spPr>
        <p:txBody>
          <a:bodyPr wrap="square" rtlCol="0">
            <a:spAutoFit/>
          </a:bodyPr>
          <a:lstStyle/>
          <a:p>
            <a:pPr indent="490220"/>
            <a:r>
              <a:rPr lang="en-US" altLang="x-none" sz="2800" b="1" dirty="0">
                <a:solidFill>
                  <a:schemeClr val="accent6"/>
                </a:solidFill>
                <a:latin typeface="Arial" panose="020B0604020202020204" pitchFamily="34" charset="0"/>
                <a:ea typeface="宋体" panose="02010600030101010101" pitchFamily="2" charset="-122"/>
                <a:sym typeface="+mn-ea"/>
              </a:rPr>
              <a:t>Given any specific content of T, the rows of T are projected onto the columns of each T</a:t>
            </a:r>
            <a:r>
              <a:rPr lang="en-US" altLang="x-none" sz="2800" b="1" baseline="-25000" dirty="0">
                <a:solidFill>
                  <a:schemeClr val="accent6"/>
                </a:solidFill>
                <a:latin typeface="Arial" panose="020B0604020202020204" pitchFamily="34" charset="0"/>
                <a:ea typeface="宋体" panose="02010600030101010101" pitchFamily="2" charset="-122"/>
                <a:sym typeface="+mn-ea"/>
              </a:rPr>
              <a:t>i</a:t>
            </a:r>
            <a:r>
              <a:rPr lang="en-US" altLang="x-none" sz="2800" b="1" dirty="0">
                <a:solidFill>
                  <a:schemeClr val="accent6"/>
                </a:solidFill>
                <a:latin typeface="Arial" panose="020B0604020202020204" pitchFamily="34" charset="0"/>
                <a:ea typeface="宋体" panose="02010600030101010101" pitchFamily="2" charset="-122"/>
                <a:sym typeface="+mn-ea"/>
              </a:rPr>
              <a:t> as a result of the decomposition.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8"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6.7  </a:t>
            </a:r>
            <a:r>
              <a:rPr lang="en-US" altLang="x-none" dirty="0">
                <a:ea typeface="宋体" panose="02010600030101010101" pitchFamily="2" charset="-122"/>
              </a:rPr>
              <a:t>Lossless Decompositions</a:t>
            </a:r>
          </a:p>
        </p:txBody>
      </p:sp>
      <p:sp>
        <p:nvSpPr>
          <p:cNvPr id="149509" name="Rectangle 3"/>
          <p:cNvSpPr>
            <a:spLocks noGrp="1"/>
          </p:cNvSpPr>
          <p:nvPr>
            <p:ph type="body"/>
          </p:nvPr>
        </p:nvSpPr>
        <p:spPr>
          <a:xfrm>
            <a:off x="179388" y="702945"/>
            <a:ext cx="8878887" cy="1038860"/>
          </a:xfrm>
        </p:spPr>
        <p:txBody>
          <a:bodyPr wrap="square" anchor="t">
            <a:spAutoFit/>
          </a:bodyPr>
          <a:lstStyle/>
          <a:p>
            <a:pPr marL="457200" lvl="0" indent="-457200">
              <a:lnSpc>
                <a:spcPct val="100000"/>
              </a:lnSpc>
              <a:buNone/>
            </a:pPr>
            <a:r>
              <a:rPr lang="en-US" altLang="x-none" dirty="0">
                <a:solidFill>
                  <a:schemeClr val="accent6"/>
                </a:solidFill>
                <a:ea typeface="宋体" panose="02010600030101010101" pitchFamily="2" charset="-122"/>
              </a:rPr>
              <a:t>Def. 6.7.1</a:t>
            </a:r>
            <a:r>
              <a:rPr lang="en-US" altLang="x-none" dirty="0">
                <a:solidFill>
                  <a:srgbClr val="FF0000"/>
                </a:solidFill>
                <a:ea typeface="宋体" panose="02010600030101010101" pitchFamily="2" charset="-122"/>
              </a:rPr>
              <a:t> Lossless Decomposition</a:t>
            </a:r>
            <a:r>
              <a:rPr lang="en-US" altLang="x-none" dirty="0">
                <a:ea typeface="宋体" panose="02010600030101010101" pitchFamily="2" charset="-122"/>
              </a:rPr>
              <a:t> </a:t>
            </a:r>
            <a:r>
              <a:rPr lang="en-US" altLang="x-none" dirty="0">
                <a:solidFill>
                  <a:schemeClr val="tx1"/>
                </a:solidFill>
                <a:ea typeface="宋体" panose="02010600030101010101" pitchFamily="2" charset="-122"/>
              </a:rPr>
              <a:t>(</a:t>
            </a:r>
            <a:r>
              <a:rPr lang="zh-CN" altLang="en-US" dirty="0">
                <a:solidFill>
                  <a:schemeClr val="tx1"/>
                </a:solidFill>
                <a:ea typeface="宋体" panose="02010600030101010101" pitchFamily="2" charset="-122"/>
              </a:rPr>
              <a:t>无损性分解)</a:t>
            </a:r>
          </a:p>
          <a:p>
            <a:pPr marL="2286000" lvl="4" indent="-1441450">
              <a:lnSpc>
                <a:spcPct val="100000"/>
              </a:lnSpc>
              <a:buNone/>
            </a:pPr>
            <a:r>
              <a:rPr lang="en-US" altLang="x-none" dirty="0">
                <a:solidFill>
                  <a:srgbClr val="FF0000"/>
                </a:solidFill>
                <a:ea typeface="宋体" panose="02010600030101010101" pitchFamily="2" charset="-122"/>
              </a:rPr>
              <a:t>lossless-join decomposition</a:t>
            </a:r>
            <a:r>
              <a:rPr lang="en-US" altLang="x-none" dirty="0">
                <a:ea typeface="宋体" panose="02010600030101010101" pitchFamily="2" charset="-122"/>
              </a:rPr>
              <a:t> (</a:t>
            </a:r>
            <a:r>
              <a:rPr lang="zh-CN" altLang="x-none" dirty="0">
                <a:ea typeface="宋体" panose="02010600030101010101" pitchFamily="2" charset="-122"/>
              </a:rPr>
              <a:t>无损连接分解</a:t>
            </a:r>
            <a:r>
              <a:rPr lang="en-US" altLang="x-none" dirty="0">
                <a:ea typeface="宋体" panose="02010600030101010101" pitchFamily="2" charset="-122"/>
              </a:rPr>
              <a:t>)</a:t>
            </a:r>
            <a:endParaRPr lang="en-US" altLang="x-none" dirty="0">
              <a:solidFill>
                <a:schemeClr val="tx1"/>
              </a:solidFill>
              <a:ea typeface="宋体" panose="02010600030101010101" pitchFamily="2" charset="-122"/>
            </a:endParaRPr>
          </a:p>
        </p:txBody>
      </p:sp>
      <p:sp>
        <p:nvSpPr>
          <p:cNvPr id="2" name="Rectangle 3"/>
          <p:cNvSpPr>
            <a:spLocks noGrp="1"/>
          </p:cNvSpPr>
          <p:nvPr/>
        </p:nvSpPr>
        <p:spPr>
          <a:xfrm>
            <a:off x="188913" y="1860550"/>
            <a:ext cx="8878887" cy="2331720"/>
          </a:xfrm>
          <a:prstGeom prst="rect">
            <a:avLst/>
          </a:prstGeom>
          <a:noFill/>
          <a:ln w="9525">
            <a:solidFill>
              <a:schemeClr val="accent1"/>
            </a:solidFill>
          </a:ln>
        </p:spPr>
        <p:txBody>
          <a:bodyPr wrap="square" anchor="t">
            <a:spAutoFit/>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800" b="1" u="none" kern="1200" baseline="0">
                <a:solidFill>
                  <a:srgbClr val="FF0000"/>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Ø"/>
              <a:defRPr sz="2800" b="1" u="none" kern="1200" baseline="0">
                <a:solidFill>
                  <a:schemeClr val="accent2"/>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accent2"/>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9pPr>
          </a:lstStyle>
          <a:p>
            <a:pPr marL="0" lvl="0" indent="0">
              <a:spcBef>
                <a:spcPct val="20000"/>
              </a:spcBef>
              <a:buClr>
                <a:srgbClr val="996633"/>
              </a:buClr>
              <a:buNone/>
            </a:pPr>
            <a:r>
              <a:rPr lang="en-US" altLang="x-none" dirty="0">
                <a:solidFill>
                  <a:schemeClr val="accent2"/>
                </a:solidFill>
                <a:latin typeface="Arial" panose="020B0604020202020204" pitchFamily="34" charset="0"/>
                <a:ea typeface="宋体" panose="02010600030101010101" pitchFamily="2" charset="-122"/>
                <a:sym typeface="+mn-ea"/>
              </a:rPr>
              <a:t>A decomposition of a table T with an associated set F of FDs is said to be </a:t>
            </a:r>
            <a:r>
              <a:rPr lang="en-US" altLang="x-none" i="1" dirty="0">
                <a:latin typeface="Arial" panose="020B0604020202020204" pitchFamily="34" charset="0"/>
                <a:ea typeface="宋体" panose="02010600030101010101" pitchFamily="2" charset="-122"/>
                <a:sym typeface="+mn-ea"/>
              </a:rPr>
              <a:t>a</a:t>
            </a:r>
            <a:r>
              <a:rPr lang="en-US" altLang="x-none" i="1" dirty="0">
                <a:solidFill>
                  <a:srgbClr val="FF0066"/>
                </a:solidFill>
                <a:latin typeface="Arial" panose="020B0604020202020204" pitchFamily="34" charset="0"/>
                <a:ea typeface="宋体" panose="02010600030101010101" pitchFamily="2" charset="-122"/>
                <a:sym typeface="+mn-ea"/>
              </a:rPr>
              <a:t> </a:t>
            </a:r>
            <a:r>
              <a:rPr lang="en-US" altLang="x-none" i="1" dirty="0">
                <a:latin typeface="Arial" panose="020B0604020202020204" pitchFamily="34" charset="0"/>
                <a:ea typeface="宋体" panose="02010600030101010101" pitchFamily="2" charset="-122"/>
                <a:sym typeface="+mn-ea"/>
              </a:rPr>
              <a:t>lossless decomposition</a:t>
            </a:r>
            <a:r>
              <a:rPr lang="en-US" altLang="x-none" dirty="0">
                <a:solidFill>
                  <a:schemeClr val="accent2"/>
                </a:solidFill>
                <a:latin typeface="Arial" panose="020B0604020202020204" pitchFamily="34" charset="0"/>
                <a:ea typeface="宋体" panose="02010600030101010101" pitchFamily="2" charset="-122"/>
                <a:sym typeface="+mn-ea"/>
              </a:rPr>
              <a:t> if, for any possible future content of T, the FDs in F guarantee that the following relationship will hold:</a:t>
            </a:r>
          </a:p>
          <a:p>
            <a:pPr marL="457200" lvl="1" indent="0">
              <a:spcBef>
                <a:spcPct val="20000"/>
              </a:spcBef>
              <a:buClr>
                <a:srgbClr val="996633"/>
              </a:buClr>
              <a:buNone/>
            </a:pPr>
            <a:r>
              <a:rPr lang="zh-CN" altLang="en-US" dirty="0">
                <a:solidFill>
                  <a:srgbClr val="FF0000"/>
                </a:solidFill>
                <a:latin typeface="Arial" panose="020B0604020202020204" pitchFamily="34" charset="0"/>
                <a:ea typeface="宋体" panose="02010600030101010101" pitchFamily="2" charset="-122"/>
                <a:sym typeface="+mn-ea"/>
              </a:rPr>
              <a:t>  </a:t>
            </a:r>
            <a:r>
              <a:rPr lang="en-US" altLang="x-none" dirty="0">
                <a:solidFill>
                  <a:srgbClr val="FF0000"/>
                </a:solidFill>
                <a:latin typeface="Arial" panose="020B0604020202020204" pitchFamily="34" charset="0"/>
                <a:ea typeface="宋体" panose="02010600030101010101" pitchFamily="2" charset="-122"/>
                <a:sym typeface="+mn-ea"/>
              </a:rPr>
              <a:t>T  </a:t>
            </a:r>
            <a:r>
              <a:rPr lang="en-US" altLang="x-none" dirty="0">
                <a:solidFill>
                  <a:srgbClr val="FF0000"/>
                </a:solidFill>
                <a:latin typeface="Arial" panose="020B0604020202020204" pitchFamily="34" charset="0"/>
                <a:ea typeface="宋体" panose="02010600030101010101" pitchFamily="2" charset="-122"/>
                <a:sym typeface="Symbol" panose="05050102010706020507" pitchFamily="2" charset="2"/>
              </a:rPr>
              <a:t></a:t>
            </a:r>
            <a:r>
              <a:rPr lang="en-US" altLang="x-none" dirty="0">
                <a:solidFill>
                  <a:srgbClr val="FF0000"/>
                </a:solidFill>
                <a:latin typeface="Arial" panose="020B0604020202020204" pitchFamily="34" charset="0"/>
                <a:ea typeface="宋体" panose="02010600030101010101" pitchFamily="2" charset="-122"/>
                <a:sym typeface="+mn-ea"/>
              </a:rPr>
              <a:t>  T</a:t>
            </a:r>
            <a:r>
              <a:rPr lang="en-US" altLang="x-none" baseline="-25000" dirty="0">
                <a:solidFill>
                  <a:srgbClr val="FF0000"/>
                </a:solidFill>
                <a:latin typeface="Arial" panose="020B0604020202020204" pitchFamily="34" charset="0"/>
                <a:ea typeface="宋体" panose="02010600030101010101" pitchFamily="2" charset="-122"/>
                <a:sym typeface="+mn-ea"/>
              </a:rPr>
              <a:t>1</a:t>
            </a:r>
            <a:r>
              <a:rPr lang="en-US" altLang="x-none" dirty="0">
                <a:solidFill>
                  <a:srgbClr val="FF0000"/>
                </a:solidFill>
                <a:latin typeface="Arial" panose="020B0604020202020204" pitchFamily="34" charset="0"/>
                <a:ea typeface="宋体" panose="02010600030101010101" pitchFamily="2" charset="-122"/>
                <a:sym typeface="+mn-ea"/>
              </a:rPr>
              <a:t>  </a:t>
            </a:r>
            <a:r>
              <a:rPr lang="zh-CN" altLang="en-US" dirty="0">
                <a:solidFill>
                  <a:srgbClr val="FF0000"/>
                </a:solidFill>
                <a:latin typeface="Arial" panose="020B0604020202020204" pitchFamily="34" charset="0"/>
                <a:ea typeface="宋体" panose="02010600030101010101" pitchFamily="2" charset="-122"/>
                <a:sym typeface="Symbol" panose="05050102010706020507" pitchFamily="2" charset="2"/>
              </a:rPr>
              <a:t>join</a:t>
            </a:r>
            <a:r>
              <a:rPr lang="en-US" altLang="x-none" dirty="0">
                <a:solidFill>
                  <a:srgbClr val="FF0000"/>
                </a:solidFill>
                <a:latin typeface="Arial" panose="020B0604020202020204" pitchFamily="34" charset="0"/>
                <a:ea typeface="宋体" panose="02010600030101010101" pitchFamily="2" charset="-122"/>
                <a:sym typeface="+mn-ea"/>
              </a:rPr>
              <a:t>  T</a:t>
            </a:r>
            <a:r>
              <a:rPr lang="en-US" altLang="x-none" baseline="-25000" dirty="0">
                <a:solidFill>
                  <a:srgbClr val="FF0000"/>
                </a:solidFill>
                <a:latin typeface="Arial" panose="020B0604020202020204" pitchFamily="34" charset="0"/>
                <a:ea typeface="宋体" panose="02010600030101010101" pitchFamily="2" charset="-122"/>
                <a:sym typeface="+mn-ea"/>
              </a:rPr>
              <a:t>2</a:t>
            </a:r>
            <a:r>
              <a:rPr lang="en-US" altLang="x-none" dirty="0">
                <a:solidFill>
                  <a:srgbClr val="FF0000"/>
                </a:solidFill>
                <a:latin typeface="Arial" panose="020B0604020202020204" pitchFamily="34" charset="0"/>
                <a:ea typeface="宋体" panose="02010600030101010101" pitchFamily="2" charset="-122"/>
                <a:sym typeface="+mn-ea"/>
              </a:rPr>
              <a:t>  </a:t>
            </a:r>
            <a:r>
              <a:rPr lang="zh-CN" altLang="en-US" dirty="0">
                <a:solidFill>
                  <a:srgbClr val="FF0000"/>
                </a:solidFill>
                <a:latin typeface="Arial" panose="020B0604020202020204" pitchFamily="34" charset="0"/>
                <a:ea typeface="宋体" panose="02010600030101010101" pitchFamily="2" charset="-122"/>
                <a:sym typeface="Symbol" panose="05050102010706020507" pitchFamily="2" charset="2"/>
              </a:rPr>
              <a:t>join</a:t>
            </a:r>
            <a:r>
              <a:rPr lang="en-US" altLang="x-none" dirty="0">
                <a:solidFill>
                  <a:srgbClr val="FF0000"/>
                </a:solidFill>
                <a:latin typeface="Arial" panose="020B0604020202020204" pitchFamily="34" charset="0"/>
                <a:ea typeface="宋体" panose="02010600030101010101" pitchFamily="2" charset="-122"/>
                <a:sym typeface="+mn-ea"/>
              </a:rPr>
              <a:t> ... </a:t>
            </a:r>
            <a:r>
              <a:rPr lang="zh-CN" altLang="en-US" dirty="0">
                <a:solidFill>
                  <a:srgbClr val="FF0000"/>
                </a:solidFill>
                <a:latin typeface="Arial" panose="020B0604020202020204" pitchFamily="34" charset="0"/>
                <a:ea typeface="宋体" panose="02010600030101010101" pitchFamily="2" charset="-122"/>
                <a:sym typeface="Symbol" panose="05050102010706020507" pitchFamily="2" charset="2"/>
              </a:rPr>
              <a:t>join</a:t>
            </a:r>
            <a:r>
              <a:rPr lang="en-US" altLang="x-none" dirty="0">
                <a:solidFill>
                  <a:srgbClr val="FF0000"/>
                </a:solidFill>
                <a:latin typeface="Arial" panose="020B0604020202020204" pitchFamily="34" charset="0"/>
                <a:ea typeface="宋体" panose="02010600030101010101" pitchFamily="2" charset="-122"/>
                <a:sym typeface="+mn-ea"/>
              </a:rPr>
              <a:t>  T</a:t>
            </a:r>
            <a:r>
              <a:rPr lang="en-US" altLang="x-none" baseline="-25000" dirty="0">
                <a:solidFill>
                  <a:srgbClr val="FF0000"/>
                </a:solidFill>
                <a:latin typeface="Arial" panose="020B0604020202020204" pitchFamily="34" charset="0"/>
                <a:ea typeface="宋体" panose="02010600030101010101" pitchFamily="2" charset="-122"/>
                <a:sym typeface="+mn-ea"/>
              </a:rPr>
              <a:t>k</a:t>
            </a:r>
          </a:p>
        </p:txBody>
      </p:sp>
      <p:sp>
        <p:nvSpPr>
          <p:cNvPr id="151557" name="Rectangle 3"/>
          <p:cNvSpPr>
            <a:spLocks noGrp="1"/>
          </p:cNvSpPr>
          <p:nvPr/>
        </p:nvSpPr>
        <p:spPr>
          <a:xfrm>
            <a:off x="188595" y="4388485"/>
            <a:ext cx="8726805" cy="2122805"/>
          </a:xfrm>
          <a:prstGeom prst="rect">
            <a:avLst/>
          </a:prstGeom>
          <a:noFill/>
          <a:ln w="9525">
            <a:noFill/>
          </a:ln>
        </p:spPr>
        <p:txBody>
          <a:bodyPr wrap="square" anchor="t">
            <a:spAutoFit/>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800" b="1" u="none" kern="1200" baseline="0">
                <a:solidFill>
                  <a:srgbClr val="FF0000"/>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Ø"/>
              <a:defRPr sz="2800" b="1" u="none" kern="1200" baseline="0">
                <a:solidFill>
                  <a:schemeClr val="accent2"/>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accent2"/>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9pPr>
          </a:lstStyle>
          <a:p>
            <a:pPr lvl="0" eaLnBrk="1" hangingPunct="1">
              <a:lnSpc>
                <a:spcPct val="100000"/>
              </a:lnSpc>
              <a:buClr>
                <a:schemeClr val="accent2"/>
              </a:buClr>
            </a:pPr>
            <a:r>
              <a:rPr lang="en-US" altLang="x-none" sz="3000" dirty="0">
                <a:solidFill>
                  <a:srgbClr val="FF0066"/>
                </a:solidFill>
                <a:ea typeface="宋体" panose="02010600030101010101" pitchFamily="2" charset="-122"/>
              </a:rPr>
              <a:t>Lossy Decomposition</a:t>
            </a:r>
            <a:r>
              <a:rPr lang="en-US" altLang="x-none" sz="3000" dirty="0">
                <a:solidFill>
                  <a:schemeClr val="tx1"/>
                </a:solidFill>
                <a:ea typeface="宋体" panose="02010600030101010101" pitchFamily="2" charset="-122"/>
              </a:rPr>
              <a:t> (</a:t>
            </a:r>
            <a:r>
              <a:rPr lang="zh-CN" altLang="en-US" sz="3000" dirty="0">
                <a:solidFill>
                  <a:schemeClr val="tx1"/>
                </a:solidFill>
                <a:ea typeface="宋体" panose="02010600030101010101" pitchFamily="2" charset="-122"/>
              </a:rPr>
              <a:t>有损分解</a:t>
            </a:r>
            <a:r>
              <a:rPr lang="en-US" altLang="x-none" sz="3000" dirty="0">
                <a:solidFill>
                  <a:schemeClr val="tx1"/>
                </a:solidFill>
                <a:ea typeface="宋体" panose="02010600030101010101" pitchFamily="2" charset="-122"/>
              </a:rPr>
              <a:t>)</a:t>
            </a:r>
          </a:p>
          <a:p>
            <a:pPr marL="457200" lvl="1" indent="0" eaLnBrk="1" hangingPunct="1">
              <a:lnSpc>
                <a:spcPct val="100000"/>
              </a:lnSpc>
              <a:buClr>
                <a:schemeClr val="accent2"/>
              </a:buClr>
              <a:buNone/>
            </a:pPr>
            <a:r>
              <a:rPr lang="en-US" altLang="x-none" sz="3000" dirty="0">
                <a:ea typeface="宋体" panose="02010600030101010101" pitchFamily="2" charset="-122"/>
              </a:rPr>
              <a:t>might get back other rows that were not originally present, so</a:t>
            </a:r>
          </a:p>
          <a:p>
            <a:pPr lvl="4" indent="-1391920" eaLnBrk="1" hangingPunct="1">
              <a:lnSpc>
                <a:spcPct val="100000"/>
              </a:lnSpc>
              <a:buClrTx/>
              <a:buNone/>
            </a:pPr>
            <a:r>
              <a:rPr lang="en-US" altLang="x-none" sz="3000" dirty="0">
                <a:ea typeface="宋体" panose="02010600030101010101" pitchFamily="2" charset="-122"/>
              </a:rPr>
              <a:t>T  </a:t>
            </a:r>
            <a:r>
              <a:rPr lang="en-US" altLang="x-none" sz="3000" dirty="0">
                <a:ea typeface="宋体" panose="02010600030101010101" pitchFamily="2" charset="-122"/>
                <a:sym typeface="Symbol" panose="05050102010706020507" pitchFamily="2" charset="2"/>
              </a:rPr>
              <a:t></a:t>
            </a:r>
            <a:r>
              <a:rPr lang="en-US" altLang="x-none" sz="3000" dirty="0">
                <a:ea typeface="宋体" panose="02010600030101010101" pitchFamily="2" charset="-122"/>
              </a:rPr>
              <a:t>  T</a:t>
            </a:r>
            <a:r>
              <a:rPr lang="en-US" altLang="x-none" sz="3000" baseline="-25000" dirty="0">
                <a:ea typeface="宋体" panose="02010600030101010101" pitchFamily="2" charset="-122"/>
              </a:rPr>
              <a:t>1</a:t>
            </a:r>
            <a:r>
              <a:rPr lang="en-US" altLang="x-none" sz="3000" dirty="0">
                <a:ea typeface="宋体" panose="02010600030101010101" pitchFamily="2" charset="-122"/>
              </a:rPr>
              <a:t>  </a:t>
            </a:r>
            <a:r>
              <a:rPr lang="zh-CN" altLang="en-US" sz="3000" dirty="0">
                <a:ea typeface="宋体" panose="02010600030101010101" pitchFamily="2" charset="-122"/>
                <a:sym typeface="Symbol" panose="05050102010706020507" pitchFamily="2" charset="2"/>
              </a:rPr>
              <a:t>join</a:t>
            </a:r>
            <a:r>
              <a:rPr lang="en-US" altLang="x-none" sz="3000" dirty="0">
                <a:ea typeface="宋体" panose="02010600030101010101" pitchFamily="2" charset="-122"/>
              </a:rPr>
              <a:t>  T</a:t>
            </a:r>
            <a:r>
              <a:rPr lang="en-US" altLang="x-none" sz="3000" baseline="-25000" dirty="0">
                <a:ea typeface="宋体" panose="02010600030101010101" pitchFamily="2" charset="-122"/>
              </a:rPr>
              <a:t>2</a:t>
            </a:r>
            <a:r>
              <a:rPr lang="en-US" altLang="x-none" sz="3000" dirty="0">
                <a:ea typeface="宋体" panose="02010600030101010101" pitchFamily="2" charset="-122"/>
              </a:rPr>
              <a:t>  </a:t>
            </a:r>
            <a:r>
              <a:rPr lang="zh-CN" altLang="en-US" sz="3000" dirty="0">
                <a:ea typeface="宋体" panose="02010600030101010101" pitchFamily="2" charset="-122"/>
                <a:sym typeface="Symbol" panose="05050102010706020507" pitchFamily="2" charset="2"/>
              </a:rPr>
              <a:t>join</a:t>
            </a:r>
            <a:r>
              <a:rPr lang="en-US" altLang="x-none" sz="3000" dirty="0">
                <a:ea typeface="宋体" panose="02010600030101010101" pitchFamily="2" charset="-122"/>
              </a:rPr>
              <a:t> ... </a:t>
            </a:r>
            <a:r>
              <a:rPr lang="zh-CN" altLang="en-US" sz="3000" dirty="0">
                <a:ea typeface="宋体" panose="02010600030101010101" pitchFamily="2" charset="-122"/>
                <a:sym typeface="Symbol" panose="05050102010706020507" pitchFamily="2" charset="2"/>
              </a:rPr>
              <a:t>join</a:t>
            </a:r>
            <a:r>
              <a:rPr lang="en-US" altLang="x-none" sz="3000" dirty="0">
                <a:ea typeface="宋体" panose="02010600030101010101" pitchFamily="2" charset="-122"/>
              </a:rPr>
              <a:t>  T</a:t>
            </a:r>
            <a:r>
              <a:rPr lang="en-US" altLang="x-none" sz="3000" baseline="-25000" dirty="0">
                <a:ea typeface="宋体" panose="02010600030101010101" pitchFamily="2" charset="-122"/>
              </a:rPr>
              <a:t>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1557"/>
                                        </p:tgtEl>
                                        <p:attrNameLst>
                                          <p:attrName>style.visibility</p:attrName>
                                        </p:attrNameLst>
                                      </p:cBhvr>
                                      <p:to>
                                        <p:strVal val="visible"/>
                                      </p:to>
                                    </p:set>
                                    <p:anim calcmode="lin" valueType="num">
                                      <p:cBhvr additive="base">
                                        <p:cTn id="7" dur="500" fill="hold"/>
                                        <p:tgtEl>
                                          <p:spTgt spid="151557"/>
                                        </p:tgtEl>
                                        <p:attrNameLst>
                                          <p:attrName>ppt_x</p:attrName>
                                        </p:attrNameLst>
                                      </p:cBhvr>
                                      <p:tavLst>
                                        <p:tav tm="0">
                                          <p:val>
                                            <p:strVal val="#ppt_x"/>
                                          </p:val>
                                        </p:tav>
                                        <p:tav tm="100000">
                                          <p:val>
                                            <p:strVal val="#ppt_x"/>
                                          </p:val>
                                        </p:tav>
                                      </p:tavLst>
                                    </p:anim>
                                    <p:anim calcmode="lin" valueType="num">
                                      <p:cBhvr additive="base">
                                        <p:cTn id="8" dur="500" fill="hold"/>
                                        <p:tgtEl>
                                          <p:spTgt spid="1515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7"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52578"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52579"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83</a:t>
            </a:fld>
            <a:endParaRPr lang="zh-CN" altLang="en-US" sz="1200" b="1" i="1" dirty="0">
              <a:latin typeface="Times New Roman" panose="02020603050405020304" pitchFamily="2" charset="0"/>
              <a:ea typeface="宋体" panose="02010600030101010101" pitchFamily="2" charset="-122"/>
            </a:endParaRPr>
          </a:p>
        </p:txBody>
      </p:sp>
      <p:sp>
        <p:nvSpPr>
          <p:cNvPr id="152580" name="Rectangle 2"/>
          <p:cNvSpPr>
            <a:spLocks noGrp="1"/>
          </p:cNvSpPr>
          <p:nvPr>
            <p:ph type="body"/>
          </p:nvPr>
        </p:nvSpPr>
        <p:spPr>
          <a:xfrm>
            <a:off x="228600" y="115888"/>
            <a:ext cx="8686800" cy="5257800"/>
          </a:xfrm>
        </p:spPr>
        <p:txBody>
          <a:bodyPr wrap="square" anchor="t"/>
          <a:lstStyle/>
          <a:p>
            <a:pPr lvl="0"/>
            <a:r>
              <a:rPr lang="en-US" altLang="x-none" dirty="0">
                <a:ea typeface="宋体" panose="02010600030101010101" pitchFamily="2" charset="-122"/>
              </a:rPr>
              <a:t>Ex 6.7.1 A Lossy Decomposition</a:t>
            </a:r>
          </a:p>
          <a:p>
            <a:pPr lvl="3" indent="-228600">
              <a:buNone/>
            </a:pPr>
            <a:r>
              <a:rPr lang="en-US" altLang="x-none" dirty="0">
                <a:ea typeface="宋体" panose="02010600030101010101" pitchFamily="2" charset="-122"/>
              </a:rPr>
              <a:t>(A Loss-Join Decomposition)</a:t>
            </a:r>
          </a:p>
        </p:txBody>
      </p:sp>
      <p:grpSp>
        <p:nvGrpSpPr>
          <p:cNvPr id="152581" name="组合 152581"/>
          <p:cNvGrpSpPr/>
          <p:nvPr/>
        </p:nvGrpSpPr>
        <p:grpSpPr>
          <a:xfrm>
            <a:off x="1752600" y="1076325"/>
            <a:ext cx="2133600" cy="2446338"/>
            <a:chOff x="0" y="0"/>
            <a:chExt cx="1344" cy="1541"/>
          </a:xfrm>
        </p:grpSpPr>
        <p:sp>
          <p:nvSpPr>
            <p:cNvPr id="152582" name="Rectangle 110"/>
            <p:cNvSpPr/>
            <p:nvPr/>
          </p:nvSpPr>
          <p:spPr>
            <a:xfrm>
              <a:off x="912" y="1288"/>
              <a:ext cx="432"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c4</a:t>
              </a:r>
            </a:p>
          </p:txBody>
        </p:sp>
        <p:sp>
          <p:nvSpPr>
            <p:cNvPr id="152583" name="Rectangle 111"/>
            <p:cNvSpPr/>
            <p:nvPr/>
          </p:nvSpPr>
          <p:spPr>
            <a:xfrm>
              <a:off x="384" y="1288"/>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2584" name="Rectangle 112"/>
            <p:cNvSpPr/>
            <p:nvPr/>
          </p:nvSpPr>
          <p:spPr>
            <a:xfrm>
              <a:off x="0" y="1288"/>
              <a:ext cx="384"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a4</a:t>
              </a:r>
            </a:p>
          </p:txBody>
        </p:sp>
        <p:sp>
          <p:nvSpPr>
            <p:cNvPr id="152585" name="Rectangle 113"/>
            <p:cNvSpPr/>
            <p:nvPr/>
          </p:nvSpPr>
          <p:spPr>
            <a:xfrm>
              <a:off x="912" y="1035"/>
              <a:ext cx="432"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c3</a:t>
              </a:r>
            </a:p>
          </p:txBody>
        </p:sp>
        <p:sp>
          <p:nvSpPr>
            <p:cNvPr id="152586" name="Rectangle 114"/>
            <p:cNvSpPr/>
            <p:nvPr/>
          </p:nvSpPr>
          <p:spPr>
            <a:xfrm>
              <a:off x="384" y="1035"/>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300</a:t>
              </a:r>
            </a:p>
          </p:txBody>
        </p:sp>
        <p:sp>
          <p:nvSpPr>
            <p:cNvPr id="152587" name="Rectangle 115"/>
            <p:cNvSpPr/>
            <p:nvPr/>
          </p:nvSpPr>
          <p:spPr>
            <a:xfrm>
              <a:off x="0" y="1035"/>
              <a:ext cx="384"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a3</a:t>
              </a:r>
            </a:p>
          </p:txBody>
        </p:sp>
        <p:sp>
          <p:nvSpPr>
            <p:cNvPr id="152588" name="Rectangle 116"/>
            <p:cNvSpPr/>
            <p:nvPr/>
          </p:nvSpPr>
          <p:spPr>
            <a:xfrm>
              <a:off x="912" y="782"/>
              <a:ext cx="432"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c2</a:t>
              </a:r>
            </a:p>
          </p:txBody>
        </p:sp>
        <p:sp>
          <p:nvSpPr>
            <p:cNvPr id="152589" name="Rectangle 117"/>
            <p:cNvSpPr/>
            <p:nvPr/>
          </p:nvSpPr>
          <p:spPr>
            <a:xfrm>
              <a:off x="384" y="782"/>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2590" name="Rectangle 118"/>
            <p:cNvSpPr/>
            <p:nvPr/>
          </p:nvSpPr>
          <p:spPr>
            <a:xfrm>
              <a:off x="0" y="782"/>
              <a:ext cx="384"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a2</a:t>
              </a:r>
            </a:p>
          </p:txBody>
        </p:sp>
        <p:sp>
          <p:nvSpPr>
            <p:cNvPr id="152591" name="Rectangle 119"/>
            <p:cNvSpPr/>
            <p:nvPr/>
          </p:nvSpPr>
          <p:spPr>
            <a:xfrm>
              <a:off x="912" y="529"/>
              <a:ext cx="432"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c1</a:t>
              </a:r>
            </a:p>
          </p:txBody>
        </p:sp>
        <p:sp>
          <p:nvSpPr>
            <p:cNvPr id="152592" name="Rectangle 120"/>
            <p:cNvSpPr/>
            <p:nvPr/>
          </p:nvSpPr>
          <p:spPr>
            <a:xfrm>
              <a:off x="384" y="529"/>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100</a:t>
              </a:r>
            </a:p>
          </p:txBody>
        </p:sp>
        <p:sp>
          <p:nvSpPr>
            <p:cNvPr id="152593" name="Rectangle 121"/>
            <p:cNvSpPr/>
            <p:nvPr/>
          </p:nvSpPr>
          <p:spPr>
            <a:xfrm>
              <a:off x="0" y="529"/>
              <a:ext cx="384"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a1</a:t>
              </a:r>
            </a:p>
          </p:txBody>
        </p:sp>
        <p:sp>
          <p:nvSpPr>
            <p:cNvPr id="152594" name="Rectangle 122"/>
            <p:cNvSpPr/>
            <p:nvPr/>
          </p:nvSpPr>
          <p:spPr>
            <a:xfrm>
              <a:off x="912" y="276"/>
              <a:ext cx="432"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C</a:t>
              </a:r>
            </a:p>
          </p:txBody>
        </p:sp>
        <p:sp>
          <p:nvSpPr>
            <p:cNvPr id="152595" name="Rectangle 123"/>
            <p:cNvSpPr/>
            <p:nvPr/>
          </p:nvSpPr>
          <p:spPr>
            <a:xfrm>
              <a:off x="384" y="276"/>
              <a:ext cx="528"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152596" name="Rectangle 124"/>
            <p:cNvSpPr/>
            <p:nvPr/>
          </p:nvSpPr>
          <p:spPr>
            <a:xfrm>
              <a:off x="0" y="276"/>
              <a:ext cx="384"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a:t>
              </a:r>
            </a:p>
          </p:txBody>
        </p:sp>
        <p:sp>
          <p:nvSpPr>
            <p:cNvPr id="152597" name="Line 125"/>
            <p:cNvSpPr/>
            <p:nvPr/>
          </p:nvSpPr>
          <p:spPr>
            <a:xfrm>
              <a:off x="0" y="276"/>
              <a:ext cx="1344"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598" name="Line 126"/>
            <p:cNvSpPr/>
            <p:nvPr/>
          </p:nvSpPr>
          <p:spPr>
            <a:xfrm>
              <a:off x="0" y="529"/>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599" name="Line 127"/>
            <p:cNvSpPr/>
            <p:nvPr/>
          </p:nvSpPr>
          <p:spPr>
            <a:xfrm>
              <a:off x="0" y="782"/>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00" name="Line 128"/>
            <p:cNvSpPr/>
            <p:nvPr/>
          </p:nvSpPr>
          <p:spPr>
            <a:xfrm>
              <a:off x="0" y="1035"/>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01" name="Line 129"/>
            <p:cNvSpPr/>
            <p:nvPr/>
          </p:nvSpPr>
          <p:spPr>
            <a:xfrm>
              <a:off x="0" y="1541"/>
              <a:ext cx="1344"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02" name="Line 130"/>
            <p:cNvSpPr/>
            <p:nvPr/>
          </p:nvSpPr>
          <p:spPr>
            <a:xfrm>
              <a:off x="0" y="276"/>
              <a:ext cx="0" cy="1265"/>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03" name="Line 131"/>
            <p:cNvSpPr/>
            <p:nvPr/>
          </p:nvSpPr>
          <p:spPr>
            <a:xfrm>
              <a:off x="384" y="276"/>
              <a:ext cx="0" cy="1265"/>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04" name="Line 132"/>
            <p:cNvSpPr/>
            <p:nvPr/>
          </p:nvSpPr>
          <p:spPr>
            <a:xfrm>
              <a:off x="912" y="276"/>
              <a:ext cx="0" cy="1265"/>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05" name="Line 133"/>
            <p:cNvSpPr/>
            <p:nvPr/>
          </p:nvSpPr>
          <p:spPr>
            <a:xfrm>
              <a:off x="1344" y="276"/>
              <a:ext cx="0" cy="1265"/>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06" name="Line 134"/>
            <p:cNvSpPr/>
            <p:nvPr/>
          </p:nvSpPr>
          <p:spPr>
            <a:xfrm>
              <a:off x="0" y="1288"/>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07" name="Text Box 135"/>
            <p:cNvSpPr txBox="1"/>
            <p:nvPr/>
          </p:nvSpPr>
          <p:spPr>
            <a:xfrm>
              <a:off x="48" y="0"/>
              <a:ext cx="1248" cy="230"/>
            </a:xfrm>
            <a:prstGeom prst="rect">
              <a:avLst/>
            </a:prstGeom>
            <a:noFill/>
            <a:ln w="9525">
              <a:noFill/>
            </a:ln>
          </p:spPr>
          <p:txBody>
            <a:bodyPr tIns="0" bIns="0" anchor="t">
              <a:spAutoFit/>
            </a:bodyPr>
            <a:lstStyle/>
            <a:p>
              <a:pPr lvl="0" algn="ctr">
                <a:spcBef>
                  <a:spcPct val="50000"/>
                </a:spcBef>
              </a:pPr>
              <a:r>
                <a:rPr lang="en-US" altLang="x-none" b="1" dirty="0">
                  <a:latin typeface="Times New Roman" panose="02020603050405020304" pitchFamily="2" charset="0"/>
                  <a:ea typeface="宋体" panose="02010600030101010101" pitchFamily="2" charset="-122"/>
                </a:rPr>
                <a:t>ABC</a:t>
              </a:r>
            </a:p>
          </p:txBody>
        </p:sp>
      </p:grpSp>
      <p:grpSp>
        <p:nvGrpSpPr>
          <p:cNvPr id="152608" name="组合 152608"/>
          <p:cNvGrpSpPr/>
          <p:nvPr/>
        </p:nvGrpSpPr>
        <p:grpSpPr>
          <a:xfrm>
            <a:off x="1143000" y="3590925"/>
            <a:ext cx="3505200" cy="2843213"/>
            <a:chOff x="0" y="0"/>
            <a:chExt cx="2208" cy="1791"/>
          </a:xfrm>
        </p:grpSpPr>
        <p:sp>
          <p:nvSpPr>
            <p:cNvPr id="152609" name="Rectangle 137"/>
            <p:cNvSpPr/>
            <p:nvPr/>
          </p:nvSpPr>
          <p:spPr>
            <a:xfrm>
              <a:off x="384" y="1538"/>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2610" name="Rectangle 138"/>
            <p:cNvSpPr/>
            <p:nvPr/>
          </p:nvSpPr>
          <p:spPr>
            <a:xfrm>
              <a:off x="0" y="1538"/>
              <a:ext cx="384"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a4</a:t>
              </a:r>
            </a:p>
          </p:txBody>
        </p:sp>
        <p:sp>
          <p:nvSpPr>
            <p:cNvPr id="152611" name="Rectangle 139"/>
            <p:cNvSpPr/>
            <p:nvPr/>
          </p:nvSpPr>
          <p:spPr>
            <a:xfrm>
              <a:off x="384" y="1285"/>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300</a:t>
              </a:r>
            </a:p>
          </p:txBody>
        </p:sp>
        <p:sp>
          <p:nvSpPr>
            <p:cNvPr id="152612" name="Rectangle 140"/>
            <p:cNvSpPr/>
            <p:nvPr/>
          </p:nvSpPr>
          <p:spPr>
            <a:xfrm>
              <a:off x="0" y="1285"/>
              <a:ext cx="384"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a3</a:t>
              </a:r>
            </a:p>
          </p:txBody>
        </p:sp>
        <p:sp>
          <p:nvSpPr>
            <p:cNvPr id="152613" name="Rectangle 141"/>
            <p:cNvSpPr/>
            <p:nvPr/>
          </p:nvSpPr>
          <p:spPr>
            <a:xfrm>
              <a:off x="384" y="1032"/>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2614" name="Rectangle 142"/>
            <p:cNvSpPr/>
            <p:nvPr/>
          </p:nvSpPr>
          <p:spPr>
            <a:xfrm>
              <a:off x="0" y="1032"/>
              <a:ext cx="384"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a2</a:t>
              </a:r>
            </a:p>
          </p:txBody>
        </p:sp>
        <p:sp>
          <p:nvSpPr>
            <p:cNvPr id="152615" name="Rectangle 143"/>
            <p:cNvSpPr/>
            <p:nvPr/>
          </p:nvSpPr>
          <p:spPr>
            <a:xfrm>
              <a:off x="384" y="779"/>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100</a:t>
              </a:r>
            </a:p>
          </p:txBody>
        </p:sp>
        <p:sp>
          <p:nvSpPr>
            <p:cNvPr id="152616" name="Rectangle 144"/>
            <p:cNvSpPr/>
            <p:nvPr/>
          </p:nvSpPr>
          <p:spPr>
            <a:xfrm>
              <a:off x="0" y="779"/>
              <a:ext cx="384"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a1</a:t>
              </a:r>
            </a:p>
          </p:txBody>
        </p:sp>
        <p:sp>
          <p:nvSpPr>
            <p:cNvPr id="152617" name="Rectangle 145"/>
            <p:cNvSpPr/>
            <p:nvPr/>
          </p:nvSpPr>
          <p:spPr>
            <a:xfrm>
              <a:off x="384" y="526"/>
              <a:ext cx="528"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152618" name="Rectangle 146"/>
            <p:cNvSpPr/>
            <p:nvPr/>
          </p:nvSpPr>
          <p:spPr>
            <a:xfrm>
              <a:off x="0" y="526"/>
              <a:ext cx="384"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a:t>
              </a:r>
            </a:p>
          </p:txBody>
        </p:sp>
        <p:sp>
          <p:nvSpPr>
            <p:cNvPr id="152619" name="Line 147"/>
            <p:cNvSpPr/>
            <p:nvPr/>
          </p:nvSpPr>
          <p:spPr>
            <a:xfrm>
              <a:off x="0" y="526"/>
              <a:ext cx="912"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20" name="Line 148"/>
            <p:cNvSpPr/>
            <p:nvPr/>
          </p:nvSpPr>
          <p:spPr>
            <a:xfrm>
              <a:off x="0" y="779"/>
              <a:ext cx="912"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21" name="Line 149"/>
            <p:cNvSpPr/>
            <p:nvPr/>
          </p:nvSpPr>
          <p:spPr>
            <a:xfrm>
              <a:off x="0" y="1032"/>
              <a:ext cx="912"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22" name="Line 150"/>
            <p:cNvSpPr/>
            <p:nvPr/>
          </p:nvSpPr>
          <p:spPr>
            <a:xfrm>
              <a:off x="0" y="1285"/>
              <a:ext cx="912"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23" name="Line 151"/>
            <p:cNvSpPr/>
            <p:nvPr/>
          </p:nvSpPr>
          <p:spPr>
            <a:xfrm>
              <a:off x="0" y="1791"/>
              <a:ext cx="912"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24" name="Line 152"/>
            <p:cNvSpPr/>
            <p:nvPr/>
          </p:nvSpPr>
          <p:spPr>
            <a:xfrm>
              <a:off x="0" y="526"/>
              <a:ext cx="0" cy="1265"/>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25" name="Line 153"/>
            <p:cNvSpPr/>
            <p:nvPr/>
          </p:nvSpPr>
          <p:spPr>
            <a:xfrm>
              <a:off x="384" y="526"/>
              <a:ext cx="0" cy="1265"/>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26" name="Line 154"/>
            <p:cNvSpPr/>
            <p:nvPr/>
          </p:nvSpPr>
          <p:spPr>
            <a:xfrm>
              <a:off x="912" y="526"/>
              <a:ext cx="0" cy="1265"/>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27" name="Line 155"/>
            <p:cNvSpPr/>
            <p:nvPr/>
          </p:nvSpPr>
          <p:spPr>
            <a:xfrm>
              <a:off x="0" y="1538"/>
              <a:ext cx="912"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28" name="Text Box 156"/>
            <p:cNvSpPr txBox="1"/>
            <p:nvPr/>
          </p:nvSpPr>
          <p:spPr>
            <a:xfrm>
              <a:off x="48" y="240"/>
              <a:ext cx="624" cy="230"/>
            </a:xfrm>
            <a:prstGeom prst="rect">
              <a:avLst/>
            </a:prstGeom>
            <a:noFill/>
            <a:ln w="9525">
              <a:noFill/>
            </a:ln>
          </p:spPr>
          <p:txBody>
            <a:bodyPr tIns="0" bIns="0" anchor="t">
              <a:spAutoFit/>
            </a:bodyPr>
            <a:lstStyle/>
            <a:p>
              <a:pPr lvl="0" algn="ctr">
                <a:spcBef>
                  <a:spcPct val="50000"/>
                </a:spcBef>
              </a:pPr>
              <a:r>
                <a:rPr lang="en-US" altLang="x-none" b="1" dirty="0">
                  <a:latin typeface="Times New Roman" panose="02020603050405020304" pitchFamily="2" charset="0"/>
                  <a:ea typeface="宋体" panose="02010600030101010101" pitchFamily="2" charset="-122"/>
                </a:rPr>
                <a:t>AB</a:t>
              </a:r>
            </a:p>
          </p:txBody>
        </p:sp>
        <p:sp>
          <p:nvSpPr>
            <p:cNvPr id="152629" name="Rectangle 157"/>
            <p:cNvSpPr/>
            <p:nvPr/>
          </p:nvSpPr>
          <p:spPr>
            <a:xfrm>
              <a:off x="1776" y="1538"/>
              <a:ext cx="432"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c4</a:t>
              </a:r>
            </a:p>
          </p:txBody>
        </p:sp>
        <p:sp>
          <p:nvSpPr>
            <p:cNvPr id="152630" name="Rectangle 158"/>
            <p:cNvSpPr/>
            <p:nvPr/>
          </p:nvSpPr>
          <p:spPr>
            <a:xfrm>
              <a:off x="1248" y="1538"/>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2631" name="Rectangle 159"/>
            <p:cNvSpPr/>
            <p:nvPr/>
          </p:nvSpPr>
          <p:spPr>
            <a:xfrm>
              <a:off x="1776" y="1285"/>
              <a:ext cx="432"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c3</a:t>
              </a:r>
            </a:p>
          </p:txBody>
        </p:sp>
        <p:sp>
          <p:nvSpPr>
            <p:cNvPr id="152632" name="Rectangle 160"/>
            <p:cNvSpPr/>
            <p:nvPr/>
          </p:nvSpPr>
          <p:spPr>
            <a:xfrm>
              <a:off x="1248" y="1285"/>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300</a:t>
              </a:r>
            </a:p>
          </p:txBody>
        </p:sp>
        <p:sp>
          <p:nvSpPr>
            <p:cNvPr id="152633" name="Rectangle 161"/>
            <p:cNvSpPr/>
            <p:nvPr/>
          </p:nvSpPr>
          <p:spPr>
            <a:xfrm>
              <a:off x="1776" y="1032"/>
              <a:ext cx="432"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c2</a:t>
              </a:r>
            </a:p>
          </p:txBody>
        </p:sp>
        <p:sp>
          <p:nvSpPr>
            <p:cNvPr id="152634" name="Rectangle 162"/>
            <p:cNvSpPr/>
            <p:nvPr/>
          </p:nvSpPr>
          <p:spPr>
            <a:xfrm>
              <a:off x="1248" y="1032"/>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2635" name="Rectangle 163"/>
            <p:cNvSpPr/>
            <p:nvPr/>
          </p:nvSpPr>
          <p:spPr>
            <a:xfrm>
              <a:off x="1776" y="779"/>
              <a:ext cx="432"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c1</a:t>
              </a:r>
            </a:p>
          </p:txBody>
        </p:sp>
        <p:sp>
          <p:nvSpPr>
            <p:cNvPr id="152636" name="Rectangle 164"/>
            <p:cNvSpPr/>
            <p:nvPr/>
          </p:nvSpPr>
          <p:spPr>
            <a:xfrm>
              <a:off x="1248" y="779"/>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100</a:t>
              </a:r>
            </a:p>
          </p:txBody>
        </p:sp>
        <p:sp>
          <p:nvSpPr>
            <p:cNvPr id="152637" name="Rectangle 165"/>
            <p:cNvSpPr/>
            <p:nvPr/>
          </p:nvSpPr>
          <p:spPr>
            <a:xfrm>
              <a:off x="1776" y="526"/>
              <a:ext cx="432"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C</a:t>
              </a:r>
            </a:p>
          </p:txBody>
        </p:sp>
        <p:sp>
          <p:nvSpPr>
            <p:cNvPr id="152638" name="Rectangle 166"/>
            <p:cNvSpPr/>
            <p:nvPr/>
          </p:nvSpPr>
          <p:spPr>
            <a:xfrm>
              <a:off x="1248" y="526"/>
              <a:ext cx="528"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152639" name="Line 167"/>
            <p:cNvSpPr/>
            <p:nvPr/>
          </p:nvSpPr>
          <p:spPr>
            <a:xfrm>
              <a:off x="1248" y="526"/>
              <a:ext cx="960"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40" name="Line 168"/>
            <p:cNvSpPr/>
            <p:nvPr/>
          </p:nvSpPr>
          <p:spPr>
            <a:xfrm>
              <a:off x="1248" y="779"/>
              <a:ext cx="960"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41" name="Line 169"/>
            <p:cNvSpPr/>
            <p:nvPr/>
          </p:nvSpPr>
          <p:spPr>
            <a:xfrm>
              <a:off x="1248" y="1032"/>
              <a:ext cx="960"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42" name="Line 170"/>
            <p:cNvSpPr/>
            <p:nvPr/>
          </p:nvSpPr>
          <p:spPr>
            <a:xfrm>
              <a:off x="1248" y="1285"/>
              <a:ext cx="960"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43" name="Line 171"/>
            <p:cNvSpPr/>
            <p:nvPr/>
          </p:nvSpPr>
          <p:spPr>
            <a:xfrm>
              <a:off x="1248" y="1791"/>
              <a:ext cx="960"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44" name="Line 172"/>
            <p:cNvSpPr/>
            <p:nvPr/>
          </p:nvSpPr>
          <p:spPr>
            <a:xfrm>
              <a:off x="1248" y="526"/>
              <a:ext cx="0" cy="1265"/>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45" name="Line 173"/>
            <p:cNvSpPr/>
            <p:nvPr/>
          </p:nvSpPr>
          <p:spPr>
            <a:xfrm>
              <a:off x="1776" y="526"/>
              <a:ext cx="0" cy="1265"/>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46" name="Line 174"/>
            <p:cNvSpPr/>
            <p:nvPr/>
          </p:nvSpPr>
          <p:spPr>
            <a:xfrm>
              <a:off x="2208" y="526"/>
              <a:ext cx="0" cy="1265"/>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47" name="Line 175"/>
            <p:cNvSpPr/>
            <p:nvPr/>
          </p:nvSpPr>
          <p:spPr>
            <a:xfrm>
              <a:off x="1248" y="1538"/>
              <a:ext cx="960"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48" name="Text Box 176"/>
            <p:cNvSpPr txBox="1"/>
            <p:nvPr/>
          </p:nvSpPr>
          <p:spPr>
            <a:xfrm>
              <a:off x="1296" y="240"/>
              <a:ext cx="624" cy="230"/>
            </a:xfrm>
            <a:prstGeom prst="rect">
              <a:avLst/>
            </a:prstGeom>
            <a:noFill/>
            <a:ln w="9525">
              <a:noFill/>
            </a:ln>
          </p:spPr>
          <p:txBody>
            <a:bodyPr tIns="0" bIns="0" anchor="t">
              <a:spAutoFit/>
            </a:bodyPr>
            <a:lstStyle/>
            <a:p>
              <a:pPr lvl="0" algn="ctr">
                <a:spcBef>
                  <a:spcPct val="50000"/>
                </a:spcBef>
              </a:pPr>
              <a:r>
                <a:rPr lang="en-US" altLang="x-none" b="1" dirty="0">
                  <a:latin typeface="Times New Roman" panose="02020603050405020304" pitchFamily="2" charset="0"/>
                  <a:ea typeface="宋体" panose="02010600030101010101" pitchFamily="2" charset="-122"/>
                </a:rPr>
                <a:t>BC</a:t>
              </a:r>
            </a:p>
          </p:txBody>
        </p:sp>
        <p:sp>
          <p:nvSpPr>
            <p:cNvPr id="152649" name="AutoShape 177"/>
            <p:cNvSpPr/>
            <p:nvPr/>
          </p:nvSpPr>
          <p:spPr>
            <a:xfrm>
              <a:off x="912" y="0"/>
              <a:ext cx="240" cy="240"/>
            </a:xfrm>
            <a:prstGeom prst="downArrow">
              <a:avLst>
                <a:gd name="adj1" fmla="val 50000"/>
                <a:gd name="adj2" fmla="val 25000"/>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algn="ctr"/>
              <a:endParaRPr lang="zh-CN" altLang="en-US" dirty="0">
                <a:latin typeface="Times New Roman" panose="02020603050405020304" pitchFamily="2" charset="0"/>
                <a:ea typeface="宋体" panose="02010600030101010101" pitchFamily="2" charset="-122"/>
              </a:endParaRPr>
            </a:p>
          </p:txBody>
        </p:sp>
      </p:grpSp>
      <p:grpSp>
        <p:nvGrpSpPr>
          <p:cNvPr id="152650" name="组合 152650"/>
          <p:cNvGrpSpPr/>
          <p:nvPr/>
        </p:nvGrpSpPr>
        <p:grpSpPr>
          <a:xfrm>
            <a:off x="4953000" y="1524000"/>
            <a:ext cx="2971800" cy="4419600"/>
            <a:chOff x="0" y="0"/>
            <a:chExt cx="1872" cy="2784"/>
          </a:xfrm>
        </p:grpSpPr>
        <p:sp>
          <p:nvSpPr>
            <p:cNvPr id="152651" name="AutoShape 179"/>
            <p:cNvSpPr/>
            <p:nvPr/>
          </p:nvSpPr>
          <p:spPr>
            <a:xfrm>
              <a:off x="0" y="2064"/>
              <a:ext cx="1296" cy="720"/>
            </a:xfrm>
            <a:custGeom>
              <a:avLst/>
              <a:gdLst/>
              <a:ahLst/>
              <a:cxnLst>
                <a:cxn ang="17694720">
                  <a:pos x="0" y="0"/>
                </a:cxn>
                <a:cxn ang="11796480">
                  <a:pos x="0" y="0"/>
                </a:cxn>
                <a:cxn ang="11796480">
                  <a:pos x="0" y="0"/>
                </a:cxn>
                <a:cxn ang="5898240">
                  <a:pos x="0" y="0"/>
                </a:cxn>
                <a:cxn ang="0">
                  <a:pos x="0" y="0"/>
                </a:cxn>
                <a:cxn ang="0">
                  <a:pos x="0" y="0"/>
                </a:cxn>
              </a:cxnLst>
              <a:rect l="0" t="0" r="0" b="0"/>
              <a:pathLst>
                <a:path w="21600" h="21600">
                  <a:moveTo>
                    <a:pt x="19383" y="0"/>
                  </a:moveTo>
                  <a:lnTo>
                    <a:pt x="17166" y="7200"/>
                  </a:lnTo>
                  <a:lnTo>
                    <a:pt x="18683" y="7200"/>
                  </a:lnTo>
                  <a:lnTo>
                    <a:pt x="18683" y="20094"/>
                  </a:lnTo>
                  <a:lnTo>
                    <a:pt x="0" y="20094"/>
                  </a:lnTo>
                  <a:lnTo>
                    <a:pt x="0" y="21600"/>
                  </a:lnTo>
                  <a:lnTo>
                    <a:pt x="20083" y="21600"/>
                  </a:lnTo>
                  <a:lnTo>
                    <a:pt x="20083" y="7200"/>
                  </a:lnTo>
                  <a:lnTo>
                    <a:pt x="21600" y="7200"/>
                  </a:lnTo>
                  <a:lnTo>
                    <a:pt x="19383" y="0"/>
                  </a:lnTo>
                  <a:close/>
                </a:path>
              </a:pathLst>
            </a:custGeom>
            <a:solidFill>
              <a:schemeClr val="accent1"/>
            </a:solidFill>
            <a:ln w="9525" cap="flat" cmpd="sng">
              <a:solidFill>
                <a:schemeClr val="tx1"/>
              </a:solidFill>
              <a:prstDash val="solid"/>
              <a:round/>
              <a:headEnd type="none" w="med" len="med"/>
              <a:tailEnd type="none" w="med" len="med"/>
            </a:ln>
          </p:spPr>
          <p:txBody>
            <a:bodyPr/>
            <a:lstStyle/>
            <a:p>
              <a:endParaRPr lang="zh-CN" altLang="en-US"/>
            </a:p>
          </p:txBody>
        </p:sp>
        <p:sp>
          <p:nvSpPr>
            <p:cNvPr id="152652" name="Rectangle 180"/>
            <p:cNvSpPr/>
            <p:nvPr/>
          </p:nvSpPr>
          <p:spPr>
            <a:xfrm>
              <a:off x="1440" y="1288"/>
              <a:ext cx="432"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c3</a:t>
              </a:r>
            </a:p>
          </p:txBody>
        </p:sp>
        <p:sp>
          <p:nvSpPr>
            <p:cNvPr id="152653" name="Rectangle 181"/>
            <p:cNvSpPr/>
            <p:nvPr/>
          </p:nvSpPr>
          <p:spPr>
            <a:xfrm>
              <a:off x="912" y="1288"/>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300</a:t>
              </a:r>
            </a:p>
          </p:txBody>
        </p:sp>
        <p:sp>
          <p:nvSpPr>
            <p:cNvPr id="152654" name="Rectangle 182"/>
            <p:cNvSpPr/>
            <p:nvPr/>
          </p:nvSpPr>
          <p:spPr>
            <a:xfrm>
              <a:off x="528" y="1288"/>
              <a:ext cx="384"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a3</a:t>
              </a:r>
            </a:p>
          </p:txBody>
        </p:sp>
        <p:sp>
          <p:nvSpPr>
            <p:cNvPr id="152655" name="Rectangle 183"/>
            <p:cNvSpPr/>
            <p:nvPr/>
          </p:nvSpPr>
          <p:spPr>
            <a:xfrm>
              <a:off x="1440" y="1794"/>
              <a:ext cx="432"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c4</a:t>
              </a:r>
            </a:p>
          </p:txBody>
        </p:sp>
        <p:sp>
          <p:nvSpPr>
            <p:cNvPr id="152656" name="Rectangle 184"/>
            <p:cNvSpPr/>
            <p:nvPr/>
          </p:nvSpPr>
          <p:spPr>
            <a:xfrm>
              <a:off x="912" y="1794"/>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2657" name="Rectangle 185"/>
            <p:cNvSpPr/>
            <p:nvPr/>
          </p:nvSpPr>
          <p:spPr>
            <a:xfrm>
              <a:off x="528" y="1794"/>
              <a:ext cx="384"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a4</a:t>
              </a:r>
            </a:p>
          </p:txBody>
        </p:sp>
        <p:sp>
          <p:nvSpPr>
            <p:cNvPr id="152658" name="Rectangle 186"/>
            <p:cNvSpPr/>
            <p:nvPr/>
          </p:nvSpPr>
          <p:spPr>
            <a:xfrm>
              <a:off x="1440" y="1541"/>
              <a:ext cx="432"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c2</a:t>
              </a:r>
            </a:p>
          </p:txBody>
        </p:sp>
        <p:sp>
          <p:nvSpPr>
            <p:cNvPr id="152659" name="Rectangle 187"/>
            <p:cNvSpPr/>
            <p:nvPr/>
          </p:nvSpPr>
          <p:spPr>
            <a:xfrm>
              <a:off x="912" y="1541"/>
              <a:ext cx="528"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2660" name="Rectangle 188"/>
            <p:cNvSpPr/>
            <p:nvPr/>
          </p:nvSpPr>
          <p:spPr>
            <a:xfrm>
              <a:off x="528" y="1541"/>
              <a:ext cx="384"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a4</a:t>
              </a:r>
            </a:p>
          </p:txBody>
        </p:sp>
        <p:sp>
          <p:nvSpPr>
            <p:cNvPr id="152661" name="Rectangle 189"/>
            <p:cNvSpPr/>
            <p:nvPr/>
          </p:nvSpPr>
          <p:spPr>
            <a:xfrm>
              <a:off x="1440" y="1035"/>
              <a:ext cx="432"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c4</a:t>
              </a:r>
            </a:p>
          </p:txBody>
        </p:sp>
        <p:sp>
          <p:nvSpPr>
            <p:cNvPr id="152662" name="Rectangle 190"/>
            <p:cNvSpPr/>
            <p:nvPr/>
          </p:nvSpPr>
          <p:spPr>
            <a:xfrm>
              <a:off x="912" y="1035"/>
              <a:ext cx="528"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2663" name="Rectangle 191"/>
            <p:cNvSpPr/>
            <p:nvPr/>
          </p:nvSpPr>
          <p:spPr>
            <a:xfrm>
              <a:off x="528" y="1035"/>
              <a:ext cx="384"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a2</a:t>
              </a:r>
            </a:p>
          </p:txBody>
        </p:sp>
        <p:sp>
          <p:nvSpPr>
            <p:cNvPr id="152664" name="Rectangle 192"/>
            <p:cNvSpPr/>
            <p:nvPr/>
          </p:nvSpPr>
          <p:spPr>
            <a:xfrm>
              <a:off x="1440" y="782"/>
              <a:ext cx="432"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c2</a:t>
              </a:r>
            </a:p>
          </p:txBody>
        </p:sp>
        <p:sp>
          <p:nvSpPr>
            <p:cNvPr id="152665" name="Rectangle 193"/>
            <p:cNvSpPr/>
            <p:nvPr/>
          </p:nvSpPr>
          <p:spPr>
            <a:xfrm>
              <a:off x="912" y="782"/>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2666" name="Rectangle 194"/>
            <p:cNvSpPr/>
            <p:nvPr/>
          </p:nvSpPr>
          <p:spPr>
            <a:xfrm>
              <a:off x="528" y="782"/>
              <a:ext cx="384"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a2</a:t>
              </a:r>
            </a:p>
          </p:txBody>
        </p:sp>
        <p:sp>
          <p:nvSpPr>
            <p:cNvPr id="152667" name="Rectangle 195"/>
            <p:cNvSpPr/>
            <p:nvPr/>
          </p:nvSpPr>
          <p:spPr>
            <a:xfrm>
              <a:off x="1440" y="529"/>
              <a:ext cx="432"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c1</a:t>
              </a:r>
            </a:p>
          </p:txBody>
        </p:sp>
        <p:sp>
          <p:nvSpPr>
            <p:cNvPr id="152668" name="Rectangle 196"/>
            <p:cNvSpPr/>
            <p:nvPr/>
          </p:nvSpPr>
          <p:spPr>
            <a:xfrm>
              <a:off x="912" y="529"/>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100</a:t>
              </a:r>
            </a:p>
          </p:txBody>
        </p:sp>
        <p:sp>
          <p:nvSpPr>
            <p:cNvPr id="152669" name="Rectangle 197"/>
            <p:cNvSpPr/>
            <p:nvPr/>
          </p:nvSpPr>
          <p:spPr>
            <a:xfrm>
              <a:off x="528" y="529"/>
              <a:ext cx="384"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a1</a:t>
              </a:r>
            </a:p>
          </p:txBody>
        </p:sp>
        <p:sp>
          <p:nvSpPr>
            <p:cNvPr id="152670" name="Rectangle 198"/>
            <p:cNvSpPr/>
            <p:nvPr/>
          </p:nvSpPr>
          <p:spPr>
            <a:xfrm>
              <a:off x="1440" y="276"/>
              <a:ext cx="432"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C</a:t>
              </a:r>
            </a:p>
          </p:txBody>
        </p:sp>
        <p:sp>
          <p:nvSpPr>
            <p:cNvPr id="152671" name="Rectangle 199"/>
            <p:cNvSpPr/>
            <p:nvPr/>
          </p:nvSpPr>
          <p:spPr>
            <a:xfrm>
              <a:off x="912" y="276"/>
              <a:ext cx="528"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152672" name="Rectangle 200"/>
            <p:cNvSpPr/>
            <p:nvPr/>
          </p:nvSpPr>
          <p:spPr>
            <a:xfrm>
              <a:off x="528" y="276"/>
              <a:ext cx="384"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a:t>
              </a:r>
            </a:p>
          </p:txBody>
        </p:sp>
        <p:sp>
          <p:nvSpPr>
            <p:cNvPr id="152673" name="Line 201"/>
            <p:cNvSpPr/>
            <p:nvPr/>
          </p:nvSpPr>
          <p:spPr>
            <a:xfrm>
              <a:off x="528" y="276"/>
              <a:ext cx="1344"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74" name="Line 202"/>
            <p:cNvSpPr/>
            <p:nvPr/>
          </p:nvSpPr>
          <p:spPr>
            <a:xfrm>
              <a:off x="528" y="529"/>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75" name="Line 203"/>
            <p:cNvSpPr/>
            <p:nvPr/>
          </p:nvSpPr>
          <p:spPr>
            <a:xfrm>
              <a:off x="528" y="782"/>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76" name="Line 204"/>
            <p:cNvSpPr/>
            <p:nvPr/>
          </p:nvSpPr>
          <p:spPr>
            <a:xfrm>
              <a:off x="528" y="1035"/>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77" name="Line 205"/>
            <p:cNvSpPr/>
            <p:nvPr/>
          </p:nvSpPr>
          <p:spPr>
            <a:xfrm>
              <a:off x="528" y="2047"/>
              <a:ext cx="1344"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78" name="Line 206"/>
            <p:cNvSpPr/>
            <p:nvPr/>
          </p:nvSpPr>
          <p:spPr>
            <a:xfrm>
              <a:off x="528" y="276"/>
              <a:ext cx="0" cy="1771"/>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79" name="Line 207"/>
            <p:cNvSpPr/>
            <p:nvPr/>
          </p:nvSpPr>
          <p:spPr>
            <a:xfrm>
              <a:off x="912" y="276"/>
              <a:ext cx="0" cy="1771"/>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80" name="Line 208"/>
            <p:cNvSpPr/>
            <p:nvPr/>
          </p:nvSpPr>
          <p:spPr>
            <a:xfrm>
              <a:off x="1440" y="276"/>
              <a:ext cx="0" cy="1771"/>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81" name="Line 209"/>
            <p:cNvSpPr/>
            <p:nvPr/>
          </p:nvSpPr>
          <p:spPr>
            <a:xfrm>
              <a:off x="1872" y="276"/>
              <a:ext cx="0" cy="1771"/>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82" name="Line 210"/>
            <p:cNvSpPr/>
            <p:nvPr/>
          </p:nvSpPr>
          <p:spPr>
            <a:xfrm>
              <a:off x="528" y="1288"/>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83" name="Line 211"/>
            <p:cNvSpPr/>
            <p:nvPr/>
          </p:nvSpPr>
          <p:spPr>
            <a:xfrm>
              <a:off x="528" y="1794"/>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84" name="Line 212"/>
            <p:cNvSpPr/>
            <p:nvPr/>
          </p:nvSpPr>
          <p:spPr>
            <a:xfrm>
              <a:off x="528" y="1541"/>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85" name="Text Box 213"/>
            <p:cNvSpPr txBox="1"/>
            <p:nvPr/>
          </p:nvSpPr>
          <p:spPr>
            <a:xfrm>
              <a:off x="576" y="0"/>
              <a:ext cx="1248" cy="230"/>
            </a:xfrm>
            <a:prstGeom prst="rect">
              <a:avLst/>
            </a:prstGeom>
            <a:noFill/>
            <a:ln w="9525">
              <a:noFill/>
            </a:ln>
          </p:spPr>
          <p:txBody>
            <a:bodyPr tIns="0" bIns="0" anchor="t">
              <a:spAutoFit/>
            </a:bodyPr>
            <a:lstStyle/>
            <a:p>
              <a:pPr lvl="0" algn="ctr">
                <a:spcBef>
                  <a:spcPct val="50000"/>
                </a:spcBef>
              </a:pPr>
              <a:r>
                <a:rPr lang="en-US" altLang="x-none" b="1" dirty="0">
                  <a:latin typeface="Times New Roman" panose="02020603050405020304" pitchFamily="2" charset="0"/>
                  <a:ea typeface="宋体" panose="02010600030101010101" pitchFamily="2" charset="-122"/>
                </a:rPr>
                <a:t>AB  </a:t>
              </a:r>
              <a:r>
                <a:rPr lang="en-US" altLang="x-none" b="1" dirty="0">
                  <a:latin typeface="Arial" panose="020B0604020202020204" pitchFamily="34" charset="0"/>
                  <a:ea typeface="宋体" panose="02010600030101010101" pitchFamily="2" charset="-122"/>
                  <a:sym typeface="Symbol" panose="05050102010706020507" pitchFamily="2" charset="2"/>
                </a:rPr>
                <a:t>join</a:t>
              </a:r>
              <a:r>
                <a:rPr lang="en-US" altLang="x-none" b="1" dirty="0">
                  <a:latin typeface="Times New Roman" panose="02020603050405020304" pitchFamily="2" charset="0"/>
                  <a:ea typeface="宋体" panose="02010600030101010101" pitchFamily="2" charset="-122"/>
                </a:rPr>
                <a:t>  BC</a:t>
              </a:r>
            </a:p>
          </p:txBody>
        </p:sp>
      </p:gr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53602"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53603"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84</a:t>
            </a:fld>
            <a:endParaRPr lang="zh-CN" altLang="en-US" sz="1200" b="1" i="1" dirty="0">
              <a:latin typeface="Times New Roman" panose="02020603050405020304" pitchFamily="2" charset="0"/>
              <a:ea typeface="宋体" panose="02010600030101010101" pitchFamily="2" charset="-122"/>
            </a:endParaRPr>
          </a:p>
        </p:txBody>
      </p:sp>
      <p:sp>
        <p:nvSpPr>
          <p:cNvPr id="153604" name="Rectangle 2"/>
          <p:cNvSpPr>
            <a:spLocks noGrp="1"/>
          </p:cNvSpPr>
          <p:nvPr>
            <p:ph type="body"/>
          </p:nvPr>
        </p:nvSpPr>
        <p:spPr>
          <a:xfrm>
            <a:off x="228600" y="115888"/>
            <a:ext cx="8686800" cy="5257800"/>
          </a:xfrm>
        </p:spPr>
        <p:txBody>
          <a:bodyPr wrap="square" anchor="t"/>
          <a:lstStyle/>
          <a:p>
            <a:pPr lvl="0" eaLnBrk="1" hangingPunct="1"/>
            <a:r>
              <a:rPr lang="en-US" altLang="x-none" dirty="0">
                <a:ea typeface="宋体" panose="02010600030101010101" pitchFamily="2" charset="-122"/>
              </a:rPr>
              <a:t>Ex 6.7.2  A Different Content for Table ABC</a:t>
            </a:r>
          </a:p>
        </p:txBody>
      </p:sp>
      <p:grpSp>
        <p:nvGrpSpPr>
          <p:cNvPr id="153605" name="组合 153605"/>
          <p:cNvGrpSpPr/>
          <p:nvPr/>
        </p:nvGrpSpPr>
        <p:grpSpPr>
          <a:xfrm>
            <a:off x="1524000" y="838200"/>
            <a:ext cx="2133600" cy="2286000"/>
            <a:chOff x="0" y="0"/>
            <a:chExt cx="1344" cy="1440"/>
          </a:xfrm>
        </p:grpSpPr>
        <p:sp>
          <p:nvSpPr>
            <p:cNvPr id="153606" name="Rectangle 4"/>
            <p:cNvSpPr/>
            <p:nvPr/>
          </p:nvSpPr>
          <p:spPr>
            <a:xfrm>
              <a:off x="912" y="1145"/>
              <a:ext cx="432" cy="295"/>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c3</a:t>
              </a:r>
            </a:p>
          </p:txBody>
        </p:sp>
        <p:sp>
          <p:nvSpPr>
            <p:cNvPr id="153607" name="Rectangle 5"/>
            <p:cNvSpPr/>
            <p:nvPr/>
          </p:nvSpPr>
          <p:spPr>
            <a:xfrm>
              <a:off x="384" y="1145"/>
              <a:ext cx="528" cy="295"/>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300</a:t>
              </a:r>
            </a:p>
          </p:txBody>
        </p:sp>
        <p:sp>
          <p:nvSpPr>
            <p:cNvPr id="153608" name="Rectangle 6"/>
            <p:cNvSpPr/>
            <p:nvPr/>
          </p:nvSpPr>
          <p:spPr>
            <a:xfrm>
              <a:off x="0" y="1145"/>
              <a:ext cx="384" cy="295"/>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a3</a:t>
              </a:r>
            </a:p>
          </p:txBody>
        </p:sp>
        <p:sp>
          <p:nvSpPr>
            <p:cNvPr id="153609" name="Rectangle 7"/>
            <p:cNvSpPr/>
            <p:nvPr/>
          </p:nvSpPr>
          <p:spPr>
            <a:xfrm>
              <a:off x="912" y="851"/>
              <a:ext cx="432" cy="294"/>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c2</a:t>
              </a:r>
            </a:p>
          </p:txBody>
        </p:sp>
        <p:sp>
          <p:nvSpPr>
            <p:cNvPr id="153610" name="Rectangle 8"/>
            <p:cNvSpPr/>
            <p:nvPr/>
          </p:nvSpPr>
          <p:spPr>
            <a:xfrm>
              <a:off x="384" y="851"/>
              <a:ext cx="528" cy="294"/>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3611" name="Rectangle 9"/>
            <p:cNvSpPr/>
            <p:nvPr/>
          </p:nvSpPr>
          <p:spPr>
            <a:xfrm>
              <a:off x="0" y="851"/>
              <a:ext cx="384" cy="294"/>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a2</a:t>
              </a:r>
            </a:p>
          </p:txBody>
        </p:sp>
        <p:sp>
          <p:nvSpPr>
            <p:cNvPr id="153612" name="Rectangle 10"/>
            <p:cNvSpPr/>
            <p:nvPr/>
          </p:nvSpPr>
          <p:spPr>
            <a:xfrm>
              <a:off x="912" y="559"/>
              <a:ext cx="432" cy="292"/>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c1</a:t>
              </a:r>
            </a:p>
          </p:txBody>
        </p:sp>
        <p:sp>
          <p:nvSpPr>
            <p:cNvPr id="153613" name="Rectangle 11"/>
            <p:cNvSpPr/>
            <p:nvPr/>
          </p:nvSpPr>
          <p:spPr>
            <a:xfrm>
              <a:off x="384" y="559"/>
              <a:ext cx="528" cy="292"/>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100</a:t>
              </a:r>
            </a:p>
          </p:txBody>
        </p:sp>
        <p:sp>
          <p:nvSpPr>
            <p:cNvPr id="153614" name="Rectangle 12"/>
            <p:cNvSpPr/>
            <p:nvPr/>
          </p:nvSpPr>
          <p:spPr>
            <a:xfrm>
              <a:off x="0" y="559"/>
              <a:ext cx="384" cy="292"/>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a1</a:t>
              </a:r>
            </a:p>
          </p:txBody>
        </p:sp>
        <p:sp>
          <p:nvSpPr>
            <p:cNvPr id="153615" name="Rectangle 13"/>
            <p:cNvSpPr/>
            <p:nvPr/>
          </p:nvSpPr>
          <p:spPr>
            <a:xfrm>
              <a:off x="912" y="276"/>
              <a:ext cx="432" cy="28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C</a:t>
              </a:r>
            </a:p>
          </p:txBody>
        </p:sp>
        <p:sp>
          <p:nvSpPr>
            <p:cNvPr id="153616" name="Rectangle 14"/>
            <p:cNvSpPr/>
            <p:nvPr/>
          </p:nvSpPr>
          <p:spPr>
            <a:xfrm>
              <a:off x="384" y="276"/>
              <a:ext cx="528" cy="28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153617" name="Rectangle 15"/>
            <p:cNvSpPr/>
            <p:nvPr/>
          </p:nvSpPr>
          <p:spPr>
            <a:xfrm>
              <a:off x="0" y="276"/>
              <a:ext cx="384" cy="28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a:t>
              </a:r>
            </a:p>
          </p:txBody>
        </p:sp>
        <p:sp>
          <p:nvSpPr>
            <p:cNvPr id="153618" name="Line 16"/>
            <p:cNvSpPr/>
            <p:nvPr/>
          </p:nvSpPr>
          <p:spPr>
            <a:xfrm>
              <a:off x="0" y="276"/>
              <a:ext cx="1344"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19" name="Line 17"/>
            <p:cNvSpPr/>
            <p:nvPr/>
          </p:nvSpPr>
          <p:spPr>
            <a:xfrm>
              <a:off x="0" y="559"/>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20" name="Line 18"/>
            <p:cNvSpPr/>
            <p:nvPr/>
          </p:nvSpPr>
          <p:spPr>
            <a:xfrm>
              <a:off x="0" y="851"/>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21" name="Line 19"/>
            <p:cNvSpPr/>
            <p:nvPr/>
          </p:nvSpPr>
          <p:spPr>
            <a:xfrm>
              <a:off x="0" y="1145"/>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22" name="Line 20"/>
            <p:cNvSpPr/>
            <p:nvPr/>
          </p:nvSpPr>
          <p:spPr>
            <a:xfrm>
              <a:off x="0" y="1440"/>
              <a:ext cx="1344"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23" name="Line 21"/>
            <p:cNvSpPr/>
            <p:nvPr/>
          </p:nvSpPr>
          <p:spPr>
            <a:xfrm>
              <a:off x="0" y="276"/>
              <a:ext cx="0" cy="1164"/>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24" name="Line 22"/>
            <p:cNvSpPr/>
            <p:nvPr/>
          </p:nvSpPr>
          <p:spPr>
            <a:xfrm>
              <a:off x="384" y="276"/>
              <a:ext cx="0" cy="1164"/>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25" name="Line 23"/>
            <p:cNvSpPr/>
            <p:nvPr/>
          </p:nvSpPr>
          <p:spPr>
            <a:xfrm>
              <a:off x="912" y="276"/>
              <a:ext cx="0" cy="1164"/>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26" name="Line 24"/>
            <p:cNvSpPr/>
            <p:nvPr/>
          </p:nvSpPr>
          <p:spPr>
            <a:xfrm>
              <a:off x="1344" y="276"/>
              <a:ext cx="0" cy="1164"/>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27" name="Text Box 25"/>
            <p:cNvSpPr txBox="1"/>
            <p:nvPr/>
          </p:nvSpPr>
          <p:spPr>
            <a:xfrm>
              <a:off x="97" y="0"/>
              <a:ext cx="1007" cy="230"/>
            </a:xfrm>
            <a:prstGeom prst="rect">
              <a:avLst/>
            </a:prstGeom>
            <a:noFill/>
            <a:ln w="9525">
              <a:noFill/>
            </a:ln>
          </p:spPr>
          <p:txBody>
            <a:bodyPr tIns="0" bIns="0" anchor="t">
              <a:spAutoFit/>
            </a:bodyPr>
            <a:lstStyle/>
            <a:p>
              <a:pPr lvl="0" algn="ctr">
                <a:spcBef>
                  <a:spcPct val="50000"/>
                </a:spcBef>
              </a:pPr>
              <a:r>
                <a:rPr lang="en-US" altLang="x-none" b="1" dirty="0">
                  <a:latin typeface="Times New Roman" panose="02020603050405020304" pitchFamily="2" charset="0"/>
                  <a:ea typeface="宋体" panose="02010600030101010101" pitchFamily="2" charset="-122"/>
                </a:rPr>
                <a:t>ABC</a:t>
              </a:r>
            </a:p>
          </p:txBody>
        </p:sp>
      </p:grpSp>
      <p:grpSp>
        <p:nvGrpSpPr>
          <p:cNvPr id="153629" name="组合 153628"/>
          <p:cNvGrpSpPr/>
          <p:nvPr/>
        </p:nvGrpSpPr>
        <p:grpSpPr>
          <a:xfrm>
            <a:off x="914400" y="3281363"/>
            <a:ext cx="3505200" cy="2971800"/>
            <a:chOff x="0" y="0"/>
            <a:chExt cx="2208" cy="1872"/>
          </a:xfrm>
        </p:grpSpPr>
        <p:sp>
          <p:nvSpPr>
            <p:cNvPr id="2" name="Rectangle 27"/>
            <p:cNvSpPr/>
            <p:nvPr/>
          </p:nvSpPr>
          <p:spPr>
            <a:xfrm>
              <a:off x="384" y="1594"/>
              <a:ext cx="528" cy="278"/>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300</a:t>
              </a:r>
            </a:p>
          </p:txBody>
        </p:sp>
        <p:sp>
          <p:nvSpPr>
            <p:cNvPr id="153630" name="Rectangle 28"/>
            <p:cNvSpPr/>
            <p:nvPr/>
          </p:nvSpPr>
          <p:spPr>
            <a:xfrm>
              <a:off x="0" y="1594"/>
              <a:ext cx="384" cy="278"/>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a3</a:t>
              </a:r>
            </a:p>
          </p:txBody>
        </p:sp>
        <p:sp>
          <p:nvSpPr>
            <p:cNvPr id="153631" name="Rectangle 29"/>
            <p:cNvSpPr/>
            <p:nvPr/>
          </p:nvSpPr>
          <p:spPr>
            <a:xfrm>
              <a:off x="384" y="1316"/>
              <a:ext cx="528" cy="278"/>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3632" name="Rectangle 30"/>
            <p:cNvSpPr/>
            <p:nvPr/>
          </p:nvSpPr>
          <p:spPr>
            <a:xfrm>
              <a:off x="0" y="1316"/>
              <a:ext cx="384" cy="278"/>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a2</a:t>
              </a:r>
            </a:p>
          </p:txBody>
        </p:sp>
        <p:sp>
          <p:nvSpPr>
            <p:cNvPr id="153633" name="Rectangle 31"/>
            <p:cNvSpPr/>
            <p:nvPr/>
          </p:nvSpPr>
          <p:spPr>
            <a:xfrm>
              <a:off x="384" y="1040"/>
              <a:ext cx="528" cy="276"/>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100</a:t>
              </a:r>
            </a:p>
          </p:txBody>
        </p:sp>
        <p:sp>
          <p:nvSpPr>
            <p:cNvPr id="153634" name="Rectangle 32"/>
            <p:cNvSpPr/>
            <p:nvPr/>
          </p:nvSpPr>
          <p:spPr>
            <a:xfrm>
              <a:off x="0" y="1040"/>
              <a:ext cx="384" cy="276"/>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a1</a:t>
              </a:r>
            </a:p>
          </p:txBody>
        </p:sp>
        <p:sp>
          <p:nvSpPr>
            <p:cNvPr id="153635" name="Rectangle 33"/>
            <p:cNvSpPr/>
            <p:nvPr/>
          </p:nvSpPr>
          <p:spPr>
            <a:xfrm>
              <a:off x="384" y="766"/>
              <a:ext cx="528" cy="274"/>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153636" name="Rectangle 34"/>
            <p:cNvSpPr/>
            <p:nvPr/>
          </p:nvSpPr>
          <p:spPr>
            <a:xfrm>
              <a:off x="0" y="766"/>
              <a:ext cx="384" cy="274"/>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a:t>
              </a:r>
            </a:p>
          </p:txBody>
        </p:sp>
        <p:sp>
          <p:nvSpPr>
            <p:cNvPr id="153637" name="Line 35"/>
            <p:cNvSpPr/>
            <p:nvPr/>
          </p:nvSpPr>
          <p:spPr>
            <a:xfrm>
              <a:off x="0" y="766"/>
              <a:ext cx="912"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38" name="Line 36"/>
            <p:cNvSpPr/>
            <p:nvPr/>
          </p:nvSpPr>
          <p:spPr>
            <a:xfrm>
              <a:off x="0" y="1040"/>
              <a:ext cx="912"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39" name="Line 37"/>
            <p:cNvSpPr/>
            <p:nvPr/>
          </p:nvSpPr>
          <p:spPr>
            <a:xfrm>
              <a:off x="0" y="1316"/>
              <a:ext cx="912"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40" name="Line 38"/>
            <p:cNvSpPr/>
            <p:nvPr/>
          </p:nvSpPr>
          <p:spPr>
            <a:xfrm>
              <a:off x="0" y="1594"/>
              <a:ext cx="912"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41" name="Line 39"/>
            <p:cNvSpPr/>
            <p:nvPr/>
          </p:nvSpPr>
          <p:spPr>
            <a:xfrm>
              <a:off x="0" y="1872"/>
              <a:ext cx="912"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42" name="Line 40"/>
            <p:cNvSpPr/>
            <p:nvPr/>
          </p:nvSpPr>
          <p:spPr>
            <a:xfrm>
              <a:off x="0" y="766"/>
              <a:ext cx="0" cy="1106"/>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43" name="Line 41"/>
            <p:cNvSpPr/>
            <p:nvPr/>
          </p:nvSpPr>
          <p:spPr>
            <a:xfrm>
              <a:off x="384" y="766"/>
              <a:ext cx="0" cy="1106"/>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44" name="Line 42"/>
            <p:cNvSpPr/>
            <p:nvPr/>
          </p:nvSpPr>
          <p:spPr>
            <a:xfrm>
              <a:off x="912" y="766"/>
              <a:ext cx="0" cy="1106"/>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45" name="Text Box 43"/>
            <p:cNvSpPr txBox="1"/>
            <p:nvPr/>
          </p:nvSpPr>
          <p:spPr>
            <a:xfrm>
              <a:off x="48" y="480"/>
              <a:ext cx="816" cy="230"/>
            </a:xfrm>
            <a:prstGeom prst="rect">
              <a:avLst/>
            </a:prstGeom>
            <a:noFill/>
            <a:ln w="9525">
              <a:noFill/>
            </a:ln>
          </p:spPr>
          <p:txBody>
            <a:bodyPr tIns="0" bIns="0" anchor="t">
              <a:spAutoFit/>
            </a:bodyPr>
            <a:lstStyle/>
            <a:p>
              <a:pPr lvl="0" algn="ctr">
                <a:spcBef>
                  <a:spcPct val="50000"/>
                </a:spcBef>
              </a:pPr>
              <a:r>
                <a:rPr lang="en-US" altLang="x-none" b="1" dirty="0">
                  <a:latin typeface="Times New Roman" panose="02020603050405020304" pitchFamily="2" charset="0"/>
                  <a:ea typeface="宋体" panose="02010600030101010101" pitchFamily="2" charset="-122"/>
                </a:rPr>
                <a:t>AB</a:t>
              </a:r>
            </a:p>
          </p:txBody>
        </p:sp>
        <p:sp>
          <p:nvSpPr>
            <p:cNvPr id="153646" name="Rectangle 45"/>
            <p:cNvSpPr/>
            <p:nvPr/>
          </p:nvSpPr>
          <p:spPr>
            <a:xfrm>
              <a:off x="1776" y="1594"/>
              <a:ext cx="432" cy="278"/>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c3</a:t>
              </a:r>
            </a:p>
          </p:txBody>
        </p:sp>
        <p:sp>
          <p:nvSpPr>
            <p:cNvPr id="153647" name="Rectangle 46"/>
            <p:cNvSpPr/>
            <p:nvPr/>
          </p:nvSpPr>
          <p:spPr>
            <a:xfrm>
              <a:off x="1248" y="1594"/>
              <a:ext cx="528" cy="278"/>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300</a:t>
              </a:r>
            </a:p>
          </p:txBody>
        </p:sp>
        <p:sp>
          <p:nvSpPr>
            <p:cNvPr id="153648" name="Rectangle 47"/>
            <p:cNvSpPr/>
            <p:nvPr/>
          </p:nvSpPr>
          <p:spPr>
            <a:xfrm>
              <a:off x="1776" y="1316"/>
              <a:ext cx="432" cy="278"/>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c2</a:t>
              </a:r>
            </a:p>
          </p:txBody>
        </p:sp>
        <p:sp>
          <p:nvSpPr>
            <p:cNvPr id="153649" name="Rectangle 48"/>
            <p:cNvSpPr/>
            <p:nvPr/>
          </p:nvSpPr>
          <p:spPr>
            <a:xfrm>
              <a:off x="1248" y="1316"/>
              <a:ext cx="528" cy="278"/>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3650" name="Rectangle 49"/>
            <p:cNvSpPr/>
            <p:nvPr/>
          </p:nvSpPr>
          <p:spPr>
            <a:xfrm>
              <a:off x="1776" y="1040"/>
              <a:ext cx="432" cy="276"/>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c1</a:t>
              </a:r>
            </a:p>
          </p:txBody>
        </p:sp>
        <p:sp>
          <p:nvSpPr>
            <p:cNvPr id="153651" name="Rectangle 50"/>
            <p:cNvSpPr/>
            <p:nvPr/>
          </p:nvSpPr>
          <p:spPr>
            <a:xfrm>
              <a:off x="1248" y="1040"/>
              <a:ext cx="528" cy="276"/>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100</a:t>
              </a:r>
            </a:p>
          </p:txBody>
        </p:sp>
        <p:sp>
          <p:nvSpPr>
            <p:cNvPr id="153652" name="Rectangle 51"/>
            <p:cNvSpPr/>
            <p:nvPr/>
          </p:nvSpPr>
          <p:spPr>
            <a:xfrm>
              <a:off x="1776" y="766"/>
              <a:ext cx="432" cy="274"/>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C</a:t>
              </a:r>
            </a:p>
          </p:txBody>
        </p:sp>
        <p:sp>
          <p:nvSpPr>
            <p:cNvPr id="153653" name="Rectangle 52"/>
            <p:cNvSpPr/>
            <p:nvPr/>
          </p:nvSpPr>
          <p:spPr>
            <a:xfrm>
              <a:off x="1248" y="766"/>
              <a:ext cx="528" cy="274"/>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153654" name="Line 53"/>
            <p:cNvSpPr/>
            <p:nvPr/>
          </p:nvSpPr>
          <p:spPr>
            <a:xfrm>
              <a:off x="1248" y="766"/>
              <a:ext cx="960"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55" name="Line 54"/>
            <p:cNvSpPr/>
            <p:nvPr/>
          </p:nvSpPr>
          <p:spPr>
            <a:xfrm>
              <a:off x="1248" y="1040"/>
              <a:ext cx="960"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56" name="Line 55"/>
            <p:cNvSpPr/>
            <p:nvPr/>
          </p:nvSpPr>
          <p:spPr>
            <a:xfrm>
              <a:off x="1248" y="1316"/>
              <a:ext cx="960"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57" name="Line 56"/>
            <p:cNvSpPr/>
            <p:nvPr/>
          </p:nvSpPr>
          <p:spPr>
            <a:xfrm>
              <a:off x="1248" y="1594"/>
              <a:ext cx="960"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58" name="Line 57"/>
            <p:cNvSpPr/>
            <p:nvPr/>
          </p:nvSpPr>
          <p:spPr>
            <a:xfrm>
              <a:off x="1248" y="1872"/>
              <a:ext cx="960"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59" name="Line 58"/>
            <p:cNvSpPr/>
            <p:nvPr/>
          </p:nvSpPr>
          <p:spPr>
            <a:xfrm>
              <a:off x="1248" y="766"/>
              <a:ext cx="0" cy="1106"/>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60" name="Line 59"/>
            <p:cNvSpPr/>
            <p:nvPr/>
          </p:nvSpPr>
          <p:spPr>
            <a:xfrm>
              <a:off x="1776" y="766"/>
              <a:ext cx="0" cy="1106"/>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61" name="Line 60"/>
            <p:cNvSpPr/>
            <p:nvPr/>
          </p:nvSpPr>
          <p:spPr>
            <a:xfrm>
              <a:off x="2208" y="766"/>
              <a:ext cx="0" cy="1106"/>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62" name="Text Box 61"/>
            <p:cNvSpPr txBox="1"/>
            <p:nvPr/>
          </p:nvSpPr>
          <p:spPr>
            <a:xfrm>
              <a:off x="1296" y="480"/>
              <a:ext cx="864" cy="230"/>
            </a:xfrm>
            <a:prstGeom prst="rect">
              <a:avLst/>
            </a:prstGeom>
            <a:noFill/>
            <a:ln w="9525">
              <a:noFill/>
            </a:ln>
          </p:spPr>
          <p:txBody>
            <a:bodyPr tIns="0" bIns="0" anchor="t">
              <a:spAutoFit/>
            </a:bodyPr>
            <a:lstStyle/>
            <a:p>
              <a:pPr lvl="0" algn="ctr">
                <a:spcBef>
                  <a:spcPct val="50000"/>
                </a:spcBef>
              </a:pPr>
              <a:r>
                <a:rPr lang="en-US" altLang="x-none" b="1" dirty="0">
                  <a:latin typeface="Times New Roman" panose="02020603050405020304" pitchFamily="2" charset="0"/>
                  <a:ea typeface="宋体" panose="02010600030101010101" pitchFamily="2" charset="-122"/>
                </a:rPr>
                <a:t>BC</a:t>
              </a:r>
            </a:p>
          </p:txBody>
        </p:sp>
        <p:sp>
          <p:nvSpPr>
            <p:cNvPr id="153663" name="AutoShape 62"/>
            <p:cNvSpPr/>
            <p:nvPr/>
          </p:nvSpPr>
          <p:spPr>
            <a:xfrm>
              <a:off x="912" y="0"/>
              <a:ext cx="240" cy="384"/>
            </a:xfrm>
            <a:prstGeom prst="downArrow">
              <a:avLst>
                <a:gd name="adj1" fmla="val 50000"/>
                <a:gd name="adj2" fmla="val 40000"/>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algn="ctr"/>
              <a:endParaRPr lang="zh-CN" altLang="en-US" dirty="0">
                <a:latin typeface="Times New Roman" panose="02020603050405020304" pitchFamily="2" charset="0"/>
                <a:ea typeface="宋体" panose="02010600030101010101" pitchFamily="2" charset="-122"/>
              </a:endParaRPr>
            </a:p>
          </p:txBody>
        </p:sp>
      </p:grpSp>
      <p:grpSp>
        <p:nvGrpSpPr>
          <p:cNvPr id="153665" name="组合 153664"/>
          <p:cNvGrpSpPr/>
          <p:nvPr/>
        </p:nvGrpSpPr>
        <p:grpSpPr>
          <a:xfrm>
            <a:off x="4724400" y="1524000"/>
            <a:ext cx="2971800" cy="3962400"/>
            <a:chOff x="0" y="0"/>
            <a:chExt cx="1872" cy="2496"/>
          </a:xfrm>
        </p:grpSpPr>
        <p:sp>
          <p:nvSpPr>
            <p:cNvPr id="3" name="AutoShape 63"/>
            <p:cNvSpPr/>
            <p:nvPr/>
          </p:nvSpPr>
          <p:spPr>
            <a:xfrm>
              <a:off x="0" y="1584"/>
              <a:ext cx="1296" cy="912"/>
            </a:xfrm>
            <a:custGeom>
              <a:avLst/>
              <a:gdLst/>
              <a:ahLst/>
              <a:cxnLst>
                <a:cxn ang="17694720">
                  <a:pos x="0" y="0"/>
                </a:cxn>
                <a:cxn ang="11796480">
                  <a:pos x="0" y="0"/>
                </a:cxn>
                <a:cxn ang="11796480">
                  <a:pos x="0" y="0"/>
                </a:cxn>
                <a:cxn ang="5898240">
                  <a:pos x="0" y="0"/>
                </a:cxn>
                <a:cxn ang="0">
                  <a:pos x="0" y="0"/>
                </a:cxn>
                <a:cxn ang="0">
                  <a:pos x="0" y="0"/>
                </a:cxn>
              </a:cxnLst>
              <a:rect l="0" t="0" r="0" b="0"/>
              <a:pathLst>
                <a:path w="21600" h="21600">
                  <a:moveTo>
                    <a:pt x="19383" y="0"/>
                  </a:moveTo>
                  <a:lnTo>
                    <a:pt x="17166" y="7200"/>
                  </a:lnTo>
                  <a:lnTo>
                    <a:pt x="18683" y="7200"/>
                  </a:lnTo>
                  <a:lnTo>
                    <a:pt x="18683" y="20094"/>
                  </a:lnTo>
                  <a:lnTo>
                    <a:pt x="0" y="20094"/>
                  </a:lnTo>
                  <a:lnTo>
                    <a:pt x="0" y="21600"/>
                  </a:lnTo>
                  <a:lnTo>
                    <a:pt x="20083" y="21600"/>
                  </a:lnTo>
                  <a:lnTo>
                    <a:pt x="20083" y="7200"/>
                  </a:lnTo>
                  <a:lnTo>
                    <a:pt x="21600" y="7200"/>
                  </a:lnTo>
                  <a:lnTo>
                    <a:pt x="19383" y="0"/>
                  </a:lnTo>
                  <a:close/>
                </a:path>
              </a:pathLst>
            </a:custGeom>
            <a:solidFill>
              <a:schemeClr val="accent1"/>
            </a:solidFill>
            <a:ln w="9525" cap="flat" cmpd="sng">
              <a:solidFill>
                <a:schemeClr val="tx1"/>
              </a:solidFill>
              <a:prstDash val="solid"/>
              <a:round/>
              <a:headEnd type="none" w="med" len="med"/>
              <a:tailEnd type="none" w="med" len="med"/>
            </a:ln>
          </p:spPr>
          <p:txBody>
            <a:bodyPr/>
            <a:lstStyle/>
            <a:p>
              <a:endParaRPr lang="zh-CN" altLang="en-US"/>
            </a:p>
          </p:txBody>
        </p:sp>
        <p:sp>
          <p:nvSpPr>
            <p:cNvPr id="153666" name="Rectangle 65"/>
            <p:cNvSpPr/>
            <p:nvPr/>
          </p:nvSpPr>
          <p:spPr>
            <a:xfrm>
              <a:off x="1440" y="1181"/>
              <a:ext cx="432" cy="307"/>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c3</a:t>
              </a:r>
            </a:p>
          </p:txBody>
        </p:sp>
        <p:sp>
          <p:nvSpPr>
            <p:cNvPr id="153667" name="Rectangle 66"/>
            <p:cNvSpPr/>
            <p:nvPr/>
          </p:nvSpPr>
          <p:spPr>
            <a:xfrm>
              <a:off x="912" y="1181"/>
              <a:ext cx="528" cy="307"/>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300</a:t>
              </a:r>
            </a:p>
          </p:txBody>
        </p:sp>
        <p:sp>
          <p:nvSpPr>
            <p:cNvPr id="153668" name="Rectangle 67"/>
            <p:cNvSpPr/>
            <p:nvPr/>
          </p:nvSpPr>
          <p:spPr>
            <a:xfrm>
              <a:off x="528" y="1181"/>
              <a:ext cx="384" cy="307"/>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a3</a:t>
              </a:r>
            </a:p>
          </p:txBody>
        </p:sp>
        <p:sp>
          <p:nvSpPr>
            <p:cNvPr id="153669" name="Rectangle 68"/>
            <p:cNvSpPr/>
            <p:nvPr/>
          </p:nvSpPr>
          <p:spPr>
            <a:xfrm>
              <a:off x="1440" y="875"/>
              <a:ext cx="432" cy="306"/>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c2</a:t>
              </a:r>
            </a:p>
          </p:txBody>
        </p:sp>
        <p:sp>
          <p:nvSpPr>
            <p:cNvPr id="153670" name="Rectangle 69"/>
            <p:cNvSpPr/>
            <p:nvPr/>
          </p:nvSpPr>
          <p:spPr>
            <a:xfrm>
              <a:off x="912" y="875"/>
              <a:ext cx="528" cy="306"/>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3671" name="Rectangle 70"/>
            <p:cNvSpPr/>
            <p:nvPr/>
          </p:nvSpPr>
          <p:spPr>
            <a:xfrm>
              <a:off x="528" y="875"/>
              <a:ext cx="384" cy="306"/>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a2</a:t>
              </a:r>
            </a:p>
          </p:txBody>
        </p:sp>
        <p:sp>
          <p:nvSpPr>
            <p:cNvPr id="153672" name="Rectangle 71"/>
            <p:cNvSpPr/>
            <p:nvPr/>
          </p:nvSpPr>
          <p:spPr>
            <a:xfrm>
              <a:off x="1440" y="571"/>
              <a:ext cx="432" cy="304"/>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c1</a:t>
              </a:r>
            </a:p>
          </p:txBody>
        </p:sp>
        <p:sp>
          <p:nvSpPr>
            <p:cNvPr id="153673" name="Rectangle 72"/>
            <p:cNvSpPr/>
            <p:nvPr/>
          </p:nvSpPr>
          <p:spPr>
            <a:xfrm>
              <a:off x="912" y="571"/>
              <a:ext cx="528" cy="304"/>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100</a:t>
              </a:r>
            </a:p>
          </p:txBody>
        </p:sp>
        <p:sp>
          <p:nvSpPr>
            <p:cNvPr id="153674" name="Rectangle 73"/>
            <p:cNvSpPr/>
            <p:nvPr/>
          </p:nvSpPr>
          <p:spPr>
            <a:xfrm>
              <a:off x="528" y="571"/>
              <a:ext cx="384" cy="304"/>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a1</a:t>
              </a:r>
            </a:p>
          </p:txBody>
        </p:sp>
        <p:sp>
          <p:nvSpPr>
            <p:cNvPr id="153675" name="Rectangle 74"/>
            <p:cNvSpPr/>
            <p:nvPr/>
          </p:nvSpPr>
          <p:spPr>
            <a:xfrm>
              <a:off x="1440" y="276"/>
              <a:ext cx="432" cy="295"/>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C</a:t>
              </a:r>
            </a:p>
          </p:txBody>
        </p:sp>
        <p:sp>
          <p:nvSpPr>
            <p:cNvPr id="153676" name="Rectangle 75"/>
            <p:cNvSpPr/>
            <p:nvPr/>
          </p:nvSpPr>
          <p:spPr>
            <a:xfrm>
              <a:off x="912" y="276"/>
              <a:ext cx="528" cy="295"/>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153677" name="Rectangle 76"/>
            <p:cNvSpPr/>
            <p:nvPr/>
          </p:nvSpPr>
          <p:spPr>
            <a:xfrm>
              <a:off x="528" y="276"/>
              <a:ext cx="384" cy="295"/>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a:t>
              </a:r>
            </a:p>
          </p:txBody>
        </p:sp>
        <p:sp>
          <p:nvSpPr>
            <p:cNvPr id="153678" name="Line 77"/>
            <p:cNvSpPr/>
            <p:nvPr/>
          </p:nvSpPr>
          <p:spPr>
            <a:xfrm>
              <a:off x="528" y="276"/>
              <a:ext cx="1344"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79" name="Line 78"/>
            <p:cNvSpPr/>
            <p:nvPr/>
          </p:nvSpPr>
          <p:spPr>
            <a:xfrm>
              <a:off x="528" y="571"/>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80" name="Line 79"/>
            <p:cNvSpPr/>
            <p:nvPr/>
          </p:nvSpPr>
          <p:spPr>
            <a:xfrm>
              <a:off x="528" y="875"/>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81" name="Line 80"/>
            <p:cNvSpPr/>
            <p:nvPr/>
          </p:nvSpPr>
          <p:spPr>
            <a:xfrm>
              <a:off x="528" y="1181"/>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82" name="Line 81"/>
            <p:cNvSpPr/>
            <p:nvPr/>
          </p:nvSpPr>
          <p:spPr>
            <a:xfrm>
              <a:off x="528" y="1488"/>
              <a:ext cx="1344"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83" name="Line 82"/>
            <p:cNvSpPr/>
            <p:nvPr/>
          </p:nvSpPr>
          <p:spPr>
            <a:xfrm>
              <a:off x="528" y="276"/>
              <a:ext cx="0" cy="1212"/>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84" name="Line 83"/>
            <p:cNvSpPr/>
            <p:nvPr/>
          </p:nvSpPr>
          <p:spPr>
            <a:xfrm>
              <a:off x="912" y="276"/>
              <a:ext cx="0" cy="1212"/>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85" name="Line 84"/>
            <p:cNvSpPr/>
            <p:nvPr/>
          </p:nvSpPr>
          <p:spPr>
            <a:xfrm>
              <a:off x="1440" y="276"/>
              <a:ext cx="0" cy="1212"/>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86" name="Line 85"/>
            <p:cNvSpPr/>
            <p:nvPr/>
          </p:nvSpPr>
          <p:spPr>
            <a:xfrm>
              <a:off x="1872" y="276"/>
              <a:ext cx="0" cy="1212"/>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87" name="Text Box 86"/>
            <p:cNvSpPr txBox="1"/>
            <p:nvPr/>
          </p:nvSpPr>
          <p:spPr>
            <a:xfrm>
              <a:off x="576" y="0"/>
              <a:ext cx="1248" cy="230"/>
            </a:xfrm>
            <a:prstGeom prst="rect">
              <a:avLst/>
            </a:prstGeom>
            <a:noFill/>
            <a:ln w="9525">
              <a:noFill/>
            </a:ln>
          </p:spPr>
          <p:txBody>
            <a:bodyPr tIns="0" bIns="0" anchor="t">
              <a:spAutoFit/>
            </a:bodyPr>
            <a:lstStyle/>
            <a:p>
              <a:pPr lvl="0" algn="ctr">
                <a:spcBef>
                  <a:spcPct val="50000"/>
                </a:spcBef>
              </a:pPr>
              <a:r>
                <a:rPr lang="en-US" altLang="x-none" b="1" dirty="0">
                  <a:latin typeface="Times New Roman" panose="02020603050405020304" pitchFamily="2" charset="0"/>
                  <a:ea typeface="宋体" panose="02010600030101010101" pitchFamily="2" charset="-122"/>
                </a:rPr>
                <a:t>AB  </a:t>
              </a:r>
              <a:r>
                <a:rPr lang="en-US" altLang="x-none" b="1" dirty="0">
                  <a:latin typeface="Arial" panose="020B0604020202020204" pitchFamily="34" charset="0"/>
                  <a:ea typeface="宋体" panose="02010600030101010101" pitchFamily="2" charset="-122"/>
                  <a:sym typeface="Symbol" panose="05050102010706020507" pitchFamily="2" charset="2"/>
                </a:rPr>
                <a:t>join </a:t>
              </a:r>
              <a:r>
                <a:rPr lang="en-US" altLang="x-none" b="1" dirty="0">
                  <a:latin typeface="Times New Roman" panose="02020603050405020304" pitchFamily="2" charset="0"/>
                  <a:ea typeface="宋体" panose="02010600030101010101" pitchFamily="2" charset="-122"/>
                </a:rPr>
                <a:t> BC</a:t>
              </a:r>
            </a:p>
          </p:txBody>
        </p:sp>
      </p:grpSp>
      <p:grpSp>
        <p:nvGrpSpPr>
          <p:cNvPr id="153689" name="组合 153688"/>
          <p:cNvGrpSpPr/>
          <p:nvPr/>
        </p:nvGrpSpPr>
        <p:grpSpPr>
          <a:xfrm>
            <a:off x="3016250" y="685800"/>
            <a:ext cx="4559300" cy="914400"/>
            <a:chOff x="0" y="0"/>
            <a:chExt cx="2872" cy="576"/>
          </a:xfrm>
        </p:grpSpPr>
        <p:sp>
          <p:nvSpPr>
            <p:cNvPr id="4" name="Oval 91"/>
            <p:cNvSpPr/>
            <p:nvPr/>
          </p:nvSpPr>
          <p:spPr>
            <a:xfrm>
              <a:off x="0" y="0"/>
              <a:ext cx="2872" cy="387"/>
            </a:xfrm>
            <a:prstGeom prst="ellipse">
              <a:avLst/>
            </a:prstGeom>
            <a:noFill/>
            <a:ln w="9525" cap="flat" cmpd="sng">
              <a:solidFill>
                <a:schemeClr val="tx1"/>
              </a:solidFill>
              <a:prstDash val="solid"/>
              <a:round/>
              <a:headEnd type="none" w="med" len="med"/>
              <a:tailEnd type="none" w="med" len="med"/>
            </a:ln>
          </p:spPr>
          <p:txBody>
            <a:bodyPr lIns="0" tIns="0" rIns="0" bIns="0" anchor="t">
              <a:spAutoFit/>
            </a:bodyPr>
            <a:lstStyle/>
            <a:p>
              <a:pPr lvl="0" algn="ctr">
                <a:spcBef>
                  <a:spcPct val="50000"/>
                </a:spcBef>
              </a:pPr>
              <a:r>
                <a:rPr lang="en-US" altLang="x-none" sz="2800" b="1" dirty="0">
                  <a:solidFill>
                    <a:schemeClr val="accent2"/>
                  </a:solidFill>
                  <a:latin typeface="Times New Roman" panose="02020603050405020304" pitchFamily="2" charset="0"/>
                  <a:ea typeface="宋体" panose="02010600030101010101" pitchFamily="2" charset="-122"/>
                </a:rPr>
                <a:t>ABC = AB join BC</a:t>
              </a:r>
              <a:r>
                <a:rPr lang="en-US" altLang="x-none" sz="2800" b="1" u="sng" dirty="0">
                  <a:latin typeface="Times New Roman" panose="02020603050405020304" pitchFamily="2" charset="0"/>
                  <a:ea typeface="宋体" panose="02010600030101010101" pitchFamily="2" charset="-122"/>
                </a:rPr>
                <a:t> </a:t>
              </a:r>
            </a:p>
          </p:txBody>
        </p:sp>
        <p:sp>
          <p:nvSpPr>
            <p:cNvPr id="153690" name="Line 92"/>
            <p:cNvSpPr/>
            <p:nvPr/>
          </p:nvSpPr>
          <p:spPr>
            <a:xfrm flipV="1">
              <a:off x="596" y="336"/>
              <a:ext cx="144" cy="240"/>
            </a:xfrm>
            <a:prstGeom prst="line">
              <a:avLst/>
            </a:prstGeom>
            <a:ln w="38100" cap="flat" cmpd="sng">
              <a:solidFill>
                <a:schemeClr val="tx1"/>
              </a:solidFill>
              <a:prstDash val="solid"/>
              <a:round/>
              <a:headEnd type="none" w="med" len="med"/>
              <a:tailEnd type="triangl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91" name="Line 93"/>
            <p:cNvSpPr/>
            <p:nvPr/>
          </p:nvSpPr>
          <p:spPr>
            <a:xfrm flipH="1" flipV="1">
              <a:off x="1892" y="336"/>
              <a:ext cx="192" cy="192"/>
            </a:xfrm>
            <a:prstGeom prst="line">
              <a:avLst/>
            </a:prstGeom>
            <a:ln w="38100" cap="flat" cmpd="sng">
              <a:solidFill>
                <a:schemeClr val="tx1"/>
              </a:solidFill>
              <a:prstDash val="solid"/>
              <a:round/>
              <a:headEnd type="none" w="med" len="med"/>
              <a:tailEnd type="triangl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3629"/>
                                        </p:tgtEl>
                                        <p:attrNameLst>
                                          <p:attrName>style.visibility</p:attrName>
                                        </p:attrNameLst>
                                      </p:cBhvr>
                                      <p:to>
                                        <p:strVal val="visible"/>
                                      </p:to>
                                    </p:set>
                                    <p:animEffect transition="in" filter="blinds(horizontal)">
                                      <p:cBhvr>
                                        <p:cTn id="7" dur="500"/>
                                        <p:tgtEl>
                                          <p:spTgt spid="15362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3665"/>
                                        </p:tgtEl>
                                        <p:attrNameLst>
                                          <p:attrName>style.visibility</p:attrName>
                                        </p:attrNameLst>
                                      </p:cBhvr>
                                      <p:to>
                                        <p:strVal val="visible"/>
                                      </p:to>
                                    </p:set>
                                    <p:animEffect transition="in" filter="blinds(horizontal)">
                                      <p:cBhvr>
                                        <p:cTn id="12" dur="500"/>
                                        <p:tgtEl>
                                          <p:spTgt spid="15366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3689"/>
                                        </p:tgtEl>
                                        <p:attrNameLst>
                                          <p:attrName>style.visibility</p:attrName>
                                        </p:attrNameLst>
                                      </p:cBhvr>
                                      <p:to>
                                        <p:strVal val="visible"/>
                                      </p:to>
                                    </p:set>
                                    <p:animEffect transition="in" filter="blinds(horizontal)">
                                      <p:cBhvr>
                                        <p:cTn id="17" dur="500"/>
                                        <p:tgtEl>
                                          <p:spTgt spid="1536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80" name="Rectangle 2"/>
          <p:cNvSpPr>
            <a:spLocks noGrp="1"/>
          </p:cNvSpPr>
          <p:nvPr>
            <p:ph type="body"/>
          </p:nvPr>
        </p:nvSpPr>
        <p:spPr>
          <a:xfrm>
            <a:off x="13335" y="331470"/>
            <a:ext cx="4502150" cy="460375"/>
          </a:xfrm>
        </p:spPr>
        <p:txBody>
          <a:bodyPr wrap="square" anchor="t">
            <a:spAutoFit/>
          </a:bodyPr>
          <a:lstStyle/>
          <a:p>
            <a:pPr lvl="3" indent="-1600200" algn="ctr">
              <a:buNone/>
            </a:pPr>
            <a:r>
              <a:rPr lang="en-US" altLang="x-none" sz="2400" dirty="0">
                <a:ea typeface="宋体" panose="02010600030101010101" pitchFamily="2" charset="-122"/>
              </a:rPr>
              <a:t>(Loss-Join Decomposition)</a:t>
            </a:r>
          </a:p>
        </p:txBody>
      </p:sp>
      <p:grpSp>
        <p:nvGrpSpPr>
          <p:cNvPr id="152581" name="组合 152581"/>
          <p:cNvGrpSpPr/>
          <p:nvPr/>
        </p:nvGrpSpPr>
        <p:grpSpPr>
          <a:xfrm>
            <a:off x="963295" y="932815"/>
            <a:ext cx="2133600" cy="2446338"/>
            <a:chOff x="0" y="0"/>
            <a:chExt cx="1344" cy="1541"/>
          </a:xfrm>
        </p:grpSpPr>
        <p:sp>
          <p:nvSpPr>
            <p:cNvPr id="152582" name="Rectangle 110"/>
            <p:cNvSpPr/>
            <p:nvPr/>
          </p:nvSpPr>
          <p:spPr>
            <a:xfrm>
              <a:off x="912" y="1288"/>
              <a:ext cx="432"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c4</a:t>
              </a:r>
            </a:p>
          </p:txBody>
        </p:sp>
        <p:sp>
          <p:nvSpPr>
            <p:cNvPr id="152583" name="Rectangle 111"/>
            <p:cNvSpPr/>
            <p:nvPr/>
          </p:nvSpPr>
          <p:spPr>
            <a:xfrm>
              <a:off x="384" y="1288"/>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2584" name="Rectangle 112"/>
            <p:cNvSpPr/>
            <p:nvPr/>
          </p:nvSpPr>
          <p:spPr>
            <a:xfrm>
              <a:off x="0" y="1288"/>
              <a:ext cx="384"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a4</a:t>
              </a:r>
            </a:p>
          </p:txBody>
        </p:sp>
        <p:sp>
          <p:nvSpPr>
            <p:cNvPr id="152585" name="Rectangle 113"/>
            <p:cNvSpPr/>
            <p:nvPr/>
          </p:nvSpPr>
          <p:spPr>
            <a:xfrm>
              <a:off x="912" y="1035"/>
              <a:ext cx="432"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c3</a:t>
              </a:r>
            </a:p>
          </p:txBody>
        </p:sp>
        <p:sp>
          <p:nvSpPr>
            <p:cNvPr id="152586" name="Rectangle 114"/>
            <p:cNvSpPr/>
            <p:nvPr/>
          </p:nvSpPr>
          <p:spPr>
            <a:xfrm>
              <a:off x="384" y="1035"/>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300</a:t>
              </a:r>
            </a:p>
          </p:txBody>
        </p:sp>
        <p:sp>
          <p:nvSpPr>
            <p:cNvPr id="152587" name="Rectangle 115"/>
            <p:cNvSpPr/>
            <p:nvPr/>
          </p:nvSpPr>
          <p:spPr>
            <a:xfrm>
              <a:off x="0" y="1035"/>
              <a:ext cx="384"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a3</a:t>
              </a:r>
            </a:p>
          </p:txBody>
        </p:sp>
        <p:sp>
          <p:nvSpPr>
            <p:cNvPr id="152588" name="Rectangle 116"/>
            <p:cNvSpPr/>
            <p:nvPr/>
          </p:nvSpPr>
          <p:spPr>
            <a:xfrm>
              <a:off x="912" y="782"/>
              <a:ext cx="432"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c2</a:t>
              </a:r>
            </a:p>
          </p:txBody>
        </p:sp>
        <p:sp>
          <p:nvSpPr>
            <p:cNvPr id="152589" name="Rectangle 117"/>
            <p:cNvSpPr/>
            <p:nvPr/>
          </p:nvSpPr>
          <p:spPr>
            <a:xfrm>
              <a:off x="384" y="782"/>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2590" name="Rectangle 118"/>
            <p:cNvSpPr/>
            <p:nvPr/>
          </p:nvSpPr>
          <p:spPr>
            <a:xfrm>
              <a:off x="0" y="782"/>
              <a:ext cx="384"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a2</a:t>
              </a:r>
            </a:p>
          </p:txBody>
        </p:sp>
        <p:sp>
          <p:nvSpPr>
            <p:cNvPr id="152591" name="Rectangle 119"/>
            <p:cNvSpPr/>
            <p:nvPr/>
          </p:nvSpPr>
          <p:spPr>
            <a:xfrm>
              <a:off x="912" y="529"/>
              <a:ext cx="432"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c1</a:t>
              </a:r>
            </a:p>
          </p:txBody>
        </p:sp>
        <p:sp>
          <p:nvSpPr>
            <p:cNvPr id="152592" name="Rectangle 120"/>
            <p:cNvSpPr/>
            <p:nvPr/>
          </p:nvSpPr>
          <p:spPr>
            <a:xfrm>
              <a:off x="384" y="529"/>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100</a:t>
              </a:r>
            </a:p>
          </p:txBody>
        </p:sp>
        <p:sp>
          <p:nvSpPr>
            <p:cNvPr id="152593" name="Rectangle 121"/>
            <p:cNvSpPr/>
            <p:nvPr/>
          </p:nvSpPr>
          <p:spPr>
            <a:xfrm>
              <a:off x="0" y="529"/>
              <a:ext cx="384"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a1</a:t>
              </a:r>
            </a:p>
          </p:txBody>
        </p:sp>
        <p:sp>
          <p:nvSpPr>
            <p:cNvPr id="152594" name="Rectangle 122"/>
            <p:cNvSpPr/>
            <p:nvPr/>
          </p:nvSpPr>
          <p:spPr>
            <a:xfrm>
              <a:off x="912" y="276"/>
              <a:ext cx="432"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C</a:t>
              </a:r>
            </a:p>
          </p:txBody>
        </p:sp>
        <p:sp>
          <p:nvSpPr>
            <p:cNvPr id="152595" name="Rectangle 123"/>
            <p:cNvSpPr/>
            <p:nvPr/>
          </p:nvSpPr>
          <p:spPr>
            <a:xfrm>
              <a:off x="384" y="276"/>
              <a:ext cx="528"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152596" name="Rectangle 124"/>
            <p:cNvSpPr/>
            <p:nvPr/>
          </p:nvSpPr>
          <p:spPr>
            <a:xfrm>
              <a:off x="0" y="276"/>
              <a:ext cx="384"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a:t>
              </a:r>
            </a:p>
          </p:txBody>
        </p:sp>
        <p:sp>
          <p:nvSpPr>
            <p:cNvPr id="152597" name="Line 125"/>
            <p:cNvSpPr/>
            <p:nvPr/>
          </p:nvSpPr>
          <p:spPr>
            <a:xfrm>
              <a:off x="0" y="276"/>
              <a:ext cx="1344"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598" name="Line 126"/>
            <p:cNvSpPr/>
            <p:nvPr/>
          </p:nvSpPr>
          <p:spPr>
            <a:xfrm>
              <a:off x="0" y="529"/>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599" name="Line 127"/>
            <p:cNvSpPr/>
            <p:nvPr/>
          </p:nvSpPr>
          <p:spPr>
            <a:xfrm>
              <a:off x="0" y="782"/>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00" name="Line 128"/>
            <p:cNvSpPr/>
            <p:nvPr/>
          </p:nvSpPr>
          <p:spPr>
            <a:xfrm>
              <a:off x="0" y="1035"/>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01" name="Line 129"/>
            <p:cNvSpPr/>
            <p:nvPr/>
          </p:nvSpPr>
          <p:spPr>
            <a:xfrm>
              <a:off x="0" y="1541"/>
              <a:ext cx="1344"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02" name="Line 130"/>
            <p:cNvSpPr/>
            <p:nvPr/>
          </p:nvSpPr>
          <p:spPr>
            <a:xfrm>
              <a:off x="0" y="276"/>
              <a:ext cx="0" cy="1265"/>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03" name="Line 131"/>
            <p:cNvSpPr/>
            <p:nvPr/>
          </p:nvSpPr>
          <p:spPr>
            <a:xfrm>
              <a:off x="384" y="276"/>
              <a:ext cx="0" cy="1265"/>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04" name="Line 132"/>
            <p:cNvSpPr/>
            <p:nvPr/>
          </p:nvSpPr>
          <p:spPr>
            <a:xfrm>
              <a:off x="912" y="276"/>
              <a:ext cx="0" cy="1265"/>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05" name="Line 133"/>
            <p:cNvSpPr/>
            <p:nvPr/>
          </p:nvSpPr>
          <p:spPr>
            <a:xfrm>
              <a:off x="1344" y="276"/>
              <a:ext cx="0" cy="1265"/>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06" name="Line 134"/>
            <p:cNvSpPr/>
            <p:nvPr/>
          </p:nvSpPr>
          <p:spPr>
            <a:xfrm>
              <a:off x="0" y="1288"/>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07" name="Text Box 135"/>
            <p:cNvSpPr txBox="1"/>
            <p:nvPr/>
          </p:nvSpPr>
          <p:spPr>
            <a:xfrm>
              <a:off x="48" y="0"/>
              <a:ext cx="1248" cy="230"/>
            </a:xfrm>
            <a:prstGeom prst="rect">
              <a:avLst/>
            </a:prstGeom>
            <a:noFill/>
            <a:ln w="9525">
              <a:noFill/>
            </a:ln>
          </p:spPr>
          <p:txBody>
            <a:bodyPr tIns="0" bIns="0" anchor="t">
              <a:spAutoFit/>
            </a:bodyPr>
            <a:lstStyle/>
            <a:p>
              <a:pPr lvl="0" algn="ctr">
                <a:spcBef>
                  <a:spcPct val="50000"/>
                </a:spcBef>
              </a:pPr>
              <a:r>
                <a:rPr lang="en-US" altLang="x-none" b="1" dirty="0">
                  <a:latin typeface="Times New Roman" panose="02020603050405020304" pitchFamily="2" charset="0"/>
                  <a:ea typeface="宋体" panose="02010600030101010101" pitchFamily="2" charset="-122"/>
                </a:rPr>
                <a:t>ABC</a:t>
              </a:r>
            </a:p>
          </p:txBody>
        </p:sp>
      </p:grpSp>
      <p:grpSp>
        <p:nvGrpSpPr>
          <p:cNvPr id="152608" name="组合 152608"/>
          <p:cNvGrpSpPr/>
          <p:nvPr/>
        </p:nvGrpSpPr>
        <p:grpSpPr>
          <a:xfrm>
            <a:off x="353695" y="3447415"/>
            <a:ext cx="3505200" cy="2843213"/>
            <a:chOff x="0" y="0"/>
            <a:chExt cx="2208" cy="1791"/>
          </a:xfrm>
        </p:grpSpPr>
        <p:sp>
          <p:nvSpPr>
            <p:cNvPr id="152609" name="Rectangle 137"/>
            <p:cNvSpPr/>
            <p:nvPr/>
          </p:nvSpPr>
          <p:spPr>
            <a:xfrm>
              <a:off x="384" y="1538"/>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2610" name="Rectangle 138"/>
            <p:cNvSpPr/>
            <p:nvPr/>
          </p:nvSpPr>
          <p:spPr>
            <a:xfrm>
              <a:off x="0" y="1538"/>
              <a:ext cx="384"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a4</a:t>
              </a:r>
            </a:p>
          </p:txBody>
        </p:sp>
        <p:sp>
          <p:nvSpPr>
            <p:cNvPr id="152611" name="Rectangle 139"/>
            <p:cNvSpPr/>
            <p:nvPr/>
          </p:nvSpPr>
          <p:spPr>
            <a:xfrm>
              <a:off x="384" y="1285"/>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300</a:t>
              </a:r>
            </a:p>
          </p:txBody>
        </p:sp>
        <p:sp>
          <p:nvSpPr>
            <p:cNvPr id="152612" name="Rectangle 140"/>
            <p:cNvSpPr/>
            <p:nvPr/>
          </p:nvSpPr>
          <p:spPr>
            <a:xfrm>
              <a:off x="0" y="1285"/>
              <a:ext cx="384"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a3</a:t>
              </a:r>
            </a:p>
          </p:txBody>
        </p:sp>
        <p:sp>
          <p:nvSpPr>
            <p:cNvPr id="152613" name="Rectangle 141"/>
            <p:cNvSpPr/>
            <p:nvPr/>
          </p:nvSpPr>
          <p:spPr>
            <a:xfrm>
              <a:off x="384" y="1032"/>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2614" name="Rectangle 142"/>
            <p:cNvSpPr/>
            <p:nvPr/>
          </p:nvSpPr>
          <p:spPr>
            <a:xfrm>
              <a:off x="0" y="1032"/>
              <a:ext cx="384"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a2</a:t>
              </a:r>
            </a:p>
          </p:txBody>
        </p:sp>
        <p:sp>
          <p:nvSpPr>
            <p:cNvPr id="152615" name="Rectangle 143"/>
            <p:cNvSpPr/>
            <p:nvPr/>
          </p:nvSpPr>
          <p:spPr>
            <a:xfrm>
              <a:off x="384" y="779"/>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100</a:t>
              </a:r>
            </a:p>
          </p:txBody>
        </p:sp>
        <p:sp>
          <p:nvSpPr>
            <p:cNvPr id="152616" name="Rectangle 144"/>
            <p:cNvSpPr/>
            <p:nvPr/>
          </p:nvSpPr>
          <p:spPr>
            <a:xfrm>
              <a:off x="0" y="779"/>
              <a:ext cx="384"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a1</a:t>
              </a:r>
            </a:p>
          </p:txBody>
        </p:sp>
        <p:sp>
          <p:nvSpPr>
            <p:cNvPr id="152617" name="Rectangle 145"/>
            <p:cNvSpPr/>
            <p:nvPr/>
          </p:nvSpPr>
          <p:spPr>
            <a:xfrm>
              <a:off x="384" y="526"/>
              <a:ext cx="528"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152618" name="Rectangle 146"/>
            <p:cNvSpPr/>
            <p:nvPr/>
          </p:nvSpPr>
          <p:spPr>
            <a:xfrm>
              <a:off x="0" y="526"/>
              <a:ext cx="384"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a:t>
              </a:r>
            </a:p>
          </p:txBody>
        </p:sp>
        <p:sp>
          <p:nvSpPr>
            <p:cNvPr id="152619" name="Line 147"/>
            <p:cNvSpPr/>
            <p:nvPr/>
          </p:nvSpPr>
          <p:spPr>
            <a:xfrm>
              <a:off x="0" y="526"/>
              <a:ext cx="912"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20" name="Line 148"/>
            <p:cNvSpPr/>
            <p:nvPr/>
          </p:nvSpPr>
          <p:spPr>
            <a:xfrm>
              <a:off x="0" y="779"/>
              <a:ext cx="912"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21" name="Line 149"/>
            <p:cNvSpPr/>
            <p:nvPr/>
          </p:nvSpPr>
          <p:spPr>
            <a:xfrm>
              <a:off x="0" y="1032"/>
              <a:ext cx="912"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22" name="Line 150"/>
            <p:cNvSpPr/>
            <p:nvPr/>
          </p:nvSpPr>
          <p:spPr>
            <a:xfrm>
              <a:off x="0" y="1285"/>
              <a:ext cx="912"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23" name="Line 151"/>
            <p:cNvSpPr/>
            <p:nvPr/>
          </p:nvSpPr>
          <p:spPr>
            <a:xfrm>
              <a:off x="0" y="1791"/>
              <a:ext cx="912"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24" name="Line 152"/>
            <p:cNvSpPr/>
            <p:nvPr/>
          </p:nvSpPr>
          <p:spPr>
            <a:xfrm>
              <a:off x="0" y="526"/>
              <a:ext cx="0" cy="1265"/>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25" name="Line 153"/>
            <p:cNvSpPr/>
            <p:nvPr/>
          </p:nvSpPr>
          <p:spPr>
            <a:xfrm>
              <a:off x="384" y="526"/>
              <a:ext cx="0" cy="1265"/>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26" name="Line 154"/>
            <p:cNvSpPr/>
            <p:nvPr/>
          </p:nvSpPr>
          <p:spPr>
            <a:xfrm>
              <a:off x="912" y="526"/>
              <a:ext cx="0" cy="1265"/>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27" name="Line 155"/>
            <p:cNvSpPr/>
            <p:nvPr/>
          </p:nvSpPr>
          <p:spPr>
            <a:xfrm>
              <a:off x="0" y="1538"/>
              <a:ext cx="912"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28" name="Text Box 156"/>
            <p:cNvSpPr txBox="1"/>
            <p:nvPr/>
          </p:nvSpPr>
          <p:spPr>
            <a:xfrm>
              <a:off x="48" y="240"/>
              <a:ext cx="624" cy="230"/>
            </a:xfrm>
            <a:prstGeom prst="rect">
              <a:avLst/>
            </a:prstGeom>
            <a:noFill/>
            <a:ln w="9525">
              <a:noFill/>
            </a:ln>
          </p:spPr>
          <p:txBody>
            <a:bodyPr tIns="0" bIns="0" anchor="t">
              <a:spAutoFit/>
            </a:bodyPr>
            <a:lstStyle/>
            <a:p>
              <a:pPr lvl="0" algn="ctr">
                <a:spcBef>
                  <a:spcPct val="50000"/>
                </a:spcBef>
              </a:pPr>
              <a:r>
                <a:rPr lang="en-US" altLang="x-none" b="1" dirty="0">
                  <a:latin typeface="Times New Roman" panose="02020603050405020304" pitchFamily="2" charset="0"/>
                  <a:ea typeface="宋体" panose="02010600030101010101" pitchFamily="2" charset="-122"/>
                </a:rPr>
                <a:t>AB</a:t>
              </a:r>
            </a:p>
          </p:txBody>
        </p:sp>
        <p:sp>
          <p:nvSpPr>
            <p:cNvPr id="152629" name="Rectangle 157"/>
            <p:cNvSpPr/>
            <p:nvPr/>
          </p:nvSpPr>
          <p:spPr>
            <a:xfrm>
              <a:off x="1776" y="1538"/>
              <a:ext cx="432"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c4</a:t>
              </a:r>
            </a:p>
          </p:txBody>
        </p:sp>
        <p:sp>
          <p:nvSpPr>
            <p:cNvPr id="152630" name="Rectangle 158"/>
            <p:cNvSpPr/>
            <p:nvPr/>
          </p:nvSpPr>
          <p:spPr>
            <a:xfrm>
              <a:off x="1248" y="1538"/>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2631" name="Rectangle 159"/>
            <p:cNvSpPr/>
            <p:nvPr/>
          </p:nvSpPr>
          <p:spPr>
            <a:xfrm>
              <a:off x="1776" y="1285"/>
              <a:ext cx="432"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c3</a:t>
              </a:r>
            </a:p>
          </p:txBody>
        </p:sp>
        <p:sp>
          <p:nvSpPr>
            <p:cNvPr id="152632" name="Rectangle 160"/>
            <p:cNvSpPr/>
            <p:nvPr/>
          </p:nvSpPr>
          <p:spPr>
            <a:xfrm>
              <a:off x="1248" y="1285"/>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300</a:t>
              </a:r>
            </a:p>
          </p:txBody>
        </p:sp>
        <p:sp>
          <p:nvSpPr>
            <p:cNvPr id="152633" name="Rectangle 161"/>
            <p:cNvSpPr/>
            <p:nvPr/>
          </p:nvSpPr>
          <p:spPr>
            <a:xfrm>
              <a:off x="1776" y="1032"/>
              <a:ext cx="432"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c2</a:t>
              </a:r>
            </a:p>
          </p:txBody>
        </p:sp>
        <p:sp>
          <p:nvSpPr>
            <p:cNvPr id="152634" name="Rectangle 162"/>
            <p:cNvSpPr/>
            <p:nvPr/>
          </p:nvSpPr>
          <p:spPr>
            <a:xfrm>
              <a:off x="1248" y="1032"/>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2635" name="Rectangle 163"/>
            <p:cNvSpPr/>
            <p:nvPr/>
          </p:nvSpPr>
          <p:spPr>
            <a:xfrm>
              <a:off x="1776" y="779"/>
              <a:ext cx="432"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c1</a:t>
              </a:r>
            </a:p>
          </p:txBody>
        </p:sp>
        <p:sp>
          <p:nvSpPr>
            <p:cNvPr id="152636" name="Rectangle 164"/>
            <p:cNvSpPr/>
            <p:nvPr/>
          </p:nvSpPr>
          <p:spPr>
            <a:xfrm>
              <a:off x="1248" y="779"/>
              <a:ext cx="528" cy="253"/>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100</a:t>
              </a:r>
            </a:p>
          </p:txBody>
        </p:sp>
        <p:sp>
          <p:nvSpPr>
            <p:cNvPr id="152637" name="Rectangle 165"/>
            <p:cNvSpPr/>
            <p:nvPr/>
          </p:nvSpPr>
          <p:spPr>
            <a:xfrm>
              <a:off x="1776" y="526"/>
              <a:ext cx="432"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C</a:t>
              </a:r>
            </a:p>
          </p:txBody>
        </p:sp>
        <p:sp>
          <p:nvSpPr>
            <p:cNvPr id="152638" name="Rectangle 166"/>
            <p:cNvSpPr/>
            <p:nvPr/>
          </p:nvSpPr>
          <p:spPr>
            <a:xfrm>
              <a:off x="1248" y="526"/>
              <a:ext cx="528"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152639" name="Line 167"/>
            <p:cNvSpPr/>
            <p:nvPr/>
          </p:nvSpPr>
          <p:spPr>
            <a:xfrm>
              <a:off x="1248" y="526"/>
              <a:ext cx="960"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40" name="Line 168"/>
            <p:cNvSpPr/>
            <p:nvPr/>
          </p:nvSpPr>
          <p:spPr>
            <a:xfrm>
              <a:off x="1248" y="779"/>
              <a:ext cx="960"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41" name="Line 169"/>
            <p:cNvSpPr/>
            <p:nvPr/>
          </p:nvSpPr>
          <p:spPr>
            <a:xfrm>
              <a:off x="1248" y="1032"/>
              <a:ext cx="960"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42" name="Line 170"/>
            <p:cNvSpPr/>
            <p:nvPr/>
          </p:nvSpPr>
          <p:spPr>
            <a:xfrm>
              <a:off x="1248" y="1285"/>
              <a:ext cx="960"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43" name="Line 171"/>
            <p:cNvSpPr/>
            <p:nvPr/>
          </p:nvSpPr>
          <p:spPr>
            <a:xfrm>
              <a:off x="1248" y="1791"/>
              <a:ext cx="960"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44" name="Line 172"/>
            <p:cNvSpPr/>
            <p:nvPr/>
          </p:nvSpPr>
          <p:spPr>
            <a:xfrm>
              <a:off x="1248" y="526"/>
              <a:ext cx="0" cy="1265"/>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45" name="Line 173"/>
            <p:cNvSpPr/>
            <p:nvPr/>
          </p:nvSpPr>
          <p:spPr>
            <a:xfrm>
              <a:off x="1776" y="526"/>
              <a:ext cx="0" cy="1265"/>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46" name="Line 174"/>
            <p:cNvSpPr/>
            <p:nvPr/>
          </p:nvSpPr>
          <p:spPr>
            <a:xfrm>
              <a:off x="2208" y="526"/>
              <a:ext cx="0" cy="1265"/>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47" name="Line 175"/>
            <p:cNvSpPr/>
            <p:nvPr/>
          </p:nvSpPr>
          <p:spPr>
            <a:xfrm>
              <a:off x="1248" y="1538"/>
              <a:ext cx="960"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2648" name="Text Box 176"/>
            <p:cNvSpPr txBox="1"/>
            <p:nvPr/>
          </p:nvSpPr>
          <p:spPr>
            <a:xfrm>
              <a:off x="1296" y="240"/>
              <a:ext cx="624" cy="230"/>
            </a:xfrm>
            <a:prstGeom prst="rect">
              <a:avLst/>
            </a:prstGeom>
            <a:noFill/>
            <a:ln w="9525">
              <a:noFill/>
            </a:ln>
          </p:spPr>
          <p:txBody>
            <a:bodyPr tIns="0" bIns="0" anchor="t">
              <a:spAutoFit/>
            </a:bodyPr>
            <a:lstStyle/>
            <a:p>
              <a:pPr lvl="0" algn="ctr">
                <a:spcBef>
                  <a:spcPct val="50000"/>
                </a:spcBef>
              </a:pPr>
              <a:r>
                <a:rPr lang="en-US" altLang="x-none" b="1" dirty="0">
                  <a:latin typeface="Times New Roman" panose="02020603050405020304" pitchFamily="2" charset="0"/>
                  <a:ea typeface="宋体" panose="02010600030101010101" pitchFamily="2" charset="-122"/>
                </a:rPr>
                <a:t>BC</a:t>
              </a:r>
            </a:p>
          </p:txBody>
        </p:sp>
        <p:sp>
          <p:nvSpPr>
            <p:cNvPr id="152649" name="AutoShape 177"/>
            <p:cNvSpPr/>
            <p:nvPr/>
          </p:nvSpPr>
          <p:spPr>
            <a:xfrm>
              <a:off x="912" y="0"/>
              <a:ext cx="240" cy="240"/>
            </a:xfrm>
            <a:prstGeom prst="downArrow">
              <a:avLst>
                <a:gd name="adj1" fmla="val 50000"/>
                <a:gd name="adj2" fmla="val 25000"/>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algn="ctr"/>
              <a:endParaRPr lang="zh-CN" altLang="en-US" dirty="0">
                <a:latin typeface="Times New Roman" panose="02020603050405020304" pitchFamily="2" charset="0"/>
                <a:ea typeface="宋体" panose="02010600030101010101" pitchFamily="2" charset="-122"/>
              </a:endParaRPr>
            </a:p>
          </p:txBody>
        </p:sp>
      </p:grpSp>
      <p:grpSp>
        <p:nvGrpSpPr>
          <p:cNvPr id="153605" name="组合 153605"/>
          <p:cNvGrpSpPr/>
          <p:nvPr/>
        </p:nvGrpSpPr>
        <p:grpSpPr>
          <a:xfrm>
            <a:off x="5829300" y="932815"/>
            <a:ext cx="2133600" cy="2286000"/>
            <a:chOff x="0" y="0"/>
            <a:chExt cx="1344" cy="1440"/>
          </a:xfrm>
        </p:grpSpPr>
        <p:sp>
          <p:nvSpPr>
            <p:cNvPr id="153606" name="Rectangle 4"/>
            <p:cNvSpPr/>
            <p:nvPr/>
          </p:nvSpPr>
          <p:spPr>
            <a:xfrm>
              <a:off x="912" y="1145"/>
              <a:ext cx="432" cy="295"/>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c3</a:t>
              </a:r>
            </a:p>
          </p:txBody>
        </p:sp>
        <p:sp>
          <p:nvSpPr>
            <p:cNvPr id="153607" name="Rectangle 5"/>
            <p:cNvSpPr/>
            <p:nvPr/>
          </p:nvSpPr>
          <p:spPr>
            <a:xfrm>
              <a:off x="384" y="1145"/>
              <a:ext cx="528" cy="295"/>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300</a:t>
              </a:r>
            </a:p>
          </p:txBody>
        </p:sp>
        <p:sp>
          <p:nvSpPr>
            <p:cNvPr id="153608" name="Rectangle 6"/>
            <p:cNvSpPr/>
            <p:nvPr/>
          </p:nvSpPr>
          <p:spPr>
            <a:xfrm>
              <a:off x="0" y="1145"/>
              <a:ext cx="384" cy="295"/>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a3</a:t>
              </a:r>
            </a:p>
          </p:txBody>
        </p:sp>
        <p:sp>
          <p:nvSpPr>
            <p:cNvPr id="153609" name="Rectangle 7"/>
            <p:cNvSpPr/>
            <p:nvPr/>
          </p:nvSpPr>
          <p:spPr>
            <a:xfrm>
              <a:off x="912" y="851"/>
              <a:ext cx="432" cy="294"/>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c2</a:t>
              </a:r>
            </a:p>
          </p:txBody>
        </p:sp>
        <p:sp>
          <p:nvSpPr>
            <p:cNvPr id="153610" name="Rectangle 8"/>
            <p:cNvSpPr/>
            <p:nvPr/>
          </p:nvSpPr>
          <p:spPr>
            <a:xfrm>
              <a:off x="384" y="851"/>
              <a:ext cx="528" cy="294"/>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3611" name="Rectangle 9"/>
            <p:cNvSpPr/>
            <p:nvPr/>
          </p:nvSpPr>
          <p:spPr>
            <a:xfrm>
              <a:off x="0" y="851"/>
              <a:ext cx="384" cy="294"/>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a2</a:t>
              </a:r>
            </a:p>
          </p:txBody>
        </p:sp>
        <p:sp>
          <p:nvSpPr>
            <p:cNvPr id="153612" name="Rectangle 10"/>
            <p:cNvSpPr/>
            <p:nvPr/>
          </p:nvSpPr>
          <p:spPr>
            <a:xfrm>
              <a:off x="912" y="559"/>
              <a:ext cx="432" cy="292"/>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c1</a:t>
              </a:r>
            </a:p>
          </p:txBody>
        </p:sp>
        <p:sp>
          <p:nvSpPr>
            <p:cNvPr id="153613" name="Rectangle 11"/>
            <p:cNvSpPr/>
            <p:nvPr/>
          </p:nvSpPr>
          <p:spPr>
            <a:xfrm>
              <a:off x="384" y="559"/>
              <a:ext cx="528" cy="292"/>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100</a:t>
              </a:r>
            </a:p>
          </p:txBody>
        </p:sp>
        <p:sp>
          <p:nvSpPr>
            <p:cNvPr id="153614" name="Rectangle 12"/>
            <p:cNvSpPr/>
            <p:nvPr/>
          </p:nvSpPr>
          <p:spPr>
            <a:xfrm>
              <a:off x="0" y="559"/>
              <a:ext cx="384" cy="292"/>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a1</a:t>
              </a:r>
            </a:p>
          </p:txBody>
        </p:sp>
        <p:sp>
          <p:nvSpPr>
            <p:cNvPr id="153615" name="Rectangle 13"/>
            <p:cNvSpPr/>
            <p:nvPr/>
          </p:nvSpPr>
          <p:spPr>
            <a:xfrm>
              <a:off x="912" y="276"/>
              <a:ext cx="432" cy="28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C</a:t>
              </a:r>
            </a:p>
          </p:txBody>
        </p:sp>
        <p:sp>
          <p:nvSpPr>
            <p:cNvPr id="153616" name="Rectangle 14"/>
            <p:cNvSpPr/>
            <p:nvPr/>
          </p:nvSpPr>
          <p:spPr>
            <a:xfrm>
              <a:off x="384" y="276"/>
              <a:ext cx="528" cy="28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153617" name="Rectangle 15"/>
            <p:cNvSpPr/>
            <p:nvPr/>
          </p:nvSpPr>
          <p:spPr>
            <a:xfrm>
              <a:off x="0" y="276"/>
              <a:ext cx="384" cy="28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a:t>
              </a:r>
            </a:p>
          </p:txBody>
        </p:sp>
        <p:sp>
          <p:nvSpPr>
            <p:cNvPr id="153618" name="Line 16"/>
            <p:cNvSpPr/>
            <p:nvPr/>
          </p:nvSpPr>
          <p:spPr>
            <a:xfrm>
              <a:off x="0" y="276"/>
              <a:ext cx="1344"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19" name="Line 17"/>
            <p:cNvSpPr/>
            <p:nvPr/>
          </p:nvSpPr>
          <p:spPr>
            <a:xfrm>
              <a:off x="0" y="559"/>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20" name="Line 18"/>
            <p:cNvSpPr/>
            <p:nvPr/>
          </p:nvSpPr>
          <p:spPr>
            <a:xfrm>
              <a:off x="0" y="851"/>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21" name="Line 19"/>
            <p:cNvSpPr/>
            <p:nvPr/>
          </p:nvSpPr>
          <p:spPr>
            <a:xfrm>
              <a:off x="0" y="1145"/>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22" name="Line 20"/>
            <p:cNvSpPr/>
            <p:nvPr/>
          </p:nvSpPr>
          <p:spPr>
            <a:xfrm>
              <a:off x="0" y="1440"/>
              <a:ext cx="1344"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23" name="Line 21"/>
            <p:cNvSpPr/>
            <p:nvPr/>
          </p:nvSpPr>
          <p:spPr>
            <a:xfrm>
              <a:off x="0" y="276"/>
              <a:ext cx="0" cy="1164"/>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24" name="Line 22"/>
            <p:cNvSpPr/>
            <p:nvPr/>
          </p:nvSpPr>
          <p:spPr>
            <a:xfrm>
              <a:off x="384" y="276"/>
              <a:ext cx="0" cy="1164"/>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25" name="Line 23"/>
            <p:cNvSpPr/>
            <p:nvPr/>
          </p:nvSpPr>
          <p:spPr>
            <a:xfrm>
              <a:off x="912" y="276"/>
              <a:ext cx="0" cy="1164"/>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26" name="Line 24"/>
            <p:cNvSpPr/>
            <p:nvPr/>
          </p:nvSpPr>
          <p:spPr>
            <a:xfrm>
              <a:off x="1344" y="276"/>
              <a:ext cx="0" cy="1164"/>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27" name="Text Box 25"/>
            <p:cNvSpPr txBox="1"/>
            <p:nvPr/>
          </p:nvSpPr>
          <p:spPr>
            <a:xfrm>
              <a:off x="97" y="0"/>
              <a:ext cx="1007" cy="230"/>
            </a:xfrm>
            <a:prstGeom prst="rect">
              <a:avLst/>
            </a:prstGeom>
            <a:noFill/>
            <a:ln w="9525">
              <a:noFill/>
            </a:ln>
          </p:spPr>
          <p:txBody>
            <a:bodyPr tIns="0" bIns="0" anchor="t">
              <a:spAutoFit/>
            </a:bodyPr>
            <a:lstStyle/>
            <a:p>
              <a:pPr lvl="0" algn="ctr">
                <a:spcBef>
                  <a:spcPct val="50000"/>
                </a:spcBef>
              </a:pPr>
              <a:r>
                <a:rPr lang="en-US" altLang="x-none" b="1" dirty="0">
                  <a:latin typeface="Times New Roman" panose="02020603050405020304" pitchFamily="2" charset="0"/>
                  <a:ea typeface="宋体" panose="02010600030101010101" pitchFamily="2" charset="-122"/>
                </a:rPr>
                <a:t>ABC</a:t>
              </a:r>
            </a:p>
          </p:txBody>
        </p:sp>
      </p:grpSp>
      <p:grpSp>
        <p:nvGrpSpPr>
          <p:cNvPr id="153629" name="组合 153628"/>
          <p:cNvGrpSpPr/>
          <p:nvPr/>
        </p:nvGrpSpPr>
        <p:grpSpPr>
          <a:xfrm>
            <a:off x="5219700" y="3351848"/>
            <a:ext cx="3505200" cy="2686050"/>
            <a:chOff x="0" y="180"/>
            <a:chExt cx="2208" cy="1692"/>
          </a:xfrm>
        </p:grpSpPr>
        <p:sp>
          <p:nvSpPr>
            <p:cNvPr id="2" name="Rectangle 27"/>
            <p:cNvSpPr/>
            <p:nvPr/>
          </p:nvSpPr>
          <p:spPr>
            <a:xfrm>
              <a:off x="384" y="1594"/>
              <a:ext cx="528" cy="278"/>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300</a:t>
              </a:r>
            </a:p>
          </p:txBody>
        </p:sp>
        <p:sp>
          <p:nvSpPr>
            <p:cNvPr id="153630" name="Rectangle 28"/>
            <p:cNvSpPr/>
            <p:nvPr/>
          </p:nvSpPr>
          <p:spPr>
            <a:xfrm>
              <a:off x="0" y="1594"/>
              <a:ext cx="384" cy="278"/>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a3</a:t>
              </a:r>
            </a:p>
          </p:txBody>
        </p:sp>
        <p:sp>
          <p:nvSpPr>
            <p:cNvPr id="153631" name="Rectangle 29"/>
            <p:cNvSpPr/>
            <p:nvPr/>
          </p:nvSpPr>
          <p:spPr>
            <a:xfrm>
              <a:off x="384" y="1316"/>
              <a:ext cx="528" cy="278"/>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3632" name="Rectangle 30"/>
            <p:cNvSpPr/>
            <p:nvPr/>
          </p:nvSpPr>
          <p:spPr>
            <a:xfrm>
              <a:off x="0" y="1316"/>
              <a:ext cx="384" cy="278"/>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a2</a:t>
              </a:r>
            </a:p>
          </p:txBody>
        </p:sp>
        <p:sp>
          <p:nvSpPr>
            <p:cNvPr id="153633" name="Rectangle 31"/>
            <p:cNvSpPr/>
            <p:nvPr/>
          </p:nvSpPr>
          <p:spPr>
            <a:xfrm>
              <a:off x="384" y="1040"/>
              <a:ext cx="528" cy="276"/>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100</a:t>
              </a:r>
            </a:p>
          </p:txBody>
        </p:sp>
        <p:sp>
          <p:nvSpPr>
            <p:cNvPr id="153634" name="Rectangle 32"/>
            <p:cNvSpPr/>
            <p:nvPr/>
          </p:nvSpPr>
          <p:spPr>
            <a:xfrm>
              <a:off x="0" y="1040"/>
              <a:ext cx="384" cy="276"/>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a1</a:t>
              </a:r>
            </a:p>
          </p:txBody>
        </p:sp>
        <p:sp>
          <p:nvSpPr>
            <p:cNvPr id="153635" name="Rectangle 33"/>
            <p:cNvSpPr/>
            <p:nvPr/>
          </p:nvSpPr>
          <p:spPr>
            <a:xfrm>
              <a:off x="384" y="766"/>
              <a:ext cx="528" cy="274"/>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153636" name="Rectangle 34"/>
            <p:cNvSpPr/>
            <p:nvPr/>
          </p:nvSpPr>
          <p:spPr>
            <a:xfrm>
              <a:off x="0" y="766"/>
              <a:ext cx="384" cy="274"/>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a:t>
              </a:r>
            </a:p>
          </p:txBody>
        </p:sp>
        <p:sp>
          <p:nvSpPr>
            <p:cNvPr id="153637" name="Line 35"/>
            <p:cNvSpPr/>
            <p:nvPr/>
          </p:nvSpPr>
          <p:spPr>
            <a:xfrm>
              <a:off x="0" y="766"/>
              <a:ext cx="912"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38" name="Line 36"/>
            <p:cNvSpPr/>
            <p:nvPr/>
          </p:nvSpPr>
          <p:spPr>
            <a:xfrm>
              <a:off x="0" y="1040"/>
              <a:ext cx="912"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39" name="Line 37"/>
            <p:cNvSpPr/>
            <p:nvPr/>
          </p:nvSpPr>
          <p:spPr>
            <a:xfrm>
              <a:off x="0" y="1316"/>
              <a:ext cx="912"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40" name="Line 38"/>
            <p:cNvSpPr/>
            <p:nvPr/>
          </p:nvSpPr>
          <p:spPr>
            <a:xfrm>
              <a:off x="0" y="1594"/>
              <a:ext cx="912"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41" name="Line 39"/>
            <p:cNvSpPr/>
            <p:nvPr/>
          </p:nvSpPr>
          <p:spPr>
            <a:xfrm>
              <a:off x="0" y="1872"/>
              <a:ext cx="912"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42" name="Line 40"/>
            <p:cNvSpPr/>
            <p:nvPr/>
          </p:nvSpPr>
          <p:spPr>
            <a:xfrm>
              <a:off x="0" y="766"/>
              <a:ext cx="0" cy="1106"/>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43" name="Line 41"/>
            <p:cNvSpPr/>
            <p:nvPr/>
          </p:nvSpPr>
          <p:spPr>
            <a:xfrm>
              <a:off x="384" y="766"/>
              <a:ext cx="0" cy="1106"/>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44" name="Line 42"/>
            <p:cNvSpPr/>
            <p:nvPr/>
          </p:nvSpPr>
          <p:spPr>
            <a:xfrm>
              <a:off x="912" y="766"/>
              <a:ext cx="0" cy="1106"/>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45" name="Text Box 43"/>
            <p:cNvSpPr txBox="1"/>
            <p:nvPr/>
          </p:nvSpPr>
          <p:spPr>
            <a:xfrm>
              <a:off x="48" y="480"/>
              <a:ext cx="816" cy="230"/>
            </a:xfrm>
            <a:prstGeom prst="rect">
              <a:avLst/>
            </a:prstGeom>
            <a:noFill/>
            <a:ln w="9525">
              <a:noFill/>
            </a:ln>
          </p:spPr>
          <p:txBody>
            <a:bodyPr tIns="0" bIns="0" anchor="t">
              <a:spAutoFit/>
            </a:bodyPr>
            <a:lstStyle/>
            <a:p>
              <a:pPr lvl="0" algn="ctr">
                <a:spcBef>
                  <a:spcPct val="50000"/>
                </a:spcBef>
              </a:pPr>
              <a:r>
                <a:rPr lang="en-US" altLang="x-none" b="1" dirty="0">
                  <a:latin typeface="Times New Roman" panose="02020603050405020304" pitchFamily="2" charset="0"/>
                  <a:ea typeface="宋体" panose="02010600030101010101" pitchFamily="2" charset="-122"/>
                </a:rPr>
                <a:t>AB</a:t>
              </a:r>
            </a:p>
          </p:txBody>
        </p:sp>
        <p:sp>
          <p:nvSpPr>
            <p:cNvPr id="153646" name="Rectangle 45"/>
            <p:cNvSpPr/>
            <p:nvPr/>
          </p:nvSpPr>
          <p:spPr>
            <a:xfrm>
              <a:off x="1776" y="1594"/>
              <a:ext cx="432" cy="278"/>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c3</a:t>
              </a:r>
            </a:p>
          </p:txBody>
        </p:sp>
        <p:sp>
          <p:nvSpPr>
            <p:cNvPr id="153647" name="Rectangle 46"/>
            <p:cNvSpPr/>
            <p:nvPr/>
          </p:nvSpPr>
          <p:spPr>
            <a:xfrm>
              <a:off x="1248" y="1594"/>
              <a:ext cx="528" cy="278"/>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300</a:t>
              </a:r>
            </a:p>
          </p:txBody>
        </p:sp>
        <p:sp>
          <p:nvSpPr>
            <p:cNvPr id="153648" name="Rectangle 47"/>
            <p:cNvSpPr/>
            <p:nvPr/>
          </p:nvSpPr>
          <p:spPr>
            <a:xfrm>
              <a:off x="1776" y="1316"/>
              <a:ext cx="432" cy="278"/>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c2</a:t>
              </a:r>
            </a:p>
          </p:txBody>
        </p:sp>
        <p:sp>
          <p:nvSpPr>
            <p:cNvPr id="153649" name="Rectangle 48"/>
            <p:cNvSpPr/>
            <p:nvPr/>
          </p:nvSpPr>
          <p:spPr>
            <a:xfrm>
              <a:off x="1248" y="1316"/>
              <a:ext cx="528" cy="278"/>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3650" name="Rectangle 49"/>
            <p:cNvSpPr/>
            <p:nvPr/>
          </p:nvSpPr>
          <p:spPr>
            <a:xfrm>
              <a:off x="1776" y="1040"/>
              <a:ext cx="432" cy="276"/>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c1</a:t>
              </a:r>
            </a:p>
          </p:txBody>
        </p:sp>
        <p:sp>
          <p:nvSpPr>
            <p:cNvPr id="153651" name="Rectangle 50"/>
            <p:cNvSpPr/>
            <p:nvPr/>
          </p:nvSpPr>
          <p:spPr>
            <a:xfrm>
              <a:off x="1248" y="1040"/>
              <a:ext cx="528" cy="276"/>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100</a:t>
              </a:r>
            </a:p>
          </p:txBody>
        </p:sp>
        <p:sp>
          <p:nvSpPr>
            <p:cNvPr id="153652" name="Rectangle 51"/>
            <p:cNvSpPr/>
            <p:nvPr/>
          </p:nvSpPr>
          <p:spPr>
            <a:xfrm>
              <a:off x="1776" y="766"/>
              <a:ext cx="432" cy="274"/>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C</a:t>
              </a:r>
            </a:p>
          </p:txBody>
        </p:sp>
        <p:sp>
          <p:nvSpPr>
            <p:cNvPr id="153653" name="Rectangle 52"/>
            <p:cNvSpPr/>
            <p:nvPr/>
          </p:nvSpPr>
          <p:spPr>
            <a:xfrm>
              <a:off x="1248" y="766"/>
              <a:ext cx="528" cy="274"/>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153654" name="Line 53"/>
            <p:cNvSpPr/>
            <p:nvPr/>
          </p:nvSpPr>
          <p:spPr>
            <a:xfrm>
              <a:off x="1248" y="766"/>
              <a:ext cx="960"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55" name="Line 54"/>
            <p:cNvSpPr/>
            <p:nvPr/>
          </p:nvSpPr>
          <p:spPr>
            <a:xfrm>
              <a:off x="1248" y="1040"/>
              <a:ext cx="960"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56" name="Line 55"/>
            <p:cNvSpPr/>
            <p:nvPr/>
          </p:nvSpPr>
          <p:spPr>
            <a:xfrm>
              <a:off x="1248" y="1316"/>
              <a:ext cx="960"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57" name="Line 56"/>
            <p:cNvSpPr/>
            <p:nvPr/>
          </p:nvSpPr>
          <p:spPr>
            <a:xfrm>
              <a:off x="1248" y="1594"/>
              <a:ext cx="960"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58" name="Line 57"/>
            <p:cNvSpPr/>
            <p:nvPr/>
          </p:nvSpPr>
          <p:spPr>
            <a:xfrm>
              <a:off x="1248" y="1872"/>
              <a:ext cx="960"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59" name="Line 58"/>
            <p:cNvSpPr/>
            <p:nvPr/>
          </p:nvSpPr>
          <p:spPr>
            <a:xfrm>
              <a:off x="1248" y="766"/>
              <a:ext cx="0" cy="1106"/>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60" name="Line 59"/>
            <p:cNvSpPr/>
            <p:nvPr/>
          </p:nvSpPr>
          <p:spPr>
            <a:xfrm>
              <a:off x="1776" y="766"/>
              <a:ext cx="0" cy="1106"/>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61" name="Line 60"/>
            <p:cNvSpPr/>
            <p:nvPr/>
          </p:nvSpPr>
          <p:spPr>
            <a:xfrm>
              <a:off x="2208" y="766"/>
              <a:ext cx="0" cy="1106"/>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3662" name="Text Box 61"/>
            <p:cNvSpPr txBox="1"/>
            <p:nvPr/>
          </p:nvSpPr>
          <p:spPr>
            <a:xfrm>
              <a:off x="1296" y="480"/>
              <a:ext cx="864" cy="230"/>
            </a:xfrm>
            <a:prstGeom prst="rect">
              <a:avLst/>
            </a:prstGeom>
            <a:noFill/>
            <a:ln w="9525">
              <a:noFill/>
            </a:ln>
          </p:spPr>
          <p:txBody>
            <a:bodyPr tIns="0" bIns="0" anchor="t">
              <a:spAutoFit/>
            </a:bodyPr>
            <a:lstStyle/>
            <a:p>
              <a:pPr lvl="0" algn="ctr">
                <a:spcBef>
                  <a:spcPct val="50000"/>
                </a:spcBef>
              </a:pPr>
              <a:r>
                <a:rPr lang="en-US" altLang="x-none" b="1" dirty="0">
                  <a:latin typeface="Times New Roman" panose="02020603050405020304" pitchFamily="2" charset="0"/>
                  <a:ea typeface="宋体" panose="02010600030101010101" pitchFamily="2" charset="-122"/>
                </a:rPr>
                <a:t>BC</a:t>
              </a:r>
            </a:p>
          </p:txBody>
        </p:sp>
        <p:sp>
          <p:nvSpPr>
            <p:cNvPr id="153663" name="AutoShape 62"/>
            <p:cNvSpPr/>
            <p:nvPr/>
          </p:nvSpPr>
          <p:spPr>
            <a:xfrm>
              <a:off x="912" y="180"/>
              <a:ext cx="240" cy="300"/>
            </a:xfrm>
            <a:prstGeom prst="downArrow">
              <a:avLst>
                <a:gd name="adj1" fmla="val 50000"/>
                <a:gd name="adj2" fmla="val 40000"/>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algn="ctr"/>
              <a:endParaRPr lang="zh-CN" altLang="en-US" dirty="0">
                <a:latin typeface="Times New Roman" panose="02020603050405020304" pitchFamily="2" charset="0"/>
                <a:ea typeface="宋体" panose="02010600030101010101" pitchFamily="2" charset="-122"/>
              </a:endParaRPr>
            </a:p>
          </p:txBody>
        </p:sp>
      </p:grpSp>
      <p:sp>
        <p:nvSpPr>
          <p:cNvPr id="3" name="Rectangle 2"/>
          <p:cNvSpPr>
            <a:spLocks noGrp="1"/>
          </p:cNvSpPr>
          <p:nvPr/>
        </p:nvSpPr>
        <p:spPr>
          <a:xfrm>
            <a:off x="4515485" y="331470"/>
            <a:ext cx="4502150" cy="460375"/>
          </a:xfrm>
          <a:prstGeom prst="rect">
            <a:avLst/>
          </a:prstGeom>
          <a:noFill/>
          <a:ln w="9525">
            <a:noFill/>
          </a:ln>
        </p:spPr>
        <p:txBody>
          <a:bodyPr wrap="square" anchor="t">
            <a:spAutoFit/>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800" b="1" u="none" kern="1200" baseline="0">
                <a:solidFill>
                  <a:srgbClr val="FF0000"/>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Ø"/>
              <a:defRPr sz="2800" b="1" u="none" kern="1200" baseline="0">
                <a:solidFill>
                  <a:schemeClr val="accent2"/>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accent2"/>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9pPr>
          </a:lstStyle>
          <a:p>
            <a:pPr lvl="3" indent="-1600200" algn="ctr">
              <a:buNone/>
            </a:pPr>
            <a:r>
              <a:rPr lang="en-US" altLang="x-none" sz="2400" dirty="0">
                <a:ea typeface="宋体" panose="02010600030101010101" pitchFamily="2" charset="-122"/>
              </a:rPr>
              <a:t>(</a:t>
            </a:r>
            <a:r>
              <a:rPr lang="en-US" altLang="x-none" sz="2400" dirty="0">
                <a:solidFill>
                  <a:schemeClr val="accent6"/>
                </a:solidFill>
                <a:ea typeface="宋体" panose="02010600030101010101" pitchFamily="2" charset="-122"/>
                <a:sym typeface="+mn-ea"/>
              </a:rPr>
              <a:t>Lossless Decomposition</a:t>
            </a:r>
            <a:r>
              <a:rPr lang="en-US" altLang="x-none" sz="2400" dirty="0">
                <a:ea typeface="宋体" panose="02010600030101010101" pitchFamily="2" charset="-122"/>
              </a:rPr>
              <a:t>)</a:t>
            </a:r>
          </a:p>
        </p:txBody>
      </p:sp>
      <p:cxnSp>
        <p:nvCxnSpPr>
          <p:cNvPr id="4" name="直接连接符 3"/>
          <p:cNvCxnSpPr/>
          <p:nvPr/>
        </p:nvCxnSpPr>
        <p:spPr>
          <a:xfrm flipH="1">
            <a:off x="4500245" y="141605"/>
            <a:ext cx="29845" cy="6311900"/>
          </a:xfrm>
          <a:prstGeom prst="line">
            <a:avLst/>
          </a:prstGeom>
          <a:ln>
            <a:prstDash val="sysDot"/>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日期占位符 4"/>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54626" name="页脚占位符 5"/>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54627" name="灯片编号占位符 6"/>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86</a:t>
            </a:fld>
            <a:endParaRPr lang="zh-CN" altLang="en-US" sz="1200" b="1" i="1" dirty="0">
              <a:latin typeface="Times New Roman" panose="02020603050405020304" pitchFamily="2" charset="0"/>
              <a:ea typeface="宋体" panose="02010600030101010101" pitchFamily="2" charset="-122"/>
            </a:endParaRPr>
          </a:p>
        </p:txBody>
      </p:sp>
      <p:sp>
        <p:nvSpPr>
          <p:cNvPr id="154628"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6.7  </a:t>
            </a:r>
            <a:r>
              <a:rPr lang="en-US" altLang="x-none" dirty="0">
                <a:ea typeface="宋体" panose="02010600030101010101" pitchFamily="2" charset="-122"/>
              </a:rPr>
              <a:t>Lossless Decompositions</a:t>
            </a:r>
          </a:p>
        </p:txBody>
      </p:sp>
      <p:sp>
        <p:nvSpPr>
          <p:cNvPr id="154629" name="Rectangle 3"/>
          <p:cNvSpPr>
            <a:spLocks noGrp="1"/>
          </p:cNvSpPr>
          <p:nvPr>
            <p:ph type="body" sz="half"/>
          </p:nvPr>
        </p:nvSpPr>
        <p:spPr>
          <a:xfrm>
            <a:off x="220345" y="692150"/>
            <a:ext cx="8599805" cy="2399665"/>
          </a:xfrm>
        </p:spPr>
        <p:txBody>
          <a:bodyPr wrap="square" anchor="t">
            <a:spAutoFit/>
          </a:bodyPr>
          <a:lstStyle>
            <a:lvl1pPr lvl="0">
              <a:defRPr sz="2800"/>
            </a:lvl1pPr>
            <a:lvl2pPr lvl="1">
              <a:defRPr sz="2400"/>
            </a:lvl2pPr>
            <a:lvl3pPr lvl="2">
              <a:defRPr sz="2000"/>
            </a:lvl3pPr>
            <a:lvl4pPr lvl="3">
              <a:defRPr sz="1800"/>
            </a:lvl4pPr>
            <a:lvl5pPr lvl="4">
              <a:defRPr sz="1800"/>
            </a:lvl5pPr>
          </a:lstStyle>
          <a:p>
            <a:pPr lvl="0" eaLnBrk="1" hangingPunct="1"/>
            <a:r>
              <a:rPr lang="en-US" altLang="x-none" sz="3000" dirty="0">
                <a:ea typeface="宋体" panose="02010600030101010101" pitchFamily="2" charset="-122"/>
              </a:rPr>
              <a:t>Def. 6.7.2  </a:t>
            </a:r>
            <a:r>
              <a:rPr lang="en-US" altLang="x-none" sz="3000" dirty="0">
                <a:solidFill>
                  <a:schemeClr val="accent2"/>
                </a:solidFill>
                <a:ea typeface="宋体" panose="02010600030101010101" pitchFamily="2" charset="-122"/>
              </a:rPr>
              <a:t>A database schema is the set of headings of all tables in a database, together with the set of all FDs that the designer wishes to hold on the join of those tables.</a:t>
            </a:r>
          </a:p>
        </p:txBody>
      </p:sp>
      <p:sp>
        <p:nvSpPr>
          <p:cNvPr id="154631" name="Rectangle 27"/>
          <p:cNvSpPr/>
          <p:nvPr/>
        </p:nvSpPr>
        <p:spPr>
          <a:xfrm>
            <a:off x="219710" y="3324225"/>
            <a:ext cx="8600440" cy="1106805"/>
          </a:xfrm>
          <a:prstGeom prst="rect">
            <a:avLst/>
          </a:prstGeom>
          <a:solidFill>
            <a:schemeClr val="bg1"/>
          </a:solidFill>
          <a:ln w="9525">
            <a:noFill/>
          </a:ln>
        </p:spPr>
        <p:txBody>
          <a:bodyPr anchor="t">
            <a:spAutoFit/>
          </a:bodyPr>
          <a:lstStyle/>
          <a:p>
            <a:pPr marL="342900" lvl="0" indent="-342900">
              <a:spcBef>
                <a:spcPct val="20000"/>
              </a:spcBef>
              <a:buClr>
                <a:schemeClr val="tx1"/>
              </a:buClr>
              <a:buFont typeface="Wingdings" panose="05000000000000000000" pitchFamily="2" charset="2"/>
              <a:buChar char="q"/>
            </a:pPr>
            <a:r>
              <a:rPr lang="en-US" altLang="x-none" sz="3000" b="1" dirty="0">
                <a:solidFill>
                  <a:srgbClr val="FF0000"/>
                </a:solidFill>
                <a:latin typeface="Arial" panose="020B0604020202020204" pitchFamily="34" charset="0"/>
                <a:ea typeface="宋体" panose="02010600030101010101" pitchFamily="2" charset="-122"/>
              </a:rPr>
              <a:t>Ex 6.7.3 </a:t>
            </a:r>
            <a:r>
              <a:rPr lang="en-US" altLang="x-none" sz="3000" b="1" dirty="0">
                <a:solidFill>
                  <a:schemeClr val="accent2"/>
                </a:solidFill>
                <a:latin typeface="Arial" panose="020B0604020202020204" pitchFamily="34" charset="0"/>
                <a:ea typeface="宋体" panose="02010600030101010101" pitchFamily="2" charset="-122"/>
              </a:rPr>
              <a:t>Table ABC with a FD:</a:t>
            </a:r>
            <a:r>
              <a:rPr lang="en-US" altLang="x-none" sz="3000" b="1" dirty="0">
                <a:solidFill>
                  <a:srgbClr val="FF0000"/>
                </a:solidFill>
                <a:latin typeface="Arial" panose="020B0604020202020204" pitchFamily="34" charset="0"/>
                <a:ea typeface="宋体" panose="02010600030101010101" pitchFamily="2" charset="-122"/>
              </a:rPr>
              <a:t> B</a:t>
            </a:r>
            <a:r>
              <a:rPr lang="en-US" altLang="x-none" sz="3000" b="1" dirty="0">
                <a:solidFill>
                  <a:srgbClr val="FF0000"/>
                </a:solidFill>
                <a:latin typeface="Arial" panose="020B0604020202020204" pitchFamily="34" charset="0"/>
                <a:ea typeface="宋体" panose="02010600030101010101" pitchFamily="2" charset="-122"/>
                <a:sym typeface="Symbol" panose="05050102010706020507" pitchFamily="2" charset="2"/>
              </a:rPr>
              <a:t>C</a:t>
            </a:r>
          </a:p>
          <a:p>
            <a:pPr marL="742950" lvl="1" indent="-285750">
              <a:spcBef>
                <a:spcPct val="20000"/>
              </a:spcBef>
              <a:buClr>
                <a:schemeClr val="accent1"/>
              </a:buClr>
              <a:buFont typeface="Arial" panose="020B0604020202020204" pitchFamily="34" charset="0"/>
              <a:buChar char="–"/>
            </a:pPr>
            <a:r>
              <a:rPr lang="en-US" altLang="x-none" sz="3000" b="1" dirty="0">
                <a:solidFill>
                  <a:schemeClr val="accent2"/>
                </a:solidFill>
                <a:latin typeface="Arial" panose="020B0604020202020204" pitchFamily="34" charset="0"/>
                <a:ea typeface="宋体" panose="02010600030101010101" pitchFamily="2" charset="-122"/>
                <a:sym typeface="Symbol" panose="05050102010706020507" pitchFamily="2" charset="2"/>
              </a:rPr>
              <a:t>Assume the table content of ABC is (</a:t>
            </a:r>
            <a:r>
              <a:rPr lang="zh-CN" altLang="en-US" sz="3000" b="1" dirty="0">
                <a:solidFill>
                  <a:schemeClr val="accent2"/>
                </a:solidFill>
                <a:latin typeface="Arial" panose="020B0604020202020204" pitchFamily="34" charset="0"/>
                <a:ea typeface="宋体" panose="02010600030101010101" pitchFamily="2" charset="-122"/>
                <a:sym typeface="Symbol" panose="05050102010706020507" pitchFamily="2" charset="2"/>
              </a:rPr>
              <a:t>right</a:t>
            </a:r>
            <a:r>
              <a:rPr lang="en-US" altLang="x-none" sz="3000" b="1" dirty="0">
                <a:solidFill>
                  <a:schemeClr val="accent2"/>
                </a:solidFill>
                <a:latin typeface="Arial" panose="020B0604020202020204" pitchFamily="34" charset="0"/>
                <a:ea typeface="宋体" panose="02010600030101010101" pitchFamily="2" charset="-122"/>
                <a:sym typeface="Symbol" panose="05050102010706020507" pitchFamily="2" charset="2"/>
              </a:rPr>
              <a:t>).</a:t>
            </a:r>
          </a:p>
        </p:txBody>
      </p:sp>
      <p:grpSp>
        <p:nvGrpSpPr>
          <p:cNvPr id="154632" name="组合 154631"/>
          <p:cNvGrpSpPr/>
          <p:nvPr/>
        </p:nvGrpSpPr>
        <p:grpSpPr>
          <a:xfrm>
            <a:off x="5027613" y="4577715"/>
            <a:ext cx="3408363" cy="1857375"/>
            <a:chOff x="-803" y="270"/>
            <a:chExt cx="2147" cy="1170"/>
          </a:xfrm>
        </p:grpSpPr>
        <p:sp>
          <p:nvSpPr>
            <p:cNvPr id="2" name="Rectangle 5"/>
            <p:cNvSpPr/>
            <p:nvPr/>
          </p:nvSpPr>
          <p:spPr>
            <a:xfrm>
              <a:off x="912" y="1145"/>
              <a:ext cx="432" cy="295"/>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c3</a:t>
              </a:r>
            </a:p>
          </p:txBody>
        </p:sp>
        <p:sp>
          <p:nvSpPr>
            <p:cNvPr id="154633" name="Rectangle 6"/>
            <p:cNvSpPr/>
            <p:nvPr/>
          </p:nvSpPr>
          <p:spPr>
            <a:xfrm>
              <a:off x="384" y="1145"/>
              <a:ext cx="528" cy="295"/>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300</a:t>
              </a:r>
            </a:p>
          </p:txBody>
        </p:sp>
        <p:sp>
          <p:nvSpPr>
            <p:cNvPr id="154634" name="Rectangle 7"/>
            <p:cNvSpPr/>
            <p:nvPr/>
          </p:nvSpPr>
          <p:spPr>
            <a:xfrm>
              <a:off x="0" y="1145"/>
              <a:ext cx="384" cy="295"/>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a3</a:t>
              </a:r>
            </a:p>
          </p:txBody>
        </p:sp>
        <p:sp>
          <p:nvSpPr>
            <p:cNvPr id="154635" name="Rectangle 8"/>
            <p:cNvSpPr/>
            <p:nvPr/>
          </p:nvSpPr>
          <p:spPr>
            <a:xfrm>
              <a:off x="912" y="851"/>
              <a:ext cx="432" cy="294"/>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c2</a:t>
              </a:r>
            </a:p>
          </p:txBody>
        </p:sp>
        <p:sp>
          <p:nvSpPr>
            <p:cNvPr id="154636" name="Rectangle 9"/>
            <p:cNvSpPr/>
            <p:nvPr/>
          </p:nvSpPr>
          <p:spPr>
            <a:xfrm>
              <a:off x="384" y="851"/>
              <a:ext cx="528" cy="294"/>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4637" name="Rectangle 10"/>
            <p:cNvSpPr/>
            <p:nvPr/>
          </p:nvSpPr>
          <p:spPr>
            <a:xfrm>
              <a:off x="0" y="851"/>
              <a:ext cx="384" cy="294"/>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a2</a:t>
              </a:r>
            </a:p>
          </p:txBody>
        </p:sp>
        <p:sp>
          <p:nvSpPr>
            <p:cNvPr id="154638" name="Rectangle 11"/>
            <p:cNvSpPr/>
            <p:nvPr/>
          </p:nvSpPr>
          <p:spPr>
            <a:xfrm>
              <a:off x="912" y="559"/>
              <a:ext cx="432" cy="292"/>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c1</a:t>
              </a:r>
            </a:p>
          </p:txBody>
        </p:sp>
        <p:sp>
          <p:nvSpPr>
            <p:cNvPr id="154639" name="Rectangle 12"/>
            <p:cNvSpPr/>
            <p:nvPr/>
          </p:nvSpPr>
          <p:spPr>
            <a:xfrm>
              <a:off x="384" y="559"/>
              <a:ext cx="528" cy="292"/>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100</a:t>
              </a:r>
            </a:p>
          </p:txBody>
        </p:sp>
        <p:sp>
          <p:nvSpPr>
            <p:cNvPr id="154640" name="Rectangle 13"/>
            <p:cNvSpPr/>
            <p:nvPr/>
          </p:nvSpPr>
          <p:spPr>
            <a:xfrm>
              <a:off x="0" y="559"/>
              <a:ext cx="384" cy="292"/>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a1</a:t>
              </a:r>
            </a:p>
          </p:txBody>
        </p:sp>
        <p:sp>
          <p:nvSpPr>
            <p:cNvPr id="154641" name="Rectangle 14"/>
            <p:cNvSpPr/>
            <p:nvPr/>
          </p:nvSpPr>
          <p:spPr>
            <a:xfrm>
              <a:off x="912" y="276"/>
              <a:ext cx="432" cy="283"/>
            </a:xfrm>
            <a:prstGeom prst="rect">
              <a:avLst/>
            </a:prstGeom>
            <a:solidFill>
              <a:srgbClr val="EAEAEA"/>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C</a:t>
              </a:r>
            </a:p>
          </p:txBody>
        </p:sp>
        <p:sp>
          <p:nvSpPr>
            <p:cNvPr id="154642" name="Rectangle 15"/>
            <p:cNvSpPr/>
            <p:nvPr/>
          </p:nvSpPr>
          <p:spPr>
            <a:xfrm>
              <a:off x="384" y="276"/>
              <a:ext cx="528" cy="283"/>
            </a:xfrm>
            <a:prstGeom prst="rect">
              <a:avLst/>
            </a:prstGeom>
            <a:solidFill>
              <a:srgbClr val="EAEAEA"/>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154643" name="Rectangle 16"/>
            <p:cNvSpPr/>
            <p:nvPr/>
          </p:nvSpPr>
          <p:spPr>
            <a:xfrm>
              <a:off x="0" y="276"/>
              <a:ext cx="384" cy="283"/>
            </a:xfrm>
            <a:prstGeom prst="rect">
              <a:avLst/>
            </a:prstGeom>
            <a:solidFill>
              <a:srgbClr val="EAEAEA"/>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a:t>
              </a:r>
            </a:p>
          </p:txBody>
        </p:sp>
        <p:sp>
          <p:nvSpPr>
            <p:cNvPr id="154644" name="Line 17"/>
            <p:cNvSpPr/>
            <p:nvPr/>
          </p:nvSpPr>
          <p:spPr>
            <a:xfrm>
              <a:off x="0" y="276"/>
              <a:ext cx="1344"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4645" name="Line 18"/>
            <p:cNvSpPr/>
            <p:nvPr/>
          </p:nvSpPr>
          <p:spPr>
            <a:xfrm>
              <a:off x="0" y="559"/>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4646" name="Line 19"/>
            <p:cNvSpPr/>
            <p:nvPr/>
          </p:nvSpPr>
          <p:spPr>
            <a:xfrm>
              <a:off x="0" y="851"/>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4647" name="Line 20"/>
            <p:cNvSpPr/>
            <p:nvPr/>
          </p:nvSpPr>
          <p:spPr>
            <a:xfrm>
              <a:off x="0" y="1145"/>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4648" name="Line 21"/>
            <p:cNvSpPr/>
            <p:nvPr/>
          </p:nvSpPr>
          <p:spPr>
            <a:xfrm>
              <a:off x="0" y="1440"/>
              <a:ext cx="1344"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4649" name="Line 22"/>
            <p:cNvSpPr/>
            <p:nvPr/>
          </p:nvSpPr>
          <p:spPr>
            <a:xfrm>
              <a:off x="0" y="276"/>
              <a:ext cx="0" cy="1164"/>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4650" name="Line 23"/>
            <p:cNvSpPr/>
            <p:nvPr/>
          </p:nvSpPr>
          <p:spPr>
            <a:xfrm>
              <a:off x="384" y="276"/>
              <a:ext cx="0" cy="1164"/>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4651" name="Line 24"/>
            <p:cNvSpPr/>
            <p:nvPr/>
          </p:nvSpPr>
          <p:spPr>
            <a:xfrm>
              <a:off x="912" y="276"/>
              <a:ext cx="0" cy="1164"/>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4652" name="Line 25"/>
            <p:cNvSpPr/>
            <p:nvPr/>
          </p:nvSpPr>
          <p:spPr>
            <a:xfrm>
              <a:off x="1344" y="276"/>
              <a:ext cx="0" cy="1164"/>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4653" name="Text Box 26"/>
            <p:cNvSpPr txBox="1"/>
            <p:nvPr/>
          </p:nvSpPr>
          <p:spPr>
            <a:xfrm>
              <a:off x="-803" y="270"/>
              <a:ext cx="1103" cy="230"/>
            </a:xfrm>
            <a:prstGeom prst="rect">
              <a:avLst/>
            </a:prstGeom>
            <a:noFill/>
            <a:ln w="9525">
              <a:noFill/>
            </a:ln>
          </p:spPr>
          <p:txBody>
            <a:bodyPr tIns="0" bIns="0" anchor="t">
              <a:spAutoFit/>
            </a:bodyPr>
            <a:lstStyle/>
            <a:p>
              <a:pPr lvl="0" algn="ctr">
                <a:spcBef>
                  <a:spcPct val="50000"/>
                </a:spcBef>
              </a:pPr>
              <a:r>
                <a:rPr lang="en-US" altLang="x-none" b="1" dirty="0">
                  <a:latin typeface="Times New Roman" panose="02020603050405020304" pitchFamily="2" charset="0"/>
                  <a:ea typeface="宋体" panose="02010600030101010101" pitchFamily="2" charset="-122"/>
                </a:rPr>
                <a:t>ABC</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4631"/>
                                        </p:tgtEl>
                                        <p:attrNameLst>
                                          <p:attrName>style.visibility</p:attrName>
                                        </p:attrNameLst>
                                      </p:cBhvr>
                                      <p:to>
                                        <p:strVal val="visible"/>
                                      </p:to>
                                    </p:set>
                                    <p:animEffect transition="in" filter="blinds(horizontal)">
                                      <p:cBhvr>
                                        <p:cTn id="7" dur="500"/>
                                        <p:tgtEl>
                                          <p:spTgt spid="154631"/>
                                        </p:tgtEl>
                                      </p:cBhvr>
                                    </p:animEffect>
                                  </p:childTnLst>
                                </p:cTn>
                              </p:par>
                              <p:par>
                                <p:cTn id="8" presetID="3" presetClass="entr" presetSubtype="10" fill="hold" nodeType="withEffect">
                                  <p:stCondLst>
                                    <p:cond delay="0"/>
                                  </p:stCondLst>
                                  <p:childTnLst>
                                    <p:set>
                                      <p:cBhvr>
                                        <p:cTn id="9" dur="1" fill="hold">
                                          <p:stCondLst>
                                            <p:cond delay="0"/>
                                          </p:stCondLst>
                                        </p:cTn>
                                        <p:tgtEl>
                                          <p:spTgt spid="154632"/>
                                        </p:tgtEl>
                                        <p:attrNameLst>
                                          <p:attrName>style.visibility</p:attrName>
                                        </p:attrNameLst>
                                      </p:cBhvr>
                                      <p:to>
                                        <p:strVal val="visible"/>
                                      </p:to>
                                    </p:set>
                                    <p:animEffect transition="in" filter="blinds(horizontal)">
                                      <p:cBhvr>
                                        <p:cTn id="10" dur="500"/>
                                        <p:tgtEl>
                                          <p:spTgt spid="1546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31" grpId="0" bldLvl="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日期占位符 4"/>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55650" name="页脚占位符 5"/>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55651" name="灯片编号占位符 6"/>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87</a:t>
            </a:fld>
            <a:endParaRPr lang="zh-CN" altLang="en-US" sz="1200" b="1" i="1" dirty="0">
              <a:latin typeface="Times New Roman" panose="02020603050405020304" pitchFamily="2" charset="0"/>
              <a:ea typeface="宋体" panose="02010600030101010101" pitchFamily="2" charset="-122"/>
            </a:endParaRPr>
          </a:p>
        </p:txBody>
      </p:sp>
      <p:sp>
        <p:nvSpPr>
          <p:cNvPr id="155652"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6.7  </a:t>
            </a:r>
            <a:r>
              <a:rPr lang="en-US" altLang="x-none" dirty="0">
                <a:ea typeface="宋体" panose="02010600030101010101" pitchFamily="2" charset="-122"/>
              </a:rPr>
              <a:t>Lossless Decompositions</a:t>
            </a:r>
          </a:p>
        </p:txBody>
      </p:sp>
      <p:grpSp>
        <p:nvGrpSpPr>
          <p:cNvPr id="155653" name="组合 155653"/>
          <p:cNvGrpSpPr/>
          <p:nvPr/>
        </p:nvGrpSpPr>
        <p:grpSpPr>
          <a:xfrm>
            <a:off x="2484438" y="1268413"/>
            <a:ext cx="3671887" cy="2286000"/>
            <a:chOff x="0" y="0"/>
            <a:chExt cx="1344" cy="1440"/>
          </a:xfrm>
        </p:grpSpPr>
        <p:sp>
          <p:nvSpPr>
            <p:cNvPr id="155654" name="Rectangle 5"/>
            <p:cNvSpPr/>
            <p:nvPr/>
          </p:nvSpPr>
          <p:spPr>
            <a:xfrm>
              <a:off x="912" y="1145"/>
              <a:ext cx="432" cy="295"/>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c3</a:t>
              </a:r>
            </a:p>
          </p:txBody>
        </p:sp>
        <p:sp>
          <p:nvSpPr>
            <p:cNvPr id="155655" name="Rectangle 6"/>
            <p:cNvSpPr/>
            <p:nvPr/>
          </p:nvSpPr>
          <p:spPr>
            <a:xfrm>
              <a:off x="384" y="1145"/>
              <a:ext cx="528" cy="295"/>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300</a:t>
              </a:r>
            </a:p>
          </p:txBody>
        </p:sp>
        <p:sp>
          <p:nvSpPr>
            <p:cNvPr id="155656" name="Rectangle 7"/>
            <p:cNvSpPr/>
            <p:nvPr/>
          </p:nvSpPr>
          <p:spPr>
            <a:xfrm>
              <a:off x="0" y="1145"/>
              <a:ext cx="384" cy="295"/>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a3</a:t>
              </a:r>
            </a:p>
          </p:txBody>
        </p:sp>
        <p:sp>
          <p:nvSpPr>
            <p:cNvPr id="155657" name="Rectangle 8"/>
            <p:cNvSpPr/>
            <p:nvPr/>
          </p:nvSpPr>
          <p:spPr>
            <a:xfrm>
              <a:off x="912" y="851"/>
              <a:ext cx="432" cy="294"/>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c2</a:t>
              </a:r>
            </a:p>
          </p:txBody>
        </p:sp>
        <p:sp>
          <p:nvSpPr>
            <p:cNvPr id="155658" name="Rectangle 9"/>
            <p:cNvSpPr/>
            <p:nvPr/>
          </p:nvSpPr>
          <p:spPr>
            <a:xfrm>
              <a:off x="384" y="851"/>
              <a:ext cx="528" cy="294"/>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5659" name="Rectangle 10"/>
            <p:cNvSpPr/>
            <p:nvPr/>
          </p:nvSpPr>
          <p:spPr>
            <a:xfrm>
              <a:off x="0" y="851"/>
              <a:ext cx="384" cy="294"/>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a2</a:t>
              </a:r>
            </a:p>
          </p:txBody>
        </p:sp>
        <p:sp>
          <p:nvSpPr>
            <p:cNvPr id="155660" name="Rectangle 11"/>
            <p:cNvSpPr/>
            <p:nvPr/>
          </p:nvSpPr>
          <p:spPr>
            <a:xfrm>
              <a:off x="912" y="559"/>
              <a:ext cx="432" cy="292"/>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c1</a:t>
              </a:r>
            </a:p>
          </p:txBody>
        </p:sp>
        <p:sp>
          <p:nvSpPr>
            <p:cNvPr id="155661" name="Rectangle 12"/>
            <p:cNvSpPr/>
            <p:nvPr/>
          </p:nvSpPr>
          <p:spPr>
            <a:xfrm>
              <a:off x="384" y="559"/>
              <a:ext cx="528" cy="292"/>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100</a:t>
              </a:r>
            </a:p>
          </p:txBody>
        </p:sp>
        <p:sp>
          <p:nvSpPr>
            <p:cNvPr id="155662" name="Rectangle 13"/>
            <p:cNvSpPr/>
            <p:nvPr/>
          </p:nvSpPr>
          <p:spPr>
            <a:xfrm>
              <a:off x="0" y="559"/>
              <a:ext cx="384" cy="292"/>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a1</a:t>
              </a:r>
            </a:p>
          </p:txBody>
        </p:sp>
        <p:sp>
          <p:nvSpPr>
            <p:cNvPr id="155663" name="Rectangle 14"/>
            <p:cNvSpPr/>
            <p:nvPr/>
          </p:nvSpPr>
          <p:spPr>
            <a:xfrm>
              <a:off x="912" y="276"/>
              <a:ext cx="432" cy="283"/>
            </a:xfrm>
            <a:prstGeom prst="rect">
              <a:avLst/>
            </a:prstGeom>
            <a:solidFill>
              <a:srgbClr val="EAEAEA"/>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C</a:t>
              </a:r>
            </a:p>
          </p:txBody>
        </p:sp>
        <p:sp>
          <p:nvSpPr>
            <p:cNvPr id="155664" name="Rectangle 15"/>
            <p:cNvSpPr/>
            <p:nvPr/>
          </p:nvSpPr>
          <p:spPr>
            <a:xfrm>
              <a:off x="384" y="276"/>
              <a:ext cx="528" cy="283"/>
            </a:xfrm>
            <a:prstGeom prst="rect">
              <a:avLst/>
            </a:prstGeom>
            <a:solidFill>
              <a:srgbClr val="EAEAEA"/>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155665" name="Rectangle 16"/>
            <p:cNvSpPr/>
            <p:nvPr/>
          </p:nvSpPr>
          <p:spPr>
            <a:xfrm>
              <a:off x="0" y="276"/>
              <a:ext cx="384" cy="283"/>
            </a:xfrm>
            <a:prstGeom prst="rect">
              <a:avLst/>
            </a:prstGeom>
            <a:solidFill>
              <a:srgbClr val="EAEAEA"/>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a:t>
              </a:r>
            </a:p>
          </p:txBody>
        </p:sp>
        <p:sp>
          <p:nvSpPr>
            <p:cNvPr id="155666" name="Line 17"/>
            <p:cNvSpPr/>
            <p:nvPr/>
          </p:nvSpPr>
          <p:spPr>
            <a:xfrm>
              <a:off x="0" y="276"/>
              <a:ext cx="1344"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5667" name="Line 18"/>
            <p:cNvSpPr/>
            <p:nvPr/>
          </p:nvSpPr>
          <p:spPr>
            <a:xfrm>
              <a:off x="0" y="559"/>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5668" name="Line 19"/>
            <p:cNvSpPr/>
            <p:nvPr/>
          </p:nvSpPr>
          <p:spPr>
            <a:xfrm>
              <a:off x="0" y="851"/>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5669" name="Line 20"/>
            <p:cNvSpPr/>
            <p:nvPr/>
          </p:nvSpPr>
          <p:spPr>
            <a:xfrm>
              <a:off x="0" y="1145"/>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5670" name="Line 21"/>
            <p:cNvSpPr/>
            <p:nvPr/>
          </p:nvSpPr>
          <p:spPr>
            <a:xfrm>
              <a:off x="0" y="1440"/>
              <a:ext cx="1344"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5671" name="Line 22"/>
            <p:cNvSpPr/>
            <p:nvPr/>
          </p:nvSpPr>
          <p:spPr>
            <a:xfrm>
              <a:off x="0" y="276"/>
              <a:ext cx="0" cy="1164"/>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5672" name="Line 23"/>
            <p:cNvSpPr/>
            <p:nvPr/>
          </p:nvSpPr>
          <p:spPr>
            <a:xfrm>
              <a:off x="384" y="276"/>
              <a:ext cx="0" cy="1164"/>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5673" name="Line 24"/>
            <p:cNvSpPr/>
            <p:nvPr/>
          </p:nvSpPr>
          <p:spPr>
            <a:xfrm>
              <a:off x="912" y="276"/>
              <a:ext cx="0" cy="1164"/>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5674" name="Line 25"/>
            <p:cNvSpPr/>
            <p:nvPr/>
          </p:nvSpPr>
          <p:spPr>
            <a:xfrm>
              <a:off x="1344" y="276"/>
              <a:ext cx="0" cy="1164"/>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5675" name="Text Box 26"/>
            <p:cNvSpPr txBox="1"/>
            <p:nvPr/>
          </p:nvSpPr>
          <p:spPr>
            <a:xfrm>
              <a:off x="97" y="0"/>
              <a:ext cx="1103" cy="230"/>
            </a:xfrm>
            <a:prstGeom prst="rect">
              <a:avLst/>
            </a:prstGeom>
            <a:noFill/>
            <a:ln w="9525">
              <a:noFill/>
            </a:ln>
          </p:spPr>
          <p:txBody>
            <a:bodyPr tIns="0" bIns="0" anchor="t">
              <a:spAutoFit/>
            </a:bodyPr>
            <a:lstStyle/>
            <a:p>
              <a:pPr lvl="0" algn="ctr">
                <a:spcBef>
                  <a:spcPct val="50000"/>
                </a:spcBef>
              </a:pPr>
              <a:r>
                <a:rPr lang="en-US" altLang="x-none" b="1" dirty="0">
                  <a:latin typeface="Times New Roman" panose="02020603050405020304" pitchFamily="2" charset="0"/>
                  <a:ea typeface="宋体" panose="02010600030101010101" pitchFamily="2" charset="-122"/>
                </a:rPr>
                <a:t>ABC</a:t>
              </a:r>
            </a:p>
          </p:txBody>
        </p:sp>
      </p:grpSp>
      <p:sp>
        <p:nvSpPr>
          <p:cNvPr id="155676" name="Rectangle 27"/>
          <p:cNvSpPr/>
          <p:nvPr/>
        </p:nvSpPr>
        <p:spPr>
          <a:xfrm>
            <a:off x="323850" y="692150"/>
            <a:ext cx="7559675" cy="504825"/>
          </a:xfrm>
          <a:prstGeom prst="rect">
            <a:avLst/>
          </a:prstGeom>
          <a:solidFill>
            <a:schemeClr val="bg1"/>
          </a:solidFill>
          <a:ln w="9525">
            <a:noFill/>
          </a:ln>
        </p:spPr>
        <p:txBody>
          <a:bodyPr anchor="t"/>
          <a:lstStyle/>
          <a:p>
            <a:pPr marL="342900" lvl="0" indent="-342900">
              <a:spcBef>
                <a:spcPct val="20000"/>
              </a:spcBef>
              <a:buClr>
                <a:schemeClr val="tx1"/>
              </a:buClr>
              <a:buFont typeface="Wingdings" panose="05000000000000000000" pitchFamily="2" charset="2"/>
              <a:buChar char="q"/>
            </a:pPr>
            <a:r>
              <a:rPr lang="en-US" altLang="x-none" sz="3200" b="1" dirty="0">
                <a:solidFill>
                  <a:srgbClr val="FF0000"/>
                </a:solidFill>
                <a:latin typeface="Arial" panose="020B0604020202020204" pitchFamily="34" charset="0"/>
                <a:ea typeface="宋体" panose="02010600030101010101" pitchFamily="2" charset="-122"/>
              </a:rPr>
              <a:t>Ex 6.7.3 </a:t>
            </a:r>
            <a:r>
              <a:rPr lang="en-US" altLang="x-none" sz="3200" b="1" dirty="0">
                <a:solidFill>
                  <a:schemeClr val="accent2"/>
                </a:solidFill>
                <a:latin typeface="Arial" panose="020B0604020202020204" pitchFamily="34" charset="0"/>
                <a:ea typeface="宋体" panose="02010600030101010101" pitchFamily="2" charset="-122"/>
              </a:rPr>
              <a:t>Table ABC with a FD:</a:t>
            </a:r>
            <a:r>
              <a:rPr lang="en-US" altLang="x-none" sz="3200" b="1" dirty="0">
                <a:solidFill>
                  <a:srgbClr val="FF0000"/>
                </a:solidFill>
                <a:latin typeface="Arial" panose="020B0604020202020204" pitchFamily="34" charset="0"/>
                <a:ea typeface="宋体" panose="02010600030101010101" pitchFamily="2" charset="-122"/>
              </a:rPr>
              <a:t> B</a:t>
            </a:r>
            <a:r>
              <a:rPr lang="en-US" altLang="x-none" sz="3200" b="1" dirty="0">
                <a:solidFill>
                  <a:srgbClr val="FF0000"/>
                </a:solidFill>
                <a:latin typeface="Arial" panose="020B0604020202020204" pitchFamily="34" charset="0"/>
                <a:ea typeface="宋体" panose="02010600030101010101" pitchFamily="2" charset="-122"/>
                <a:sym typeface="Symbol" panose="05050102010706020507" pitchFamily="2" charset="2"/>
              </a:rPr>
              <a:t>C</a:t>
            </a:r>
            <a:endParaRPr lang="en-US" altLang="x-none" sz="3200" b="1" dirty="0">
              <a:solidFill>
                <a:schemeClr val="accent2"/>
              </a:solidFill>
              <a:latin typeface="Arial" panose="020B0604020202020204" pitchFamily="34" charset="0"/>
              <a:ea typeface="宋体" panose="02010600030101010101" pitchFamily="2" charset="-122"/>
              <a:sym typeface="Symbol" panose="05050102010706020507" pitchFamily="2" charset="2"/>
            </a:endParaRPr>
          </a:p>
        </p:txBody>
      </p:sp>
      <p:sp>
        <p:nvSpPr>
          <p:cNvPr id="155678" name="Rectangle 29"/>
          <p:cNvSpPr/>
          <p:nvPr/>
        </p:nvSpPr>
        <p:spPr>
          <a:xfrm>
            <a:off x="612775" y="4483100"/>
            <a:ext cx="7999413" cy="1106488"/>
          </a:xfrm>
          <a:prstGeom prst="rect">
            <a:avLst/>
          </a:prstGeom>
          <a:solidFill>
            <a:schemeClr val="bg1"/>
          </a:solidFill>
          <a:ln w="9525">
            <a:noFill/>
          </a:ln>
        </p:spPr>
        <p:txBody>
          <a:bodyPr anchor="t"/>
          <a:lstStyle/>
          <a:p>
            <a:pPr marL="342900" lvl="0" indent="-342900">
              <a:spcBef>
                <a:spcPct val="20000"/>
              </a:spcBef>
              <a:buClr>
                <a:schemeClr val="accent1"/>
              </a:buClr>
              <a:buChar char="–"/>
            </a:pPr>
            <a:r>
              <a:rPr lang="en-US" altLang="x-none" sz="3200" b="1" dirty="0">
                <a:solidFill>
                  <a:schemeClr val="accent2"/>
                </a:solidFill>
                <a:latin typeface="Arial" panose="020B0604020202020204" pitchFamily="34" charset="0"/>
                <a:ea typeface="宋体" panose="02010600030101010101" pitchFamily="2" charset="-122"/>
                <a:sym typeface="Symbol" panose="05050102010706020507" pitchFamily="2" charset="2"/>
              </a:rPr>
              <a:t>If we tried to insert a row (a4, 200, c4), this insert would fail.</a:t>
            </a:r>
            <a:r>
              <a:rPr lang="zh-CN" altLang="en-US" sz="3200" b="1" dirty="0">
                <a:solidFill>
                  <a:schemeClr val="accent2"/>
                </a:solidFill>
                <a:latin typeface="Arial" panose="020B0604020202020204" pitchFamily="34" charset="0"/>
                <a:ea typeface="宋体" panose="02010600030101010101" pitchFamily="2" charset="-122"/>
                <a:sym typeface="Symbol" panose="05050102010706020507" pitchFamily="2" charset="2"/>
              </a:rPr>
              <a:t> </a:t>
            </a:r>
            <a:r>
              <a:rPr lang="en-US" altLang="x-none" sz="3200" b="1" dirty="0">
                <a:solidFill>
                  <a:srgbClr val="FF0066"/>
                </a:solidFill>
                <a:latin typeface="Arial" panose="020B0604020202020204" pitchFamily="34" charset="0"/>
                <a:ea typeface="宋体" panose="02010600030101010101" pitchFamily="2" charset="-122"/>
                <a:sym typeface="Symbol" panose="05050102010706020507" pitchFamily="2" charset="2"/>
              </a:rPr>
              <a:t>Why?</a:t>
            </a:r>
          </a:p>
        </p:txBody>
      </p:sp>
      <p:graphicFrame>
        <p:nvGraphicFramePr>
          <p:cNvPr id="155679" name="表格 155678"/>
          <p:cNvGraphicFramePr/>
          <p:nvPr/>
        </p:nvGraphicFramePr>
        <p:xfrm>
          <a:off x="2484438" y="3573463"/>
          <a:ext cx="3671888" cy="517525"/>
        </p:xfrm>
        <a:graphic>
          <a:graphicData uri="http://schemas.openxmlformats.org/drawingml/2006/table">
            <a:tbl>
              <a:tblPr/>
              <a:tblGrid>
                <a:gridCol w="1071563">
                  <a:extLst>
                    <a:ext uri="{9D8B030D-6E8A-4147-A177-3AD203B41FA5}">
                      <a16:colId xmlns:a16="http://schemas.microsoft.com/office/drawing/2014/main" val="20000"/>
                    </a:ext>
                  </a:extLst>
                </a:gridCol>
                <a:gridCol w="1460500">
                  <a:extLst>
                    <a:ext uri="{9D8B030D-6E8A-4147-A177-3AD203B41FA5}">
                      <a16:colId xmlns:a16="http://schemas.microsoft.com/office/drawing/2014/main" val="20001"/>
                    </a:ext>
                  </a:extLst>
                </a:gridCol>
                <a:gridCol w="1139825">
                  <a:extLst>
                    <a:ext uri="{9D8B030D-6E8A-4147-A177-3AD203B41FA5}">
                      <a16:colId xmlns:a16="http://schemas.microsoft.com/office/drawing/2014/main" val="20002"/>
                    </a:ext>
                  </a:extLst>
                </a:gridCol>
              </a:tblGrid>
              <a:tr h="51752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a4</a:t>
                      </a:r>
                    </a:p>
                  </a:txBody>
                  <a:tcPr marT="45549" marB="45549"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200</a:t>
                      </a:r>
                    </a:p>
                  </a:txBody>
                  <a:tcPr marT="45549" marB="45549"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c4</a:t>
                      </a:r>
                    </a:p>
                  </a:txBody>
                  <a:tcPr marT="45549" marB="45549"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5679"/>
                                        </p:tgtEl>
                                        <p:attrNameLst>
                                          <p:attrName>style.visibility</p:attrName>
                                        </p:attrNameLst>
                                      </p:cBhvr>
                                      <p:to>
                                        <p:strVal val="visible"/>
                                      </p:to>
                                    </p:set>
                                    <p:animEffect transition="in" filter="blinds(horizontal)">
                                      <p:cBhvr>
                                        <p:cTn id="7" dur="500"/>
                                        <p:tgtEl>
                                          <p:spTgt spid="155679"/>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55678"/>
                                        </p:tgtEl>
                                        <p:attrNameLst>
                                          <p:attrName>style.visibility</p:attrName>
                                        </p:attrNameLst>
                                      </p:cBhvr>
                                      <p:to>
                                        <p:strVal val="visible"/>
                                      </p:to>
                                    </p:set>
                                    <p:animEffect transition="in" filter="blinds(horizontal)">
                                      <p:cBhvr>
                                        <p:cTn id="11" dur="500"/>
                                        <p:tgtEl>
                                          <p:spTgt spid="1556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78" grpId="0" bldLvl="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日期占位符 4"/>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56674" name="页脚占位符 5"/>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56675" name="灯片编号占位符 6"/>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88</a:t>
            </a:fld>
            <a:endParaRPr lang="zh-CN" altLang="en-US" sz="1200" b="1" i="1" dirty="0">
              <a:latin typeface="Times New Roman" panose="02020603050405020304" pitchFamily="2" charset="0"/>
              <a:ea typeface="宋体" panose="02010600030101010101" pitchFamily="2" charset="-122"/>
            </a:endParaRPr>
          </a:p>
        </p:txBody>
      </p:sp>
      <p:sp>
        <p:nvSpPr>
          <p:cNvPr id="156676"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6.7  </a:t>
            </a:r>
            <a:r>
              <a:rPr lang="en-US" altLang="x-none" dirty="0">
                <a:ea typeface="宋体" panose="02010600030101010101" pitchFamily="2" charset="-122"/>
              </a:rPr>
              <a:t>Lossless Decompositions</a:t>
            </a:r>
          </a:p>
        </p:txBody>
      </p:sp>
      <p:grpSp>
        <p:nvGrpSpPr>
          <p:cNvPr id="156677" name="组合 156677"/>
          <p:cNvGrpSpPr/>
          <p:nvPr/>
        </p:nvGrpSpPr>
        <p:grpSpPr>
          <a:xfrm>
            <a:off x="2484438" y="1268413"/>
            <a:ext cx="3671887" cy="2286000"/>
            <a:chOff x="0" y="0"/>
            <a:chExt cx="1344" cy="1440"/>
          </a:xfrm>
        </p:grpSpPr>
        <p:sp>
          <p:nvSpPr>
            <p:cNvPr id="156678" name="Rectangle 5"/>
            <p:cNvSpPr/>
            <p:nvPr/>
          </p:nvSpPr>
          <p:spPr>
            <a:xfrm>
              <a:off x="912" y="1145"/>
              <a:ext cx="432" cy="295"/>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c3</a:t>
              </a:r>
            </a:p>
          </p:txBody>
        </p:sp>
        <p:sp>
          <p:nvSpPr>
            <p:cNvPr id="156679" name="Rectangle 6"/>
            <p:cNvSpPr/>
            <p:nvPr/>
          </p:nvSpPr>
          <p:spPr>
            <a:xfrm>
              <a:off x="384" y="1145"/>
              <a:ext cx="528" cy="295"/>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300</a:t>
              </a:r>
            </a:p>
          </p:txBody>
        </p:sp>
        <p:sp>
          <p:nvSpPr>
            <p:cNvPr id="156680" name="Rectangle 7"/>
            <p:cNvSpPr/>
            <p:nvPr/>
          </p:nvSpPr>
          <p:spPr>
            <a:xfrm>
              <a:off x="0" y="1145"/>
              <a:ext cx="384" cy="295"/>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a3</a:t>
              </a:r>
            </a:p>
          </p:txBody>
        </p:sp>
        <p:sp>
          <p:nvSpPr>
            <p:cNvPr id="156681" name="Rectangle 8"/>
            <p:cNvSpPr/>
            <p:nvPr/>
          </p:nvSpPr>
          <p:spPr>
            <a:xfrm>
              <a:off x="912" y="851"/>
              <a:ext cx="432" cy="294"/>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c2</a:t>
              </a:r>
            </a:p>
          </p:txBody>
        </p:sp>
        <p:sp>
          <p:nvSpPr>
            <p:cNvPr id="156682" name="Rectangle 9"/>
            <p:cNvSpPr/>
            <p:nvPr/>
          </p:nvSpPr>
          <p:spPr>
            <a:xfrm>
              <a:off x="384" y="851"/>
              <a:ext cx="528" cy="294"/>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6683" name="Rectangle 10"/>
            <p:cNvSpPr/>
            <p:nvPr/>
          </p:nvSpPr>
          <p:spPr>
            <a:xfrm>
              <a:off x="0" y="851"/>
              <a:ext cx="384" cy="294"/>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a2</a:t>
              </a:r>
            </a:p>
          </p:txBody>
        </p:sp>
        <p:sp>
          <p:nvSpPr>
            <p:cNvPr id="156684" name="Rectangle 11"/>
            <p:cNvSpPr/>
            <p:nvPr/>
          </p:nvSpPr>
          <p:spPr>
            <a:xfrm>
              <a:off x="912" y="559"/>
              <a:ext cx="432" cy="292"/>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c1</a:t>
              </a:r>
            </a:p>
          </p:txBody>
        </p:sp>
        <p:sp>
          <p:nvSpPr>
            <p:cNvPr id="156685" name="Rectangle 12"/>
            <p:cNvSpPr/>
            <p:nvPr/>
          </p:nvSpPr>
          <p:spPr>
            <a:xfrm>
              <a:off x="384" y="559"/>
              <a:ext cx="528" cy="292"/>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100</a:t>
              </a:r>
            </a:p>
          </p:txBody>
        </p:sp>
        <p:sp>
          <p:nvSpPr>
            <p:cNvPr id="156686" name="Rectangle 13"/>
            <p:cNvSpPr/>
            <p:nvPr/>
          </p:nvSpPr>
          <p:spPr>
            <a:xfrm>
              <a:off x="0" y="559"/>
              <a:ext cx="384" cy="292"/>
            </a:xfrm>
            <a:prstGeom prst="rect">
              <a:avLst/>
            </a:prstGeom>
            <a:solidFill>
              <a:srgbClr val="CCFFFF"/>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a1</a:t>
              </a:r>
            </a:p>
          </p:txBody>
        </p:sp>
        <p:sp>
          <p:nvSpPr>
            <p:cNvPr id="156687" name="Rectangle 14"/>
            <p:cNvSpPr/>
            <p:nvPr/>
          </p:nvSpPr>
          <p:spPr>
            <a:xfrm>
              <a:off x="912" y="276"/>
              <a:ext cx="432" cy="283"/>
            </a:xfrm>
            <a:prstGeom prst="rect">
              <a:avLst/>
            </a:prstGeom>
            <a:solidFill>
              <a:srgbClr val="EAEAEA"/>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C</a:t>
              </a:r>
            </a:p>
          </p:txBody>
        </p:sp>
        <p:sp>
          <p:nvSpPr>
            <p:cNvPr id="156688" name="Rectangle 15"/>
            <p:cNvSpPr/>
            <p:nvPr/>
          </p:nvSpPr>
          <p:spPr>
            <a:xfrm>
              <a:off x="384" y="276"/>
              <a:ext cx="528" cy="283"/>
            </a:xfrm>
            <a:prstGeom prst="rect">
              <a:avLst/>
            </a:prstGeom>
            <a:solidFill>
              <a:srgbClr val="EAEAEA"/>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156689" name="Rectangle 16"/>
            <p:cNvSpPr/>
            <p:nvPr/>
          </p:nvSpPr>
          <p:spPr>
            <a:xfrm>
              <a:off x="0" y="276"/>
              <a:ext cx="384" cy="283"/>
            </a:xfrm>
            <a:prstGeom prst="rect">
              <a:avLst/>
            </a:prstGeom>
            <a:solidFill>
              <a:srgbClr val="EAEAEA"/>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a:t>
              </a:r>
            </a:p>
          </p:txBody>
        </p:sp>
        <p:sp>
          <p:nvSpPr>
            <p:cNvPr id="156690" name="Line 17"/>
            <p:cNvSpPr/>
            <p:nvPr/>
          </p:nvSpPr>
          <p:spPr>
            <a:xfrm>
              <a:off x="0" y="276"/>
              <a:ext cx="1344"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6691" name="Line 18"/>
            <p:cNvSpPr/>
            <p:nvPr/>
          </p:nvSpPr>
          <p:spPr>
            <a:xfrm>
              <a:off x="0" y="559"/>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6692" name="Line 19"/>
            <p:cNvSpPr/>
            <p:nvPr/>
          </p:nvSpPr>
          <p:spPr>
            <a:xfrm>
              <a:off x="0" y="851"/>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6693" name="Line 20"/>
            <p:cNvSpPr/>
            <p:nvPr/>
          </p:nvSpPr>
          <p:spPr>
            <a:xfrm>
              <a:off x="0" y="1145"/>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6694" name="Line 21"/>
            <p:cNvSpPr/>
            <p:nvPr/>
          </p:nvSpPr>
          <p:spPr>
            <a:xfrm>
              <a:off x="0" y="1440"/>
              <a:ext cx="1344"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6695" name="Line 22"/>
            <p:cNvSpPr/>
            <p:nvPr/>
          </p:nvSpPr>
          <p:spPr>
            <a:xfrm>
              <a:off x="0" y="276"/>
              <a:ext cx="0" cy="1164"/>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6696" name="Line 23"/>
            <p:cNvSpPr/>
            <p:nvPr/>
          </p:nvSpPr>
          <p:spPr>
            <a:xfrm>
              <a:off x="384" y="276"/>
              <a:ext cx="0" cy="1164"/>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6697" name="Line 24"/>
            <p:cNvSpPr/>
            <p:nvPr/>
          </p:nvSpPr>
          <p:spPr>
            <a:xfrm>
              <a:off x="912" y="276"/>
              <a:ext cx="0" cy="1164"/>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6698" name="Line 25"/>
            <p:cNvSpPr/>
            <p:nvPr/>
          </p:nvSpPr>
          <p:spPr>
            <a:xfrm>
              <a:off x="1344" y="276"/>
              <a:ext cx="0" cy="1164"/>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6699" name="Text Box 26"/>
            <p:cNvSpPr txBox="1"/>
            <p:nvPr/>
          </p:nvSpPr>
          <p:spPr>
            <a:xfrm>
              <a:off x="97" y="0"/>
              <a:ext cx="1103" cy="230"/>
            </a:xfrm>
            <a:prstGeom prst="rect">
              <a:avLst/>
            </a:prstGeom>
            <a:noFill/>
            <a:ln w="9525">
              <a:noFill/>
            </a:ln>
          </p:spPr>
          <p:txBody>
            <a:bodyPr tIns="0" bIns="0" anchor="t">
              <a:spAutoFit/>
            </a:bodyPr>
            <a:lstStyle/>
            <a:p>
              <a:pPr lvl="0" algn="ctr">
                <a:spcBef>
                  <a:spcPct val="50000"/>
                </a:spcBef>
              </a:pPr>
              <a:r>
                <a:rPr lang="en-US" altLang="x-none" b="1" dirty="0">
                  <a:latin typeface="Times New Roman" panose="02020603050405020304" pitchFamily="2" charset="0"/>
                  <a:ea typeface="宋体" panose="02010600030101010101" pitchFamily="2" charset="-122"/>
                </a:rPr>
                <a:t>ABC</a:t>
              </a:r>
            </a:p>
          </p:txBody>
        </p:sp>
      </p:grpSp>
      <p:sp>
        <p:nvSpPr>
          <p:cNvPr id="156700" name="Rectangle 27"/>
          <p:cNvSpPr/>
          <p:nvPr/>
        </p:nvSpPr>
        <p:spPr>
          <a:xfrm>
            <a:off x="323850" y="692150"/>
            <a:ext cx="7559675" cy="504825"/>
          </a:xfrm>
          <a:prstGeom prst="rect">
            <a:avLst/>
          </a:prstGeom>
          <a:solidFill>
            <a:schemeClr val="bg1"/>
          </a:solidFill>
          <a:ln w="9525">
            <a:noFill/>
          </a:ln>
        </p:spPr>
        <p:txBody>
          <a:bodyPr anchor="t"/>
          <a:lstStyle/>
          <a:p>
            <a:pPr marL="342900" lvl="0" indent="-342900">
              <a:spcBef>
                <a:spcPct val="20000"/>
              </a:spcBef>
              <a:buClr>
                <a:schemeClr val="tx1"/>
              </a:buClr>
              <a:buFont typeface="Wingdings" panose="05000000000000000000" pitchFamily="2" charset="2"/>
              <a:buChar char="q"/>
            </a:pPr>
            <a:r>
              <a:rPr lang="en-US" altLang="x-none" sz="3200" b="1" dirty="0">
                <a:solidFill>
                  <a:srgbClr val="FF0000"/>
                </a:solidFill>
                <a:latin typeface="Arial" panose="020B0604020202020204" pitchFamily="34" charset="0"/>
                <a:ea typeface="宋体" panose="02010600030101010101" pitchFamily="2" charset="-122"/>
              </a:rPr>
              <a:t>Ex 6.7.3 </a:t>
            </a:r>
            <a:r>
              <a:rPr lang="en-US" altLang="x-none" sz="3200" b="1" dirty="0">
                <a:solidFill>
                  <a:schemeClr val="accent2"/>
                </a:solidFill>
                <a:latin typeface="Arial" panose="020B0604020202020204" pitchFamily="34" charset="0"/>
                <a:ea typeface="宋体" panose="02010600030101010101" pitchFamily="2" charset="-122"/>
              </a:rPr>
              <a:t>Table ABC with a FD:</a:t>
            </a:r>
            <a:r>
              <a:rPr lang="en-US" altLang="x-none" sz="3200" b="1" dirty="0">
                <a:solidFill>
                  <a:srgbClr val="FF0000"/>
                </a:solidFill>
                <a:latin typeface="Arial" panose="020B0604020202020204" pitchFamily="34" charset="0"/>
                <a:ea typeface="宋体" panose="02010600030101010101" pitchFamily="2" charset="-122"/>
              </a:rPr>
              <a:t> B</a:t>
            </a:r>
            <a:r>
              <a:rPr lang="en-US" altLang="x-none" sz="3200" b="1" dirty="0">
                <a:solidFill>
                  <a:srgbClr val="FF0000"/>
                </a:solidFill>
                <a:latin typeface="Arial" panose="020B0604020202020204" pitchFamily="34" charset="0"/>
                <a:ea typeface="宋体" panose="02010600030101010101" pitchFamily="2" charset="-122"/>
                <a:sym typeface="Symbol" panose="05050102010706020507" pitchFamily="2" charset="2"/>
              </a:rPr>
              <a:t>C</a:t>
            </a:r>
            <a:endParaRPr lang="en-US" altLang="x-none" sz="3200" b="1" dirty="0">
              <a:solidFill>
                <a:schemeClr val="accent2"/>
              </a:solidFill>
              <a:latin typeface="Arial" panose="020B0604020202020204" pitchFamily="34" charset="0"/>
              <a:ea typeface="宋体" panose="02010600030101010101" pitchFamily="2" charset="-122"/>
              <a:sym typeface="Symbol" panose="05050102010706020507" pitchFamily="2" charset="2"/>
            </a:endParaRPr>
          </a:p>
        </p:txBody>
      </p:sp>
      <p:sp>
        <p:nvSpPr>
          <p:cNvPr id="156702" name="Rectangle 31"/>
          <p:cNvSpPr/>
          <p:nvPr/>
        </p:nvSpPr>
        <p:spPr>
          <a:xfrm>
            <a:off x="466725" y="4440238"/>
            <a:ext cx="8143875" cy="1103312"/>
          </a:xfrm>
          <a:prstGeom prst="rect">
            <a:avLst/>
          </a:prstGeom>
          <a:solidFill>
            <a:schemeClr val="bg1"/>
          </a:solidFill>
          <a:ln w="9525">
            <a:noFill/>
          </a:ln>
        </p:spPr>
        <p:txBody>
          <a:bodyPr anchor="t"/>
          <a:lstStyle/>
          <a:p>
            <a:pPr marL="342900" lvl="0" indent="-342900">
              <a:spcBef>
                <a:spcPct val="20000"/>
              </a:spcBef>
              <a:buClr>
                <a:schemeClr val="accent1"/>
              </a:buClr>
              <a:buChar char="–"/>
            </a:pPr>
            <a:r>
              <a:rPr lang="en-US" altLang="x-none" sz="3200" b="1" dirty="0">
                <a:solidFill>
                  <a:schemeClr val="accent2"/>
                </a:solidFill>
                <a:latin typeface="Arial" panose="020B0604020202020204" pitchFamily="34" charset="0"/>
                <a:ea typeface="宋体" panose="02010600030101010101" pitchFamily="2" charset="-122"/>
                <a:sym typeface="Symbol" panose="05050102010706020507" pitchFamily="2" charset="2"/>
              </a:rPr>
              <a:t>but, we can insert a row</a:t>
            </a:r>
            <a:r>
              <a:rPr lang="zh-CN" altLang="en-US" sz="3200" b="1" dirty="0">
                <a:solidFill>
                  <a:schemeClr val="accent2"/>
                </a:solidFill>
                <a:latin typeface="Arial" panose="020B0604020202020204" pitchFamily="34" charset="0"/>
                <a:ea typeface="宋体" panose="02010600030101010101" pitchFamily="2" charset="-122"/>
                <a:sym typeface="Symbol" panose="05050102010706020507" pitchFamily="2" charset="2"/>
              </a:rPr>
              <a:t> </a:t>
            </a:r>
            <a:r>
              <a:rPr lang="en-US" altLang="x-none" sz="3200" b="1" dirty="0">
                <a:solidFill>
                  <a:schemeClr val="accent2"/>
                </a:solidFill>
                <a:latin typeface="Arial" panose="020B0604020202020204" pitchFamily="34" charset="0"/>
                <a:ea typeface="宋体" panose="02010600030101010101" pitchFamily="2" charset="-122"/>
                <a:sym typeface="Symbol" panose="05050102010706020507" pitchFamily="2" charset="2"/>
              </a:rPr>
              <a:t>(a4, 200, c2) to this table.</a:t>
            </a:r>
          </a:p>
        </p:txBody>
      </p:sp>
      <p:graphicFrame>
        <p:nvGraphicFramePr>
          <p:cNvPr id="156703" name="内容占位符 156702"/>
          <p:cNvGraphicFramePr>
            <a:graphicFrameLocks noGrp="1"/>
          </p:cNvGraphicFramePr>
          <p:nvPr>
            <p:ph sz="half" idx="1"/>
          </p:nvPr>
        </p:nvGraphicFramePr>
        <p:xfrm>
          <a:off x="2484438" y="3573463"/>
          <a:ext cx="3671888" cy="517525"/>
        </p:xfrm>
        <a:graphic>
          <a:graphicData uri="http://schemas.openxmlformats.org/drawingml/2006/table">
            <a:tbl>
              <a:tblPr/>
              <a:tblGrid>
                <a:gridCol w="1063625">
                  <a:extLst>
                    <a:ext uri="{9D8B030D-6E8A-4147-A177-3AD203B41FA5}">
                      <a16:colId xmlns:a16="http://schemas.microsoft.com/office/drawing/2014/main" val="20000"/>
                    </a:ext>
                  </a:extLst>
                </a:gridCol>
                <a:gridCol w="1468438">
                  <a:extLst>
                    <a:ext uri="{9D8B030D-6E8A-4147-A177-3AD203B41FA5}">
                      <a16:colId xmlns:a16="http://schemas.microsoft.com/office/drawing/2014/main" val="20001"/>
                    </a:ext>
                  </a:extLst>
                </a:gridCol>
                <a:gridCol w="1139825">
                  <a:extLst>
                    <a:ext uri="{9D8B030D-6E8A-4147-A177-3AD203B41FA5}">
                      <a16:colId xmlns:a16="http://schemas.microsoft.com/office/drawing/2014/main" val="20002"/>
                    </a:ext>
                  </a:extLst>
                </a:gridCol>
              </a:tblGrid>
              <a:tr h="51752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a4</a:t>
                      </a:r>
                    </a:p>
                  </a:txBody>
                  <a:tcPr marT="45549" marB="45549"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200</a:t>
                      </a:r>
                    </a:p>
                  </a:txBody>
                  <a:tcPr marT="45549" marB="45549"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c2</a:t>
                      </a:r>
                    </a:p>
                  </a:txBody>
                  <a:tcPr marT="45549" marB="45549"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6703"/>
                                        </p:tgtEl>
                                        <p:attrNameLst>
                                          <p:attrName>style.visibility</p:attrName>
                                        </p:attrNameLst>
                                      </p:cBhvr>
                                      <p:to>
                                        <p:strVal val="visible"/>
                                      </p:to>
                                    </p:set>
                                    <p:animEffect transition="in" filter="blinds(horizontal)">
                                      <p:cBhvr>
                                        <p:cTn id="7" dur="500"/>
                                        <p:tgtEl>
                                          <p:spTgt spid="156703"/>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56702"/>
                                        </p:tgtEl>
                                        <p:attrNameLst>
                                          <p:attrName>style.visibility</p:attrName>
                                        </p:attrNameLst>
                                      </p:cBhvr>
                                      <p:to>
                                        <p:strVal val="visible"/>
                                      </p:to>
                                    </p:set>
                                    <p:animEffect transition="in" filter="blinds(horizontal)">
                                      <p:cBhvr>
                                        <p:cTn id="11" dur="500"/>
                                        <p:tgtEl>
                                          <p:spTgt spid="1567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702" grpId="0" bldLvl="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57698"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57699"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89</a:t>
            </a:fld>
            <a:endParaRPr lang="zh-CN" altLang="en-US" sz="1200" b="1" i="1" dirty="0">
              <a:latin typeface="Times New Roman" panose="02020603050405020304" pitchFamily="2" charset="0"/>
              <a:ea typeface="宋体" panose="02010600030101010101" pitchFamily="2" charset="-122"/>
            </a:endParaRPr>
          </a:p>
        </p:txBody>
      </p:sp>
      <p:sp>
        <p:nvSpPr>
          <p:cNvPr id="157700" name="Rectangle 2"/>
          <p:cNvSpPr>
            <a:spLocks noGrp="1"/>
          </p:cNvSpPr>
          <p:nvPr>
            <p:ph type="body"/>
          </p:nvPr>
        </p:nvSpPr>
        <p:spPr>
          <a:xfrm>
            <a:off x="228600" y="233363"/>
            <a:ext cx="8686800" cy="5257800"/>
          </a:xfrm>
        </p:spPr>
        <p:txBody>
          <a:bodyPr wrap="square" anchor="t"/>
          <a:lstStyle/>
          <a:p>
            <a:pPr lvl="0" eaLnBrk="1" hangingPunct="1"/>
            <a:r>
              <a:rPr lang="en-US" altLang="x-none" sz="3200" dirty="0">
                <a:ea typeface="宋体" panose="02010600030101010101" pitchFamily="2" charset="-122"/>
              </a:rPr>
              <a:t>Ex 6.7.3 </a:t>
            </a:r>
            <a:r>
              <a:rPr lang="en-US" altLang="x-none" sz="3200" dirty="0">
                <a:solidFill>
                  <a:schemeClr val="accent2"/>
                </a:solidFill>
                <a:ea typeface="宋体" panose="02010600030101010101" pitchFamily="2" charset="-122"/>
              </a:rPr>
              <a:t>Table ABC with a FD:</a:t>
            </a:r>
            <a:r>
              <a:rPr lang="en-US" altLang="x-none" sz="3200" dirty="0">
                <a:ea typeface="宋体" panose="02010600030101010101" pitchFamily="2" charset="-122"/>
              </a:rPr>
              <a:t> B</a:t>
            </a:r>
            <a:r>
              <a:rPr lang="en-US" altLang="x-none" sz="3200" dirty="0">
                <a:ea typeface="宋体" panose="02010600030101010101" pitchFamily="2" charset="-122"/>
                <a:sym typeface="Symbol" panose="05050102010706020507" pitchFamily="2" charset="2"/>
              </a:rPr>
              <a:t>C</a:t>
            </a:r>
            <a:endParaRPr lang="en-US" altLang="x-none" sz="3200" dirty="0">
              <a:ea typeface="宋体" panose="02010600030101010101" pitchFamily="2" charset="-122"/>
            </a:endParaRPr>
          </a:p>
        </p:txBody>
      </p:sp>
      <p:grpSp>
        <p:nvGrpSpPr>
          <p:cNvPr id="157701" name="组合 157701"/>
          <p:cNvGrpSpPr/>
          <p:nvPr/>
        </p:nvGrpSpPr>
        <p:grpSpPr>
          <a:xfrm>
            <a:off x="1524000" y="914400"/>
            <a:ext cx="2133600" cy="2446338"/>
            <a:chOff x="0" y="0"/>
            <a:chExt cx="1344" cy="1541"/>
          </a:xfrm>
        </p:grpSpPr>
        <p:sp>
          <p:nvSpPr>
            <p:cNvPr id="157702" name="Rectangle 4"/>
            <p:cNvSpPr/>
            <p:nvPr/>
          </p:nvSpPr>
          <p:spPr>
            <a:xfrm>
              <a:off x="912" y="1288"/>
              <a:ext cx="432"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c2</a:t>
              </a:r>
            </a:p>
          </p:txBody>
        </p:sp>
        <p:sp>
          <p:nvSpPr>
            <p:cNvPr id="157703" name="Rectangle 5"/>
            <p:cNvSpPr/>
            <p:nvPr/>
          </p:nvSpPr>
          <p:spPr>
            <a:xfrm>
              <a:off x="384" y="1288"/>
              <a:ext cx="528"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7704" name="Rectangle 6"/>
            <p:cNvSpPr/>
            <p:nvPr/>
          </p:nvSpPr>
          <p:spPr>
            <a:xfrm>
              <a:off x="0" y="1288"/>
              <a:ext cx="384"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a4</a:t>
              </a:r>
            </a:p>
          </p:txBody>
        </p:sp>
        <p:sp>
          <p:nvSpPr>
            <p:cNvPr id="157705" name="Rectangle 7"/>
            <p:cNvSpPr/>
            <p:nvPr/>
          </p:nvSpPr>
          <p:spPr>
            <a:xfrm>
              <a:off x="912" y="1035"/>
              <a:ext cx="432"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c3</a:t>
              </a:r>
            </a:p>
          </p:txBody>
        </p:sp>
        <p:sp>
          <p:nvSpPr>
            <p:cNvPr id="157706" name="Rectangle 8"/>
            <p:cNvSpPr/>
            <p:nvPr/>
          </p:nvSpPr>
          <p:spPr>
            <a:xfrm>
              <a:off x="384" y="1035"/>
              <a:ext cx="528"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300</a:t>
              </a:r>
            </a:p>
          </p:txBody>
        </p:sp>
        <p:sp>
          <p:nvSpPr>
            <p:cNvPr id="157707" name="Rectangle 9"/>
            <p:cNvSpPr/>
            <p:nvPr/>
          </p:nvSpPr>
          <p:spPr>
            <a:xfrm>
              <a:off x="0" y="1035"/>
              <a:ext cx="384"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a3</a:t>
              </a:r>
            </a:p>
          </p:txBody>
        </p:sp>
        <p:sp>
          <p:nvSpPr>
            <p:cNvPr id="157708" name="Rectangle 10"/>
            <p:cNvSpPr/>
            <p:nvPr/>
          </p:nvSpPr>
          <p:spPr>
            <a:xfrm>
              <a:off x="912" y="782"/>
              <a:ext cx="432"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c2</a:t>
              </a:r>
            </a:p>
          </p:txBody>
        </p:sp>
        <p:sp>
          <p:nvSpPr>
            <p:cNvPr id="157709" name="Rectangle 11"/>
            <p:cNvSpPr/>
            <p:nvPr/>
          </p:nvSpPr>
          <p:spPr>
            <a:xfrm>
              <a:off x="384" y="782"/>
              <a:ext cx="528"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7710" name="Rectangle 12"/>
            <p:cNvSpPr/>
            <p:nvPr/>
          </p:nvSpPr>
          <p:spPr>
            <a:xfrm>
              <a:off x="0" y="782"/>
              <a:ext cx="384"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a2</a:t>
              </a:r>
            </a:p>
          </p:txBody>
        </p:sp>
        <p:sp>
          <p:nvSpPr>
            <p:cNvPr id="157711" name="Rectangle 13"/>
            <p:cNvSpPr/>
            <p:nvPr/>
          </p:nvSpPr>
          <p:spPr>
            <a:xfrm>
              <a:off x="912" y="529"/>
              <a:ext cx="432"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c1</a:t>
              </a:r>
            </a:p>
          </p:txBody>
        </p:sp>
        <p:sp>
          <p:nvSpPr>
            <p:cNvPr id="157712" name="Rectangle 14"/>
            <p:cNvSpPr/>
            <p:nvPr/>
          </p:nvSpPr>
          <p:spPr>
            <a:xfrm>
              <a:off x="384" y="529"/>
              <a:ext cx="528"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100</a:t>
              </a:r>
            </a:p>
          </p:txBody>
        </p:sp>
        <p:sp>
          <p:nvSpPr>
            <p:cNvPr id="157713" name="Rectangle 15"/>
            <p:cNvSpPr/>
            <p:nvPr/>
          </p:nvSpPr>
          <p:spPr>
            <a:xfrm>
              <a:off x="0" y="529"/>
              <a:ext cx="384"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a1</a:t>
              </a:r>
            </a:p>
          </p:txBody>
        </p:sp>
        <p:sp>
          <p:nvSpPr>
            <p:cNvPr id="157714" name="Rectangle 16"/>
            <p:cNvSpPr/>
            <p:nvPr/>
          </p:nvSpPr>
          <p:spPr>
            <a:xfrm>
              <a:off x="912" y="276"/>
              <a:ext cx="432"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C</a:t>
              </a:r>
            </a:p>
          </p:txBody>
        </p:sp>
        <p:sp>
          <p:nvSpPr>
            <p:cNvPr id="157715" name="Rectangle 17"/>
            <p:cNvSpPr/>
            <p:nvPr/>
          </p:nvSpPr>
          <p:spPr>
            <a:xfrm>
              <a:off x="384" y="276"/>
              <a:ext cx="528"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157716" name="Rectangle 18"/>
            <p:cNvSpPr/>
            <p:nvPr/>
          </p:nvSpPr>
          <p:spPr>
            <a:xfrm>
              <a:off x="0" y="276"/>
              <a:ext cx="384"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a:t>
              </a:r>
            </a:p>
          </p:txBody>
        </p:sp>
        <p:sp>
          <p:nvSpPr>
            <p:cNvPr id="157717" name="Line 19"/>
            <p:cNvSpPr/>
            <p:nvPr/>
          </p:nvSpPr>
          <p:spPr>
            <a:xfrm>
              <a:off x="0" y="276"/>
              <a:ext cx="1344"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18" name="Line 20"/>
            <p:cNvSpPr/>
            <p:nvPr/>
          </p:nvSpPr>
          <p:spPr>
            <a:xfrm>
              <a:off x="0" y="529"/>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19" name="Line 21"/>
            <p:cNvSpPr/>
            <p:nvPr/>
          </p:nvSpPr>
          <p:spPr>
            <a:xfrm>
              <a:off x="0" y="782"/>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20" name="Line 22"/>
            <p:cNvSpPr/>
            <p:nvPr/>
          </p:nvSpPr>
          <p:spPr>
            <a:xfrm>
              <a:off x="0" y="1035"/>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21" name="Line 23"/>
            <p:cNvSpPr/>
            <p:nvPr/>
          </p:nvSpPr>
          <p:spPr>
            <a:xfrm>
              <a:off x="0" y="1541"/>
              <a:ext cx="1344"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22" name="Line 24"/>
            <p:cNvSpPr/>
            <p:nvPr/>
          </p:nvSpPr>
          <p:spPr>
            <a:xfrm>
              <a:off x="0" y="276"/>
              <a:ext cx="0" cy="1265"/>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23" name="Line 25"/>
            <p:cNvSpPr/>
            <p:nvPr/>
          </p:nvSpPr>
          <p:spPr>
            <a:xfrm>
              <a:off x="384" y="276"/>
              <a:ext cx="0" cy="1265"/>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24" name="Line 26"/>
            <p:cNvSpPr/>
            <p:nvPr/>
          </p:nvSpPr>
          <p:spPr>
            <a:xfrm>
              <a:off x="912" y="276"/>
              <a:ext cx="0" cy="1265"/>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25" name="Line 27"/>
            <p:cNvSpPr/>
            <p:nvPr/>
          </p:nvSpPr>
          <p:spPr>
            <a:xfrm>
              <a:off x="1344" y="276"/>
              <a:ext cx="0" cy="1265"/>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26" name="Line 28"/>
            <p:cNvSpPr/>
            <p:nvPr/>
          </p:nvSpPr>
          <p:spPr>
            <a:xfrm>
              <a:off x="0" y="1288"/>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27" name="Text Box 29"/>
            <p:cNvSpPr txBox="1"/>
            <p:nvPr/>
          </p:nvSpPr>
          <p:spPr>
            <a:xfrm>
              <a:off x="97" y="0"/>
              <a:ext cx="1103" cy="230"/>
            </a:xfrm>
            <a:prstGeom prst="rect">
              <a:avLst/>
            </a:prstGeom>
            <a:noFill/>
            <a:ln w="9525">
              <a:noFill/>
            </a:ln>
          </p:spPr>
          <p:txBody>
            <a:bodyPr tIns="0" bIns="0" anchor="t">
              <a:spAutoFit/>
            </a:bodyPr>
            <a:lstStyle/>
            <a:p>
              <a:pPr lvl="0" algn="ctr">
                <a:spcBef>
                  <a:spcPct val="50000"/>
                </a:spcBef>
              </a:pPr>
              <a:r>
                <a:rPr lang="en-US" altLang="x-none" b="1" dirty="0">
                  <a:latin typeface="Times New Roman" panose="02020603050405020304" pitchFamily="2" charset="0"/>
                  <a:ea typeface="宋体" panose="02010600030101010101" pitchFamily="2" charset="-122"/>
                </a:rPr>
                <a:t>ABC</a:t>
              </a:r>
            </a:p>
          </p:txBody>
        </p:sp>
      </p:grpSp>
      <p:grpSp>
        <p:nvGrpSpPr>
          <p:cNvPr id="157728" name="组合 157728"/>
          <p:cNvGrpSpPr/>
          <p:nvPr/>
        </p:nvGrpSpPr>
        <p:grpSpPr>
          <a:xfrm>
            <a:off x="914400" y="3429000"/>
            <a:ext cx="3505200" cy="2843213"/>
            <a:chOff x="0" y="0"/>
            <a:chExt cx="2208" cy="1791"/>
          </a:xfrm>
        </p:grpSpPr>
        <p:sp>
          <p:nvSpPr>
            <p:cNvPr id="157729" name="Rectangle 31"/>
            <p:cNvSpPr/>
            <p:nvPr/>
          </p:nvSpPr>
          <p:spPr>
            <a:xfrm>
              <a:off x="384" y="1538"/>
              <a:ext cx="528"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7730" name="Rectangle 32"/>
            <p:cNvSpPr/>
            <p:nvPr/>
          </p:nvSpPr>
          <p:spPr>
            <a:xfrm>
              <a:off x="0" y="1538"/>
              <a:ext cx="384"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a4</a:t>
              </a:r>
            </a:p>
          </p:txBody>
        </p:sp>
        <p:sp>
          <p:nvSpPr>
            <p:cNvPr id="157731" name="Rectangle 33"/>
            <p:cNvSpPr/>
            <p:nvPr/>
          </p:nvSpPr>
          <p:spPr>
            <a:xfrm>
              <a:off x="384" y="1285"/>
              <a:ext cx="528"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300</a:t>
              </a:r>
            </a:p>
          </p:txBody>
        </p:sp>
        <p:sp>
          <p:nvSpPr>
            <p:cNvPr id="157732" name="Rectangle 34"/>
            <p:cNvSpPr/>
            <p:nvPr/>
          </p:nvSpPr>
          <p:spPr>
            <a:xfrm>
              <a:off x="0" y="1285"/>
              <a:ext cx="384"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a3</a:t>
              </a:r>
            </a:p>
          </p:txBody>
        </p:sp>
        <p:sp>
          <p:nvSpPr>
            <p:cNvPr id="157733" name="Rectangle 35"/>
            <p:cNvSpPr/>
            <p:nvPr/>
          </p:nvSpPr>
          <p:spPr>
            <a:xfrm>
              <a:off x="384" y="1032"/>
              <a:ext cx="528"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7734" name="Rectangle 36"/>
            <p:cNvSpPr/>
            <p:nvPr/>
          </p:nvSpPr>
          <p:spPr>
            <a:xfrm>
              <a:off x="0" y="1032"/>
              <a:ext cx="384"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a2</a:t>
              </a:r>
            </a:p>
          </p:txBody>
        </p:sp>
        <p:sp>
          <p:nvSpPr>
            <p:cNvPr id="157735" name="Rectangle 37"/>
            <p:cNvSpPr/>
            <p:nvPr/>
          </p:nvSpPr>
          <p:spPr>
            <a:xfrm>
              <a:off x="384" y="779"/>
              <a:ext cx="528"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100</a:t>
              </a:r>
            </a:p>
          </p:txBody>
        </p:sp>
        <p:sp>
          <p:nvSpPr>
            <p:cNvPr id="157736" name="Rectangle 38"/>
            <p:cNvSpPr/>
            <p:nvPr/>
          </p:nvSpPr>
          <p:spPr>
            <a:xfrm>
              <a:off x="0" y="779"/>
              <a:ext cx="384"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a1</a:t>
              </a:r>
            </a:p>
          </p:txBody>
        </p:sp>
        <p:sp>
          <p:nvSpPr>
            <p:cNvPr id="157737" name="Rectangle 39"/>
            <p:cNvSpPr/>
            <p:nvPr/>
          </p:nvSpPr>
          <p:spPr>
            <a:xfrm>
              <a:off x="384" y="526"/>
              <a:ext cx="528"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157738" name="Rectangle 40"/>
            <p:cNvSpPr/>
            <p:nvPr/>
          </p:nvSpPr>
          <p:spPr>
            <a:xfrm>
              <a:off x="0" y="526"/>
              <a:ext cx="384"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a:t>
              </a:r>
            </a:p>
          </p:txBody>
        </p:sp>
        <p:sp>
          <p:nvSpPr>
            <p:cNvPr id="157739" name="Line 41"/>
            <p:cNvSpPr/>
            <p:nvPr/>
          </p:nvSpPr>
          <p:spPr>
            <a:xfrm>
              <a:off x="0" y="526"/>
              <a:ext cx="912"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40" name="Line 42"/>
            <p:cNvSpPr/>
            <p:nvPr/>
          </p:nvSpPr>
          <p:spPr>
            <a:xfrm>
              <a:off x="0" y="779"/>
              <a:ext cx="912"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41" name="Line 43"/>
            <p:cNvSpPr/>
            <p:nvPr/>
          </p:nvSpPr>
          <p:spPr>
            <a:xfrm>
              <a:off x="0" y="1032"/>
              <a:ext cx="912"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42" name="Line 44"/>
            <p:cNvSpPr/>
            <p:nvPr/>
          </p:nvSpPr>
          <p:spPr>
            <a:xfrm>
              <a:off x="0" y="1285"/>
              <a:ext cx="912"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43" name="Line 45"/>
            <p:cNvSpPr/>
            <p:nvPr/>
          </p:nvSpPr>
          <p:spPr>
            <a:xfrm>
              <a:off x="0" y="1791"/>
              <a:ext cx="912"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44" name="Line 46"/>
            <p:cNvSpPr/>
            <p:nvPr/>
          </p:nvSpPr>
          <p:spPr>
            <a:xfrm>
              <a:off x="0" y="526"/>
              <a:ext cx="0" cy="1265"/>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45" name="Line 47"/>
            <p:cNvSpPr/>
            <p:nvPr/>
          </p:nvSpPr>
          <p:spPr>
            <a:xfrm>
              <a:off x="384" y="526"/>
              <a:ext cx="0" cy="1265"/>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46" name="Line 48"/>
            <p:cNvSpPr/>
            <p:nvPr/>
          </p:nvSpPr>
          <p:spPr>
            <a:xfrm>
              <a:off x="912" y="526"/>
              <a:ext cx="0" cy="1265"/>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47" name="Line 49"/>
            <p:cNvSpPr/>
            <p:nvPr/>
          </p:nvSpPr>
          <p:spPr>
            <a:xfrm>
              <a:off x="0" y="1538"/>
              <a:ext cx="912"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48" name="Text Box 50"/>
            <p:cNvSpPr txBox="1"/>
            <p:nvPr/>
          </p:nvSpPr>
          <p:spPr>
            <a:xfrm>
              <a:off x="48" y="240"/>
              <a:ext cx="816" cy="230"/>
            </a:xfrm>
            <a:prstGeom prst="rect">
              <a:avLst/>
            </a:prstGeom>
            <a:noFill/>
            <a:ln w="9525">
              <a:noFill/>
            </a:ln>
          </p:spPr>
          <p:txBody>
            <a:bodyPr tIns="0" bIns="0" anchor="t">
              <a:spAutoFit/>
            </a:bodyPr>
            <a:lstStyle/>
            <a:p>
              <a:pPr lvl="0" algn="ctr">
                <a:spcBef>
                  <a:spcPct val="50000"/>
                </a:spcBef>
              </a:pPr>
              <a:r>
                <a:rPr lang="en-US" altLang="x-none" b="1" dirty="0">
                  <a:latin typeface="Times New Roman" panose="02020603050405020304" pitchFamily="2" charset="0"/>
                  <a:ea typeface="宋体" panose="02010600030101010101" pitchFamily="2" charset="-122"/>
                </a:rPr>
                <a:t>AB</a:t>
              </a:r>
            </a:p>
          </p:txBody>
        </p:sp>
        <p:sp>
          <p:nvSpPr>
            <p:cNvPr id="157749" name="Rectangle 52"/>
            <p:cNvSpPr/>
            <p:nvPr/>
          </p:nvSpPr>
          <p:spPr>
            <a:xfrm>
              <a:off x="1776" y="1286"/>
              <a:ext cx="432" cy="254"/>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c3</a:t>
              </a:r>
            </a:p>
          </p:txBody>
        </p:sp>
        <p:sp>
          <p:nvSpPr>
            <p:cNvPr id="157750" name="Rectangle 53"/>
            <p:cNvSpPr/>
            <p:nvPr/>
          </p:nvSpPr>
          <p:spPr>
            <a:xfrm>
              <a:off x="1248" y="1286"/>
              <a:ext cx="528" cy="254"/>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300</a:t>
              </a:r>
            </a:p>
          </p:txBody>
        </p:sp>
        <p:sp>
          <p:nvSpPr>
            <p:cNvPr id="157751" name="Rectangle 54"/>
            <p:cNvSpPr/>
            <p:nvPr/>
          </p:nvSpPr>
          <p:spPr>
            <a:xfrm>
              <a:off x="1776" y="1032"/>
              <a:ext cx="432" cy="254"/>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c2</a:t>
              </a:r>
            </a:p>
          </p:txBody>
        </p:sp>
        <p:sp>
          <p:nvSpPr>
            <p:cNvPr id="157752" name="Rectangle 55"/>
            <p:cNvSpPr/>
            <p:nvPr/>
          </p:nvSpPr>
          <p:spPr>
            <a:xfrm>
              <a:off x="1248" y="1032"/>
              <a:ext cx="528" cy="254"/>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7753" name="Rectangle 56"/>
            <p:cNvSpPr/>
            <p:nvPr/>
          </p:nvSpPr>
          <p:spPr>
            <a:xfrm>
              <a:off x="1776" y="779"/>
              <a:ext cx="432"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c1</a:t>
              </a:r>
            </a:p>
          </p:txBody>
        </p:sp>
        <p:sp>
          <p:nvSpPr>
            <p:cNvPr id="157754" name="Rectangle 57"/>
            <p:cNvSpPr/>
            <p:nvPr/>
          </p:nvSpPr>
          <p:spPr>
            <a:xfrm>
              <a:off x="1248" y="779"/>
              <a:ext cx="528"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100</a:t>
              </a:r>
            </a:p>
          </p:txBody>
        </p:sp>
        <p:sp>
          <p:nvSpPr>
            <p:cNvPr id="157755" name="Rectangle 58"/>
            <p:cNvSpPr/>
            <p:nvPr/>
          </p:nvSpPr>
          <p:spPr>
            <a:xfrm>
              <a:off x="1776" y="526"/>
              <a:ext cx="432"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C</a:t>
              </a:r>
            </a:p>
          </p:txBody>
        </p:sp>
        <p:sp>
          <p:nvSpPr>
            <p:cNvPr id="157756" name="Rectangle 59"/>
            <p:cNvSpPr/>
            <p:nvPr/>
          </p:nvSpPr>
          <p:spPr>
            <a:xfrm>
              <a:off x="1248" y="526"/>
              <a:ext cx="528"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157757" name="Line 60"/>
            <p:cNvSpPr/>
            <p:nvPr/>
          </p:nvSpPr>
          <p:spPr>
            <a:xfrm>
              <a:off x="1248" y="526"/>
              <a:ext cx="960"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58" name="Line 61"/>
            <p:cNvSpPr/>
            <p:nvPr/>
          </p:nvSpPr>
          <p:spPr>
            <a:xfrm>
              <a:off x="1248" y="779"/>
              <a:ext cx="960"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59" name="Line 62"/>
            <p:cNvSpPr/>
            <p:nvPr/>
          </p:nvSpPr>
          <p:spPr>
            <a:xfrm>
              <a:off x="1248" y="1032"/>
              <a:ext cx="960"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60" name="Line 63"/>
            <p:cNvSpPr/>
            <p:nvPr/>
          </p:nvSpPr>
          <p:spPr>
            <a:xfrm>
              <a:off x="1248" y="1286"/>
              <a:ext cx="960"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61" name="Line 64"/>
            <p:cNvSpPr/>
            <p:nvPr/>
          </p:nvSpPr>
          <p:spPr>
            <a:xfrm>
              <a:off x="1248" y="1540"/>
              <a:ext cx="960"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62" name="Line 65"/>
            <p:cNvSpPr/>
            <p:nvPr/>
          </p:nvSpPr>
          <p:spPr>
            <a:xfrm>
              <a:off x="1248" y="526"/>
              <a:ext cx="0" cy="1014"/>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63" name="Line 66"/>
            <p:cNvSpPr/>
            <p:nvPr/>
          </p:nvSpPr>
          <p:spPr>
            <a:xfrm>
              <a:off x="1776" y="526"/>
              <a:ext cx="0" cy="1014"/>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64" name="Line 67"/>
            <p:cNvSpPr/>
            <p:nvPr/>
          </p:nvSpPr>
          <p:spPr>
            <a:xfrm>
              <a:off x="2208" y="526"/>
              <a:ext cx="0" cy="1014"/>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65" name="Text Box 68"/>
            <p:cNvSpPr txBox="1"/>
            <p:nvPr/>
          </p:nvSpPr>
          <p:spPr>
            <a:xfrm>
              <a:off x="1296" y="240"/>
              <a:ext cx="864" cy="230"/>
            </a:xfrm>
            <a:prstGeom prst="rect">
              <a:avLst/>
            </a:prstGeom>
            <a:noFill/>
            <a:ln w="9525">
              <a:noFill/>
            </a:ln>
          </p:spPr>
          <p:txBody>
            <a:bodyPr tIns="0" bIns="0" anchor="t">
              <a:spAutoFit/>
            </a:bodyPr>
            <a:lstStyle/>
            <a:p>
              <a:pPr lvl="0" algn="ctr">
                <a:spcBef>
                  <a:spcPct val="50000"/>
                </a:spcBef>
              </a:pPr>
              <a:r>
                <a:rPr lang="en-US" altLang="x-none" b="1" dirty="0">
                  <a:latin typeface="Times New Roman" panose="02020603050405020304" pitchFamily="2" charset="0"/>
                  <a:ea typeface="宋体" panose="02010600030101010101" pitchFamily="2" charset="-122"/>
                </a:rPr>
                <a:t>BC</a:t>
              </a:r>
            </a:p>
          </p:txBody>
        </p:sp>
        <p:sp>
          <p:nvSpPr>
            <p:cNvPr id="157766" name="AutoShape 69"/>
            <p:cNvSpPr/>
            <p:nvPr/>
          </p:nvSpPr>
          <p:spPr>
            <a:xfrm>
              <a:off x="912" y="0"/>
              <a:ext cx="240" cy="240"/>
            </a:xfrm>
            <a:prstGeom prst="downArrow">
              <a:avLst>
                <a:gd name="adj1" fmla="val 50000"/>
                <a:gd name="adj2" fmla="val 25000"/>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algn="ctr"/>
              <a:endParaRPr lang="zh-CN" altLang="en-US" dirty="0">
                <a:latin typeface="Times New Roman" panose="02020603050405020304" pitchFamily="2" charset="0"/>
                <a:ea typeface="宋体" panose="02010600030101010101" pitchFamily="2" charset="-122"/>
              </a:endParaRPr>
            </a:p>
          </p:txBody>
        </p:sp>
      </p:grpSp>
      <p:grpSp>
        <p:nvGrpSpPr>
          <p:cNvPr id="157767" name="组合 157767"/>
          <p:cNvGrpSpPr/>
          <p:nvPr/>
        </p:nvGrpSpPr>
        <p:grpSpPr>
          <a:xfrm>
            <a:off x="4724400" y="914400"/>
            <a:ext cx="2971800" cy="4191000"/>
            <a:chOff x="0" y="0"/>
            <a:chExt cx="1872" cy="2640"/>
          </a:xfrm>
        </p:grpSpPr>
        <p:sp>
          <p:nvSpPr>
            <p:cNvPr id="157768" name="AutoShape 70"/>
            <p:cNvSpPr/>
            <p:nvPr/>
          </p:nvSpPr>
          <p:spPr>
            <a:xfrm>
              <a:off x="0" y="1872"/>
              <a:ext cx="1296" cy="768"/>
            </a:xfrm>
            <a:custGeom>
              <a:avLst/>
              <a:gdLst/>
              <a:ahLst/>
              <a:cxnLst>
                <a:cxn ang="17694720">
                  <a:pos x="0" y="0"/>
                </a:cxn>
                <a:cxn ang="11796480">
                  <a:pos x="0" y="0"/>
                </a:cxn>
                <a:cxn ang="11796480">
                  <a:pos x="0" y="0"/>
                </a:cxn>
                <a:cxn ang="5898240">
                  <a:pos x="0" y="0"/>
                </a:cxn>
                <a:cxn ang="0">
                  <a:pos x="0" y="0"/>
                </a:cxn>
                <a:cxn ang="0">
                  <a:pos x="0" y="0"/>
                </a:cxn>
              </a:cxnLst>
              <a:rect l="0" t="0" r="0" b="0"/>
              <a:pathLst>
                <a:path w="21600" h="21600">
                  <a:moveTo>
                    <a:pt x="19383" y="0"/>
                  </a:moveTo>
                  <a:lnTo>
                    <a:pt x="17166" y="7763"/>
                  </a:lnTo>
                  <a:lnTo>
                    <a:pt x="19033" y="7763"/>
                  </a:lnTo>
                  <a:lnTo>
                    <a:pt x="19033" y="20834"/>
                  </a:lnTo>
                  <a:lnTo>
                    <a:pt x="0" y="20834"/>
                  </a:lnTo>
                  <a:lnTo>
                    <a:pt x="0" y="21600"/>
                  </a:lnTo>
                  <a:lnTo>
                    <a:pt x="19733" y="21600"/>
                  </a:lnTo>
                  <a:lnTo>
                    <a:pt x="19733" y="7763"/>
                  </a:lnTo>
                  <a:lnTo>
                    <a:pt x="21600" y="7763"/>
                  </a:lnTo>
                  <a:lnTo>
                    <a:pt x="19383" y="0"/>
                  </a:lnTo>
                  <a:close/>
                </a:path>
              </a:pathLst>
            </a:custGeom>
            <a:solidFill>
              <a:schemeClr val="accent1"/>
            </a:solidFill>
            <a:ln w="9525" cap="flat" cmpd="sng">
              <a:solidFill>
                <a:schemeClr val="tx1"/>
              </a:solidFill>
              <a:prstDash val="solid"/>
              <a:round/>
              <a:headEnd type="none" w="med" len="med"/>
              <a:tailEnd type="none" w="med" len="med"/>
            </a:ln>
          </p:spPr>
          <p:txBody>
            <a:bodyPr/>
            <a:lstStyle/>
            <a:p>
              <a:endParaRPr lang="zh-CN" altLang="en-US"/>
            </a:p>
          </p:txBody>
        </p:sp>
        <p:sp>
          <p:nvSpPr>
            <p:cNvPr id="157769" name="Rectangle 72"/>
            <p:cNvSpPr/>
            <p:nvPr/>
          </p:nvSpPr>
          <p:spPr>
            <a:xfrm>
              <a:off x="1440" y="1141"/>
              <a:ext cx="432" cy="29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c3</a:t>
              </a:r>
            </a:p>
          </p:txBody>
        </p:sp>
        <p:sp>
          <p:nvSpPr>
            <p:cNvPr id="157770" name="Rectangle 73"/>
            <p:cNvSpPr/>
            <p:nvPr/>
          </p:nvSpPr>
          <p:spPr>
            <a:xfrm>
              <a:off x="912" y="1141"/>
              <a:ext cx="528" cy="29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300</a:t>
              </a:r>
            </a:p>
          </p:txBody>
        </p:sp>
        <p:sp>
          <p:nvSpPr>
            <p:cNvPr id="157771" name="Rectangle 74"/>
            <p:cNvSpPr/>
            <p:nvPr/>
          </p:nvSpPr>
          <p:spPr>
            <a:xfrm>
              <a:off x="528" y="1141"/>
              <a:ext cx="384" cy="29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a3</a:t>
              </a:r>
            </a:p>
          </p:txBody>
        </p:sp>
        <p:sp>
          <p:nvSpPr>
            <p:cNvPr id="157772" name="Rectangle 75"/>
            <p:cNvSpPr/>
            <p:nvPr/>
          </p:nvSpPr>
          <p:spPr>
            <a:xfrm>
              <a:off x="1440" y="1434"/>
              <a:ext cx="432" cy="294"/>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c2</a:t>
              </a:r>
            </a:p>
          </p:txBody>
        </p:sp>
        <p:sp>
          <p:nvSpPr>
            <p:cNvPr id="157773" name="Rectangle 76"/>
            <p:cNvSpPr/>
            <p:nvPr/>
          </p:nvSpPr>
          <p:spPr>
            <a:xfrm>
              <a:off x="912" y="1434"/>
              <a:ext cx="528" cy="294"/>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7774" name="Rectangle 77"/>
            <p:cNvSpPr/>
            <p:nvPr/>
          </p:nvSpPr>
          <p:spPr>
            <a:xfrm>
              <a:off x="528" y="1434"/>
              <a:ext cx="384" cy="294"/>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a4</a:t>
              </a:r>
            </a:p>
          </p:txBody>
        </p:sp>
        <p:sp>
          <p:nvSpPr>
            <p:cNvPr id="157775" name="Rectangle 78"/>
            <p:cNvSpPr/>
            <p:nvPr/>
          </p:nvSpPr>
          <p:spPr>
            <a:xfrm>
              <a:off x="1440" y="849"/>
              <a:ext cx="432" cy="292"/>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c2</a:t>
              </a:r>
            </a:p>
          </p:txBody>
        </p:sp>
        <p:sp>
          <p:nvSpPr>
            <p:cNvPr id="157776" name="Rectangle 79"/>
            <p:cNvSpPr/>
            <p:nvPr/>
          </p:nvSpPr>
          <p:spPr>
            <a:xfrm>
              <a:off x="912" y="849"/>
              <a:ext cx="528" cy="292"/>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7777" name="Rectangle 80"/>
            <p:cNvSpPr/>
            <p:nvPr/>
          </p:nvSpPr>
          <p:spPr>
            <a:xfrm>
              <a:off x="528" y="849"/>
              <a:ext cx="384" cy="292"/>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a2</a:t>
              </a:r>
            </a:p>
          </p:txBody>
        </p:sp>
        <p:sp>
          <p:nvSpPr>
            <p:cNvPr id="157778" name="Rectangle 81"/>
            <p:cNvSpPr/>
            <p:nvPr/>
          </p:nvSpPr>
          <p:spPr>
            <a:xfrm>
              <a:off x="1440" y="558"/>
              <a:ext cx="432" cy="291"/>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c1</a:t>
              </a:r>
            </a:p>
          </p:txBody>
        </p:sp>
        <p:sp>
          <p:nvSpPr>
            <p:cNvPr id="157779" name="Rectangle 82"/>
            <p:cNvSpPr/>
            <p:nvPr/>
          </p:nvSpPr>
          <p:spPr>
            <a:xfrm>
              <a:off x="912" y="558"/>
              <a:ext cx="528" cy="291"/>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100</a:t>
              </a:r>
            </a:p>
          </p:txBody>
        </p:sp>
        <p:sp>
          <p:nvSpPr>
            <p:cNvPr id="157780" name="Rectangle 83"/>
            <p:cNvSpPr/>
            <p:nvPr/>
          </p:nvSpPr>
          <p:spPr>
            <a:xfrm>
              <a:off x="528" y="558"/>
              <a:ext cx="384" cy="291"/>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a1</a:t>
              </a:r>
            </a:p>
          </p:txBody>
        </p:sp>
        <p:sp>
          <p:nvSpPr>
            <p:cNvPr id="157781" name="Rectangle 84"/>
            <p:cNvSpPr/>
            <p:nvPr/>
          </p:nvSpPr>
          <p:spPr>
            <a:xfrm>
              <a:off x="1440" y="276"/>
              <a:ext cx="432" cy="282"/>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C</a:t>
              </a:r>
            </a:p>
          </p:txBody>
        </p:sp>
        <p:sp>
          <p:nvSpPr>
            <p:cNvPr id="157782" name="Rectangle 85"/>
            <p:cNvSpPr/>
            <p:nvPr/>
          </p:nvSpPr>
          <p:spPr>
            <a:xfrm>
              <a:off x="912" y="276"/>
              <a:ext cx="528" cy="282"/>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157783" name="Rectangle 86"/>
            <p:cNvSpPr/>
            <p:nvPr/>
          </p:nvSpPr>
          <p:spPr>
            <a:xfrm>
              <a:off x="528" y="276"/>
              <a:ext cx="384" cy="282"/>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a:t>
              </a:r>
            </a:p>
          </p:txBody>
        </p:sp>
        <p:sp>
          <p:nvSpPr>
            <p:cNvPr id="157784" name="Line 87"/>
            <p:cNvSpPr/>
            <p:nvPr/>
          </p:nvSpPr>
          <p:spPr>
            <a:xfrm>
              <a:off x="528" y="276"/>
              <a:ext cx="1344"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85" name="Line 88"/>
            <p:cNvSpPr/>
            <p:nvPr/>
          </p:nvSpPr>
          <p:spPr>
            <a:xfrm>
              <a:off x="528" y="558"/>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86" name="Line 89"/>
            <p:cNvSpPr/>
            <p:nvPr/>
          </p:nvSpPr>
          <p:spPr>
            <a:xfrm>
              <a:off x="528" y="849"/>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87" name="Line 90"/>
            <p:cNvSpPr/>
            <p:nvPr/>
          </p:nvSpPr>
          <p:spPr>
            <a:xfrm>
              <a:off x="528" y="1141"/>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88" name="Line 91"/>
            <p:cNvSpPr/>
            <p:nvPr/>
          </p:nvSpPr>
          <p:spPr>
            <a:xfrm>
              <a:off x="528" y="1728"/>
              <a:ext cx="1344"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89" name="Line 92"/>
            <p:cNvSpPr/>
            <p:nvPr/>
          </p:nvSpPr>
          <p:spPr>
            <a:xfrm>
              <a:off x="528" y="276"/>
              <a:ext cx="0" cy="1452"/>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90" name="Line 93"/>
            <p:cNvSpPr/>
            <p:nvPr/>
          </p:nvSpPr>
          <p:spPr>
            <a:xfrm>
              <a:off x="912" y="276"/>
              <a:ext cx="0" cy="1452"/>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91" name="Line 94"/>
            <p:cNvSpPr/>
            <p:nvPr/>
          </p:nvSpPr>
          <p:spPr>
            <a:xfrm>
              <a:off x="1440" y="276"/>
              <a:ext cx="0" cy="1452"/>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92" name="Line 95"/>
            <p:cNvSpPr/>
            <p:nvPr/>
          </p:nvSpPr>
          <p:spPr>
            <a:xfrm>
              <a:off x="1872" y="276"/>
              <a:ext cx="0" cy="1452"/>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93" name="Line 96"/>
            <p:cNvSpPr/>
            <p:nvPr/>
          </p:nvSpPr>
          <p:spPr>
            <a:xfrm>
              <a:off x="528" y="1434"/>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7794" name="Text Box 97"/>
            <p:cNvSpPr txBox="1"/>
            <p:nvPr/>
          </p:nvSpPr>
          <p:spPr>
            <a:xfrm>
              <a:off x="528" y="0"/>
              <a:ext cx="1344" cy="230"/>
            </a:xfrm>
            <a:prstGeom prst="rect">
              <a:avLst/>
            </a:prstGeom>
            <a:noFill/>
            <a:ln w="9525">
              <a:noFill/>
            </a:ln>
          </p:spPr>
          <p:txBody>
            <a:bodyPr tIns="0" bIns="0" anchor="t">
              <a:spAutoFit/>
            </a:bodyPr>
            <a:lstStyle/>
            <a:p>
              <a:pPr lvl="0" algn="ctr">
                <a:spcBef>
                  <a:spcPct val="50000"/>
                </a:spcBef>
              </a:pPr>
              <a:r>
                <a:rPr lang="en-US" altLang="x-none" b="1" dirty="0">
                  <a:latin typeface="Times New Roman" panose="02020603050405020304" pitchFamily="2" charset="0"/>
                  <a:ea typeface="宋体" panose="02010600030101010101" pitchFamily="2" charset="-122"/>
                </a:rPr>
                <a:t>AB </a:t>
              </a:r>
              <a:r>
                <a:rPr lang="en-US" altLang="x-none" b="1" dirty="0">
                  <a:latin typeface="Arial" panose="020B0604020202020204" pitchFamily="34" charset="0"/>
                  <a:ea typeface="宋体" panose="02010600030101010101" pitchFamily="2" charset="-122"/>
                  <a:sym typeface="Symbol" panose="05050102010706020507" pitchFamily="2" charset="2"/>
                </a:rPr>
                <a:t> join </a:t>
              </a:r>
              <a:r>
                <a:rPr lang="en-US" altLang="x-none" b="1" dirty="0">
                  <a:latin typeface="Times New Roman" panose="02020603050405020304" pitchFamily="2" charset="0"/>
                  <a:ea typeface="宋体" panose="02010600030101010101" pitchFamily="2" charset="-122"/>
                </a:rPr>
                <a:t> BC</a:t>
              </a:r>
            </a:p>
          </p:txBody>
        </p:sp>
      </p:grpSp>
      <p:sp>
        <p:nvSpPr>
          <p:cNvPr id="157795" name="Text Box 98"/>
          <p:cNvSpPr txBox="1"/>
          <p:nvPr/>
        </p:nvSpPr>
        <p:spPr>
          <a:xfrm>
            <a:off x="4211638" y="6002338"/>
            <a:ext cx="4860925" cy="579437"/>
          </a:xfrm>
          <a:prstGeom prst="rect">
            <a:avLst/>
          </a:prstGeom>
          <a:solidFill>
            <a:srgbClr val="CCFFFF"/>
          </a:solidFill>
          <a:ln w="9525">
            <a:noFill/>
          </a:ln>
        </p:spPr>
        <p:txBody>
          <a:bodyPr wrap="square" anchor="t">
            <a:spAutoFit/>
          </a:bodyPr>
          <a:lstStyle/>
          <a:p>
            <a:pPr lvl="0">
              <a:spcBef>
                <a:spcPct val="50000"/>
              </a:spcBef>
            </a:pPr>
            <a:r>
              <a:rPr lang="en-US" altLang="x-none" sz="3200" b="1" dirty="0">
                <a:solidFill>
                  <a:srgbClr val="FF0066"/>
                </a:solidFill>
                <a:latin typeface="Arial" panose="020B0604020202020204" pitchFamily="34" charset="0"/>
                <a:ea typeface="宋体" panose="02010600030101010101" pitchFamily="2" charset="-122"/>
              </a:rPr>
              <a:t>ABC </a:t>
            </a:r>
            <a:r>
              <a:rPr lang="en-US" altLang="x-none" sz="3200" b="1" dirty="0">
                <a:solidFill>
                  <a:srgbClr val="FF0066"/>
                </a:solidFill>
                <a:latin typeface="Arial" panose="020B0604020202020204" pitchFamily="34" charset="0"/>
                <a:ea typeface="宋体" panose="02010600030101010101" pitchFamily="2" charset="-122"/>
                <a:sym typeface="Symbol" panose="05050102010706020507" pitchFamily="2" charset="2"/>
              </a:rPr>
              <a:t> </a:t>
            </a:r>
            <a:r>
              <a:rPr lang="en-US" altLang="x-none" sz="3200" b="1" dirty="0">
                <a:solidFill>
                  <a:srgbClr val="FF0066"/>
                </a:solidFill>
                <a:latin typeface="Arial" panose="020B0604020202020204" pitchFamily="34" charset="0"/>
                <a:ea typeface="宋体" panose="02010600030101010101" pitchFamily="2" charset="-122"/>
              </a:rPr>
              <a:t>AB </a:t>
            </a:r>
            <a:r>
              <a:rPr lang="en-US" altLang="x-none" sz="3200" b="1" dirty="0">
                <a:solidFill>
                  <a:srgbClr val="FF0066"/>
                </a:solidFill>
                <a:latin typeface="Arial" panose="020B0604020202020204" pitchFamily="34" charset="0"/>
                <a:ea typeface="宋体" panose="02010600030101010101" pitchFamily="2" charset="-122"/>
                <a:sym typeface="Symbol" panose="05050102010706020507" pitchFamily="2" charset="2"/>
              </a:rPr>
              <a:t>join</a:t>
            </a:r>
            <a:r>
              <a:rPr lang="en-US" altLang="x-none" sz="3200" b="1" dirty="0">
                <a:solidFill>
                  <a:srgbClr val="FF0066"/>
                </a:solidFill>
                <a:latin typeface="Arial" panose="020B0604020202020204" pitchFamily="34" charset="0"/>
                <a:ea typeface="宋体" panose="02010600030101010101" pitchFamily="2" charset="-122"/>
              </a:rPr>
              <a:t> BC, why?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7767"/>
                                        </p:tgtEl>
                                        <p:attrNameLst>
                                          <p:attrName>style.visibility</p:attrName>
                                        </p:attrNameLst>
                                      </p:cBhvr>
                                      <p:to>
                                        <p:strVal val="visible"/>
                                      </p:to>
                                    </p:set>
                                    <p:animEffect transition="in" filter="blinds(horizontal)">
                                      <p:cBhvr>
                                        <p:cTn id="7" dur="500"/>
                                        <p:tgtEl>
                                          <p:spTgt spid="15776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7795"/>
                                        </p:tgtEl>
                                        <p:attrNameLst>
                                          <p:attrName>style.visibility</p:attrName>
                                        </p:attrNameLst>
                                      </p:cBhvr>
                                      <p:to>
                                        <p:strVal val="visible"/>
                                      </p:to>
                                    </p:set>
                                    <p:animEffect transition="in" filter="blinds(horizontal)">
                                      <p:cBhvr>
                                        <p:cTn id="12" dur="500"/>
                                        <p:tgtEl>
                                          <p:spTgt spid="157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95"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6" name="Rectangle 3"/>
          <p:cNvSpPr>
            <a:spLocks noGrp="1"/>
          </p:cNvSpPr>
          <p:nvPr>
            <p:ph type="body"/>
          </p:nvPr>
        </p:nvSpPr>
        <p:spPr>
          <a:xfrm>
            <a:off x="244475" y="695008"/>
            <a:ext cx="8651875" cy="3540760"/>
          </a:xfrm>
          <a:solidFill>
            <a:schemeClr val="bg1"/>
          </a:solidFill>
        </p:spPr>
        <p:txBody>
          <a:bodyPr wrap="square" lIns="90170" tIns="46990" rIns="90170" bIns="46990" anchor="t">
            <a:spAutoFit/>
          </a:bodyPr>
          <a:lstStyle/>
          <a:p>
            <a:pPr marL="457200" lvl="0" indent="-457200" eaLnBrk="1" hangingPunct="1">
              <a:lnSpc>
                <a:spcPct val="100000"/>
              </a:lnSpc>
              <a:spcBef>
                <a:spcPct val="0"/>
              </a:spcBef>
            </a:pPr>
            <a:r>
              <a:rPr lang="en-US" altLang="x-none" dirty="0">
                <a:ea typeface="宋体" panose="02010600030101010101" pitchFamily="2" charset="-122"/>
              </a:rPr>
              <a:t>Theorem 6.7.4. </a:t>
            </a:r>
            <a:r>
              <a:rPr lang="en-US" altLang="x-none" dirty="0">
                <a:solidFill>
                  <a:schemeClr val="accent2"/>
                </a:solidFill>
                <a:ea typeface="宋体" panose="02010600030101010101" pitchFamily="2" charset="-122"/>
              </a:rPr>
              <a:t>Given a table T with a set F of FDs valid on T, then a decomposition of T into two tables {T</a:t>
            </a:r>
            <a:r>
              <a:rPr lang="en-US" altLang="x-none" baseline="-25000" dirty="0">
                <a:solidFill>
                  <a:schemeClr val="accent2"/>
                </a:solidFill>
                <a:ea typeface="宋体" panose="02010600030101010101" pitchFamily="2" charset="-122"/>
              </a:rPr>
              <a:t>1</a:t>
            </a:r>
            <a:r>
              <a:rPr lang="en-US" altLang="x-none" dirty="0">
                <a:solidFill>
                  <a:schemeClr val="accent2"/>
                </a:solidFill>
                <a:ea typeface="宋体" panose="02010600030101010101" pitchFamily="2" charset="-122"/>
              </a:rPr>
              <a:t>, T</a:t>
            </a:r>
            <a:r>
              <a:rPr lang="en-US" altLang="x-none" baseline="-25000" dirty="0">
                <a:solidFill>
                  <a:schemeClr val="accent2"/>
                </a:solidFill>
                <a:ea typeface="宋体" panose="02010600030101010101" pitchFamily="2" charset="-122"/>
              </a:rPr>
              <a:t>2</a:t>
            </a:r>
            <a:r>
              <a:rPr lang="en-US" altLang="x-none" dirty="0">
                <a:solidFill>
                  <a:schemeClr val="accent2"/>
                </a:solidFill>
                <a:ea typeface="宋体" panose="02010600030101010101" pitchFamily="2" charset="-122"/>
              </a:rPr>
              <a:t>} is </a:t>
            </a:r>
            <a:r>
              <a:rPr lang="en-US" altLang="x-none" i="1" dirty="0">
                <a:solidFill>
                  <a:srgbClr val="FF0066"/>
                </a:solidFill>
                <a:ea typeface="宋体" panose="02010600030101010101" pitchFamily="2" charset="-122"/>
              </a:rPr>
              <a:t>a lossless decomposition</a:t>
            </a:r>
            <a:r>
              <a:rPr lang="en-US" altLang="x-none" dirty="0">
                <a:solidFill>
                  <a:schemeClr val="accent2"/>
                </a:solidFill>
                <a:ea typeface="宋体" panose="02010600030101010101" pitchFamily="2" charset="-122"/>
              </a:rPr>
              <a:t> if one of the following functional dependencies is implied by F:</a:t>
            </a:r>
          </a:p>
          <a:p>
            <a:pPr marL="914400" lvl="2" indent="0" eaLnBrk="1" hangingPunct="1">
              <a:lnSpc>
                <a:spcPct val="100000"/>
              </a:lnSpc>
              <a:spcBef>
                <a:spcPct val="0"/>
              </a:spcBef>
              <a:buNone/>
            </a:pPr>
            <a:r>
              <a:rPr lang="en-US" altLang="x-none" dirty="0">
                <a:ea typeface="宋体" panose="02010600030101010101" pitchFamily="2" charset="-122"/>
              </a:rPr>
              <a:t>(1)  Head(T</a:t>
            </a:r>
            <a:r>
              <a:rPr lang="en-US" altLang="x-none" baseline="-25000" dirty="0">
                <a:ea typeface="宋体" panose="02010600030101010101" pitchFamily="2" charset="-122"/>
              </a:rPr>
              <a:t>1</a:t>
            </a:r>
            <a:r>
              <a:rPr lang="en-US" altLang="x-none" dirty="0">
                <a:ea typeface="宋体" panose="02010600030101010101" pitchFamily="2" charset="-122"/>
              </a:rPr>
              <a:t>) </a:t>
            </a:r>
            <a:r>
              <a:rPr lang="en-US" altLang="x-none" dirty="0">
                <a:latin typeface="Symbol" panose="05050102010706020507" pitchFamily="2" charset="2"/>
                <a:ea typeface="宋体" panose="02010600030101010101" pitchFamily="2" charset="-122"/>
                <a:sym typeface="Symbol" panose="05050102010706020507" pitchFamily="2" charset="2"/>
              </a:rPr>
              <a:t></a:t>
            </a:r>
            <a:r>
              <a:rPr lang="en-US" altLang="x-none" dirty="0">
                <a:latin typeface="Symbol" panose="05050102010706020507" pitchFamily="2" charset="2"/>
                <a:ea typeface="宋体" panose="02010600030101010101" pitchFamily="2" charset="-122"/>
              </a:rPr>
              <a:t> </a:t>
            </a:r>
            <a:r>
              <a:rPr lang="en-US" altLang="x-none" dirty="0">
                <a:ea typeface="宋体" panose="02010600030101010101" pitchFamily="2" charset="-122"/>
              </a:rPr>
              <a:t>Head(T</a:t>
            </a:r>
            <a:r>
              <a:rPr lang="en-US" altLang="x-none" baseline="-25000" dirty="0">
                <a:ea typeface="宋体" panose="02010600030101010101" pitchFamily="2" charset="-122"/>
              </a:rPr>
              <a:t>2</a:t>
            </a:r>
            <a:r>
              <a:rPr lang="en-US" altLang="x-none" dirty="0">
                <a:ea typeface="宋体" panose="02010600030101010101" pitchFamily="2" charset="-122"/>
              </a:rPr>
              <a:t>) </a:t>
            </a:r>
            <a:r>
              <a:rPr lang="en-US" altLang="x-none" dirty="0">
                <a:latin typeface="Symbol" panose="05050102010706020507" pitchFamily="2" charset="2"/>
                <a:ea typeface="宋体" panose="02010600030101010101" pitchFamily="2" charset="-122"/>
                <a:sym typeface="Symbol" panose="05050102010706020507" pitchFamily="2" charset="2"/>
              </a:rPr>
              <a:t></a:t>
            </a:r>
            <a:r>
              <a:rPr lang="en-US" altLang="x-none" dirty="0">
                <a:ea typeface="宋体" panose="02010600030101010101" pitchFamily="2" charset="-122"/>
              </a:rPr>
              <a:t> Head(T</a:t>
            </a:r>
            <a:r>
              <a:rPr lang="en-US" altLang="x-none" baseline="-25000" dirty="0">
                <a:ea typeface="宋体" panose="02010600030101010101" pitchFamily="2" charset="-122"/>
              </a:rPr>
              <a:t>1</a:t>
            </a:r>
            <a:r>
              <a:rPr lang="en-US" altLang="x-none" dirty="0">
                <a:ea typeface="宋体" panose="02010600030101010101" pitchFamily="2" charset="-122"/>
              </a:rPr>
              <a:t>)</a:t>
            </a:r>
          </a:p>
          <a:p>
            <a:pPr marL="457200" lvl="1" indent="0" eaLnBrk="1" hangingPunct="1">
              <a:lnSpc>
                <a:spcPct val="100000"/>
              </a:lnSpc>
              <a:spcBef>
                <a:spcPct val="0"/>
              </a:spcBef>
              <a:buNone/>
            </a:pPr>
            <a:r>
              <a:rPr lang="en-US" altLang="x-none" dirty="0">
                <a:ea typeface="宋体" panose="02010600030101010101" pitchFamily="2" charset="-122"/>
              </a:rPr>
              <a:t>or</a:t>
            </a:r>
          </a:p>
          <a:p>
            <a:pPr marL="914400" lvl="2" indent="0" eaLnBrk="1" hangingPunct="1">
              <a:lnSpc>
                <a:spcPct val="100000"/>
              </a:lnSpc>
              <a:spcBef>
                <a:spcPct val="0"/>
              </a:spcBef>
              <a:buNone/>
            </a:pPr>
            <a:r>
              <a:rPr lang="en-US" altLang="x-none" dirty="0">
                <a:ea typeface="宋体" panose="02010600030101010101" pitchFamily="2" charset="-122"/>
              </a:rPr>
              <a:t>(2)  Head(T</a:t>
            </a:r>
            <a:r>
              <a:rPr lang="en-US" altLang="x-none" baseline="-25000" dirty="0">
                <a:ea typeface="宋体" panose="02010600030101010101" pitchFamily="2" charset="-122"/>
              </a:rPr>
              <a:t>1</a:t>
            </a:r>
            <a:r>
              <a:rPr lang="en-US" altLang="x-none" dirty="0">
                <a:ea typeface="宋体" panose="02010600030101010101" pitchFamily="2" charset="-122"/>
              </a:rPr>
              <a:t>) </a:t>
            </a:r>
            <a:r>
              <a:rPr lang="en-US" altLang="x-none" dirty="0">
                <a:latin typeface="Symbol" panose="05050102010706020507" pitchFamily="2" charset="2"/>
                <a:ea typeface="宋体" panose="02010600030101010101" pitchFamily="2" charset="-122"/>
                <a:sym typeface="Symbol" panose="05050102010706020507" pitchFamily="2" charset="2"/>
              </a:rPr>
              <a:t></a:t>
            </a:r>
            <a:r>
              <a:rPr lang="en-US" altLang="x-none" dirty="0">
                <a:latin typeface="Symbol" panose="05050102010706020507" pitchFamily="2" charset="2"/>
                <a:ea typeface="宋体" panose="02010600030101010101" pitchFamily="2" charset="-122"/>
              </a:rPr>
              <a:t> </a:t>
            </a:r>
            <a:r>
              <a:rPr lang="en-US" altLang="x-none" dirty="0">
                <a:ea typeface="宋体" panose="02010600030101010101" pitchFamily="2" charset="-122"/>
              </a:rPr>
              <a:t>Head(T</a:t>
            </a:r>
            <a:r>
              <a:rPr lang="en-US" altLang="x-none" baseline="-25000" dirty="0">
                <a:ea typeface="宋体" panose="02010600030101010101" pitchFamily="2" charset="-122"/>
              </a:rPr>
              <a:t>2</a:t>
            </a:r>
            <a:r>
              <a:rPr lang="en-US" altLang="x-none" dirty="0">
                <a:ea typeface="宋体" panose="02010600030101010101" pitchFamily="2" charset="-122"/>
              </a:rPr>
              <a:t>) </a:t>
            </a:r>
            <a:r>
              <a:rPr lang="en-US" altLang="x-none" dirty="0">
                <a:latin typeface="Symbol" panose="05050102010706020507" pitchFamily="2" charset="2"/>
                <a:ea typeface="宋体" panose="02010600030101010101" pitchFamily="2" charset="-122"/>
                <a:sym typeface="Symbol" panose="05050102010706020507" pitchFamily="2" charset="2"/>
              </a:rPr>
              <a:t></a:t>
            </a:r>
            <a:r>
              <a:rPr lang="en-US" altLang="x-none" dirty="0">
                <a:ea typeface="宋体" panose="02010600030101010101" pitchFamily="2" charset="-122"/>
              </a:rPr>
              <a:t> Head(T</a:t>
            </a:r>
            <a:r>
              <a:rPr lang="en-US" altLang="x-none" baseline="-25000" dirty="0">
                <a:ea typeface="宋体" panose="02010600030101010101" pitchFamily="2" charset="-122"/>
              </a:rPr>
              <a:t>2</a:t>
            </a:r>
            <a:r>
              <a:rPr lang="en-US" altLang="x-none" dirty="0">
                <a:ea typeface="宋体" panose="02010600030101010101" pitchFamily="2" charset="-122"/>
              </a:rPr>
              <a:t>)</a:t>
            </a:r>
          </a:p>
        </p:txBody>
      </p:sp>
      <p:sp>
        <p:nvSpPr>
          <p:cNvPr id="158721"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58722"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58723"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90</a:t>
            </a:fld>
            <a:endParaRPr lang="zh-CN" altLang="en-US" sz="1200" b="1" i="1" dirty="0">
              <a:latin typeface="Times New Roman" panose="02020603050405020304" pitchFamily="2" charset="0"/>
              <a:ea typeface="宋体" panose="02010600030101010101" pitchFamily="2" charset="-122"/>
            </a:endParaRPr>
          </a:p>
        </p:txBody>
      </p:sp>
      <p:sp>
        <p:nvSpPr>
          <p:cNvPr id="158724"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6.7  </a:t>
            </a:r>
            <a:r>
              <a:rPr lang="en-US" altLang="x-none" dirty="0">
                <a:ea typeface="宋体" panose="02010600030101010101" pitchFamily="2" charset="-122"/>
              </a:rPr>
              <a:t>Lossless Decompositions</a:t>
            </a:r>
          </a:p>
        </p:txBody>
      </p:sp>
      <p:sp>
        <p:nvSpPr>
          <p:cNvPr id="2" name="Rectangle 4"/>
          <p:cNvSpPr/>
          <p:nvPr/>
        </p:nvSpPr>
        <p:spPr>
          <a:xfrm>
            <a:off x="76835" y="4711700"/>
            <a:ext cx="8990965" cy="1038860"/>
          </a:xfrm>
          <a:prstGeom prst="rect">
            <a:avLst/>
          </a:prstGeom>
          <a:noFill/>
          <a:ln w="25400" cap="flat" cmpd="sng">
            <a:solidFill>
              <a:schemeClr val="tx1"/>
            </a:solidFill>
            <a:prstDash val="solid"/>
            <a:miter/>
            <a:headEnd type="none" w="med" len="med"/>
            <a:tailEnd type="none" w="med" len="med"/>
          </a:ln>
        </p:spPr>
        <p:txBody>
          <a:bodyPr anchor="t">
            <a:spAutoFit/>
          </a:bodyPr>
          <a:lstStyle/>
          <a:p>
            <a:pPr marL="457200" lvl="0" indent="-457200">
              <a:lnSpc>
                <a:spcPct val="110000"/>
              </a:lnSpc>
              <a:buClr>
                <a:schemeClr val="accent1"/>
              </a:buClr>
              <a:buFont typeface="Wingdings" panose="05000000000000000000" pitchFamily="2" charset="2"/>
              <a:buChar char="q"/>
            </a:pPr>
            <a:r>
              <a:rPr lang="en-US" altLang="x-none" sz="2800" b="1" dirty="0">
                <a:solidFill>
                  <a:srgbClr val="0000CC"/>
                </a:solidFill>
                <a:latin typeface="Arial" panose="020B0604020202020204" pitchFamily="34" charset="0"/>
                <a:ea typeface="宋体" panose="02010600030101010101" pitchFamily="2" charset="-122"/>
              </a:rPr>
              <a:t>PROOF. (pg. 379)</a:t>
            </a:r>
          </a:p>
          <a:p>
            <a:pPr lvl="1">
              <a:lnSpc>
                <a:spcPct val="110000"/>
              </a:lnSpc>
              <a:buClr>
                <a:schemeClr val="accent1"/>
              </a:buClr>
            </a:pPr>
            <a:r>
              <a:rPr lang="en-US" altLang="x-none" sz="2800" b="1" dirty="0">
                <a:solidFill>
                  <a:schemeClr val="accent2"/>
                </a:solidFill>
                <a:latin typeface="Arial" panose="020B0604020202020204" pitchFamily="34" charset="0"/>
                <a:ea typeface="宋体" panose="02010600030101010101" pitchFamily="2" charset="-122"/>
              </a:rPr>
              <a:t>If </a:t>
            </a:r>
            <a:r>
              <a:rPr lang="en-US" altLang="x-none" sz="2800" b="1" dirty="0">
                <a:solidFill>
                  <a:srgbClr val="FF0000"/>
                </a:solidFill>
                <a:latin typeface="Arial" panose="020B0604020202020204" pitchFamily="34" charset="0"/>
                <a:ea typeface="宋体" panose="02010600030101010101" pitchFamily="2" charset="-122"/>
              </a:rPr>
              <a:t>T</a:t>
            </a:r>
            <a:r>
              <a:rPr lang="en-US" altLang="x-none" sz="2800" b="1" dirty="0">
                <a:solidFill>
                  <a:srgbClr val="FF0000"/>
                </a:solidFill>
                <a:latin typeface="Arial" panose="020B0604020202020204" pitchFamily="34" charset="0"/>
                <a:ea typeface="宋体" panose="02010600030101010101" pitchFamily="2" charset="-122"/>
                <a:sym typeface="Symbol" panose="05050102010706020507" charset="0"/>
              </a:rPr>
              <a:t>T</a:t>
            </a:r>
            <a:r>
              <a:rPr lang="en-US" altLang="x-none" sz="2800" b="1" baseline="-25000" dirty="0">
                <a:solidFill>
                  <a:srgbClr val="FF0000"/>
                </a:solidFill>
                <a:latin typeface="Arial" panose="020B0604020202020204" pitchFamily="34" charset="0"/>
                <a:ea typeface="宋体" panose="02010600030101010101" pitchFamily="2" charset="-122"/>
                <a:sym typeface="Symbol" panose="05050102010706020507" charset="0"/>
              </a:rPr>
              <a:t>1</a:t>
            </a:r>
            <a:r>
              <a:rPr lang="en-US" altLang="x-none" sz="2800" b="1" dirty="0">
                <a:solidFill>
                  <a:srgbClr val="FF0000"/>
                </a:solidFill>
                <a:latin typeface="Arial" panose="020B0604020202020204" pitchFamily="34" charset="0"/>
                <a:ea typeface="宋体" panose="02010600030101010101" pitchFamily="2" charset="-122"/>
                <a:sym typeface="Symbol" panose="05050102010706020507" charset="0"/>
              </a:rPr>
              <a:t> join T</a:t>
            </a:r>
            <a:r>
              <a:rPr lang="en-US" altLang="x-none" sz="2800" b="1" baseline="-25000" dirty="0">
                <a:solidFill>
                  <a:srgbClr val="FF0000"/>
                </a:solidFill>
                <a:latin typeface="Arial" panose="020B0604020202020204" pitchFamily="34" charset="0"/>
                <a:ea typeface="宋体" panose="02010600030101010101" pitchFamily="2" charset="-122"/>
                <a:sym typeface="Symbol" panose="05050102010706020507" charset="0"/>
              </a:rPr>
              <a:t>2</a:t>
            </a:r>
            <a:r>
              <a:rPr lang="en-US" altLang="x-none" sz="2800" b="1" dirty="0">
                <a:solidFill>
                  <a:schemeClr val="accent2"/>
                </a:solidFill>
                <a:latin typeface="Arial" panose="020B0604020202020204" pitchFamily="34" charset="0"/>
                <a:ea typeface="宋体" panose="02010600030101010101" pitchFamily="2" charset="-122"/>
                <a:sym typeface="Symbol" panose="05050102010706020507" charset="0"/>
              </a:rPr>
              <a:t> and </a:t>
            </a:r>
            <a:r>
              <a:rPr lang="en-US" altLang="x-none" sz="2800" b="1" dirty="0">
                <a:solidFill>
                  <a:srgbClr val="FF0000"/>
                </a:solidFill>
                <a:latin typeface="Arial" panose="020B0604020202020204" pitchFamily="34" charset="0"/>
                <a:ea typeface="宋体" panose="02010600030101010101" pitchFamily="2" charset="-122"/>
                <a:sym typeface="Symbol" panose="05050102010706020507" charset="0"/>
              </a:rPr>
              <a:t>T</a:t>
            </a:r>
            <a:r>
              <a:rPr lang="en-US" altLang="x-none" sz="2800" b="1" baseline="-25000" dirty="0">
                <a:solidFill>
                  <a:srgbClr val="FF0000"/>
                </a:solidFill>
                <a:latin typeface="Arial" panose="020B0604020202020204" pitchFamily="34" charset="0"/>
                <a:ea typeface="宋体" panose="02010600030101010101" pitchFamily="2" charset="-122"/>
                <a:sym typeface="Symbol" panose="05050102010706020507" charset="0"/>
              </a:rPr>
              <a:t>1</a:t>
            </a:r>
            <a:r>
              <a:rPr lang="en-US" altLang="x-none" sz="2800" b="1" dirty="0">
                <a:solidFill>
                  <a:srgbClr val="FF0000"/>
                </a:solidFill>
                <a:latin typeface="Arial" panose="020B0604020202020204" pitchFamily="34" charset="0"/>
                <a:ea typeface="宋体" panose="02010600030101010101" pitchFamily="2" charset="-122"/>
                <a:sym typeface="Symbol" panose="05050102010706020507" charset="0"/>
              </a:rPr>
              <a:t> join T</a:t>
            </a:r>
            <a:r>
              <a:rPr lang="en-US" altLang="x-none" sz="2800" b="1" baseline="-25000" dirty="0">
                <a:solidFill>
                  <a:srgbClr val="FF0000"/>
                </a:solidFill>
                <a:latin typeface="Arial" panose="020B0604020202020204" pitchFamily="34" charset="0"/>
                <a:ea typeface="宋体" panose="02010600030101010101" pitchFamily="2" charset="-122"/>
                <a:sym typeface="Symbol" panose="05050102010706020507" charset="0"/>
              </a:rPr>
              <a:t>2</a:t>
            </a:r>
            <a:r>
              <a:rPr lang="en-US" altLang="x-none" sz="2800" b="1" dirty="0">
                <a:solidFill>
                  <a:srgbClr val="FF0000"/>
                </a:solidFill>
                <a:latin typeface="Arial" panose="020B0604020202020204" pitchFamily="34" charset="0"/>
                <a:ea typeface="宋体" panose="02010600030101010101" pitchFamily="2" charset="-122"/>
                <a:sym typeface="Symbol" panose="05050102010706020507" charset="0"/>
              </a:rPr>
              <a:t> T</a:t>
            </a:r>
            <a:r>
              <a:rPr lang="en-US" altLang="x-none" sz="2800" b="1" dirty="0">
                <a:solidFill>
                  <a:schemeClr val="accent2"/>
                </a:solidFill>
                <a:latin typeface="Arial" panose="020B0604020202020204" pitchFamily="34" charset="0"/>
                <a:ea typeface="宋体" panose="02010600030101010101" pitchFamily="2" charset="-122"/>
                <a:sym typeface="Symbol" panose="05050102010706020507" charset="0"/>
              </a:rPr>
              <a:t> then  </a:t>
            </a:r>
            <a:r>
              <a:rPr lang="en-US" altLang="x-none" sz="2800" b="1" dirty="0">
                <a:solidFill>
                  <a:srgbClr val="FF0000"/>
                </a:solidFill>
                <a:latin typeface="Arial" panose="020B0604020202020204" pitchFamily="34" charset="0"/>
                <a:ea typeface="宋体" panose="02010600030101010101" pitchFamily="2" charset="-122"/>
                <a:sym typeface="+mn-ea"/>
              </a:rPr>
              <a:t>T</a:t>
            </a:r>
            <a:r>
              <a:rPr lang="en-US" altLang="x-none" sz="2800" b="1" dirty="0">
                <a:solidFill>
                  <a:srgbClr val="FF0000"/>
                </a:solidFill>
                <a:latin typeface="Arial" panose="020B0604020202020204" pitchFamily="34" charset="0"/>
                <a:ea typeface="宋体" panose="02010600030101010101" pitchFamily="2" charset="-122"/>
                <a:sym typeface="Symbol" panose="05050102010706020507" charset="0"/>
              </a:rPr>
              <a:t>=T</a:t>
            </a:r>
            <a:r>
              <a:rPr lang="en-US" altLang="x-none" sz="2800" b="1" baseline="-25000" dirty="0">
                <a:solidFill>
                  <a:srgbClr val="FF0000"/>
                </a:solidFill>
                <a:latin typeface="Arial" panose="020B0604020202020204" pitchFamily="34" charset="0"/>
                <a:ea typeface="宋体" panose="02010600030101010101" pitchFamily="2" charset="-122"/>
                <a:sym typeface="Symbol" panose="05050102010706020507" charset="0"/>
              </a:rPr>
              <a:t>1</a:t>
            </a:r>
            <a:r>
              <a:rPr lang="en-US" altLang="x-none" sz="2800" b="1" dirty="0">
                <a:solidFill>
                  <a:srgbClr val="FF0000"/>
                </a:solidFill>
                <a:latin typeface="Arial" panose="020B0604020202020204" pitchFamily="34" charset="0"/>
                <a:ea typeface="宋体" panose="02010600030101010101" pitchFamily="2" charset="-122"/>
                <a:sym typeface="Symbol" panose="05050102010706020507" charset="0"/>
              </a:rPr>
              <a:t> join T</a:t>
            </a:r>
            <a:r>
              <a:rPr lang="en-US" altLang="x-none" sz="2800" b="1" baseline="-25000" dirty="0">
                <a:solidFill>
                  <a:srgbClr val="FF0000"/>
                </a:solidFill>
                <a:latin typeface="Arial" panose="020B0604020202020204" pitchFamily="34" charset="0"/>
                <a:ea typeface="宋体" panose="02010600030101010101" pitchFamily="2" charset="-122"/>
                <a:sym typeface="Symbol" panose="05050102010706020507" charset="0"/>
              </a:rPr>
              <a:t>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7"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91</a:t>
            </a:fld>
            <a:endParaRPr lang="zh-CN" altLang="en-US" sz="1200" b="1" i="1" dirty="0">
              <a:latin typeface="Times New Roman" panose="02020603050405020304" pitchFamily="2" charset="0"/>
              <a:ea typeface="宋体" panose="02010600030101010101" pitchFamily="2" charset="-122"/>
            </a:endParaRPr>
          </a:p>
        </p:txBody>
      </p:sp>
      <p:sp>
        <p:nvSpPr>
          <p:cNvPr id="159749" name="Rectangle 3"/>
          <p:cNvSpPr>
            <a:spLocks noGrp="1"/>
          </p:cNvSpPr>
          <p:nvPr>
            <p:ph type="body"/>
          </p:nvPr>
        </p:nvSpPr>
        <p:spPr>
          <a:xfrm>
            <a:off x="457200" y="48895"/>
            <a:ext cx="8229600" cy="490538"/>
          </a:xfrm>
        </p:spPr>
        <p:txBody>
          <a:bodyPr wrap="square" anchor="t"/>
          <a:lstStyle/>
          <a:p>
            <a:pPr marL="0" lvl="0" indent="0" algn="ctr" eaLnBrk="1" hangingPunct="1">
              <a:lnSpc>
                <a:spcPct val="90000"/>
              </a:lnSpc>
              <a:buNone/>
            </a:pPr>
            <a:r>
              <a:rPr lang="en-US" altLang="x-none" dirty="0">
                <a:latin typeface="Arial" panose="020B0604020202020204" pitchFamily="34" charset="0"/>
                <a:ea typeface="宋体" panose="02010600030101010101" pitchFamily="2" charset="-122"/>
              </a:rPr>
              <a:t>( B→C )</a:t>
            </a:r>
          </a:p>
        </p:txBody>
      </p:sp>
      <p:grpSp>
        <p:nvGrpSpPr>
          <p:cNvPr id="159750" name="组合 159750"/>
          <p:cNvGrpSpPr/>
          <p:nvPr/>
        </p:nvGrpSpPr>
        <p:grpSpPr>
          <a:xfrm>
            <a:off x="645160" y="494348"/>
            <a:ext cx="2743200" cy="2008187"/>
            <a:chOff x="-384" y="276"/>
            <a:chExt cx="1728" cy="1265"/>
          </a:xfrm>
        </p:grpSpPr>
        <p:sp>
          <p:nvSpPr>
            <p:cNvPr id="159751" name="Rectangle 5"/>
            <p:cNvSpPr/>
            <p:nvPr/>
          </p:nvSpPr>
          <p:spPr>
            <a:xfrm>
              <a:off x="912" y="1288"/>
              <a:ext cx="432"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c2</a:t>
              </a:r>
            </a:p>
          </p:txBody>
        </p:sp>
        <p:sp>
          <p:nvSpPr>
            <p:cNvPr id="159752" name="Rectangle 6"/>
            <p:cNvSpPr/>
            <p:nvPr/>
          </p:nvSpPr>
          <p:spPr>
            <a:xfrm>
              <a:off x="384" y="1288"/>
              <a:ext cx="528"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9753" name="Rectangle 7"/>
            <p:cNvSpPr/>
            <p:nvPr/>
          </p:nvSpPr>
          <p:spPr>
            <a:xfrm>
              <a:off x="0" y="1288"/>
              <a:ext cx="384"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a4</a:t>
              </a:r>
            </a:p>
          </p:txBody>
        </p:sp>
        <p:sp>
          <p:nvSpPr>
            <p:cNvPr id="159754" name="Rectangle 8"/>
            <p:cNvSpPr/>
            <p:nvPr/>
          </p:nvSpPr>
          <p:spPr>
            <a:xfrm>
              <a:off x="912" y="1035"/>
              <a:ext cx="432"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c3</a:t>
              </a:r>
            </a:p>
          </p:txBody>
        </p:sp>
        <p:sp>
          <p:nvSpPr>
            <p:cNvPr id="159755" name="Rectangle 9"/>
            <p:cNvSpPr/>
            <p:nvPr/>
          </p:nvSpPr>
          <p:spPr>
            <a:xfrm>
              <a:off x="384" y="1035"/>
              <a:ext cx="528"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300</a:t>
              </a:r>
            </a:p>
          </p:txBody>
        </p:sp>
        <p:sp>
          <p:nvSpPr>
            <p:cNvPr id="159756" name="Rectangle 10"/>
            <p:cNvSpPr/>
            <p:nvPr/>
          </p:nvSpPr>
          <p:spPr>
            <a:xfrm>
              <a:off x="0" y="1035"/>
              <a:ext cx="384"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a3</a:t>
              </a:r>
            </a:p>
          </p:txBody>
        </p:sp>
        <p:sp>
          <p:nvSpPr>
            <p:cNvPr id="159757" name="Rectangle 11"/>
            <p:cNvSpPr/>
            <p:nvPr/>
          </p:nvSpPr>
          <p:spPr>
            <a:xfrm>
              <a:off x="912" y="782"/>
              <a:ext cx="432"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c2</a:t>
              </a:r>
            </a:p>
          </p:txBody>
        </p:sp>
        <p:sp>
          <p:nvSpPr>
            <p:cNvPr id="159758" name="Rectangle 12"/>
            <p:cNvSpPr/>
            <p:nvPr/>
          </p:nvSpPr>
          <p:spPr>
            <a:xfrm>
              <a:off x="384" y="782"/>
              <a:ext cx="528"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9759" name="Rectangle 13"/>
            <p:cNvSpPr/>
            <p:nvPr/>
          </p:nvSpPr>
          <p:spPr>
            <a:xfrm>
              <a:off x="0" y="782"/>
              <a:ext cx="384"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a2</a:t>
              </a:r>
            </a:p>
          </p:txBody>
        </p:sp>
        <p:sp>
          <p:nvSpPr>
            <p:cNvPr id="159760" name="Rectangle 14"/>
            <p:cNvSpPr/>
            <p:nvPr/>
          </p:nvSpPr>
          <p:spPr>
            <a:xfrm>
              <a:off x="912" y="529"/>
              <a:ext cx="432"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c1</a:t>
              </a:r>
            </a:p>
          </p:txBody>
        </p:sp>
        <p:sp>
          <p:nvSpPr>
            <p:cNvPr id="159761" name="Rectangle 15"/>
            <p:cNvSpPr/>
            <p:nvPr/>
          </p:nvSpPr>
          <p:spPr>
            <a:xfrm>
              <a:off x="384" y="529"/>
              <a:ext cx="528"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100</a:t>
              </a:r>
            </a:p>
          </p:txBody>
        </p:sp>
        <p:sp>
          <p:nvSpPr>
            <p:cNvPr id="159762" name="Rectangle 16"/>
            <p:cNvSpPr/>
            <p:nvPr/>
          </p:nvSpPr>
          <p:spPr>
            <a:xfrm>
              <a:off x="0" y="529"/>
              <a:ext cx="384"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a1</a:t>
              </a:r>
            </a:p>
          </p:txBody>
        </p:sp>
        <p:sp>
          <p:nvSpPr>
            <p:cNvPr id="159763" name="Rectangle 17"/>
            <p:cNvSpPr/>
            <p:nvPr/>
          </p:nvSpPr>
          <p:spPr>
            <a:xfrm>
              <a:off x="912" y="276"/>
              <a:ext cx="432"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C</a:t>
              </a:r>
            </a:p>
          </p:txBody>
        </p:sp>
        <p:sp>
          <p:nvSpPr>
            <p:cNvPr id="159764" name="Rectangle 18"/>
            <p:cNvSpPr/>
            <p:nvPr/>
          </p:nvSpPr>
          <p:spPr>
            <a:xfrm>
              <a:off x="384" y="276"/>
              <a:ext cx="528"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159765" name="Rectangle 19"/>
            <p:cNvSpPr/>
            <p:nvPr/>
          </p:nvSpPr>
          <p:spPr>
            <a:xfrm>
              <a:off x="0" y="276"/>
              <a:ext cx="384"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a:t>
              </a:r>
            </a:p>
          </p:txBody>
        </p:sp>
        <p:sp>
          <p:nvSpPr>
            <p:cNvPr id="159766" name="Line 20"/>
            <p:cNvSpPr/>
            <p:nvPr/>
          </p:nvSpPr>
          <p:spPr>
            <a:xfrm>
              <a:off x="0" y="276"/>
              <a:ext cx="1344"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767" name="Line 21"/>
            <p:cNvSpPr/>
            <p:nvPr/>
          </p:nvSpPr>
          <p:spPr>
            <a:xfrm>
              <a:off x="0" y="529"/>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768" name="Line 22"/>
            <p:cNvSpPr/>
            <p:nvPr/>
          </p:nvSpPr>
          <p:spPr>
            <a:xfrm>
              <a:off x="0" y="782"/>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769" name="Line 23"/>
            <p:cNvSpPr/>
            <p:nvPr/>
          </p:nvSpPr>
          <p:spPr>
            <a:xfrm>
              <a:off x="0" y="1035"/>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770" name="Line 24"/>
            <p:cNvSpPr/>
            <p:nvPr/>
          </p:nvSpPr>
          <p:spPr>
            <a:xfrm>
              <a:off x="0" y="1541"/>
              <a:ext cx="1344"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771" name="Line 25"/>
            <p:cNvSpPr/>
            <p:nvPr/>
          </p:nvSpPr>
          <p:spPr>
            <a:xfrm>
              <a:off x="0" y="276"/>
              <a:ext cx="0" cy="1265"/>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772" name="Line 26"/>
            <p:cNvSpPr/>
            <p:nvPr/>
          </p:nvSpPr>
          <p:spPr>
            <a:xfrm>
              <a:off x="384" y="276"/>
              <a:ext cx="0" cy="1265"/>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773" name="Line 27"/>
            <p:cNvSpPr/>
            <p:nvPr/>
          </p:nvSpPr>
          <p:spPr>
            <a:xfrm>
              <a:off x="912" y="276"/>
              <a:ext cx="0" cy="1265"/>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774" name="Line 28"/>
            <p:cNvSpPr/>
            <p:nvPr/>
          </p:nvSpPr>
          <p:spPr>
            <a:xfrm>
              <a:off x="1344" y="276"/>
              <a:ext cx="0" cy="1265"/>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775" name="Line 29"/>
            <p:cNvSpPr/>
            <p:nvPr/>
          </p:nvSpPr>
          <p:spPr>
            <a:xfrm>
              <a:off x="0" y="1288"/>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776" name="Text Box 30"/>
            <p:cNvSpPr txBox="1"/>
            <p:nvPr/>
          </p:nvSpPr>
          <p:spPr>
            <a:xfrm>
              <a:off x="-384" y="276"/>
              <a:ext cx="335" cy="232"/>
            </a:xfrm>
            <a:prstGeom prst="rect">
              <a:avLst/>
            </a:prstGeom>
            <a:noFill/>
            <a:ln w="9525">
              <a:noFill/>
            </a:ln>
          </p:spPr>
          <p:txBody>
            <a:bodyPr wrap="square" tIns="0" bIns="0" anchor="t">
              <a:spAutoFit/>
            </a:bodyPr>
            <a:lstStyle/>
            <a:p>
              <a:pPr lvl="0" algn="ctr">
                <a:spcBef>
                  <a:spcPct val="50000"/>
                </a:spcBef>
              </a:pPr>
              <a:r>
                <a:rPr lang="en-US" altLang="x-none" b="1" dirty="0">
                  <a:latin typeface="Times New Roman" panose="02020603050405020304" pitchFamily="2" charset="0"/>
                  <a:ea typeface="宋体" panose="02010600030101010101" pitchFamily="2" charset="-122"/>
                </a:rPr>
                <a:t>T</a:t>
              </a:r>
            </a:p>
          </p:txBody>
        </p:sp>
      </p:grpSp>
      <p:grpSp>
        <p:nvGrpSpPr>
          <p:cNvPr id="159777" name="组合 159777"/>
          <p:cNvGrpSpPr/>
          <p:nvPr/>
        </p:nvGrpSpPr>
        <p:grpSpPr>
          <a:xfrm>
            <a:off x="645160" y="2570163"/>
            <a:ext cx="3505200" cy="2700337"/>
            <a:chOff x="0" y="90"/>
            <a:chExt cx="2208" cy="1701"/>
          </a:xfrm>
        </p:grpSpPr>
        <p:sp>
          <p:nvSpPr>
            <p:cNvPr id="159778" name="Rectangle 32"/>
            <p:cNvSpPr/>
            <p:nvPr/>
          </p:nvSpPr>
          <p:spPr>
            <a:xfrm>
              <a:off x="384" y="1538"/>
              <a:ext cx="528"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9779" name="Rectangle 33"/>
            <p:cNvSpPr/>
            <p:nvPr/>
          </p:nvSpPr>
          <p:spPr>
            <a:xfrm>
              <a:off x="0" y="1538"/>
              <a:ext cx="384"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a4</a:t>
              </a:r>
            </a:p>
          </p:txBody>
        </p:sp>
        <p:sp>
          <p:nvSpPr>
            <p:cNvPr id="159780" name="Rectangle 34"/>
            <p:cNvSpPr/>
            <p:nvPr/>
          </p:nvSpPr>
          <p:spPr>
            <a:xfrm>
              <a:off x="384" y="1285"/>
              <a:ext cx="528"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300</a:t>
              </a:r>
            </a:p>
          </p:txBody>
        </p:sp>
        <p:sp>
          <p:nvSpPr>
            <p:cNvPr id="159781" name="Rectangle 35"/>
            <p:cNvSpPr/>
            <p:nvPr/>
          </p:nvSpPr>
          <p:spPr>
            <a:xfrm>
              <a:off x="0" y="1285"/>
              <a:ext cx="384"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a3</a:t>
              </a:r>
            </a:p>
          </p:txBody>
        </p:sp>
        <p:sp>
          <p:nvSpPr>
            <p:cNvPr id="159782" name="Rectangle 36"/>
            <p:cNvSpPr/>
            <p:nvPr/>
          </p:nvSpPr>
          <p:spPr>
            <a:xfrm>
              <a:off x="384" y="1032"/>
              <a:ext cx="528"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9783" name="Rectangle 37"/>
            <p:cNvSpPr/>
            <p:nvPr/>
          </p:nvSpPr>
          <p:spPr>
            <a:xfrm>
              <a:off x="0" y="1032"/>
              <a:ext cx="384"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a2</a:t>
              </a:r>
            </a:p>
          </p:txBody>
        </p:sp>
        <p:sp>
          <p:nvSpPr>
            <p:cNvPr id="159784" name="Rectangle 38"/>
            <p:cNvSpPr/>
            <p:nvPr/>
          </p:nvSpPr>
          <p:spPr>
            <a:xfrm>
              <a:off x="384" y="779"/>
              <a:ext cx="528"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100</a:t>
              </a:r>
            </a:p>
          </p:txBody>
        </p:sp>
        <p:sp>
          <p:nvSpPr>
            <p:cNvPr id="159785" name="Rectangle 39"/>
            <p:cNvSpPr/>
            <p:nvPr/>
          </p:nvSpPr>
          <p:spPr>
            <a:xfrm>
              <a:off x="0" y="779"/>
              <a:ext cx="384"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a1</a:t>
              </a:r>
            </a:p>
          </p:txBody>
        </p:sp>
        <p:sp>
          <p:nvSpPr>
            <p:cNvPr id="159786" name="Rectangle 40"/>
            <p:cNvSpPr/>
            <p:nvPr/>
          </p:nvSpPr>
          <p:spPr>
            <a:xfrm>
              <a:off x="384" y="526"/>
              <a:ext cx="528"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159787" name="Rectangle 41"/>
            <p:cNvSpPr/>
            <p:nvPr/>
          </p:nvSpPr>
          <p:spPr>
            <a:xfrm>
              <a:off x="0" y="526"/>
              <a:ext cx="384"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a:t>
              </a:r>
            </a:p>
          </p:txBody>
        </p:sp>
        <p:sp>
          <p:nvSpPr>
            <p:cNvPr id="159788" name="Line 42"/>
            <p:cNvSpPr/>
            <p:nvPr/>
          </p:nvSpPr>
          <p:spPr>
            <a:xfrm>
              <a:off x="0" y="526"/>
              <a:ext cx="912"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789" name="Line 43"/>
            <p:cNvSpPr/>
            <p:nvPr/>
          </p:nvSpPr>
          <p:spPr>
            <a:xfrm>
              <a:off x="0" y="779"/>
              <a:ext cx="912"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790" name="Line 44"/>
            <p:cNvSpPr/>
            <p:nvPr/>
          </p:nvSpPr>
          <p:spPr>
            <a:xfrm>
              <a:off x="0" y="1032"/>
              <a:ext cx="912"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791" name="Line 45"/>
            <p:cNvSpPr/>
            <p:nvPr/>
          </p:nvSpPr>
          <p:spPr>
            <a:xfrm>
              <a:off x="0" y="1285"/>
              <a:ext cx="912"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792" name="Line 46"/>
            <p:cNvSpPr/>
            <p:nvPr/>
          </p:nvSpPr>
          <p:spPr>
            <a:xfrm>
              <a:off x="0" y="1791"/>
              <a:ext cx="912"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793" name="Line 47"/>
            <p:cNvSpPr/>
            <p:nvPr/>
          </p:nvSpPr>
          <p:spPr>
            <a:xfrm>
              <a:off x="0" y="526"/>
              <a:ext cx="0" cy="1265"/>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794" name="Line 48"/>
            <p:cNvSpPr/>
            <p:nvPr/>
          </p:nvSpPr>
          <p:spPr>
            <a:xfrm>
              <a:off x="384" y="526"/>
              <a:ext cx="0" cy="1265"/>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795" name="Line 49"/>
            <p:cNvSpPr/>
            <p:nvPr/>
          </p:nvSpPr>
          <p:spPr>
            <a:xfrm>
              <a:off x="912" y="526"/>
              <a:ext cx="0" cy="1265"/>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796" name="Line 50"/>
            <p:cNvSpPr/>
            <p:nvPr/>
          </p:nvSpPr>
          <p:spPr>
            <a:xfrm>
              <a:off x="0" y="1538"/>
              <a:ext cx="912"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797" name="Text Box 51"/>
            <p:cNvSpPr txBox="1"/>
            <p:nvPr/>
          </p:nvSpPr>
          <p:spPr>
            <a:xfrm>
              <a:off x="48" y="240"/>
              <a:ext cx="816" cy="232"/>
            </a:xfrm>
            <a:prstGeom prst="rect">
              <a:avLst/>
            </a:prstGeom>
            <a:noFill/>
            <a:ln w="9525">
              <a:noFill/>
            </a:ln>
          </p:spPr>
          <p:txBody>
            <a:bodyPr tIns="0" bIns="0" anchor="t">
              <a:spAutoFit/>
            </a:bodyPr>
            <a:lstStyle/>
            <a:p>
              <a:pPr lvl="0" algn="ctr">
                <a:spcBef>
                  <a:spcPct val="50000"/>
                </a:spcBef>
              </a:pPr>
              <a:r>
                <a:rPr lang="en-US" altLang="zh-CN" b="1" dirty="0">
                  <a:latin typeface="Times New Roman" panose="02020603050405020304" pitchFamily="2" charset="0"/>
                  <a:ea typeface="宋体" panose="02010600030101010101" pitchFamily="2" charset="-122"/>
                </a:rPr>
                <a:t>T</a:t>
              </a:r>
              <a:r>
                <a:rPr lang="en-US" altLang="zh-CN" b="1" baseline="-25000" dirty="0">
                  <a:latin typeface="Times New Roman" panose="02020603050405020304" pitchFamily="2" charset="0"/>
                  <a:ea typeface="宋体" panose="02010600030101010101" pitchFamily="2" charset="-122"/>
                </a:rPr>
                <a:t>1</a:t>
              </a:r>
            </a:p>
          </p:txBody>
        </p:sp>
        <p:sp>
          <p:nvSpPr>
            <p:cNvPr id="159798" name="Rectangle 52"/>
            <p:cNvSpPr/>
            <p:nvPr/>
          </p:nvSpPr>
          <p:spPr>
            <a:xfrm>
              <a:off x="1776" y="1286"/>
              <a:ext cx="432" cy="254"/>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c3</a:t>
              </a:r>
            </a:p>
          </p:txBody>
        </p:sp>
        <p:sp>
          <p:nvSpPr>
            <p:cNvPr id="159799" name="Rectangle 53"/>
            <p:cNvSpPr/>
            <p:nvPr/>
          </p:nvSpPr>
          <p:spPr>
            <a:xfrm>
              <a:off x="1248" y="1286"/>
              <a:ext cx="528" cy="254"/>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300</a:t>
              </a:r>
            </a:p>
          </p:txBody>
        </p:sp>
        <p:sp>
          <p:nvSpPr>
            <p:cNvPr id="159800" name="Rectangle 54"/>
            <p:cNvSpPr/>
            <p:nvPr/>
          </p:nvSpPr>
          <p:spPr>
            <a:xfrm>
              <a:off x="1776" y="1032"/>
              <a:ext cx="432" cy="254"/>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c2</a:t>
              </a:r>
            </a:p>
          </p:txBody>
        </p:sp>
        <p:sp>
          <p:nvSpPr>
            <p:cNvPr id="159801" name="Rectangle 55"/>
            <p:cNvSpPr/>
            <p:nvPr/>
          </p:nvSpPr>
          <p:spPr>
            <a:xfrm>
              <a:off x="1248" y="1032"/>
              <a:ext cx="528" cy="254"/>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9802" name="Rectangle 56"/>
            <p:cNvSpPr/>
            <p:nvPr/>
          </p:nvSpPr>
          <p:spPr>
            <a:xfrm>
              <a:off x="1776" y="779"/>
              <a:ext cx="432"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c1</a:t>
              </a:r>
            </a:p>
          </p:txBody>
        </p:sp>
        <p:sp>
          <p:nvSpPr>
            <p:cNvPr id="159803" name="Rectangle 57"/>
            <p:cNvSpPr/>
            <p:nvPr/>
          </p:nvSpPr>
          <p:spPr>
            <a:xfrm>
              <a:off x="1248" y="779"/>
              <a:ext cx="528" cy="25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100</a:t>
              </a:r>
            </a:p>
          </p:txBody>
        </p:sp>
        <p:sp>
          <p:nvSpPr>
            <p:cNvPr id="159804" name="Rectangle 58"/>
            <p:cNvSpPr/>
            <p:nvPr/>
          </p:nvSpPr>
          <p:spPr>
            <a:xfrm>
              <a:off x="1776" y="526"/>
              <a:ext cx="432"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C</a:t>
              </a:r>
            </a:p>
          </p:txBody>
        </p:sp>
        <p:sp>
          <p:nvSpPr>
            <p:cNvPr id="159805" name="Rectangle 59"/>
            <p:cNvSpPr/>
            <p:nvPr/>
          </p:nvSpPr>
          <p:spPr>
            <a:xfrm>
              <a:off x="1248" y="526"/>
              <a:ext cx="528" cy="253"/>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159806" name="Line 60"/>
            <p:cNvSpPr/>
            <p:nvPr/>
          </p:nvSpPr>
          <p:spPr>
            <a:xfrm>
              <a:off x="1248" y="526"/>
              <a:ext cx="960"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807" name="Line 61"/>
            <p:cNvSpPr/>
            <p:nvPr/>
          </p:nvSpPr>
          <p:spPr>
            <a:xfrm>
              <a:off x="1248" y="779"/>
              <a:ext cx="960"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808" name="Line 62"/>
            <p:cNvSpPr/>
            <p:nvPr/>
          </p:nvSpPr>
          <p:spPr>
            <a:xfrm>
              <a:off x="1248" y="1032"/>
              <a:ext cx="960"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809" name="Line 63"/>
            <p:cNvSpPr/>
            <p:nvPr/>
          </p:nvSpPr>
          <p:spPr>
            <a:xfrm>
              <a:off x="1248" y="1286"/>
              <a:ext cx="960"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810" name="Line 64"/>
            <p:cNvSpPr/>
            <p:nvPr/>
          </p:nvSpPr>
          <p:spPr>
            <a:xfrm>
              <a:off x="1248" y="1540"/>
              <a:ext cx="960"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811" name="Line 65"/>
            <p:cNvSpPr/>
            <p:nvPr/>
          </p:nvSpPr>
          <p:spPr>
            <a:xfrm>
              <a:off x="1248" y="526"/>
              <a:ext cx="0" cy="1014"/>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812" name="Line 66"/>
            <p:cNvSpPr/>
            <p:nvPr/>
          </p:nvSpPr>
          <p:spPr>
            <a:xfrm>
              <a:off x="1776" y="526"/>
              <a:ext cx="0" cy="1014"/>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813" name="Line 67"/>
            <p:cNvSpPr/>
            <p:nvPr/>
          </p:nvSpPr>
          <p:spPr>
            <a:xfrm>
              <a:off x="2208" y="526"/>
              <a:ext cx="0" cy="1014"/>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814" name="Text Box 68"/>
            <p:cNvSpPr txBox="1"/>
            <p:nvPr/>
          </p:nvSpPr>
          <p:spPr>
            <a:xfrm>
              <a:off x="1296" y="240"/>
              <a:ext cx="864" cy="232"/>
            </a:xfrm>
            <a:prstGeom prst="rect">
              <a:avLst/>
            </a:prstGeom>
            <a:noFill/>
            <a:ln w="9525">
              <a:noFill/>
            </a:ln>
          </p:spPr>
          <p:txBody>
            <a:bodyPr tIns="0" bIns="0" anchor="t">
              <a:spAutoFit/>
            </a:bodyPr>
            <a:lstStyle/>
            <a:p>
              <a:pPr lvl="0" algn="ctr">
                <a:spcBef>
                  <a:spcPct val="50000"/>
                </a:spcBef>
              </a:pPr>
              <a:r>
                <a:rPr lang="en-US" altLang="x-none" b="1" dirty="0">
                  <a:latin typeface="Times New Roman" panose="02020603050405020304" pitchFamily="2" charset="0"/>
                  <a:ea typeface="宋体" panose="02010600030101010101" pitchFamily="2" charset="-122"/>
                </a:rPr>
                <a:t>T</a:t>
              </a:r>
              <a:r>
                <a:rPr lang="en-US" altLang="x-none" b="1" baseline="-25000" dirty="0">
                  <a:latin typeface="Times New Roman" panose="02020603050405020304" pitchFamily="2" charset="0"/>
                  <a:ea typeface="宋体" panose="02010600030101010101" pitchFamily="2" charset="-122"/>
                </a:rPr>
                <a:t>2</a:t>
              </a:r>
            </a:p>
          </p:txBody>
        </p:sp>
        <p:sp>
          <p:nvSpPr>
            <p:cNvPr id="159815" name="AutoShape 69"/>
            <p:cNvSpPr/>
            <p:nvPr/>
          </p:nvSpPr>
          <p:spPr>
            <a:xfrm>
              <a:off x="912" y="90"/>
              <a:ext cx="240" cy="240"/>
            </a:xfrm>
            <a:prstGeom prst="downArrow">
              <a:avLst>
                <a:gd name="adj1" fmla="val 50000"/>
                <a:gd name="adj2" fmla="val 25000"/>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algn="ctr"/>
              <a:endParaRPr lang="zh-CN" altLang="en-US" dirty="0">
                <a:latin typeface="Times New Roman" panose="02020603050405020304" pitchFamily="2" charset="0"/>
                <a:ea typeface="宋体" panose="02010600030101010101" pitchFamily="2" charset="-122"/>
              </a:endParaRPr>
            </a:p>
          </p:txBody>
        </p:sp>
      </p:grpSp>
      <p:grpSp>
        <p:nvGrpSpPr>
          <p:cNvPr id="159816" name="组合 159816"/>
          <p:cNvGrpSpPr/>
          <p:nvPr/>
        </p:nvGrpSpPr>
        <p:grpSpPr>
          <a:xfrm>
            <a:off x="4371975" y="199708"/>
            <a:ext cx="3629025" cy="3927475"/>
            <a:chOff x="-414" y="0"/>
            <a:chExt cx="2286" cy="2474"/>
          </a:xfrm>
        </p:grpSpPr>
        <p:sp>
          <p:nvSpPr>
            <p:cNvPr id="159817" name="AutoShape 71"/>
            <p:cNvSpPr/>
            <p:nvPr/>
          </p:nvSpPr>
          <p:spPr>
            <a:xfrm>
              <a:off x="-414" y="1872"/>
              <a:ext cx="1758" cy="602"/>
            </a:xfrm>
            <a:custGeom>
              <a:avLst/>
              <a:gdLst/>
              <a:ahLst/>
              <a:cxnLst>
                <a:cxn ang="17694720">
                  <a:pos x="0" y="0"/>
                </a:cxn>
                <a:cxn ang="11796480">
                  <a:pos x="0" y="0"/>
                </a:cxn>
                <a:cxn ang="11796480">
                  <a:pos x="0" y="0"/>
                </a:cxn>
                <a:cxn ang="5898240">
                  <a:pos x="0" y="0"/>
                </a:cxn>
                <a:cxn ang="0">
                  <a:pos x="0" y="0"/>
                </a:cxn>
                <a:cxn ang="0">
                  <a:pos x="0" y="0"/>
                </a:cxn>
              </a:cxnLst>
              <a:rect l="0" t="0" r="0" b="0"/>
              <a:pathLst>
                <a:path w="21600" h="21600">
                  <a:moveTo>
                    <a:pt x="19383" y="0"/>
                  </a:moveTo>
                  <a:lnTo>
                    <a:pt x="17166" y="7763"/>
                  </a:lnTo>
                  <a:lnTo>
                    <a:pt x="19033" y="7763"/>
                  </a:lnTo>
                  <a:lnTo>
                    <a:pt x="19033" y="20834"/>
                  </a:lnTo>
                  <a:lnTo>
                    <a:pt x="0" y="20834"/>
                  </a:lnTo>
                  <a:lnTo>
                    <a:pt x="0" y="21600"/>
                  </a:lnTo>
                  <a:lnTo>
                    <a:pt x="19733" y="21600"/>
                  </a:lnTo>
                  <a:lnTo>
                    <a:pt x="19733" y="7763"/>
                  </a:lnTo>
                  <a:lnTo>
                    <a:pt x="21600" y="7763"/>
                  </a:lnTo>
                  <a:lnTo>
                    <a:pt x="19383" y="0"/>
                  </a:lnTo>
                  <a:close/>
                </a:path>
              </a:pathLst>
            </a:custGeom>
            <a:solidFill>
              <a:schemeClr val="accent1"/>
            </a:solidFill>
            <a:ln w="9525" cap="flat" cmpd="sng">
              <a:solidFill>
                <a:schemeClr val="tx1"/>
              </a:solidFill>
              <a:prstDash val="solid"/>
              <a:round/>
              <a:headEnd type="none" w="med" len="med"/>
              <a:tailEnd type="none" w="med" len="med"/>
            </a:ln>
          </p:spPr>
          <p:txBody>
            <a:bodyPr/>
            <a:lstStyle/>
            <a:p>
              <a:endParaRPr lang="zh-CN" altLang="en-US"/>
            </a:p>
          </p:txBody>
        </p:sp>
        <p:sp>
          <p:nvSpPr>
            <p:cNvPr id="159818" name="Rectangle 72"/>
            <p:cNvSpPr/>
            <p:nvPr/>
          </p:nvSpPr>
          <p:spPr>
            <a:xfrm>
              <a:off x="1440" y="1141"/>
              <a:ext cx="432" cy="29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c3</a:t>
              </a:r>
            </a:p>
          </p:txBody>
        </p:sp>
        <p:sp>
          <p:nvSpPr>
            <p:cNvPr id="159819" name="Rectangle 73"/>
            <p:cNvSpPr/>
            <p:nvPr/>
          </p:nvSpPr>
          <p:spPr>
            <a:xfrm>
              <a:off x="912" y="1141"/>
              <a:ext cx="528" cy="29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300</a:t>
              </a:r>
            </a:p>
          </p:txBody>
        </p:sp>
        <p:sp>
          <p:nvSpPr>
            <p:cNvPr id="159820" name="Rectangle 74"/>
            <p:cNvSpPr/>
            <p:nvPr/>
          </p:nvSpPr>
          <p:spPr>
            <a:xfrm>
              <a:off x="528" y="1141"/>
              <a:ext cx="384" cy="293"/>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a3</a:t>
              </a:r>
            </a:p>
          </p:txBody>
        </p:sp>
        <p:sp>
          <p:nvSpPr>
            <p:cNvPr id="159821" name="Rectangle 75"/>
            <p:cNvSpPr/>
            <p:nvPr/>
          </p:nvSpPr>
          <p:spPr>
            <a:xfrm>
              <a:off x="1440" y="1434"/>
              <a:ext cx="432" cy="294"/>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c2</a:t>
              </a:r>
            </a:p>
          </p:txBody>
        </p:sp>
        <p:sp>
          <p:nvSpPr>
            <p:cNvPr id="159822" name="Rectangle 76"/>
            <p:cNvSpPr/>
            <p:nvPr/>
          </p:nvSpPr>
          <p:spPr>
            <a:xfrm>
              <a:off x="912" y="1434"/>
              <a:ext cx="528" cy="294"/>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9823" name="Rectangle 77"/>
            <p:cNvSpPr/>
            <p:nvPr/>
          </p:nvSpPr>
          <p:spPr>
            <a:xfrm>
              <a:off x="528" y="1434"/>
              <a:ext cx="384" cy="294"/>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a4</a:t>
              </a:r>
            </a:p>
          </p:txBody>
        </p:sp>
        <p:sp>
          <p:nvSpPr>
            <p:cNvPr id="159824" name="Rectangle 78"/>
            <p:cNvSpPr/>
            <p:nvPr/>
          </p:nvSpPr>
          <p:spPr>
            <a:xfrm>
              <a:off x="1440" y="849"/>
              <a:ext cx="432" cy="292"/>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c2</a:t>
              </a:r>
            </a:p>
          </p:txBody>
        </p:sp>
        <p:sp>
          <p:nvSpPr>
            <p:cNvPr id="159825" name="Rectangle 79"/>
            <p:cNvSpPr/>
            <p:nvPr/>
          </p:nvSpPr>
          <p:spPr>
            <a:xfrm>
              <a:off x="912" y="849"/>
              <a:ext cx="528" cy="292"/>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200</a:t>
              </a:r>
            </a:p>
          </p:txBody>
        </p:sp>
        <p:sp>
          <p:nvSpPr>
            <p:cNvPr id="159826" name="Rectangle 80"/>
            <p:cNvSpPr/>
            <p:nvPr/>
          </p:nvSpPr>
          <p:spPr>
            <a:xfrm>
              <a:off x="528" y="849"/>
              <a:ext cx="384" cy="292"/>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a2</a:t>
              </a:r>
            </a:p>
          </p:txBody>
        </p:sp>
        <p:sp>
          <p:nvSpPr>
            <p:cNvPr id="159827" name="Rectangle 81"/>
            <p:cNvSpPr/>
            <p:nvPr/>
          </p:nvSpPr>
          <p:spPr>
            <a:xfrm>
              <a:off x="1440" y="558"/>
              <a:ext cx="432" cy="291"/>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c1</a:t>
              </a:r>
            </a:p>
          </p:txBody>
        </p:sp>
        <p:sp>
          <p:nvSpPr>
            <p:cNvPr id="159828" name="Rectangle 82"/>
            <p:cNvSpPr/>
            <p:nvPr/>
          </p:nvSpPr>
          <p:spPr>
            <a:xfrm>
              <a:off x="912" y="558"/>
              <a:ext cx="528" cy="291"/>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100</a:t>
              </a:r>
            </a:p>
          </p:txBody>
        </p:sp>
        <p:sp>
          <p:nvSpPr>
            <p:cNvPr id="159829" name="Rectangle 83"/>
            <p:cNvSpPr/>
            <p:nvPr/>
          </p:nvSpPr>
          <p:spPr>
            <a:xfrm>
              <a:off x="528" y="558"/>
              <a:ext cx="384" cy="291"/>
            </a:xfrm>
            <a:prstGeom prst="rect">
              <a:avLst/>
            </a:prstGeom>
            <a:solidFill>
              <a:schemeClr val="bg1"/>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a1</a:t>
              </a:r>
            </a:p>
          </p:txBody>
        </p:sp>
        <p:sp>
          <p:nvSpPr>
            <p:cNvPr id="159830" name="Rectangle 84"/>
            <p:cNvSpPr/>
            <p:nvPr/>
          </p:nvSpPr>
          <p:spPr>
            <a:xfrm>
              <a:off x="1440" y="276"/>
              <a:ext cx="432" cy="282"/>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C</a:t>
              </a:r>
            </a:p>
          </p:txBody>
        </p:sp>
        <p:sp>
          <p:nvSpPr>
            <p:cNvPr id="159831" name="Rectangle 85"/>
            <p:cNvSpPr/>
            <p:nvPr/>
          </p:nvSpPr>
          <p:spPr>
            <a:xfrm>
              <a:off x="912" y="276"/>
              <a:ext cx="528" cy="282"/>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B</a:t>
              </a:r>
            </a:p>
          </p:txBody>
        </p:sp>
        <p:sp>
          <p:nvSpPr>
            <p:cNvPr id="159832" name="Rectangle 86"/>
            <p:cNvSpPr/>
            <p:nvPr/>
          </p:nvSpPr>
          <p:spPr>
            <a:xfrm>
              <a:off x="528" y="276"/>
              <a:ext cx="384" cy="282"/>
            </a:xfrm>
            <a:prstGeom prst="rect">
              <a:avLst/>
            </a:prstGeom>
            <a:solidFill>
              <a:schemeClr val="folHlink"/>
            </a:solidFill>
            <a:ln w="9525">
              <a:noFill/>
            </a:ln>
          </p:spPr>
          <p:txBody>
            <a:bodyPr tIns="0" bIns="0" anchor="ctr"/>
            <a:lstStyle/>
            <a:p>
              <a:pPr lvl="0" algn="ctr">
                <a:spcBef>
                  <a:spcPct val="20000"/>
                </a:spcBef>
                <a:buClr>
                  <a:srgbClr val="996633"/>
                </a:buClr>
                <a:buFont typeface="Wingdings" panose="05000000000000000000" pitchFamily="2" charset="2"/>
                <a:buNone/>
              </a:pPr>
              <a:r>
                <a:rPr lang="en-US" altLang="x-none" sz="2800" b="1" dirty="0">
                  <a:solidFill>
                    <a:srgbClr val="FF0000"/>
                  </a:solidFill>
                  <a:latin typeface="Arial" panose="020B0604020202020204" pitchFamily="34" charset="0"/>
                  <a:ea typeface="宋体" panose="02010600030101010101" pitchFamily="2" charset="-122"/>
                </a:rPr>
                <a:t>A</a:t>
              </a:r>
            </a:p>
          </p:txBody>
        </p:sp>
        <p:sp>
          <p:nvSpPr>
            <p:cNvPr id="159833" name="Line 87"/>
            <p:cNvSpPr/>
            <p:nvPr/>
          </p:nvSpPr>
          <p:spPr>
            <a:xfrm>
              <a:off x="528" y="276"/>
              <a:ext cx="1344"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834" name="Line 88"/>
            <p:cNvSpPr/>
            <p:nvPr/>
          </p:nvSpPr>
          <p:spPr>
            <a:xfrm>
              <a:off x="528" y="558"/>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835" name="Line 89"/>
            <p:cNvSpPr/>
            <p:nvPr/>
          </p:nvSpPr>
          <p:spPr>
            <a:xfrm>
              <a:off x="528" y="849"/>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836" name="Line 90"/>
            <p:cNvSpPr/>
            <p:nvPr/>
          </p:nvSpPr>
          <p:spPr>
            <a:xfrm>
              <a:off x="528" y="1141"/>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837" name="Line 91"/>
            <p:cNvSpPr/>
            <p:nvPr/>
          </p:nvSpPr>
          <p:spPr>
            <a:xfrm>
              <a:off x="528" y="1728"/>
              <a:ext cx="1344" cy="0"/>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838" name="Line 92"/>
            <p:cNvSpPr/>
            <p:nvPr/>
          </p:nvSpPr>
          <p:spPr>
            <a:xfrm>
              <a:off x="528" y="276"/>
              <a:ext cx="0" cy="1452"/>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839" name="Line 93"/>
            <p:cNvSpPr/>
            <p:nvPr/>
          </p:nvSpPr>
          <p:spPr>
            <a:xfrm>
              <a:off x="912" y="276"/>
              <a:ext cx="0" cy="1452"/>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840" name="Line 94"/>
            <p:cNvSpPr/>
            <p:nvPr/>
          </p:nvSpPr>
          <p:spPr>
            <a:xfrm>
              <a:off x="1440" y="276"/>
              <a:ext cx="0" cy="1452"/>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841" name="Line 95"/>
            <p:cNvSpPr/>
            <p:nvPr/>
          </p:nvSpPr>
          <p:spPr>
            <a:xfrm>
              <a:off x="1872" y="276"/>
              <a:ext cx="0" cy="1452"/>
            </a:xfrm>
            <a:prstGeom prst="line">
              <a:avLst/>
            </a:prstGeom>
            <a:ln w="28575" cap="sq"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842" name="Line 96"/>
            <p:cNvSpPr/>
            <p:nvPr/>
          </p:nvSpPr>
          <p:spPr>
            <a:xfrm>
              <a:off x="528" y="1434"/>
              <a:ext cx="1344" cy="0"/>
            </a:xfrm>
            <a:prstGeom prst="line">
              <a:avLst/>
            </a:prstGeom>
            <a:ln w="127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59843" name="Text Box 97"/>
            <p:cNvSpPr txBox="1"/>
            <p:nvPr/>
          </p:nvSpPr>
          <p:spPr>
            <a:xfrm>
              <a:off x="528" y="0"/>
              <a:ext cx="1344" cy="232"/>
            </a:xfrm>
            <a:prstGeom prst="rect">
              <a:avLst/>
            </a:prstGeom>
            <a:noFill/>
            <a:ln w="9525">
              <a:noFill/>
            </a:ln>
          </p:spPr>
          <p:txBody>
            <a:bodyPr tIns="0" bIns="0" anchor="t">
              <a:spAutoFit/>
            </a:bodyPr>
            <a:lstStyle/>
            <a:p>
              <a:pPr lvl="0" algn="ctr">
                <a:spcBef>
                  <a:spcPct val="50000"/>
                </a:spcBef>
              </a:pPr>
              <a:r>
                <a:rPr lang="en-US" altLang="x-none" b="1" dirty="0">
                  <a:latin typeface="Times New Roman" panose="02020603050405020304" pitchFamily="2" charset="0"/>
                  <a:ea typeface="宋体" panose="02010600030101010101" pitchFamily="2" charset="-122"/>
                </a:rPr>
                <a:t>T</a:t>
              </a:r>
              <a:r>
                <a:rPr lang="en-US" altLang="x-none" b="1" baseline="-25000" dirty="0">
                  <a:latin typeface="Times New Roman" panose="02020603050405020304" pitchFamily="2" charset="0"/>
                  <a:ea typeface="宋体" panose="02010600030101010101" pitchFamily="2" charset="-122"/>
                </a:rPr>
                <a:t>1</a:t>
              </a:r>
              <a:r>
                <a:rPr lang="en-US" altLang="x-none" b="1" dirty="0">
                  <a:latin typeface="Times New Roman" panose="02020603050405020304" pitchFamily="2" charset="0"/>
                  <a:ea typeface="宋体" panose="02010600030101010101" pitchFamily="2" charset="-122"/>
                </a:rPr>
                <a:t> </a:t>
              </a:r>
              <a:r>
                <a:rPr lang="en-US" altLang="x-none" b="1" dirty="0">
                  <a:latin typeface="Arial" panose="020B0604020202020204" pitchFamily="34" charset="0"/>
                  <a:ea typeface="宋体" panose="02010600030101010101" pitchFamily="2" charset="-122"/>
                  <a:sym typeface="Symbol" panose="05050102010706020507" pitchFamily="2" charset="2"/>
                </a:rPr>
                <a:t> join </a:t>
              </a:r>
              <a:r>
                <a:rPr lang="en-US" altLang="x-none" b="1" dirty="0">
                  <a:latin typeface="Times New Roman" panose="02020603050405020304" pitchFamily="2" charset="0"/>
                  <a:ea typeface="宋体" panose="02010600030101010101" pitchFamily="2" charset="-122"/>
                </a:rPr>
                <a:t> T</a:t>
              </a:r>
              <a:r>
                <a:rPr lang="en-US" altLang="x-none" b="1" baseline="-25000" dirty="0">
                  <a:latin typeface="Times New Roman" panose="02020603050405020304" pitchFamily="2" charset="0"/>
                  <a:ea typeface="宋体" panose="02010600030101010101" pitchFamily="2" charset="-122"/>
                </a:rPr>
                <a:t>2</a:t>
              </a:r>
            </a:p>
          </p:txBody>
        </p:sp>
      </p:grpSp>
      <p:sp>
        <p:nvSpPr>
          <p:cNvPr id="2" name="文本框 1"/>
          <p:cNvSpPr txBox="1"/>
          <p:nvPr/>
        </p:nvSpPr>
        <p:spPr>
          <a:xfrm>
            <a:off x="338455" y="5392420"/>
            <a:ext cx="8729345" cy="1198880"/>
          </a:xfrm>
          <a:prstGeom prst="rect">
            <a:avLst/>
          </a:prstGeom>
          <a:noFill/>
          <a:ln>
            <a:solidFill>
              <a:schemeClr val="accent1"/>
            </a:solidFill>
          </a:ln>
        </p:spPr>
        <p:txBody>
          <a:bodyPr wrap="square" rtlCol="0">
            <a:spAutoFit/>
          </a:bodyPr>
          <a:lstStyle/>
          <a:p>
            <a:r>
              <a:rPr lang="zh-CN" altLang="zh-CN" b="1">
                <a:latin typeface="+mn-ea"/>
                <a:ea typeface="+mn-ea"/>
              </a:rPr>
              <a:t>证明方法：</a:t>
            </a:r>
          </a:p>
          <a:p>
            <a:pPr marL="918210" lvl="1" indent="-461010"/>
            <a:r>
              <a:rPr lang="en-US" altLang="zh-CN" b="1">
                <a:latin typeface="+mn-ea"/>
                <a:ea typeface="+mn-ea"/>
              </a:rPr>
              <a:t>1</a:t>
            </a:r>
            <a:r>
              <a:rPr lang="zh-CN" altLang="en-US" b="1">
                <a:latin typeface="+mn-ea"/>
                <a:ea typeface="+mn-ea"/>
              </a:rPr>
              <a:t>）</a:t>
            </a:r>
            <a:r>
              <a:rPr lang="en-US" altLang="zh-CN" b="1">
                <a:latin typeface="+mn-ea"/>
                <a:ea typeface="+mn-ea"/>
              </a:rPr>
              <a:t>T</a:t>
            </a:r>
            <a:r>
              <a:rPr lang="zh-CN" altLang="en-US" b="1">
                <a:latin typeface="+mn-ea"/>
                <a:ea typeface="+mn-ea"/>
              </a:rPr>
              <a:t>中的每一个元组，都出现在 </a:t>
            </a:r>
            <a:r>
              <a:rPr lang="en-US" altLang="zh-CN" b="1">
                <a:latin typeface="+mn-ea"/>
                <a:ea typeface="+mn-ea"/>
              </a:rPr>
              <a:t>T</a:t>
            </a:r>
            <a:r>
              <a:rPr lang="en-US" altLang="zh-CN" b="1" baseline="-25000">
                <a:latin typeface="+mn-ea"/>
                <a:ea typeface="+mn-ea"/>
              </a:rPr>
              <a:t>1</a:t>
            </a:r>
            <a:r>
              <a:rPr lang="en-US" altLang="zh-CN" b="1">
                <a:latin typeface="+mn-ea"/>
                <a:ea typeface="+mn-ea"/>
              </a:rPr>
              <a:t> join T</a:t>
            </a:r>
            <a:r>
              <a:rPr lang="en-US" altLang="zh-CN" b="1" baseline="-25000">
                <a:latin typeface="+mn-ea"/>
                <a:ea typeface="+mn-ea"/>
              </a:rPr>
              <a:t>2</a:t>
            </a:r>
            <a:r>
              <a:rPr lang="en-US" altLang="zh-CN" b="1">
                <a:latin typeface="+mn-ea"/>
                <a:ea typeface="+mn-ea"/>
              </a:rPr>
              <a:t> </a:t>
            </a:r>
            <a:r>
              <a:rPr lang="zh-CN" altLang="en-US" b="1">
                <a:latin typeface="+mn-ea"/>
                <a:ea typeface="+mn-ea"/>
              </a:rPr>
              <a:t>的结果集中；</a:t>
            </a:r>
          </a:p>
          <a:p>
            <a:pPr marL="918210" lvl="1" indent="-461010"/>
            <a:r>
              <a:rPr lang="en-US" altLang="zh-CN" b="1">
                <a:latin typeface="+mn-ea"/>
                <a:ea typeface="+mn-ea"/>
              </a:rPr>
              <a:t>2</a:t>
            </a:r>
            <a:r>
              <a:rPr lang="zh-CN" altLang="en-US" b="1">
                <a:latin typeface="+mn-ea"/>
                <a:ea typeface="+mn-ea"/>
              </a:rPr>
              <a:t>）</a:t>
            </a:r>
            <a:r>
              <a:rPr lang="en-US" altLang="zh-CN" b="1">
                <a:latin typeface="+mn-ea"/>
                <a:ea typeface="+mn-ea"/>
                <a:sym typeface="+mn-ea"/>
              </a:rPr>
              <a:t>T</a:t>
            </a:r>
            <a:r>
              <a:rPr lang="en-US" altLang="zh-CN" b="1" baseline="-25000">
                <a:latin typeface="+mn-ea"/>
                <a:ea typeface="+mn-ea"/>
                <a:sym typeface="+mn-ea"/>
              </a:rPr>
              <a:t>1</a:t>
            </a:r>
            <a:r>
              <a:rPr lang="en-US" altLang="zh-CN" b="1">
                <a:latin typeface="+mn-ea"/>
                <a:ea typeface="+mn-ea"/>
                <a:sym typeface="+mn-ea"/>
              </a:rPr>
              <a:t> join T</a:t>
            </a:r>
            <a:r>
              <a:rPr lang="en-US" altLang="zh-CN" b="1" baseline="-25000">
                <a:latin typeface="+mn-ea"/>
                <a:ea typeface="+mn-ea"/>
                <a:sym typeface="+mn-ea"/>
              </a:rPr>
              <a:t>2</a:t>
            </a:r>
            <a:r>
              <a:rPr lang="en-US" altLang="zh-CN" b="1">
                <a:latin typeface="+mn-ea"/>
                <a:ea typeface="+mn-ea"/>
                <a:sym typeface="+mn-ea"/>
              </a:rPr>
              <a:t> </a:t>
            </a:r>
            <a:r>
              <a:rPr lang="zh-CN" altLang="en-US" b="1">
                <a:latin typeface="+mn-ea"/>
                <a:ea typeface="+mn-ea"/>
                <a:sym typeface="+mn-ea"/>
              </a:rPr>
              <a:t>结果集中的每一个元组，都出现在</a:t>
            </a:r>
            <a:r>
              <a:rPr lang="en-US" altLang="zh-CN" b="1">
                <a:latin typeface="+mn-ea"/>
                <a:ea typeface="+mn-ea"/>
                <a:sym typeface="+mn-ea"/>
              </a:rPr>
              <a:t>T</a:t>
            </a:r>
            <a:r>
              <a:rPr lang="zh-CN" altLang="en-US" b="1">
                <a:latin typeface="+mn-ea"/>
                <a:ea typeface="+mn-ea"/>
                <a:sym typeface="+mn-ea"/>
              </a:rPr>
              <a:t>中。</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60770"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60771"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92</a:t>
            </a:fld>
            <a:endParaRPr lang="zh-CN" altLang="en-US" sz="1200" b="1" i="1" dirty="0">
              <a:latin typeface="Times New Roman" panose="02020603050405020304" pitchFamily="2" charset="0"/>
              <a:ea typeface="宋体" panose="02010600030101010101" pitchFamily="2" charset="-122"/>
            </a:endParaRPr>
          </a:p>
        </p:txBody>
      </p:sp>
      <p:sp>
        <p:nvSpPr>
          <p:cNvPr id="160772"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6.7  </a:t>
            </a:r>
            <a:r>
              <a:rPr lang="en-US" altLang="x-none" dirty="0">
                <a:ea typeface="宋体" panose="02010600030101010101" pitchFamily="2" charset="-122"/>
              </a:rPr>
              <a:t>Lossless Decompositions</a:t>
            </a:r>
          </a:p>
        </p:txBody>
      </p:sp>
      <p:sp>
        <p:nvSpPr>
          <p:cNvPr id="160774" name="Rectangle 3"/>
          <p:cNvSpPr>
            <a:spLocks noGrp="1"/>
          </p:cNvSpPr>
          <p:nvPr>
            <p:ph type="body"/>
          </p:nvPr>
        </p:nvSpPr>
        <p:spPr>
          <a:xfrm>
            <a:off x="314325" y="858838"/>
            <a:ext cx="8686800" cy="5475287"/>
          </a:xfrm>
        </p:spPr>
        <p:txBody>
          <a:bodyPr wrap="square" anchor="t"/>
          <a:lstStyle/>
          <a:p>
            <a:pPr lvl="0" eaLnBrk="1" hangingPunct="1">
              <a:lnSpc>
                <a:spcPct val="120000"/>
              </a:lnSpc>
            </a:pPr>
            <a:r>
              <a:rPr lang="en-US" altLang="x-none" sz="3200" dirty="0">
                <a:ea typeface="宋体" panose="02010600030101010101" pitchFamily="2" charset="-122"/>
              </a:rPr>
              <a:t>Ex 6.7.6 </a:t>
            </a:r>
            <a:r>
              <a:rPr lang="en-US" altLang="x-none" sz="3200" dirty="0">
                <a:solidFill>
                  <a:schemeClr val="accent2"/>
                </a:solidFill>
                <a:ea typeface="宋体" panose="02010600030101010101" pitchFamily="2" charset="-122"/>
              </a:rPr>
              <a:t>Lossless Join Decomposition with Multiple Tables: T  </a:t>
            </a:r>
            <a:r>
              <a:rPr lang="en-US" altLang="x-none" sz="3200" dirty="0">
                <a:solidFill>
                  <a:schemeClr val="accent2"/>
                </a:solidFill>
                <a:ea typeface="宋体" panose="02010600030101010101" pitchFamily="2" charset="-122"/>
                <a:sym typeface="Symbol" panose="05050102010706020507" pitchFamily="2" charset="2"/>
              </a:rPr>
              <a:t> </a:t>
            </a:r>
            <a:r>
              <a:rPr lang="en-US" altLang="x-none" sz="3200" dirty="0">
                <a:solidFill>
                  <a:schemeClr val="accent2"/>
                </a:solidFill>
                <a:ea typeface="宋体" panose="02010600030101010101" pitchFamily="2" charset="-122"/>
              </a:rPr>
              <a:t>{ T</a:t>
            </a:r>
            <a:r>
              <a:rPr lang="en-US" altLang="x-none" sz="3200" baseline="-25000" dirty="0">
                <a:solidFill>
                  <a:schemeClr val="accent2"/>
                </a:solidFill>
                <a:ea typeface="宋体" panose="02010600030101010101" pitchFamily="2" charset="-122"/>
              </a:rPr>
              <a:t>1</a:t>
            </a:r>
            <a:r>
              <a:rPr lang="en-US" altLang="x-none" sz="3200" dirty="0">
                <a:solidFill>
                  <a:schemeClr val="accent2"/>
                </a:solidFill>
                <a:ea typeface="宋体" panose="02010600030101010101" pitchFamily="2" charset="-122"/>
              </a:rPr>
              <a:t>, T</a:t>
            </a:r>
            <a:r>
              <a:rPr lang="en-US" altLang="x-none" sz="3200" baseline="-25000" dirty="0">
                <a:solidFill>
                  <a:schemeClr val="accent2"/>
                </a:solidFill>
                <a:ea typeface="宋体" panose="02010600030101010101" pitchFamily="2" charset="-122"/>
              </a:rPr>
              <a:t>2</a:t>
            </a:r>
            <a:r>
              <a:rPr lang="en-US" altLang="x-none" sz="3200" dirty="0">
                <a:solidFill>
                  <a:schemeClr val="accent2"/>
                </a:solidFill>
                <a:ea typeface="宋体" panose="02010600030101010101" pitchFamily="2" charset="-122"/>
              </a:rPr>
              <a:t>, ...,T</a:t>
            </a:r>
            <a:r>
              <a:rPr lang="en-US" altLang="x-none" sz="3200" baseline="-25000" dirty="0">
                <a:solidFill>
                  <a:schemeClr val="accent2"/>
                </a:solidFill>
                <a:ea typeface="宋体" panose="02010600030101010101" pitchFamily="2" charset="-122"/>
              </a:rPr>
              <a:t>k </a:t>
            </a:r>
            <a:r>
              <a:rPr lang="en-US" altLang="x-none" sz="3200" dirty="0">
                <a:solidFill>
                  <a:schemeClr val="accent2"/>
                </a:solidFill>
                <a:ea typeface="宋体" panose="02010600030101010101" pitchFamily="2" charset="-122"/>
              </a:rPr>
              <a:t>} </a:t>
            </a:r>
          </a:p>
          <a:p>
            <a:pPr lvl="0" eaLnBrk="1" hangingPunct="1">
              <a:lnSpc>
                <a:spcPct val="120000"/>
              </a:lnSpc>
            </a:pPr>
            <a:endParaRPr lang="en-US" altLang="x-none" sz="1400" dirty="0">
              <a:solidFill>
                <a:schemeClr val="accent2"/>
              </a:solidFill>
              <a:ea typeface="宋体" panose="02010600030101010101" pitchFamily="2" charset="-122"/>
            </a:endParaRPr>
          </a:p>
          <a:p>
            <a:pPr marL="457200" lvl="1" indent="0" eaLnBrk="1" hangingPunct="1">
              <a:lnSpc>
                <a:spcPct val="120000"/>
              </a:lnSpc>
              <a:buNone/>
            </a:pPr>
            <a:r>
              <a:rPr lang="en-US" altLang="x-none" sz="3200" dirty="0">
                <a:ea typeface="宋体" panose="02010600030101010101" pitchFamily="2" charset="-122"/>
              </a:rPr>
              <a:t>we can demonstrate losslessness by using the two-table result in a recursive manner.</a:t>
            </a:r>
          </a:p>
          <a:p>
            <a:pPr marL="1905" lvl="2" indent="683895" eaLnBrk="1" hangingPunct="1">
              <a:lnSpc>
                <a:spcPct val="120000"/>
              </a:lnSpc>
              <a:buNone/>
            </a:pPr>
            <a:r>
              <a:rPr lang="en-US" altLang="x-none" sz="3200" dirty="0">
                <a:ea typeface="宋体" panose="02010600030101010101" pitchFamily="2" charset="-122"/>
              </a:rPr>
              <a:t>(((T</a:t>
            </a:r>
            <a:r>
              <a:rPr lang="en-US" altLang="x-none" sz="3200" baseline="-25000" dirty="0">
                <a:ea typeface="宋体" panose="02010600030101010101" pitchFamily="2" charset="-122"/>
              </a:rPr>
              <a:t>1</a:t>
            </a:r>
            <a:r>
              <a:rPr lang="en-US" altLang="x-none" sz="3200" dirty="0">
                <a:ea typeface="宋体" panose="02010600030101010101" pitchFamily="2" charset="-122"/>
              </a:rPr>
              <a:t> </a:t>
            </a:r>
            <a:r>
              <a:rPr lang="zh-CN" altLang="en-US" sz="3200" dirty="0">
                <a:ea typeface="宋体" panose="02010600030101010101" pitchFamily="2" charset="-122"/>
                <a:sym typeface="Symbol" panose="05050102010706020507" pitchFamily="2" charset="2"/>
              </a:rPr>
              <a:t>join</a:t>
            </a:r>
            <a:r>
              <a:rPr lang="en-US" altLang="x-none" sz="3200" dirty="0">
                <a:ea typeface="宋体" panose="02010600030101010101" pitchFamily="2" charset="-122"/>
              </a:rPr>
              <a:t> T</a:t>
            </a:r>
            <a:r>
              <a:rPr lang="en-US" altLang="x-none" sz="3200" baseline="-25000" dirty="0">
                <a:ea typeface="宋体" panose="02010600030101010101" pitchFamily="2" charset="-122"/>
              </a:rPr>
              <a:t>2</a:t>
            </a:r>
            <a:r>
              <a:rPr lang="en-US" altLang="x-none" sz="3200" dirty="0">
                <a:ea typeface="宋体" panose="02010600030101010101" pitchFamily="2" charset="-122"/>
              </a:rPr>
              <a:t>) </a:t>
            </a:r>
            <a:r>
              <a:rPr lang="zh-CN" altLang="en-US" sz="3200" dirty="0">
                <a:ea typeface="宋体" panose="02010600030101010101" pitchFamily="2" charset="-122"/>
                <a:sym typeface="Symbol" panose="05050102010706020507" pitchFamily="2" charset="2"/>
              </a:rPr>
              <a:t>join</a:t>
            </a:r>
            <a:r>
              <a:rPr lang="en-US" altLang="x-none" sz="3200" dirty="0">
                <a:ea typeface="宋体" panose="02010600030101010101" pitchFamily="2" charset="-122"/>
              </a:rPr>
              <a:t> T</a:t>
            </a:r>
            <a:r>
              <a:rPr lang="en-US" altLang="x-none" sz="3200" baseline="-25000" dirty="0">
                <a:ea typeface="宋体" panose="02010600030101010101" pitchFamily="2" charset="-122"/>
              </a:rPr>
              <a:t>3</a:t>
            </a:r>
            <a:r>
              <a:rPr lang="en-US" altLang="x-none" sz="3200" dirty="0">
                <a:ea typeface="宋体" panose="02010600030101010101" pitchFamily="2" charset="-122"/>
              </a:rPr>
              <a:t>)</a:t>
            </a:r>
            <a:r>
              <a:rPr lang="zh-CN" altLang="en-US" sz="3200" dirty="0">
                <a:ea typeface="宋体" panose="02010600030101010101" pitchFamily="2" charset="-122"/>
              </a:rPr>
              <a:t> </a:t>
            </a:r>
            <a:r>
              <a:rPr lang="en-US" altLang="x-none" sz="3200" dirty="0">
                <a:ea typeface="宋体" panose="02010600030101010101" pitchFamily="2" charset="-122"/>
              </a:rPr>
              <a:t>... </a:t>
            </a:r>
            <a:r>
              <a:rPr lang="zh-CN" altLang="en-US" sz="3200" dirty="0">
                <a:ea typeface="宋体" panose="02010600030101010101" pitchFamily="2" charset="-122"/>
                <a:sym typeface="Symbol" panose="05050102010706020507" pitchFamily="2" charset="2"/>
              </a:rPr>
              <a:t>join</a:t>
            </a:r>
            <a:r>
              <a:rPr lang="en-US" altLang="x-none" sz="3200" dirty="0">
                <a:ea typeface="宋体" panose="02010600030101010101" pitchFamily="2" charset="-122"/>
              </a:rPr>
              <a:t> T</a:t>
            </a:r>
            <a:r>
              <a:rPr lang="en-US" altLang="x-none" sz="3200" baseline="-25000" dirty="0">
                <a:ea typeface="宋体" panose="02010600030101010101" pitchFamily="2" charset="-122"/>
              </a:rPr>
              <a:t>k</a:t>
            </a:r>
            <a:r>
              <a:rPr lang="en-US" altLang="x-none" sz="3200" dirty="0">
                <a:ea typeface="宋体" panose="02010600030101010101" pitchFamily="2" charset="-122"/>
              </a:rPr>
              <a:t>)</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61794"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61795"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93</a:t>
            </a:fld>
            <a:endParaRPr lang="zh-CN" altLang="en-US" sz="1200" b="1" i="1" dirty="0">
              <a:latin typeface="Times New Roman" panose="02020603050405020304" pitchFamily="2" charset="0"/>
              <a:ea typeface="宋体" panose="02010600030101010101" pitchFamily="2" charset="-122"/>
            </a:endParaRPr>
          </a:p>
        </p:txBody>
      </p:sp>
      <p:sp>
        <p:nvSpPr>
          <p:cNvPr id="161796"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6.7  </a:t>
            </a:r>
            <a:r>
              <a:rPr lang="en-US" altLang="x-none" dirty="0">
                <a:ea typeface="宋体" panose="02010600030101010101" pitchFamily="2" charset="-122"/>
              </a:rPr>
              <a:t>Lossless Decompositions</a:t>
            </a:r>
          </a:p>
        </p:txBody>
      </p:sp>
      <p:sp>
        <p:nvSpPr>
          <p:cNvPr id="161797" name="Rectangle 3"/>
          <p:cNvSpPr>
            <a:spLocks noGrp="1"/>
          </p:cNvSpPr>
          <p:nvPr>
            <p:ph type="body"/>
          </p:nvPr>
        </p:nvSpPr>
        <p:spPr>
          <a:xfrm>
            <a:off x="171450" y="838200"/>
            <a:ext cx="8651875" cy="1524000"/>
          </a:xfrm>
        </p:spPr>
        <p:txBody>
          <a:bodyPr wrap="square" anchor="t"/>
          <a:lstStyle/>
          <a:p>
            <a:pPr marL="457200" lvl="0" indent="-457200" eaLnBrk="1" hangingPunct="1"/>
            <a:r>
              <a:rPr lang="en-US" altLang="x-none" sz="3000" dirty="0">
                <a:ea typeface="宋体" panose="02010600030101010101" pitchFamily="2" charset="-122"/>
              </a:rPr>
              <a:t>Ex. </a:t>
            </a:r>
            <a:r>
              <a:rPr lang="en-US" altLang="x-none" sz="3000" dirty="0">
                <a:solidFill>
                  <a:schemeClr val="accent2"/>
                </a:solidFill>
                <a:ea typeface="宋体" panose="02010600030101010101" pitchFamily="2" charset="-122"/>
              </a:rPr>
              <a:t>Give a decomposition of table T(A,B,C) with a set F of FDs: </a:t>
            </a:r>
            <a:r>
              <a:rPr lang="en-US" altLang="x-none" sz="3000" dirty="0">
                <a:solidFill>
                  <a:schemeClr val="accent2"/>
                </a:solidFill>
                <a:ea typeface="宋体" panose="02010600030101010101" pitchFamily="2" charset="-122"/>
                <a:sym typeface="Symbol" panose="05050102010706020507" pitchFamily="2" charset="2"/>
              </a:rPr>
              <a:t> = </a:t>
            </a:r>
            <a:r>
              <a:rPr lang="en-US" altLang="x-none" sz="3000" dirty="0">
                <a:solidFill>
                  <a:schemeClr val="accent2"/>
                </a:solidFill>
                <a:ea typeface="宋体" panose="02010600030101010101" pitchFamily="2" charset="-122"/>
              </a:rPr>
              <a:t>{T</a:t>
            </a:r>
            <a:r>
              <a:rPr lang="en-US" altLang="x-none" sz="3000" baseline="-25000" dirty="0">
                <a:solidFill>
                  <a:schemeClr val="accent2"/>
                </a:solidFill>
                <a:ea typeface="宋体" panose="02010600030101010101" pitchFamily="2" charset="-122"/>
              </a:rPr>
              <a:t>1</a:t>
            </a:r>
            <a:r>
              <a:rPr lang="en-US" altLang="x-none" sz="3000" dirty="0">
                <a:solidFill>
                  <a:schemeClr val="accent2"/>
                </a:solidFill>
                <a:ea typeface="宋体" panose="02010600030101010101" pitchFamily="2" charset="-122"/>
              </a:rPr>
              <a:t>, T</a:t>
            </a:r>
            <a:r>
              <a:rPr lang="en-US" altLang="x-none" sz="3000" baseline="-25000" dirty="0">
                <a:solidFill>
                  <a:schemeClr val="accent2"/>
                </a:solidFill>
                <a:ea typeface="宋体" panose="02010600030101010101" pitchFamily="2" charset="-122"/>
              </a:rPr>
              <a:t>2</a:t>
            </a:r>
            <a:r>
              <a:rPr lang="en-US" altLang="x-none" sz="3000" dirty="0">
                <a:solidFill>
                  <a:schemeClr val="accent2"/>
                </a:solidFill>
                <a:ea typeface="宋体" panose="02010600030101010101" pitchFamily="2" charset="-122"/>
              </a:rPr>
              <a:t>}</a:t>
            </a:r>
          </a:p>
          <a:p>
            <a:pPr marL="914400" lvl="1" indent="-457200" eaLnBrk="1" hangingPunct="1">
              <a:buNone/>
            </a:pPr>
            <a:r>
              <a:rPr lang="en-US" altLang="x-none" sz="3000" dirty="0">
                <a:ea typeface="宋体" panose="02010600030101010101" pitchFamily="2" charset="-122"/>
              </a:rPr>
              <a:t>Is it </a:t>
            </a:r>
            <a:r>
              <a:rPr lang="en-US" altLang="x-none" sz="3000" i="1" dirty="0">
                <a:solidFill>
                  <a:srgbClr val="FF0066"/>
                </a:solidFill>
                <a:ea typeface="宋体" panose="02010600030101010101" pitchFamily="2" charset="-122"/>
              </a:rPr>
              <a:t>a lossless decomposition</a:t>
            </a:r>
            <a:r>
              <a:rPr lang="en-US" altLang="x-none" sz="3000" dirty="0">
                <a:ea typeface="宋体" panose="02010600030101010101" pitchFamily="2" charset="-122"/>
              </a:rPr>
              <a:t> ?</a:t>
            </a:r>
          </a:p>
        </p:txBody>
      </p:sp>
      <p:sp>
        <p:nvSpPr>
          <p:cNvPr id="161799" name="Rectangle 4"/>
          <p:cNvSpPr/>
          <p:nvPr/>
        </p:nvSpPr>
        <p:spPr>
          <a:xfrm>
            <a:off x="457200" y="2438400"/>
            <a:ext cx="8229600" cy="4038600"/>
          </a:xfrm>
          <a:prstGeom prst="rect">
            <a:avLst/>
          </a:prstGeom>
          <a:noFill/>
          <a:ln w="9525">
            <a:noFill/>
          </a:ln>
        </p:spPr>
        <p:txBody>
          <a:bodyPr anchor="t"/>
          <a:lstStyle/>
          <a:p>
            <a:pPr marL="914400" lvl="1" indent="-457200">
              <a:lnSpc>
                <a:spcPct val="140000"/>
              </a:lnSpc>
              <a:spcBef>
                <a:spcPct val="20000"/>
              </a:spcBef>
              <a:buClr>
                <a:srgbClr val="996633"/>
              </a:buClr>
              <a:buAutoNum type="arabicParenR"/>
            </a:pPr>
            <a:r>
              <a:rPr lang="en-US" altLang="x-none" sz="2800" b="1" dirty="0">
                <a:solidFill>
                  <a:schemeClr val="accent2"/>
                </a:solidFill>
                <a:latin typeface="Arial" panose="020B0604020202020204" pitchFamily="34" charset="0"/>
                <a:ea typeface="宋体" panose="02010600030101010101" pitchFamily="2" charset="-122"/>
              </a:rPr>
              <a:t>F = { A</a:t>
            </a:r>
            <a:r>
              <a:rPr lang="en-US" altLang="x-none" sz="2800" b="1" dirty="0">
                <a:solidFill>
                  <a:schemeClr val="accent2"/>
                </a:solidFill>
                <a:latin typeface="Arial" panose="020B0604020202020204" pitchFamily="34" charset="0"/>
                <a:ea typeface="宋体" panose="02010600030101010101" pitchFamily="2" charset="-122"/>
                <a:sym typeface="Symbol" panose="05050102010706020507" pitchFamily="2" charset="2"/>
              </a:rPr>
              <a:t>B </a:t>
            </a:r>
            <a:r>
              <a:rPr lang="en-US" altLang="x-none" sz="2800" b="1" dirty="0">
                <a:solidFill>
                  <a:schemeClr val="accent2"/>
                </a:solidFill>
                <a:latin typeface="Arial" panose="020B0604020202020204" pitchFamily="34" charset="0"/>
                <a:ea typeface="宋体" panose="02010600030101010101" pitchFamily="2" charset="-122"/>
              </a:rPr>
              <a:t>},             	T</a:t>
            </a:r>
            <a:r>
              <a:rPr lang="en-US" altLang="x-none" sz="2800" b="1" baseline="-25000" dirty="0">
                <a:solidFill>
                  <a:schemeClr val="accent2"/>
                </a:solidFill>
                <a:latin typeface="Arial" panose="020B0604020202020204" pitchFamily="34" charset="0"/>
                <a:ea typeface="宋体" panose="02010600030101010101" pitchFamily="2" charset="-122"/>
              </a:rPr>
              <a:t>1</a:t>
            </a:r>
            <a:r>
              <a:rPr lang="en-US" altLang="x-none" sz="2800" b="1" dirty="0">
                <a:solidFill>
                  <a:schemeClr val="accent2"/>
                </a:solidFill>
                <a:latin typeface="Arial" panose="020B0604020202020204" pitchFamily="34" charset="0"/>
                <a:ea typeface="宋体" panose="02010600030101010101" pitchFamily="2" charset="-122"/>
              </a:rPr>
              <a:t>(A, B),  T</a:t>
            </a:r>
            <a:r>
              <a:rPr lang="en-US" altLang="x-none" sz="2800" b="1" baseline="-25000" dirty="0">
                <a:solidFill>
                  <a:schemeClr val="accent2"/>
                </a:solidFill>
                <a:latin typeface="Arial" panose="020B0604020202020204" pitchFamily="34" charset="0"/>
                <a:ea typeface="宋体" panose="02010600030101010101" pitchFamily="2" charset="-122"/>
              </a:rPr>
              <a:t>2</a:t>
            </a:r>
            <a:r>
              <a:rPr lang="en-US" altLang="x-none" sz="2800" b="1" dirty="0">
                <a:solidFill>
                  <a:schemeClr val="accent2"/>
                </a:solidFill>
                <a:latin typeface="Arial" panose="020B0604020202020204" pitchFamily="34" charset="0"/>
                <a:ea typeface="宋体" panose="02010600030101010101" pitchFamily="2" charset="-122"/>
              </a:rPr>
              <a:t>(A, C)</a:t>
            </a:r>
          </a:p>
          <a:p>
            <a:pPr marL="914400" lvl="1" indent="-457200">
              <a:lnSpc>
                <a:spcPct val="140000"/>
              </a:lnSpc>
              <a:spcBef>
                <a:spcPct val="20000"/>
              </a:spcBef>
              <a:buClr>
                <a:srgbClr val="996633"/>
              </a:buClr>
              <a:buAutoNum type="arabicParenR"/>
            </a:pPr>
            <a:endParaRPr lang="en-US" altLang="x-none" sz="1400" b="1" dirty="0">
              <a:solidFill>
                <a:schemeClr val="accent2"/>
              </a:solidFill>
              <a:latin typeface="Arial" panose="020B0604020202020204" pitchFamily="34" charset="0"/>
              <a:ea typeface="宋体" panose="02010600030101010101" pitchFamily="2" charset="-122"/>
            </a:endParaRPr>
          </a:p>
          <a:p>
            <a:pPr marL="914400" lvl="1" indent="-457200">
              <a:lnSpc>
                <a:spcPct val="140000"/>
              </a:lnSpc>
              <a:spcBef>
                <a:spcPct val="20000"/>
              </a:spcBef>
              <a:buClr>
                <a:srgbClr val="996633"/>
              </a:buClr>
              <a:buAutoNum type="arabicParenR"/>
            </a:pPr>
            <a:r>
              <a:rPr lang="en-US" altLang="x-none" sz="2800" b="1" dirty="0">
                <a:solidFill>
                  <a:schemeClr val="accent2"/>
                </a:solidFill>
                <a:latin typeface="Arial" panose="020B0604020202020204" pitchFamily="34" charset="0"/>
                <a:ea typeface="宋体" panose="02010600030101010101" pitchFamily="2" charset="-122"/>
              </a:rPr>
              <a:t>F = { A</a:t>
            </a:r>
            <a:r>
              <a:rPr lang="en-US" altLang="x-none" sz="2800" b="1"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2800" b="1" dirty="0">
                <a:solidFill>
                  <a:schemeClr val="accent2"/>
                </a:solidFill>
                <a:latin typeface="Arial" panose="020B0604020202020204" pitchFamily="34" charset="0"/>
                <a:ea typeface="宋体" panose="02010600030101010101" pitchFamily="2" charset="-122"/>
              </a:rPr>
              <a:t>C, B</a:t>
            </a:r>
            <a:r>
              <a:rPr lang="en-US" altLang="x-none" sz="2800" b="1"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2800" b="1" dirty="0">
                <a:solidFill>
                  <a:schemeClr val="accent2"/>
                </a:solidFill>
                <a:latin typeface="Arial" panose="020B0604020202020204" pitchFamily="34" charset="0"/>
                <a:ea typeface="宋体" panose="02010600030101010101" pitchFamily="2" charset="-122"/>
              </a:rPr>
              <a:t>C },  	T</a:t>
            </a:r>
            <a:r>
              <a:rPr lang="en-US" altLang="x-none" sz="2800" b="1" baseline="-25000" dirty="0">
                <a:solidFill>
                  <a:schemeClr val="accent2"/>
                </a:solidFill>
                <a:latin typeface="Arial" panose="020B0604020202020204" pitchFamily="34" charset="0"/>
                <a:ea typeface="宋体" panose="02010600030101010101" pitchFamily="2" charset="-122"/>
              </a:rPr>
              <a:t>1</a:t>
            </a:r>
            <a:r>
              <a:rPr lang="en-US" altLang="x-none" sz="2800" b="1" dirty="0">
                <a:solidFill>
                  <a:schemeClr val="accent2"/>
                </a:solidFill>
                <a:latin typeface="Arial" panose="020B0604020202020204" pitchFamily="34" charset="0"/>
                <a:ea typeface="宋体" panose="02010600030101010101" pitchFamily="2" charset="-122"/>
              </a:rPr>
              <a:t>(A, B),  T</a:t>
            </a:r>
            <a:r>
              <a:rPr lang="en-US" altLang="x-none" sz="2800" b="1" baseline="-25000" dirty="0">
                <a:solidFill>
                  <a:schemeClr val="accent2"/>
                </a:solidFill>
                <a:latin typeface="Arial" panose="020B0604020202020204" pitchFamily="34" charset="0"/>
                <a:ea typeface="宋体" panose="02010600030101010101" pitchFamily="2" charset="-122"/>
              </a:rPr>
              <a:t>2</a:t>
            </a:r>
            <a:r>
              <a:rPr lang="en-US" altLang="x-none" sz="2800" b="1" dirty="0">
                <a:solidFill>
                  <a:schemeClr val="accent2"/>
                </a:solidFill>
                <a:latin typeface="Arial" panose="020B0604020202020204" pitchFamily="34" charset="0"/>
                <a:ea typeface="宋体" panose="02010600030101010101" pitchFamily="2" charset="-122"/>
              </a:rPr>
              <a:t>(A, C)</a:t>
            </a:r>
          </a:p>
          <a:p>
            <a:pPr marL="914400" lvl="1" indent="-457200">
              <a:lnSpc>
                <a:spcPct val="140000"/>
              </a:lnSpc>
              <a:spcBef>
                <a:spcPct val="20000"/>
              </a:spcBef>
              <a:buClr>
                <a:srgbClr val="996633"/>
              </a:buClr>
              <a:buAutoNum type="arabicParenR"/>
            </a:pPr>
            <a:endParaRPr lang="en-US" altLang="x-none" sz="1400" b="1" dirty="0">
              <a:solidFill>
                <a:schemeClr val="accent2"/>
              </a:solidFill>
              <a:latin typeface="Arial" panose="020B0604020202020204" pitchFamily="34" charset="0"/>
              <a:ea typeface="宋体" panose="02010600030101010101" pitchFamily="2" charset="-122"/>
            </a:endParaRPr>
          </a:p>
          <a:p>
            <a:pPr marL="914400" lvl="1" indent="-457200">
              <a:lnSpc>
                <a:spcPct val="140000"/>
              </a:lnSpc>
              <a:spcBef>
                <a:spcPct val="20000"/>
              </a:spcBef>
              <a:buClr>
                <a:srgbClr val="996633"/>
              </a:buClr>
              <a:buAutoNum type="arabicParenR"/>
            </a:pPr>
            <a:r>
              <a:rPr lang="en-US" altLang="x-none" sz="2800" b="1" dirty="0">
                <a:solidFill>
                  <a:schemeClr val="accent2"/>
                </a:solidFill>
                <a:latin typeface="Arial" panose="020B0604020202020204" pitchFamily="34" charset="0"/>
                <a:ea typeface="宋体" panose="02010600030101010101" pitchFamily="2" charset="-122"/>
              </a:rPr>
              <a:t>F = { A</a:t>
            </a:r>
            <a:r>
              <a:rPr lang="en-US" altLang="x-none" sz="2800" b="1" dirty="0">
                <a:solidFill>
                  <a:schemeClr val="accent2"/>
                </a:solidFill>
                <a:latin typeface="Arial" panose="020B0604020202020204" pitchFamily="34" charset="0"/>
                <a:ea typeface="宋体" panose="02010600030101010101" pitchFamily="2" charset="-122"/>
                <a:sym typeface="Symbol" panose="05050102010706020507" pitchFamily="2" charset="2"/>
              </a:rPr>
              <a:t>B </a:t>
            </a:r>
            <a:r>
              <a:rPr lang="en-US" altLang="x-none" sz="2800" b="1" dirty="0">
                <a:solidFill>
                  <a:schemeClr val="accent2"/>
                </a:solidFill>
                <a:latin typeface="Arial" panose="020B0604020202020204" pitchFamily="34" charset="0"/>
                <a:ea typeface="宋体" panose="02010600030101010101" pitchFamily="2" charset="-122"/>
              </a:rPr>
              <a:t>},             	T</a:t>
            </a:r>
            <a:r>
              <a:rPr lang="en-US" altLang="x-none" sz="2800" b="1" baseline="-25000" dirty="0">
                <a:solidFill>
                  <a:schemeClr val="accent2"/>
                </a:solidFill>
                <a:latin typeface="Arial" panose="020B0604020202020204" pitchFamily="34" charset="0"/>
                <a:ea typeface="宋体" panose="02010600030101010101" pitchFamily="2" charset="-122"/>
              </a:rPr>
              <a:t>1</a:t>
            </a:r>
            <a:r>
              <a:rPr lang="en-US" altLang="x-none" sz="2800" b="1" dirty="0">
                <a:solidFill>
                  <a:schemeClr val="accent2"/>
                </a:solidFill>
                <a:latin typeface="Arial" panose="020B0604020202020204" pitchFamily="34" charset="0"/>
                <a:ea typeface="宋体" panose="02010600030101010101" pitchFamily="2" charset="-122"/>
              </a:rPr>
              <a:t>(A, B),  T</a:t>
            </a:r>
            <a:r>
              <a:rPr lang="en-US" altLang="x-none" sz="2800" b="1" baseline="-25000" dirty="0">
                <a:solidFill>
                  <a:schemeClr val="accent2"/>
                </a:solidFill>
                <a:latin typeface="Arial" panose="020B0604020202020204" pitchFamily="34" charset="0"/>
                <a:ea typeface="宋体" panose="02010600030101010101" pitchFamily="2" charset="-122"/>
              </a:rPr>
              <a:t>2</a:t>
            </a:r>
            <a:r>
              <a:rPr lang="en-US" altLang="x-none" sz="2800" b="1" dirty="0">
                <a:solidFill>
                  <a:schemeClr val="accent2"/>
                </a:solidFill>
                <a:latin typeface="Arial" panose="020B0604020202020204" pitchFamily="34" charset="0"/>
                <a:ea typeface="宋体" panose="02010600030101010101" pitchFamily="2" charset="-122"/>
              </a:rPr>
              <a:t>(B, C)</a:t>
            </a:r>
          </a:p>
          <a:p>
            <a:pPr marL="914400" lvl="1" indent="-457200">
              <a:lnSpc>
                <a:spcPct val="140000"/>
              </a:lnSpc>
              <a:spcBef>
                <a:spcPct val="20000"/>
              </a:spcBef>
              <a:buClr>
                <a:srgbClr val="996633"/>
              </a:buClr>
              <a:buAutoNum type="arabicParenR"/>
            </a:pPr>
            <a:endParaRPr lang="en-US" altLang="x-none" sz="1400" b="1" dirty="0">
              <a:solidFill>
                <a:schemeClr val="accent2"/>
              </a:solidFill>
              <a:latin typeface="Arial" panose="020B0604020202020204" pitchFamily="34" charset="0"/>
              <a:ea typeface="宋体" panose="02010600030101010101" pitchFamily="2" charset="-122"/>
            </a:endParaRPr>
          </a:p>
          <a:p>
            <a:pPr marL="914400" lvl="1" indent="-457200">
              <a:lnSpc>
                <a:spcPct val="140000"/>
              </a:lnSpc>
              <a:spcBef>
                <a:spcPct val="20000"/>
              </a:spcBef>
              <a:buClr>
                <a:srgbClr val="996633"/>
              </a:buClr>
              <a:buAutoNum type="arabicParenR"/>
            </a:pPr>
            <a:r>
              <a:rPr lang="en-US" altLang="x-none" sz="2800" b="1" dirty="0">
                <a:solidFill>
                  <a:schemeClr val="accent2"/>
                </a:solidFill>
                <a:latin typeface="Arial" panose="020B0604020202020204" pitchFamily="34" charset="0"/>
                <a:ea typeface="宋体" panose="02010600030101010101" pitchFamily="2" charset="-122"/>
              </a:rPr>
              <a:t>F = { A</a:t>
            </a:r>
            <a:r>
              <a:rPr lang="en-US" altLang="x-none" sz="2800" b="1" dirty="0">
                <a:solidFill>
                  <a:schemeClr val="accent2"/>
                </a:solidFill>
                <a:latin typeface="Arial" panose="020B0604020202020204" pitchFamily="34" charset="0"/>
                <a:ea typeface="宋体" panose="02010600030101010101" pitchFamily="2" charset="-122"/>
                <a:sym typeface="Symbol" panose="05050102010706020507" pitchFamily="2" charset="2"/>
              </a:rPr>
              <a:t>B, </a:t>
            </a:r>
            <a:r>
              <a:rPr lang="en-US" altLang="x-none" sz="2800" b="1" dirty="0">
                <a:solidFill>
                  <a:schemeClr val="accent2"/>
                </a:solidFill>
                <a:latin typeface="Arial" panose="020B0604020202020204" pitchFamily="34" charset="0"/>
                <a:ea typeface="宋体" panose="02010600030101010101" pitchFamily="2" charset="-122"/>
              </a:rPr>
              <a:t>B</a:t>
            </a:r>
            <a:r>
              <a:rPr lang="en-US" altLang="x-none" sz="2800" b="1"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2800" b="1" dirty="0">
                <a:solidFill>
                  <a:schemeClr val="accent2"/>
                </a:solidFill>
                <a:latin typeface="Arial" panose="020B0604020202020204" pitchFamily="34" charset="0"/>
                <a:ea typeface="宋体" panose="02010600030101010101" pitchFamily="2" charset="-122"/>
              </a:rPr>
              <a:t>C },  	T</a:t>
            </a:r>
            <a:r>
              <a:rPr lang="en-US" altLang="x-none" sz="2800" b="1" baseline="-25000" dirty="0">
                <a:solidFill>
                  <a:schemeClr val="accent2"/>
                </a:solidFill>
                <a:latin typeface="Arial" panose="020B0604020202020204" pitchFamily="34" charset="0"/>
                <a:ea typeface="宋体" panose="02010600030101010101" pitchFamily="2" charset="-122"/>
              </a:rPr>
              <a:t>1</a:t>
            </a:r>
            <a:r>
              <a:rPr lang="en-US" altLang="x-none" sz="2800" b="1" dirty="0">
                <a:solidFill>
                  <a:schemeClr val="accent2"/>
                </a:solidFill>
                <a:latin typeface="Arial" panose="020B0604020202020204" pitchFamily="34" charset="0"/>
                <a:ea typeface="宋体" panose="02010600030101010101" pitchFamily="2" charset="-122"/>
              </a:rPr>
              <a:t>(A, C),  T</a:t>
            </a:r>
            <a:r>
              <a:rPr lang="en-US" altLang="x-none" sz="2800" b="1" baseline="-25000" dirty="0">
                <a:solidFill>
                  <a:schemeClr val="accent2"/>
                </a:solidFill>
                <a:latin typeface="Arial" panose="020B0604020202020204" pitchFamily="34" charset="0"/>
                <a:ea typeface="宋体" panose="02010600030101010101" pitchFamily="2" charset="-122"/>
              </a:rPr>
              <a:t>2</a:t>
            </a:r>
            <a:r>
              <a:rPr lang="en-US" altLang="x-none" sz="2800" b="1" dirty="0">
                <a:solidFill>
                  <a:schemeClr val="accent2"/>
                </a:solidFill>
                <a:latin typeface="Arial" panose="020B0604020202020204" pitchFamily="34" charset="0"/>
                <a:ea typeface="宋体" panose="02010600030101010101" pitchFamily="2" charset="-122"/>
              </a:rPr>
              <a:t>(B, 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1799">
                                            <p:txEl>
                                              <p:pRg st="0" end="0"/>
                                            </p:txEl>
                                          </p:spTgt>
                                        </p:tgtEl>
                                        <p:attrNameLst>
                                          <p:attrName>style.visibility</p:attrName>
                                        </p:attrNameLst>
                                      </p:cBhvr>
                                      <p:to>
                                        <p:strVal val="visible"/>
                                      </p:to>
                                    </p:set>
                                    <p:animEffect transition="in" filter="blinds(horizontal)">
                                      <p:cBhvr>
                                        <p:cTn id="7" dur="500"/>
                                        <p:tgtEl>
                                          <p:spTgt spid="161799">
                                            <p:txEl>
                                              <p:pRg st="0" end="0"/>
                                            </p:txEl>
                                          </p:spTgt>
                                        </p:tgtEl>
                                      </p:cBhvr>
                                    </p:animEffect>
                                  </p:childTnLst>
                                  <p:subTnLst>
                                    <p:animClr clrSpc="rgb" dir="cw">
                                      <p:cBhvr override="childStyle">
                                        <p:cTn dur="1" fill="hold" display="0" masterRel="nextClick" afterEffect="1"/>
                                        <p:tgtEl>
                                          <p:spTgt spid="161799">
                                            <p:txEl>
                                              <p:pRg st="0" end="0"/>
                                            </p:txEl>
                                          </p:spTgt>
                                        </p:tgtEl>
                                        <p:attrNameLst>
                                          <p:attrName>ppt_c</p:attrName>
                                        </p:attrNameLst>
                                      </p:cBhvr>
                                      <p:to>
                                        <a:srgbClr val="B2B2B2"/>
                                      </p:to>
                                    </p:animClr>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1799">
                                            <p:txEl>
                                              <p:pRg st="2" end="2"/>
                                            </p:txEl>
                                          </p:spTgt>
                                        </p:tgtEl>
                                        <p:attrNameLst>
                                          <p:attrName>style.visibility</p:attrName>
                                        </p:attrNameLst>
                                      </p:cBhvr>
                                      <p:to>
                                        <p:strVal val="visible"/>
                                      </p:to>
                                    </p:set>
                                    <p:animEffect transition="in" filter="blinds(horizontal)">
                                      <p:cBhvr>
                                        <p:cTn id="12" dur="500"/>
                                        <p:tgtEl>
                                          <p:spTgt spid="161799">
                                            <p:txEl>
                                              <p:pRg st="2" end="2"/>
                                            </p:txEl>
                                          </p:spTgt>
                                        </p:tgtEl>
                                      </p:cBhvr>
                                    </p:animEffect>
                                  </p:childTnLst>
                                  <p:subTnLst>
                                    <p:animClr clrSpc="rgb" dir="cw">
                                      <p:cBhvr override="childStyle">
                                        <p:cTn dur="1" fill="hold" display="0" masterRel="nextClick" afterEffect="1"/>
                                        <p:tgtEl>
                                          <p:spTgt spid="161799">
                                            <p:txEl>
                                              <p:pRg st="2" end="2"/>
                                            </p:txEl>
                                          </p:spTgt>
                                        </p:tgtEl>
                                        <p:attrNameLst>
                                          <p:attrName>ppt_c</p:attrName>
                                        </p:attrNameLst>
                                      </p:cBhvr>
                                      <p:to>
                                        <a:srgbClr val="B2B2B2"/>
                                      </p:to>
                                    </p:animClr>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1799">
                                            <p:txEl>
                                              <p:pRg st="4" end="4"/>
                                            </p:txEl>
                                          </p:spTgt>
                                        </p:tgtEl>
                                        <p:attrNameLst>
                                          <p:attrName>style.visibility</p:attrName>
                                        </p:attrNameLst>
                                      </p:cBhvr>
                                      <p:to>
                                        <p:strVal val="visible"/>
                                      </p:to>
                                    </p:set>
                                    <p:animEffect transition="in" filter="blinds(horizontal)">
                                      <p:cBhvr>
                                        <p:cTn id="17" dur="500"/>
                                        <p:tgtEl>
                                          <p:spTgt spid="161799">
                                            <p:txEl>
                                              <p:pRg st="4" end="4"/>
                                            </p:txEl>
                                          </p:spTgt>
                                        </p:tgtEl>
                                      </p:cBhvr>
                                    </p:animEffect>
                                  </p:childTnLst>
                                  <p:subTnLst>
                                    <p:animClr clrSpc="rgb" dir="cw">
                                      <p:cBhvr override="childStyle">
                                        <p:cTn dur="1" fill="hold" display="0" masterRel="nextClick" afterEffect="1"/>
                                        <p:tgtEl>
                                          <p:spTgt spid="161799">
                                            <p:txEl>
                                              <p:pRg st="4" end="4"/>
                                            </p:txEl>
                                          </p:spTgt>
                                        </p:tgtEl>
                                        <p:attrNameLst>
                                          <p:attrName>ppt_c</p:attrName>
                                        </p:attrNameLst>
                                      </p:cBhvr>
                                      <p:to>
                                        <a:srgbClr val="B2B2B2"/>
                                      </p:to>
                                    </p:animClr>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61799">
                                            <p:txEl>
                                              <p:pRg st="6" end="6"/>
                                            </p:txEl>
                                          </p:spTgt>
                                        </p:tgtEl>
                                        <p:attrNameLst>
                                          <p:attrName>style.visibility</p:attrName>
                                        </p:attrNameLst>
                                      </p:cBhvr>
                                      <p:to>
                                        <p:strVal val="visible"/>
                                      </p:to>
                                    </p:set>
                                    <p:animEffect transition="in" filter="blinds(horizontal)">
                                      <p:cBhvr>
                                        <p:cTn id="22" dur="500"/>
                                        <p:tgtEl>
                                          <p:spTgt spid="161799">
                                            <p:txEl>
                                              <p:pRg st="6" end="6"/>
                                            </p:txEl>
                                          </p:spTgt>
                                        </p:tgtEl>
                                      </p:cBhvr>
                                    </p:animEffect>
                                  </p:childTnLst>
                                  <p:subTnLst>
                                    <p:animClr clrSpc="rgb" dir="cw">
                                      <p:cBhvr override="childStyle">
                                        <p:cTn dur="1" fill="hold" display="0" masterRel="nextClick" afterEffect="1"/>
                                        <p:tgtEl>
                                          <p:spTgt spid="161799">
                                            <p:txEl>
                                              <p:pRg st="6" end="6"/>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9" grpId="0" build="p" bldLvl="2"/>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62818"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62819"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94</a:t>
            </a:fld>
            <a:endParaRPr lang="zh-CN" altLang="en-US" sz="1200" b="1" i="1" dirty="0">
              <a:latin typeface="Times New Roman" panose="02020603050405020304" pitchFamily="2" charset="0"/>
              <a:ea typeface="宋体" panose="02010600030101010101" pitchFamily="2" charset="-122"/>
            </a:endParaRPr>
          </a:p>
        </p:txBody>
      </p:sp>
      <p:sp>
        <p:nvSpPr>
          <p:cNvPr id="162820"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6.7  </a:t>
            </a:r>
            <a:r>
              <a:rPr lang="en-US" altLang="x-none" dirty="0">
                <a:ea typeface="宋体" panose="02010600030101010101" pitchFamily="2" charset="-122"/>
              </a:rPr>
              <a:t>Lossless Decompositions</a:t>
            </a:r>
          </a:p>
        </p:txBody>
      </p:sp>
      <p:sp>
        <p:nvSpPr>
          <p:cNvPr id="162821" name="Rectangle 3"/>
          <p:cNvSpPr>
            <a:spLocks noGrp="1"/>
          </p:cNvSpPr>
          <p:nvPr>
            <p:ph type="body"/>
          </p:nvPr>
        </p:nvSpPr>
        <p:spPr>
          <a:xfrm>
            <a:off x="180975" y="838200"/>
            <a:ext cx="8929688" cy="2667000"/>
          </a:xfrm>
        </p:spPr>
        <p:txBody>
          <a:bodyPr wrap="square" anchor="t"/>
          <a:lstStyle/>
          <a:p>
            <a:pPr lvl="0" eaLnBrk="1" hangingPunct="1">
              <a:lnSpc>
                <a:spcPct val="120000"/>
              </a:lnSpc>
            </a:pPr>
            <a:r>
              <a:rPr lang="en-US" altLang="x-none" dirty="0">
                <a:ea typeface="宋体" panose="02010600030101010101" pitchFamily="2" charset="-122"/>
              </a:rPr>
              <a:t>Ex. </a:t>
            </a:r>
            <a:r>
              <a:rPr lang="en-US" altLang="x-none" dirty="0">
                <a:solidFill>
                  <a:schemeClr val="accent2"/>
                </a:solidFill>
                <a:ea typeface="宋体" panose="02010600030101010101" pitchFamily="2" charset="-122"/>
              </a:rPr>
              <a:t>Give a decomposition of table T(A,B,C,D) with a set F of FDs {A</a:t>
            </a:r>
            <a:r>
              <a:rPr lang="en-US" altLang="x-none" dirty="0">
                <a:solidFill>
                  <a:schemeClr val="accent2"/>
                </a:solidFill>
                <a:ea typeface="宋体" panose="02010600030101010101" pitchFamily="2" charset="-122"/>
                <a:sym typeface="Symbol" panose="05050102010706020507" pitchFamily="2" charset="2"/>
              </a:rPr>
              <a:t>B, </a:t>
            </a:r>
            <a:r>
              <a:rPr lang="en-US" altLang="x-none" dirty="0">
                <a:solidFill>
                  <a:schemeClr val="accent2"/>
                </a:solidFill>
                <a:ea typeface="宋体" panose="02010600030101010101" pitchFamily="2" charset="-122"/>
              </a:rPr>
              <a:t>B</a:t>
            </a:r>
            <a:r>
              <a:rPr lang="en-US" altLang="x-none" dirty="0">
                <a:solidFill>
                  <a:schemeClr val="accent2"/>
                </a:solidFill>
                <a:ea typeface="宋体" panose="02010600030101010101" pitchFamily="2" charset="-122"/>
                <a:sym typeface="Symbol" panose="05050102010706020507" pitchFamily="2" charset="2"/>
              </a:rPr>
              <a:t>C, </a:t>
            </a:r>
            <a:r>
              <a:rPr lang="en-US" altLang="x-none" dirty="0">
                <a:solidFill>
                  <a:schemeClr val="accent2"/>
                </a:solidFill>
                <a:ea typeface="宋体" panose="02010600030101010101" pitchFamily="2" charset="-122"/>
              </a:rPr>
              <a:t>A</a:t>
            </a:r>
            <a:r>
              <a:rPr lang="en-US" altLang="x-none" dirty="0">
                <a:solidFill>
                  <a:schemeClr val="accent2"/>
                </a:solidFill>
                <a:ea typeface="宋体" panose="02010600030101010101" pitchFamily="2" charset="-122"/>
                <a:sym typeface="Symbol" panose="05050102010706020507" pitchFamily="2" charset="2"/>
              </a:rPr>
              <a:t>D , </a:t>
            </a:r>
            <a:r>
              <a:rPr lang="en-US" altLang="x-none" dirty="0">
                <a:solidFill>
                  <a:schemeClr val="accent2"/>
                </a:solidFill>
                <a:ea typeface="宋体" panose="02010600030101010101" pitchFamily="2" charset="-122"/>
              </a:rPr>
              <a:t>D</a:t>
            </a:r>
            <a:r>
              <a:rPr lang="en-US" altLang="x-none" dirty="0">
                <a:solidFill>
                  <a:schemeClr val="accent2"/>
                </a:solidFill>
                <a:ea typeface="宋体" panose="02010600030101010101" pitchFamily="2" charset="-122"/>
                <a:sym typeface="Symbol" panose="05050102010706020507" pitchFamily="2" charset="2"/>
              </a:rPr>
              <a:t>C</a:t>
            </a:r>
            <a:r>
              <a:rPr lang="en-US" altLang="x-none" dirty="0">
                <a:solidFill>
                  <a:schemeClr val="accent2"/>
                </a:solidFill>
                <a:ea typeface="宋体" panose="02010600030101010101" pitchFamily="2" charset="-122"/>
              </a:rPr>
              <a:t>}: </a:t>
            </a:r>
          </a:p>
          <a:p>
            <a:pPr lvl="2" indent="-228600" eaLnBrk="1" hangingPunct="1">
              <a:lnSpc>
                <a:spcPct val="120000"/>
              </a:lnSpc>
              <a:buNone/>
            </a:pPr>
            <a:r>
              <a:rPr lang="en-US" altLang="x-none" dirty="0">
                <a:solidFill>
                  <a:schemeClr val="accent2"/>
                </a:solidFill>
                <a:ea typeface="宋体" panose="02010600030101010101" pitchFamily="2" charset="-122"/>
              </a:rPr>
              <a:t>T</a:t>
            </a:r>
            <a:r>
              <a:rPr lang="en-US" altLang="x-none" baseline="-25000" dirty="0">
                <a:solidFill>
                  <a:schemeClr val="accent2"/>
                </a:solidFill>
                <a:ea typeface="宋体" panose="02010600030101010101" pitchFamily="2" charset="-122"/>
              </a:rPr>
              <a:t>1 </a:t>
            </a:r>
            <a:r>
              <a:rPr lang="en-US" altLang="x-none" dirty="0">
                <a:solidFill>
                  <a:schemeClr val="accent2"/>
                </a:solidFill>
                <a:ea typeface="宋体" panose="02010600030101010101" pitchFamily="2" charset="-122"/>
              </a:rPr>
              <a:t>(A,B)    T</a:t>
            </a:r>
            <a:r>
              <a:rPr lang="en-US" altLang="x-none" baseline="-25000" dirty="0">
                <a:solidFill>
                  <a:schemeClr val="accent2"/>
                </a:solidFill>
                <a:ea typeface="宋体" panose="02010600030101010101" pitchFamily="2" charset="-122"/>
              </a:rPr>
              <a:t>2 </a:t>
            </a:r>
            <a:r>
              <a:rPr lang="en-US" altLang="x-none" dirty="0">
                <a:solidFill>
                  <a:schemeClr val="accent2"/>
                </a:solidFill>
                <a:ea typeface="宋体" panose="02010600030101010101" pitchFamily="2" charset="-122"/>
              </a:rPr>
              <a:t>(A,C)    T</a:t>
            </a:r>
            <a:r>
              <a:rPr lang="en-US" altLang="x-none" baseline="-25000" dirty="0">
                <a:solidFill>
                  <a:schemeClr val="accent2"/>
                </a:solidFill>
                <a:ea typeface="宋体" panose="02010600030101010101" pitchFamily="2" charset="-122"/>
              </a:rPr>
              <a:t>3 </a:t>
            </a:r>
            <a:r>
              <a:rPr lang="en-US" altLang="x-none" dirty="0">
                <a:solidFill>
                  <a:schemeClr val="accent2"/>
                </a:solidFill>
                <a:ea typeface="宋体" panose="02010600030101010101" pitchFamily="2" charset="-122"/>
              </a:rPr>
              <a:t>(A,D) </a:t>
            </a:r>
          </a:p>
          <a:p>
            <a:pPr lvl="1" indent="-285750" eaLnBrk="1" hangingPunct="1">
              <a:lnSpc>
                <a:spcPct val="120000"/>
              </a:lnSpc>
            </a:pPr>
            <a:r>
              <a:rPr lang="en-US" altLang="x-none" dirty="0">
                <a:ea typeface="宋体" panose="02010600030101010101" pitchFamily="2" charset="-122"/>
              </a:rPr>
              <a:t>Is it </a:t>
            </a:r>
            <a:r>
              <a:rPr lang="en-US" altLang="x-none" i="1" dirty="0">
                <a:solidFill>
                  <a:srgbClr val="FF0066"/>
                </a:solidFill>
                <a:ea typeface="宋体" panose="02010600030101010101" pitchFamily="2" charset="-122"/>
              </a:rPr>
              <a:t>a lossless decomposition</a:t>
            </a:r>
            <a:r>
              <a:rPr lang="en-US" altLang="x-none" dirty="0">
                <a:ea typeface="宋体" panose="02010600030101010101" pitchFamily="2" charset="-122"/>
              </a:rPr>
              <a:t> ?</a:t>
            </a:r>
          </a:p>
        </p:txBody>
      </p:sp>
      <p:sp>
        <p:nvSpPr>
          <p:cNvPr id="162823" name="Rectangle 4"/>
          <p:cNvSpPr/>
          <p:nvPr/>
        </p:nvSpPr>
        <p:spPr>
          <a:xfrm>
            <a:off x="180340" y="3573780"/>
            <a:ext cx="8963660" cy="2592070"/>
          </a:xfrm>
          <a:prstGeom prst="rect">
            <a:avLst/>
          </a:prstGeom>
          <a:noFill/>
          <a:ln w="9525">
            <a:noFill/>
          </a:ln>
        </p:spPr>
        <p:txBody>
          <a:bodyPr anchor="t"/>
          <a:lstStyle/>
          <a:p>
            <a:pPr marL="742950" lvl="1" indent="-285750">
              <a:lnSpc>
                <a:spcPct val="120000"/>
              </a:lnSpc>
              <a:spcBef>
                <a:spcPct val="20000"/>
              </a:spcBef>
              <a:buClr>
                <a:schemeClr val="accent1"/>
              </a:buClr>
              <a:buFont typeface="Arial" panose="020B0604020202020204" pitchFamily="34" charset="0"/>
              <a:buChar char="–"/>
            </a:pPr>
            <a:r>
              <a:rPr lang="en-US" altLang="x-none" sz="2800" b="1" dirty="0">
                <a:solidFill>
                  <a:schemeClr val="accent2"/>
                </a:solidFill>
                <a:latin typeface="Arial" panose="020B0604020202020204" pitchFamily="34" charset="0"/>
                <a:ea typeface="宋体" panose="02010600030101010101" pitchFamily="2" charset="-122"/>
              </a:rPr>
              <a:t>i.e.</a:t>
            </a:r>
          </a:p>
          <a:p>
            <a:pPr marL="1143000" lvl="2" indent="-228600">
              <a:lnSpc>
                <a:spcPct val="120000"/>
              </a:lnSpc>
              <a:spcBef>
                <a:spcPct val="20000"/>
              </a:spcBef>
              <a:buClr>
                <a:schemeClr val="accent1"/>
              </a:buClr>
              <a:buFont typeface="Wingdings" panose="05000000000000000000" pitchFamily="2" charset="2"/>
              <a:buChar char="§"/>
            </a:pPr>
            <a:r>
              <a:rPr lang="en-US" altLang="x-none" sz="2800" b="1" dirty="0">
                <a:solidFill>
                  <a:schemeClr val="accent2"/>
                </a:solidFill>
                <a:latin typeface="Arial" panose="020B0604020202020204" pitchFamily="34" charset="0"/>
                <a:ea typeface="宋体" panose="02010600030101010101" pitchFamily="2" charset="-122"/>
              </a:rPr>
              <a:t>T</a:t>
            </a:r>
            <a:r>
              <a:rPr lang="en-US" altLang="x-none" sz="2800" b="1" baseline="-25000" dirty="0">
                <a:solidFill>
                  <a:schemeClr val="accent2"/>
                </a:solidFill>
                <a:latin typeface="Arial" panose="020B0604020202020204" pitchFamily="34" charset="0"/>
                <a:ea typeface="宋体" panose="02010600030101010101" pitchFamily="2" charset="-122"/>
              </a:rPr>
              <a:t>1</a:t>
            </a:r>
            <a:r>
              <a:rPr lang="en-US" altLang="x-none" sz="2800" b="1" dirty="0">
                <a:solidFill>
                  <a:schemeClr val="accent2"/>
                </a:solidFill>
                <a:latin typeface="Arial" panose="020B0604020202020204" pitchFamily="34" charset="0"/>
                <a:ea typeface="宋体" panose="02010600030101010101" pitchFamily="2" charset="-122"/>
              </a:rPr>
              <a:t> and T</a:t>
            </a:r>
            <a:r>
              <a:rPr lang="en-US" altLang="x-none" sz="2800" b="1" baseline="-25000" dirty="0">
                <a:solidFill>
                  <a:schemeClr val="accent2"/>
                </a:solidFill>
                <a:latin typeface="Arial" panose="020B0604020202020204" pitchFamily="34" charset="0"/>
                <a:ea typeface="宋体" panose="02010600030101010101" pitchFamily="2" charset="-122"/>
              </a:rPr>
              <a:t>2</a:t>
            </a:r>
            <a:r>
              <a:rPr lang="en-US" altLang="x-none" sz="2800" b="1" dirty="0">
                <a:solidFill>
                  <a:schemeClr val="accent2"/>
                </a:solidFill>
                <a:latin typeface="Arial" panose="020B0604020202020204" pitchFamily="34" charset="0"/>
                <a:ea typeface="宋体" panose="02010600030101010101" pitchFamily="2" charset="-122"/>
              </a:rPr>
              <a:t> is a lossless decomposition ?</a:t>
            </a:r>
          </a:p>
          <a:p>
            <a:pPr marL="1143000" lvl="2" indent="-228600">
              <a:lnSpc>
                <a:spcPct val="120000"/>
              </a:lnSpc>
              <a:spcBef>
                <a:spcPct val="20000"/>
              </a:spcBef>
              <a:buClr>
                <a:schemeClr val="accent1"/>
              </a:buClr>
              <a:buFont typeface="Wingdings" panose="05000000000000000000" pitchFamily="2" charset="2"/>
              <a:buChar char="§"/>
            </a:pPr>
            <a:r>
              <a:rPr lang="en-US" altLang="x-none" sz="2800" b="1" dirty="0">
                <a:solidFill>
                  <a:schemeClr val="accent2"/>
                </a:solidFill>
                <a:latin typeface="Arial" panose="020B0604020202020204" pitchFamily="34" charset="0"/>
                <a:ea typeface="宋体" panose="02010600030101010101" pitchFamily="2" charset="-122"/>
              </a:rPr>
              <a:t>(T</a:t>
            </a:r>
            <a:r>
              <a:rPr lang="en-US" altLang="x-none" sz="2800" b="1" baseline="-25000" dirty="0">
                <a:solidFill>
                  <a:schemeClr val="accent2"/>
                </a:solidFill>
                <a:latin typeface="Arial" panose="020B0604020202020204" pitchFamily="34" charset="0"/>
                <a:ea typeface="宋体" panose="02010600030101010101" pitchFamily="2" charset="-122"/>
              </a:rPr>
              <a:t>1</a:t>
            </a:r>
            <a:r>
              <a:rPr lang="en-US" altLang="x-none" sz="2800" b="1"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2800" b="1" dirty="0">
                <a:solidFill>
                  <a:schemeClr val="accent2"/>
                </a:solidFill>
                <a:latin typeface="Arial" panose="020B0604020202020204" pitchFamily="34" charset="0"/>
                <a:ea typeface="宋体" panose="02010600030101010101" pitchFamily="2" charset="-122"/>
              </a:rPr>
              <a:t>T</a:t>
            </a:r>
            <a:r>
              <a:rPr lang="en-US" altLang="x-none" sz="2800" b="1" baseline="-25000" dirty="0">
                <a:solidFill>
                  <a:schemeClr val="accent2"/>
                </a:solidFill>
                <a:latin typeface="Arial" panose="020B0604020202020204" pitchFamily="34" charset="0"/>
                <a:ea typeface="宋体" panose="02010600030101010101" pitchFamily="2" charset="-122"/>
              </a:rPr>
              <a:t>2</a:t>
            </a:r>
            <a:r>
              <a:rPr lang="en-US" altLang="x-none" sz="2800" b="1" dirty="0">
                <a:solidFill>
                  <a:schemeClr val="accent2"/>
                </a:solidFill>
                <a:latin typeface="Arial" panose="020B0604020202020204" pitchFamily="34" charset="0"/>
                <a:ea typeface="宋体" panose="02010600030101010101" pitchFamily="2" charset="-122"/>
              </a:rPr>
              <a:t>) and T</a:t>
            </a:r>
            <a:r>
              <a:rPr lang="en-US" altLang="x-none" sz="2800" b="1" baseline="-25000" dirty="0">
                <a:solidFill>
                  <a:schemeClr val="accent2"/>
                </a:solidFill>
                <a:latin typeface="Arial" panose="020B0604020202020204" pitchFamily="34" charset="0"/>
                <a:ea typeface="宋体" panose="02010600030101010101" pitchFamily="2" charset="-122"/>
              </a:rPr>
              <a:t>3</a:t>
            </a:r>
            <a:r>
              <a:rPr lang="en-US" altLang="x-none" sz="2800" b="1" dirty="0">
                <a:solidFill>
                  <a:schemeClr val="accent2"/>
                </a:solidFill>
                <a:latin typeface="Arial" panose="020B0604020202020204" pitchFamily="34" charset="0"/>
                <a:ea typeface="宋体" panose="02010600030101010101" pitchFamily="2" charset="-122"/>
              </a:rPr>
              <a:t> is a lossless decomposition?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2823"/>
                                        </p:tgtEl>
                                        <p:attrNameLst>
                                          <p:attrName>style.visibility</p:attrName>
                                        </p:attrNameLst>
                                      </p:cBhvr>
                                      <p:to>
                                        <p:strVal val="visible"/>
                                      </p:to>
                                    </p:set>
                                    <p:anim calcmode="lin" valueType="num">
                                      <p:cBhvr>
                                        <p:cTn id="7" dur="500" fill="hold"/>
                                        <p:tgtEl>
                                          <p:spTgt spid="162823"/>
                                        </p:tgtEl>
                                        <p:attrNameLst>
                                          <p:attrName>ppt_x</p:attrName>
                                        </p:attrNameLst>
                                      </p:cBhvr>
                                      <p:tavLst>
                                        <p:tav tm="0">
                                          <p:val>
                                            <p:strVal val="#ppt_x"/>
                                          </p:val>
                                        </p:tav>
                                        <p:tav tm="100000">
                                          <p:val>
                                            <p:strVal val="#ppt_x"/>
                                          </p:val>
                                        </p:tav>
                                      </p:tavLst>
                                    </p:anim>
                                    <p:anim calcmode="lin" valueType="num">
                                      <p:cBhvr>
                                        <p:cTn id="8" dur="500" fill="hold"/>
                                        <p:tgtEl>
                                          <p:spTgt spid="1628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23"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63842"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63843"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95</a:t>
            </a:fld>
            <a:endParaRPr lang="zh-CN" altLang="en-US" sz="1200" b="1" i="1" dirty="0">
              <a:latin typeface="Times New Roman" panose="02020603050405020304" pitchFamily="2" charset="0"/>
              <a:ea typeface="宋体" panose="02010600030101010101" pitchFamily="2" charset="-122"/>
            </a:endParaRPr>
          </a:p>
        </p:txBody>
      </p:sp>
      <p:sp>
        <p:nvSpPr>
          <p:cNvPr id="163844"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6.8  </a:t>
            </a:r>
            <a:r>
              <a:rPr lang="en-US" altLang="x-none" dirty="0">
                <a:ea typeface="宋体" panose="02010600030101010101" pitchFamily="2" charset="-122"/>
              </a:rPr>
              <a:t>Normal Forms</a:t>
            </a:r>
          </a:p>
        </p:txBody>
      </p:sp>
      <p:sp>
        <p:nvSpPr>
          <p:cNvPr id="163845" name="Rectangle 3"/>
          <p:cNvSpPr>
            <a:spLocks noGrp="1"/>
          </p:cNvSpPr>
          <p:nvPr>
            <p:ph type="body"/>
          </p:nvPr>
        </p:nvSpPr>
        <p:spPr>
          <a:xfrm>
            <a:off x="156845" y="838200"/>
            <a:ext cx="8839200" cy="4419600"/>
          </a:xfrm>
          <a:ln w="25400">
            <a:solidFill>
              <a:schemeClr val="tx1"/>
            </a:solidFill>
            <a:miter/>
          </a:ln>
        </p:spPr>
        <p:txBody>
          <a:bodyPr wrap="square" anchor="t"/>
          <a:lstStyle/>
          <a:p>
            <a:pPr marL="0" lvl="0" indent="0" eaLnBrk="1" hangingPunct="1">
              <a:lnSpc>
                <a:spcPct val="110000"/>
              </a:lnSpc>
              <a:buNone/>
            </a:pPr>
            <a:r>
              <a:rPr lang="en-US" altLang="x-none" dirty="0">
                <a:ea typeface="宋体" panose="02010600030101010101" pitchFamily="2" charset="-122"/>
              </a:rPr>
              <a:t>emp_info </a:t>
            </a:r>
            <a:r>
              <a:rPr lang="en-US" altLang="x-none" dirty="0">
                <a:solidFill>
                  <a:schemeClr val="tx1"/>
                </a:solidFill>
                <a:ea typeface="宋体" panose="02010600030101010101" pitchFamily="2" charset="-122"/>
              </a:rPr>
              <a:t>( emp_id, emp_name, emp_phone, </a:t>
            </a:r>
          </a:p>
          <a:p>
            <a:pPr marL="0" lvl="0" indent="1562735" eaLnBrk="1" hangingPunct="1">
              <a:lnSpc>
                <a:spcPct val="110000"/>
              </a:lnSpc>
              <a:buNone/>
            </a:pPr>
            <a:r>
              <a:rPr lang="en-US" altLang="x-none" dirty="0">
                <a:solidFill>
                  <a:schemeClr val="tx1"/>
                </a:solidFill>
                <a:ea typeface="宋体" panose="02010600030101010101" pitchFamily="2" charset="-122"/>
              </a:rPr>
              <a:t>dept_name, dept_phone, dept_mgrname, </a:t>
            </a:r>
          </a:p>
          <a:p>
            <a:pPr marL="0" lvl="0" indent="1562735" eaLnBrk="1" hangingPunct="1">
              <a:lnSpc>
                <a:spcPct val="110000"/>
              </a:lnSpc>
              <a:buNone/>
            </a:pPr>
            <a:r>
              <a:rPr lang="en-US" altLang="x-none" dirty="0">
                <a:solidFill>
                  <a:schemeClr val="tx1"/>
                </a:solidFill>
                <a:ea typeface="宋体" panose="02010600030101010101" pitchFamily="2" charset="-122"/>
              </a:rPr>
              <a:t>skill_id, skill_name, skill_date, skill_lvl )</a:t>
            </a:r>
          </a:p>
          <a:p>
            <a:pPr lvl="0" eaLnBrk="1" hangingPunct="1">
              <a:lnSpc>
                <a:spcPct val="110000"/>
              </a:lnSpc>
            </a:pPr>
            <a:endParaRPr lang="en-US" altLang="x-none" dirty="0">
              <a:ea typeface="宋体" panose="02010600030101010101" pitchFamily="2" charset="-122"/>
            </a:endParaRPr>
          </a:p>
          <a:p>
            <a:pPr lvl="0" indent="-285750" eaLnBrk="1" hangingPunct="1">
              <a:lnSpc>
                <a:spcPct val="110000"/>
              </a:lnSpc>
              <a:buNone/>
            </a:pPr>
            <a:r>
              <a:rPr lang="en-US" altLang="zh-CN" dirty="0">
                <a:solidFill>
                  <a:srgbClr val="0000CC"/>
                </a:solidFill>
                <a:ea typeface="宋体" panose="02010600030101010101" pitchFamily="2" charset="-122"/>
              </a:rPr>
              <a:t>(1) </a:t>
            </a:r>
            <a:r>
              <a:rPr lang="en-US" altLang="x-none" dirty="0">
                <a:solidFill>
                  <a:srgbClr val="0000CC"/>
                </a:solidFill>
                <a:ea typeface="宋体" panose="02010600030101010101" pitchFamily="2" charset="-122"/>
              </a:rPr>
              <a:t>emp_id</a:t>
            </a:r>
            <a:r>
              <a:rPr lang="en-US" altLang="x-none" dirty="0">
                <a:solidFill>
                  <a:srgbClr val="0000CC"/>
                </a:solidFill>
                <a:ea typeface="宋体" panose="02010600030101010101" pitchFamily="2" charset="-122"/>
                <a:sym typeface="Symbol" panose="05050102010706020507" pitchFamily="2" charset="2"/>
              </a:rPr>
              <a:t>{emp_name, emp_phone, dept_name}</a:t>
            </a:r>
          </a:p>
          <a:p>
            <a:pPr lvl="0" indent="-285750" eaLnBrk="1" hangingPunct="1">
              <a:lnSpc>
                <a:spcPct val="110000"/>
              </a:lnSpc>
              <a:buNone/>
            </a:pPr>
            <a:r>
              <a:rPr lang="en-US" altLang="zh-CN" dirty="0">
                <a:solidFill>
                  <a:srgbClr val="0000CC"/>
                </a:solidFill>
                <a:ea typeface="宋体" panose="02010600030101010101" pitchFamily="2" charset="-122"/>
                <a:sym typeface="+mn-ea"/>
              </a:rPr>
              <a:t>(2) </a:t>
            </a:r>
            <a:r>
              <a:rPr lang="en-US" altLang="x-none" dirty="0">
                <a:solidFill>
                  <a:srgbClr val="0000CC"/>
                </a:solidFill>
                <a:ea typeface="宋体" panose="02010600030101010101" pitchFamily="2" charset="-122"/>
                <a:sym typeface="Symbol" panose="05050102010706020507" pitchFamily="2" charset="2"/>
              </a:rPr>
              <a:t>dept_name{dept_phone, dept_mgrname}</a:t>
            </a:r>
          </a:p>
          <a:p>
            <a:pPr lvl="0" indent="-285750" eaLnBrk="1" hangingPunct="1">
              <a:lnSpc>
                <a:spcPct val="110000"/>
              </a:lnSpc>
              <a:buNone/>
            </a:pPr>
            <a:r>
              <a:rPr lang="en-US" altLang="zh-CN" dirty="0">
                <a:solidFill>
                  <a:srgbClr val="0000CC"/>
                </a:solidFill>
                <a:ea typeface="宋体" panose="02010600030101010101" pitchFamily="2" charset="-122"/>
                <a:sym typeface="+mn-ea"/>
              </a:rPr>
              <a:t>(3) </a:t>
            </a:r>
            <a:r>
              <a:rPr lang="en-US" altLang="x-none" dirty="0">
                <a:solidFill>
                  <a:srgbClr val="0000CC"/>
                </a:solidFill>
                <a:ea typeface="宋体" panose="02010600030101010101" pitchFamily="2" charset="-122"/>
                <a:sym typeface="Symbol" panose="05050102010706020507" pitchFamily="2" charset="2"/>
              </a:rPr>
              <a:t>skill_idskill_name</a:t>
            </a:r>
          </a:p>
          <a:p>
            <a:pPr lvl="0" indent="-285750" eaLnBrk="1" hangingPunct="1">
              <a:lnSpc>
                <a:spcPct val="110000"/>
              </a:lnSpc>
              <a:buNone/>
            </a:pPr>
            <a:r>
              <a:rPr lang="en-US" altLang="zh-CN" dirty="0">
                <a:solidFill>
                  <a:srgbClr val="0000CC"/>
                </a:solidFill>
                <a:ea typeface="宋体" panose="02010600030101010101" pitchFamily="2" charset="-122"/>
                <a:sym typeface="+mn-ea"/>
              </a:rPr>
              <a:t>(4) </a:t>
            </a:r>
            <a:r>
              <a:rPr lang="en-US" altLang="x-none" dirty="0">
                <a:solidFill>
                  <a:srgbClr val="0000CC"/>
                </a:solidFill>
                <a:ea typeface="宋体" panose="02010600030101010101" pitchFamily="2" charset="-122"/>
                <a:sym typeface="Symbol" panose="05050102010706020507" pitchFamily="2" charset="2"/>
              </a:rPr>
              <a:t>{emp_id, skill_id}{skill_date, skill_lvl}</a:t>
            </a:r>
          </a:p>
        </p:txBody>
      </p:sp>
      <p:sp>
        <p:nvSpPr>
          <p:cNvPr id="163846" name="Text Box 4"/>
          <p:cNvSpPr txBox="1"/>
          <p:nvPr/>
        </p:nvSpPr>
        <p:spPr>
          <a:xfrm>
            <a:off x="228600" y="5334000"/>
            <a:ext cx="8686800" cy="519113"/>
          </a:xfrm>
          <a:prstGeom prst="rect">
            <a:avLst/>
          </a:prstGeom>
          <a:noFill/>
          <a:ln w="9525">
            <a:noFill/>
          </a:ln>
        </p:spPr>
        <p:txBody>
          <a:bodyPr anchor="t">
            <a:spAutoFit/>
          </a:bodyPr>
          <a:lstStyle/>
          <a:p>
            <a:pPr lvl="0" algn="ctr">
              <a:spcBef>
                <a:spcPct val="50000"/>
              </a:spcBef>
            </a:pPr>
            <a:r>
              <a:rPr lang="en-US" altLang="x-none" sz="2800" b="1" dirty="0">
                <a:latin typeface="Arial" panose="020B0604020202020204" pitchFamily="34" charset="0"/>
                <a:ea typeface="宋体" panose="02010600030101010101" pitchFamily="2" charset="-122"/>
              </a:rPr>
              <a:t>Figure 6.22 &amp; 6.23</a:t>
            </a:r>
            <a:endParaRPr lang="zh-CN" altLang="en-US" sz="2800" b="1" dirty="0">
              <a:latin typeface="Arial" panose="020B0604020202020204" pitchFamily="34" charset="0"/>
              <a:ea typeface="宋体" panose="02010600030101010101" pitchFamily="2"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64866"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64867"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96</a:t>
            </a:fld>
            <a:endParaRPr lang="zh-CN" altLang="en-US" sz="1200" b="1" i="1" dirty="0">
              <a:latin typeface="Times New Roman" panose="02020603050405020304" pitchFamily="2" charset="0"/>
              <a:ea typeface="宋体" panose="02010600030101010101" pitchFamily="2" charset="-122"/>
            </a:endParaRPr>
          </a:p>
        </p:txBody>
      </p:sp>
      <p:sp>
        <p:nvSpPr>
          <p:cNvPr id="164868"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6.8  </a:t>
            </a:r>
            <a:r>
              <a:rPr lang="en-US" altLang="x-none" dirty="0">
                <a:ea typeface="宋体" panose="02010600030101010101" pitchFamily="2" charset="-122"/>
              </a:rPr>
              <a:t>Normal Forms</a:t>
            </a:r>
          </a:p>
        </p:txBody>
      </p:sp>
      <p:sp>
        <p:nvSpPr>
          <p:cNvPr id="164869" name="Rectangle 3"/>
          <p:cNvSpPr>
            <a:spLocks noGrp="1"/>
          </p:cNvSpPr>
          <p:nvPr>
            <p:ph type="body"/>
          </p:nvPr>
        </p:nvSpPr>
        <p:spPr>
          <a:xfrm>
            <a:off x="156845" y="990600"/>
            <a:ext cx="8915400" cy="4495800"/>
          </a:xfrm>
          <a:ln w="25400">
            <a:solidFill>
              <a:schemeClr val="tx1"/>
            </a:solidFill>
            <a:miter/>
          </a:ln>
        </p:spPr>
        <p:txBody>
          <a:bodyPr wrap="square" anchor="t"/>
          <a:lstStyle/>
          <a:p>
            <a:pPr lvl="0" eaLnBrk="1" hangingPunct="1">
              <a:lnSpc>
                <a:spcPct val="110000"/>
              </a:lnSpc>
              <a:buNone/>
            </a:pPr>
            <a:r>
              <a:rPr lang="en-US" altLang="x-none" dirty="0">
                <a:ea typeface="宋体" panose="02010600030101010101" pitchFamily="2" charset="-122"/>
              </a:rPr>
              <a:t>emps</a:t>
            </a:r>
            <a:r>
              <a:rPr lang="en-US" altLang="x-none" dirty="0">
                <a:solidFill>
                  <a:schemeClr val="tx1"/>
                </a:solidFill>
                <a:ea typeface="宋体" panose="02010600030101010101" pitchFamily="2" charset="-122"/>
              </a:rPr>
              <a:t>(emp_id, emp_name, emp_phone, dept_name, dept_phone, dept_mgrname)</a:t>
            </a:r>
          </a:p>
          <a:p>
            <a:pPr lvl="1" indent="-285750" eaLnBrk="1" hangingPunct="1">
              <a:lnSpc>
                <a:spcPct val="110000"/>
              </a:lnSpc>
              <a:buNone/>
            </a:pPr>
            <a:r>
              <a:rPr lang="en-US" altLang="x-none" dirty="0">
                <a:ea typeface="宋体" panose="02010600030101010101" pitchFamily="2" charset="-122"/>
              </a:rPr>
              <a:t>emp_id</a:t>
            </a:r>
            <a:r>
              <a:rPr lang="en-US" altLang="x-none" dirty="0">
                <a:ea typeface="宋体" panose="02010600030101010101" pitchFamily="2" charset="-122"/>
                <a:sym typeface="Symbol" panose="05050102010706020507" pitchFamily="2" charset="2"/>
              </a:rPr>
              <a:t>{emp_name, emp_phone, dept_name}</a:t>
            </a:r>
          </a:p>
          <a:p>
            <a:pPr lvl="1" indent="-285750" eaLnBrk="1" hangingPunct="1">
              <a:lnSpc>
                <a:spcPct val="110000"/>
              </a:lnSpc>
              <a:buNone/>
            </a:pPr>
            <a:r>
              <a:rPr lang="en-US" altLang="x-none" dirty="0">
                <a:ea typeface="宋体" panose="02010600030101010101" pitchFamily="2" charset="-122"/>
                <a:sym typeface="Symbol" panose="05050102010706020507" pitchFamily="2" charset="2"/>
              </a:rPr>
              <a:t>dept_name{dept_phone, dept_mgrname}</a:t>
            </a:r>
          </a:p>
          <a:p>
            <a:pPr lvl="0" eaLnBrk="1" hangingPunct="1">
              <a:lnSpc>
                <a:spcPct val="110000"/>
              </a:lnSpc>
            </a:pPr>
            <a:endParaRPr lang="en-US" altLang="x-none" dirty="0">
              <a:ea typeface="宋体" panose="02010600030101010101" pitchFamily="2" charset="-122"/>
            </a:endParaRPr>
          </a:p>
          <a:p>
            <a:pPr lvl="0" eaLnBrk="1" hangingPunct="1">
              <a:lnSpc>
                <a:spcPct val="110000"/>
              </a:lnSpc>
              <a:buNone/>
            </a:pPr>
            <a:r>
              <a:rPr lang="en-US" altLang="x-none" dirty="0">
                <a:ea typeface="宋体" panose="02010600030101010101" pitchFamily="2" charset="-122"/>
              </a:rPr>
              <a:t>skills</a:t>
            </a:r>
            <a:r>
              <a:rPr lang="en-US" altLang="x-none" dirty="0">
                <a:solidFill>
                  <a:schemeClr val="tx1"/>
                </a:solidFill>
                <a:ea typeface="宋体" panose="02010600030101010101" pitchFamily="2" charset="-122"/>
              </a:rPr>
              <a:t>(emp_id,skill_id,skill_name,skill_date,skill_lvl)</a:t>
            </a:r>
          </a:p>
          <a:p>
            <a:pPr lvl="1" indent="-285750" eaLnBrk="1" hangingPunct="1">
              <a:lnSpc>
                <a:spcPct val="110000"/>
              </a:lnSpc>
              <a:buNone/>
            </a:pPr>
            <a:r>
              <a:rPr lang="en-US" altLang="x-none" dirty="0">
                <a:ea typeface="宋体" panose="02010600030101010101" pitchFamily="2" charset="-122"/>
                <a:sym typeface="Symbol" panose="05050102010706020507" pitchFamily="2" charset="2"/>
              </a:rPr>
              <a:t>skill_idskill_name</a:t>
            </a:r>
          </a:p>
          <a:p>
            <a:pPr lvl="1" indent="-285750" eaLnBrk="1" hangingPunct="1">
              <a:lnSpc>
                <a:spcPct val="110000"/>
              </a:lnSpc>
              <a:buNone/>
            </a:pPr>
            <a:r>
              <a:rPr lang="en-US" altLang="x-none" dirty="0">
                <a:ea typeface="宋体" panose="02010600030101010101" pitchFamily="2" charset="-122"/>
                <a:sym typeface="Symbol" panose="05050102010706020507" pitchFamily="2" charset="2"/>
              </a:rPr>
              <a:t>{emp_id, skill_id}  {skill_date, skill_lvl}</a:t>
            </a:r>
          </a:p>
        </p:txBody>
      </p:sp>
      <p:sp>
        <p:nvSpPr>
          <p:cNvPr id="164870" name="Text Box 4"/>
          <p:cNvSpPr txBox="1"/>
          <p:nvPr/>
        </p:nvSpPr>
        <p:spPr>
          <a:xfrm>
            <a:off x="228600" y="5638800"/>
            <a:ext cx="8686800" cy="519113"/>
          </a:xfrm>
          <a:prstGeom prst="rect">
            <a:avLst/>
          </a:prstGeom>
          <a:noFill/>
          <a:ln w="9525">
            <a:noFill/>
          </a:ln>
        </p:spPr>
        <p:txBody>
          <a:bodyPr anchor="t">
            <a:spAutoFit/>
          </a:bodyPr>
          <a:lstStyle/>
          <a:p>
            <a:pPr lvl="0" algn="ctr">
              <a:spcBef>
                <a:spcPct val="50000"/>
              </a:spcBef>
            </a:pPr>
            <a:r>
              <a:rPr lang="en-US" altLang="x-none" sz="2800" b="1" dirty="0">
                <a:latin typeface="Arial" panose="020B0604020202020204" pitchFamily="34" charset="0"/>
                <a:ea typeface="宋体" panose="02010600030101010101" pitchFamily="2" charset="-122"/>
              </a:rPr>
              <a:t>Figure 6.24</a:t>
            </a:r>
            <a:endParaRPr lang="zh-CN" altLang="en-US" sz="2800" b="1" dirty="0">
              <a:latin typeface="Arial" panose="020B0604020202020204" pitchFamily="34" charset="0"/>
              <a:ea typeface="宋体" panose="02010600030101010101" pitchFamily="2"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65890"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65891"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97</a:t>
            </a:fld>
            <a:endParaRPr lang="zh-CN" altLang="en-US" sz="1200" b="1" i="1" dirty="0">
              <a:latin typeface="Times New Roman" panose="02020603050405020304" pitchFamily="2" charset="0"/>
              <a:ea typeface="宋体" panose="02010600030101010101" pitchFamily="2" charset="-122"/>
            </a:endParaRPr>
          </a:p>
        </p:txBody>
      </p:sp>
      <p:sp>
        <p:nvSpPr>
          <p:cNvPr id="165892"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6.8  </a:t>
            </a:r>
            <a:r>
              <a:rPr lang="en-US" altLang="x-none" dirty="0">
                <a:ea typeface="宋体" panose="02010600030101010101" pitchFamily="2" charset="-122"/>
              </a:rPr>
              <a:t>Normal Forms</a:t>
            </a:r>
          </a:p>
        </p:txBody>
      </p:sp>
      <p:sp>
        <p:nvSpPr>
          <p:cNvPr id="165893" name="Rectangle 3"/>
          <p:cNvSpPr>
            <a:spLocks noGrp="1"/>
          </p:cNvSpPr>
          <p:nvPr>
            <p:ph type="body"/>
          </p:nvPr>
        </p:nvSpPr>
        <p:spPr/>
        <p:txBody>
          <a:bodyPr wrap="square" anchor="t"/>
          <a:lstStyle/>
          <a:p>
            <a:pPr lvl="0" eaLnBrk="1" hangingPunct="1"/>
            <a:r>
              <a:rPr lang="en-US" altLang="x-none" dirty="0">
                <a:ea typeface="宋体" panose="02010600030101010101" pitchFamily="2" charset="-122"/>
              </a:rPr>
              <a:t>Proposition 6.8.1</a:t>
            </a:r>
          </a:p>
          <a:p>
            <a:pPr lvl="1" indent="-285750" eaLnBrk="1" hangingPunct="1"/>
            <a:r>
              <a:rPr lang="en-US" altLang="x-none" dirty="0">
                <a:ea typeface="宋体" panose="02010600030101010101" pitchFamily="2" charset="-122"/>
              </a:rPr>
              <a:t>The key for the emp_info table is the attribute set (emp_id, skill_id)</a:t>
            </a:r>
          </a:p>
          <a:p>
            <a:pPr lvl="2" indent="-228600" eaLnBrk="1" hangingPunct="1"/>
            <a:r>
              <a:rPr lang="en-US" altLang="x-none" dirty="0">
                <a:ea typeface="宋体" panose="02010600030101010101" pitchFamily="2" charset="-122"/>
              </a:rPr>
              <a:t>This is also the key for the skills table</a:t>
            </a:r>
          </a:p>
          <a:p>
            <a:pPr lvl="2" indent="-228600" eaLnBrk="1" hangingPunct="1"/>
            <a:r>
              <a:rPr lang="en-US" altLang="x-none" dirty="0">
                <a:ea typeface="宋体" panose="02010600030101010101" pitchFamily="2" charset="-122"/>
              </a:rPr>
              <a:t>the emps table has a key consisting of the single attribute emp_id</a:t>
            </a:r>
          </a:p>
          <a:p>
            <a:pPr lvl="1" indent="-285750" eaLnBrk="1" hangingPunct="1"/>
            <a:endParaRPr lang="en-US" altLang="x-none" dirty="0">
              <a:ea typeface="宋体" panose="02010600030101010101" pitchFamily="2" charset="-122"/>
            </a:endParaRPr>
          </a:p>
          <a:p>
            <a:pPr lvl="0" eaLnBrk="1" hangingPunct="1"/>
            <a:r>
              <a:rPr lang="en-US" altLang="x-none" dirty="0">
                <a:ea typeface="宋体" panose="02010600030101010101" pitchFamily="2" charset="-122"/>
              </a:rPr>
              <a:t>PROOF.</a:t>
            </a:r>
          </a:p>
          <a:p>
            <a:pPr lvl="1" indent="-285750" eaLnBrk="1" hangingPunct="1"/>
            <a:r>
              <a:rPr lang="en-US" altLang="x-none" dirty="0">
                <a:ea typeface="宋体" panose="02010600030101010101" pitchFamily="2" charset="-122"/>
              </a:rPr>
              <a:t>By Theorem 6.7.3.</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66914"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66915"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98</a:t>
            </a:fld>
            <a:endParaRPr lang="zh-CN" altLang="en-US" sz="1200" b="1" i="1" dirty="0">
              <a:latin typeface="Times New Roman" panose="02020603050405020304" pitchFamily="2" charset="0"/>
              <a:ea typeface="宋体" panose="02010600030101010101" pitchFamily="2" charset="-122"/>
            </a:endParaRPr>
          </a:p>
        </p:txBody>
      </p:sp>
      <p:sp>
        <p:nvSpPr>
          <p:cNvPr id="166916"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6.8  </a:t>
            </a:r>
            <a:r>
              <a:rPr lang="en-US" altLang="x-none" dirty="0">
                <a:ea typeface="宋体" panose="02010600030101010101" pitchFamily="2" charset="-122"/>
              </a:rPr>
              <a:t>Normal Forms</a:t>
            </a:r>
          </a:p>
        </p:txBody>
      </p:sp>
      <p:sp>
        <p:nvSpPr>
          <p:cNvPr id="166917" name="Rectangle 3"/>
          <p:cNvSpPr>
            <a:spLocks noGrp="1"/>
          </p:cNvSpPr>
          <p:nvPr>
            <p:ph type="body"/>
          </p:nvPr>
        </p:nvSpPr>
        <p:spPr/>
        <p:txBody>
          <a:bodyPr wrap="square" anchor="t"/>
          <a:lstStyle/>
          <a:p>
            <a:pPr lvl="0" eaLnBrk="1" hangingPunct="1"/>
            <a:r>
              <a:rPr lang="en-US" altLang="x-none" dirty="0">
                <a:ea typeface="宋体" panose="02010600030101010101" pitchFamily="2" charset="-122"/>
              </a:rPr>
              <a:t>Proposition 6.8.2</a:t>
            </a:r>
          </a:p>
          <a:p>
            <a:pPr lvl="1" indent="-285750" eaLnBrk="1" hangingPunct="1"/>
            <a:r>
              <a:rPr lang="en-US" altLang="x-none" dirty="0">
                <a:ea typeface="宋体" panose="02010600030101010101" pitchFamily="2" charset="-122"/>
              </a:rPr>
              <a:t>The factorization of the emp_info table into the emps table and skills table is a true lossless decomposition.</a:t>
            </a:r>
          </a:p>
          <a:p>
            <a:pPr lvl="1" indent="-285750" eaLnBrk="1" hangingPunct="1"/>
            <a:endParaRPr lang="en-US" altLang="x-none" dirty="0">
              <a:ea typeface="宋体" panose="02010600030101010101" pitchFamily="2" charset="-122"/>
            </a:endParaRPr>
          </a:p>
          <a:p>
            <a:pPr lvl="0" eaLnBrk="1" hangingPunct="1"/>
            <a:r>
              <a:rPr lang="en-US" altLang="x-none" dirty="0">
                <a:ea typeface="宋体" panose="02010600030101010101" pitchFamily="2" charset="-122"/>
              </a:rPr>
              <a:t>PROOF.</a:t>
            </a:r>
          </a:p>
          <a:p>
            <a:pPr lvl="1" indent="-285750" eaLnBrk="1" hangingPunct="1"/>
            <a:r>
              <a:rPr lang="en-US" altLang="x-none" dirty="0">
                <a:ea typeface="宋体" panose="02010600030101010101" pitchFamily="2" charset="-122"/>
              </a:rPr>
              <a:t>By the theorem 6.7.4.</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67938"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67939"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99</a:t>
            </a:fld>
            <a:endParaRPr lang="zh-CN" altLang="en-US" sz="1200" b="1" i="1" dirty="0">
              <a:latin typeface="Times New Roman" panose="02020603050405020304" pitchFamily="2" charset="0"/>
              <a:ea typeface="宋体" panose="02010600030101010101" pitchFamily="2" charset="-122"/>
            </a:endParaRPr>
          </a:p>
        </p:txBody>
      </p:sp>
      <p:sp>
        <p:nvSpPr>
          <p:cNvPr id="167940"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6.8  </a:t>
            </a:r>
            <a:r>
              <a:rPr lang="en-US" altLang="x-none" dirty="0">
                <a:ea typeface="宋体" panose="02010600030101010101" pitchFamily="2" charset="-122"/>
              </a:rPr>
              <a:t>Normal Forms</a:t>
            </a:r>
          </a:p>
        </p:txBody>
      </p:sp>
      <p:sp>
        <p:nvSpPr>
          <p:cNvPr id="167941" name="Rectangle 3"/>
          <p:cNvSpPr>
            <a:spLocks noGrp="1"/>
          </p:cNvSpPr>
          <p:nvPr>
            <p:ph type="body"/>
          </p:nvPr>
        </p:nvSpPr>
        <p:spPr>
          <a:xfrm>
            <a:off x="228600" y="990600"/>
            <a:ext cx="8686800" cy="5257800"/>
          </a:xfrm>
        </p:spPr>
        <p:txBody>
          <a:bodyPr wrap="square" anchor="t"/>
          <a:lstStyle/>
          <a:p>
            <a:pPr lvl="0" eaLnBrk="1" hangingPunct="1"/>
            <a:r>
              <a:rPr lang="en-US" altLang="x-none" sz="2400" dirty="0">
                <a:ea typeface="宋体" panose="02010600030101010101" pitchFamily="2" charset="-122"/>
              </a:rPr>
              <a:t>Figure 6.26</a:t>
            </a:r>
          </a:p>
          <a:p>
            <a:pPr lvl="1" indent="-285750" eaLnBrk="1" hangingPunct="1">
              <a:lnSpc>
                <a:spcPct val="120000"/>
              </a:lnSpc>
            </a:pPr>
            <a:r>
              <a:rPr lang="en-US" altLang="x-none" sz="2400" dirty="0">
                <a:solidFill>
                  <a:srgbClr val="FF0000"/>
                </a:solidFill>
                <a:ea typeface="宋体" panose="02010600030101010101" pitchFamily="2" charset="-122"/>
              </a:rPr>
              <a:t>emps</a:t>
            </a:r>
            <a:r>
              <a:rPr lang="en-US" altLang="x-none" sz="2400" dirty="0">
                <a:ea typeface="宋体" panose="02010600030101010101" pitchFamily="2" charset="-122"/>
              </a:rPr>
              <a:t>(emp_id, emp_name, emp_phone, dept_name)</a:t>
            </a:r>
          </a:p>
          <a:p>
            <a:pPr lvl="1" indent="-285750" eaLnBrk="1" hangingPunct="1">
              <a:lnSpc>
                <a:spcPct val="120000"/>
              </a:lnSpc>
            </a:pPr>
            <a:r>
              <a:rPr lang="en-US" altLang="x-none" sz="2400" dirty="0">
                <a:solidFill>
                  <a:srgbClr val="FF0000"/>
                </a:solidFill>
                <a:ea typeface="宋体" panose="02010600030101010101" pitchFamily="2" charset="-122"/>
              </a:rPr>
              <a:t>depts</a:t>
            </a:r>
            <a:r>
              <a:rPr lang="en-US" altLang="x-none" sz="2400" dirty="0">
                <a:ea typeface="宋体" panose="02010600030101010101" pitchFamily="2" charset="-122"/>
              </a:rPr>
              <a:t>(dept_name, dept_phone, dept_mgrname)</a:t>
            </a:r>
          </a:p>
          <a:p>
            <a:pPr lvl="1" indent="-285750" eaLnBrk="1" hangingPunct="1">
              <a:lnSpc>
                <a:spcPct val="120000"/>
              </a:lnSpc>
            </a:pPr>
            <a:r>
              <a:rPr lang="en-US" altLang="x-none" sz="2400" dirty="0">
                <a:solidFill>
                  <a:srgbClr val="FF0000"/>
                </a:solidFill>
                <a:ea typeface="宋体" panose="02010600030101010101" pitchFamily="2" charset="-122"/>
              </a:rPr>
              <a:t>emp_skills</a:t>
            </a:r>
            <a:r>
              <a:rPr lang="en-US" altLang="x-none" sz="2400" dirty="0">
                <a:ea typeface="宋体" panose="02010600030101010101" pitchFamily="2" charset="-122"/>
              </a:rPr>
              <a:t>(emp_id, skill_id, skill_date, skill_lvl)</a:t>
            </a:r>
          </a:p>
          <a:p>
            <a:pPr lvl="1" indent="-285750" eaLnBrk="1" hangingPunct="1">
              <a:lnSpc>
                <a:spcPct val="120000"/>
              </a:lnSpc>
            </a:pPr>
            <a:r>
              <a:rPr lang="en-US" altLang="x-none" sz="2400" dirty="0">
                <a:solidFill>
                  <a:srgbClr val="FF0000"/>
                </a:solidFill>
                <a:ea typeface="宋体" panose="02010600030101010101" pitchFamily="2" charset="-122"/>
              </a:rPr>
              <a:t>skills</a:t>
            </a:r>
            <a:r>
              <a:rPr lang="en-US" altLang="x-none" sz="2400" dirty="0">
                <a:ea typeface="宋体" panose="02010600030101010101" pitchFamily="2" charset="-122"/>
              </a:rPr>
              <a:t>(skill_id, skill_name)</a:t>
            </a:r>
          </a:p>
          <a:p>
            <a:pPr lvl="1" indent="-285750" eaLnBrk="1" hangingPunct="1">
              <a:lnSpc>
                <a:spcPct val="120000"/>
              </a:lnSpc>
            </a:pPr>
            <a:endParaRPr lang="en-US" altLang="x-none" sz="2400" dirty="0">
              <a:ea typeface="宋体" panose="02010600030101010101" pitchFamily="2" charset="-122"/>
            </a:endParaRPr>
          </a:p>
          <a:p>
            <a:pPr lvl="0" eaLnBrk="1" hangingPunct="1">
              <a:lnSpc>
                <a:spcPct val="120000"/>
              </a:lnSpc>
            </a:pPr>
            <a:r>
              <a:rPr lang="en-US" altLang="x-none" sz="2400" dirty="0">
                <a:ea typeface="宋体" panose="02010600030101010101" pitchFamily="2" charset="-122"/>
              </a:rPr>
              <a:t>Ex 6.8.2</a:t>
            </a:r>
          </a:p>
          <a:p>
            <a:pPr lvl="1" indent="-285750" eaLnBrk="1" hangingPunct="1">
              <a:lnSpc>
                <a:spcPct val="120000"/>
              </a:lnSpc>
            </a:pPr>
            <a:r>
              <a:rPr lang="en-US" altLang="x-none" sz="2400" dirty="0">
                <a:ea typeface="宋体" panose="02010600030101010101" pitchFamily="2" charset="-122"/>
              </a:rPr>
              <a:t>Figure 6.26</a:t>
            </a:r>
          </a:p>
          <a:p>
            <a:pPr lvl="1" indent="-285750" eaLnBrk="1" hangingPunct="1">
              <a:lnSpc>
                <a:spcPct val="120000"/>
              </a:lnSpc>
            </a:pPr>
            <a:r>
              <a:rPr lang="en-US" altLang="x-none" sz="2400" dirty="0">
                <a:ea typeface="宋体" panose="02010600030101010101" pitchFamily="2" charset="-122"/>
              </a:rPr>
              <a:t>Figure 6.24</a:t>
            </a:r>
          </a:p>
          <a:p>
            <a:pPr lvl="1" indent="-285750" eaLnBrk="1" hangingPunct="1">
              <a:lnSpc>
                <a:spcPct val="120000"/>
              </a:lnSpc>
            </a:pPr>
            <a:r>
              <a:rPr lang="en-US" altLang="x-none" sz="2400" dirty="0">
                <a:ea typeface="宋体" panose="02010600030101010101" pitchFamily="2" charset="-122"/>
              </a:rPr>
              <a:t>Figure 6.25</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68962"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68963"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100</a:t>
            </a:fld>
            <a:endParaRPr lang="zh-CN" altLang="en-US" sz="1200" b="1" i="1" dirty="0">
              <a:latin typeface="Times New Roman" panose="02020603050405020304" pitchFamily="2" charset="0"/>
              <a:ea typeface="宋体" panose="02010600030101010101" pitchFamily="2" charset="-122"/>
            </a:endParaRPr>
          </a:p>
        </p:txBody>
      </p:sp>
      <p:sp>
        <p:nvSpPr>
          <p:cNvPr id="168964"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6.8  </a:t>
            </a:r>
            <a:r>
              <a:rPr lang="en-US" altLang="x-none" dirty="0">
                <a:ea typeface="宋体" panose="02010600030101010101" pitchFamily="2" charset="-122"/>
              </a:rPr>
              <a:t>Normal Forms</a:t>
            </a:r>
          </a:p>
        </p:txBody>
      </p:sp>
      <p:sp>
        <p:nvSpPr>
          <p:cNvPr id="168965" name="Rectangle 3"/>
          <p:cNvSpPr>
            <a:spLocks noGrp="1"/>
          </p:cNvSpPr>
          <p:nvPr>
            <p:ph type="body"/>
          </p:nvPr>
        </p:nvSpPr>
        <p:spPr>
          <a:xfrm>
            <a:off x="69850" y="765175"/>
            <a:ext cx="9002395" cy="6092825"/>
          </a:xfrm>
        </p:spPr>
        <p:txBody>
          <a:bodyPr wrap="square" anchor="t"/>
          <a:lstStyle/>
          <a:p>
            <a:pPr marL="0" lvl="0" indent="0" eaLnBrk="1" hangingPunct="1">
              <a:lnSpc>
                <a:spcPct val="100000"/>
              </a:lnSpc>
              <a:spcBef>
                <a:spcPts val="1800"/>
              </a:spcBef>
              <a:spcAft>
                <a:spcPts val="0"/>
              </a:spcAft>
              <a:buNone/>
            </a:pPr>
            <a:r>
              <a:rPr lang="en-US" altLang="x-none" dirty="0">
                <a:ea typeface="宋体" panose="02010600030101010101" pitchFamily="2" charset="-122"/>
              </a:rPr>
              <a:t>Def. 6.8.3 </a:t>
            </a:r>
            <a:r>
              <a:rPr lang="en-US" altLang="x-none" dirty="0">
                <a:solidFill>
                  <a:schemeClr val="accent2"/>
                </a:solidFill>
                <a:ea typeface="宋体" panose="02010600030101010101" pitchFamily="2" charset="-122"/>
              </a:rPr>
              <a:t>FD Preserved (</a:t>
            </a:r>
            <a:r>
              <a:rPr lang="zh-CN" altLang="en-US" dirty="0">
                <a:solidFill>
                  <a:schemeClr val="accent2"/>
                </a:solidFill>
                <a:ea typeface="宋体" panose="02010600030101010101" pitchFamily="2" charset="-122"/>
              </a:rPr>
              <a:t>依赖保持性)</a:t>
            </a:r>
          </a:p>
          <a:p>
            <a:pPr marL="318770" lvl="1" indent="-318770" eaLnBrk="1" hangingPunct="1">
              <a:lnSpc>
                <a:spcPct val="100000"/>
              </a:lnSpc>
              <a:spcBef>
                <a:spcPts val="1800"/>
              </a:spcBef>
              <a:spcAft>
                <a:spcPts val="0"/>
              </a:spcAft>
              <a:buFont typeface="Wingdings" panose="05000000000000000000" charset="0"/>
              <a:buChar char=""/>
            </a:pPr>
            <a:r>
              <a:rPr lang="en-US" altLang="x-none" dirty="0">
                <a:solidFill>
                  <a:schemeClr val="tx1"/>
                </a:solidFill>
                <a:ea typeface="宋体" panose="02010600030101010101" pitchFamily="2" charset="-122"/>
              </a:rPr>
              <a:t>Given a database schema with a universal table T and a set of functional dependencies F, let {T</a:t>
            </a:r>
            <a:r>
              <a:rPr lang="en-US" altLang="x-none" baseline="-25000" dirty="0">
                <a:solidFill>
                  <a:schemeClr val="tx1"/>
                </a:solidFill>
                <a:ea typeface="宋体" panose="02010600030101010101" pitchFamily="2" charset="-122"/>
              </a:rPr>
              <a:t>1</a:t>
            </a:r>
            <a:r>
              <a:rPr lang="en-US" altLang="x-none" dirty="0">
                <a:solidFill>
                  <a:schemeClr val="tx1"/>
                </a:solidFill>
                <a:ea typeface="宋体" panose="02010600030101010101" pitchFamily="2" charset="-122"/>
              </a:rPr>
              <a:t>, T</a:t>
            </a:r>
            <a:r>
              <a:rPr lang="en-US" altLang="x-none" baseline="-25000" dirty="0">
                <a:solidFill>
                  <a:schemeClr val="tx1"/>
                </a:solidFill>
                <a:ea typeface="宋体" panose="02010600030101010101" pitchFamily="2" charset="-122"/>
              </a:rPr>
              <a:t>2</a:t>
            </a:r>
            <a:r>
              <a:rPr lang="en-US" altLang="x-none" dirty="0">
                <a:solidFill>
                  <a:schemeClr val="tx1"/>
                </a:solidFill>
                <a:ea typeface="宋体" panose="02010600030101010101" pitchFamily="2" charset="-122"/>
              </a:rPr>
              <a:t>, ......,T</a:t>
            </a:r>
            <a:r>
              <a:rPr lang="en-US" altLang="x-none" baseline="-25000" dirty="0">
                <a:solidFill>
                  <a:schemeClr val="tx1"/>
                </a:solidFill>
                <a:ea typeface="宋体" panose="02010600030101010101" pitchFamily="2" charset="-122"/>
              </a:rPr>
              <a:t>k </a:t>
            </a:r>
            <a:r>
              <a:rPr lang="en-US" altLang="x-none" dirty="0">
                <a:solidFill>
                  <a:schemeClr val="tx1"/>
                </a:solidFill>
                <a:ea typeface="宋体" panose="02010600030101010101" pitchFamily="2" charset="-122"/>
              </a:rPr>
              <a:t>} be a lossless decomposition of T.</a:t>
            </a:r>
          </a:p>
          <a:p>
            <a:pPr marL="318770" lvl="1" indent="-318770" eaLnBrk="1" hangingPunct="1">
              <a:lnSpc>
                <a:spcPct val="100000"/>
              </a:lnSpc>
              <a:spcBef>
                <a:spcPts val="1800"/>
              </a:spcBef>
              <a:spcAft>
                <a:spcPts val="0"/>
              </a:spcAft>
              <a:buFont typeface="Wingdings" panose="05000000000000000000" charset="0"/>
              <a:buChar char=""/>
            </a:pPr>
            <a:r>
              <a:rPr lang="en-US" altLang="x-none" dirty="0">
                <a:solidFill>
                  <a:schemeClr val="tx1"/>
                </a:solidFill>
                <a:ea typeface="宋体" panose="02010600030101010101" pitchFamily="2" charset="-122"/>
              </a:rPr>
              <a:t>Then an FD X</a:t>
            </a:r>
            <a:r>
              <a:rPr lang="en-US" altLang="x-none" dirty="0">
                <a:solidFill>
                  <a:schemeClr val="tx1"/>
                </a:solidFill>
                <a:ea typeface="宋体" panose="02010600030101010101" pitchFamily="2" charset="-122"/>
                <a:sym typeface="Symbol" panose="05050102010706020507" pitchFamily="2" charset="2"/>
              </a:rPr>
              <a:t></a:t>
            </a:r>
            <a:r>
              <a:rPr lang="en-US" altLang="x-none" dirty="0">
                <a:solidFill>
                  <a:schemeClr val="tx1"/>
                </a:solidFill>
                <a:ea typeface="宋体" panose="02010600030101010101" pitchFamily="2" charset="-122"/>
              </a:rPr>
              <a:t>Y of F is said to be </a:t>
            </a:r>
            <a:r>
              <a:rPr lang="en-US" altLang="x-none" i="1" dirty="0">
                <a:solidFill>
                  <a:srgbClr val="FF0000"/>
                </a:solidFill>
                <a:ea typeface="宋体" panose="02010600030101010101" pitchFamily="2" charset="-122"/>
              </a:rPr>
              <a:t>preserved</a:t>
            </a:r>
            <a:r>
              <a:rPr lang="en-US" altLang="x-none" dirty="0">
                <a:solidFill>
                  <a:schemeClr val="tx1"/>
                </a:solidFill>
                <a:ea typeface="宋体" panose="02010600030101010101" pitchFamily="2" charset="-122"/>
              </a:rPr>
              <a:t> in the decomposition of T, or alternatively the decomposition of T preserved the FD X</a:t>
            </a:r>
            <a:r>
              <a:rPr lang="en-US" altLang="x-none" dirty="0">
                <a:solidFill>
                  <a:schemeClr val="tx1"/>
                </a:solidFill>
                <a:ea typeface="宋体" panose="02010600030101010101" pitchFamily="2" charset="-122"/>
                <a:sym typeface="Symbol" panose="05050102010706020507" pitchFamily="2" charset="2"/>
              </a:rPr>
              <a:t></a:t>
            </a:r>
            <a:r>
              <a:rPr lang="en-US" altLang="x-none" dirty="0">
                <a:solidFill>
                  <a:schemeClr val="tx1"/>
                </a:solidFill>
                <a:ea typeface="宋体" panose="02010600030101010101" pitchFamily="2" charset="-122"/>
              </a:rPr>
              <a:t>Y, if for some table T</a:t>
            </a:r>
            <a:r>
              <a:rPr lang="en-US" altLang="x-none" baseline="-25000" dirty="0">
                <a:solidFill>
                  <a:schemeClr val="tx1"/>
                </a:solidFill>
                <a:ea typeface="宋体" panose="02010600030101010101" pitchFamily="2" charset="-122"/>
              </a:rPr>
              <a:t>i </a:t>
            </a:r>
            <a:r>
              <a:rPr lang="en-US" altLang="x-none" dirty="0">
                <a:solidFill>
                  <a:schemeClr val="tx1"/>
                </a:solidFill>
                <a:ea typeface="宋体" panose="02010600030101010101" pitchFamily="2" charset="-122"/>
              </a:rPr>
              <a:t>of the decomposition, X</a:t>
            </a:r>
            <a:r>
              <a:rPr lang="en-US" altLang="x-none" dirty="0">
                <a:solidFill>
                  <a:schemeClr val="tx1"/>
                </a:solidFill>
                <a:ea typeface="宋体" panose="02010600030101010101" pitchFamily="2" charset="-122"/>
                <a:sym typeface="Symbol" panose="05050102010706020507" pitchFamily="2" charset="2"/>
              </a:rPr>
              <a:t></a:t>
            </a:r>
            <a:r>
              <a:rPr lang="en-US" altLang="x-none" dirty="0">
                <a:solidFill>
                  <a:schemeClr val="tx1"/>
                </a:solidFill>
                <a:ea typeface="宋体" panose="02010600030101010101" pitchFamily="2" charset="-122"/>
              </a:rPr>
              <a:t>Y</a:t>
            </a:r>
            <a:r>
              <a:rPr lang="en-US" altLang="x-none" dirty="0">
                <a:solidFill>
                  <a:schemeClr val="tx1"/>
                </a:solidFill>
                <a:ea typeface="宋体" panose="02010600030101010101" pitchFamily="2" charset="-122"/>
                <a:sym typeface="Symbol" panose="05050102010706020507" pitchFamily="2" charset="2"/>
              </a:rPr>
              <a:t></a:t>
            </a:r>
            <a:r>
              <a:rPr lang="en-US" altLang="x-none" dirty="0">
                <a:solidFill>
                  <a:schemeClr val="tx1"/>
                </a:solidFill>
                <a:ea typeface="宋体" panose="02010600030101010101" pitchFamily="2" charset="-122"/>
              </a:rPr>
              <a:t>Head(T</a:t>
            </a:r>
            <a:r>
              <a:rPr lang="en-US" altLang="x-none" baseline="-25000" dirty="0">
                <a:solidFill>
                  <a:schemeClr val="tx1"/>
                </a:solidFill>
                <a:ea typeface="宋体" panose="02010600030101010101" pitchFamily="2" charset="-122"/>
              </a:rPr>
              <a:t>i</a:t>
            </a:r>
            <a:r>
              <a:rPr lang="en-US" altLang="x-none" dirty="0">
                <a:solidFill>
                  <a:schemeClr val="tx1"/>
                </a:solidFill>
                <a:ea typeface="宋体" panose="02010600030101010101" pitchFamily="2" charset="-122"/>
              </a:rPr>
              <a:t>).</a:t>
            </a:r>
          </a:p>
          <a:p>
            <a:pPr marL="318770" lvl="1" indent="-318770" eaLnBrk="1" hangingPunct="1">
              <a:lnSpc>
                <a:spcPct val="100000"/>
              </a:lnSpc>
              <a:spcBef>
                <a:spcPts val="1800"/>
              </a:spcBef>
              <a:spcAft>
                <a:spcPts val="0"/>
              </a:spcAft>
              <a:buFont typeface="Wingdings" panose="05000000000000000000" charset="0"/>
              <a:buChar char=""/>
            </a:pPr>
            <a:r>
              <a:rPr lang="en-US" altLang="x-none" dirty="0">
                <a:solidFill>
                  <a:schemeClr val="tx1"/>
                </a:solidFill>
                <a:ea typeface="宋体" panose="02010600030101010101" pitchFamily="2" charset="-122"/>
              </a:rPr>
              <a:t>When this is the case, we also say that the FD X</a:t>
            </a:r>
            <a:r>
              <a:rPr lang="en-US" altLang="x-none" dirty="0">
                <a:solidFill>
                  <a:schemeClr val="tx1"/>
                </a:solidFill>
                <a:ea typeface="宋体" panose="02010600030101010101" pitchFamily="2" charset="-122"/>
                <a:sym typeface="Symbol" panose="05050102010706020507" pitchFamily="2" charset="2"/>
              </a:rPr>
              <a:t></a:t>
            </a:r>
            <a:r>
              <a:rPr lang="en-US" altLang="x-none" dirty="0">
                <a:solidFill>
                  <a:schemeClr val="tx1"/>
                </a:solidFill>
                <a:ea typeface="宋体" panose="02010600030101010101" pitchFamily="2" charset="-122"/>
              </a:rPr>
              <a:t>Y is </a:t>
            </a:r>
            <a:r>
              <a:rPr lang="en-US" altLang="x-none" i="1" dirty="0">
                <a:solidFill>
                  <a:srgbClr val="FF0000"/>
                </a:solidFill>
                <a:ea typeface="宋体" panose="02010600030101010101" pitchFamily="2" charset="-122"/>
              </a:rPr>
              <a:t>preserved</a:t>
            </a:r>
            <a:r>
              <a:rPr lang="en-US" altLang="x-none" dirty="0">
                <a:solidFill>
                  <a:schemeClr val="tx1"/>
                </a:solidFill>
                <a:ea typeface="宋体" panose="02010600030101010101" pitchFamily="2" charset="-122"/>
              </a:rPr>
              <a:t> in T</a:t>
            </a:r>
            <a:r>
              <a:rPr lang="en-US" altLang="x-none" baseline="-25000" dirty="0">
                <a:solidFill>
                  <a:schemeClr val="tx1"/>
                </a:solidFill>
                <a:ea typeface="宋体" panose="02010600030101010101" pitchFamily="2" charset="-122"/>
              </a:rPr>
              <a:t>i</a:t>
            </a:r>
            <a:r>
              <a:rPr lang="en-US" altLang="x-none" dirty="0">
                <a:solidFill>
                  <a:schemeClr val="tx1"/>
                </a:solidFill>
                <a:ea typeface="宋体" panose="02010600030101010101" pitchFamily="2" charset="-122"/>
              </a:rPr>
              <a:t> or that it lies in T</a:t>
            </a:r>
            <a:r>
              <a:rPr lang="en-US" altLang="x-none" baseline="-25000" dirty="0">
                <a:solidFill>
                  <a:schemeClr val="tx1"/>
                </a:solidFill>
                <a:ea typeface="宋体" panose="02010600030101010101" pitchFamily="2" charset="-122"/>
              </a:rPr>
              <a:t>i</a:t>
            </a:r>
            <a:r>
              <a:rPr lang="en-US" altLang="x-none" dirty="0">
                <a:solidFill>
                  <a:schemeClr val="tx1"/>
                </a:solidFill>
                <a:ea typeface="宋体" panose="02010600030101010101" pitchFamily="2" charset="-122"/>
              </a:rPr>
              <a:t> or is in T</a:t>
            </a:r>
            <a:r>
              <a:rPr lang="en-US" altLang="x-none" baseline="-25000" dirty="0">
                <a:solidFill>
                  <a:schemeClr val="tx1"/>
                </a:solidFill>
                <a:ea typeface="宋体" panose="02010600030101010101" pitchFamily="2" charset="-122"/>
              </a:rPr>
              <a:t>i</a:t>
            </a:r>
            <a:r>
              <a:rPr lang="en-US" altLang="x-none" dirty="0">
                <a:solidFill>
                  <a:schemeClr val="tx1"/>
                </a:solidFill>
                <a:ea typeface="宋体" panose="02010600030101010101" pitchFamily="2" charset="-122"/>
              </a:rPr>
              <a:t>.</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69986"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69987"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101</a:t>
            </a:fld>
            <a:endParaRPr lang="zh-CN" altLang="en-US" sz="1200" b="1" i="1" dirty="0">
              <a:latin typeface="Times New Roman" panose="02020603050405020304" pitchFamily="2" charset="0"/>
              <a:ea typeface="宋体" panose="02010600030101010101" pitchFamily="2" charset="-122"/>
            </a:endParaRPr>
          </a:p>
        </p:txBody>
      </p:sp>
      <p:sp>
        <p:nvSpPr>
          <p:cNvPr id="169988"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6.8  </a:t>
            </a:r>
            <a:r>
              <a:rPr lang="en-US" altLang="x-none" dirty="0">
                <a:ea typeface="宋体" panose="02010600030101010101" pitchFamily="2" charset="-122"/>
              </a:rPr>
              <a:t>Normal Forms</a:t>
            </a:r>
            <a:endParaRPr lang="zh-CN" altLang="en-US" dirty="0">
              <a:ea typeface="宋体" panose="02010600030101010101" pitchFamily="2" charset="-122"/>
            </a:endParaRPr>
          </a:p>
        </p:txBody>
      </p:sp>
      <p:sp>
        <p:nvSpPr>
          <p:cNvPr id="169989" name="Rectangle 3"/>
          <p:cNvSpPr>
            <a:spLocks noGrp="1"/>
          </p:cNvSpPr>
          <p:nvPr>
            <p:ph type="body"/>
          </p:nvPr>
        </p:nvSpPr>
        <p:spPr>
          <a:xfrm>
            <a:off x="216535" y="838200"/>
            <a:ext cx="8678545" cy="5638800"/>
          </a:xfrm>
        </p:spPr>
        <p:txBody>
          <a:bodyPr wrap="square" anchor="t"/>
          <a:lstStyle/>
          <a:p>
            <a:pPr lvl="0" eaLnBrk="1" hangingPunct="1">
              <a:lnSpc>
                <a:spcPct val="110000"/>
              </a:lnSpc>
              <a:spcBef>
                <a:spcPts val="20"/>
              </a:spcBef>
              <a:spcAft>
                <a:spcPts val="0"/>
              </a:spcAft>
            </a:pPr>
            <a:r>
              <a:rPr lang="en-US" altLang="x-none" dirty="0">
                <a:ea typeface="宋体" panose="02010600030101010101" pitchFamily="2" charset="-122"/>
              </a:rPr>
              <a:t>Def. 6.8.3 </a:t>
            </a:r>
            <a:r>
              <a:rPr lang="zh-CN" altLang="en-US" dirty="0">
                <a:solidFill>
                  <a:schemeClr val="accent2"/>
                </a:solidFill>
                <a:ea typeface="宋体" panose="02010600030101010101" pitchFamily="2" charset="-122"/>
              </a:rPr>
              <a:t>依赖保持性</a:t>
            </a:r>
            <a:endParaRPr lang="zh-CN" altLang="en-US" dirty="0">
              <a:ea typeface="宋体" panose="02010600030101010101" pitchFamily="2" charset="-122"/>
            </a:endParaRPr>
          </a:p>
          <a:p>
            <a:pPr lvl="1" indent="-285750" eaLnBrk="1" hangingPunct="1">
              <a:lnSpc>
                <a:spcPct val="110000"/>
              </a:lnSpc>
              <a:spcBef>
                <a:spcPts val="20"/>
              </a:spcBef>
              <a:spcAft>
                <a:spcPts val="0"/>
              </a:spcAft>
            </a:pPr>
            <a:r>
              <a:rPr lang="zh-CN" altLang="en-US" dirty="0">
                <a:ea typeface="宋体" panose="02010600030101010101" pitchFamily="2" charset="-122"/>
              </a:rPr>
              <a:t>设关系模式</a:t>
            </a:r>
            <a:r>
              <a:rPr lang="en-US" altLang="x-none" dirty="0">
                <a:ea typeface="宋体" panose="02010600030101010101" pitchFamily="2" charset="-122"/>
              </a:rPr>
              <a:t>R</a:t>
            </a:r>
            <a:r>
              <a:rPr lang="zh-CN" altLang="en-US" dirty="0">
                <a:ea typeface="宋体" panose="02010600030101010101" pitchFamily="2" charset="-122"/>
              </a:rPr>
              <a:t>上的函数依赖集为</a:t>
            </a:r>
            <a:r>
              <a:rPr lang="en-US" altLang="x-none" dirty="0">
                <a:ea typeface="宋体" panose="02010600030101010101" pitchFamily="2" charset="-122"/>
              </a:rPr>
              <a:t>F，</a:t>
            </a:r>
            <a:r>
              <a:rPr lang="zh-CN" altLang="en-US" dirty="0">
                <a:ea typeface="宋体" panose="02010600030101010101" pitchFamily="2" charset="-122"/>
              </a:rPr>
              <a:t>将关系模式</a:t>
            </a:r>
            <a:r>
              <a:rPr lang="en-US" altLang="x-none" dirty="0">
                <a:ea typeface="宋体" panose="02010600030101010101" pitchFamily="2" charset="-122"/>
              </a:rPr>
              <a:t>R</a:t>
            </a:r>
            <a:r>
              <a:rPr lang="zh-CN" altLang="en-US" dirty="0">
                <a:ea typeface="宋体" panose="02010600030101010101" pitchFamily="2" charset="-122"/>
              </a:rPr>
              <a:t>分解为</a:t>
            </a:r>
            <a:r>
              <a:rPr lang="en-US" altLang="x-none" dirty="0">
                <a:ea typeface="宋体" panose="02010600030101010101" pitchFamily="2" charset="-122"/>
              </a:rPr>
              <a:t>{T</a:t>
            </a:r>
            <a:r>
              <a:rPr lang="en-US" altLang="x-none" baseline="-25000" dirty="0">
                <a:ea typeface="宋体" panose="02010600030101010101" pitchFamily="2" charset="-122"/>
              </a:rPr>
              <a:t>1</a:t>
            </a:r>
            <a:r>
              <a:rPr lang="en-US" altLang="x-none" dirty="0">
                <a:ea typeface="宋体" panose="02010600030101010101" pitchFamily="2" charset="-122"/>
              </a:rPr>
              <a:t>, T</a:t>
            </a:r>
            <a:r>
              <a:rPr lang="en-US" altLang="x-none" baseline="-25000" dirty="0">
                <a:ea typeface="宋体" panose="02010600030101010101" pitchFamily="2" charset="-122"/>
              </a:rPr>
              <a:t>2</a:t>
            </a:r>
            <a:r>
              <a:rPr lang="en-US" altLang="x-none" dirty="0">
                <a:ea typeface="宋体" panose="02010600030101010101" pitchFamily="2" charset="-122"/>
              </a:rPr>
              <a:t>, ......,T</a:t>
            </a:r>
            <a:r>
              <a:rPr lang="en-US" altLang="x-none" baseline="-25000" dirty="0">
                <a:ea typeface="宋体" panose="02010600030101010101" pitchFamily="2" charset="-122"/>
              </a:rPr>
              <a:t>k </a:t>
            </a:r>
            <a:r>
              <a:rPr lang="en-US" altLang="x-none" dirty="0">
                <a:ea typeface="宋体" panose="02010600030101010101" pitchFamily="2" charset="-122"/>
              </a:rPr>
              <a:t>}</a:t>
            </a:r>
            <a:r>
              <a:rPr lang="zh-CN" altLang="en-US" dirty="0">
                <a:ea typeface="宋体" panose="02010600030101010101" pitchFamily="2" charset="-122"/>
              </a:rPr>
              <a:t>这</a:t>
            </a:r>
            <a:r>
              <a:rPr lang="en-US" altLang="x-none" dirty="0">
                <a:ea typeface="宋体" panose="02010600030101010101" pitchFamily="2" charset="-122"/>
              </a:rPr>
              <a:t>k</a:t>
            </a:r>
            <a:r>
              <a:rPr lang="zh-CN" altLang="en-US" dirty="0">
                <a:ea typeface="宋体" panose="02010600030101010101" pitchFamily="2" charset="-122"/>
              </a:rPr>
              <a:t>个子关系模式，从函数依赖集</a:t>
            </a:r>
            <a:r>
              <a:rPr lang="en-US" altLang="x-none" dirty="0">
                <a:ea typeface="宋体" panose="02010600030101010101" pitchFamily="2" charset="-122"/>
              </a:rPr>
              <a:t>F</a:t>
            </a:r>
            <a:r>
              <a:rPr lang="zh-CN" altLang="en-US" dirty="0">
                <a:ea typeface="宋体" panose="02010600030101010101" pitchFamily="2" charset="-122"/>
              </a:rPr>
              <a:t>中可以推导出的在子关系模式</a:t>
            </a:r>
            <a:r>
              <a:rPr lang="en-US" altLang="x-none" dirty="0">
                <a:ea typeface="宋体" panose="02010600030101010101" pitchFamily="2" charset="-122"/>
              </a:rPr>
              <a:t>T</a:t>
            </a:r>
            <a:r>
              <a:rPr lang="en-US" altLang="x-none" baseline="-25000" dirty="0">
                <a:ea typeface="宋体" panose="02010600030101010101" pitchFamily="2" charset="-122"/>
              </a:rPr>
              <a:t>i</a:t>
            </a:r>
            <a:r>
              <a:rPr lang="zh-CN" altLang="en-US" dirty="0">
                <a:ea typeface="宋体" panose="02010600030101010101" pitchFamily="2" charset="-122"/>
              </a:rPr>
              <a:t>上所存在的函数依赖集为</a:t>
            </a:r>
            <a:r>
              <a:rPr lang="en-US" altLang="x-none" dirty="0">
                <a:ea typeface="宋体" panose="02010600030101010101" pitchFamily="2" charset="-122"/>
              </a:rPr>
              <a:t>F</a:t>
            </a:r>
            <a:r>
              <a:rPr lang="en-US" altLang="x-none" baseline="-25000" dirty="0">
                <a:ea typeface="宋体" panose="02010600030101010101" pitchFamily="2" charset="-122"/>
              </a:rPr>
              <a:t>i </a:t>
            </a:r>
            <a:r>
              <a:rPr lang="en-US" altLang="x-none" dirty="0">
                <a:ea typeface="宋体" panose="02010600030101010101" pitchFamily="2" charset="-122"/>
              </a:rPr>
              <a:t>(i=1,2,…,k)</a:t>
            </a:r>
          </a:p>
          <a:p>
            <a:pPr marL="1314450" lvl="3" indent="0" eaLnBrk="1" hangingPunct="1">
              <a:lnSpc>
                <a:spcPct val="110000"/>
              </a:lnSpc>
              <a:spcBef>
                <a:spcPts val="20"/>
              </a:spcBef>
              <a:spcAft>
                <a:spcPts val="0"/>
              </a:spcAft>
              <a:buNone/>
            </a:pPr>
            <a:r>
              <a:rPr lang="en-US" altLang="x-none" dirty="0">
                <a:solidFill>
                  <a:schemeClr val="accent6"/>
                </a:solidFill>
                <a:latin typeface="Arial" panose="020B0604020202020204" pitchFamily="34" charset="0"/>
                <a:ea typeface="宋体" panose="02010600030101010101" pitchFamily="2" charset="-122"/>
              </a:rPr>
              <a:t>F</a:t>
            </a:r>
            <a:r>
              <a:rPr lang="en-US" altLang="x-none" baseline="-25000" dirty="0">
                <a:solidFill>
                  <a:schemeClr val="accent6"/>
                </a:solidFill>
                <a:latin typeface="Arial" panose="020B0604020202020204" pitchFamily="34" charset="0"/>
                <a:ea typeface="宋体" panose="02010600030101010101" pitchFamily="2" charset="-122"/>
              </a:rPr>
              <a:t>i</a:t>
            </a:r>
            <a:r>
              <a:rPr lang="en-US" altLang="x-none" dirty="0">
                <a:solidFill>
                  <a:schemeClr val="accent6"/>
                </a:solidFill>
                <a:latin typeface="Arial" panose="020B0604020202020204" pitchFamily="34" charset="0"/>
                <a:ea typeface="宋体" panose="02010600030101010101" pitchFamily="2" charset="-122"/>
              </a:rPr>
              <a:t> = { X→Y | F</a:t>
            </a:r>
            <a:r>
              <a:rPr lang="en-US" altLang="x-none" dirty="0">
                <a:solidFill>
                  <a:schemeClr val="accent6"/>
                </a:solidFill>
                <a:latin typeface="Arial" panose="020B0604020202020204" pitchFamily="34" charset="0"/>
                <a:ea typeface="微软雅黑" panose="020B0503020204020204" charset="-122"/>
              </a:rPr>
              <a:t>╞ X</a:t>
            </a:r>
            <a:r>
              <a:rPr lang="en-US" altLang="x-none" dirty="0">
                <a:solidFill>
                  <a:schemeClr val="accent6"/>
                </a:solidFill>
                <a:latin typeface="Arial" panose="020B0604020202020204" pitchFamily="34" charset="0"/>
                <a:ea typeface="宋体" panose="02010600030101010101" pitchFamily="2" charset="-122"/>
              </a:rPr>
              <a:t>→Y, X</a:t>
            </a:r>
            <a:r>
              <a:rPr lang="en-US" altLang="x-none" dirty="0">
                <a:solidFill>
                  <a:schemeClr val="accent6"/>
                </a:solidFill>
                <a:latin typeface="微软雅黑" panose="020B0503020204020204" charset="-122"/>
                <a:ea typeface="微软雅黑" panose="020B0503020204020204" charset="-122"/>
                <a:sym typeface="Symbol" panose="05050102010706020507" charset="0"/>
              </a:rPr>
              <a:t>∪</a:t>
            </a:r>
            <a:r>
              <a:rPr lang="en-US" altLang="x-none" dirty="0">
                <a:solidFill>
                  <a:schemeClr val="accent6"/>
                </a:solidFill>
                <a:latin typeface="Arial" panose="020B0604020202020204" pitchFamily="34" charset="0"/>
                <a:ea typeface="宋体" panose="02010600030101010101" pitchFamily="2" charset="-122"/>
                <a:sym typeface="Symbol" panose="05050102010706020507" charset="0"/>
              </a:rPr>
              <a:t>Y  Head(T</a:t>
            </a:r>
            <a:r>
              <a:rPr lang="en-US" altLang="x-none" baseline="-25000" dirty="0">
                <a:solidFill>
                  <a:schemeClr val="accent6"/>
                </a:solidFill>
                <a:latin typeface="Arial" panose="020B0604020202020204" pitchFamily="34" charset="0"/>
                <a:ea typeface="宋体" panose="02010600030101010101" pitchFamily="2" charset="-122"/>
                <a:sym typeface="Symbol" panose="05050102010706020507" charset="0"/>
              </a:rPr>
              <a:t>i</a:t>
            </a:r>
            <a:r>
              <a:rPr lang="en-US" altLang="x-none" dirty="0">
                <a:solidFill>
                  <a:schemeClr val="accent6"/>
                </a:solidFill>
                <a:latin typeface="Arial" panose="020B0604020202020204" pitchFamily="34" charset="0"/>
                <a:ea typeface="宋体" panose="02010600030101010101" pitchFamily="2" charset="-122"/>
                <a:sym typeface="Symbol" panose="05050102010706020507" charset="0"/>
              </a:rPr>
              <a:t>) </a:t>
            </a:r>
            <a:r>
              <a:rPr lang="en-US" altLang="x-none" dirty="0">
                <a:solidFill>
                  <a:schemeClr val="accent6"/>
                </a:solidFill>
                <a:latin typeface="Arial" panose="020B0604020202020204" pitchFamily="34" charset="0"/>
                <a:ea typeface="宋体" panose="02010600030101010101" pitchFamily="2" charset="-122"/>
              </a:rPr>
              <a:t>}</a:t>
            </a:r>
          </a:p>
          <a:p>
            <a:pPr lvl="1" indent="-285750" eaLnBrk="1" hangingPunct="1">
              <a:lnSpc>
                <a:spcPct val="110000"/>
              </a:lnSpc>
              <a:spcBef>
                <a:spcPts val="20"/>
              </a:spcBef>
              <a:spcAft>
                <a:spcPts val="0"/>
              </a:spcAft>
            </a:pPr>
            <a:endParaRPr lang="en-US" altLang="x-none" sz="1400" dirty="0">
              <a:solidFill>
                <a:schemeClr val="accent6"/>
              </a:solidFill>
              <a:latin typeface="Arial" panose="020B0604020202020204" pitchFamily="34" charset="0"/>
              <a:ea typeface="宋体" panose="02010600030101010101" pitchFamily="2" charset="-122"/>
            </a:endParaRPr>
          </a:p>
          <a:p>
            <a:pPr lvl="1" indent="-285750" eaLnBrk="1" hangingPunct="1">
              <a:lnSpc>
                <a:spcPct val="110000"/>
              </a:lnSpc>
              <a:spcBef>
                <a:spcPts val="20"/>
              </a:spcBef>
              <a:spcAft>
                <a:spcPts val="0"/>
              </a:spcAft>
            </a:pPr>
            <a:r>
              <a:rPr lang="zh-CN" altLang="en-US" dirty="0">
                <a:ea typeface="宋体" panose="02010600030101010101" pitchFamily="2" charset="-122"/>
              </a:rPr>
              <a:t>如果函数依赖集</a:t>
            </a:r>
            <a:r>
              <a:rPr lang="en-US" altLang="x-none" dirty="0">
                <a:ea typeface="宋体" panose="02010600030101010101" pitchFamily="2" charset="-122"/>
              </a:rPr>
              <a:t>F</a:t>
            </a:r>
            <a:r>
              <a:rPr lang="zh-CN" altLang="en-US" dirty="0">
                <a:ea typeface="宋体" panose="02010600030101010101" pitchFamily="2" charset="-122"/>
              </a:rPr>
              <a:t>和（</a:t>
            </a:r>
            <a:r>
              <a:rPr lang="en-US" altLang="x-none" dirty="0">
                <a:ea typeface="宋体" panose="02010600030101010101" pitchFamily="2" charset="-122"/>
              </a:rPr>
              <a:t>F</a:t>
            </a:r>
            <a:r>
              <a:rPr lang="en-US" altLang="x-none" baseline="-25000" dirty="0">
                <a:ea typeface="宋体" panose="02010600030101010101" pitchFamily="2" charset="-122"/>
              </a:rPr>
              <a:t>1</a:t>
            </a:r>
            <a:r>
              <a:rPr lang="en-US" altLang="x-none" dirty="0">
                <a:ea typeface="宋体" panose="02010600030101010101" pitchFamily="2" charset="-122"/>
                <a:sym typeface="Symbol" panose="05050102010706020507" pitchFamily="2" charset="2"/>
              </a:rPr>
              <a:t></a:t>
            </a:r>
            <a:r>
              <a:rPr lang="en-US" altLang="x-none" dirty="0">
                <a:ea typeface="宋体" panose="02010600030101010101" pitchFamily="2" charset="-122"/>
              </a:rPr>
              <a:t>F</a:t>
            </a:r>
            <a:r>
              <a:rPr lang="en-US" altLang="x-none" baseline="-25000" dirty="0">
                <a:ea typeface="宋体" panose="02010600030101010101" pitchFamily="2" charset="-122"/>
              </a:rPr>
              <a:t>2</a:t>
            </a:r>
            <a:r>
              <a:rPr lang="en-US" altLang="x-none" dirty="0">
                <a:ea typeface="宋体" panose="02010600030101010101" pitchFamily="2" charset="-122"/>
                <a:sym typeface="Symbol" panose="05050102010706020507" pitchFamily="2" charset="2"/>
              </a:rPr>
              <a:t></a:t>
            </a:r>
            <a:r>
              <a:rPr lang="en-US" altLang="x-none" dirty="0">
                <a:ea typeface="宋体" panose="02010600030101010101" pitchFamily="2" charset="-122"/>
              </a:rPr>
              <a:t>…</a:t>
            </a:r>
            <a:r>
              <a:rPr lang="en-US" altLang="x-none" dirty="0">
                <a:ea typeface="宋体" panose="02010600030101010101" pitchFamily="2" charset="-122"/>
                <a:sym typeface="Symbol" panose="05050102010706020507" pitchFamily="2" charset="2"/>
              </a:rPr>
              <a:t></a:t>
            </a:r>
            <a:r>
              <a:rPr lang="en-US" altLang="x-none" dirty="0">
                <a:ea typeface="宋体" panose="02010600030101010101" pitchFamily="2" charset="-122"/>
              </a:rPr>
              <a:t>F</a:t>
            </a:r>
            <a:r>
              <a:rPr lang="en-US" altLang="x-none" baseline="-25000" dirty="0">
                <a:ea typeface="宋体" panose="02010600030101010101" pitchFamily="2" charset="-122"/>
              </a:rPr>
              <a:t>k</a:t>
            </a:r>
            <a:r>
              <a:rPr lang="en-US" altLang="x-none" dirty="0">
                <a:ea typeface="宋体" panose="02010600030101010101" pitchFamily="2" charset="-122"/>
              </a:rPr>
              <a:t>）</a:t>
            </a:r>
            <a:r>
              <a:rPr lang="zh-CN" altLang="en-US" dirty="0">
                <a:ea typeface="宋体" panose="02010600030101010101" pitchFamily="2" charset="-122"/>
              </a:rPr>
              <a:t>是相互等价的，即</a:t>
            </a:r>
            <a:r>
              <a:rPr lang="en-US" altLang="x-none" dirty="0">
                <a:ea typeface="宋体" panose="02010600030101010101" pitchFamily="2" charset="-122"/>
              </a:rPr>
              <a:t>F</a:t>
            </a:r>
            <a:r>
              <a:rPr lang="en-US" altLang="x-none" baseline="30000" dirty="0">
                <a:ea typeface="宋体" panose="02010600030101010101" pitchFamily="2" charset="-122"/>
              </a:rPr>
              <a:t>+</a:t>
            </a:r>
            <a:r>
              <a:rPr lang="en-US" altLang="x-none" dirty="0">
                <a:ea typeface="宋体" panose="02010600030101010101" pitchFamily="2" charset="-122"/>
              </a:rPr>
              <a:t> = (F</a:t>
            </a:r>
            <a:r>
              <a:rPr lang="en-US" altLang="x-none" baseline="-25000" dirty="0">
                <a:ea typeface="宋体" panose="02010600030101010101" pitchFamily="2" charset="-122"/>
              </a:rPr>
              <a:t>1</a:t>
            </a:r>
            <a:r>
              <a:rPr lang="en-US" altLang="x-none" dirty="0">
                <a:ea typeface="宋体" panose="02010600030101010101" pitchFamily="2" charset="-122"/>
                <a:sym typeface="Symbol" panose="05050102010706020507" pitchFamily="2" charset="2"/>
              </a:rPr>
              <a:t></a:t>
            </a:r>
            <a:r>
              <a:rPr lang="en-US" altLang="x-none" dirty="0">
                <a:ea typeface="宋体" panose="02010600030101010101" pitchFamily="2" charset="-122"/>
              </a:rPr>
              <a:t>F</a:t>
            </a:r>
            <a:r>
              <a:rPr lang="en-US" altLang="x-none" baseline="-25000" dirty="0">
                <a:ea typeface="宋体" panose="02010600030101010101" pitchFamily="2" charset="-122"/>
              </a:rPr>
              <a:t>2</a:t>
            </a:r>
            <a:r>
              <a:rPr lang="en-US" altLang="x-none" dirty="0">
                <a:ea typeface="宋体" panose="02010600030101010101" pitchFamily="2" charset="-122"/>
                <a:sym typeface="Symbol" panose="05050102010706020507" pitchFamily="2" charset="2"/>
              </a:rPr>
              <a:t></a:t>
            </a:r>
            <a:r>
              <a:rPr lang="en-US" altLang="x-none" dirty="0">
                <a:ea typeface="宋体" panose="02010600030101010101" pitchFamily="2" charset="-122"/>
              </a:rPr>
              <a:t>…</a:t>
            </a:r>
            <a:r>
              <a:rPr lang="en-US" altLang="x-none" dirty="0">
                <a:ea typeface="宋体" panose="02010600030101010101" pitchFamily="2" charset="-122"/>
                <a:sym typeface="Symbol" panose="05050102010706020507" pitchFamily="2" charset="2"/>
              </a:rPr>
              <a:t></a:t>
            </a:r>
            <a:r>
              <a:rPr lang="en-US" altLang="x-none" dirty="0">
                <a:ea typeface="宋体" panose="02010600030101010101" pitchFamily="2" charset="-122"/>
              </a:rPr>
              <a:t>F</a:t>
            </a:r>
            <a:r>
              <a:rPr lang="en-US" altLang="x-none" baseline="-25000" dirty="0">
                <a:ea typeface="宋体" panose="02010600030101010101" pitchFamily="2" charset="-122"/>
              </a:rPr>
              <a:t>k</a:t>
            </a:r>
            <a:r>
              <a:rPr lang="en-US" altLang="x-none" dirty="0">
                <a:ea typeface="宋体" panose="02010600030101010101" pitchFamily="2" charset="-122"/>
              </a:rPr>
              <a:t>)</a:t>
            </a:r>
            <a:r>
              <a:rPr lang="en-US" altLang="x-none" baseline="30000" dirty="0">
                <a:ea typeface="宋体" panose="02010600030101010101" pitchFamily="2" charset="-122"/>
              </a:rPr>
              <a:t>+</a:t>
            </a:r>
            <a:r>
              <a:rPr lang="en-US" altLang="x-none" dirty="0">
                <a:ea typeface="宋体" panose="02010600030101010101" pitchFamily="2" charset="-122"/>
              </a:rPr>
              <a:t>，</a:t>
            </a:r>
            <a:r>
              <a:rPr lang="zh-CN" altLang="en-US" dirty="0">
                <a:ea typeface="宋体" panose="02010600030101010101" pitchFamily="2" charset="-122"/>
              </a:rPr>
              <a:t>则我们称该分解是具有依赖保持性的</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71010"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71011"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102</a:t>
            </a:fld>
            <a:endParaRPr lang="zh-CN" altLang="en-US" sz="1200" b="1" i="1" dirty="0">
              <a:latin typeface="Times New Roman" panose="02020603050405020304" pitchFamily="2" charset="0"/>
              <a:ea typeface="宋体" panose="02010600030101010101" pitchFamily="2" charset="-122"/>
            </a:endParaRPr>
          </a:p>
        </p:txBody>
      </p:sp>
      <p:sp>
        <p:nvSpPr>
          <p:cNvPr id="171012" name="Rectangle 2"/>
          <p:cNvSpPr>
            <a:spLocks noGrp="1"/>
          </p:cNvSpPr>
          <p:nvPr>
            <p:ph type="title"/>
          </p:nvPr>
        </p:nvSpPr>
        <p:spPr/>
        <p:txBody>
          <a:bodyPr wrap="square" anchor="ctr"/>
          <a:lstStyle/>
          <a:p>
            <a:pPr lvl="0" eaLnBrk="1" hangingPunct="1"/>
            <a:r>
              <a:rPr lang="en-US" altLang="x-none" dirty="0">
                <a:ea typeface="宋体" panose="02010600030101010101" pitchFamily="2" charset="-122"/>
              </a:rPr>
              <a:t>Content of next</a:t>
            </a:r>
            <a:endParaRPr lang="zh-CN" altLang="en-US" dirty="0">
              <a:ea typeface="宋体" panose="02010600030101010101" pitchFamily="2" charset="-122"/>
            </a:endParaRPr>
          </a:p>
        </p:txBody>
      </p:sp>
      <p:sp>
        <p:nvSpPr>
          <p:cNvPr id="171013" name="Rectangle 3"/>
          <p:cNvSpPr>
            <a:spLocks noGrp="1"/>
          </p:cNvSpPr>
          <p:nvPr>
            <p:ph type="body"/>
          </p:nvPr>
        </p:nvSpPr>
        <p:spPr/>
        <p:txBody>
          <a:bodyPr wrap="square" anchor="t"/>
          <a:lstStyle/>
          <a:p>
            <a:pPr lvl="0" eaLnBrk="1" hangingPunct="1"/>
            <a:r>
              <a:rPr lang="en-US" altLang="x-none" sz="3200" dirty="0">
                <a:ea typeface="宋体" panose="02010600030101010101" pitchFamily="2" charset="-122"/>
              </a:rPr>
              <a:t>Superkey &amp; Key</a:t>
            </a:r>
          </a:p>
          <a:p>
            <a:pPr lvl="1" indent="-285750" eaLnBrk="1" hangingPunct="1"/>
            <a:r>
              <a:rPr lang="en-US" altLang="x-none" sz="3200" dirty="0">
                <a:ea typeface="宋体" panose="02010600030101010101" pitchFamily="2" charset="-122"/>
              </a:rPr>
              <a:t>Algorithm to Find Candidate Key</a:t>
            </a:r>
          </a:p>
          <a:p>
            <a:pPr lvl="1" indent="-285750" eaLnBrk="1" hangingPunct="1"/>
            <a:r>
              <a:rPr lang="en-US" altLang="x-none" sz="3200" dirty="0">
                <a:ea typeface="宋体" panose="02010600030101010101" pitchFamily="2" charset="-122"/>
              </a:rPr>
              <a:t>PRIME ATTRIBUTE (</a:t>
            </a:r>
            <a:r>
              <a:rPr lang="zh-CN" altLang="en-US" sz="3200" dirty="0">
                <a:ea typeface="宋体" panose="02010600030101010101" pitchFamily="2" charset="-122"/>
              </a:rPr>
              <a:t>主属性</a:t>
            </a:r>
            <a:r>
              <a:rPr lang="en-US" altLang="x-none" sz="3200" dirty="0">
                <a:ea typeface="宋体" panose="02010600030101010101" pitchFamily="2" charset="-122"/>
              </a:rPr>
              <a:t>)</a:t>
            </a:r>
          </a:p>
          <a:p>
            <a:pPr lvl="1" indent="-285750" eaLnBrk="1" hangingPunct="1"/>
            <a:r>
              <a:rPr lang="en-US" altLang="x-none" sz="3200" dirty="0">
                <a:ea typeface="宋体" panose="02010600030101010101" pitchFamily="2" charset="-122"/>
              </a:rPr>
              <a:t>NON-PRIME ATTRIBUTE (</a:t>
            </a:r>
            <a:r>
              <a:rPr lang="zh-CN" altLang="en-US" sz="3200" dirty="0">
                <a:ea typeface="宋体" panose="02010600030101010101" pitchFamily="2" charset="-122"/>
              </a:rPr>
              <a:t>非主属性</a:t>
            </a:r>
            <a:r>
              <a:rPr lang="en-US" altLang="x-none" sz="3200" dirty="0">
                <a:ea typeface="宋体" panose="02010600030101010101" pitchFamily="2" charset="-122"/>
              </a:rPr>
              <a:t>)</a:t>
            </a:r>
          </a:p>
          <a:p>
            <a:pPr lvl="1" indent="-285750" eaLnBrk="1" hangingPunct="1"/>
            <a:endParaRPr lang="zh-CN" altLang="en-US" sz="3200" dirty="0">
              <a:solidFill>
                <a:schemeClr val="tx1"/>
              </a:solidFill>
              <a:ea typeface="宋体" panose="02010600030101010101" pitchFamily="2" charset="-122"/>
            </a:endParaRPr>
          </a:p>
          <a:p>
            <a:pPr lvl="0" eaLnBrk="1" hangingPunct="1"/>
            <a:r>
              <a:rPr lang="en-US" altLang="x-none" sz="3200" dirty="0">
                <a:ea typeface="宋体" panose="02010600030101010101" pitchFamily="2" charset="-122"/>
              </a:rPr>
              <a:t>Normal Forms:</a:t>
            </a:r>
          </a:p>
          <a:p>
            <a:pPr lvl="1" indent="-285750" eaLnBrk="1" hangingPunct="1"/>
            <a:r>
              <a:rPr lang="en-US" altLang="x-none" sz="3200" dirty="0">
                <a:ea typeface="宋体" panose="02010600030101010101" pitchFamily="2" charset="-122"/>
              </a:rPr>
              <a:t>2NF, 3NF, BCNF</a:t>
            </a:r>
          </a:p>
          <a:p>
            <a:pPr lvl="1" indent="-285750" eaLnBrk="1" hangingPunct="1"/>
            <a:endParaRPr lang="en-US" altLang="x-none" sz="3200" dirty="0">
              <a:ea typeface="宋体" panose="02010600030101010101" pitchFamily="2" charset="-122"/>
            </a:endParaRPr>
          </a:p>
          <a:p>
            <a:pPr lvl="0" eaLnBrk="1" hangingPunct="1"/>
            <a:r>
              <a:rPr lang="en-US" altLang="x-none" sz="3200" dirty="0">
                <a:ea typeface="宋体" panose="02010600030101010101" pitchFamily="2" charset="-122"/>
              </a:rPr>
              <a:t>Algorithm 6.8.8</a:t>
            </a:r>
            <a:endParaRPr lang="zh-CN" altLang="en-US" sz="3200" dirty="0">
              <a:ea typeface="宋体" panose="02010600030101010101" pitchFamily="2" charset="-122"/>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72034"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72035"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103</a:t>
            </a:fld>
            <a:endParaRPr lang="zh-CN" altLang="en-US" sz="1200" b="1" i="1" dirty="0">
              <a:latin typeface="Times New Roman" panose="02020603050405020304" pitchFamily="2" charset="0"/>
              <a:ea typeface="宋体" panose="02010600030101010101" pitchFamily="2" charset="-122"/>
            </a:endParaRPr>
          </a:p>
        </p:txBody>
      </p:sp>
      <p:sp>
        <p:nvSpPr>
          <p:cNvPr id="172036"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6.8  </a:t>
            </a:r>
            <a:r>
              <a:rPr lang="en-US" altLang="x-none" dirty="0">
                <a:ea typeface="宋体" panose="02010600030101010101" pitchFamily="2" charset="-122"/>
              </a:rPr>
              <a:t>Normal Forms</a:t>
            </a:r>
          </a:p>
        </p:txBody>
      </p:sp>
      <p:sp>
        <p:nvSpPr>
          <p:cNvPr id="172037" name="Rectangle 3"/>
          <p:cNvSpPr>
            <a:spLocks noGrp="1"/>
          </p:cNvSpPr>
          <p:nvPr>
            <p:ph type="body"/>
          </p:nvPr>
        </p:nvSpPr>
        <p:spPr>
          <a:xfrm>
            <a:off x="107950" y="839788"/>
            <a:ext cx="9036050" cy="1222375"/>
          </a:xfrm>
        </p:spPr>
        <p:txBody>
          <a:bodyPr wrap="square" anchor="t"/>
          <a:lstStyle/>
          <a:p>
            <a:pPr lvl="0" eaLnBrk="1" hangingPunct="1">
              <a:lnSpc>
                <a:spcPct val="110000"/>
              </a:lnSpc>
            </a:pPr>
            <a:r>
              <a:rPr lang="en-US" altLang="x-none" sz="3200" dirty="0">
                <a:ea typeface="宋体" panose="02010600030101010101" pitchFamily="2" charset="-122"/>
              </a:rPr>
              <a:t>Theorem 6.7.3. </a:t>
            </a:r>
            <a:r>
              <a:rPr lang="en-US" altLang="x-none" sz="3200" dirty="0">
                <a:solidFill>
                  <a:schemeClr val="tx1"/>
                </a:solidFill>
                <a:ea typeface="宋体" panose="02010600030101010101" pitchFamily="2" charset="-122"/>
              </a:rPr>
              <a:t>Given a table T with a set of FDs F and a set of attributes X in Head(T)</a:t>
            </a:r>
          </a:p>
        </p:txBody>
      </p:sp>
      <p:sp>
        <p:nvSpPr>
          <p:cNvPr id="172039" name="Rectangle 6"/>
          <p:cNvSpPr/>
          <p:nvPr/>
        </p:nvSpPr>
        <p:spPr>
          <a:xfrm>
            <a:off x="457200" y="2133600"/>
            <a:ext cx="8686800" cy="2819400"/>
          </a:xfrm>
          <a:prstGeom prst="rect">
            <a:avLst/>
          </a:prstGeom>
          <a:noFill/>
          <a:ln w="9525">
            <a:noFill/>
          </a:ln>
        </p:spPr>
        <p:txBody>
          <a:bodyPr anchor="t"/>
          <a:lstStyle/>
          <a:p>
            <a:pPr marL="342900" lvl="0" indent="-342900">
              <a:lnSpc>
                <a:spcPct val="150000"/>
              </a:lnSpc>
              <a:spcBef>
                <a:spcPct val="20000"/>
              </a:spcBef>
              <a:buClr>
                <a:schemeClr val="accent1"/>
              </a:buClr>
            </a:pPr>
            <a:r>
              <a:rPr lang="en-US" altLang="x-none" sz="3000" b="1" dirty="0">
                <a:solidFill>
                  <a:schemeClr val="accent2"/>
                </a:solidFill>
                <a:latin typeface="Arial" panose="020B0604020202020204" pitchFamily="34" charset="0"/>
                <a:ea typeface="宋体" panose="02010600030101010101" pitchFamily="2" charset="-122"/>
              </a:rPr>
              <a:t>X is a superkey of T  </a:t>
            </a:r>
            <a:r>
              <a:rPr lang="zh-CN" altLang="en-US" sz="3000" b="1" dirty="0">
                <a:solidFill>
                  <a:schemeClr val="accent2"/>
                </a:solidFill>
                <a:latin typeface="Arial" panose="020B0604020202020204" pitchFamily="34" charset="0"/>
                <a:ea typeface="宋体" panose="02010600030101010101" pitchFamily="2" charset="-122"/>
              </a:rPr>
              <a:t> </a:t>
            </a:r>
            <a:r>
              <a:rPr lang="en-US" altLang="x-none" sz="3000" b="1" dirty="0">
                <a:solidFill>
                  <a:srgbClr val="FF0066"/>
                </a:solidFill>
                <a:latin typeface="Arial" panose="020B0604020202020204" pitchFamily="34" charset="0"/>
                <a:ea typeface="宋体" panose="02010600030101010101" pitchFamily="2" charset="-122"/>
              </a:rPr>
              <a:t>iff</a:t>
            </a:r>
            <a:r>
              <a:rPr lang="zh-CN" altLang="en-US" sz="3000" b="1" dirty="0">
                <a:solidFill>
                  <a:srgbClr val="FF0066"/>
                </a:solidFill>
                <a:latin typeface="Arial" panose="020B0604020202020204" pitchFamily="34" charset="0"/>
                <a:ea typeface="宋体" panose="02010600030101010101" pitchFamily="2" charset="-122"/>
              </a:rPr>
              <a:t>  </a:t>
            </a:r>
          </a:p>
          <a:p>
            <a:pPr marL="1143000" lvl="2" indent="-533400">
              <a:lnSpc>
                <a:spcPct val="150000"/>
              </a:lnSpc>
              <a:spcBef>
                <a:spcPct val="20000"/>
              </a:spcBef>
              <a:buClr>
                <a:schemeClr val="accent1"/>
              </a:buClr>
            </a:pPr>
            <a:r>
              <a:rPr lang="en-US" altLang="x-none" sz="3000" b="1" dirty="0">
                <a:solidFill>
                  <a:schemeClr val="accent2"/>
                </a:solidFill>
                <a:latin typeface="Arial" panose="020B0604020202020204" pitchFamily="34" charset="0"/>
                <a:ea typeface="宋体" panose="02010600030101010101" pitchFamily="2" charset="-122"/>
              </a:rPr>
              <a:t>X functionally determines all attributes in T</a:t>
            </a:r>
          </a:p>
          <a:p>
            <a:pPr marL="1143000" lvl="2" indent="-533400">
              <a:lnSpc>
                <a:spcPct val="150000"/>
              </a:lnSpc>
              <a:spcBef>
                <a:spcPct val="20000"/>
              </a:spcBef>
              <a:buClr>
                <a:schemeClr val="accent1"/>
              </a:buClr>
            </a:pPr>
            <a:r>
              <a:rPr lang="zh-CN" altLang="en-US" sz="3000" b="1" dirty="0">
                <a:solidFill>
                  <a:schemeClr val="accent2"/>
                </a:solidFill>
                <a:latin typeface="Arial" panose="020B0604020202020204" pitchFamily="34" charset="0"/>
                <a:ea typeface="宋体" panose="02010600030101010101" pitchFamily="2" charset="-122"/>
              </a:rPr>
              <a:t> (</a:t>
            </a:r>
            <a:r>
              <a:rPr lang="en-US" altLang="x-none" sz="3000" b="1" dirty="0">
                <a:solidFill>
                  <a:schemeClr val="accent2"/>
                </a:solidFill>
                <a:latin typeface="Arial" panose="020B0604020202020204" pitchFamily="34" charset="0"/>
                <a:ea typeface="宋体" panose="02010600030101010101" pitchFamily="2" charset="-122"/>
              </a:rPr>
              <a:t> X</a:t>
            </a:r>
            <a:r>
              <a:rPr lang="en-US" altLang="x-none" sz="3000" b="1"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3000" b="1" dirty="0">
                <a:solidFill>
                  <a:schemeClr val="accent2"/>
                </a:solidFill>
                <a:latin typeface="Arial" panose="020B0604020202020204" pitchFamily="34" charset="0"/>
                <a:ea typeface="宋体" panose="02010600030101010101" pitchFamily="2" charset="-122"/>
              </a:rPr>
              <a:t>Head(T)</a:t>
            </a:r>
            <a:r>
              <a:rPr lang="zh-CN" altLang="en-US" sz="3000" b="1" dirty="0">
                <a:solidFill>
                  <a:schemeClr val="accent2"/>
                </a:solidFill>
                <a:latin typeface="Arial" panose="020B0604020202020204" pitchFamily="34" charset="0"/>
                <a:ea typeface="宋体" panose="02010600030101010101" pitchFamily="2" charset="-122"/>
              </a:rPr>
              <a:t>    or </a:t>
            </a:r>
            <a:r>
              <a:rPr lang="en-US" altLang="x-none" sz="3000" b="1" dirty="0">
                <a:solidFill>
                  <a:schemeClr val="accent2"/>
                </a:solidFill>
                <a:latin typeface="Arial" panose="020B0604020202020204" pitchFamily="34" charset="0"/>
                <a:ea typeface="宋体" panose="02010600030101010101" pitchFamily="2" charset="-122"/>
              </a:rPr>
              <a:t> </a:t>
            </a:r>
            <a:r>
              <a:rPr lang="zh-CN" altLang="en-US" sz="3000" b="1" dirty="0">
                <a:solidFill>
                  <a:schemeClr val="accent2"/>
                </a:solidFill>
                <a:latin typeface="Arial" panose="020B0604020202020204" pitchFamily="34" charset="0"/>
                <a:ea typeface="宋体" panose="02010600030101010101" pitchFamily="2" charset="-122"/>
              </a:rPr>
              <a:t>  </a:t>
            </a:r>
            <a:r>
              <a:rPr lang="en-US" altLang="x-none" sz="3000" b="1" dirty="0">
                <a:solidFill>
                  <a:schemeClr val="accent2"/>
                </a:solidFill>
                <a:latin typeface="Arial" panose="020B0604020202020204" pitchFamily="34" charset="0"/>
                <a:ea typeface="宋体" panose="02010600030101010101" pitchFamily="2" charset="-122"/>
              </a:rPr>
              <a:t>X</a:t>
            </a:r>
            <a:r>
              <a:rPr lang="en-US" altLang="x-none" sz="3000" b="1" baseline="30000" dirty="0">
                <a:solidFill>
                  <a:schemeClr val="accent2"/>
                </a:solidFill>
                <a:latin typeface="Arial" panose="020B0604020202020204" pitchFamily="34" charset="0"/>
                <a:ea typeface="宋体" panose="02010600030101010101" pitchFamily="2" charset="-122"/>
              </a:rPr>
              <a:t>+</a:t>
            </a:r>
            <a:r>
              <a:rPr lang="en-US" altLang="x-none" sz="3000" b="1" baseline="-25000" dirty="0">
                <a:solidFill>
                  <a:schemeClr val="accent2"/>
                </a:solidFill>
                <a:latin typeface="Arial" panose="020B0604020202020204" pitchFamily="34" charset="0"/>
                <a:ea typeface="宋体" panose="02010600030101010101" pitchFamily="2" charset="-122"/>
              </a:rPr>
              <a:t>F</a:t>
            </a:r>
            <a:r>
              <a:rPr lang="en-US" altLang="x-none" sz="3000" b="1" dirty="0">
                <a:solidFill>
                  <a:schemeClr val="accent2"/>
                </a:solidFill>
                <a:latin typeface="Arial" panose="020B0604020202020204" pitchFamily="34" charset="0"/>
                <a:ea typeface="宋体" panose="02010600030101010101" pitchFamily="2" charset="-122"/>
              </a:rPr>
              <a:t> = Head(T)</a:t>
            </a:r>
            <a:r>
              <a:rPr lang="zh-CN" altLang="en-US" sz="3000" b="1" dirty="0">
                <a:solidFill>
                  <a:schemeClr val="accent2"/>
                </a:solidFill>
                <a:latin typeface="Arial" panose="020B0604020202020204" pitchFamily="34" charset="0"/>
                <a:ea typeface="宋体" panose="02010600030101010101" pitchFamily="2" charset="-122"/>
              </a:rPr>
              <a:t> )</a:t>
            </a:r>
            <a:endParaRPr lang="en-US" altLang="x-none" sz="3000" b="1" dirty="0">
              <a:solidFill>
                <a:schemeClr val="accent2"/>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2039">
                                            <p:txEl>
                                              <p:pRg st="0" end="0"/>
                                            </p:txEl>
                                          </p:spTgt>
                                        </p:tgtEl>
                                        <p:attrNameLst>
                                          <p:attrName>style.visibility</p:attrName>
                                        </p:attrNameLst>
                                      </p:cBhvr>
                                      <p:to>
                                        <p:strVal val="visible"/>
                                      </p:to>
                                    </p:set>
                                    <p:animEffect transition="in" filter="blinds(horizontal)">
                                      <p:cBhvr>
                                        <p:cTn id="7" dur="500"/>
                                        <p:tgtEl>
                                          <p:spTgt spid="172039">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72039">
                                            <p:txEl>
                                              <p:pRg st="1" end="1"/>
                                            </p:txEl>
                                          </p:spTgt>
                                        </p:tgtEl>
                                        <p:attrNameLst>
                                          <p:attrName>style.visibility</p:attrName>
                                        </p:attrNameLst>
                                      </p:cBhvr>
                                      <p:to>
                                        <p:strVal val="visible"/>
                                      </p:to>
                                    </p:set>
                                    <p:animEffect transition="in" filter="blinds(horizontal)">
                                      <p:cBhvr>
                                        <p:cTn id="10" dur="500"/>
                                        <p:tgtEl>
                                          <p:spTgt spid="172039">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72039">
                                            <p:txEl>
                                              <p:pRg st="2" end="2"/>
                                            </p:txEl>
                                          </p:spTgt>
                                        </p:tgtEl>
                                        <p:attrNameLst>
                                          <p:attrName>style.visibility</p:attrName>
                                        </p:attrNameLst>
                                      </p:cBhvr>
                                      <p:to>
                                        <p:strVal val="visible"/>
                                      </p:to>
                                    </p:set>
                                    <p:animEffect transition="in" filter="blinds(horizontal)">
                                      <p:cBhvr>
                                        <p:cTn id="13" dur="500"/>
                                        <p:tgtEl>
                                          <p:spTgt spid="17203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9" grpId="0" build="p" bldLvl="2"/>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73058"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73059"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104</a:t>
            </a:fld>
            <a:endParaRPr lang="zh-CN" altLang="en-US" sz="1200" b="1" i="1" dirty="0">
              <a:latin typeface="Times New Roman" panose="02020603050405020304" pitchFamily="2" charset="0"/>
              <a:ea typeface="宋体" panose="02010600030101010101" pitchFamily="2" charset="-122"/>
            </a:endParaRPr>
          </a:p>
        </p:txBody>
      </p:sp>
      <p:sp>
        <p:nvSpPr>
          <p:cNvPr id="173060"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6.8  </a:t>
            </a:r>
            <a:r>
              <a:rPr lang="en-US" altLang="x-none" dirty="0">
                <a:ea typeface="宋体" panose="02010600030101010101" pitchFamily="2" charset="-122"/>
              </a:rPr>
              <a:t>Normal Forms</a:t>
            </a:r>
          </a:p>
        </p:txBody>
      </p:sp>
      <p:sp>
        <p:nvSpPr>
          <p:cNvPr id="173061" name="Rectangle 3"/>
          <p:cNvSpPr>
            <a:spLocks noGrp="1"/>
          </p:cNvSpPr>
          <p:nvPr>
            <p:ph type="body"/>
          </p:nvPr>
        </p:nvSpPr>
        <p:spPr/>
        <p:txBody>
          <a:bodyPr wrap="square" anchor="t"/>
          <a:lstStyle/>
          <a:p>
            <a:pPr lvl="0" eaLnBrk="1" hangingPunct="1"/>
            <a:r>
              <a:rPr lang="en-US" altLang="x-none" dirty="0">
                <a:ea typeface="宋体" panose="02010600030101010101" pitchFamily="2" charset="-122"/>
              </a:rPr>
              <a:t>An Algorithm to Find Candidate Key</a:t>
            </a:r>
          </a:p>
          <a:p>
            <a:pPr lvl="1" indent="-285750" eaLnBrk="1" hangingPunct="1"/>
            <a:r>
              <a:rPr lang="en-US" altLang="x-none" dirty="0">
                <a:ea typeface="宋体" panose="02010600030101010101" pitchFamily="2" charset="-122"/>
              </a:rPr>
              <a:t>Given a table T with a set F of FDs</a:t>
            </a:r>
          </a:p>
        </p:txBody>
      </p:sp>
      <p:sp>
        <p:nvSpPr>
          <p:cNvPr id="173063" name="Rectangle 4"/>
          <p:cNvSpPr/>
          <p:nvPr/>
        </p:nvSpPr>
        <p:spPr>
          <a:xfrm>
            <a:off x="36513" y="2057400"/>
            <a:ext cx="9072562" cy="4572000"/>
          </a:xfrm>
          <a:prstGeom prst="rect">
            <a:avLst/>
          </a:prstGeom>
          <a:solidFill>
            <a:schemeClr val="bg1"/>
          </a:solidFill>
          <a:ln w="25400" cap="flat" cmpd="sng">
            <a:solidFill>
              <a:schemeClr val="tx1"/>
            </a:solidFill>
            <a:prstDash val="solid"/>
            <a:miter/>
            <a:headEnd type="none" w="med" len="med"/>
            <a:tailEnd type="none" w="med" len="med"/>
          </a:ln>
        </p:spPr>
        <p:txBody>
          <a:bodyPr anchor="t"/>
          <a:lstStyle/>
          <a:p>
            <a:pPr marL="914400" lvl="1" indent="-914400" eaLnBrk="0" hangingPunct="0">
              <a:spcBef>
                <a:spcPct val="20000"/>
              </a:spcBef>
              <a:buFont typeface="Wingdings" panose="05000000000000000000" pitchFamily="2" charset="2"/>
              <a:buAutoNum type="arabicPeriod"/>
            </a:pPr>
            <a:r>
              <a:rPr lang="en-US" altLang="x-none" sz="3000" b="1" dirty="0">
                <a:latin typeface="Times New Roman" panose="02020603050405020304" pitchFamily="2" charset="0"/>
                <a:ea typeface="宋体" panose="02010600030101010101" pitchFamily="2" charset="-122"/>
                <a:sym typeface="Symbol" panose="05050102010706020507" pitchFamily="2" charset="2"/>
              </a:rPr>
              <a:t>set </a:t>
            </a:r>
            <a:r>
              <a:rPr lang="en-US" altLang="x-none" sz="3000" b="1" dirty="0">
                <a:solidFill>
                  <a:srgbClr val="FF0000"/>
                </a:solidFill>
                <a:latin typeface="Times New Roman" panose="02020603050405020304" pitchFamily="2" charset="0"/>
                <a:ea typeface="宋体" panose="02010600030101010101" pitchFamily="2" charset="-122"/>
                <a:sym typeface="Symbol" panose="05050102010706020507" pitchFamily="2" charset="2"/>
              </a:rPr>
              <a:t>K</a:t>
            </a:r>
            <a:r>
              <a:rPr lang="en-US" altLang="x-none" sz="3000" b="1" dirty="0">
                <a:latin typeface="Times New Roman" panose="02020603050405020304" pitchFamily="2" charset="0"/>
                <a:ea typeface="宋体" panose="02010600030101010101" pitchFamily="2" charset="-122"/>
                <a:sym typeface="Symbol" panose="05050102010706020507" pitchFamily="2" charset="2"/>
              </a:rPr>
              <a:t> := </a:t>
            </a:r>
            <a:r>
              <a:rPr lang="en-US" altLang="x-none" sz="3000" b="1" dirty="0">
                <a:solidFill>
                  <a:srgbClr val="FF0000"/>
                </a:solidFill>
                <a:latin typeface="Times New Roman" panose="02020603050405020304" pitchFamily="2" charset="0"/>
                <a:ea typeface="宋体" panose="02010600030101010101" pitchFamily="2" charset="-122"/>
                <a:sym typeface="Symbol" panose="05050102010706020507" pitchFamily="2" charset="2"/>
              </a:rPr>
              <a:t>Head(T)</a:t>
            </a:r>
            <a:r>
              <a:rPr lang="en-US" altLang="x-none" sz="3000" b="1" dirty="0">
                <a:latin typeface="Times New Roman" panose="02020603050405020304" pitchFamily="2" charset="0"/>
                <a:ea typeface="宋体" panose="02010600030101010101" pitchFamily="2" charset="-122"/>
                <a:sym typeface="Symbol" panose="05050102010706020507" pitchFamily="2" charset="2"/>
              </a:rPr>
              <a:t> ;</a:t>
            </a:r>
          </a:p>
          <a:p>
            <a:pPr marL="914400" lvl="1" indent="-914400" eaLnBrk="0" hangingPunct="0">
              <a:spcBef>
                <a:spcPct val="20000"/>
              </a:spcBef>
              <a:buFont typeface="Wingdings" panose="05000000000000000000" pitchFamily="2" charset="2"/>
              <a:buAutoNum type="arabicPeriod"/>
            </a:pPr>
            <a:r>
              <a:rPr lang="en-US" altLang="x-none" sz="3000" b="1" dirty="0">
                <a:latin typeface="Times New Roman" panose="02020603050405020304" pitchFamily="2" charset="0"/>
                <a:ea typeface="宋体" panose="02010600030101010101" pitchFamily="2" charset="-122"/>
                <a:sym typeface="Symbol" panose="05050102010706020507" pitchFamily="2" charset="2"/>
              </a:rPr>
              <a:t>for each attribute </a:t>
            </a:r>
            <a:r>
              <a:rPr lang="en-US" altLang="x-none" sz="3000" b="1" dirty="0">
                <a:solidFill>
                  <a:srgbClr val="FF0000"/>
                </a:solidFill>
                <a:latin typeface="Times New Roman" panose="02020603050405020304" pitchFamily="2" charset="0"/>
                <a:ea typeface="宋体" panose="02010600030101010101" pitchFamily="2" charset="-122"/>
                <a:sym typeface="Symbol" panose="05050102010706020507" pitchFamily="2" charset="2"/>
              </a:rPr>
              <a:t>A</a:t>
            </a:r>
            <a:r>
              <a:rPr lang="en-US" altLang="x-none" sz="3000" b="1" dirty="0">
                <a:latin typeface="Times New Roman" panose="02020603050405020304" pitchFamily="2" charset="0"/>
                <a:ea typeface="宋体" panose="02010600030101010101" pitchFamily="2" charset="-122"/>
                <a:sym typeface="Symbol" panose="05050102010706020507" pitchFamily="2" charset="2"/>
              </a:rPr>
              <a:t> in </a:t>
            </a:r>
            <a:r>
              <a:rPr lang="en-US" altLang="x-none" sz="3000" b="1" dirty="0">
                <a:solidFill>
                  <a:srgbClr val="FF0000"/>
                </a:solidFill>
                <a:latin typeface="Times New Roman" panose="02020603050405020304" pitchFamily="2" charset="0"/>
                <a:ea typeface="宋体" panose="02010600030101010101" pitchFamily="2" charset="-122"/>
                <a:sym typeface="Symbol" panose="05050102010706020507" pitchFamily="2" charset="2"/>
              </a:rPr>
              <a:t>K</a:t>
            </a:r>
            <a:r>
              <a:rPr lang="zh-CN" altLang="en-US" sz="3000" b="1" dirty="0">
                <a:solidFill>
                  <a:srgbClr val="FF0000"/>
                </a:solidFill>
                <a:latin typeface="Times New Roman" panose="02020603050405020304" pitchFamily="2" charset="0"/>
                <a:ea typeface="宋体" panose="02010600030101010101" pitchFamily="2" charset="-122"/>
                <a:sym typeface="Symbol" panose="05050102010706020507" pitchFamily="2" charset="2"/>
              </a:rPr>
              <a:t> </a:t>
            </a:r>
            <a:r>
              <a:rPr lang="en-US" altLang="x-none" sz="3000" b="1" dirty="0">
                <a:latin typeface="Times New Roman" panose="02020603050405020304" pitchFamily="2" charset="0"/>
                <a:ea typeface="宋体" panose="02010600030101010101" pitchFamily="2" charset="-122"/>
                <a:sym typeface="Symbol" panose="05050102010706020507" pitchFamily="2" charset="2"/>
              </a:rPr>
              <a:t>{</a:t>
            </a:r>
          </a:p>
          <a:p>
            <a:pPr marL="1828800" lvl="3" indent="-617220" eaLnBrk="0" hangingPunct="0">
              <a:spcBef>
                <a:spcPct val="20000"/>
              </a:spcBef>
              <a:buFont typeface="Wingdings" panose="05000000000000000000" pitchFamily="2" charset="2"/>
              <a:buNone/>
            </a:pPr>
            <a:r>
              <a:rPr lang="en-US" altLang="x-none" sz="3000" b="1" dirty="0">
                <a:latin typeface="Times New Roman" panose="02020603050405020304" pitchFamily="2" charset="0"/>
                <a:ea typeface="宋体" panose="02010600030101010101" pitchFamily="2" charset="-122"/>
                <a:sym typeface="Symbol" panose="05050102010706020507" pitchFamily="2" charset="2"/>
              </a:rPr>
              <a:t>compute </a:t>
            </a:r>
            <a:r>
              <a:rPr lang="en-US" altLang="x-none" sz="3000" b="1" dirty="0">
                <a:solidFill>
                  <a:srgbClr val="FF0000"/>
                </a:solidFill>
                <a:latin typeface="Times New Roman" panose="02020603050405020304" pitchFamily="2" charset="0"/>
                <a:ea typeface="宋体" panose="02010600030101010101" pitchFamily="2" charset="-122"/>
                <a:sym typeface="Symbol" panose="05050102010706020507" pitchFamily="2" charset="2"/>
              </a:rPr>
              <a:t>(K </a:t>
            </a:r>
            <a:r>
              <a:rPr lang="zh-CN" altLang="en-US" sz="3000" b="1" dirty="0">
                <a:solidFill>
                  <a:srgbClr val="FF0000"/>
                </a:solidFill>
                <a:latin typeface="Times New Roman" panose="02020603050405020304" pitchFamily="2" charset="0"/>
                <a:ea typeface="宋体" panose="02010600030101010101" pitchFamily="2" charset="-122"/>
                <a:sym typeface="Symbol" panose="05050102010706020507" pitchFamily="2" charset="2"/>
              </a:rPr>
              <a:t>-</a:t>
            </a:r>
            <a:r>
              <a:rPr lang="en-US" altLang="x-none" sz="3000" b="1" dirty="0">
                <a:solidFill>
                  <a:srgbClr val="FF0000"/>
                </a:solidFill>
                <a:latin typeface="Times New Roman" panose="02020603050405020304" pitchFamily="2" charset="0"/>
                <a:ea typeface="宋体" panose="02010600030101010101" pitchFamily="2" charset="-122"/>
                <a:sym typeface="Symbol" panose="05050102010706020507" pitchFamily="2" charset="2"/>
              </a:rPr>
              <a:t> A)</a:t>
            </a:r>
            <a:r>
              <a:rPr lang="en-US" altLang="x-none" sz="3000" b="1" baseline="-25000" dirty="0">
                <a:solidFill>
                  <a:srgbClr val="FF0000"/>
                </a:solidFill>
                <a:latin typeface="Times New Roman" panose="02020603050405020304" pitchFamily="2" charset="0"/>
                <a:ea typeface="宋体" panose="02010600030101010101" pitchFamily="2" charset="-122"/>
                <a:sym typeface="Symbol" panose="05050102010706020507" pitchFamily="2" charset="2"/>
              </a:rPr>
              <a:t>F</a:t>
            </a:r>
            <a:r>
              <a:rPr lang="en-US" altLang="x-none" sz="3000" b="1" baseline="30000" dirty="0">
                <a:solidFill>
                  <a:srgbClr val="FF0000"/>
                </a:solidFill>
                <a:latin typeface="Times New Roman" panose="02020603050405020304" pitchFamily="2" charset="0"/>
                <a:ea typeface="宋体" panose="02010600030101010101" pitchFamily="2" charset="-122"/>
                <a:sym typeface="Symbol" panose="05050102010706020507" pitchFamily="2" charset="2"/>
              </a:rPr>
              <a:t>+</a:t>
            </a:r>
            <a:r>
              <a:rPr lang="en-US" altLang="x-none" sz="3000" b="1" baseline="30000" dirty="0">
                <a:latin typeface="Times New Roman" panose="02020603050405020304" pitchFamily="2" charset="0"/>
                <a:ea typeface="宋体" panose="02010600030101010101" pitchFamily="2" charset="-122"/>
                <a:sym typeface="Symbol" panose="05050102010706020507" pitchFamily="2" charset="2"/>
              </a:rPr>
              <a:t> </a:t>
            </a:r>
            <a:r>
              <a:rPr lang="en-US" altLang="x-none" sz="3000" b="1" dirty="0">
                <a:latin typeface="Times New Roman" panose="02020603050405020304" pitchFamily="2" charset="0"/>
                <a:ea typeface="宋体" panose="02010600030101010101" pitchFamily="2" charset="-122"/>
                <a:sym typeface="Symbol" panose="05050102010706020507" pitchFamily="2" charset="2"/>
              </a:rPr>
              <a:t>;</a:t>
            </a:r>
          </a:p>
          <a:p>
            <a:pPr marL="1828800" lvl="3" indent="-617220" eaLnBrk="0" hangingPunct="0">
              <a:spcBef>
                <a:spcPct val="20000"/>
              </a:spcBef>
              <a:buFont typeface="Wingdings" panose="05000000000000000000" pitchFamily="2" charset="2"/>
              <a:buNone/>
            </a:pPr>
            <a:r>
              <a:rPr lang="en-US" altLang="x-none" sz="3000" b="1" dirty="0">
                <a:latin typeface="Times New Roman" panose="02020603050405020304" pitchFamily="2" charset="0"/>
                <a:ea typeface="宋体" panose="02010600030101010101" pitchFamily="2" charset="-122"/>
                <a:sym typeface="Symbol" panose="05050102010706020507" pitchFamily="2" charset="2"/>
              </a:rPr>
              <a:t>if </a:t>
            </a:r>
            <a:r>
              <a:rPr lang="en-US" altLang="x-none" sz="3000" b="1" dirty="0">
                <a:solidFill>
                  <a:srgbClr val="FF0000"/>
                </a:solidFill>
                <a:latin typeface="Times New Roman" panose="02020603050405020304" pitchFamily="2" charset="0"/>
                <a:ea typeface="宋体" panose="02010600030101010101" pitchFamily="2" charset="-122"/>
                <a:sym typeface="Symbol" panose="05050102010706020507" pitchFamily="2" charset="2"/>
              </a:rPr>
              <a:t>(K</a:t>
            </a:r>
            <a:r>
              <a:rPr lang="zh-CN" altLang="en-US" sz="3000" b="1" dirty="0">
                <a:solidFill>
                  <a:srgbClr val="FF0000"/>
                </a:solidFill>
                <a:latin typeface="Times New Roman" panose="02020603050405020304" pitchFamily="2" charset="0"/>
                <a:ea typeface="宋体" panose="02010600030101010101" pitchFamily="2" charset="-122"/>
                <a:sym typeface="Symbol" panose="05050102010706020507" pitchFamily="2" charset="2"/>
              </a:rPr>
              <a:t>-</a:t>
            </a:r>
            <a:r>
              <a:rPr lang="en-US" altLang="x-none" sz="3000" b="1" dirty="0">
                <a:solidFill>
                  <a:srgbClr val="FF0000"/>
                </a:solidFill>
                <a:latin typeface="Times New Roman" panose="02020603050405020304" pitchFamily="2" charset="0"/>
                <a:ea typeface="宋体" panose="02010600030101010101" pitchFamily="2" charset="-122"/>
                <a:sym typeface="Symbol" panose="05050102010706020507" pitchFamily="2" charset="2"/>
              </a:rPr>
              <a:t>A)</a:t>
            </a:r>
            <a:r>
              <a:rPr lang="en-US" altLang="x-none" sz="3000" b="1" baseline="-25000" dirty="0">
                <a:solidFill>
                  <a:srgbClr val="FF0000"/>
                </a:solidFill>
                <a:latin typeface="Times New Roman" panose="02020603050405020304" pitchFamily="2" charset="0"/>
                <a:ea typeface="宋体" panose="02010600030101010101" pitchFamily="2" charset="-122"/>
                <a:sym typeface="Symbol" panose="05050102010706020507" pitchFamily="2" charset="2"/>
              </a:rPr>
              <a:t>F</a:t>
            </a:r>
            <a:r>
              <a:rPr lang="en-US" altLang="x-none" sz="3000" b="1" baseline="30000" dirty="0">
                <a:solidFill>
                  <a:srgbClr val="FF0000"/>
                </a:solidFill>
                <a:latin typeface="Times New Roman" panose="02020603050405020304" pitchFamily="2" charset="0"/>
                <a:ea typeface="宋体" panose="02010600030101010101" pitchFamily="2" charset="-122"/>
                <a:sym typeface="Symbol" panose="05050102010706020507" pitchFamily="2" charset="2"/>
              </a:rPr>
              <a:t>+</a:t>
            </a:r>
            <a:r>
              <a:rPr lang="en-US" altLang="x-none" sz="3000" b="1" dirty="0">
                <a:latin typeface="Times New Roman" panose="02020603050405020304" pitchFamily="2" charset="0"/>
                <a:ea typeface="宋体" panose="02010600030101010101" pitchFamily="2" charset="-122"/>
                <a:sym typeface="Symbol" panose="05050102010706020507" pitchFamily="2" charset="2"/>
              </a:rPr>
              <a:t> contains all the attributes in </a:t>
            </a:r>
            <a:r>
              <a:rPr lang="en-US" altLang="x-none" sz="3000" b="1" dirty="0">
                <a:solidFill>
                  <a:srgbClr val="FF0000"/>
                </a:solidFill>
                <a:latin typeface="Times New Roman" panose="02020603050405020304" pitchFamily="2" charset="0"/>
                <a:ea typeface="宋体" panose="02010600030101010101" pitchFamily="2" charset="-122"/>
                <a:sym typeface="Symbol" panose="05050102010706020507" pitchFamily="2" charset="2"/>
              </a:rPr>
              <a:t>T</a:t>
            </a:r>
          </a:p>
          <a:p>
            <a:pPr marL="1828800" lvl="3" indent="-617220" eaLnBrk="0" hangingPunct="0">
              <a:spcBef>
                <a:spcPct val="20000"/>
              </a:spcBef>
              <a:buFont typeface="Wingdings" panose="05000000000000000000" pitchFamily="2" charset="2"/>
              <a:buNone/>
            </a:pPr>
            <a:r>
              <a:rPr lang="en-US" altLang="x-none" sz="3000" b="1" dirty="0">
                <a:latin typeface="Times New Roman" panose="02020603050405020304" pitchFamily="2" charset="0"/>
                <a:ea typeface="宋体" panose="02010600030101010101" pitchFamily="2" charset="-122"/>
                <a:sym typeface="Symbol" panose="05050102010706020507" pitchFamily="2" charset="2"/>
              </a:rPr>
              <a:t>then</a:t>
            </a:r>
            <a:r>
              <a:rPr lang="zh-CN" altLang="en-US" sz="3000" b="1" dirty="0">
                <a:latin typeface="Times New Roman" panose="02020603050405020304" pitchFamily="2" charset="0"/>
                <a:ea typeface="宋体" panose="02010600030101010101" pitchFamily="2" charset="-122"/>
                <a:sym typeface="Symbol" panose="05050102010706020507" pitchFamily="2" charset="2"/>
              </a:rPr>
              <a:t> </a:t>
            </a:r>
            <a:r>
              <a:rPr lang="en-US" altLang="x-none" sz="3000" b="1" dirty="0">
                <a:latin typeface="Times New Roman" panose="02020603050405020304" pitchFamily="2" charset="0"/>
                <a:ea typeface="宋体" panose="02010600030101010101" pitchFamily="2" charset="-122"/>
                <a:sym typeface="Symbol" panose="05050102010706020507" pitchFamily="2" charset="2"/>
              </a:rPr>
              <a:t>{</a:t>
            </a:r>
          </a:p>
          <a:p>
            <a:pPr marL="2057400" lvl="4" indent="-179070" eaLnBrk="0" hangingPunct="0">
              <a:spcBef>
                <a:spcPct val="20000"/>
              </a:spcBef>
              <a:buFont typeface="Wingdings" panose="05000000000000000000" pitchFamily="2" charset="2"/>
              <a:buNone/>
            </a:pPr>
            <a:r>
              <a:rPr lang="en-US" altLang="x-none" sz="3000" b="1" dirty="0">
                <a:latin typeface="Times New Roman" panose="02020603050405020304" pitchFamily="2" charset="0"/>
                <a:ea typeface="宋体" panose="02010600030101010101" pitchFamily="2" charset="-122"/>
                <a:sym typeface="Symbol" panose="05050102010706020507" pitchFamily="2" charset="2"/>
              </a:rPr>
              <a:t>set </a:t>
            </a:r>
            <a:r>
              <a:rPr lang="en-US" altLang="x-none" sz="3000" b="1" dirty="0">
                <a:solidFill>
                  <a:srgbClr val="FF0000"/>
                </a:solidFill>
                <a:latin typeface="Times New Roman" panose="02020603050405020304" pitchFamily="2" charset="0"/>
                <a:ea typeface="宋体" panose="02010600030101010101" pitchFamily="2" charset="-122"/>
                <a:sym typeface="Symbol" panose="05050102010706020507" pitchFamily="2" charset="2"/>
              </a:rPr>
              <a:t>K</a:t>
            </a:r>
            <a:r>
              <a:rPr lang="en-US" altLang="x-none" sz="3000" b="1" dirty="0">
                <a:latin typeface="Times New Roman" panose="02020603050405020304" pitchFamily="2" charset="0"/>
                <a:ea typeface="宋体" panose="02010600030101010101" pitchFamily="2" charset="-122"/>
                <a:sym typeface="Symbol" panose="05050102010706020507" pitchFamily="2" charset="2"/>
              </a:rPr>
              <a:t> := </a:t>
            </a:r>
            <a:r>
              <a:rPr lang="en-US" altLang="x-none" sz="3000" b="1" dirty="0">
                <a:solidFill>
                  <a:srgbClr val="FF0000"/>
                </a:solidFill>
                <a:latin typeface="Times New Roman" panose="02020603050405020304" pitchFamily="2" charset="0"/>
                <a:ea typeface="宋体" panose="02010600030101010101" pitchFamily="2" charset="-122"/>
                <a:sym typeface="Symbol" panose="05050102010706020507" pitchFamily="2" charset="2"/>
              </a:rPr>
              <a:t>K</a:t>
            </a:r>
            <a:r>
              <a:rPr lang="en-US" altLang="x-none" sz="3000" b="1" dirty="0">
                <a:latin typeface="Times New Roman" panose="02020603050405020304" pitchFamily="2" charset="0"/>
                <a:ea typeface="宋体" panose="02010600030101010101" pitchFamily="2" charset="-122"/>
                <a:sym typeface="Symbol" panose="05050102010706020507" pitchFamily="2" charset="2"/>
              </a:rPr>
              <a:t> </a:t>
            </a:r>
            <a:r>
              <a:rPr lang="zh-CN" altLang="en-US" sz="3000" b="1" dirty="0">
                <a:latin typeface="Times New Roman" panose="02020603050405020304" pitchFamily="2" charset="0"/>
                <a:ea typeface="宋体" panose="02010600030101010101" pitchFamily="2" charset="-122"/>
                <a:sym typeface="Symbol" panose="05050102010706020507" pitchFamily="2" charset="2"/>
              </a:rPr>
              <a:t>-</a:t>
            </a:r>
            <a:r>
              <a:rPr lang="en-US" altLang="x-none" sz="3000" b="1" dirty="0">
                <a:latin typeface="Times New Roman" panose="02020603050405020304" pitchFamily="2" charset="0"/>
                <a:ea typeface="宋体" panose="02010600030101010101" pitchFamily="2" charset="-122"/>
                <a:sym typeface="Symbol" panose="05050102010706020507" pitchFamily="2" charset="2"/>
              </a:rPr>
              <a:t> { </a:t>
            </a:r>
            <a:r>
              <a:rPr lang="en-US" altLang="x-none" sz="3000" b="1" dirty="0">
                <a:solidFill>
                  <a:srgbClr val="FF0000"/>
                </a:solidFill>
                <a:latin typeface="Times New Roman" panose="02020603050405020304" pitchFamily="2" charset="0"/>
                <a:ea typeface="宋体" panose="02010600030101010101" pitchFamily="2" charset="-122"/>
                <a:sym typeface="Symbol" panose="05050102010706020507" pitchFamily="2" charset="2"/>
              </a:rPr>
              <a:t>A</a:t>
            </a:r>
            <a:r>
              <a:rPr lang="en-US" altLang="x-none" sz="3000" b="1" dirty="0">
                <a:latin typeface="Times New Roman" panose="02020603050405020304" pitchFamily="2" charset="0"/>
                <a:ea typeface="宋体" panose="02010600030101010101" pitchFamily="2" charset="-122"/>
                <a:sym typeface="Symbol" panose="05050102010706020507" pitchFamily="2" charset="2"/>
              </a:rPr>
              <a:t> } ;</a:t>
            </a:r>
          </a:p>
          <a:p>
            <a:pPr marL="1828800" lvl="3" indent="-617220" eaLnBrk="0" hangingPunct="0">
              <a:spcBef>
                <a:spcPct val="20000"/>
              </a:spcBef>
              <a:buFont typeface="Wingdings" panose="05000000000000000000" pitchFamily="2" charset="2"/>
              <a:buNone/>
            </a:pPr>
            <a:r>
              <a:rPr lang="en-US" altLang="x-none" sz="3000" b="1" dirty="0">
                <a:latin typeface="Times New Roman" panose="02020603050405020304" pitchFamily="2" charset="0"/>
                <a:ea typeface="宋体" panose="02010600030101010101" pitchFamily="2" charset="-122"/>
                <a:sym typeface="Symbol" panose="05050102010706020507" pitchFamily="2" charset="2"/>
              </a:rPr>
              <a:t>}</a:t>
            </a:r>
          </a:p>
          <a:p>
            <a:pPr marL="1371600" lvl="2" indent="-715645" eaLnBrk="0" hangingPunct="0">
              <a:spcBef>
                <a:spcPct val="20000"/>
              </a:spcBef>
              <a:buFont typeface="Wingdings" panose="05000000000000000000" pitchFamily="2" charset="2"/>
              <a:buNone/>
            </a:pPr>
            <a:r>
              <a:rPr lang="en-US" altLang="x-none" sz="3000" b="1" dirty="0">
                <a:latin typeface="Times New Roman" panose="02020603050405020304" pitchFamily="2" charset="0"/>
                <a:ea typeface="宋体" panose="02010600030101010101" pitchFamily="2" charset="-122"/>
                <a:sym typeface="Symbol" panose="05050102010706020507" pitchFamily="2" charset="2"/>
              </a:rPr>
              <a:t>}</a:t>
            </a:r>
          </a:p>
        </p:txBody>
      </p:sp>
      <p:sp>
        <p:nvSpPr>
          <p:cNvPr id="2" name="动作按钮: 前进或下一项 173063">
            <a:hlinkClick r:id="rId2" action="ppaction://hlinksldjump"/>
          </p:cNvPr>
          <p:cNvSpPr/>
          <p:nvPr/>
        </p:nvSpPr>
        <p:spPr>
          <a:xfrm>
            <a:off x="8316913" y="909638"/>
            <a:ext cx="647700" cy="503237"/>
          </a:xfrm>
          <a:prstGeom prst="actionButtonForwardNext">
            <a:avLst/>
          </a:prstGeom>
          <a:noFill/>
          <a:ln w="19050" cap="flat" cmpd="sng">
            <a:solidFill>
              <a:srgbClr val="996600"/>
            </a:solidFill>
            <a:prstDash val="solid"/>
            <a:miter/>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173063"/>
                                        </p:tgtEl>
                                        <p:attrNameLst>
                                          <p:attrName>style.visibility</p:attrName>
                                        </p:attrNameLst>
                                      </p:cBhvr>
                                      <p:to>
                                        <p:strVal val="visible"/>
                                      </p:to>
                                    </p:set>
                                    <p:animEffect transition="in" filter="barn(outVertical)">
                                      <p:cBhvr>
                                        <p:cTn id="7" dur="500"/>
                                        <p:tgtEl>
                                          <p:spTgt spid="1730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63" grpId="0" bldLvl="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74082"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74083"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105</a:t>
            </a:fld>
            <a:endParaRPr lang="zh-CN" altLang="en-US" sz="1200" b="1" i="1" dirty="0">
              <a:latin typeface="Times New Roman" panose="02020603050405020304" pitchFamily="2" charset="0"/>
              <a:ea typeface="宋体" panose="02010600030101010101" pitchFamily="2" charset="-122"/>
            </a:endParaRPr>
          </a:p>
        </p:txBody>
      </p:sp>
      <p:sp>
        <p:nvSpPr>
          <p:cNvPr id="174084"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6.8  </a:t>
            </a:r>
            <a:r>
              <a:rPr lang="en-US" altLang="x-none" dirty="0">
                <a:ea typeface="宋体" panose="02010600030101010101" pitchFamily="2" charset="-122"/>
              </a:rPr>
              <a:t>Normal Forms</a:t>
            </a:r>
          </a:p>
        </p:txBody>
      </p:sp>
      <p:sp>
        <p:nvSpPr>
          <p:cNvPr id="174085" name="Rectangle 3"/>
          <p:cNvSpPr>
            <a:spLocks noGrp="1"/>
          </p:cNvSpPr>
          <p:nvPr>
            <p:ph type="body"/>
          </p:nvPr>
        </p:nvSpPr>
        <p:spPr/>
        <p:txBody>
          <a:bodyPr wrap="square" anchor="t"/>
          <a:lstStyle/>
          <a:p>
            <a:pPr marL="457200" lvl="0" indent="-457200" eaLnBrk="1" hangingPunct="1"/>
            <a:r>
              <a:rPr lang="en-US" altLang="x-none" dirty="0">
                <a:solidFill>
                  <a:schemeClr val="accent2"/>
                </a:solidFill>
                <a:ea typeface="宋体" panose="02010600030101010101" pitchFamily="2" charset="-122"/>
              </a:rPr>
              <a:t>Find candidate key for this table R.</a:t>
            </a:r>
          </a:p>
          <a:p>
            <a:pPr marL="457200" lvl="0" indent="-457200" eaLnBrk="1" hangingPunct="1"/>
            <a:endParaRPr lang="en-US" altLang="x-none" sz="1400" dirty="0">
              <a:solidFill>
                <a:schemeClr val="accent2"/>
              </a:solidFill>
              <a:ea typeface="宋体" panose="02010600030101010101" pitchFamily="2" charset="-122"/>
            </a:endParaRPr>
          </a:p>
          <a:p>
            <a:pPr marL="914400" lvl="1" indent="-457200" eaLnBrk="1" hangingPunct="1">
              <a:buAutoNum type="arabicParenR"/>
            </a:pPr>
            <a:r>
              <a:rPr lang="en-US" altLang="x-none" dirty="0">
                <a:ea typeface="宋体" panose="02010600030101010101" pitchFamily="2" charset="-122"/>
              </a:rPr>
              <a:t>R (A, B, C, D)</a:t>
            </a:r>
            <a:r>
              <a:rPr lang="en-US" altLang="x-none" dirty="0">
                <a:latin typeface="宋体" panose="02010600030101010101" pitchFamily="2" charset="-122"/>
                <a:ea typeface="宋体" panose="02010600030101010101" pitchFamily="2" charset="-122"/>
              </a:rPr>
              <a:t>， </a:t>
            </a:r>
            <a:r>
              <a:rPr lang="en-US" altLang="x-none" dirty="0">
                <a:ea typeface="宋体" panose="02010600030101010101" pitchFamily="2" charset="-122"/>
              </a:rPr>
              <a:t>F: { B</a:t>
            </a:r>
            <a:r>
              <a:rPr lang="en-US" altLang="x-none" dirty="0">
                <a:ea typeface="宋体" panose="02010600030101010101" pitchFamily="2" charset="-122"/>
                <a:sym typeface="Symbol" panose="05050102010706020507" pitchFamily="2" charset="2"/>
              </a:rPr>
              <a:t></a:t>
            </a:r>
            <a:r>
              <a:rPr lang="en-US" altLang="x-none" dirty="0">
                <a:ea typeface="宋体" panose="02010600030101010101" pitchFamily="2" charset="-122"/>
              </a:rPr>
              <a:t>D, AB</a:t>
            </a:r>
            <a:r>
              <a:rPr lang="en-US" altLang="x-none" dirty="0">
                <a:ea typeface="宋体" panose="02010600030101010101" pitchFamily="2" charset="-122"/>
                <a:sym typeface="Symbol" panose="05050102010706020507" pitchFamily="2" charset="2"/>
              </a:rPr>
              <a:t></a:t>
            </a:r>
            <a:r>
              <a:rPr lang="en-US" altLang="x-none" dirty="0">
                <a:ea typeface="宋体" panose="02010600030101010101" pitchFamily="2" charset="-122"/>
              </a:rPr>
              <a:t>C }</a:t>
            </a:r>
          </a:p>
          <a:p>
            <a:pPr marL="914400" lvl="1" indent="-457200" eaLnBrk="1" hangingPunct="1">
              <a:buAutoNum type="arabicParenR"/>
            </a:pPr>
            <a:endParaRPr lang="en-US" altLang="x-none" sz="1400" dirty="0">
              <a:ea typeface="宋体" panose="02010600030101010101" pitchFamily="2" charset="-122"/>
            </a:endParaRPr>
          </a:p>
          <a:p>
            <a:pPr marL="914400" lvl="1" indent="-457200" eaLnBrk="1" hangingPunct="1">
              <a:buAutoNum type="arabicParenR"/>
            </a:pPr>
            <a:r>
              <a:rPr lang="en-US" altLang="x-none" dirty="0">
                <a:ea typeface="宋体" panose="02010600030101010101" pitchFamily="2" charset="-122"/>
              </a:rPr>
              <a:t>R (A, B, C)</a:t>
            </a:r>
            <a:r>
              <a:rPr lang="en-US" altLang="x-none" dirty="0">
                <a:latin typeface="宋体" panose="02010600030101010101" pitchFamily="2" charset="-122"/>
                <a:ea typeface="宋体" panose="02010600030101010101" pitchFamily="2" charset="-122"/>
              </a:rPr>
              <a:t>，    </a:t>
            </a:r>
            <a:r>
              <a:rPr lang="en-US" altLang="x-none" dirty="0">
                <a:ea typeface="宋体" panose="02010600030101010101" pitchFamily="2" charset="-122"/>
              </a:rPr>
              <a:t>F: { A</a:t>
            </a:r>
            <a:r>
              <a:rPr lang="en-US" altLang="x-none" dirty="0">
                <a:ea typeface="宋体" panose="02010600030101010101" pitchFamily="2" charset="-122"/>
                <a:sym typeface="Symbol" panose="05050102010706020507" pitchFamily="2" charset="2"/>
              </a:rPr>
              <a:t></a:t>
            </a:r>
            <a:r>
              <a:rPr lang="en-US" altLang="x-none" dirty="0">
                <a:ea typeface="宋体" panose="02010600030101010101" pitchFamily="2" charset="-122"/>
              </a:rPr>
              <a:t>B, B</a:t>
            </a:r>
            <a:r>
              <a:rPr lang="en-US" altLang="x-none" dirty="0">
                <a:ea typeface="宋体" panose="02010600030101010101" pitchFamily="2" charset="-122"/>
                <a:sym typeface="Symbol" panose="05050102010706020507" pitchFamily="2" charset="2"/>
              </a:rPr>
              <a:t></a:t>
            </a:r>
            <a:r>
              <a:rPr lang="en-US" altLang="x-none" dirty="0">
                <a:ea typeface="宋体" panose="02010600030101010101" pitchFamily="2" charset="-122"/>
              </a:rPr>
              <a:t>A, A</a:t>
            </a:r>
            <a:r>
              <a:rPr lang="en-US" altLang="x-none" dirty="0">
                <a:ea typeface="宋体" panose="02010600030101010101" pitchFamily="2" charset="-122"/>
                <a:sym typeface="Symbol" panose="05050102010706020507" pitchFamily="2" charset="2"/>
              </a:rPr>
              <a:t></a:t>
            </a:r>
            <a:r>
              <a:rPr lang="en-US" altLang="x-none" dirty="0">
                <a:ea typeface="宋体" panose="02010600030101010101" pitchFamily="2" charset="-122"/>
              </a:rPr>
              <a:t>C }</a:t>
            </a:r>
          </a:p>
          <a:p>
            <a:pPr marL="914400" lvl="1" indent="-457200" eaLnBrk="1" hangingPunct="1">
              <a:buAutoNum type="arabicParenR"/>
            </a:pPr>
            <a:endParaRPr lang="en-US" altLang="x-none" sz="1400" dirty="0">
              <a:ea typeface="宋体" panose="02010600030101010101" pitchFamily="2" charset="-122"/>
            </a:endParaRPr>
          </a:p>
          <a:p>
            <a:pPr marL="914400" lvl="1" indent="-457200" eaLnBrk="1" hangingPunct="1">
              <a:buAutoNum type="arabicParenR"/>
            </a:pPr>
            <a:r>
              <a:rPr lang="en-US" altLang="x-none" dirty="0">
                <a:ea typeface="宋体" panose="02010600030101010101" pitchFamily="2" charset="-122"/>
              </a:rPr>
              <a:t>R (A, B, C, D)</a:t>
            </a:r>
            <a:r>
              <a:rPr lang="en-US" altLang="x-none" dirty="0">
                <a:latin typeface="宋体" panose="02010600030101010101" pitchFamily="2" charset="-122"/>
                <a:ea typeface="宋体" panose="02010600030101010101" pitchFamily="2" charset="-122"/>
              </a:rPr>
              <a:t>， </a:t>
            </a:r>
            <a:r>
              <a:rPr lang="en-US" altLang="x-none" dirty="0">
                <a:ea typeface="宋体" panose="02010600030101010101" pitchFamily="2" charset="-122"/>
              </a:rPr>
              <a:t>F: { A</a:t>
            </a:r>
            <a:r>
              <a:rPr lang="en-US" altLang="x-none" dirty="0">
                <a:ea typeface="宋体" panose="02010600030101010101" pitchFamily="2" charset="-122"/>
                <a:sym typeface="Symbol" panose="05050102010706020507" pitchFamily="2" charset="2"/>
              </a:rPr>
              <a:t></a:t>
            </a:r>
            <a:r>
              <a:rPr lang="en-US" altLang="x-none" dirty="0">
                <a:ea typeface="宋体" panose="02010600030101010101" pitchFamily="2" charset="-122"/>
              </a:rPr>
              <a:t>C, CD</a:t>
            </a:r>
            <a:r>
              <a:rPr lang="en-US" altLang="x-none" dirty="0">
                <a:ea typeface="宋体" panose="02010600030101010101" pitchFamily="2" charset="-122"/>
                <a:sym typeface="Symbol" panose="05050102010706020507" pitchFamily="2" charset="2"/>
              </a:rPr>
              <a:t></a:t>
            </a:r>
            <a:r>
              <a:rPr lang="en-US" altLang="x-none" dirty="0">
                <a:ea typeface="宋体" panose="02010600030101010101" pitchFamily="2" charset="-122"/>
              </a:rPr>
              <a:t>B }</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75106"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75107"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106</a:t>
            </a:fld>
            <a:endParaRPr lang="zh-CN" altLang="en-US" sz="1200" b="1" i="1" dirty="0">
              <a:latin typeface="Times New Roman" panose="02020603050405020304" pitchFamily="2" charset="0"/>
              <a:ea typeface="宋体" panose="02010600030101010101" pitchFamily="2" charset="-122"/>
            </a:endParaRPr>
          </a:p>
        </p:txBody>
      </p:sp>
      <p:sp>
        <p:nvSpPr>
          <p:cNvPr id="175108"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6.8  </a:t>
            </a:r>
            <a:r>
              <a:rPr lang="en-US" altLang="x-none" dirty="0">
                <a:ea typeface="宋体" panose="02010600030101010101" pitchFamily="2" charset="-122"/>
              </a:rPr>
              <a:t>Normal Forms</a:t>
            </a:r>
          </a:p>
        </p:txBody>
      </p:sp>
      <p:sp>
        <p:nvSpPr>
          <p:cNvPr id="175109" name="Rectangle 3"/>
          <p:cNvSpPr>
            <a:spLocks noGrp="1"/>
          </p:cNvSpPr>
          <p:nvPr>
            <p:ph type="body"/>
          </p:nvPr>
        </p:nvSpPr>
        <p:spPr/>
        <p:txBody>
          <a:bodyPr wrap="square" anchor="t"/>
          <a:lstStyle/>
          <a:p>
            <a:pPr marL="533400" lvl="0" indent="-533400" eaLnBrk="1" hangingPunct="1">
              <a:buAutoNum type="arabicParenR"/>
            </a:pPr>
            <a:r>
              <a:rPr lang="en-US" altLang="x-none" dirty="0">
                <a:ea typeface="宋体" panose="02010600030101010101" pitchFamily="2" charset="-122"/>
              </a:rPr>
              <a:t>R (A, B, C, D)</a:t>
            </a:r>
            <a:r>
              <a:rPr lang="en-US" altLang="x-none" dirty="0">
                <a:latin typeface="宋体" panose="02010600030101010101" pitchFamily="2" charset="-122"/>
                <a:ea typeface="宋体" panose="02010600030101010101" pitchFamily="2" charset="-122"/>
              </a:rPr>
              <a:t>， </a:t>
            </a:r>
            <a:r>
              <a:rPr lang="en-US" altLang="x-none" dirty="0">
                <a:ea typeface="宋体" panose="02010600030101010101" pitchFamily="2" charset="-122"/>
              </a:rPr>
              <a:t>F: { B</a:t>
            </a:r>
            <a:r>
              <a:rPr lang="en-US" altLang="x-none" dirty="0">
                <a:ea typeface="宋体" panose="02010600030101010101" pitchFamily="2" charset="-122"/>
                <a:sym typeface="Symbol" panose="05050102010706020507" pitchFamily="2" charset="2"/>
              </a:rPr>
              <a:t></a:t>
            </a:r>
            <a:r>
              <a:rPr lang="en-US" altLang="x-none" dirty="0">
                <a:ea typeface="宋体" panose="02010600030101010101" pitchFamily="2" charset="-122"/>
              </a:rPr>
              <a:t>D, AB</a:t>
            </a:r>
            <a:r>
              <a:rPr lang="en-US" altLang="x-none" dirty="0">
                <a:ea typeface="宋体" panose="02010600030101010101" pitchFamily="2" charset="-122"/>
                <a:sym typeface="Symbol" panose="05050102010706020507" pitchFamily="2" charset="2"/>
              </a:rPr>
              <a:t></a:t>
            </a:r>
            <a:r>
              <a:rPr lang="en-US" altLang="x-none" dirty="0">
                <a:ea typeface="宋体" panose="02010600030101010101" pitchFamily="2" charset="-122"/>
              </a:rPr>
              <a:t>C }</a:t>
            </a:r>
          </a:p>
        </p:txBody>
      </p:sp>
      <p:sp>
        <p:nvSpPr>
          <p:cNvPr id="175111" name="Rectangle 4"/>
          <p:cNvSpPr/>
          <p:nvPr/>
        </p:nvSpPr>
        <p:spPr>
          <a:xfrm>
            <a:off x="457200" y="1676400"/>
            <a:ext cx="8229600" cy="4876800"/>
          </a:xfrm>
          <a:prstGeom prst="rect">
            <a:avLst/>
          </a:prstGeom>
          <a:solidFill>
            <a:schemeClr val="bg1"/>
          </a:solidFill>
          <a:ln w="25400" cap="flat" cmpd="sng">
            <a:solidFill>
              <a:schemeClr val="tx1"/>
            </a:solidFill>
            <a:prstDash val="solid"/>
            <a:miter/>
            <a:headEnd type="none" w="med" len="med"/>
            <a:tailEnd type="none" w="med" len="med"/>
          </a:ln>
        </p:spPr>
        <p:txBody>
          <a:bodyPr anchor="t"/>
          <a:lstStyle/>
          <a:p>
            <a:pPr marL="457200" lvl="0" indent="-457200">
              <a:lnSpc>
                <a:spcPct val="120000"/>
              </a:lnSpc>
              <a:spcBef>
                <a:spcPct val="20000"/>
              </a:spcBef>
              <a:buFont typeface="Wingdings" panose="05000000000000000000" pitchFamily="2" charset="2"/>
              <a:buNone/>
            </a:pPr>
            <a:r>
              <a:rPr lang="zh-CN" altLang="en-US" sz="2800" b="1" dirty="0">
                <a:solidFill>
                  <a:srgbClr val="FF0000"/>
                </a:solidFill>
                <a:latin typeface="Arial" panose="020B0604020202020204" pitchFamily="34" charset="0"/>
                <a:ea typeface="宋体" panose="02010600030101010101" pitchFamily="2" charset="-122"/>
              </a:rPr>
              <a:t>解：</a:t>
            </a:r>
            <a:r>
              <a:rPr lang="en-US" altLang="x-none" sz="2800" b="1" dirty="0">
                <a:solidFill>
                  <a:srgbClr val="FF0000"/>
                </a:solidFill>
                <a:latin typeface="Arial" panose="020B0604020202020204" pitchFamily="34" charset="0"/>
                <a:ea typeface="宋体" panose="02010600030101010101" pitchFamily="2" charset="-122"/>
              </a:rPr>
              <a:t>K = { A, B, C, D }</a:t>
            </a:r>
          </a:p>
          <a:p>
            <a:pPr marL="914400" lvl="1" indent="-457200">
              <a:lnSpc>
                <a:spcPct val="120000"/>
              </a:lnSpc>
              <a:spcBef>
                <a:spcPct val="20000"/>
              </a:spcBef>
              <a:buFont typeface="Wingdings" panose="05000000000000000000" pitchFamily="2" charset="2"/>
              <a:buAutoNum type="alphaLcParenR"/>
            </a:pPr>
            <a:r>
              <a:rPr lang="zh-CN" altLang="en-US" sz="2800" b="1" dirty="0">
                <a:solidFill>
                  <a:schemeClr val="accent2"/>
                </a:solidFill>
                <a:latin typeface="Arial" panose="020B0604020202020204" pitchFamily="34" charset="0"/>
                <a:ea typeface="宋体" panose="02010600030101010101" pitchFamily="2" charset="-122"/>
              </a:rPr>
              <a:t>∵ {</a:t>
            </a:r>
            <a:r>
              <a:rPr lang="en-US" altLang="x-none" sz="2800" b="1" dirty="0">
                <a:solidFill>
                  <a:schemeClr val="accent2"/>
                </a:solidFill>
                <a:latin typeface="Arial" panose="020B0604020202020204" pitchFamily="34" charset="0"/>
                <a:ea typeface="宋体" panose="02010600030101010101" pitchFamily="2" charset="-122"/>
              </a:rPr>
              <a:t>K–A}</a:t>
            </a:r>
            <a:r>
              <a:rPr lang="en-US" altLang="x-none" sz="2800" b="1" baseline="30000" dirty="0">
                <a:solidFill>
                  <a:schemeClr val="accent2"/>
                </a:solidFill>
                <a:latin typeface="Arial" panose="020B0604020202020204" pitchFamily="34" charset="0"/>
                <a:ea typeface="宋体" panose="02010600030101010101" pitchFamily="2" charset="-122"/>
              </a:rPr>
              <a:t>+</a:t>
            </a:r>
            <a:r>
              <a:rPr lang="en-US" altLang="x-none" sz="2800" b="1" dirty="0">
                <a:solidFill>
                  <a:schemeClr val="accent2"/>
                </a:solidFill>
                <a:latin typeface="Arial" panose="020B0604020202020204" pitchFamily="34" charset="0"/>
                <a:ea typeface="宋体" panose="02010600030101010101" pitchFamily="2" charset="-122"/>
              </a:rPr>
              <a:t> = {B,C,D}</a:t>
            </a:r>
            <a:r>
              <a:rPr lang="en-US" altLang="x-none" sz="2800" b="1" baseline="30000" dirty="0">
                <a:solidFill>
                  <a:schemeClr val="accent2"/>
                </a:solidFill>
                <a:latin typeface="Arial" panose="020B0604020202020204" pitchFamily="34" charset="0"/>
                <a:ea typeface="宋体" panose="02010600030101010101" pitchFamily="2" charset="-122"/>
              </a:rPr>
              <a:t>+</a:t>
            </a:r>
            <a:r>
              <a:rPr lang="en-US" altLang="x-none" sz="2800" b="1" dirty="0">
                <a:solidFill>
                  <a:schemeClr val="accent2"/>
                </a:solidFill>
                <a:latin typeface="Arial" panose="020B0604020202020204" pitchFamily="34" charset="0"/>
                <a:ea typeface="宋体" panose="02010600030101010101" pitchFamily="2" charset="-122"/>
              </a:rPr>
              <a:t> = {B,C,D}  </a:t>
            </a:r>
            <a:r>
              <a:rPr lang="en-US" altLang="x-none" sz="2800" b="1"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2800" b="1" dirty="0">
                <a:solidFill>
                  <a:schemeClr val="accent2"/>
                </a:solidFill>
                <a:latin typeface="Arial" panose="020B0604020202020204" pitchFamily="34" charset="0"/>
                <a:ea typeface="宋体" panose="02010600030101010101" pitchFamily="2" charset="-122"/>
              </a:rPr>
              <a:t> U</a:t>
            </a:r>
          </a:p>
          <a:p>
            <a:pPr marL="914400" lvl="1" indent="-457200">
              <a:lnSpc>
                <a:spcPct val="120000"/>
              </a:lnSpc>
              <a:spcBef>
                <a:spcPct val="20000"/>
              </a:spcBef>
              <a:buFont typeface="Wingdings" panose="05000000000000000000" pitchFamily="2" charset="2"/>
              <a:buAutoNum type="alphaLcParenR"/>
            </a:pPr>
            <a:r>
              <a:rPr lang="zh-CN" altLang="en-US" sz="2800" b="1" dirty="0">
                <a:solidFill>
                  <a:schemeClr val="accent2"/>
                </a:solidFill>
                <a:latin typeface="Arial" panose="020B0604020202020204" pitchFamily="34" charset="0"/>
                <a:ea typeface="宋体" panose="02010600030101010101" pitchFamily="2" charset="-122"/>
              </a:rPr>
              <a:t>∵ {</a:t>
            </a:r>
            <a:r>
              <a:rPr lang="en-US" altLang="x-none" sz="2800" b="1" dirty="0">
                <a:solidFill>
                  <a:schemeClr val="accent2"/>
                </a:solidFill>
                <a:latin typeface="Arial" panose="020B0604020202020204" pitchFamily="34" charset="0"/>
                <a:ea typeface="宋体" panose="02010600030101010101" pitchFamily="2" charset="-122"/>
              </a:rPr>
              <a:t>K–B}</a:t>
            </a:r>
            <a:r>
              <a:rPr lang="en-US" altLang="x-none" sz="2800" b="1" baseline="30000" dirty="0">
                <a:solidFill>
                  <a:schemeClr val="accent2"/>
                </a:solidFill>
                <a:latin typeface="Arial" panose="020B0604020202020204" pitchFamily="34" charset="0"/>
                <a:ea typeface="宋体" panose="02010600030101010101" pitchFamily="2" charset="-122"/>
              </a:rPr>
              <a:t>+</a:t>
            </a:r>
            <a:r>
              <a:rPr lang="en-US" altLang="x-none" sz="2800" b="1" dirty="0">
                <a:solidFill>
                  <a:schemeClr val="accent2"/>
                </a:solidFill>
                <a:latin typeface="Arial" panose="020B0604020202020204" pitchFamily="34" charset="0"/>
                <a:ea typeface="宋体" panose="02010600030101010101" pitchFamily="2" charset="-122"/>
              </a:rPr>
              <a:t> = {A,C,D}</a:t>
            </a:r>
            <a:r>
              <a:rPr lang="en-US" altLang="x-none" sz="2800" b="1" baseline="30000" dirty="0">
                <a:solidFill>
                  <a:schemeClr val="accent2"/>
                </a:solidFill>
                <a:latin typeface="Arial" panose="020B0604020202020204" pitchFamily="34" charset="0"/>
                <a:ea typeface="宋体" panose="02010600030101010101" pitchFamily="2" charset="-122"/>
              </a:rPr>
              <a:t>+</a:t>
            </a:r>
            <a:r>
              <a:rPr lang="en-US" altLang="x-none" sz="2800" b="1" dirty="0">
                <a:solidFill>
                  <a:schemeClr val="accent2"/>
                </a:solidFill>
                <a:latin typeface="Arial" panose="020B0604020202020204" pitchFamily="34" charset="0"/>
                <a:ea typeface="宋体" panose="02010600030101010101" pitchFamily="2" charset="-122"/>
              </a:rPr>
              <a:t> = {A,C,D}  </a:t>
            </a:r>
            <a:r>
              <a:rPr lang="en-US" altLang="x-none" sz="2800" b="1" dirty="0">
                <a:solidFill>
                  <a:schemeClr val="accent2"/>
                </a:solidFill>
                <a:latin typeface="Arial" panose="020B0604020202020204" pitchFamily="34" charset="0"/>
                <a:ea typeface="宋体" panose="02010600030101010101" pitchFamily="2" charset="-122"/>
                <a:sym typeface="Symbol" panose="05050102010706020507" pitchFamily="2" charset="2"/>
              </a:rPr>
              <a:t> U</a:t>
            </a:r>
            <a:endParaRPr lang="en-US" altLang="x-none" sz="2800" b="1" dirty="0">
              <a:solidFill>
                <a:schemeClr val="accent2"/>
              </a:solidFill>
              <a:latin typeface="Arial" panose="020B0604020202020204" pitchFamily="34" charset="0"/>
              <a:ea typeface="宋体" panose="02010600030101010101" pitchFamily="2" charset="-122"/>
            </a:endParaRPr>
          </a:p>
          <a:p>
            <a:pPr marL="914400" lvl="1" indent="-457200">
              <a:lnSpc>
                <a:spcPct val="120000"/>
              </a:lnSpc>
              <a:spcBef>
                <a:spcPct val="20000"/>
              </a:spcBef>
              <a:buFont typeface="Wingdings" panose="05000000000000000000" pitchFamily="2" charset="2"/>
              <a:buAutoNum type="alphaLcParenR"/>
            </a:pPr>
            <a:r>
              <a:rPr lang="zh-CN" altLang="en-US" sz="2800" b="1" dirty="0">
                <a:solidFill>
                  <a:schemeClr val="accent2"/>
                </a:solidFill>
                <a:latin typeface="Arial" panose="020B0604020202020204" pitchFamily="34" charset="0"/>
                <a:ea typeface="宋体" panose="02010600030101010101" pitchFamily="2" charset="-122"/>
              </a:rPr>
              <a:t>∵ {</a:t>
            </a:r>
            <a:r>
              <a:rPr lang="en-US" altLang="x-none" sz="2800" b="1" dirty="0">
                <a:solidFill>
                  <a:schemeClr val="accent2"/>
                </a:solidFill>
                <a:latin typeface="Arial" panose="020B0604020202020204" pitchFamily="34" charset="0"/>
                <a:ea typeface="宋体" panose="02010600030101010101" pitchFamily="2" charset="-122"/>
              </a:rPr>
              <a:t>K–C}</a:t>
            </a:r>
            <a:r>
              <a:rPr lang="en-US" altLang="x-none" sz="2800" b="1" baseline="30000" dirty="0">
                <a:solidFill>
                  <a:schemeClr val="accent2"/>
                </a:solidFill>
                <a:latin typeface="Arial" panose="020B0604020202020204" pitchFamily="34" charset="0"/>
                <a:ea typeface="宋体" panose="02010600030101010101" pitchFamily="2" charset="-122"/>
              </a:rPr>
              <a:t>+</a:t>
            </a:r>
            <a:r>
              <a:rPr lang="en-US" altLang="x-none" sz="2800" b="1" dirty="0">
                <a:solidFill>
                  <a:schemeClr val="accent2"/>
                </a:solidFill>
                <a:latin typeface="Arial" panose="020B0604020202020204" pitchFamily="34" charset="0"/>
                <a:ea typeface="宋体" panose="02010600030101010101" pitchFamily="2" charset="-122"/>
              </a:rPr>
              <a:t> = {A,B,D}</a:t>
            </a:r>
            <a:r>
              <a:rPr lang="en-US" altLang="x-none" sz="2800" b="1" baseline="30000" dirty="0">
                <a:solidFill>
                  <a:schemeClr val="accent2"/>
                </a:solidFill>
                <a:latin typeface="Arial" panose="020B0604020202020204" pitchFamily="34" charset="0"/>
                <a:ea typeface="宋体" panose="02010600030101010101" pitchFamily="2" charset="-122"/>
              </a:rPr>
              <a:t>+</a:t>
            </a:r>
            <a:r>
              <a:rPr lang="en-US" altLang="x-none" sz="2800" b="1" dirty="0">
                <a:solidFill>
                  <a:schemeClr val="accent2"/>
                </a:solidFill>
                <a:latin typeface="Arial" panose="020B0604020202020204" pitchFamily="34" charset="0"/>
                <a:ea typeface="宋体" panose="02010600030101010101" pitchFamily="2" charset="-122"/>
              </a:rPr>
              <a:t> = {A,B,D, C} = U</a:t>
            </a:r>
          </a:p>
          <a:p>
            <a:pPr marL="1371600" lvl="2" indent="-457200">
              <a:lnSpc>
                <a:spcPct val="120000"/>
              </a:lnSpc>
              <a:spcBef>
                <a:spcPct val="20000"/>
              </a:spcBef>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 </a:t>
            </a:r>
            <a:r>
              <a:rPr lang="en-US" altLang="x-none" sz="2800" b="1" dirty="0">
                <a:solidFill>
                  <a:schemeClr val="accent2"/>
                </a:solidFill>
                <a:latin typeface="Arial" panose="020B0604020202020204" pitchFamily="34" charset="0"/>
                <a:ea typeface="宋体" panose="02010600030101010101" pitchFamily="2" charset="-122"/>
              </a:rPr>
              <a:t>K = K–C = {A,B,D}</a:t>
            </a:r>
          </a:p>
          <a:p>
            <a:pPr marL="914400" lvl="1" indent="-457200">
              <a:lnSpc>
                <a:spcPct val="120000"/>
              </a:lnSpc>
              <a:spcBef>
                <a:spcPct val="20000"/>
              </a:spcBef>
              <a:buFont typeface="Wingdings" panose="05000000000000000000" pitchFamily="2" charset="2"/>
              <a:buAutoNum type="alphaLcParenR"/>
            </a:pPr>
            <a:r>
              <a:rPr lang="zh-CN" altLang="en-US" sz="2800" b="1" dirty="0">
                <a:solidFill>
                  <a:schemeClr val="accent2"/>
                </a:solidFill>
                <a:latin typeface="Arial" panose="020B0604020202020204" pitchFamily="34" charset="0"/>
                <a:ea typeface="宋体" panose="02010600030101010101" pitchFamily="2" charset="-122"/>
              </a:rPr>
              <a:t>∵ {</a:t>
            </a:r>
            <a:r>
              <a:rPr lang="en-US" altLang="x-none" sz="2800" b="1" dirty="0">
                <a:solidFill>
                  <a:schemeClr val="accent2"/>
                </a:solidFill>
                <a:latin typeface="Arial" panose="020B0604020202020204" pitchFamily="34" charset="0"/>
                <a:ea typeface="宋体" panose="02010600030101010101" pitchFamily="2" charset="-122"/>
              </a:rPr>
              <a:t>K–D}</a:t>
            </a:r>
            <a:r>
              <a:rPr lang="en-US" altLang="x-none" sz="2800" b="1" baseline="30000" dirty="0">
                <a:solidFill>
                  <a:schemeClr val="accent2"/>
                </a:solidFill>
                <a:latin typeface="Arial" panose="020B0604020202020204" pitchFamily="34" charset="0"/>
                <a:ea typeface="宋体" panose="02010600030101010101" pitchFamily="2" charset="-122"/>
              </a:rPr>
              <a:t>+</a:t>
            </a:r>
            <a:r>
              <a:rPr lang="en-US" altLang="x-none" sz="2800" b="1" dirty="0">
                <a:solidFill>
                  <a:schemeClr val="accent2"/>
                </a:solidFill>
                <a:latin typeface="Arial" panose="020B0604020202020204" pitchFamily="34" charset="0"/>
                <a:ea typeface="宋体" panose="02010600030101010101" pitchFamily="2" charset="-122"/>
              </a:rPr>
              <a:t> = {A,B}</a:t>
            </a:r>
            <a:r>
              <a:rPr lang="en-US" altLang="x-none" sz="2800" b="1" baseline="30000" dirty="0">
                <a:solidFill>
                  <a:schemeClr val="accent2"/>
                </a:solidFill>
                <a:latin typeface="Arial" panose="020B0604020202020204" pitchFamily="34" charset="0"/>
                <a:ea typeface="宋体" panose="02010600030101010101" pitchFamily="2" charset="-122"/>
              </a:rPr>
              <a:t>+</a:t>
            </a:r>
            <a:r>
              <a:rPr lang="en-US" altLang="x-none" sz="2800" b="1" dirty="0">
                <a:solidFill>
                  <a:schemeClr val="accent2"/>
                </a:solidFill>
                <a:latin typeface="Arial" panose="020B0604020202020204" pitchFamily="34" charset="0"/>
                <a:ea typeface="宋体" panose="02010600030101010101" pitchFamily="2" charset="-122"/>
              </a:rPr>
              <a:t> = {A,B, D, C} = U</a:t>
            </a:r>
          </a:p>
          <a:p>
            <a:pPr marL="1371600" lvl="2" indent="-457200">
              <a:lnSpc>
                <a:spcPct val="120000"/>
              </a:lnSpc>
              <a:spcBef>
                <a:spcPct val="20000"/>
              </a:spcBef>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 </a:t>
            </a:r>
            <a:r>
              <a:rPr lang="en-US" altLang="x-none" sz="2800" b="1" dirty="0">
                <a:solidFill>
                  <a:schemeClr val="accent2"/>
                </a:solidFill>
                <a:latin typeface="Arial" panose="020B0604020202020204" pitchFamily="34" charset="0"/>
                <a:ea typeface="宋体" panose="02010600030101010101" pitchFamily="2" charset="-122"/>
              </a:rPr>
              <a:t>K = K–D = {A,B}</a:t>
            </a:r>
          </a:p>
          <a:p>
            <a:pPr marL="914400" lvl="1" indent="-457200">
              <a:lnSpc>
                <a:spcPct val="120000"/>
              </a:lnSpc>
              <a:spcBef>
                <a:spcPct val="20000"/>
              </a:spcBef>
              <a:buFont typeface="Wingdings" panose="05000000000000000000" pitchFamily="2" charset="2"/>
              <a:buChar char="•"/>
            </a:pPr>
            <a:r>
              <a:rPr lang="en-US" altLang="x-none" sz="2800" b="1" dirty="0">
                <a:solidFill>
                  <a:schemeClr val="accent2"/>
                </a:solidFill>
                <a:latin typeface="Arial" panose="020B0604020202020204" pitchFamily="34" charset="0"/>
                <a:ea typeface="宋体" panose="02010600030101010101" pitchFamily="2" charset="-122"/>
              </a:rPr>
              <a:t>return 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175111"/>
                                        </p:tgtEl>
                                        <p:attrNameLst>
                                          <p:attrName>style.visibility</p:attrName>
                                        </p:attrNameLst>
                                      </p:cBhvr>
                                      <p:to>
                                        <p:strVal val="visible"/>
                                      </p:to>
                                    </p:set>
                                    <p:animEffect transition="in" filter="barn(outVertical)">
                                      <p:cBhvr>
                                        <p:cTn id="7" dur="500"/>
                                        <p:tgtEl>
                                          <p:spTgt spid="175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11"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76130"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76131"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107</a:t>
            </a:fld>
            <a:endParaRPr lang="zh-CN" altLang="en-US" sz="1200" b="1" i="1" dirty="0">
              <a:latin typeface="Times New Roman" panose="02020603050405020304" pitchFamily="2" charset="0"/>
              <a:ea typeface="宋体" panose="02010600030101010101" pitchFamily="2" charset="-122"/>
            </a:endParaRPr>
          </a:p>
        </p:txBody>
      </p:sp>
      <p:sp>
        <p:nvSpPr>
          <p:cNvPr id="176132"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6.8  </a:t>
            </a:r>
            <a:r>
              <a:rPr lang="en-US" altLang="x-none" dirty="0">
                <a:ea typeface="宋体" panose="02010600030101010101" pitchFamily="2" charset="-122"/>
              </a:rPr>
              <a:t>Normal Forms</a:t>
            </a:r>
          </a:p>
        </p:txBody>
      </p:sp>
      <p:sp>
        <p:nvSpPr>
          <p:cNvPr id="176133" name="Rectangle 3"/>
          <p:cNvSpPr>
            <a:spLocks noGrp="1"/>
          </p:cNvSpPr>
          <p:nvPr>
            <p:ph type="body"/>
          </p:nvPr>
        </p:nvSpPr>
        <p:spPr/>
        <p:txBody>
          <a:bodyPr wrap="square" anchor="t"/>
          <a:lstStyle/>
          <a:p>
            <a:pPr marL="457200" lvl="0" indent="-457200" eaLnBrk="1" hangingPunct="1">
              <a:buAutoNum type="arabicParenR" startAt="2"/>
            </a:pPr>
            <a:r>
              <a:rPr lang="en-US" altLang="x-none" dirty="0">
                <a:ea typeface="宋体" panose="02010600030101010101" pitchFamily="2" charset="-122"/>
              </a:rPr>
              <a:t>R (A, B, C)</a:t>
            </a:r>
            <a:r>
              <a:rPr lang="en-US" altLang="x-none" dirty="0">
                <a:latin typeface="宋体" panose="02010600030101010101" pitchFamily="2" charset="-122"/>
                <a:ea typeface="宋体" panose="02010600030101010101" pitchFamily="2" charset="-122"/>
              </a:rPr>
              <a:t>，    </a:t>
            </a:r>
            <a:r>
              <a:rPr lang="en-US" altLang="x-none" dirty="0">
                <a:ea typeface="宋体" panose="02010600030101010101" pitchFamily="2" charset="-122"/>
              </a:rPr>
              <a:t>F: { A</a:t>
            </a:r>
            <a:r>
              <a:rPr lang="en-US" altLang="x-none" dirty="0">
                <a:ea typeface="宋体" panose="02010600030101010101" pitchFamily="2" charset="-122"/>
                <a:sym typeface="Symbol" panose="05050102010706020507" pitchFamily="2" charset="2"/>
              </a:rPr>
              <a:t></a:t>
            </a:r>
            <a:r>
              <a:rPr lang="en-US" altLang="x-none" dirty="0">
                <a:ea typeface="宋体" panose="02010600030101010101" pitchFamily="2" charset="-122"/>
              </a:rPr>
              <a:t>B, B</a:t>
            </a:r>
            <a:r>
              <a:rPr lang="en-US" altLang="x-none" dirty="0">
                <a:ea typeface="宋体" panose="02010600030101010101" pitchFamily="2" charset="-122"/>
                <a:sym typeface="Symbol" panose="05050102010706020507" pitchFamily="2" charset="2"/>
              </a:rPr>
              <a:t></a:t>
            </a:r>
            <a:r>
              <a:rPr lang="en-US" altLang="x-none" dirty="0">
                <a:ea typeface="宋体" panose="02010600030101010101" pitchFamily="2" charset="-122"/>
              </a:rPr>
              <a:t>A, A</a:t>
            </a:r>
            <a:r>
              <a:rPr lang="en-US" altLang="x-none" dirty="0">
                <a:ea typeface="宋体" panose="02010600030101010101" pitchFamily="2" charset="-122"/>
                <a:sym typeface="Symbol" panose="05050102010706020507" pitchFamily="2" charset="2"/>
              </a:rPr>
              <a:t></a:t>
            </a:r>
            <a:r>
              <a:rPr lang="en-US" altLang="x-none" dirty="0">
                <a:ea typeface="宋体" panose="02010600030101010101" pitchFamily="2" charset="-122"/>
              </a:rPr>
              <a:t>C };</a:t>
            </a:r>
          </a:p>
        </p:txBody>
      </p:sp>
      <p:sp>
        <p:nvSpPr>
          <p:cNvPr id="176135" name="Rectangle 4"/>
          <p:cNvSpPr/>
          <p:nvPr/>
        </p:nvSpPr>
        <p:spPr>
          <a:xfrm>
            <a:off x="457200" y="1676400"/>
            <a:ext cx="8229600" cy="4038600"/>
          </a:xfrm>
          <a:prstGeom prst="rect">
            <a:avLst/>
          </a:prstGeom>
          <a:solidFill>
            <a:schemeClr val="bg1"/>
          </a:solidFill>
          <a:ln w="25400" cap="flat" cmpd="sng">
            <a:solidFill>
              <a:schemeClr val="tx1"/>
            </a:solidFill>
            <a:prstDash val="solid"/>
            <a:miter/>
            <a:headEnd type="none" w="med" len="med"/>
            <a:tailEnd type="none" w="med" len="med"/>
          </a:ln>
        </p:spPr>
        <p:txBody>
          <a:bodyPr anchor="t"/>
          <a:lstStyle/>
          <a:p>
            <a:pPr marL="342900" lvl="0" indent="-342900">
              <a:lnSpc>
                <a:spcPct val="140000"/>
              </a:lnSpc>
              <a:spcBef>
                <a:spcPct val="20000"/>
              </a:spcBef>
              <a:buFont typeface="Wingdings" panose="05000000000000000000" pitchFamily="2" charset="2"/>
              <a:buNone/>
            </a:pPr>
            <a:r>
              <a:rPr lang="zh-CN" altLang="en-US" sz="2800" b="1" dirty="0">
                <a:solidFill>
                  <a:srgbClr val="FF0000"/>
                </a:solidFill>
                <a:latin typeface="Arial" panose="020B0604020202020204" pitchFamily="34" charset="0"/>
                <a:ea typeface="宋体" panose="02010600030101010101" pitchFamily="2" charset="-122"/>
              </a:rPr>
              <a:t>解1：</a:t>
            </a:r>
            <a:r>
              <a:rPr lang="en-US" altLang="x-none" sz="2800" b="1" dirty="0">
                <a:solidFill>
                  <a:srgbClr val="FF0000"/>
                </a:solidFill>
                <a:latin typeface="Arial" panose="020B0604020202020204" pitchFamily="34" charset="0"/>
                <a:ea typeface="宋体" panose="02010600030101010101" pitchFamily="2" charset="-122"/>
              </a:rPr>
              <a:t>K = { A, B, C }</a:t>
            </a:r>
          </a:p>
          <a:p>
            <a:pPr marL="742950" lvl="1" indent="-285750">
              <a:lnSpc>
                <a:spcPct val="140000"/>
              </a:lnSpc>
              <a:spcBef>
                <a:spcPct val="20000"/>
              </a:spcBef>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 {</a:t>
            </a:r>
            <a:r>
              <a:rPr lang="en-US" altLang="x-none" sz="2800" b="1" dirty="0">
                <a:solidFill>
                  <a:schemeClr val="accent2"/>
                </a:solidFill>
                <a:latin typeface="Arial" panose="020B0604020202020204" pitchFamily="34" charset="0"/>
                <a:ea typeface="宋体" panose="02010600030101010101" pitchFamily="2" charset="-122"/>
              </a:rPr>
              <a:t>K–A}</a:t>
            </a:r>
            <a:r>
              <a:rPr lang="en-US" altLang="x-none" sz="2800" b="1" baseline="30000" dirty="0">
                <a:solidFill>
                  <a:schemeClr val="accent2"/>
                </a:solidFill>
                <a:latin typeface="Arial" panose="020B0604020202020204" pitchFamily="34" charset="0"/>
                <a:ea typeface="宋体" panose="02010600030101010101" pitchFamily="2" charset="-122"/>
              </a:rPr>
              <a:t>+</a:t>
            </a:r>
            <a:r>
              <a:rPr lang="en-US" altLang="x-none" sz="2800" b="1" dirty="0">
                <a:solidFill>
                  <a:schemeClr val="accent2"/>
                </a:solidFill>
                <a:latin typeface="Arial" panose="020B0604020202020204" pitchFamily="34" charset="0"/>
                <a:ea typeface="宋体" panose="02010600030101010101" pitchFamily="2" charset="-122"/>
              </a:rPr>
              <a:t> = {B,C, A} = U   </a:t>
            </a:r>
            <a:r>
              <a:rPr lang="zh-CN" altLang="en-US" sz="2800" b="1" dirty="0">
                <a:solidFill>
                  <a:schemeClr val="accent2"/>
                </a:solidFill>
                <a:latin typeface="Arial" panose="020B0604020202020204" pitchFamily="34" charset="0"/>
                <a:ea typeface="宋体" panose="02010600030101010101" pitchFamily="2" charset="-122"/>
              </a:rPr>
              <a:t>∴ </a:t>
            </a:r>
            <a:r>
              <a:rPr lang="en-US" altLang="x-none" sz="2800" b="1" dirty="0">
                <a:solidFill>
                  <a:schemeClr val="accent2"/>
                </a:solidFill>
                <a:latin typeface="Arial" panose="020B0604020202020204" pitchFamily="34" charset="0"/>
                <a:ea typeface="宋体" panose="02010600030101010101" pitchFamily="2" charset="-122"/>
              </a:rPr>
              <a:t>K = K–A = {B,C}</a:t>
            </a:r>
          </a:p>
          <a:p>
            <a:pPr marL="742950" lvl="1" indent="-285750">
              <a:lnSpc>
                <a:spcPct val="140000"/>
              </a:lnSpc>
              <a:spcBef>
                <a:spcPct val="20000"/>
              </a:spcBef>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 {</a:t>
            </a:r>
            <a:r>
              <a:rPr lang="en-US" altLang="x-none" sz="2800" b="1" dirty="0">
                <a:solidFill>
                  <a:schemeClr val="accent2"/>
                </a:solidFill>
                <a:latin typeface="Arial" panose="020B0604020202020204" pitchFamily="34" charset="0"/>
                <a:ea typeface="宋体" panose="02010600030101010101" pitchFamily="2" charset="-122"/>
              </a:rPr>
              <a:t>K–B}</a:t>
            </a:r>
            <a:r>
              <a:rPr lang="en-US" altLang="x-none" sz="2800" b="1" baseline="30000" dirty="0">
                <a:solidFill>
                  <a:schemeClr val="accent2"/>
                </a:solidFill>
                <a:latin typeface="Arial" panose="020B0604020202020204" pitchFamily="34" charset="0"/>
                <a:ea typeface="宋体" panose="02010600030101010101" pitchFamily="2" charset="-122"/>
              </a:rPr>
              <a:t>+</a:t>
            </a:r>
            <a:r>
              <a:rPr lang="en-US" altLang="x-none" sz="2800" b="1" dirty="0">
                <a:solidFill>
                  <a:schemeClr val="accent2"/>
                </a:solidFill>
                <a:latin typeface="Arial" panose="020B0604020202020204" pitchFamily="34" charset="0"/>
                <a:ea typeface="宋体" panose="02010600030101010101" pitchFamily="2" charset="-122"/>
              </a:rPr>
              <a:t> = {C}  </a:t>
            </a:r>
            <a:r>
              <a:rPr lang="en-US" altLang="x-none" sz="2800" b="1" dirty="0">
                <a:solidFill>
                  <a:schemeClr val="accent2"/>
                </a:solidFill>
                <a:latin typeface="Arial" panose="020B0604020202020204" pitchFamily="34" charset="0"/>
                <a:ea typeface="宋体" panose="02010600030101010101" pitchFamily="2" charset="-122"/>
                <a:sym typeface="Symbol" panose="05050102010706020507" pitchFamily="2" charset="2"/>
              </a:rPr>
              <a:t>  U</a:t>
            </a:r>
            <a:endParaRPr lang="en-US" altLang="x-none" sz="2800" b="1" dirty="0">
              <a:solidFill>
                <a:schemeClr val="accent2"/>
              </a:solidFill>
              <a:latin typeface="Arial" panose="020B0604020202020204" pitchFamily="34" charset="0"/>
              <a:ea typeface="宋体" panose="02010600030101010101" pitchFamily="2" charset="-122"/>
            </a:endParaRPr>
          </a:p>
          <a:p>
            <a:pPr marL="742950" lvl="1" indent="-285750">
              <a:lnSpc>
                <a:spcPct val="140000"/>
              </a:lnSpc>
              <a:spcBef>
                <a:spcPct val="20000"/>
              </a:spcBef>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 {</a:t>
            </a:r>
            <a:r>
              <a:rPr lang="en-US" altLang="x-none" sz="2800" b="1" dirty="0">
                <a:solidFill>
                  <a:schemeClr val="accent2"/>
                </a:solidFill>
                <a:latin typeface="Arial" panose="020B0604020202020204" pitchFamily="34" charset="0"/>
                <a:ea typeface="宋体" panose="02010600030101010101" pitchFamily="2" charset="-122"/>
              </a:rPr>
              <a:t>K–C}</a:t>
            </a:r>
            <a:r>
              <a:rPr lang="en-US" altLang="x-none" sz="2800" b="1" baseline="30000" dirty="0">
                <a:solidFill>
                  <a:schemeClr val="accent2"/>
                </a:solidFill>
                <a:latin typeface="Arial" panose="020B0604020202020204" pitchFamily="34" charset="0"/>
                <a:ea typeface="宋体" panose="02010600030101010101" pitchFamily="2" charset="-122"/>
              </a:rPr>
              <a:t>+</a:t>
            </a:r>
            <a:r>
              <a:rPr lang="en-US" altLang="x-none" sz="2800" b="1" dirty="0">
                <a:solidFill>
                  <a:schemeClr val="accent2"/>
                </a:solidFill>
                <a:latin typeface="Arial" panose="020B0604020202020204" pitchFamily="34" charset="0"/>
                <a:ea typeface="宋体" panose="02010600030101010101" pitchFamily="2" charset="-122"/>
              </a:rPr>
              <a:t> = {B, A, C} = U   </a:t>
            </a:r>
            <a:r>
              <a:rPr lang="zh-CN" altLang="en-US" sz="2800" b="1" dirty="0">
                <a:solidFill>
                  <a:schemeClr val="accent2"/>
                </a:solidFill>
                <a:latin typeface="Arial" panose="020B0604020202020204" pitchFamily="34" charset="0"/>
                <a:ea typeface="宋体" panose="02010600030101010101" pitchFamily="2" charset="-122"/>
              </a:rPr>
              <a:t>∴ </a:t>
            </a:r>
            <a:r>
              <a:rPr lang="en-US" altLang="x-none" sz="2800" b="1" dirty="0">
                <a:solidFill>
                  <a:schemeClr val="accent2"/>
                </a:solidFill>
                <a:latin typeface="Arial" panose="020B0604020202020204" pitchFamily="34" charset="0"/>
                <a:ea typeface="宋体" panose="02010600030101010101" pitchFamily="2" charset="-122"/>
              </a:rPr>
              <a:t>K = K–C = {B}</a:t>
            </a:r>
            <a:endParaRPr lang="en-US" altLang="x-none" sz="2800" b="1" dirty="0">
              <a:solidFill>
                <a:schemeClr val="accent2"/>
              </a:solidFill>
              <a:latin typeface="Arial" panose="020B0604020202020204" pitchFamily="34" charset="0"/>
              <a:ea typeface="宋体" panose="02010600030101010101" pitchFamily="2" charset="-122"/>
              <a:sym typeface="Symbol" panose="05050102010706020507" pitchFamily="2" charset="2"/>
            </a:endParaRPr>
          </a:p>
          <a:p>
            <a:pPr marL="742950" lvl="1" indent="-285750">
              <a:lnSpc>
                <a:spcPct val="140000"/>
              </a:lnSpc>
              <a:spcBef>
                <a:spcPct val="20000"/>
              </a:spcBef>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return { B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176135"/>
                                        </p:tgtEl>
                                        <p:attrNameLst>
                                          <p:attrName>style.visibility</p:attrName>
                                        </p:attrNameLst>
                                      </p:cBhvr>
                                      <p:to>
                                        <p:strVal val="visible"/>
                                      </p:to>
                                    </p:set>
                                    <p:animEffect transition="in" filter="barn(outVertical)">
                                      <p:cBhvr>
                                        <p:cTn id="7" dur="500"/>
                                        <p:tgtEl>
                                          <p:spTgt spid="176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5"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77154"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77155"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108</a:t>
            </a:fld>
            <a:endParaRPr lang="zh-CN" altLang="en-US" sz="1200" b="1" i="1" dirty="0">
              <a:latin typeface="Times New Roman" panose="02020603050405020304" pitchFamily="2" charset="0"/>
              <a:ea typeface="宋体" panose="02010600030101010101" pitchFamily="2" charset="-122"/>
            </a:endParaRPr>
          </a:p>
        </p:txBody>
      </p:sp>
      <p:sp>
        <p:nvSpPr>
          <p:cNvPr id="177156"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6.8  </a:t>
            </a:r>
            <a:r>
              <a:rPr lang="en-US" altLang="x-none" dirty="0">
                <a:ea typeface="宋体" panose="02010600030101010101" pitchFamily="2" charset="-122"/>
              </a:rPr>
              <a:t>Normal Forms</a:t>
            </a:r>
          </a:p>
        </p:txBody>
      </p:sp>
      <p:sp>
        <p:nvSpPr>
          <p:cNvPr id="177157" name="Rectangle 3"/>
          <p:cNvSpPr>
            <a:spLocks noGrp="1"/>
          </p:cNvSpPr>
          <p:nvPr>
            <p:ph type="body"/>
          </p:nvPr>
        </p:nvSpPr>
        <p:spPr/>
        <p:txBody>
          <a:bodyPr wrap="square" anchor="t"/>
          <a:lstStyle/>
          <a:p>
            <a:pPr marL="457200" lvl="0" indent="-457200" eaLnBrk="1" hangingPunct="1">
              <a:buAutoNum type="arabicParenR" startAt="2"/>
            </a:pPr>
            <a:r>
              <a:rPr lang="en-US" altLang="x-none" dirty="0">
                <a:ea typeface="宋体" panose="02010600030101010101" pitchFamily="2" charset="-122"/>
              </a:rPr>
              <a:t>R (A, B, C)</a:t>
            </a:r>
            <a:r>
              <a:rPr lang="en-US" altLang="x-none" dirty="0">
                <a:latin typeface="宋体" panose="02010600030101010101" pitchFamily="2" charset="-122"/>
                <a:ea typeface="宋体" panose="02010600030101010101" pitchFamily="2" charset="-122"/>
              </a:rPr>
              <a:t>，    </a:t>
            </a:r>
            <a:r>
              <a:rPr lang="en-US" altLang="x-none" dirty="0">
                <a:ea typeface="宋体" panose="02010600030101010101" pitchFamily="2" charset="-122"/>
              </a:rPr>
              <a:t>F: { A</a:t>
            </a:r>
            <a:r>
              <a:rPr lang="en-US" altLang="x-none" dirty="0">
                <a:ea typeface="宋体" panose="02010600030101010101" pitchFamily="2" charset="-122"/>
                <a:sym typeface="Symbol" panose="05050102010706020507" pitchFamily="2" charset="2"/>
              </a:rPr>
              <a:t></a:t>
            </a:r>
            <a:r>
              <a:rPr lang="en-US" altLang="x-none" dirty="0">
                <a:ea typeface="宋体" panose="02010600030101010101" pitchFamily="2" charset="-122"/>
              </a:rPr>
              <a:t>B, B</a:t>
            </a:r>
            <a:r>
              <a:rPr lang="en-US" altLang="x-none" dirty="0">
                <a:ea typeface="宋体" panose="02010600030101010101" pitchFamily="2" charset="-122"/>
                <a:sym typeface="Symbol" panose="05050102010706020507" pitchFamily="2" charset="2"/>
              </a:rPr>
              <a:t></a:t>
            </a:r>
            <a:r>
              <a:rPr lang="en-US" altLang="x-none" dirty="0">
                <a:ea typeface="宋体" panose="02010600030101010101" pitchFamily="2" charset="-122"/>
              </a:rPr>
              <a:t>A, A</a:t>
            </a:r>
            <a:r>
              <a:rPr lang="en-US" altLang="x-none" dirty="0">
                <a:ea typeface="宋体" panose="02010600030101010101" pitchFamily="2" charset="-122"/>
                <a:sym typeface="Symbol" panose="05050102010706020507" pitchFamily="2" charset="2"/>
              </a:rPr>
              <a:t></a:t>
            </a:r>
            <a:r>
              <a:rPr lang="en-US" altLang="x-none" dirty="0">
                <a:ea typeface="宋体" panose="02010600030101010101" pitchFamily="2" charset="-122"/>
              </a:rPr>
              <a:t>C };</a:t>
            </a:r>
          </a:p>
        </p:txBody>
      </p:sp>
      <p:sp>
        <p:nvSpPr>
          <p:cNvPr id="177159" name="Rectangle 5"/>
          <p:cNvSpPr/>
          <p:nvPr/>
        </p:nvSpPr>
        <p:spPr>
          <a:xfrm>
            <a:off x="457200" y="1752600"/>
            <a:ext cx="8229600" cy="4648200"/>
          </a:xfrm>
          <a:prstGeom prst="rect">
            <a:avLst/>
          </a:prstGeom>
          <a:solidFill>
            <a:schemeClr val="bg1"/>
          </a:solidFill>
          <a:ln w="25400" cap="flat" cmpd="sng">
            <a:solidFill>
              <a:schemeClr val="tx1"/>
            </a:solidFill>
            <a:prstDash val="solid"/>
            <a:miter/>
            <a:headEnd type="none" w="med" len="med"/>
            <a:tailEnd type="none" w="med" len="med"/>
          </a:ln>
        </p:spPr>
        <p:txBody>
          <a:bodyPr anchor="t"/>
          <a:lstStyle/>
          <a:p>
            <a:pPr marL="342900" lvl="0" indent="-342900">
              <a:lnSpc>
                <a:spcPct val="140000"/>
              </a:lnSpc>
              <a:spcBef>
                <a:spcPct val="20000"/>
              </a:spcBef>
              <a:buFont typeface="Wingdings" panose="05000000000000000000" pitchFamily="2" charset="2"/>
              <a:buNone/>
            </a:pPr>
            <a:r>
              <a:rPr lang="zh-CN" altLang="en-US" sz="2800" b="1" dirty="0">
                <a:solidFill>
                  <a:srgbClr val="FF0000"/>
                </a:solidFill>
                <a:latin typeface="Arial" panose="020B0604020202020204" pitchFamily="34" charset="0"/>
                <a:ea typeface="宋体" panose="02010600030101010101" pitchFamily="2" charset="-122"/>
              </a:rPr>
              <a:t>解2：</a:t>
            </a:r>
            <a:r>
              <a:rPr lang="en-US" altLang="x-none" sz="2800" b="1" dirty="0">
                <a:solidFill>
                  <a:srgbClr val="FF0000"/>
                </a:solidFill>
                <a:latin typeface="Arial" panose="020B0604020202020204" pitchFamily="34" charset="0"/>
                <a:ea typeface="宋体" panose="02010600030101010101" pitchFamily="2" charset="-122"/>
              </a:rPr>
              <a:t>K = { A, B, C }</a:t>
            </a:r>
          </a:p>
          <a:p>
            <a:pPr marL="742950" lvl="1" indent="-285750">
              <a:lnSpc>
                <a:spcPct val="140000"/>
              </a:lnSpc>
              <a:spcBef>
                <a:spcPct val="20000"/>
              </a:spcBef>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 {</a:t>
            </a:r>
            <a:r>
              <a:rPr lang="en-US" altLang="x-none" sz="2800" b="1" dirty="0">
                <a:solidFill>
                  <a:schemeClr val="accent2"/>
                </a:solidFill>
                <a:latin typeface="Arial" panose="020B0604020202020204" pitchFamily="34" charset="0"/>
                <a:ea typeface="宋体" panose="02010600030101010101" pitchFamily="2" charset="-122"/>
              </a:rPr>
              <a:t>K–B}</a:t>
            </a:r>
            <a:r>
              <a:rPr lang="en-US" altLang="x-none" sz="2800" b="1" baseline="30000" dirty="0">
                <a:solidFill>
                  <a:schemeClr val="accent2"/>
                </a:solidFill>
                <a:latin typeface="Arial" panose="020B0604020202020204" pitchFamily="34" charset="0"/>
                <a:ea typeface="宋体" panose="02010600030101010101" pitchFamily="2" charset="-122"/>
              </a:rPr>
              <a:t>+</a:t>
            </a:r>
            <a:r>
              <a:rPr lang="en-US" altLang="x-none" sz="2800" b="1" dirty="0">
                <a:solidFill>
                  <a:schemeClr val="accent2"/>
                </a:solidFill>
                <a:latin typeface="Arial" panose="020B0604020202020204" pitchFamily="34" charset="0"/>
                <a:ea typeface="宋体" panose="02010600030101010101" pitchFamily="2" charset="-122"/>
              </a:rPr>
              <a:t> = {A,C, B} = U   </a:t>
            </a:r>
            <a:r>
              <a:rPr lang="zh-CN" altLang="en-US" sz="2800" b="1" dirty="0">
                <a:solidFill>
                  <a:schemeClr val="accent2"/>
                </a:solidFill>
                <a:latin typeface="Arial" panose="020B0604020202020204" pitchFamily="34" charset="0"/>
                <a:ea typeface="宋体" panose="02010600030101010101" pitchFamily="2" charset="-122"/>
              </a:rPr>
              <a:t>∴ </a:t>
            </a:r>
            <a:r>
              <a:rPr lang="en-US" altLang="x-none" sz="2800" b="1" dirty="0">
                <a:solidFill>
                  <a:schemeClr val="accent2"/>
                </a:solidFill>
                <a:latin typeface="Arial" panose="020B0604020202020204" pitchFamily="34" charset="0"/>
                <a:ea typeface="宋体" panose="02010600030101010101" pitchFamily="2" charset="-122"/>
              </a:rPr>
              <a:t>K = K–B = {A,C}</a:t>
            </a:r>
          </a:p>
          <a:p>
            <a:pPr marL="742950" lvl="1" indent="-285750">
              <a:lnSpc>
                <a:spcPct val="140000"/>
              </a:lnSpc>
              <a:spcBef>
                <a:spcPct val="20000"/>
              </a:spcBef>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 {</a:t>
            </a:r>
            <a:r>
              <a:rPr lang="en-US" altLang="x-none" sz="2800" b="1" dirty="0">
                <a:solidFill>
                  <a:schemeClr val="accent2"/>
                </a:solidFill>
                <a:latin typeface="Arial" panose="020B0604020202020204" pitchFamily="34" charset="0"/>
                <a:ea typeface="宋体" panose="02010600030101010101" pitchFamily="2" charset="-122"/>
              </a:rPr>
              <a:t>K–A}</a:t>
            </a:r>
            <a:r>
              <a:rPr lang="en-US" altLang="x-none" sz="2800" b="1" baseline="30000" dirty="0">
                <a:solidFill>
                  <a:schemeClr val="accent2"/>
                </a:solidFill>
                <a:latin typeface="Arial" panose="020B0604020202020204" pitchFamily="34" charset="0"/>
                <a:ea typeface="宋体" panose="02010600030101010101" pitchFamily="2" charset="-122"/>
              </a:rPr>
              <a:t>+</a:t>
            </a:r>
            <a:r>
              <a:rPr lang="en-US" altLang="x-none" sz="2800" b="1" dirty="0">
                <a:solidFill>
                  <a:schemeClr val="accent2"/>
                </a:solidFill>
                <a:latin typeface="Arial" panose="020B0604020202020204" pitchFamily="34" charset="0"/>
                <a:ea typeface="宋体" panose="02010600030101010101" pitchFamily="2" charset="-122"/>
              </a:rPr>
              <a:t> = {C}  </a:t>
            </a:r>
            <a:r>
              <a:rPr lang="en-US" altLang="x-none" sz="2800" b="1" dirty="0">
                <a:solidFill>
                  <a:schemeClr val="accent2"/>
                </a:solidFill>
                <a:latin typeface="Arial" panose="020B0604020202020204" pitchFamily="34" charset="0"/>
                <a:ea typeface="宋体" panose="02010600030101010101" pitchFamily="2" charset="-122"/>
                <a:sym typeface="Symbol" panose="05050102010706020507" pitchFamily="2" charset="2"/>
              </a:rPr>
              <a:t>  U</a:t>
            </a:r>
            <a:endParaRPr lang="en-US" altLang="x-none" sz="2800" b="1" dirty="0">
              <a:solidFill>
                <a:schemeClr val="accent2"/>
              </a:solidFill>
              <a:latin typeface="Arial" panose="020B0604020202020204" pitchFamily="34" charset="0"/>
              <a:ea typeface="宋体" panose="02010600030101010101" pitchFamily="2" charset="-122"/>
            </a:endParaRPr>
          </a:p>
          <a:p>
            <a:pPr marL="742950" lvl="1" indent="-285750">
              <a:lnSpc>
                <a:spcPct val="140000"/>
              </a:lnSpc>
              <a:spcBef>
                <a:spcPct val="20000"/>
              </a:spcBef>
              <a:buFont typeface="Wingdings" panose="05000000000000000000" pitchFamily="2" charset="2"/>
              <a:buNone/>
            </a:pPr>
            <a:r>
              <a:rPr lang="zh-CN" altLang="en-US" sz="2800" b="1" dirty="0">
                <a:solidFill>
                  <a:schemeClr val="accent2"/>
                </a:solidFill>
                <a:latin typeface="Arial" panose="020B0604020202020204" pitchFamily="34" charset="0"/>
                <a:ea typeface="宋体" panose="02010600030101010101" pitchFamily="2" charset="-122"/>
              </a:rPr>
              <a:t>∵ {</a:t>
            </a:r>
            <a:r>
              <a:rPr lang="en-US" altLang="x-none" sz="2800" b="1" dirty="0">
                <a:solidFill>
                  <a:schemeClr val="accent2"/>
                </a:solidFill>
                <a:latin typeface="Arial" panose="020B0604020202020204" pitchFamily="34" charset="0"/>
                <a:ea typeface="宋体" panose="02010600030101010101" pitchFamily="2" charset="-122"/>
              </a:rPr>
              <a:t>K–C}</a:t>
            </a:r>
            <a:r>
              <a:rPr lang="en-US" altLang="x-none" sz="2800" b="1" baseline="30000" dirty="0">
                <a:solidFill>
                  <a:schemeClr val="accent2"/>
                </a:solidFill>
                <a:latin typeface="Arial" panose="020B0604020202020204" pitchFamily="34" charset="0"/>
                <a:ea typeface="宋体" panose="02010600030101010101" pitchFamily="2" charset="-122"/>
              </a:rPr>
              <a:t>+</a:t>
            </a:r>
            <a:r>
              <a:rPr lang="en-US" altLang="x-none" sz="2800" b="1" dirty="0">
                <a:solidFill>
                  <a:schemeClr val="accent2"/>
                </a:solidFill>
                <a:latin typeface="Arial" panose="020B0604020202020204" pitchFamily="34" charset="0"/>
                <a:ea typeface="宋体" panose="02010600030101010101" pitchFamily="2" charset="-122"/>
              </a:rPr>
              <a:t> = {A,B,C} = U   </a:t>
            </a:r>
            <a:r>
              <a:rPr lang="zh-CN" altLang="en-US" sz="2800" b="1" dirty="0">
                <a:solidFill>
                  <a:schemeClr val="accent2"/>
                </a:solidFill>
                <a:latin typeface="Arial" panose="020B0604020202020204" pitchFamily="34" charset="0"/>
                <a:ea typeface="宋体" panose="02010600030101010101" pitchFamily="2" charset="-122"/>
              </a:rPr>
              <a:t>∴ </a:t>
            </a:r>
            <a:r>
              <a:rPr lang="en-US" altLang="x-none" sz="2800" b="1" dirty="0">
                <a:solidFill>
                  <a:schemeClr val="accent2"/>
                </a:solidFill>
                <a:latin typeface="Arial" panose="020B0604020202020204" pitchFamily="34" charset="0"/>
                <a:ea typeface="宋体" panose="02010600030101010101" pitchFamily="2" charset="-122"/>
              </a:rPr>
              <a:t>K = K–C = {A}</a:t>
            </a:r>
            <a:endParaRPr lang="en-US" altLang="x-none" sz="2800" b="1" dirty="0">
              <a:solidFill>
                <a:schemeClr val="accent2"/>
              </a:solidFill>
              <a:latin typeface="Arial" panose="020B0604020202020204" pitchFamily="34" charset="0"/>
              <a:ea typeface="宋体" panose="02010600030101010101" pitchFamily="2" charset="-122"/>
              <a:sym typeface="Symbol" panose="05050102010706020507" pitchFamily="2" charset="2"/>
            </a:endParaRPr>
          </a:p>
          <a:p>
            <a:pPr marL="742950" lvl="1" indent="-285750">
              <a:lnSpc>
                <a:spcPct val="140000"/>
              </a:lnSpc>
              <a:spcBef>
                <a:spcPct val="20000"/>
              </a:spcBef>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return {A}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177159"/>
                                        </p:tgtEl>
                                        <p:attrNameLst>
                                          <p:attrName>style.visibility</p:attrName>
                                        </p:attrNameLst>
                                      </p:cBhvr>
                                      <p:to>
                                        <p:strVal val="visible"/>
                                      </p:to>
                                    </p:set>
                                    <p:animEffect transition="in" filter="barn(outVertical)">
                                      <p:cBhvr>
                                        <p:cTn id="7" dur="500"/>
                                        <p:tgtEl>
                                          <p:spTgt spid="177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9"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78178"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78179"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109</a:t>
            </a:fld>
            <a:endParaRPr lang="zh-CN" altLang="en-US" sz="1200" b="1" i="1" dirty="0">
              <a:latin typeface="Times New Roman" panose="02020603050405020304" pitchFamily="2" charset="0"/>
              <a:ea typeface="宋体" panose="02010600030101010101" pitchFamily="2" charset="-122"/>
            </a:endParaRPr>
          </a:p>
        </p:txBody>
      </p:sp>
      <p:sp>
        <p:nvSpPr>
          <p:cNvPr id="178180"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6.8  </a:t>
            </a:r>
            <a:r>
              <a:rPr lang="en-US" altLang="x-none" dirty="0">
                <a:ea typeface="宋体" panose="02010600030101010101" pitchFamily="2" charset="-122"/>
              </a:rPr>
              <a:t>Normal Forms</a:t>
            </a:r>
          </a:p>
        </p:txBody>
      </p:sp>
      <p:sp>
        <p:nvSpPr>
          <p:cNvPr id="178181" name="Rectangle 3"/>
          <p:cNvSpPr>
            <a:spLocks noGrp="1"/>
          </p:cNvSpPr>
          <p:nvPr>
            <p:ph type="body"/>
          </p:nvPr>
        </p:nvSpPr>
        <p:spPr>
          <a:xfrm>
            <a:off x="457200" y="838200"/>
            <a:ext cx="8229600" cy="3382963"/>
          </a:xfrm>
        </p:spPr>
        <p:txBody>
          <a:bodyPr wrap="square" anchor="t"/>
          <a:lstStyle/>
          <a:p>
            <a:pPr lvl="0" eaLnBrk="1" hangingPunct="1">
              <a:lnSpc>
                <a:spcPct val="120000"/>
              </a:lnSpc>
            </a:pPr>
            <a:r>
              <a:rPr lang="en-US" altLang="x-none" sz="3000" dirty="0">
                <a:ea typeface="宋体" panose="02010600030101010101" pitchFamily="2" charset="-122"/>
              </a:rPr>
              <a:t>Def. 6.8.5 A PRIME ATTRIBUTE </a:t>
            </a:r>
            <a:r>
              <a:rPr lang="en-US" altLang="x-none" sz="3000" dirty="0">
                <a:solidFill>
                  <a:schemeClr val="accent6"/>
                </a:solidFill>
                <a:ea typeface="宋体" panose="02010600030101010101" pitchFamily="2" charset="-122"/>
              </a:rPr>
              <a:t>(</a:t>
            </a:r>
            <a:r>
              <a:rPr lang="zh-CN" altLang="x-none" sz="3000" dirty="0">
                <a:solidFill>
                  <a:schemeClr val="accent6"/>
                </a:solidFill>
                <a:ea typeface="宋体" panose="02010600030101010101" pitchFamily="2" charset="-122"/>
              </a:rPr>
              <a:t>主属性</a:t>
            </a:r>
            <a:r>
              <a:rPr lang="en-US" altLang="zh-CN" sz="3000" dirty="0">
                <a:solidFill>
                  <a:schemeClr val="accent6"/>
                </a:solidFill>
                <a:ea typeface="宋体" panose="02010600030101010101" pitchFamily="2" charset="-122"/>
              </a:rPr>
              <a:t>)</a:t>
            </a:r>
          </a:p>
          <a:p>
            <a:pPr lvl="1" indent="-285750" eaLnBrk="1" hangingPunct="1">
              <a:lnSpc>
                <a:spcPct val="120000"/>
              </a:lnSpc>
            </a:pPr>
            <a:r>
              <a:rPr lang="en-US" altLang="x-none" sz="3000" dirty="0">
                <a:ea typeface="宋体" panose="02010600030101010101" pitchFamily="2" charset="-122"/>
              </a:rPr>
              <a:t>A prime attribute of a table T is any attribute that is part of a key for that table</a:t>
            </a:r>
          </a:p>
          <a:p>
            <a:pPr lvl="2" indent="-228600" eaLnBrk="1" hangingPunct="1">
              <a:lnSpc>
                <a:spcPct val="120000"/>
              </a:lnSpc>
            </a:pPr>
            <a:r>
              <a:rPr lang="en-US" altLang="x-none" sz="3000" dirty="0">
                <a:ea typeface="宋体" panose="02010600030101010101" pitchFamily="2" charset="-122"/>
              </a:rPr>
              <a:t>not necessarily a primary key</a:t>
            </a:r>
          </a:p>
        </p:txBody>
      </p:sp>
      <p:sp>
        <p:nvSpPr>
          <p:cNvPr id="178183" name="Rectangle 4"/>
          <p:cNvSpPr/>
          <p:nvPr/>
        </p:nvSpPr>
        <p:spPr>
          <a:xfrm>
            <a:off x="395288" y="4725988"/>
            <a:ext cx="8229600" cy="533400"/>
          </a:xfrm>
          <a:prstGeom prst="rect">
            <a:avLst/>
          </a:prstGeom>
          <a:noFill/>
          <a:ln w="9525">
            <a:noFill/>
          </a:ln>
        </p:spPr>
        <p:txBody>
          <a:bodyPr anchor="t"/>
          <a:lstStyle/>
          <a:p>
            <a:pPr marL="342900" lvl="0" indent="-342900">
              <a:spcBef>
                <a:spcPct val="20000"/>
              </a:spcBef>
              <a:buClr>
                <a:schemeClr val="accent1"/>
              </a:buClr>
              <a:buFont typeface="Wingdings" panose="05000000000000000000" pitchFamily="2" charset="2"/>
              <a:buChar char="q"/>
            </a:pPr>
            <a:r>
              <a:rPr lang="en-US" altLang="x-none" sz="3000" b="1" dirty="0">
                <a:solidFill>
                  <a:srgbClr val="FF0066"/>
                </a:solidFill>
                <a:latin typeface="Arial" panose="020B0604020202020204" pitchFamily="34" charset="0"/>
                <a:ea typeface="宋体" panose="02010600030101010101" pitchFamily="2" charset="-122"/>
              </a:rPr>
              <a:t>Def.  A NON-PRIME ATTRIBUTE</a:t>
            </a:r>
            <a:r>
              <a:rPr lang="en-US" altLang="x-none" sz="3000" b="1" dirty="0">
                <a:ea typeface="宋体" panose="02010600030101010101" pitchFamily="2" charset="-122"/>
                <a:sym typeface="+mn-ea"/>
              </a:rPr>
              <a:t> </a:t>
            </a:r>
            <a:r>
              <a:rPr lang="en-US" altLang="x-none" sz="3000" b="1" dirty="0">
                <a:solidFill>
                  <a:schemeClr val="accent6"/>
                </a:solidFill>
                <a:ea typeface="宋体" panose="02010600030101010101" pitchFamily="2" charset="-122"/>
                <a:sym typeface="+mn-ea"/>
              </a:rPr>
              <a:t>(</a:t>
            </a:r>
            <a:r>
              <a:rPr lang="zh-CN" altLang="x-none" sz="3000" b="1" dirty="0">
                <a:solidFill>
                  <a:schemeClr val="accent6"/>
                </a:solidFill>
                <a:ea typeface="宋体" panose="02010600030101010101" pitchFamily="2" charset="-122"/>
                <a:sym typeface="+mn-ea"/>
              </a:rPr>
              <a:t>非主属性</a:t>
            </a:r>
            <a:r>
              <a:rPr lang="en-US" altLang="zh-CN" sz="3000" b="1" dirty="0">
                <a:solidFill>
                  <a:schemeClr val="accent6"/>
                </a:solidFill>
                <a:ea typeface="宋体" panose="02010600030101010101" pitchFamily="2" charset="-122"/>
                <a:sym typeface="+mn-ea"/>
              </a:rPr>
              <a:t>)</a:t>
            </a:r>
            <a:endParaRPr lang="en-US" altLang="x-none" sz="3000" b="1" dirty="0">
              <a:solidFill>
                <a:srgbClr val="FF0066"/>
              </a:solidFill>
              <a:latin typeface="Arial" panose="020B0604020202020204" pitchFamily="34" charset="0"/>
              <a:ea typeface="宋体" panose="02010600030101010101" pitchFamily="2" charset="-122"/>
            </a:endParaRPr>
          </a:p>
        </p:txBody>
      </p:sp>
      <p:sp>
        <p:nvSpPr>
          <p:cNvPr id="2" name="动作按钮: 前进或下一项 178183">
            <a:hlinkClick r:id="rId2" action="ppaction://hlinksldjump"/>
          </p:cNvPr>
          <p:cNvSpPr/>
          <p:nvPr/>
        </p:nvSpPr>
        <p:spPr>
          <a:xfrm>
            <a:off x="8172450" y="6094413"/>
            <a:ext cx="576263" cy="431800"/>
          </a:xfrm>
          <a:prstGeom prst="actionButtonForwardNext">
            <a:avLst/>
          </a:prstGeom>
          <a:noFill/>
          <a:ln w="19050" cap="flat" cmpd="sng">
            <a:solidFill>
              <a:srgbClr val="996600"/>
            </a:solidFill>
            <a:prstDash val="solid"/>
            <a:miter/>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8183">
                                            <p:txEl>
                                              <p:pRg st="0" end="0"/>
                                            </p:txEl>
                                          </p:spTgt>
                                        </p:tgtEl>
                                        <p:attrNameLst>
                                          <p:attrName>style.visibility</p:attrName>
                                        </p:attrNameLst>
                                      </p:cBhvr>
                                      <p:to>
                                        <p:strVal val="visible"/>
                                      </p:to>
                                    </p:set>
                                    <p:animEffect transition="in" filter="blinds(horizontal)">
                                      <p:cBhvr>
                                        <p:cTn id="7" dur="500"/>
                                        <p:tgtEl>
                                          <p:spTgt spid="17818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83" grpId="0" build="p"/>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79202"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79203"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110</a:t>
            </a:fld>
            <a:endParaRPr lang="zh-CN" altLang="en-US" sz="1200" b="1" i="1" dirty="0">
              <a:latin typeface="Times New Roman" panose="02020603050405020304" pitchFamily="2" charset="0"/>
              <a:ea typeface="宋体" panose="02010600030101010101" pitchFamily="2" charset="-122"/>
            </a:endParaRPr>
          </a:p>
        </p:txBody>
      </p:sp>
      <p:sp>
        <p:nvSpPr>
          <p:cNvPr id="179204"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6.8  </a:t>
            </a:r>
            <a:r>
              <a:rPr lang="en-US" altLang="x-none" dirty="0">
                <a:ea typeface="宋体" panose="02010600030101010101" pitchFamily="2" charset="-122"/>
              </a:rPr>
              <a:t>Normal Forms</a:t>
            </a:r>
            <a:endParaRPr lang="zh-CN" altLang="en-US" dirty="0">
              <a:ea typeface="宋体" panose="02010600030101010101" pitchFamily="2" charset="-122"/>
            </a:endParaRPr>
          </a:p>
        </p:txBody>
      </p:sp>
      <p:graphicFrame>
        <p:nvGraphicFramePr>
          <p:cNvPr id="179206" name="表格 179205"/>
          <p:cNvGraphicFramePr/>
          <p:nvPr/>
        </p:nvGraphicFramePr>
        <p:xfrm>
          <a:off x="152400" y="914400"/>
          <a:ext cx="8670925" cy="5410200"/>
        </p:xfrm>
        <a:graphic>
          <a:graphicData uri="http://schemas.openxmlformats.org/drawingml/2006/table">
            <a:tbl>
              <a:tblPr/>
              <a:tblGrid>
                <a:gridCol w="3611880">
                  <a:extLst>
                    <a:ext uri="{9D8B030D-6E8A-4147-A177-3AD203B41FA5}">
                      <a16:colId xmlns:a16="http://schemas.microsoft.com/office/drawing/2014/main" val="20000"/>
                    </a:ext>
                  </a:extLst>
                </a:gridCol>
                <a:gridCol w="1281430">
                  <a:extLst>
                    <a:ext uri="{9D8B030D-6E8A-4147-A177-3AD203B41FA5}">
                      <a16:colId xmlns:a16="http://schemas.microsoft.com/office/drawing/2014/main" val="20001"/>
                    </a:ext>
                  </a:extLst>
                </a:gridCol>
                <a:gridCol w="1802765">
                  <a:extLst>
                    <a:ext uri="{9D8B030D-6E8A-4147-A177-3AD203B41FA5}">
                      <a16:colId xmlns:a16="http://schemas.microsoft.com/office/drawing/2014/main" val="20002"/>
                    </a:ext>
                  </a:extLst>
                </a:gridCol>
                <a:gridCol w="1974850">
                  <a:extLst>
                    <a:ext uri="{9D8B030D-6E8A-4147-A177-3AD203B41FA5}">
                      <a16:colId xmlns:a16="http://schemas.microsoft.com/office/drawing/2014/main" val="20003"/>
                    </a:ext>
                  </a:extLst>
                </a:gridCol>
              </a:tblGrid>
              <a:tr h="12128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Schema</a:t>
                      </a:r>
                      <a:endParaRPr lang="en-US" altLang="x-none" dirty="0">
                        <a:solidFill>
                          <a:srgbClr val="FF0000"/>
                        </a:solidFill>
                        <a:latin typeface="Arial" panose="020B0604020202020204" pitchFamily="34" charset="0"/>
                        <a:ea typeface="宋体" panose="02010600030101010101" pitchFamily="2" charset="-122"/>
                      </a:endParaRPr>
                    </a:p>
                  </a:txBody>
                  <a:tcPr marL="0" marR="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Key</a:t>
                      </a:r>
                      <a:endParaRPr lang="en-US" altLang="x-none" dirty="0">
                        <a:solidFill>
                          <a:srgbClr val="FF0000"/>
                        </a:solidFill>
                        <a:latin typeface="Arial" panose="020B0604020202020204" pitchFamily="34" charset="0"/>
                        <a:ea typeface="宋体" panose="02010600030101010101" pitchFamily="2" charset="-122"/>
                      </a:endParaRPr>
                    </a:p>
                  </a:txBody>
                  <a:tcPr marL="0" marR="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Prime attributes</a:t>
                      </a:r>
                      <a:endParaRPr lang="en-US" altLang="x-none" dirty="0">
                        <a:solidFill>
                          <a:srgbClr val="FF0000"/>
                        </a:solidFill>
                        <a:latin typeface="Arial" panose="020B0604020202020204" pitchFamily="34" charset="0"/>
                        <a:ea typeface="宋体" panose="02010600030101010101" pitchFamily="2" charset="-122"/>
                      </a:endParaRPr>
                    </a:p>
                  </a:txBody>
                  <a:tcPr marL="0" marR="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Non-prime attributes</a:t>
                      </a:r>
                      <a:endParaRPr lang="en-US" altLang="x-none" dirty="0">
                        <a:solidFill>
                          <a:srgbClr val="FF0000"/>
                        </a:solidFill>
                        <a:latin typeface="Arial" panose="020B0604020202020204" pitchFamily="34" charset="0"/>
                        <a:ea typeface="宋体" panose="02010600030101010101" pitchFamily="2" charset="-122"/>
                      </a:endParaRPr>
                    </a:p>
                  </a:txBody>
                  <a:tcPr marL="0" marR="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2872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R (A, B, C, D)</a:t>
                      </a:r>
                      <a:endParaRPr lang="en-US" altLang="x-none" sz="2800" dirty="0">
                        <a:solidFill>
                          <a:schemeClr val="accent2"/>
                        </a:solidFill>
                        <a:latin typeface="宋体" panose="02010600030101010101" pitchFamily="2" charset="-122"/>
                        <a:ea typeface="宋体" panose="02010600030101010101" pitchFamily="2" charset="-122"/>
                      </a:endParaRPr>
                    </a:p>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 B</a:t>
                      </a:r>
                      <a:r>
                        <a:rPr lang="en-US" altLang="x-none" sz="2800"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2800" dirty="0">
                          <a:solidFill>
                            <a:schemeClr val="accent2"/>
                          </a:solidFill>
                          <a:latin typeface="Arial" panose="020B0604020202020204" pitchFamily="34" charset="0"/>
                          <a:ea typeface="宋体" panose="02010600030101010101" pitchFamily="2" charset="-122"/>
                        </a:rPr>
                        <a:t>D, AB</a:t>
                      </a:r>
                      <a:r>
                        <a:rPr lang="en-US" altLang="x-none" sz="2800"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2800" dirty="0">
                          <a:solidFill>
                            <a:schemeClr val="accent2"/>
                          </a:solidFill>
                          <a:latin typeface="Arial" panose="020B0604020202020204" pitchFamily="34" charset="0"/>
                          <a:ea typeface="宋体" panose="02010600030101010101" pitchFamily="2" charset="-122"/>
                        </a:rPr>
                        <a:t>C }</a:t>
                      </a:r>
                      <a:endParaRPr lang="zh-CN" altLang="en-US" sz="2800" dirty="0">
                        <a:solidFill>
                          <a:schemeClr val="accent2"/>
                        </a:solidFill>
                        <a:latin typeface="Arial" panose="020B0604020202020204" pitchFamily="34" charset="0"/>
                        <a:ea typeface="宋体" panose="02010600030101010101" pitchFamily="2" charset="-122"/>
                      </a:endParaRPr>
                    </a:p>
                  </a:txBody>
                  <a:tcPr marL="0" marR="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t>
                      </a:r>
                    </a:p>
                  </a:txBody>
                  <a:tcPr marL="0" marR="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t>
                      </a:r>
                    </a:p>
                  </a:txBody>
                  <a:tcPr marL="0" marR="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t>
                      </a:r>
                    </a:p>
                  </a:txBody>
                  <a:tcPr marL="0" marR="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73990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R (A, B, C)</a:t>
                      </a:r>
                      <a:endParaRPr lang="en-US" altLang="x-none" sz="2800" dirty="0">
                        <a:solidFill>
                          <a:schemeClr val="accent2"/>
                        </a:solidFill>
                        <a:latin typeface="宋体" panose="02010600030101010101" pitchFamily="2" charset="-122"/>
                        <a:ea typeface="宋体" panose="02010600030101010101" pitchFamily="2" charset="-122"/>
                      </a:endParaRPr>
                    </a:p>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 A</a:t>
                      </a:r>
                      <a:r>
                        <a:rPr lang="en-US" altLang="x-none" sz="2800"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2800" dirty="0">
                          <a:solidFill>
                            <a:schemeClr val="accent2"/>
                          </a:solidFill>
                          <a:latin typeface="Arial" panose="020B0604020202020204" pitchFamily="34" charset="0"/>
                          <a:ea typeface="宋体" panose="02010600030101010101" pitchFamily="2" charset="-122"/>
                        </a:rPr>
                        <a:t>B, B</a:t>
                      </a:r>
                      <a:r>
                        <a:rPr lang="en-US" altLang="x-none" sz="2800"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2800" dirty="0">
                          <a:solidFill>
                            <a:schemeClr val="accent2"/>
                          </a:solidFill>
                          <a:latin typeface="Arial" panose="020B0604020202020204" pitchFamily="34" charset="0"/>
                          <a:ea typeface="宋体" panose="02010600030101010101" pitchFamily="2" charset="-122"/>
                        </a:rPr>
                        <a:t>A, A</a:t>
                      </a:r>
                      <a:r>
                        <a:rPr lang="en-US" altLang="x-none" sz="2800"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2800" dirty="0">
                          <a:solidFill>
                            <a:schemeClr val="accent2"/>
                          </a:solidFill>
                          <a:latin typeface="Arial" panose="020B0604020202020204" pitchFamily="34" charset="0"/>
                          <a:ea typeface="宋体" panose="02010600030101010101" pitchFamily="2" charset="-122"/>
                        </a:rPr>
                        <a:t>C }</a:t>
                      </a:r>
                      <a:endParaRPr lang="zh-CN" altLang="en-US" sz="2800" dirty="0">
                        <a:solidFill>
                          <a:schemeClr val="accent2"/>
                        </a:solidFill>
                        <a:latin typeface="Arial" panose="020B0604020202020204" pitchFamily="34" charset="0"/>
                        <a:ea typeface="宋体" panose="02010600030101010101" pitchFamily="2" charset="-122"/>
                      </a:endParaRPr>
                    </a:p>
                  </a:txBody>
                  <a:tcPr marL="0" marR="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t>
                      </a:r>
                    </a:p>
                  </a:txBody>
                  <a:tcPr marL="0" marR="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t>
                      </a:r>
                    </a:p>
                  </a:txBody>
                  <a:tcPr marL="0" marR="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t>
                      </a:r>
                    </a:p>
                  </a:txBody>
                  <a:tcPr marL="0" marR="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22872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R (A, B, C, D)</a:t>
                      </a:r>
                      <a:endParaRPr lang="en-US" altLang="x-none" sz="2800" dirty="0">
                        <a:solidFill>
                          <a:schemeClr val="accent2"/>
                        </a:solidFill>
                        <a:latin typeface="宋体" panose="02010600030101010101" pitchFamily="2" charset="-122"/>
                        <a:ea typeface="宋体" panose="02010600030101010101" pitchFamily="2" charset="-122"/>
                      </a:endParaRPr>
                    </a:p>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 A</a:t>
                      </a:r>
                      <a:r>
                        <a:rPr lang="en-US" altLang="x-none" sz="2800"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2800" dirty="0">
                          <a:solidFill>
                            <a:schemeClr val="accent2"/>
                          </a:solidFill>
                          <a:latin typeface="Arial" panose="020B0604020202020204" pitchFamily="34" charset="0"/>
                          <a:ea typeface="宋体" panose="02010600030101010101" pitchFamily="2" charset="-122"/>
                        </a:rPr>
                        <a:t>C, CD</a:t>
                      </a:r>
                      <a:r>
                        <a:rPr lang="en-US" altLang="x-none" sz="2800"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2800" dirty="0">
                          <a:solidFill>
                            <a:schemeClr val="accent2"/>
                          </a:solidFill>
                          <a:latin typeface="Arial" panose="020B0604020202020204" pitchFamily="34" charset="0"/>
                          <a:ea typeface="宋体" panose="02010600030101010101" pitchFamily="2" charset="-122"/>
                        </a:rPr>
                        <a:t>B }</a:t>
                      </a:r>
                      <a:endParaRPr lang="zh-CN" altLang="en-US" sz="2800" dirty="0">
                        <a:solidFill>
                          <a:schemeClr val="accent2"/>
                        </a:solidFill>
                        <a:latin typeface="Arial" panose="020B0604020202020204" pitchFamily="34" charset="0"/>
                        <a:ea typeface="宋体" panose="02010600030101010101" pitchFamily="2" charset="-122"/>
                      </a:endParaRPr>
                    </a:p>
                  </a:txBody>
                  <a:tcPr marL="0" marR="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t>
                      </a:r>
                    </a:p>
                  </a:txBody>
                  <a:tcPr marL="0" marR="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t>
                      </a:r>
                    </a:p>
                  </a:txBody>
                  <a:tcPr marL="0" marR="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t>
                      </a:r>
                    </a:p>
                  </a:txBody>
                  <a:tcPr marL="0" marR="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79202"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79203"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111</a:t>
            </a:fld>
            <a:endParaRPr lang="zh-CN" altLang="en-US" sz="1200" b="1" i="1" dirty="0">
              <a:latin typeface="Times New Roman" panose="02020603050405020304" pitchFamily="2" charset="0"/>
              <a:ea typeface="宋体" panose="02010600030101010101" pitchFamily="2" charset="-122"/>
            </a:endParaRPr>
          </a:p>
        </p:txBody>
      </p:sp>
      <p:sp>
        <p:nvSpPr>
          <p:cNvPr id="179204"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6.8  </a:t>
            </a:r>
            <a:r>
              <a:rPr lang="en-US" altLang="x-none" dirty="0">
                <a:ea typeface="宋体" panose="02010600030101010101" pitchFamily="2" charset="-122"/>
              </a:rPr>
              <a:t>Normal Forms</a:t>
            </a:r>
            <a:endParaRPr lang="zh-CN" altLang="en-US" dirty="0">
              <a:ea typeface="宋体" panose="02010600030101010101" pitchFamily="2" charset="-122"/>
            </a:endParaRPr>
          </a:p>
        </p:txBody>
      </p:sp>
      <p:graphicFrame>
        <p:nvGraphicFramePr>
          <p:cNvPr id="179206" name="表格 179205"/>
          <p:cNvGraphicFramePr/>
          <p:nvPr/>
        </p:nvGraphicFramePr>
        <p:xfrm>
          <a:off x="152400" y="914400"/>
          <a:ext cx="8670925" cy="5410200"/>
        </p:xfrm>
        <a:graphic>
          <a:graphicData uri="http://schemas.openxmlformats.org/drawingml/2006/table">
            <a:tbl>
              <a:tblPr/>
              <a:tblGrid>
                <a:gridCol w="3611880">
                  <a:extLst>
                    <a:ext uri="{9D8B030D-6E8A-4147-A177-3AD203B41FA5}">
                      <a16:colId xmlns:a16="http://schemas.microsoft.com/office/drawing/2014/main" val="20000"/>
                    </a:ext>
                  </a:extLst>
                </a:gridCol>
                <a:gridCol w="1281430">
                  <a:extLst>
                    <a:ext uri="{9D8B030D-6E8A-4147-A177-3AD203B41FA5}">
                      <a16:colId xmlns:a16="http://schemas.microsoft.com/office/drawing/2014/main" val="20001"/>
                    </a:ext>
                  </a:extLst>
                </a:gridCol>
                <a:gridCol w="1802765">
                  <a:extLst>
                    <a:ext uri="{9D8B030D-6E8A-4147-A177-3AD203B41FA5}">
                      <a16:colId xmlns:a16="http://schemas.microsoft.com/office/drawing/2014/main" val="20002"/>
                    </a:ext>
                  </a:extLst>
                </a:gridCol>
                <a:gridCol w="1974850">
                  <a:extLst>
                    <a:ext uri="{9D8B030D-6E8A-4147-A177-3AD203B41FA5}">
                      <a16:colId xmlns:a16="http://schemas.microsoft.com/office/drawing/2014/main" val="20003"/>
                    </a:ext>
                  </a:extLst>
                </a:gridCol>
              </a:tblGrid>
              <a:tr h="121285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Schema</a:t>
                      </a:r>
                      <a:endParaRPr lang="en-US" altLang="x-none" dirty="0">
                        <a:solidFill>
                          <a:srgbClr val="FF0000"/>
                        </a:solidFill>
                        <a:latin typeface="Arial" panose="020B0604020202020204" pitchFamily="34" charset="0"/>
                        <a:ea typeface="宋体" panose="02010600030101010101" pitchFamily="2" charset="-122"/>
                      </a:endParaRPr>
                    </a:p>
                  </a:txBody>
                  <a:tcPr marL="0" marR="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Key</a:t>
                      </a:r>
                      <a:endParaRPr lang="en-US" altLang="x-none" dirty="0">
                        <a:solidFill>
                          <a:srgbClr val="FF0000"/>
                        </a:solidFill>
                        <a:latin typeface="Arial" panose="020B0604020202020204" pitchFamily="34" charset="0"/>
                        <a:ea typeface="宋体" panose="02010600030101010101" pitchFamily="2" charset="-122"/>
                      </a:endParaRPr>
                    </a:p>
                  </a:txBody>
                  <a:tcPr marL="0" marR="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Prime attributes</a:t>
                      </a:r>
                      <a:endParaRPr lang="en-US" altLang="x-none" dirty="0">
                        <a:solidFill>
                          <a:srgbClr val="FF0000"/>
                        </a:solidFill>
                        <a:latin typeface="Arial" panose="020B0604020202020204" pitchFamily="34" charset="0"/>
                        <a:ea typeface="宋体" panose="02010600030101010101" pitchFamily="2" charset="-122"/>
                      </a:endParaRPr>
                    </a:p>
                  </a:txBody>
                  <a:tcPr marL="0" marR="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Non-prime attributes</a:t>
                      </a:r>
                      <a:endParaRPr lang="en-US" altLang="x-none" dirty="0">
                        <a:solidFill>
                          <a:srgbClr val="FF0000"/>
                        </a:solidFill>
                        <a:latin typeface="Arial" panose="020B0604020202020204" pitchFamily="34" charset="0"/>
                        <a:ea typeface="宋体" panose="02010600030101010101" pitchFamily="2" charset="-122"/>
                      </a:endParaRPr>
                    </a:p>
                  </a:txBody>
                  <a:tcPr marL="0" marR="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2872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R</a:t>
                      </a:r>
                      <a:r>
                        <a:rPr lang="en-US" altLang="x-none" sz="2800" baseline="-25000" dirty="0">
                          <a:solidFill>
                            <a:schemeClr val="accent2"/>
                          </a:solidFill>
                          <a:latin typeface="Arial" panose="020B0604020202020204" pitchFamily="34" charset="0"/>
                          <a:ea typeface="宋体" panose="02010600030101010101" pitchFamily="2" charset="-122"/>
                        </a:rPr>
                        <a:t>1</a:t>
                      </a:r>
                      <a:r>
                        <a:rPr lang="en-US" altLang="x-none" sz="2800" dirty="0">
                          <a:solidFill>
                            <a:schemeClr val="accent2"/>
                          </a:solidFill>
                          <a:latin typeface="Arial" panose="020B0604020202020204" pitchFamily="34" charset="0"/>
                          <a:ea typeface="宋体" panose="02010600030101010101" pitchFamily="2" charset="-122"/>
                        </a:rPr>
                        <a:t> (A, B, C, D)</a:t>
                      </a:r>
                      <a:endParaRPr lang="en-US" altLang="x-none" sz="2800" dirty="0">
                        <a:solidFill>
                          <a:schemeClr val="accent2"/>
                        </a:solidFill>
                        <a:latin typeface="宋体" panose="02010600030101010101" pitchFamily="2" charset="-122"/>
                        <a:ea typeface="宋体" panose="02010600030101010101" pitchFamily="2" charset="-122"/>
                      </a:endParaRPr>
                    </a:p>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 B</a:t>
                      </a:r>
                      <a:r>
                        <a:rPr lang="en-US" altLang="x-none" sz="2800"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2800" dirty="0">
                          <a:solidFill>
                            <a:schemeClr val="accent2"/>
                          </a:solidFill>
                          <a:latin typeface="Arial" panose="020B0604020202020204" pitchFamily="34" charset="0"/>
                          <a:ea typeface="宋体" panose="02010600030101010101" pitchFamily="2" charset="-122"/>
                        </a:rPr>
                        <a:t>D, AB</a:t>
                      </a:r>
                      <a:r>
                        <a:rPr lang="en-US" altLang="x-none" sz="2800"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2800" dirty="0">
                          <a:solidFill>
                            <a:schemeClr val="accent2"/>
                          </a:solidFill>
                          <a:latin typeface="Arial" panose="020B0604020202020204" pitchFamily="34" charset="0"/>
                          <a:ea typeface="宋体" panose="02010600030101010101" pitchFamily="2" charset="-122"/>
                        </a:rPr>
                        <a:t>C }</a:t>
                      </a:r>
                      <a:endParaRPr lang="zh-CN" altLang="en-US" sz="2800" dirty="0">
                        <a:solidFill>
                          <a:schemeClr val="accent2"/>
                        </a:solidFill>
                        <a:latin typeface="Arial" panose="020B0604020202020204" pitchFamily="34" charset="0"/>
                        <a:ea typeface="宋体" panose="02010600030101010101" pitchFamily="2" charset="-122"/>
                      </a:endParaRPr>
                    </a:p>
                  </a:txBody>
                  <a:tcPr marL="0" marR="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t>
                      </a:r>
                    </a:p>
                  </a:txBody>
                  <a:tcPr marL="0" marR="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t>
                      </a:r>
                    </a:p>
                  </a:txBody>
                  <a:tcPr marL="0" marR="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t>
                      </a:r>
                    </a:p>
                  </a:txBody>
                  <a:tcPr marL="0" marR="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739900">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R</a:t>
                      </a:r>
                      <a:r>
                        <a:rPr lang="en-US" altLang="x-none" sz="2800" baseline="-25000" dirty="0">
                          <a:solidFill>
                            <a:schemeClr val="accent2"/>
                          </a:solidFill>
                          <a:latin typeface="Arial" panose="020B0604020202020204" pitchFamily="34" charset="0"/>
                          <a:ea typeface="宋体" panose="02010600030101010101" pitchFamily="2" charset="-122"/>
                        </a:rPr>
                        <a:t>2</a:t>
                      </a:r>
                      <a:r>
                        <a:rPr lang="en-US" altLang="x-none" sz="2800" dirty="0">
                          <a:solidFill>
                            <a:schemeClr val="accent2"/>
                          </a:solidFill>
                          <a:latin typeface="Arial" panose="020B0604020202020204" pitchFamily="34" charset="0"/>
                          <a:ea typeface="宋体" panose="02010600030101010101" pitchFamily="2" charset="-122"/>
                        </a:rPr>
                        <a:t> (A, B, C)</a:t>
                      </a:r>
                      <a:endParaRPr lang="en-US" altLang="x-none" sz="2800" dirty="0">
                        <a:solidFill>
                          <a:schemeClr val="accent2"/>
                        </a:solidFill>
                        <a:latin typeface="宋体" panose="02010600030101010101" pitchFamily="2" charset="-122"/>
                        <a:ea typeface="宋体" panose="02010600030101010101" pitchFamily="2" charset="-122"/>
                      </a:endParaRPr>
                    </a:p>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 A</a:t>
                      </a:r>
                      <a:r>
                        <a:rPr lang="en-US" altLang="x-none" sz="2800"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2800" dirty="0">
                          <a:solidFill>
                            <a:schemeClr val="accent2"/>
                          </a:solidFill>
                          <a:latin typeface="Arial" panose="020B0604020202020204" pitchFamily="34" charset="0"/>
                          <a:ea typeface="宋体" panose="02010600030101010101" pitchFamily="2" charset="-122"/>
                        </a:rPr>
                        <a:t>B, B</a:t>
                      </a:r>
                      <a:r>
                        <a:rPr lang="en-US" altLang="x-none" sz="2800"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2800" dirty="0">
                          <a:solidFill>
                            <a:schemeClr val="accent2"/>
                          </a:solidFill>
                          <a:latin typeface="Arial" panose="020B0604020202020204" pitchFamily="34" charset="0"/>
                          <a:ea typeface="宋体" panose="02010600030101010101" pitchFamily="2" charset="-122"/>
                        </a:rPr>
                        <a:t>A, A</a:t>
                      </a:r>
                      <a:r>
                        <a:rPr lang="en-US" altLang="x-none" sz="2800"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2800" dirty="0">
                          <a:solidFill>
                            <a:schemeClr val="accent2"/>
                          </a:solidFill>
                          <a:latin typeface="Arial" panose="020B0604020202020204" pitchFamily="34" charset="0"/>
                          <a:ea typeface="宋体" panose="02010600030101010101" pitchFamily="2" charset="-122"/>
                        </a:rPr>
                        <a:t>C }</a:t>
                      </a:r>
                      <a:endParaRPr lang="zh-CN" altLang="en-US" sz="2800" dirty="0">
                        <a:solidFill>
                          <a:schemeClr val="accent2"/>
                        </a:solidFill>
                        <a:latin typeface="Arial" panose="020B0604020202020204" pitchFamily="34" charset="0"/>
                        <a:ea typeface="宋体" panose="02010600030101010101" pitchFamily="2" charset="-122"/>
                      </a:endParaRPr>
                    </a:p>
                  </a:txBody>
                  <a:tcPr marL="0" marR="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t>
                      </a:r>
                    </a:p>
                  </a:txBody>
                  <a:tcPr marL="0" marR="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t>
                      </a:r>
                    </a:p>
                  </a:txBody>
                  <a:tcPr marL="0" marR="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t>
                      </a:r>
                    </a:p>
                  </a:txBody>
                  <a:tcPr marL="0" marR="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228725">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R</a:t>
                      </a:r>
                      <a:r>
                        <a:rPr lang="en-US" altLang="x-none" sz="2800" baseline="-25000" dirty="0">
                          <a:solidFill>
                            <a:schemeClr val="accent2"/>
                          </a:solidFill>
                          <a:latin typeface="Arial" panose="020B0604020202020204" pitchFamily="34" charset="0"/>
                          <a:ea typeface="宋体" panose="02010600030101010101" pitchFamily="2" charset="-122"/>
                        </a:rPr>
                        <a:t>3</a:t>
                      </a:r>
                      <a:r>
                        <a:rPr lang="en-US" altLang="x-none" sz="2800" dirty="0">
                          <a:solidFill>
                            <a:schemeClr val="accent2"/>
                          </a:solidFill>
                          <a:latin typeface="Arial" panose="020B0604020202020204" pitchFamily="34" charset="0"/>
                          <a:ea typeface="宋体" panose="02010600030101010101" pitchFamily="2" charset="-122"/>
                        </a:rPr>
                        <a:t> (A, B, C, D)</a:t>
                      </a:r>
                      <a:endParaRPr lang="en-US" altLang="x-none" sz="2800" dirty="0">
                        <a:solidFill>
                          <a:schemeClr val="accent2"/>
                        </a:solidFill>
                        <a:latin typeface="宋体" panose="02010600030101010101" pitchFamily="2" charset="-122"/>
                        <a:ea typeface="宋体" panose="02010600030101010101" pitchFamily="2" charset="-122"/>
                      </a:endParaRPr>
                    </a:p>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 A</a:t>
                      </a:r>
                      <a:r>
                        <a:rPr lang="en-US" altLang="x-none" sz="2800"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2800" dirty="0">
                          <a:solidFill>
                            <a:schemeClr val="accent2"/>
                          </a:solidFill>
                          <a:latin typeface="Arial" panose="020B0604020202020204" pitchFamily="34" charset="0"/>
                          <a:ea typeface="宋体" panose="02010600030101010101" pitchFamily="2" charset="-122"/>
                        </a:rPr>
                        <a:t>C, CD</a:t>
                      </a:r>
                      <a:r>
                        <a:rPr lang="en-US" altLang="x-none" sz="2800"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2800" dirty="0">
                          <a:solidFill>
                            <a:schemeClr val="accent2"/>
                          </a:solidFill>
                          <a:latin typeface="Arial" panose="020B0604020202020204" pitchFamily="34" charset="0"/>
                          <a:ea typeface="宋体" panose="02010600030101010101" pitchFamily="2" charset="-122"/>
                        </a:rPr>
                        <a:t>B }</a:t>
                      </a:r>
                      <a:endParaRPr lang="zh-CN" altLang="en-US" sz="2800" dirty="0">
                        <a:solidFill>
                          <a:schemeClr val="accent2"/>
                        </a:solidFill>
                        <a:latin typeface="Arial" panose="020B0604020202020204" pitchFamily="34" charset="0"/>
                        <a:ea typeface="宋体" panose="02010600030101010101" pitchFamily="2" charset="-122"/>
                      </a:endParaRPr>
                    </a:p>
                  </a:txBody>
                  <a:tcPr marL="0" marR="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t>
                      </a:r>
                    </a:p>
                  </a:txBody>
                  <a:tcPr marL="0" marR="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t>
                      </a:r>
                    </a:p>
                  </a:txBody>
                  <a:tcPr marL="0" marR="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400" b="1" u="none" kern="1200" baseline="0">
                          <a:solidFill>
                            <a:srgbClr val="FF0000"/>
                          </a:solidFill>
                          <a:latin typeface="Arial" panose="020B0604020202020204" pitchFamily="34" charset="0"/>
                        </a:defRPr>
                      </a:lvl1pPr>
                      <a:lvl2pPr marL="742950" lvl="1" indent="-285750">
                        <a:defRPr sz="2400" kern="1200">
                          <a:solidFill>
                            <a:schemeClr val="accent2"/>
                          </a:solidFill>
                        </a:defRPr>
                      </a:lvl2pPr>
                      <a:lvl3pPr marL="1143000" lvl="2" indent="-228600">
                        <a:defRPr sz="2400" kern="1200">
                          <a:solidFill>
                            <a:schemeClr val="tx1"/>
                          </a:solidFill>
                        </a:defRPr>
                      </a:lvl3pPr>
                      <a:lvl4pPr marL="1600200" lvl="3" indent="-228600">
                        <a:defRPr sz="2400" kern="1200">
                          <a:solidFill>
                            <a:schemeClr val="accent2"/>
                          </a:solidFill>
                        </a:defRPr>
                      </a:lvl4pPr>
                      <a:lvl5pPr marL="2057400" lvl="4" indent="-228600">
                        <a:defRPr sz="2400" kern="1200">
                          <a:solidFill>
                            <a:schemeClr val="tx1"/>
                          </a:solidFill>
                        </a:defRPr>
                      </a:lvl5pPr>
                    </a:lstStyle>
                    <a:p>
                      <a:pPr marL="0" lvl="0" indent="0" algn="ctr" eaLnBrk="1" hangingPunct="1">
                        <a:spcBef>
                          <a:spcPct val="20000"/>
                        </a:spcBef>
                        <a:buClr>
                          <a:srgbClr val="996633"/>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t>
                      </a:r>
                    </a:p>
                  </a:txBody>
                  <a:tcPr marL="0" marR="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 name="文本框 1"/>
          <p:cNvSpPr txBox="1"/>
          <p:nvPr/>
        </p:nvSpPr>
        <p:spPr>
          <a:xfrm>
            <a:off x="3843655" y="2387600"/>
            <a:ext cx="1108075" cy="521970"/>
          </a:xfrm>
          <a:prstGeom prst="rect">
            <a:avLst/>
          </a:prstGeom>
          <a:solidFill>
            <a:schemeClr val="bg1"/>
          </a:solidFill>
        </p:spPr>
        <p:txBody>
          <a:bodyPr wrap="square" rtlCol="0">
            <a:spAutoFit/>
          </a:bodyPr>
          <a:lstStyle/>
          <a:p>
            <a:pPr algn="ctr"/>
            <a:r>
              <a:rPr lang="en-US" altLang="zh-CN" sz="2800" b="1">
                <a:latin typeface="Arial" panose="020B0604020202020204" pitchFamily="34" charset="0"/>
              </a:rPr>
              <a:t>(A,B)</a:t>
            </a:r>
          </a:p>
        </p:txBody>
      </p:sp>
      <p:sp>
        <p:nvSpPr>
          <p:cNvPr id="3" name="文本框 2"/>
          <p:cNvSpPr txBox="1"/>
          <p:nvPr/>
        </p:nvSpPr>
        <p:spPr>
          <a:xfrm>
            <a:off x="5548630" y="2387600"/>
            <a:ext cx="1108075" cy="521970"/>
          </a:xfrm>
          <a:prstGeom prst="rect">
            <a:avLst/>
          </a:prstGeom>
          <a:solidFill>
            <a:schemeClr val="bg1"/>
          </a:solidFill>
        </p:spPr>
        <p:txBody>
          <a:bodyPr wrap="square" rtlCol="0">
            <a:spAutoFit/>
          </a:bodyPr>
          <a:lstStyle/>
          <a:p>
            <a:pPr algn="ctr"/>
            <a:r>
              <a:rPr lang="en-US" altLang="zh-CN" sz="2800" b="1">
                <a:latin typeface="Arial" panose="020B0604020202020204" pitchFamily="34" charset="0"/>
              </a:rPr>
              <a:t>A, B</a:t>
            </a:r>
          </a:p>
        </p:txBody>
      </p:sp>
      <p:sp>
        <p:nvSpPr>
          <p:cNvPr id="4" name="文本框 3"/>
          <p:cNvSpPr txBox="1"/>
          <p:nvPr/>
        </p:nvSpPr>
        <p:spPr>
          <a:xfrm>
            <a:off x="7242175" y="2387600"/>
            <a:ext cx="1108075" cy="521970"/>
          </a:xfrm>
          <a:prstGeom prst="rect">
            <a:avLst/>
          </a:prstGeom>
          <a:solidFill>
            <a:schemeClr val="bg1"/>
          </a:solidFill>
        </p:spPr>
        <p:txBody>
          <a:bodyPr wrap="square" rtlCol="0">
            <a:spAutoFit/>
          </a:bodyPr>
          <a:lstStyle/>
          <a:p>
            <a:pPr algn="ctr"/>
            <a:r>
              <a:rPr lang="en-US" altLang="zh-CN" sz="2800" b="1">
                <a:latin typeface="Arial" panose="020B0604020202020204" pitchFamily="34" charset="0"/>
              </a:rPr>
              <a:t>C, D</a:t>
            </a:r>
          </a:p>
        </p:txBody>
      </p:sp>
      <p:sp>
        <p:nvSpPr>
          <p:cNvPr id="5" name="文本框 4"/>
          <p:cNvSpPr txBox="1"/>
          <p:nvPr/>
        </p:nvSpPr>
        <p:spPr>
          <a:xfrm>
            <a:off x="3827145" y="3447415"/>
            <a:ext cx="1108075" cy="1383665"/>
          </a:xfrm>
          <a:prstGeom prst="rect">
            <a:avLst/>
          </a:prstGeom>
          <a:solidFill>
            <a:schemeClr val="bg1"/>
          </a:solidFill>
        </p:spPr>
        <p:txBody>
          <a:bodyPr wrap="square" rtlCol="0">
            <a:spAutoFit/>
          </a:bodyPr>
          <a:lstStyle/>
          <a:p>
            <a:pPr algn="ctr">
              <a:lnSpc>
                <a:spcPct val="150000"/>
              </a:lnSpc>
            </a:pPr>
            <a:r>
              <a:rPr lang="en-US" altLang="zh-CN" sz="2800" b="1">
                <a:latin typeface="Arial" panose="020B0604020202020204" pitchFamily="34" charset="0"/>
              </a:rPr>
              <a:t>(A)</a:t>
            </a:r>
          </a:p>
          <a:p>
            <a:pPr algn="ctr">
              <a:lnSpc>
                <a:spcPct val="150000"/>
              </a:lnSpc>
            </a:pPr>
            <a:r>
              <a:rPr lang="en-US" altLang="zh-CN" sz="2800" b="1">
                <a:latin typeface="Arial" panose="020B0604020202020204" pitchFamily="34" charset="0"/>
              </a:rPr>
              <a:t>(B)</a:t>
            </a:r>
          </a:p>
        </p:txBody>
      </p:sp>
      <p:sp>
        <p:nvSpPr>
          <p:cNvPr id="6" name="文本框 5"/>
          <p:cNvSpPr txBox="1"/>
          <p:nvPr/>
        </p:nvSpPr>
        <p:spPr>
          <a:xfrm>
            <a:off x="5532120" y="3877945"/>
            <a:ext cx="1108075" cy="521970"/>
          </a:xfrm>
          <a:prstGeom prst="rect">
            <a:avLst/>
          </a:prstGeom>
          <a:solidFill>
            <a:schemeClr val="bg1"/>
          </a:solidFill>
        </p:spPr>
        <p:txBody>
          <a:bodyPr wrap="square" rtlCol="0">
            <a:spAutoFit/>
          </a:bodyPr>
          <a:lstStyle/>
          <a:p>
            <a:pPr algn="ctr"/>
            <a:r>
              <a:rPr lang="en-US" altLang="zh-CN" sz="2800" b="1">
                <a:latin typeface="Arial" panose="020B0604020202020204" pitchFamily="34" charset="0"/>
              </a:rPr>
              <a:t>A, B</a:t>
            </a:r>
          </a:p>
        </p:txBody>
      </p:sp>
      <p:sp>
        <p:nvSpPr>
          <p:cNvPr id="7" name="文本框 6"/>
          <p:cNvSpPr txBox="1"/>
          <p:nvPr/>
        </p:nvSpPr>
        <p:spPr>
          <a:xfrm>
            <a:off x="7225665" y="3877945"/>
            <a:ext cx="1108075" cy="521970"/>
          </a:xfrm>
          <a:prstGeom prst="rect">
            <a:avLst/>
          </a:prstGeom>
          <a:solidFill>
            <a:schemeClr val="bg1"/>
          </a:solidFill>
        </p:spPr>
        <p:txBody>
          <a:bodyPr wrap="square" rtlCol="0">
            <a:spAutoFit/>
          </a:bodyPr>
          <a:lstStyle/>
          <a:p>
            <a:pPr algn="ctr"/>
            <a:r>
              <a:rPr lang="en-US" altLang="zh-CN" sz="2800" b="1">
                <a:latin typeface="Arial" panose="020B0604020202020204" pitchFamily="34" charset="0"/>
              </a:rPr>
              <a:t>C</a:t>
            </a:r>
          </a:p>
        </p:txBody>
      </p:sp>
      <p:sp>
        <p:nvSpPr>
          <p:cNvPr id="8" name="文本框 7"/>
          <p:cNvSpPr txBox="1"/>
          <p:nvPr/>
        </p:nvSpPr>
        <p:spPr>
          <a:xfrm>
            <a:off x="3827145" y="5384800"/>
            <a:ext cx="1108075" cy="521970"/>
          </a:xfrm>
          <a:prstGeom prst="rect">
            <a:avLst/>
          </a:prstGeom>
          <a:solidFill>
            <a:schemeClr val="bg1"/>
          </a:solidFill>
        </p:spPr>
        <p:txBody>
          <a:bodyPr wrap="square" rtlCol="0">
            <a:spAutoFit/>
          </a:bodyPr>
          <a:lstStyle/>
          <a:p>
            <a:pPr algn="ctr"/>
            <a:r>
              <a:rPr lang="en-US" altLang="zh-CN" sz="2800" b="1">
                <a:latin typeface="Arial" panose="020B0604020202020204" pitchFamily="34" charset="0"/>
              </a:rPr>
              <a:t>(A,D)</a:t>
            </a:r>
          </a:p>
        </p:txBody>
      </p:sp>
      <p:sp>
        <p:nvSpPr>
          <p:cNvPr id="9" name="文本框 8"/>
          <p:cNvSpPr txBox="1"/>
          <p:nvPr/>
        </p:nvSpPr>
        <p:spPr>
          <a:xfrm>
            <a:off x="5532120" y="5384800"/>
            <a:ext cx="1108075" cy="521970"/>
          </a:xfrm>
          <a:prstGeom prst="rect">
            <a:avLst/>
          </a:prstGeom>
          <a:solidFill>
            <a:schemeClr val="bg1"/>
          </a:solidFill>
        </p:spPr>
        <p:txBody>
          <a:bodyPr wrap="square" rtlCol="0">
            <a:spAutoFit/>
          </a:bodyPr>
          <a:lstStyle/>
          <a:p>
            <a:pPr algn="ctr"/>
            <a:r>
              <a:rPr lang="en-US" altLang="zh-CN" sz="2800" b="1">
                <a:latin typeface="Arial" panose="020B0604020202020204" pitchFamily="34" charset="0"/>
              </a:rPr>
              <a:t>A, D</a:t>
            </a:r>
          </a:p>
        </p:txBody>
      </p:sp>
      <p:sp>
        <p:nvSpPr>
          <p:cNvPr id="10" name="文本框 9"/>
          <p:cNvSpPr txBox="1"/>
          <p:nvPr/>
        </p:nvSpPr>
        <p:spPr>
          <a:xfrm>
            <a:off x="7242175" y="5384800"/>
            <a:ext cx="1108075" cy="521970"/>
          </a:xfrm>
          <a:prstGeom prst="rect">
            <a:avLst/>
          </a:prstGeom>
          <a:solidFill>
            <a:schemeClr val="bg1"/>
          </a:solidFill>
        </p:spPr>
        <p:txBody>
          <a:bodyPr wrap="square" rtlCol="0">
            <a:spAutoFit/>
          </a:bodyPr>
          <a:lstStyle/>
          <a:p>
            <a:pPr algn="ctr"/>
            <a:r>
              <a:rPr lang="en-US" altLang="zh-CN" sz="2800" b="1">
                <a:latin typeface="Arial" panose="020B0604020202020204" pitchFamily="34" charset="0"/>
              </a:rPr>
              <a:t>B, 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linds(horizontal)">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blinds(horizontal)">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blinds(horizontal)">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blinds(horizontal)">
                                      <p:cBhvr>
                                        <p:cTn id="4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ldLvl="0" animBg="1"/>
      <p:bldP spid="4" grpId="0" bldLvl="0" animBg="1"/>
      <p:bldP spid="5" grpId="0" bldLvl="0" animBg="1"/>
      <p:bldP spid="6" grpId="0" bldLvl="0" animBg="1"/>
      <p:bldP spid="7" grpId="0" bldLvl="0" animBg="1"/>
      <p:bldP spid="8" grpId="0" bldLvl="0" animBg="1"/>
      <p:bldP spid="9" grpId="0" bldLvl="0" animBg="1"/>
      <p:bldP spid="10" grpId="0" bldLvl="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p:cNvSpPr>
          <p:nvPr>
            <p:ph type="title"/>
          </p:nvPr>
        </p:nvSpPr>
        <p:spPr/>
        <p:txBody>
          <a:bodyPr vert="horz" wrap="square" lIns="91440" tIns="0" rIns="91440" bIns="0" anchor="ctr"/>
          <a:lstStyle/>
          <a:p>
            <a:r>
              <a:rPr lang="zh-CN" altLang="en-US" sz="2800"/>
              <a:t>关键字的计算优化</a:t>
            </a:r>
          </a:p>
        </p:txBody>
      </p:sp>
      <p:sp>
        <p:nvSpPr>
          <p:cNvPr id="2051" name="Rectangle 3"/>
          <p:cNvSpPr>
            <a:spLocks noGrp="1"/>
          </p:cNvSpPr>
          <p:nvPr>
            <p:ph idx="1"/>
          </p:nvPr>
        </p:nvSpPr>
        <p:spPr>
          <a:xfrm>
            <a:off x="323850" y="836613"/>
            <a:ext cx="8382000" cy="5562600"/>
          </a:xfrm>
        </p:spPr>
        <p:txBody>
          <a:bodyPr vert="horz" wrap="square" lIns="91440" tIns="45720" rIns="91440" bIns="45720" anchor="t"/>
          <a:lstStyle/>
          <a:p>
            <a:pPr marL="457200" indent="-457200"/>
            <a:r>
              <a:rPr lang="zh-CN" altLang="en-US" sz="2400">
                <a:solidFill>
                  <a:schemeClr val="accent2"/>
                </a:solidFill>
              </a:rPr>
              <a:t>设有个关系模式</a:t>
            </a:r>
            <a:r>
              <a:rPr lang="en-US" altLang="zh-CN" sz="2400">
                <a:solidFill>
                  <a:schemeClr val="accent2"/>
                </a:solidFill>
              </a:rPr>
              <a:t>R(U, F)</a:t>
            </a:r>
            <a:r>
              <a:rPr lang="zh-CN" altLang="en-US" sz="2400">
                <a:solidFill>
                  <a:schemeClr val="accent2"/>
                </a:solidFill>
              </a:rPr>
              <a:t>，</a:t>
            </a:r>
            <a:r>
              <a:rPr lang="en-US" altLang="zh-CN" sz="2400">
                <a:solidFill>
                  <a:schemeClr val="accent2"/>
                </a:solidFill>
              </a:rPr>
              <a:t>U</a:t>
            </a:r>
            <a:r>
              <a:rPr lang="zh-CN" altLang="en-US" sz="2400">
                <a:solidFill>
                  <a:schemeClr val="accent2"/>
                </a:solidFill>
              </a:rPr>
              <a:t>是关系</a:t>
            </a:r>
            <a:r>
              <a:rPr lang="en-US" altLang="zh-CN" sz="2400">
                <a:solidFill>
                  <a:schemeClr val="accent2"/>
                </a:solidFill>
              </a:rPr>
              <a:t>R</a:t>
            </a:r>
            <a:r>
              <a:rPr lang="zh-CN" altLang="en-US" sz="2400">
                <a:solidFill>
                  <a:schemeClr val="accent2"/>
                </a:solidFill>
              </a:rPr>
              <a:t>的属性集合，</a:t>
            </a:r>
            <a:r>
              <a:rPr lang="en-US" altLang="zh-CN" sz="2400">
                <a:solidFill>
                  <a:schemeClr val="accent2"/>
                </a:solidFill>
              </a:rPr>
              <a:t>F</a:t>
            </a:r>
            <a:r>
              <a:rPr lang="zh-CN" altLang="en-US" sz="2400">
                <a:solidFill>
                  <a:schemeClr val="accent2"/>
                </a:solidFill>
              </a:rPr>
              <a:t>是关系上的最小函数依赖集。根据</a:t>
            </a:r>
            <a:r>
              <a:rPr lang="en-US" altLang="zh-CN" sz="2400">
                <a:solidFill>
                  <a:schemeClr val="accent2"/>
                </a:solidFill>
              </a:rPr>
              <a:t>F</a:t>
            </a:r>
            <a:r>
              <a:rPr lang="zh-CN" altLang="en-US" sz="2400">
                <a:solidFill>
                  <a:schemeClr val="accent2"/>
                </a:solidFill>
              </a:rPr>
              <a:t>中的函数依赖，可以将属性集合</a:t>
            </a:r>
            <a:r>
              <a:rPr lang="en-US" altLang="zh-CN" sz="2400">
                <a:solidFill>
                  <a:schemeClr val="accent2"/>
                </a:solidFill>
              </a:rPr>
              <a:t>U</a:t>
            </a:r>
            <a:r>
              <a:rPr lang="zh-CN" altLang="en-US" sz="2400">
                <a:solidFill>
                  <a:schemeClr val="accent2"/>
                </a:solidFill>
              </a:rPr>
              <a:t>划分为以下的三个子集：</a:t>
            </a:r>
          </a:p>
          <a:p>
            <a:pPr marL="914400" lvl="1" indent="-457200">
              <a:buFont typeface="Wingdings" panose="05000000000000000000" pitchFamily="2" charset="2"/>
              <a:buAutoNum type="arabicPeriod"/>
            </a:pPr>
            <a:r>
              <a:rPr lang="zh-CN" altLang="en-US" sz="2400"/>
              <a:t>只在函数依赖的左边出现过的属性的集合 </a:t>
            </a:r>
            <a:r>
              <a:rPr lang="en-US" altLang="zh-CN" sz="2400"/>
              <a:t>U</a:t>
            </a:r>
            <a:r>
              <a:rPr lang="en-US" altLang="zh-CN" sz="2400" baseline="-25000"/>
              <a:t>L</a:t>
            </a:r>
            <a:r>
              <a:rPr lang="en-US" altLang="zh-CN" sz="2400"/>
              <a:t> </a:t>
            </a:r>
            <a:r>
              <a:rPr lang="zh-CN" altLang="en-US" sz="2400"/>
              <a:t>（包括没有出现在任何函数依赖中的属性）</a:t>
            </a:r>
            <a:endParaRPr lang="en-US" altLang="zh-CN" sz="2400"/>
          </a:p>
          <a:p>
            <a:pPr marL="914400" lvl="1" indent="-457200">
              <a:buFont typeface="Wingdings" panose="05000000000000000000" pitchFamily="2" charset="2"/>
              <a:buAutoNum type="arabicPeriod"/>
            </a:pPr>
            <a:r>
              <a:rPr lang="zh-CN" altLang="en-US" sz="2400"/>
              <a:t>只在函数依赖的右边出现过的属性的集合 </a:t>
            </a:r>
            <a:r>
              <a:rPr lang="en-US" altLang="zh-CN" sz="2400"/>
              <a:t>U</a:t>
            </a:r>
            <a:r>
              <a:rPr lang="en-US" altLang="zh-CN" sz="2400" baseline="-25000"/>
              <a:t>R</a:t>
            </a:r>
          </a:p>
          <a:p>
            <a:pPr marL="914400" lvl="1" indent="-457200">
              <a:buFont typeface="Wingdings" panose="05000000000000000000" pitchFamily="2" charset="2"/>
              <a:buAutoNum type="arabicPeriod"/>
            </a:pPr>
            <a:r>
              <a:rPr lang="zh-CN" altLang="en-US" sz="2400"/>
              <a:t>在两边都出现的属性的集合 </a:t>
            </a:r>
            <a:r>
              <a:rPr lang="en-US" altLang="zh-CN" sz="2400"/>
              <a:t>U</a:t>
            </a:r>
            <a:r>
              <a:rPr lang="en-US" altLang="zh-CN" sz="2400" baseline="-25000"/>
              <a:t>A</a:t>
            </a:r>
          </a:p>
          <a:p>
            <a:pPr marL="457200" indent="-457200"/>
            <a:r>
              <a:rPr lang="zh-CN" altLang="en-US" sz="2400">
                <a:solidFill>
                  <a:schemeClr val="accent2"/>
                </a:solidFill>
              </a:rPr>
              <a:t>其中：</a:t>
            </a:r>
          </a:p>
          <a:p>
            <a:pPr marL="914400" lvl="1" indent="-457200">
              <a:buFont typeface="Wingdings" panose="05000000000000000000" pitchFamily="2" charset="2"/>
              <a:buAutoNum type="arabicPeriod"/>
            </a:pPr>
            <a:r>
              <a:rPr lang="en-US" altLang="zh-CN" sz="2400"/>
              <a:t>U</a:t>
            </a:r>
            <a:r>
              <a:rPr lang="en-US" altLang="zh-CN" sz="2400" baseline="-25000"/>
              <a:t>L </a:t>
            </a:r>
            <a:r>
              <a:rPr lang="zh-CN" altLang="en-US" sz="2400"/>
              <a:t>中的属性是每一个关键字的组成部分</a:t>
            </a:r>
          </a:p>
          <a:p>
            <a:pPr marL="914400" lvl="1" indent="-457200">
              <a:buFont typeface="Wingdings" panose="05000000000000000000" pitchFamily="2" charset="2"/>
              <a:buAutoNum type="arabicPeriod"/>
            </a:pPr>
            <a:r>
              <a:rPr lang="en-US" altLang="zh-CN" sz="2400"/>
              <a:t>U</a:t>
            </a:r>
            <a:r>
              <a:rPr lang="en-US" altLang="zh-CN" sz="2400" baseline="-25000"/>
              <a:t>R </a:t>
            </a:r>
            <a:r>
              <a:rPr lang="zh-CN" altLang="en-US" sz="2400"/>
              <a:t>中的属性不可能出现在任何一个关键字中</a:t>
            </a:r>
          </a:p>
          <a:p>
            <a:pPr marL="914400" lvl="1" indent="-457200">
              <a:buFont typeface="Wingdings" panose="05000000000000000000" pitchFamily="2" charset="2"/>
              <a:buAutoNum type="arabicPeriod"/>
            </a:pPr>
            <a:r>
              <a:rPr lang="zh-CN" altLang="en-US" sz="2400"/>
              <a:t>在关键字计算算法中，只需要针对 </a:t>
            </a:r>
            <a:r>
              <a:rPr lang="en-US" altLang="zh-CN" sz="2400"/>
              <a:t>U</a:t>
            </a:r>
            <a:r>
              <a:rPr lang="en-US" altLang="zh-CN" sz="2400" baseline="-25000"/>
              <a:t>A </a:t>
            </a:r>
            <a:r>
              <a:rPr lang="zh-CN" altLang="en-US" sz="2400"/>
              <a:t>中的属性进行</a:t>
            </a:r>
            <a:r>
              <a:rPr lang="en-US" altLang="zh-CN" sz="2400"/>
              <a:t>FOR</a:t>
            </a:r>
            <a:r>
              <a:rPr lang="zh-CN" altLang="en-US" sz="2400"/>
              <a:t>循环计算就可以了。</a:t>
            </a:r>
          </a:p>
        </p:txBody>
      </p:sp>
    </p:spTree>
  </p:cSld>
  <p:clrMapOvr>
    <a:masterClrMapping/>
  </p:clrMapOvr>
  <p:transition spd="slow" advClick="0"/>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83298"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83299"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113</a:t>
            </a:fld>
            <a:endParaRPr lang="zh-CN" altLang="en-US" sz="1200" b="1" i="1" dirty="0">
              <a:latin typeface="Times New Roman" panose="02020603050405020304" pitchFamily="2" charset="0"/>
              <a:ea typeface="宋体" panose="02010600030101010101" pitchFamily="2" charset="-122"/>
            </a:endParaRPr>
          </a:p>
        </p:txBody>
      </p:sp>
      <p:sp>
        <p:nvSpPr>
          <p:cNvPr id="183300"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6.8  </a:t>
            </a:r>
            <a:r>
              <a:rPr lang="en-US" altLang="x-none" dirty="0">
                <a:ea typeface="宋体" panose="02010600030101010101" pitchFamily="2" charset="-122"/>
              </a:rPr>
              <a:t>Normal Forms</a:t>
            </a:r>
            <a:endParaRPr lang="zh-CN" altLang="en-US" dirty="0">
              <a:ea typeface="宋体" panose="02010600030101010101" pitchFamily="2" charset="-122"/>
            </a:endParaRPr>
          </a:p>
        </p:txBody>
      </p:sp>
      <p:sp>
        <p:nvSpPr>
          <p:cNvPr id="183301" name="Rectangle 3"/>
          <p:cNvSpPr>
            <a:spLocks noGrp="1"/>
          </p:cNvSpPr>
          <p:nvPr>
            <p:ph type="body"/>
          </p:nvPr>
        </p:nvSpPr>
        <p:spPr/>
        <p:txBody>
          <a:bodyPr wrap="square" anchor="t"/>
          <a:lstStyle/>
          <a:p>
            <a:pPr lvl="0" eaLnBrk="1" hangingPunct="1">
              <a:lnSpc>
                <a:spcPct val="120000"/>
              </a:lnSpc>
            </a:pPr>
            <a:r>
              <a:rPr lang="en-US" altLang="x-none" sz="3200" dirty="0">
                <a:ea typeface="宋体" panose="02010600030101010101" pitchFamily="2" charset="-122"/>
              </a:rPr>
              <a:t>Normal Forms:</a:t>
            </a:r>
          </a:p>
          <a:p>
            <a:pPr lvl="1" indent="-285750" eaLnBrk="1" hangingPunct="1">
              <a:lnSpc>
                <a:spcPct val="120000"/>
              </a:lnSpc>
            </a:pPr>
            <a:r>
              <a:rPr lang="en-US" altLang="x-none" sz="3200" dirty="0">
                <a:ea typeface="宋体" panose="02010600030101010101" pitchFamily="2" charset="-122"/>
              </a:rPr>
              <a:t>BCNF</a:t>
            </a:r>
          </a:p>
          <a:p>
            <a:pPr lvl="1" indent="-285750" eaLnBrk="1" hangingPunct="1">
              <a:lnSpc>
                <a:spcPct val="120000"/>
              </a:lnSpc>
            </a:pPr>
            <a:r>
              <a:rPr lang="en-US" altLang="x-none" sz="3200" dirty="0">
                <a:ea typeface="宋体" panose="02010600030101010101" pitchFamily="2" charset="-122"/>
              </a:rPr>
              <a:t>3NF</a:t>
            </a:r>
          </a:p>
          <a:p>
            <a:pPr lvl="1" indent="-285750" eaLnBrk="1" hangingPunct="1">
              <a:lnSpc>
                <a:spcPct val="120000"/>
              </a:lnSpc>
            </a:pPr>
            <a:r>
              <a:rPr lang="en-US" altLang="x-none" sz="3200" dirty="0">
                <a:ea typeface="宋体" panose="02010600030101010101" pitchFamily="2" charset="-122"/>
              </a:rPr>
              <a:t>2NF </a:t>
            </a:r>
          </a:p>
          <a:p>
            <a:pPr lvl="1" indent="-285750" eaLnBrk="1" hangingPunct="1">
              <a:lnSpc>
                <a:spcPct val="120000"/>
              </a:lnSpc>
            </a:pPr>
            <a:endParaRPr lang="en-US" altLang="x-none" sz="3200" dirty="0">
              <a:ea typeface="宋体" panose="02010600030101010101" pitchFamily="2" charset="-122"/>
            </a:endParaRPr>
          </a:p>
          <a:p>
            <a:pPr lvl="0" eaLnBrk="1" hangingPunct="1">
              <a:lnSpc>
                <a:spcPct val="120000"/>
              </a:lnSpc>
            </a:pPr>
            <a:r>
              <a:rPr lang="en-US" altLang="x-none" sz="3200" dirty="0">
                <a:ea typeface="宋体" panose="02010600030101010101" pitchFamily="2" charset="-122"/>
              </a:rPr>
              <a:t>Algorithm 6.8.8</a:t>
            </a:r>
            <a:endParaRPr lang="zh-CN" altLang="en-US" sz="3200" dirty="0">
              <a:ea typeface="宋体" panose="02010600030101010101" pitchFamily="2" charset="-122"/>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84322"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84323"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114</a:t>
            </a:fld>
            <a:endParaRPr lang="zh-CN" altLang="en-US" sz="1200" b="1" i="1" dirty="0">
              <a:latin typeface="Times New Roman" panose="02020603050405020304" pitchFamily="2" charset="0"/>
              <a:ea typeface="宋体" panose="02010600030101010101" pitchFamily="2" charset="-122"/>
            </a:endParaRPr>
          </a:p>
        </p:txBody>
      </p:sp>
      <p:sp>
        <p:nvSpPr>
          <p:cNvPr id="184324"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6.8  </a:t>
            </a:r>
            <a:r>
              <a:rPr lang="en-US" altLang="x-none" dirty="0">
                <a:ea typeface="宋体" panose="02010600030101010101" pitchFamily="2" charset="-122"/>
              </a:rPr>
              <a:t>Normal Forms</a:t>
            </a:r>
          </a:p>
        </p:txBody>
      </p:sp>
      <p:sp>
        <p:nvSpPr>
          <p:cNvPr id="184325" name="Rectangle 3"/>
          <p:cNvSpPr>
            <a:spLocks noGrp="1"/>
          </p:cNvSpPr>
          <p:nvPr>
            <p:ph type="body"/>
          </p:nvPr>
        </p:nvSpPr>
        <p:spPr>
          <a:xfrm>
            <a:off x="241300" y="766763"/>
            <a:ext cx="8686800" cy="645160"/>
          </a:xfrm>
        </p:spPr>
        <p:txBody>
          <a:bodyPr wrap="square" anchor="t">
            <a:spAutoFit/>
          </a:bodyPr>
          <a:lstStyle/>
          <a:p>
            <a:pPr lvl="0" eaLnBrk="1" hangingPunct="1">
              <a:lnSpc>
                <a:spcPct val="120000"/>
              </a:lnSpc>
            </a:pPr>
            <a:r>
              <a:rPr lang="en-US" altLang="x-none" sz="3000" dirty="0">
                <a:ea typeface="宋体" panose="02010600030101010101" pitchFamily="2" charset="-122"/>
              </a:rPr>
              <a:t>Def. 6.8.4. Boyce-Codd Normal Form</a:t>
            </a:r>
            <a:r>
              <a:rPr lang="zh-CN" altLang="en-US" sz="3000" dirty="0">
                <a:ea typeface="宋体" panose="02010600030101010101" pitchFamily="2" charset="-122"/>
              </a:rPr>
              <a:t> (</a:t>
            </a:r>
            <a:r>
              <a:rPr lang="en-US" altLang="x-none" sz="3000" dirty="0">
                <a:ea typeface="宋体" panose="02010600030101010101" pitchFamily="2" charset="-122"/>
              </a:rPr>
              <a:t>BCNF</a:t>
            </a:r>
            <a:r>
              <a:rPr lang="zh-CN" altLang="en-US" sz="3000" dirty="0">
                <a:ea typeface="宋体" panose="02010600030101010101" pitchFamily="2" charset="-122"/>
              </a:rPr>
              <a:t>)</a:t>
            </a:r>
            <a:endParaRPr lang="en-US" altLang="x-none" sz="3000" u="sng" dirty="0">
              <a:solidFill>
                <a:srgbClr val="FF0000"/>
              </a:solidFill>
              <a:ea typeface="宋体" panose="02010600030101010101" pitchFamily="2" charset="-122"/>
            </a:endParaRPr>
          </a:p>
        </p:txBody>
      </p:sp>
      <p:sp>
        <p:nvSpPr>
          <p:cNvPr id="2" name="Rectangle 3"/>
          <p:cNvSpPr>
            <a:spLocks noGrp="1"/>
          </p:cNvSpPr>
          <p:nvPr/>
        </p:nvSpPr>
        <p:spPr>
          <a:xfrm>
            <a:off x="241300" y="1532573"/>
            <a:ext cx="8686800" cy="4519295"/>
          </a:xfrm>
          <a:prstGeom prst="rect">
            <a:avLst/>
          </a:prstGeom>
          <a:noFill/>
          <a:ln w="9525">
            <a:solidFill>
              <a:schemeClr val="accent1"/>
            </a:solidFill>
          </a:ln>
        </p:spPr>
        <p:txBody>
          <a:bodyPr wrap="square" lIns="0" rIns="179705" anchor="t">
            <a:spAutoFit/>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800" b="1" u="none" kern="1200" baseline="0">
                <a:solidFill>
                  <a:srgbClr val="FF0000"/>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Ø"/>
              <a:defRPr sz="2800" b="1" u="none" kern="1200" baseline="0">
                <a:solidFill>
                  <a:schemeClr val="accent2"/>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accent2"/>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9pPr>
          </a:lstStyle>
          <a:p>
            <a:pPr marL="457200" lvl="1" indent="0" eaLnBrk="1" hangingPunct="1">
              <a:lnSpc>
                <a:spcPct val="120000"/>
              </a:lnSpc>
              <a:buNone/>
            </a:pPr>
            <a:r>
              <a:rPr lang="en-US" altLang="x-none" sz="3200" dirty="0">
                <a:ea typeface="宋体" panose="02010600030101010101" pitchFamily="2" charset="-122"/>
              </a:rPr>
              <a:t>A table T in a database schema with FD set F is in BCNF</a:t>
            </a:r>
          </a:p>
          <a:p>
            <a:pPr marL="457200" lvl="1" indent="0" eaLnBrk="1" hangingPunct="1">
              <a:lnSpc>
                <a:spcPct val="120000"/>
              </a:lnSpc>
              <a:buNone/>
            </a:pPr>
            <a:r>
              <a:rPr lang="en-US" altLang="x-none" sz="3200" dirty="0">
                <a:solidFill>
                  <a:srgbClr val="FF0066"/>
                </a:solidFill>
                <a:ea typeface="宋体" panose="02010600030101010101" pitchFamily="2" charset="-122"/>
              </a:rPr>
              <a:t>iff</a:t>
            </a:r>
            <a:endParaRPr lang="en-US" altLang="x-none" sz="3200" dirty="0">
              <a:ea typeface="宋体" panose="02010600030101010101" pitchFamily="2" charset="-122"/>
            </a:endParaRPr>
          </a:p>
          <a:p>
            <a:pPr marL="914400" lvl="2" indent="0" eaLnBrk="1" hangingPunct="1">
              <a:lnSpc>
                <a:spcPct val="120000"/>
              </a:lnSpc>
              <a:buNone/>
            </a:pPr>
            <a:r>
              <a:rPr lang="en-US" altLang="x-none" sz="3200" dirty="0">
                <a:ea typeface="宋体" panose="02010600030101010101" pitchFamily="2" charset="-122"/>
              </a:rPr>
              <a:t>for any FD </a:t>
            </a:r>
            <a:r>
              <a:rPr lang="en-US" altLang="x-none" sz="3200" dirty="0">
                <a:solidFill>
                  <a:srgbClr val="FF0000"/>
                </a:solidFill>
                <a:ea typeface="宋体" panose="02010600030101010101" pitchFamily="2" charset="-122"/>
              </a:rPr>
              <a:t>X</a:t>
            </a:r>
            <a:r>
              <a:rPr lang="en-US" altLang="x-none" sz="3200" dirty="0">
                <a:solidFill>
                  <a:srgbClr val="FF0000"/>
                </a:solidFill>
                <a:ea typeface="宋体" panose="02010600030101010101" pitchFamily="2" charset="-122"/>
                <a:sym typeface="Symbol" panose="05050102010706020507" pitchFamily="2" charset="2"/>
              </a:rPr>
              <a:t></a:t>
            </a:r>
            <a:r>
              <a:rPr lang="en-US" altLang="x-none" sz="3200" dirty="0">
                <a:solidFill>
                  <a:srgbClr val="FF0000"/>
                </a:solidFill>
                <a:ea typeface="宋体" panose="02010600030101010101" pitchFamily="2" charset="-122"/>
              </a:rPr>
              <a:t>A</a:t>
            </a:r>
            <a:r>
              <a:rPr lang="en-US" altLang="x-none" sz="3200" dirty="0">
                <a:ea typeface="宋体" panose="02010600030101010101" pitchFamily="2" charset="-122"/>
              </a:rPr>
              <a:t> in F</a:t>
            </a:r>
            <a:r>
              <a:rPr lang="en-US" altLang="x-none" sz="3200" baseline="30000" dirty="0">
                <a:ea typeface="宋体" panose="02010600030101010101" pitchFamily="2" charset="-122"/>
              </a:rPr>
              <a:t>+</a:t>
            </a:r>
            <a:r>
              <a:rPr lang="en-US" altLang="x-none" sz="3200" dirty="0">
                <a:ea typeface="宋体" panose="02010600030101010101" pitchFamily="2" charset="-122"/>
              </a:rPr>
              <a:t> that lies in T </a:t>
            </a:r>
            <a:r>
              <a:rPr lang="en-US" altLang="x-none" sz="3200" i="1" dirty="0">
                <a:ea typeface="宋体" panose="02010600030101010101" pitchFamily="2" charset="-122"/>
              </a:rPr>
              <a:t>(all attributes of X and A in T)</a:t>
            </a:r>
            <a:r>
              <a:rPr lang="en-US" altLang="x-none" sz="3200" dirty="0">
                <a:ea typeface="宋体" panose="02010600030101010101" pitchFamily="2" charset="-122"/>
              </a:rPr>
              <a:t>, A is a single attribute not in X, then</a:t>
            </a:r>
          </a:p>
          <a:p>
            <a:pPr lvl="3" indent="-228600" eaLnBrk="1" hangingPunct="1">
              <a:lnSpc>
                <a:spcPct val="120000"/>
              </a:lnSpc>
              <a:buNone/>
            </a:pPr>
            <a:r>
              <a:rPr lang="en-US" altLang="x-none" sz="3200" u="sng" dirty="0">
                <a:solidFill>
                  <a:srgbClr val="FF0000"/>
                </a:solidFill>
                <a:ea typeface="宋体" panose="02010600030101010101" pitchFamily="2" charset="-122"/>
              </a:rPr>
              <a:t>X must be a superkey for T</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85346"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85347"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115</a:t>
            </a:fld>
            <a:endParaRPr lang="zh-CN" altLang="en-US" sz="1200" b="1" i="1" dirty="0">
              <a:latin typeface="Times New Roman" panose="02020603050405020304" pitchFamily="2" charset="0"/>
              <a:ea typeface="宋体" panose="02010600030101010101" pitchFamily="2" charset="-122"/>
            </a:endParaRPr>
          </a:p>
        </p:txBody>
      </p:sp>
      <p:sp>
        <p:nvSpPr>
          <p:cNvPr id="185348" name="Rectangle 2"/>
          <p:cNvSpPr>
            <a:spLocks noGrp="1"/>
          </p:cNvSpPr>
          <p:nvPr>
            <p:ph type="title"/>
          </p:nvPr>
        </p:nvSpPr>
        <p:spPr/>
        <p:txBody>
          <a:bodyPr wrap="square" anchor="ctr"/>
          <a:lstStyle/>
          <a:p>
            <a:pPr lvl="0" eaLnBrk="1" hangingPunct="1"/>
            <a:r>
              <a:rPr lang="en-US" dirty="0">
                <a:ea typeface="宋体" panose="02010600030101010101" pitchFamily="2" charset="-122"/>
              </a:rPr>
              <a:t>BCNF</a:t>
            </a:r>
            <a:r>
              <a:rPr lang="zh-CN" altLang="en-US" dirty="0">
                <a:ea typeface="宋体" panose="02010600030101010101" pitchFamily="2" charset="-122"/>
              </a:rPr>
              <a:t>的判定方法</a:t>
            </a:r>
          </a:p>
        </p:txBody>
      </p:sp>
      <p:sp>
        <p:nvSpPr>
          <p:cNvPr id="184325" name="Rectangle 3"/>
          <p:cNvSpPr>
            <a:spLocks noGrp="1"/>
          </p:cNvSpPr>
          <p:nvPr>
            <p:ph type="body"/>
          </p:nvPr>
        </p:nvSpPr>
        <p:spPr>
          <a:xfrm>
            <a:off x="241300" y="766763"/>
            <a:ext cx="8686800" cy="5569585"/>
          </a:xfrm>
          <a:ln>
            <a:solidFill>
              <a:schemeClr val="accent1"/>
            </a:solidFill>
          </a:ln>
        </p:spPr>
        <p:txBody>
          <a:bodyPr wrap="square" lIns="360045" anchor="t">
            <a:spAutoFit/>
          </a:bodyPr>
          <a:lstStyle/>
          <a:p>
            <a:pPr marL="514350" lvl="0" indent="-514350" eaLnBrk="1" fontAlgn="base" hangingPunct="1">
              <a:lnSpc>
                <a:spcPct val="100000"/>
              </a:lnSpc>
              <a:spcBef>
                <a:spcPts val="20"/>
              </a:spcBef>
              <a:spcAft>
                <a:spcPts val="0"/>
              </a:spcAft>
              <a:buFont typeface="+mj-lt"/>
              <a:buAutoNum type="alphaLcParenR"/>
            </a:pPr>
            <a:r>
              <a:rPr lang="en-US" altLang="zh-CN" sz="3000" strike="noStrike" noProof="1">
                <a:solidFill>
                  <a:srgbClr val="0000CC"/>
                </a:solidFill>
                <a:ea typeface="宋体" panose="02010600030101010101" pitchFamily="2" charset="-122"/>
              </a:rPr>
              <a:t>flag = true</a:t>
            </a:r>
          </a:p>
          <a:p>
            <a:pPr marL="514350" lvl="0" indent="-514350" eaLnBrk="1" fontAlgn="base" hangingPunct="1">
              <a:lnSpc>
                <a:spcPct val="100000"/>
              </a:lnSpc>
              <a:spcBef>
                <a:spcPts val="20"/>
              </a:spcBef>
              <a:spcAft>
                <a:spcPts val="0"/>
              </a:spcAft>
              <a:buFont typeface="+mj-lt"/>
              <a:buAutoNum type="alphaLcParenR"/>
            </a:pPr>
            <a:endParaRPr lang="en-US" altLang="zh-CN" sz="1200" strike="noStrike" noProof="1">
              <a:solidFill>
                <a:srgbClr val="0000CC"/>
              </a:solidFill>
              <a:ea typeface="宋体" panose="02010600030101010101" pitchFamily="2" charset="-122"/>
            </a:endParaRPr>
          </a:p>
          <a:p>
            <a:pPr marL="514350" lvl="0" indent="-514350" eaLnBrk="1" fontAlgn="base" hangingPunct="1">
              <a:lnSpc>
                <a:spcPct val="100000"/>
              </a:lnSpc>
              <a:spcBef>
                <a:spcPts val="20"/>
              </a:spcBef>
              <a:spcAft>
                <a:spcPts val="0"/>
              </a:spcAft>
              <a:buAutoNum type="alphaLcParenR"/>
            </a:pPr>
            <a:r>
              <a:rPr lang="en-US" altLang="x-none" sz="3000" strike="noStrike" noProof="1">
                <a:solidFill>
                  <a:srgbClr val="0000CC"/>
                </a:solidFill>
                <a:ea typeface="宋体" panose="02010600030101010101" pitchFamily="2" charset="-122"/>
              </a:rPr>
              <a:t>for each X</a:t>
            </a:r>
            <a:r>
              <a:rPr lang="en-US" altLang="x-none" sz="3000" strike="noStrike" noProof="1">
                <a:solidFill>
                  <a:srgbClr val="0000CC"/>
                </a:solidFill>
                <a:ea typeface="宋体" panose="02010600030101010101" pitchFamily="2" charset="-122"/>
                <a:sym typeface="Symbol" panose="05050102010706020507" pitchFamily="2" charset="2"/>
              </a:rPr>
              <a:t></a:t>
            </a:r>
            <a:r>
              <a:rPr lang="en-US" altLang="x-none" sz="3000" strike="noStrike" noProof="1">
                <a:solidFill>
                  <a:srgbClr val="0000CC"/>
                </a:solidFill>
                <a:ea typeface="宋体" panose="02010600030101010101" pitchFamily="2" charset="-122"/>
              </a:rPr>
              <a:t>A in F</a:t>
            </a:r>
            <a:r>
              <a:rPr lang="en-US" altLang="x-none" sz="3000" strike="noStrike" baseline="30000" noProof="1">
                <a:solidFill>
                  <a:srgbClr val="0000CC"/>
                </a:solidFill>
                <a:ea typeface="宋体" panose="02010600030101010101" pitchFamily="2" charset="-122"/>
              </a:rPr>
              <a:t>+</a:t>
            </a:r>
            <a:r>
              <a:rPr lang="en-US" altLang="x-none" sz="3000" strike="noStrike" noProof="1">
                <a:solidFill>
                  <a:srgbClr val="0000CC"/>
                </a:solidFill>
                <a:ea typeface="宋体" panose="02010600030101010101" pitchFamily="2" charset="-122"/>
              </a:rPr>
              <a:t> </a:t>
            </a:r>
          </a:p>
          <a:p>
            <a:pPr marL="457200" lvl="1" indent="0" eaLnBrk="1" fontAlgn="base" hangingPunct="1">
              <a:lnSpc>
                <a:spcPct val="100000"/>
              </a:lnSpc>
              <a:spcBef>
                <a:spcPts val="20"/>
              </a:spcBef>
              <a:spcAft>
                <a:spcPts val="0"/>
              </a:spcAft>
              <a:buNone/>
            </a:pPr>
            <a:r>
              <a:rPr lang="en-US" altLang="x-none" sz="3000" strike="noStrike" noProof="1">
                <a:solidFill>
                  <a:srgbClr val="0000CC"/>
                </a:solidFill>
                <a:ea typeface="宋体" panose="02010600030101010101" pitchFamily="2" charset="-122"/>
              </a:rPr>
              <a:t>{</a:t>
            </a:r>
          </a:p>
          <a:p>
            <a:pPr marL="914400" lvl="2" indent="0" eaLnBrk="1" fontAlgn="base" hangingPunct="1">
              <a:lnSpc>
                <a:spcPct val="100000"/>
              </a:lnSpc>
              <a:spcBef>
                <a:spcPts val="20"/>
              </a:spcBef>
              <a:spcAft>
                <a:spcPts val="0"/>
              </a:spcAft>
              <a:buNone/>
            </a:pPr>
            <a:r>
              <a:rPr lang="en-US" altLang="x-none" sz="3000" strike="noStrike" noProof="1">
                <a:solidFill>
                  <a:srgbClr val="0000CC"/>
                </a:solidFill>
                <a:ea typeface="宋体" panose="02010600030101010101" pitchFamily="2" charset="-122"/>
              </a:rPr>
              <a:t>if (</a:t>
            </a:r>
            <a:r>
              <a:rPr lang="en-US" altLang="x-none" sz="3000" strike="noStrike" noProof="1">
                <a:solidFill>
                  <a:srgbClr val="FF0000"/>
                </a:solidFill>
                <a:ea typeface="宋体" panose="02010600030101010101" pitchFamily="2" charset="-122"/>
              </a:rPr>
              <a:t>A is a single attribute not in X</a:t>
            </a:r>
            <a:r>
              <a:rPr lang="en-US" altLang="x-none" sz="3000" strike="noStrike" noProof="1">
                <a:solidFill>
                  <a:srgbClr val="0000CC"/>
                </a:solidFill>
                <a:ea typeface="宋体" panose="02010600030101010101" pitchFamily="2" charset="-122"/>
              </a:rPr>
              <a:t>) </a:t>
            </a:r>
          </a:p>
          <a:p>
            <a:pPr marL="914400" lvl="2" indent="0" eaLnBrk="1" fontAlgn="base" hangingPunct="1">
              <a:lnSpc>
                <a:spcPct val="100000"/>
              </a:lnSpc>
              <a:spcBef>
                <a:spcPts val="20"/>
              </a:spcBef>
              <a:spcAft>
                <a:spcPts val="0"/>
              </a:spcAft>
              <a:buNone/>
            </a:pPr>
            <a:r>
              <a:rPr lang="en-US" altLang="x-none" sz="3000" strike="noStrike" noProof="1">
                <a:solidFill>
                  <a:srgbClr val="0000CC"/>
                </a:solidFill>
                <a:ea typeface="宋体" panose="02010600030101010101" pitchFamily="2" charset="-122"/>
              </a:rPr>
              <a:t>{</a:t>
            </a:r>
          </a:p>
          <a:p>
            <a:pPr marL="1371600" lvl="3" indent="0" eaLnBrk="1" fontAlgn="base" hangingPunct="1">
              <a:lnSpc>
                <a:spcPct val="100000"/>
              </a:lnSpc>
              <a:spcBef>
                <a:spcPts val="20"/>
              </a:spcBef>
              <a:spcAft>
                <a:spcPts val="0"/>
              </a:spcAft>
              <a:buNone/>
            </a:pPr>
            <a:r>
              <a:rPr lang="en-US" altLang="x-none" sz="3000" strike="noStrike" noProof="1">
                <a:solidFill>
                  <a:srgbClr val="0000CC"/>
                </a:solidFill>
                <a:ea typeface="宋体" panose="02010600030101010101" pitchFamily="2" charset="-122"/>
              </a:rPr>
              <a:t>if (</a:t>
            </a:r>
            <a:r>
              <a:rPr lang="en-US" altLang="x-none" sz="3000" strike="noStrike" noProof="1">
                <a:solidFill>
                  <a:srgbClr val="FF0000"/>
                </a:solidFill>
                <a:ea typeface="宋体" panose="02010600030101010101" pitchFamily="2" charset="-122"/>
              </a:rPr>
              <a:t>X isn't a superkey for T</a:t>
            </a:r>
            <a:r>
              <a:rPr lang="en-US" altLang="x-none" sz="3000" strike="noStrike" noProof="1">
                <a:solidFill>
                  <a:schemeClr val="accent6"/>
                </a:solidFill>
                <a:ea typeface="宋体" panose="02010600030101010101" pitchFamily="2" charset="-122"/>
              </a:rPr>
              <a:t>)</a:t>
            </a:r>
          </a:p>
          <a:p>
            <a:pPr marL="1371600" lvl="3" indent="0" eaLnBrk="1" fontAlgn="base" hangingPunct="1">
              <a:lnSpc>
                <a:spcPct val="100000"/>
              </a:lnSpc>
              <a:spcBef>
                <a:spcPts val="20"/>
              </a:spcBef>
              <a:spcAft>
                <a:spcPts val="0"/>
              </a:spcAft>
              <a:buNone/>
            </a:pPr>
            <a:r>
              <a:rPr lang="en-US" altLang="x-none" sz="3000" strike="noStrike" noProof="1">
                <a:solidFill>
                  <a:schemeClr val="accent6"/>
                </a:solidFill>
                <a:ea typeface="宋体" panose="02010600030101010101" pitchFamily="2" charset="-122"/>
              </a:rPr>
              <a:t>{ flag = false; break; }</a:t>
            </a:r>
          </a:p>
          <a:p>
            <a:pPr marL="914400" lvl="2" indent="0" eaLnBrk="1" fontAlgn="base" hangingPunct="1">
              <a:lnSpc>
                <a:spcPct val="100000"/>
              </a:lnSpc>
              <a:spcBef>
                <a:spcPts val="20"/>
              </a:spcBef>
              <a:spcAft>
                <a:spcPts val="0"/>
              </a:spcAft>
              <a:buNone/>
            </a:pPr>
            <a:r>
              <a:rPr lang="en-US" altLang="x-none" sz="3000" strike="noStrike" noProof="1">
                <a:solidFill>
                  <a:schemeClr val="accent6"/>
                </a:solidFill>
                <a:ea typeface="宋体" panose="02010600030101010101" pitchFamily="2" charset="-122"/>
              </a:rPr>
              <a:t>}</a:t>
            </a:r>
          </a:p>
          <a:p>
            <a:pPr marL="457200" lvl="1" indent="0" eaLnBrk="1" fontAlgn="base" hangingPunct="1">
              <a:lnSpc>
                <a:spcPct val="100000"/>
              </a:lnSpc>
              <a:spcBef>
                <a:spcPts val="20"/>
              </a:spcBef>
              <a:spcAft>
                <a:spcPts val="0"/>
              </a:spcAft>
              <a:buNone/>
            </a:pPr>
            <a:r>
              <a:rPr lang="en-US" altLang="x-none" sz="3000" strike="noStrike" noProof="1">
                <a:solidFill>
                  <a:srgbClr val="0000CC"/>
                </a:solidFill>
                <a:ea typeface="宋体" panose="02010600030101010101" pitchFamily="2" charset="-122"/>
              </a:rPr>
              <a:t>}</a:t>
            </a:r>
          </a:p>
          <a:p>
            <a:pPr marL="457200" lvl="1" indent="0" eaLnBrk="1" fontAlgn="base" hangingPunct="1">
              <a:lnSpc>
                <a:spcPct val="100000"/>
              </a:lnSpc>
              <a:spcBef>
                <a:spcPts val="20"/>
              </a:spcBef>
              <a:spcAft>
                <a:spcPts val="0"/>
              </a:spcAft>
              <a:buNone/>
            </a:pPr>
            <a:endParaRPr lang="en-US" altLang="x-none" sz="1200" strike="noStrike" noProof="1">
              <a:solidFill>
                <a:srgbClr val="0000CC"/>
              </a:solidFill>
              <a:ea typeface="宋体" panose="02010600030101010101" pitchFamily="2" charset="-122"/>
            </a:endParaRPr>
          </a:p>
          <a:p>
            <a:pPr marL="514350" lvl="0" indent="-514350" eaLnBrk="1" fontAlgn="base" hangingPunct="1">
              <a:lnSpc>
                <a:spcPct val="100000"/>
              </a:lnSpc>
              <a:spcBef>
                <a:spcPts val="20"/>
              </a:spcBef>
              <a:spcAft>
                <a:spcPts val="0"/>
              </a:spcAft>
              <a:buFont typeface="+mj-lt"/>
              <a:buAutoNum type="alphaLcParenR"/>
            </a:pPr>
            <a:r>
              <a:rPr lang="en-US" altLang="x-none" sz="3000" strike="noStrike" noProof="1">
                <a:solidFill>
                  <a:srgbClr val="0000CC"/>
                </a:solidFill>
                <a:ea typeface="宋体" panose="02010600030101010101" pitchFamily="2" charset="-122"/>
              </a:rPr>
              <a:t>if (flag == true)  T is in BCNF</a:t>
            </a:r>
          </a:p>
          <a:p>
            <a:pPr marL="457200" lvl="1" indent="0" eaLnBrk="1" fontAlgn="base" hangingPunct="1">
              <a:lnSpc>
                <a:spcPct val="100000"/>
              </a:lnSpc>
              <a:spcBef>
                <a:spcPts val="20"/>
              </a:spcBef>
              <a:spcAft>
                <a:spcPts val="0"/>
              </a:spcAft>
              <a:buFont typeface="+mj-lt"/>
              <a:buNone/>
            </a:pPr>
            <a:r>
              <a:rPr lang="en-US" altLang="x-none" sz="3000" strike="noStrike" noProof="1">
                <a:solidFill>
                  <a:srgbClr val="0000CC"/>
                </a:solidFill>
                <a:ea typeface="宋体" panose="02010600030101010101" pitchFamily="2" charset="-122"/>
              </a:rPr>
              <a:t>else  T isn't in BCNF</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1"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116</a:t>
            </a:fld>
            <a:endParaRPr lang="zh-CN" altLang="en-US" sz="1200" b="1" i="1" dirty="0">
              <a:latin typeface="Times New Roman" panose="02020603050405020304" pitchFamily="2" charset="0"/>
              <a:ea typeface="宋体" panose="02010600030101010101" pitchFamily="2" charset="-122"/>
            </a:endParaRPr>
          </a:p>
        </p:txBody>
      </p:sp>
      <p:sp>
        <p:nvSpPr>
          <p:cNvPr id="186372"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6.8  </a:t>
            </a:r>
            <a:r>
              <a:rPr lang="en-US" altLang="x-none" dirty="0">
                <a:ea typeface="宋体" panose="02010600030101010101" pitchFamily="2" charset="-122"/>
              </a:rPr>
              <a:t>Normal Forms</a:t>
            </a:r>
          </a:p>
        </p:txBody>
      </p:sp>
      <p:sp>
        <p:nvSpPr>
          <p:cNvPr id="186373" name="Rectangle 3"/>
          <p:cNvSpPr>
            <a:spLocks noGrp="1"/>
          </p:cNvSpPr>
          <p:nvPr>
            <p:ph type="body"/>
          </p:nvPr>
        </p:nvSpPr>
        <p:spPr>
          <a:xfrm>
            <a:off x="86995" y="775335"/>
            <a:ext cx="9009380" cy="4953000"/>
          </a:xfrm>
          <a:ln w="25400">
            <a:solidFill>
              <a:schemeClr val="accent1"/>
            </a:solidFill>
          </a:ln>
        </p:spPr>
        <p:txBody>
          <a:bodyPr wrap="square" anchor="t"/>
          <a:lstStyle/>
          <a:p>
            <a:pPr marL="368300" lvl="1" indent="-368300" eaLnBrk="1" hangingPunct="1"/>
            <a:r>
              <a:rPr lang="en-US" altLang="x-none" dirty="0">
                <a:solidFill>
                  <a:srgbClr val="FF0000"/>
                </a:solidFill>
                <a:ea typeface="宋体" panose="02010600030101010101" pitchFamily="2" charset="-122"/>
              </a:rPr>
              <a:t>emps</a:t>
            </a:r>
            <a:r>
              <a:rPr lang="en-US" altLang="x-none" dirty="0">
                <a:ea typeface="宋体" panose="02010600030101010101" pitchFamily="2" charset="-122"/>
              </a:rPr>
              <a:t>(emp_id,emp_name,emp_phone,dept_name)</a:t>
            </a:r>
          </a:p>
          <a:p>
            <a:pPr marL="825500" lvl="3" indent="-368300" eaLnBrk="1" hangingPunct="1">
              <a:buNone/>
            </a:pPr>
            <a:r>
              <a:rPr lang="en-US" altLang="x-none" dirty="0">
                <a:ea typeface="宋体" panose="02010600030101010101" pitchFamily="2" charset="-122"/>
              </a:rPr>
              <a:t>emp_id </a:t>
            </a:r>
            <a:r>
              <a:rPr lang="en-US" altLang="x-none" dirty="0">
                <a:solidFill>
                  <a:srgbClr val="FF0000"/>
                </a:solidFill>
                <a:ea typeface="宋体" panose="02010600030101010101" pitchFamily="2" charset="-122"/>
                <a:sym typeface="Symbol" panose="05050102010706020507" pitchFamily="2" charset="2"/>
              </a:rPr>
              <a:t> </a:t>
            </a:r>
            <a:r>
              <a:rPr lang="en-US" altLang="x-none" dirty="0">
                <a:ea typeface="宋体" panose="02010600030101010101" pitchFamily="2" charset="-122"/>
                <a:sym typeface="Symbol" panose="05050102010706020507" pitchFamily="2" charset="2"/>
              </a:rPr>
              <a:t>{emp_name, emp_phone, dept_name}</a:t>
            </a:r>
          </a:p>
          <a:p>
            <a:pPr marL="368300" lvl="2" indent="-368300" eaLnBrk="1" hangingPunct="1">
              <a:buNone/>
            </a:pPr>
            <a:endParaRPr lang="en-US" altLang="x-none" sz="1400" dirty="0">
              <a:ea typeface="宋体" panose="02010600030101010101" pitchFamily="2" charset="-122"/>
            </a:endParaRPr>
          </a:p>
          <a:p>
            <a:pPr marL="368300" lvl="1" indent="-368300" eaLnBrk="1" hangingPunct="1"/>
            <a:r>
              <a:rPr lang="en-US" altLang="x-none" dirty="0">
                <a:solidFill>
                  <a:srgbClr val="FF0000"/>
                </a:solidFill>
                <a:ea typeface="宋体" panose="02010600030101010101" pitchFamily="2" charset="-122"/>
              </a:rPr>
              <a:t>depts</a:t>
            </a:r>
            <a:r>
              <a:rPr lang="en-US" altLang="x-none" dirty="0">
                <a:ea typeface="宋体" panose="02010600030101010101" pitchFamily="2" charset="-122"/>
              </a:rPr>
              <a:t>(dept_name, dept_phone, dept_mgrname)</a:t>
            </a:r>
          </a:p>
          <a:p>
            <a:pPr marL="825500" lvl="3" indent="-368300" eaLnBrk="1" hangingPunct="1">
              <a:buNone/>
            </a:pPr>
            <a:r>
              <a:rPr lang="en-US" altLang="x-none" dirty="0">
                <a:ea typeface="宋体" panose="02010600030101010101" pitchFamily="2" charset="-122"/>
                <a:sym typeface="Symbol" panose="05050102010706020507" pitchFamily="2" charset="2"/>
              </a:rPr>
              <a:t>dept_name </a:t>
            </a:r>
            <a:r>
              <a:rPr lang="en-US" altLang="x-none" dirty="0">
                <a:solidFill>
                  <a:srgbClr val="FF0000"/>
                </a:solidFill>
                <a:ea typeface="宋体" panose="02010600030101010101" pitchFamily="2" charset="-122"/>
                <a:sym typeface="Symbol" panose="05050102010706020507" pitchFamily="2" charset="2"/>
              </a:rPr>
              <a:t> </a:t>
            </a:r>
            <a:r>
              <a:rPr lang="en-US" altLang="x-none" dirty="0">
                <a:ea typeface="宋体" panose="02010600030101010101" pitchFamily="2" charset="-122"/>
                <a:sym typeface="Symbol" panose="05050102010706020507" pitchFamily="2" charset="2"/>
              </a:rPr>
              <a:t>{dept_phone, dept_mgrname}</a:t>
            </a:r>
          </a:p>
          <a:p>
            <a:pPr marL="368300" lvl="2" indent="-368300" eaLnBrk="1" hangingPunct="1">
              <a:buNone/>
            </a:pPr>
            <a:endParaRPr lang="en-US" altLang="x-none" sz="1400" dirty="0">
              <a:ea typeface="宋体" panose="02010600030101010101" pitchFamily="2" charset="-122"/>
            </a:endParaRPr>
          </a:p>
          <a:p>
            <a:pPr marL="368300" lvl="1" indent="-368300" eaLnBrk="1" hangingPunct="1"/>
            <a:r>
              <a:rPr lang="en-US" altLang="x-none" dirty="0">
                <a:solidFill>
                  <a:srgbClr val="FF0000"/>
                </a:solidFill>
                <a:ea typeface="宋体" panose="02010600030101010101" pitchFamily="2" charset="-122"/>
              </a:rPr>
              <a:t>emp_skills</a:t>
            </a:r>
            <a:r>
              <a:rPr lang="en-US" altLang="x-none" dirty="0">
                <a:ea typeface="宋体" panose="02010600030101010101" pitchFamily="2" charset="-122"/>
              </a:rPr>
              <a:t>(emp_id, skill_id, skill_date, skill_lvl)</a:t>
            </a:r>
          </a:p>
          <a:p>
            <a:pPr marL="825500" lvl="3" indent="-368300" eaLnBrk="1" hangingPunct="1">
              <a:buNone/>
            </a:pPr>
            <a:r>
              <a:rPr lang="en-US" altLang="x-none" dirty="0">
                <a:ea typeface="宋体" panose="02010600030101010101" pitchFamily="2" charset="-122"/>
                <a:sym typeface="Symbol" panose="05050102010706020507" pitchFamily="2" charset="2"/>
              </a:rPr>
              <a:t>{emp_id, skill_id} </a:t>
            </a:r>
            <a:r>
              <a:rPr lang="en-US" altLang="x-none" dirty="0">
                <a:solidFill>
                  <a:srgbClr val="FF0000"/>
                </a:solidFill>
                <a:ea typeface="宋体" panose="02010600030101010101" pitchFamily="2" charset="-122"/>
                <a:sym typeface="Symbol" panose="05050102010706020507" pitchFamily="2" charset="2"/>
              </a:rPr>
              <a:t> </a:t>
            </a:r>
            <a:r>
              <a:rPr lang="en-US" altLang="x-none" dirty="0">
                <a:ea typeface="宋体" panose="02010600030101010101" pitchFamily="2" charset="-122"/>
                <a:sym typeface="Symbol" panose="05050102010706020507" pitchFamily="2" charset="2"/>
              </a:rPr>
              <a:t>{skill_date, skill_lvl}</a:t>
            </a:r>
          </a:p>
          <a:p>
            <a:pPr marL="368300" lvl="2" indent="-368300" eaLnBrk="1" hangingPunct="1">
              <a:buNone/>
            </a:pPr>
            <a:endParaRPr lang="en-US" altLang="x-none" sz="1400" dirty="0">
              <a:ea typeface="宋体" panose="02010600030101010101" pitchFamily="2" charset="-122"/>
            </a:endParaRPr>
          </a:p>
          <a:p>
            <a:pPr marL="368300" lvl="1" indent="-368300" eaLnBrk="1" hangingPunct="1"/>
            <a:r>
              <a:rPr lang="en-US" altLang="x-none" dirty="0">
                <a:solidFill>
                  <a:srgbClr val="FF0000"/>
                </a:solidFill>
                <a:ea typeface="宋体" panose="02010600030101010101" pitchFamily="2" charset="-122"/>
              </a:rPr>
              <a:t>skills</a:t>
            </a:r>
            <a:r>
              <a:rPr lang="en-US" altLang="x-none" dirty="0">
                <a:ea typeface="宋体" panose="02010600030101010101" pitchFamily="2" charset="-122"/>
              </a:rPr>
              <a:t>(skill_id, skill_name)</a:t>
            </a:r>
          </a:p>
          <a:p>
            <a:pPr marL="825500" lvl="3" indent="-368300" eaLnBrk="1" hangingPunct="1">
              <a:buNone/>
            </a:pPr>
            <a:r>
              <a:rPr lang="en-US" altLang="x-none" dirty="0">
                <a:ea typeface="宋体" panose="02010600030101010101" pitchFamily="2" charset="-122"/>
                <a:sym typeface="Symbol" panose="05050102010706020507" pitchFamily="2" charset="2"/>
              </a:rPr>
              <a:t>skill_id </a:t>
            </a:r>
            <a:r>
              <a:rPr lang="en-US" altLang="x-none" dirty="0">
                <a:solidFill>
                  <a:srgbClr val="FF0000"/>
                </a:solidFill>
                <a:ea typeface="宋体" panose="02010600030101010101" pitchFamily="2" charset="-122"/>
                <a:sym typeface="Symbol" panose="05050102010706020507" pitchFamily="2" charset="2"/>
              </a:rPr>
              <a:t> </a:t>
            </a:r>
            <a:r>
              <a:rPr lang="en-US" altLang="x-none" dirty="0">
                <a:ea typeface="宋体" panose="02010600030101010101" pitchFamily="2" charset="-122"/>
                <a:sym typeface="Symbol" panose="05050102010706020507" pitchFamily="2" charset="2"/>
              </a:rPr>
              <a:t>skill_name</a:t>
            </a:r>
          </a:p>
        </p:txBody>
      </p:sp>
      <p:sp>
        <p:nvSpPr>
          <p:cNvPr id="186374" name="Text Box 4"/>
          <p:cNvSpPr txBox="1"/>
          <p:nvPr/>
        </p:nvSpPr>
        <p:spPr>
          <a:xfrm>
            <a:off x="304800" y="5804535"/>
            <a:ext cx="8534400" cy="517525"/>
          </a:xfrm>
          <a:prstGeom prst="rect">
            <a:avLst/>
          </a:prstGeom>
          <a:noFill/>
          <a:ln w="9525">
            <a:noFill/>
          </a:ln>
        </p:spPr>
        <p:txBody>
          <a:bodyPr anchor="t">
            <a:spAutoFit/>
          </a:bodyPr>
          <a:lstStyle/>
          <a:p>
            <a:pPr lvl="0" algn="ctr">
              <a:spcBef>
                <a:spcPct val="50000"/>
              </a:spcBef>
            </a:pPr>
            <a:r>
              <a:rPr lang="en-US" altLang="x-none" sz="2800" b="1" dirty="0">
                <a:latin typeface="Arial" panose="020B0604020202020204" pitchFamily="34" charset="0"/>
                <a:ea typeface="宋体" panose="02010600030101010101" pitchFamily="2" charset="-122"/>
              </a:rPr>
              <a:t>Figure 6.26</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87394"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87395"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117</a:t>
            </a:fld>
            <a:endParaRPr lang="zh-CN" altLang="en-US" sz="1200" b="1" i="1" dirty="0">
              <a:latin typeface="Times New Roman" panose="02020603050405020304" pitchFamily="2" charset="0"/>
              <a:ea typeface="宋体" panose="02010600030101010101" pitchFamily="2" charset="-122"/>
            </a:endParaRPr>
          </a:p>
        </p:txBody>
      </p:sp>
      <p:sp>
        <p:nvSpPr>
          <p:cNvPr id="187396" name="Rectangle 6"/>
          <p:cNvSpPr>
            <a:spLocks noGrp="1"/>
          </p:cNvSpPr>
          <p:nvPr>
            <p:ph type="body"/>
          </p:nvPr>
        </p:nvSpPr>
        <p:spPr>
          <a:xfrm>
            <a:off x="242888" y="695325"/>
            <a:ext cx="8651875" cy="780415"/>
          </a:xfrm>
        </p:spPr>
        <p:txBody>
          <a:bodyPr wrap="square" anchor="t">
            <a:spAutoFit/>
          </a:bodyPr>
          <a:lstStyle/>
          <a:p>
            <a:pPr lvl="0" eaLnBrk="1" hangingPunct="1">
              <a:lnSpc>
                <a:spcPct val="140000"/>
              </a:lnSpc>
              <a:buClr>
                <a:schemeClr val="accent1"/>
              </a:buClr>
            </a:pPr>
            <a:r>
              <a:rPr lang="en-US" altLang="x-none" sz="3200" dirty="0">
                <a:ea typeface="宋体" panose="02010600030101010101" pitchFamily="2" charset="-122"/>
              </a:rPr>
              <a:t>Def. 6.8.6. Third Normal Form (3NF)</a:t>
            </a:r>
            <a:endParaRPr lang="zh-CN" altLang="en-US" sz="3200" dirty="0">
              <a:ea typeface="宋体" panose="02010600030101010101" pitchFamily="2" charset="-122"/>
            </a:endParaRPr>
          </a:p>
        </p:txBody>
      </p:sp>
      <p:sp>
        <p:nvSpPr>
          <p:cNvPr id="187397"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6.8  </a:t>
            </a:r>
            <a:r>
              <a:rPr lang="en-US" altLang="x-none" dirty="0">
                <a:ea typeface="宋体" panose="02010600030101010101" pitchFamily="2" charset="-122"/>
              </a:rPr>
              <a:t>Normal Forms</a:t>
            </a:r>
          </a:p>
        </p:txBody>
      </p:sp>
      <p:sp>
        <p:nvSpPr>
          <p:cNvPr id="2" name="Rectangle 6"/>
          <p:cNvSpPr>
            <a:spLocks noGrp="1"/>
          </p:cNvSpPr>
          <p:nvPr/>
        </p:nvSpPr>
        <p:spPr>
          <a:xfrm>
            <a:off x="242888" y="1443355"/>
            <a:ext cx="8651875" cy="4154170"/>
          </a:xfrm>
          <a:prstGeom prst="rect">
            <a:avLst/>
          </a:prstGeom>
          <a:noFill/>
          <a:ln w="9525">
            <a:solidFill>
              <a:schemeClr val="accent1"/>
            </a:solidFill>
          </a:ln>
        </p:spPr>
        <p:txBody>
          <a:bodyPr wrap="square" lIns="0" anchor="t">
            <a:spAutoFit/>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800" b="1" u="none" kern="1200" baseline="0">
                <a:solidFill>
                  <a:srgbClr val="FF0000"/>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Ø"/>
              <a:defRPr sz="2800" b="1" u="none" kern="1200" baseline="0">
                <a:solidFill>
                  <a:schemeClr val="accent2"/>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accent2"/>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9pPr>
          </a:lstStyle>
          <a:p>
            <a:pPr marL="457200" lvl="1" indent="0" eaLnBrk="1" hangingPunct="1">
              <a:lnSpc>
                <a:spcPct val="140000"/>
              </a:lnSpc>
              <a:buClr>
                <a:schemeClr val="accent1"/>
              </a:buClr>
              <a:buNone/>
            </a:pPr>
            <a:r>
              <a:rPr lang="en-US" altLang="x-none" sz="3000" dirty="0">
                <a:ea typeface="宋体" panose="02010600030101010101" pitchFamily="2" charset="-122"/>
              </a:rPr>
              <a:t>A table T in a database schema with FD set F is in 3NF</a:t>
            </a:r>
          </a:p>
          <a:p>
            <a:pPr marL="457200" lvl="1" indent="0" eaLnBrk="1" hangingPunct="1">
              <a:lnSpc>
                <a:spcPct val="140000"/>
              </a:lnSpc>
              <a:buClr>
                <a:schemeClr val="accent1"/>
              </a:buClr>
              <a:buNone/>
            </a:pPr>
            <a:r>
              <a:rPr lang="en-US" altLang="x-none" sz="3000" dirty="0">
                <a:solidFill>
                  <a:srgbClr val="FF0000"/>
                </a:solidFill>
                <a:ea typeface="宋体" panose="02010600030101010101" pitchFamily="2" charset="-122"/>
              </a:rPr>
              <a:t>iff</a:t>
            </a:r>
          </a:p>
          <a:p>
            <a:pPr marL="914400" lvl="2" indent="0" eaLnBrk="1" hangingPunct="1">
              <a:lnSpc>
                <a:spcPct val="140000"/>
              </a:lnSpc>
              <a:buClr>
                <a:schemeClr val="accent1"/>
              </a:buClr>
              <a:buNone/>
            </a:pPr>
            <a:r>
              <a:rPr lang="en-US" altLang="x-none" sz="3000" dirty="0">
                <a:ea typeface="宋体" panose="02010600030101010101" pitchFamily="2" charset="-122"/>
              </a:rPr>
              <a:t>for any FD </a:t>
            </a:r>
            <a:r>
              <a:rPr lang="en-US" altLang="x-none" sz="3000" dirty="0">
                <a:solidFill>
                  <a:srgbClr val="FF0000"/>
                </a:solidFill>
                <a:ea typeface="宋体" panose="02010600030101010101" pitchFamily="2" charset="-122"/>
              </a:rPr>
              <a:t>X</a:t>
            </a:r>
            <a:r>
              <a:rPr lang="en-US" altLang="x-none" sz="3000" dirty="0">
                <a:solidFill>
                  <a:srgbClr val="FF0000"/>
                </a:solidFill>
                <a:ea typeface="宋体" panose="02010600030101010101" pitchFamily="2" charset="-122"/>
                <a:sym typeface="Symbol" panose="05050102010706020507" pitchFamily="2" charset="2"/>
              </a:rPr>
              <a:t></a:t>
            </a:r>
            <a:r>
              <a:rPr lang="en-US" altLang="x-none" sz="3000" dirty="0">
                <a:solidFill>
                  <a:srgbClr val="FF0000"/>
                </a:solidFill>
                <a:ea typeface="宋体" panose="02010600030101010101" pitchFamily="2" charset="-122"/>
              </a:rPr>
              <a:t>A</a:t>
            </a:r>
            <a:r>
              <a:rPr lang="en-US" altLang="x-none" sz="3000" dirty="0">
                <a:ea typeface="宋体" panose="02010600030101010101" pitchFamily="2" charset="-122"/>
              </a:rPr>
              <a:t> implied by F that lies in T, if </a:t>
            </a:r>
            <a:r>
              <a:rPr lang="en-US" altLang="x-none" sz="3000" dirty="0">
                <a:solidFill>
                  <a:srgbClr val="FF0000"/>
                </a:solidFill>
                <a:ea typeface="宋体" panose="02010600030101010101" pitchFamily="2" charset="-122"/>
              </a:rPr>
              <a:t>A is a single non-prime attribute</a:t>
            </a:r>
            <a:r>
              <a:rPr lang="en-US" altLang="x-none" sz="3000" dirty="0">
                <a:ea typeface="宋体" panose="02010600030101010101" pitchFamily="2" charset="-122"/>
              </a:rPr>
              <a:t> </a:t>
            </a:r>
            <a:r>
              <a:rPr lang="en-US" altLang="x-none" sz="3000" dirty="0">
                <a:solidFill>
                  <a:srgbClr val="FF0000"/>
                </a:solidFill>
                <a:ea typeface="宋体" panose="02010600030101010101" pitchFamily="2" charset="-122"/>
              </a:rPr>
              <a:t>not in X</a:t>
            </a:r>
            <a:r>
              <a:rPr lang="en-US" altLang="x-none" sz="3000" dirty="0">
                <a:ea typeface="宋体" panose="02010600030101010101" pitchFamily="2" charset="-122"/>
              </a:rPr>
              <a:t>, then </a:t>
            </a:r>
            <a:r>
              <a:rPr lang="en-US" altLang="x-none" sz="3000" dirty="0">
                <a:solidFill>
                  <a:srgbClr val="FF0000"/>
                </a:solidFill>
                <a:ea typeface="宋体" panose="02010600030101010101" pitchFamily="2" charset="-122"/>
              </a:rPr>
              <a:t>X must be a superkey for T</a:t>
            </a:r>
            <a:r>
              <a:rPr lang="en-US" altLang="x-none" sz="3000" dirty="0">
                <a:ea typeface="宋体" panose="02010600030101010101" pitchFamily="2" charset="-122"/>
              </a:rPr>
              <a:t>.</a:t>
            </a:r>
            <a:endParaRPr lang="zh-CN" altLang="en-US" sz="3000" dirty="0">
              <a:ea typeface="宋体" panose="02010600030101010101" pitchFamily="2" charset="-122"/>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85346"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85347"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118</a:t>
            </a:fld>
            <a:endParaRPr lang="zh-CN" altLang="en-US" sz="1200" b="1" i="1" dirty="0">
              <a:latin typeface="Times New Roman" panose="02020603050405020304" pitchFamily="2" charset="0"/>
              <a:ea typeface="宋体" panose="02010600030101010101" pitchFamily="2" charset="-122"/>
            </a:endParaRPr>
          </a:p>
        </p:txBody>
      </p:sp>
      <p:sp>
        <p:nvSpPr>
          <p:cNvPr id="185348" name="Rectangle 2"/>
          <p:cNvSpPr>
            <a:spLocks noGrp="1"/>
          </p:cNvSpPr>
          <p:nvPr>
            <p:ph type="title"/>
          </p:nvPr>
        </p:nvSpPr>
        <p:spPr/>
        <p:txBody>
          <a:bodyPr wrap="square" anchor="ctr"/>
          <a:lstStyle/>
          <a:p>
            <a:pPr lvl="0" eaLnBrk="1" hangingPunct="1"/>
            <a:r>
              <a:rPr lang="en-US" dirty="0">
                <a:ea typeface="宋体" panose="02010600030101010101" pitchFamily="2" charset="-122"/>
              </a:rPr>
              <a:t>3NF</a:t>
            </a:r>
            <a:r>
              <a:rPr lang="zh-CN" altLang="en-US" dirty="0">
                <a:ea typeface="宋体" panose="02010600030101010101" pitchFamily="2" charset="-122"/>
              </a:rPr>
              <a:t>的判定方法</a:t>
            </a:r>
          </a:p>
        </p:txBody>
      </p:sp>
      <p:sp>
        <p:nvSpPr>
          <p:cNvPr id="184325" name="Rectangle 3"/>
          <p:cNvSpPr>
            <a:spLocks noGrp="1"/>
          </p:cNvSpPr>
          <p:nvPr>
            <p:ph type="body"/>
          </p:nvPr>
        </p:nvSpPr>
        <p:spPr>
          <a:xfrm>
            <a:off x="241300" y="766763"/>
            <a:ext cx="8686800" cy="5292725"/>
          </a:xfrm>
          <a:ln>
            <a:solidFill>
              <a:schemeClr val="accent1"/>
            </a:solidFill>
          </a:ln>
        </p:spPr>
        <p:txBody>
          <a:bodyPr wrap="square" lIns="179705" anchor="t">
            <a:spAutoFit/>
          </a:bodyPr>
          <a:lstStyle/>
          <a:p>
            <a:pPr marL="514350" lvl="0" indent="-514350" eaLnBrk="1" fontAlgn="base" hangingPunct="1">
              <a:lnSpc>
                <a:spcPct val="100000"/>
              </a:lnSpc>
              <a:spcBef>
                <a:spcPts val="20"/>
              </a:spcBef>
              <a:spcAft>
                <a:spcPts val="0"/>
              </a:spcAft>
              <a:buFont typeface="+mj-lt"/>
              <a:buAutoNum type="alphaLcParenR"/>
            </a:pPr>
            <a:r>
              <a:rPr lang="en-US" altLang="zh-CN" strike="noStrike" noProof="1">
                <a:solidFill>
                  <a:srgbClr val="0000CC"/>
                </a:solidFill>
                <a:ea typeface="宋体" panose="02010600030101010101" pitchFamily="2" charset="-122"/>
              </a:rPr>
              <a:t>flag = true</a:t>
            </a:r>
          </a:p>
          <a:p>
            <a:pPr marL="514350" lvl="0" indent="-514350" eaLnBrk="1" fontAlgn="base" hangingPunct="1">
              <a:lnSpc>
                <a:spcPct val="100000"/>
              </a:lnSpc>
              <a:spcBef>
                <a:spcPts val="20"/>
              </a:spcBef>
              <a:spcAft>
                <a:spcPts val="0"/>
              </a:spcAft>
              <a:buFont typeface="+mj-lt"/>
              <a:buAutoNum type="alphaLcParenR"/>
            </a:pPr>
            <a:endParaRPr lang="en-US" altLang="zh-CN" sz="1400" strike="noStrike" noProof="1">
              <a:solidFill>
                <a:srgbClr val="0000CC"/>
              </a:solidFill>
              <a:ea typeface="宋体" panose="02010600030101010101" pitchFamily="2" charset="-122"/>
            </a:endParaRPr>
          </a:p>
          <a:p>
            <a:pPr marL="514350" lvl="0" indent="-514350" eaLnBrk="1" fontAlgn="base" hangingPunct="1">
              <a:lnSpc>
                <a:spcPct val="100000"/>
              </a:lnSpc>
              <a:spcBef>
                <a:spcPts val="20"/>
              </a:spcBef>
              <a:spcAft>
                <a:spcPts val="0"/>
              </a:spcAft>
              <a:buAutoNum type="alphaLcParenR"/>
            </a:pPr>
            <a:r>
              <a:rPr lang="en-US" altLang="x-none" strike="noStrike" noProof="1">
                <a:solidFill>
                  <a:srgbClr val="0000CC"/>
                </a:solidFill>
                <a:ea typeface="宋体" panose="02010600030101010101" pitchFamily="2" charset="-122"/>
              </a:rPr>
              <a:t>for each X</a:t>
            </a:r>
            <a:r>
              <a:rPr lang="en-US" altLang="x-none" strike="noStrike" noProof="1">
                <a:solidFill>
                  <a:srgbClr val="0000CC"/>
                </a:solidFill>
                <a:ea typeface="宋体" panose="02010600030101010101" pitchFamily="2" charset="-122"/>
                <a:sym typeface="Symbol" panose="05050102010706020507" pitchFamily="2" charset="2"/>
              </a:rPr>
              <a:t></a:t>
            </a:r>
            <a:r>
              <a:rPr lang="en-US" altLang="x-none" strike="noStrike" noProof="1">
                <a:solidFill>
                  <a:srgbClr val="0000CC"/>
                </a:solidFill>
                <a:ea typeface="宋体" panose="02010600030101010101" pitchFamily="2" charset="-122"/>
              </a:rPr>
              <a:t>A in F</a:t>
            </a:r>
            <a:r>
              <a:rPr lang="en-US" altLang="x-none" strike="noStrike" baseline="30000" noProof="1">
                <a:solidFill>
                  <a:srgbClr val="0000CC"/>
                </a:solidFill>
                <a:ea typeface="宋体" panose="02010600030101010101" pitchFamily="2" charset="-122"/>
              </a:rPr>
              <a:t>+</a:t>
            </a:r>
            <a:r>
              <a:rPr lang="en-US" altLang="x-none" strike="noStrike" noProof="1">
                <a:solidFill>
                  <a:srgbClr val="0000CC"/>
                </a:solidFill>
                <a:ea typeface="宋体" panose="02010600030101010101" pitchFamily="2" charset="-122"/>
              </a:rPr>
              <a:t> </a:t>
            </a:r>
          </a:p>
          <a:p>
            <a:pPr marL="457200" lvl="1" indent="0" eaLnBrk="1" fontAlgn="base" hangingPunct="1">
              <a:lnSpc>
                <a:spcPct val="100000"/>
              </a:lnSpc>
              <a:spcBef>
                <a:spcPts val="20"/>
              </a:spcBef>
              <a:spcAft>
                <a:spcPts val="0"/>
              </a:spcAft>
              <a:buNone/>
            </a:pPr>
            <a:r>
              <a:rPr lang="en-US" altLang="x-none" strike="noStrike" noProof="1">
                <a:solidFill>
                  <a:srgbClr val="0000CC"/>
                </a:solidFill>
                <a:ea typeface="宋体" panose="02010600030101010101" pitchFamily="2" charset="-122"/>
              </a:rPr>
              <a:t>{</a:t>
            </a:r>
          </a:p>
          <a:p>
            <a:pPr marL="914400" lvl="2" indent="0" eaLnBrk="1" fontAlgn="base" hangingPunct="1">
              <a:lnSpc>
                <a:spcPct val="100000"/>
              </a:lnSpc>
              <a:spcBef>
                <a:spcPts val="20"/>
              </a:spcBef>
              <a:spcAft>
                <a:spcPts val="0"/>
              </a:spcAft>
              <a:buNone/>
            </a:pPr>
            <a:r>
              <a:rPr lang="en-US" altLang="x-none" strike="noStrike" noProof="1">
                <a:solidFill>
                  <a:srgbClr val="0000CC"/>
                </a:solidFill>
                <a:ea typeface="宋体" panose="02010600030101010101" pitchFamily="2" charset="-122"/>
              </a:rPr>
              <a:t>if (</a:t>
            </a:r>
            <a:r>
              <a:rPr lang="en-US" altLang="x-none" strike="noStrike" noProof="1">
                <a:solidFill>
                  <a:srgbClr val="FF0000"/>
                </a:solidFill>
                <a:ea typeface="宋体" panose="02010600030101010101" pitchFamily="2" charset="-122"/>
              </a:rPr>
              <a:t>A is a single </a:t>
            </a:r>
            <a:r>
              <a:rPr lang="en-US" altLang="x-none" dirty="0">
                <a:solidFill>
                  <a:srgbClr val="FF0000"/>
                </a:solidFill>
                <a:ea typeface="宋体" panose="02010600030101010101" pitchFamily="2" charset="-122"/>
                <a:sym typeface="+mn-ea"/>
              </a:rPr>
              <a:t>non-prime </a:t>
            </a:r>
            <a:r>
              <a:rPr lang="en-US" altLang="x-none" strike="noStrike" noProof="1">
                <a:solidFill>
                  <a:srgbClr val="FF0000"/>
                </a:solidFill>
                <a:ea typeface="宋体" panose="02010600030101010101" pitchFamily="2" charset="-122"/>
              </a:rPr>
              <a:t>attribute not in X</a:t>
            </a:r>
            <a:r>
              <a:rPr lang="en-US" altLang="x-none" strike="noStrike" noProof="1">
                <a:solidFill>
                  <a:srgbClr val="0000CC"/>
                </a:solidFill>
                <a:ea typeface="宋体" panose="02010600030101010101" pitchFamily="2" charset="-122"/>
              </a:rPr>
              <a:t>) </a:t>
            </a:r>
          </a:p>
          <a:p>
            <a:pPr marL="914400" lvl="2" indent="0" eaLnBrk="1" fontAlgn="base" hangingPunct="1">
              <a:lnSpc>
                <a:spcPct val="100000"/>
              </a:lnSpc>
              <a:spcBef>
                <a:spcPts val="20"/>
              </a:spcBef>
              <a:spcAft>
                <a:spcPts val="0"/>
              </a:spcAft>
              <a:buNone/>
            </a:pPr>
            <a:r>
              <a:rPr lang="en-US" altLang="x-none" strike="noStrike" noProof="1">
                <a:solidFill>
                  <a:srgbClr val="0000CC"/>
                </a:solidFill>
                <a:ea typeface="宋体" panose="02010600030101010101" pitchFamily="2" charset="-122"/>
              </a:rPr>
              <a:t>{</a:t>
            </a:r>
          </a:p>
          <a:p>
            <a:pPr marL="1371600" lvl="3" indent="0" eaLnBrk="1" fontAlgn="base" hangingPunct="1">
              <a:lnSpc>
                <a:spcPct val="100000"/>
              </a:lnSpc>
              <a:spcBef>
                <a:spcPts val="20"/>
              </a:spcBef>
              <a:spcAft>
                <a:spcPts val="0"/>
              </a:spcAft>
              <a:buNone/>
            </a:pPr>
            <a:r>
              <a:rPr lang="en-US" altLang="x-none" strike="noStrike" noProof="1">
                <a:solidFill>
                  <a:srgbClr val="0000CC"/>
                </a:solidFill>
                <a:ea typeface="宋体" panose="02010600030101010101" pitchFamily="2" charset="-122"/>
              </a:rPr>
              <a:t>if (</a:t>
            </a:r>
            <a:r>
              <a:rPr lang="en-US" altLang="x-none" strike="noStrike" noProof="1">
                <a:solidFill>
                  <a:srgbClr val="FF0000"/>
                </a:solidFill>
                <a:ea typeface="宋体" panose="02010600030101010101" pitchFamily="2" charset="-122"/>
              </a:rPr>
              <a:t>X isn't a superkey for T</a:t>
            </a:r>
            <a:r>
              <a:rPr lang="en-US" altLang="x-none" strike="noStrike" noProof="1">
                <a:solidFill>
                  <a:schemeClr val="accent6"/>
                </a:solidFill>
                <a:ea typeface="宋体" panose="02010600030101010101" pitchFamily="2" charset="-122"/>
              </a:rPr>
              <a:t>)</a:t>
            </a:r>
          </a:p>
          <a:p>
            <a:pPr marL="1371600" lvl="3" indent="0" eaLnBrk="1" fontAlgn="base" hangingPunct="1">
              <a:lnSpc>
                <a:spcPct val="100000"/>
              </a:lnSpc>
              <a:spcBef>
                <a:spcPts val="20"/>
              </a:spcBef>
              <a:spcAft>
                <a:spcPts val="0"/>
              </a:spcAft>
              <a:buNone/>
            </a:pPr>
            <a:r>
              <a:rPr lang="en-US" altLang="x-none" strike="noStrike" noProof="1">
                <a:solidFill>
                  <a:schemeClr val="accent6"/>
                </a:solidFill>
                <a:ea typeface="宋体" panose="02010600030101010101" pitchFamily="2" charset="-122"/>
              </a:rPr>
              <a:t>{  flag = false;  break;  }</a:t>
            </a:r>
          </a:p>
          <a:p>
            <a:pPr marL="914400" lvl="2" indent="0" eaLnBrk="1" fontAlgn="base" hangingPunct="1">
              <a:lnSpc>
                <a:spcPct val="100000"/>
              </a:lnSpc>
              <a:spcBef>
                <a:spcPts val="20"/>
              </a:spcBef>
              <a:spcAft>
                <a:spcPts val="0"/>
              </a:spcAft>
              <a:buNone/>
            </a:pPr>
            <a:r>
              <a:rPr lang="en-US" altLang="x-none" strike="noStrike" noProof="1">
                <a:solidFill>
                  <a:schemeClr val="accent6"/>
                </a:solidFill>
                <a:ea typeface="宋体" panose="02010600030101010101" pitchFamily="2" charset="-122"/>
              </a:rPr>
              <a:t>}</a:t>
            </a:r>
          </a:p>
          <a:p>
            <a:pPr marL="457200" lvl="1" indent="0" eaLnBrk="1" fontAlgn="base" hangingPunct="1">
              <a:lnSpc>
                <a:spcPct val="100000"/>
              </a:lnSpc>
              <a:spcBef>
                <a:spcPts val="20"/>
              </a:spcBef>
              <a:spcAft>
                <a:spcPts val="0"/>
              </a:spcAft>
              <a:buNone/>
            </a:pPr>
            <a:r>
              <a:rPr lang="en-US" altLang="x-none" strike="noStrike" noProof="1">
                <a:solidFill>
                  <a:srgbClr val="0000CC"/>
                </a:solidFill>
                <a:ea typeface="宋体" panose="02010600030101010101" pitchFamily="2" charset="-122"/>
              </a:rPr>
              <a:t>}</a:t>
            </a:r>
          </a:p>
          <a:p>
            <a:pPr marL="457200" lvl="1" indent="0" eaLnBrk="1" fontAlgn="base" hangingPunct="1">
              <a:lnSpc>
                <a:spcPct val="100000"/>
              </a:lnSpc>
              <a:spcBef>
                <a:spcPts val="20"/>
              </a:spcBef>
              <a:spcAft>
                <a:spcPts val="0"/>
              </a:spcAft>
              <a:buNone/>
            </a:pPr>
            <a:endParaRPr lang="en-US" altLang="x-none" sz="1400" strike="noStrike" noProof="1">
              <a:solidFill>
                <a:srgbClr val="0000CC"/>
              </a:solidFill>
              <a:ea typeface="宋体" panose="02010600030101010101" pitchFamily="2" charset="-122"/>
            </a:endParaRPr>
          </a:p>
          <a:p>
            <a:pPr marL="514350" lvl="0" indent="-514350" eaLnBrk="1" fontAlgn="base" hangingPunct="1">
              <a:lnSpc>
                <a:spcPct val="100000"/>
              </a:lnSpc>
              <a:spcBef>
                <a:spcPts val="20"/>
              </a:spcBef>
              <a:spcAft>
                <a:spcPts val="0"/>
              </a:spcAft>
              <a:buFont typeface="+mj-lt"/>
              <a:buAutoNum type="alphaLcParenR"/>
            </a:pPr>
            <a:r>
              <a:rPr lang="en-US" altLang="x-none" strike="noStrike" noProof="1">
                <a:solidFill>
                  <a:srgbClr val="0000CC"/>
                </a:solidFill>
                <a:ea typeface="宋体" panose="02010600030101010101" pitchFamily="2" charset="-122"/>
              </a:rPr>
              <a:t>if (flag == true)  T is in 3NF</a:t>
            </a:r>
          </a:p>
          <a:p>
            <a:pPr marL="457200" lvl="1" indent="0" eaLnBrk="1" fontAlgn="base" hangingPunct="1">
              <a:lnSpc>
                <a:spcPct val="100000"/>
              </a:lnSpc>
              <a:spcBef>
                <a:spcPts val="20"/>
              </a:spcBef>
              <a:spcAft>
                <a:spcPts val="0"/>
              </a:spcAft>
              <a:buFont typeface="+mj-lt"/>
              <a:buNone/>
            </a:pPr>
            <a:r>
              <a:rPr lang="en-US" altLang="x-none" strike="noStrike" noProof="1">
                <a:solidFill>
                  <a:srgbClr val="0000CC"/>
                </a:solidFill>
                <a:ea typeface="宋体" panose="02010600030101010101" pitchFamily="2" charset="-122"/>
              </a:rPr>
              <a:t>else  T isn't in 3NF</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89442"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89443"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119</a:t>
            </a:fld>
            <a:endParaRPr lang="zh-CN" altLang="en-US" sz="1200" b="1" i="1" dirty="0">
              <a:latin typeface="Times New Roman" panose="02020603050405020304" pitchFamily="2" charset="0"/>
              <a:ea typeface="宋体" panose="02010600030101010101" pitchFamily="2" charset="-122"/>
            </a:endParaRPr>
          </a:p>
        </p:txBody>
      </p:sp>
      <p:sp>
        <p:nvSpPr>
          <p:cNvPr id="189444" name="Rectangle 3"/>
          <p:cNvSpPr>
            <a:spLocks noGrp="1"/>
          </p:cNvSpPr>
          <p:nvPr>
            <p:ph type="body"/>
          </p:nvPr>
        </p:nvSpPr>
        <p:spPr>
          <a:xfrm>
            <a:off x="1588" y="1588"/>
            <a:ext cx="9109075" cy="6293485"/>
          </a:xfrm>
          <a:solidFill>
            <a:schemeClr val="bg1"/>
          </a:solidFill>
          <a:ln>
            <a:solidFill>
              <a:srgbClr val="FF0000"/>
            </a:solidFill>
            <a:miter/>
          </a:ln>
        </p:spPr>
        <p:txBody>
          <a:bodyPr wrap="square" lIns="90170" tIns="46990" rIns="90170" bIns="46990" anchor="t">
            <a:spAutoFit/>
          </a:bodyPr>
          <a:lstStyle/>
          <a:p>
            <a:pPr lvl="0" eaLnBrk="1" hangingPunct="1"/>
            <a:r>
              <a:rPr lang="en-US" altLang="x-none" sz="3200" dirty="0">
                <a:solidFill>
                  <a:schemeClr val="tx2"/>
                </a:solidFill>
                <a:ea typeface="宋体" panose="02010600030101010101" pitchFamily="2" charset="-122"/>
              </a:rPr>
              <a:t>BCNF</a:t>
            </a:r>
            <a:r>
              <a:rPr lang="zh-CN" altLang="en-US" sz="3200" dirty="0">
                <a:solidFill>
                  <a:schemeClr val="tx2"/>
                </a:solidFill>
                <a:ea typeface="宋体" panose="02010600030101010101" pitchFamily="2" charset="-122"/>
              </a:rPr>
              <a:t>和3</a:t>
            </a:r>
            <a:r>
              <a:rPr lang="en-US" altLang="x-none" sz="3200" dirty="0">
                <a:solidFill>
                  <a:schemeClr val="tx2"/>
                </a:solidFill>
                <a:ea typeface="宋体" panose="02010600030101010101" pitchFamily="2" charset="-122"/>
              </a:rPr>
              <a:t>NF</a:t>
            </a:r>
            <a:r>
              <a:rPr lang="zh-CN" altLang="en-US" sz="3200" dirty="0">
                <a:solidFill>
                  <a:schemeClr val="tx2"/>
                </a:solidFill>
                <a:ea typeface="宋体" panose="02010600030101010101" pitchFamily="2" charset="-122"/>
              </a:rPr>
              <a:t>定义的对比</a:t>
            </a:r>
          </a:p>
          <a:p>
            <a:pPr lvl="0" eaLnBrk="1" hangingPunct="1">
              <a:lnSpc>
                <a:spcPct val="120000"/>
              </a:lnSpc>
            </a:pPr>
            <a:r>
              <a:rPr lang="en-US" altLang="x-none" sz="3200" dirty="0">
                <a:ea typeface="宋体" panose="02010600030101010101" pitchFamily="2" charset="-122"/>
              </a:rPr>
              <a:t>BCNF</a:t>
            </a:r>
          </a:p>
          <a:p>
            <a:pPr lvl="1" indent="-285750" eaLnBrk="1" hangingPunct="1">
              <a:lnSpc>
                <a:spcPct val="120000"/>
              </a:lnSpc>
            </a:pPr>
            <a:r>
              <a:rPr lang="en-US" altLang="x-none" sz="3200" dirty="0">
                <a:ea typeface="宋体" panose="02010600030101010101" pitchFamily="2" charset="-122"/>
              </a:rPr>
              <a:t>for any FD X</a:t>
            </a:r>
            <a:r>
              <a:rPr lang="en-US" altLang="x-none" sz="3200" dirty="0">
                <a:ea typeface="宋体" panose="02010600030101010101" pitchFamily="2" charset="-122"/>
                <a:sym typeface="Symbol" panose="05050102010706020507" pitchFamily="2" charset="2"/>
              </a:rPr>
              <a:t></a:t>
            </a:r>
            <a:r>
              <a:rPr lang="en-US" altLang="x-none" sz="3200" dirty="0">
                <a:ea typeface="宋体" panose="02010600030101010101" pitchFamily="2" charset="-122"/>
              </a:rPr>
              <a:t>A in F</a:t>
            </a:r>
            <a:r>
              <a:rPr lang="en-US" altLang="x-none" sz="3200" baseline="30000" dirty="0">
                <a:ea typeface="宋体" panose="02010600030101010101" pitchFamily="2" charset="-122"/>
              </a:rPr>
              <a:t>+</a:t>
            </a:r>
            <a:r>
              <a:rPr lang="en-US" altLang="x-none" sz="3200" dirty="0">
                <a:ea typeface="宋体" panose="02010600030101010101" pitchFamily="2" charset="-122"/>
              </a:rPr>
              <a:t> that lies in T (all attributes of X and A in T), if A is </a:t>
            </a:r>
            <a:r>
              <a:rPr lang="en-US" altLang="x-none" sz="3200" u="sng" dirty="0">
                <a:solidFill>
                  <a:srgbClr val="FF0000"/>
                </a:solidFill>
                <a:ea typeface="宋体" panose="02010600030101010101" pitchFamily="2" charset="-122"/>
              </a:rPr>
              <a:t>a single attribute</a:t>
            </a:r>
            <a:r>
              <a:rPr lang="en-US" altLang="x-none" sz="3200" dirty="0">
                <a:ea typeface="宋体" panose="02010600030101010101" pitchFamily="2" charset="-122"/>
              </a:rPr>
              <a:t> not in X, then X must be a superkey for T</a:t>
            </a:r>
          </a:p>
          <a:p>
            <a:pPr lvl="0" eaLnBrk="1" hangingPunct="1">
              <a:lnSpc>
                <a:spcPct val="120000"/>
              </a:lnSpc>
            </a:pPr>
            <a:r>
              <a:rPr lang="en-US" altLang="x-none" sz="3200" u="sng" dirty="0">
                <a:ea typeface="宋体" panose="02010600030101010101" pitchFamily="2" charset="-122"/>
              </a:rPr>
              <a:t>3NF</a:t>
            </a:r>
          </a:p>
          <a:p>
            <a:pPr lvl="1" indent="-285750" eaLnBrk="1" hangingPunct="1">
              <a:lnSpc>
                <a:spcPct val="120000"/>
              </a:lnSpc>
            </a:pPr>
            <a:r>
              <a:rPr lang="en-US" altLang="x-none" sz="3200" dirty="0">
                <a:ea typeface="宋体" panose="02010600030101010101" pitchFamily="2" charset="-122"/>
              </a:rPr>
              <a:t>for any FD X</a:t>
            </a:r>
            <a:r>
              <a:rPr lang="en-US" altLang="x-none" sz="3200" dirty="0">
                <a:ea typeface="宋体" panose="02010600030101010101" pitchFamily="2" charset="-122"/>
                <a:sym typeface="Symbol" panose="05050102010706020507" pitchFamily="2" charset="2"/>
              </a:rPr>
              <a:t></a:t>
            </a:r>
            <a:r>
              <a:rPr lang="en-US" altLang="x-none" sz="3200" dirty="0">
                <a:ea typeface="宋体" panose="02010600030101010101" pitchFamily="2" charset="-122"/>
              </a:rPr>
              <a:t>A implied by F that lies in T, if A is </a:t>
            </a:r>
            <a:r>
              <a:rPr lang="en-US" altLang="x-none" sz="3200" u="sng" dirty="0">
                <a:solidFill>
                  <a:srgbClr val="FF0000"/>
                </a:solidFill>
                <a:ea typeface="宋体" panose="02010600030101010101" pitchFamily="2" charset="-122"/>
              </a:rPr>
              <a:t>a single non-prime attribute</a:t>
            </a:r>
            <a:r>
              <a:rPr lang="en-US" altLang="x-none" sz="3200" dirty="0">
                <a:ea typeface="宋体" panose="02010600030101010101" pitchFamily="2" charset="-122"/>
              </a:rPr>
              <a:t> not in X, then X must be a superkey for T.</a:t>
            </a:r>
          </a:p>
        </p:txBody>
      </p:sp>
      <p:sp>
        <p:nvSpPr>
          <p:cNvPr id="189445" name="动作按钮: 前进或下一项 187397">
            <a:hlinkClick r:id="rId2" action="ppaction://hlinksldjump"/>
          </p:cNvPr>
          <p:cNvSpPr/>
          <p:nvPr/>
        </p:nvSpPr>
        <p:spPr>
          <a:xfrm>
            <a:off x="8029575" y="404813"/>
            <a:ext cx="647700" cy="431800"/>
          </a:xfrm>
          <a:prstGeom prst="actionButtonForwardNext">
            <a:avLst/>
          </a:prstGeom>
          <a:noFill/>
          <a:ln w="19050" cap="flat" cmpd="sng">
            <a:solidFill>
              <a:srgbClr val="996600"/>
            </a:solidFill>
            <a:prstDash val="solid"/>
            <a:miter/>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90466"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90467"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120</a:t>
            </a:fld>
            <a:endParaRPr lang="zh-CN" altLang="en-US" sz="1200" b="1" i="1" dirty="0">
              <a:latin typeface="Times New Roman" panose="02020603050405020304" pitchFamily="2" charset="0"/>
              <a:ea typeface="宋体" panose="02010600030101010101" pitchFamily="2" charset="-122"/>
            </a:endParaRPr>
          </a:p>
        </p:txBody>
      </p:sp>
      <p:sp>
        <p:nvSpPr>
          <p:cNvPr id="190468"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6.8  </a:t>
            </a:r>
            <a:r>
              <a:rPr lang="en-US" altLang="x-none" dirty="0">
                <a:ea typeface="宋体" panose="02010600030101010101" pitchFamily="2" charset="-122"/>
              </a:rPr>
              <a:t>Normal Forms</a:t>
            </a:r>
          </a:p>
        </p:txBody>
      </p:sp>
      <p:sp>
        <p:nvSpPr>
          <p:cNvPr id="190469" name="Rectangle 3"/>
          <p:cNvSpPr>
            <a:spLocks noGrp="1"/>
          </p:cNvSpPr>
          <p:nvPr>
            <p:ph type="body"/>
          </p:nvPr>
        </p:nvSpPr>
        <p:spPr>
          <a:xfrm>
            <a:off x="314325" y="838200"/>
            <a:ext cx="8651875" cy="3598863"/>
          </a:xfrm>
        </p:spPr>
        <p:txBody>
          <a:bodyPr wrap="square" anchor="t"/>
          <a:lstStyle/>
          <a:p>
            <a:pPr lvl="0" eaLnBrk="1" hangingPunct="1"/>
            <a:r>
              <a:rPr lang="en-US" altLang="x-none" sz="3000" dirty="0">
                <a:ea typeface="宋体" panose="02010600030101010101" pitchFamily="2" charset="-122"/>
              </a:rPr>
              <a:t>Example 6.8.6 (Figure 6.29)</a:t>
            </a:r>
          </a:p>
          <a:p>
            <a:pPr lvl="1" indent="-285750" eaLnBrk="1" hangingPunct="1"/>
            <a:r>
              <a:rPr lang="en-US" altLang="x-none" sz="3000" dirty="0">
                <a:ea typeface="宋体" panose="02010600030101010101" pitchFamily="2" charset="-122"/>
              </a:rPr>
              <a:t>Each of the tables in this schema is in BCNF, and therefore in 3NF.</a:t>
            </a:r>
          </a:p>
          <a:p>
            <a:pPr lvl="1" indent="-285750" eaLnBrk="1" hangingPunct="1"/>
            <a:endParaRPr lang="en-US" altLang="x-none" sz="3000" dirty="0">
              <a:ea typeface="宋体" panose="02010600030101010101" pitchFamily="2" charset="-122"/>
            </a:endParaRPr>
          </a:p>
          <a:p>
            <a:pPr lvl="0" eaLnBrk="1" hangingPunct="1"/>
            <a:r>
              <a:rPr lang="en-US" altLang="x-none" sz="3000" dirty="0">
                <a:ea typeface="宋体" panose="02010600030101010101" pitchFamily="2" charset="-122"/>
              </a:rPr>
              <a:t>Example 6.8.7 (Figure 6.28)</a:t>
            </a:r>
          </a:p>
          <a:p>
            <a:pPr lvl="1" indent="-285750" eaLnBrk="1" hangingPunct="1"/>
            <a:r>
              <a:rPr lang="en-US" altLang="x-none" sz="3000" dirty="0">
                <a:ea typeface="宋体" panose="02010600030101010101" pitchFamily="2" charset="-122"/>
              </a:rPr>
              <a:t>This table is in 3NF but not in BCNF.</a:t>
            </a:r>
          </a:p>
        </p:txBody>
      </p:sp>
      <p:sp>
        <p:nvSpPr>
          <p:cNvPr id="188423" name="Text Box 5"/>
          <p:cNvSpPr txBox="1"/>
          <p:nvPr/>
        </p:nvSpPr>
        <p:spPr>
          <a:xfrm>
            <a:off x="323533" y="5013008"/>
            <a:ext cx="8570912" cy="606425"/>
          </a:xfrm>
          <a:prstGeom prst="rect">
            <a:avLst/>
          </a:prstGeom>
          <a:solidFill>
            <a:srgbClr val="CCFFCC"/>
          </a:solidFill>
          <a:ln w="25400" cap="flat" cmpd="sng">
            <a:solidFill>
              <a:srgbClr val="0000FF"/>
            </a:solidFill>
            <a:prstDash val="solid"/>
            <a:miter/>
            <a:headEnd type="none" w="med" len="med"/>
            <a:tailEnd type="none" w="med" len="med"/>
          </a:ln>
        </p:spPr>
        <p:txBody>
          <a:bodyPr wrap="square" lIns="90170" tIns="46990" rIns="90170" bIns="46990" anchor="t">
            <a:spAutoFit/>
          </a:bodyPr>
          <a:lstStyle/>
          <a:p>
            <a:pPr lvl="0">
              <a:spcBef>
                <a:spcPct val="50000"/>
              </a:spcBef>
            </a:pPr>
            <a:r>
              <a:rPr lang="en-US" altLang="x-none" sz="3200" b="1" dirty="0">
                <a:solidFill>
                  <a:srgbClr val="FF0000"/>
                </a:solidFill>
                <a:latin typeface="Arial" panose="020B0604020202020204" pitchFamily="34" charset="0"/>
                <a:ea typeface="宋体" panose="02010600030101010101" pitchFamily="2" charset="-122"/>
              </a:rPr>
              <a:t>Theorem:  If table T is BCNF, then T is 3NF.</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8423"/>
                                        </p:tgtEl>
                                        <p:attrNameLst>
                                          <p:attrName>style.visibility</p:attrName>
                                        </p:attrNameLst>
                                      </p:cBhvr>
                                      <p:to>
                                        <p:strVal val="visible"/>
                                      </p:to>
                                    </p:set>
                                    <p:animEffect transition="in" filter="blinds(horizontal)">
                                      <p:cBhvr>
                                        <p:cTn id="7" dur="500"/>
                                        <p:tgtEl>
                                          <p:spTgt spid="1884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23" grpId="0" bldLvl="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91490"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91491"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121</a:t>
            </a:fld>
            <a:endParaRPr lang="zh-CN" altLang="en-US" sz="1200" b="1" i="1" dirty="0">
              <a:latin typeface="Times New Roman" panose="02020603050405020304" pitchFamily="2" charset="0"/>
              <a:ea typeface="宋体" panose="02010600030101010101" pitchFamily="2" charset="-122"/>
            </a:endParaRPr>
          </a:p>
        </p:txBody>
      </p:sp>
      <p:sp>
        <p:nvSpPr>
          <p:cNvPr id="191492"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6.8  </a:t>
            </a:r>
            <a:r>
              <a:rPr lang="en-US" altLang="x-none" dirty="0">
                <a:ea typeface="宋体" panose="02010600030101010101" pitchFamily="2" charset="-122"/>
              </a:rPr>
              <a:t>Normal Forms</a:t>
            </a:r>
          </a:p>
        </p:txBody>
      </p:sp>
      <p:sp>
        <p:nvSpPr>
          <p:cNvPr id="191493" name="Rectangle 3"/>
          <p:cNvSpPr>
            <a:spLocks noGrp="1"/>
          </p:cNvSpPr>
          <p:nvPr>
            <p:ph type="body"/>
          </p:nvPr>
        </p:nvSpPr>
        <p:spPr>
          <a:xfrm>
            <a:off x="241300" y="838200"/>
            <a:ext cx="8651875" cy="4876800"/>
          </a:xfrm>
        </p:spPr>
        <p:txBody>
          <a:bodyPr wrap="square" anchor="t"/>
          <a:lstStyle/>
          <a:p>
            <a:pPr marL="533400" lvl="0" indent="-533400" eaLnBrk="1" hangingPunct="1">
              <a:lnSpc>
                <a:spcPct val="140000"/>
              </a:lnSpc>
            </a:pPr>
            <a:r>
              <a:rPr lang="en-US" altLang="x-none" sz="3200" dirty="0">
                <a:ea typeface="宋体" panose="02010600030101010101" pitchFamily="2" charset="-122"/>
              </a:rPr>
              <a:t>Example 6.8.8 </a:t>
            </a:r>
            <a:r>
              <a:rPr lang="en-US" altLang="x-none" sz="3200" dirty="0">
                <a:solidFill>
                  <a:schemeClr val="accent2"/>
                </a:solidFill>
                <a:ea typeface="宋体" panose="02010600030101010101" pitchFamily="2" charset="-122"/>
              </a:rPr>
              <a:t>Head(T) = {A,B,C,D}, and FD set F as follows: F =</a:t>
            </a:r>
            <a:r>
              <a:rPr lang="zh-CN" altLang="en-US" sz="3200" dirty="0">
                <a:solidFill>
                  <a:schemeClr val="accent2"/>
                </a:solidFill>
                <a:ea typeface="宋体" panose="02010600030101010101" pitchFamily="2" charset="-122"/>
              </a:rPr>
              <a:t> </a:t>
            </a:r>
            <a:r>
              <a:rPr lang="en-US" altLang="x-none" sz="3200" dirty="0">
                <a:solidFill>
                  <a:schemeClr val="accent2"/>
                </a:solidFill>
                <a:ea typeface="宋体" panose="02010600030101010101" pitchFamily="2" charset="-122"/>
              </a:rPr>
              <a:t>{AB</a:t>
            </a:r>
            <a:r>
              <a:rPr lang="en-US" altLang="x-none" sz="3200" dirty="0">
                <a:solidFill>
                  <a:schemeClr val="accent2"/>
                </a:solidFill>
                <a:ea typeface="宋体" panose="02010600030101010101" pitchFamily="2" charset="-122"/>
                <a:sym typeface="Symbol" panose="05050102010706020507" pitchFamily="2" charset="2"/>
              </a:rPr>
              <a:t>CD, DB}</a:t>
            </a:r>
          </a:p>
          <a:p>
            <a:pPr marL="990600" lvl="1" indent="-533400" eaLnBrk="1" hangingPunct="1">
              <a:lnSpc>
                <a:spcPct val="140000"/>
              </a:lnSpc>
              <a:buAutoNum type="arabicParenR"/>
            </a:pPr>
            <a:r>
              <a:rPr lang="en-US" altLang="x-none" sz="3200" dirty="0">
                <a:ea typeface="宋体" panose="02010600030101010101" pitchFamily="2" charset="-122"/>
                <a:sym typeface="Symbol" panose="05050102010706020507" pitchFamily="2" charset="2"/>
              </a:rPr>
              <a:t>Find candidate key for table T</a:t>
            </a:r>
          </a:p>
          <a:p>
            <a:pPr marL="990600" lvl="1" indent="-533400" eaLnBrk="1" hangingPunct="1">
              <a:lnSpc>
                <a:spcPct val="140000"/>
              </a:lnSpc>
              <a:buAutoNum type="arabicParenR"/>
            </a:pPr>
            <a:r>
              <a:rPr lang="en-US" altLang="x-none" sz="3200" dirty="0">
                <a:ea typeface="宋体" panose="02010600030101010101" pitchFamily="2" charset="-122"/>
                <a:sym typeface="Symbol" panose="05050102010706020507" pitchFamily="2" charset="2"/>
              </a:rPr>
              <a:t>Table T is 3NF ?</a:t>
            </a:r>
          </a:p>
          <a:p>
            <a:pPr marL="990600" lvl="1" indent="-533400" eaLnBrk="1" hangingPunct="1">
              <a:lnSpc>
                <a:spcPct val="140000"/>
              </a:lnSpc>
              <a:buAutoNum type="arabicParenR"/>
            </a:pPr>
            <a:r>
              <a:rPr lang="en-US" altLang="x-none" sz="3200" dirty="0">
                <a:ea typeface="宋体" panose="02010600030101010101" pitchFamily="2" charset="-122"/>
                <a:sym typeface="Symbol" panose="05050102010706020507" pitchFamily="2" charset="2"/>
              </a:rPr>
              <a:t>Table T is BCNF ?</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91490"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91491"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122</a:t>
            </a:fld>
            <a:endParaRPr lang="zh-CN" altLang="en-US" sz="1200" b="1" i="1" dirty="0">
              <a:latin typeface="Times New Roman" panose="02020603050405020304" pitchFamily="2" charset="0"/>
              <a:ea typeface="宋体" panose="02010600030101010101" pitchFamily="2" charset="-122"/>
            </a:endParaRPr>
          </a:p>
        </p:txBody>
      </p:sp>
      <p:sp>
        <p:nvSpPr>
          <p:cNvPr id="191492" name="Rectangle 2"/>
          <p:cNvSpPr>
            <a:spLocks noGrp="1"/>
          </p:cNvSpPr>
          <p:nvPr>
            <p:ph type="title"/>
          </p:nvPr>
        </p:nvSpPr>
        <p:spPr/>
        <p:txBody>
          <a:bodyPr wrap="square" anchor="ctr"/>
          <a:lstStyle/>
          <a:p>
            <a:pPr lvl="0" algn="l" eaLnBrk="1" hangingPunct="1"/>
            <a:r>
              <a:rPr lang="en-US" altLang="x-none" sz="2800" dirty="0">
                <a:ea typeface="宋体" panose="02010600030101010101" pitchFamily="2" charset="-122"/>
                <a:sym typeface="+mn-ea"/>
              </a:rPr>
              <a:t>Exp 6.8.8: </a:t>
            </a:r>
            <a:r>
              <a:rPr lang="en-US" altLang="x-none" sz="2800" dirty="0">
                <a:solidFill>
                  <a:schemeClr val="accent2"/>
                </a:solidFill>
                <a:ea typeface="宋体" panose="02010600030101010101" pitchFamily="2" charset="-122"/>
                <a:sym typeface="+mn-ea"/>
              </a:rPr>
              <a:t>Head(T) = {A,B,C,D}, F =</a:t>
            </a:r>
            <a:r>
              <a:rPr lang="zh-CN" altLang="en-US" sz="2800" dirty="0">
                <a:solidFill>
                  <a:schemeClr val="accent2"/>
                </a:solidFill>
                <a:ea typeface="宋体" panose="02010600030101010101" pitchFamily="2" charset="-122"/>
                <a:sym typeface="+mn-ea"/>
              </a:rPr>
              <a:t> </a:t>
            </a:r>
            <a:r>
              <a:rPr lang="en-US" altLang="x-none" sz="2800" dirty="0">
                <a:solidFill>
                  <a:schemeClr val="accent2"/>
                </a:solidFill>
                <a:ea typeface="宋体" panose="02010600030101010101" pitchFamily="2" charset="-122"/>
                <a:sym typeface="+mn-ea"/>
              </a:rPr>
              <a:t>{AB</a:t>
            </a:r>
            <a:r>
              <a:rPr lang="en-US" altLang="x-none" sz="2800" dirty="0">
                <a:solidFill>
                  <a:schemeClr val="accent2"/>
                </a:solidFill>
                <a:ea typeface="宋体" panose="02010600030101010101" pitchFamily="2" charset="-122"/>
                <a:sym typeface="Symbol" panose="05050102010706020507" pitchFamily="2" charset="2"/>
              </a:rPr>
              <a:t>CD, DB}</a:t>
            </a:r>
            <a:endParaRPr lang="en-US" altLang="x-none" sz="2800" dirty="0">
              <a:ea typeface="宋体" panose="02010600030101010101" pitchFamily="2" charset="-122"/>
            </a:endParaRPr>
          </a:p>
        </p:txBody>
      </p:sp>
      <p:sp>
        <p:nvSpPr>
          <p:cNvPr id="191493" name="Rectangle 3"/>
          <p:cNvSpPr>
            <a:spLocks noGrp="1"/>
          </p:cNvSpPr>
          <p:nvPr>
            <p:ph type="body"/>
          </p:nvPr>
        </p:nvSpPr>
        <p:spPr>
          <a:xfrm>
            <a:off x="241300" y="694690"/>
            <a:ext cx="8651875" cy="518160"/>
          </a:xfrm>
        </p:spPr>
        <p:txBody>
          <a:bodyPr wrap="square" anchor="t">
            <a:spAutoFit/>
          </a:bodyPr>
          <a:lstStyle/>
          <a:p>
            <a:pPr marL="0" lvl="0" indent="0" eaLnBrk="1" hangingPunct="1">
              <a:lnSpc>
                <a:spcPct val="100000"/>
              </a:lnSpc>
              <a:spcBef>
                <a:spcPts val="20"/>
              </a:spcBef>
              <a:spcAft>
                <a:spcPts val="0"/>
              </a:spcAft>
              <a:buNone/>
            </a:pPr>
            <a:r>
              <a:rPr lang="en-US" altLang="x-none" dirty="0">
                <a:ea typeface="宋体" panose="02010600030101010101" pitchFamily="2" charset="-122"/>
                <a:sym typeface="Symbol" panose="05050102010706020507" pitchFamily="2" charset="2"/>
              </a:rPr>
              <a:t>1) Find candidate key for table T ?</a:t>
            </a:r>
          </a:p>
        </p:txBody>
      </p:sp>
      <p:grpSp>
        <p:nvGrpSpPr>
          <p:cNvPr id="6" name="组合 5"/>
          <p:cNvGrpSpPr/>
          <p:nvPr/>
        </p:nvGrpSpPr>
        <p:grpSpPr>
          <a:xfrm>
            <a:off x="241300" y="3046095"/>
            <a:ext cx="8651875" cy="2449195"/>
            <a:chOff x="380" y="3102"/>
            <a:chExt cx="13625" cy="3857"/>
          </a:xfrm>
        </p:grpSpPr>
        <p:sp>
          <p:nvSpPr>
            <p:cNvPr id="2" name="Rectangle 3"/>
            <p:cNvSpPr>
              <a:spLocks noGrp="1"/>
            </p:cNvSpPr>
            <p:nvPr/>
          </p:nvSpPr>
          <p:spPr>
            <a:xfrm>
              <a:off x="380" y="3102"/>
              <a:ext cx="13625" cy="816"/>
            </a:xfrm>
            <a:prstGeom prst="rect">
              <a:avLst/>
            </a:prstGeom>
            <a:noFill/>
            <a:ln w="9525">
              <a:noFill/>
            </a:ln>
          </p:spPr>
          <p:txBody>
            <a:bodyPr wrap="square" anchor="t">
              <a:spAutoFit/>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800" b="1" u="none" kern="1200" baseline="0">
                  <a:solidFill>
                    <a:srgbClr val="FF0000"/>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Ø"/>
                <a:defRPr sz="2800" b="1" u="none" kern="1200" baseline="0">
                  <a:solidFill>
                    <a:schemeClr val="accent2"/>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accent2"/>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9pPr>
            </a:lstStyle>
            <a:p>
              <a:pPr marL="0" lvl="0" indent="0" eaLnBrk="1" hangingPunct="1">
                <a:lnSpc>
                  <a:spcPct val="100000"/>
                </a:lnSpc>
                <a:spcBef>
                  <a:spcPts val="20"/>
                </a:spcBef>
                <a:spcAft>
                  <a:spcPts val="0"/>
                </a:spcAft>
                <a:buNone/>
              </a:pPr>
              <a:r>
                <a:rPr lang="en-US" altLang="x-none" dirty="0">
                  <a:ea typeface="宋体" panose="02010600030101010101" pitchFamily="2" charset="-122"/>
                  <a:sym typeface="Symbol" panose="05050102010706020507" pitchFamily="2" charset="2"/>
                </a:rPr>
                <a:t>2) Table T is 3NF ?</a:t>
              </a:r>
            </a:p>
          </p:txBody>
        </p:sp>
        <p:sp>
          <p:nvSpPr>
            <p:cNvPr id="3" name="Rectangle 3"/>
            <p:cNvSpPr>
              <a:spLocks noGrp="1"/>
            </p:cNvSpPr>
            <p:nvPr/>
          </p:nvSpPr>
          <p:spPr>
            <a:xfrm>
              <a:off x="380" y="6143"/>
              <a:ext cx="13625" cy="816"/>
            </a:xfrm>
            <a:prstGeom prst="rect">
              <a:avLst/>
            </a:prstGeom>
            <a:noFill/>
            <a:ln w="9525">
              <a:noFill/>
            </a:ln>
          </p:spPr>
          <p:txBody>
            <a:bodyPr wrap="square" anchor="t">
              <a:spAutoFit/>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800" b="1" u="none" kern="1200" baseline="0">
                  <a:solidFill>
                    <a:srgbClr val="FF0000"/>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Ø"/>
                <a:defRPr sz="2800" b="1" u="none" kern="1200" baseline="0">
                  <a:solidFill>
                    <a:schemeClr val="accent2"/>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accent2"/>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9pPr>
            </a:lstStyle>
            <a:p>
              <a:pPr marL="0" lvl="0" indent="0" eaLnBrk="1" hangingPunct="1">
                <a:lnSpc>
                  <a:spcPct val="100000"/>
                </a:lnSpc>
                <a:spcBef>
                  <a:spcPts val="20"/>
                </a:spcBef>
                <a:spcAft>
                  <a:spcPts val="0"/>
                </a:spcAft>
                <a:buNone/>
              </a:pPr>
              <a:r>
                <a:rPr lang="en-US" altLang="x-none" dirty="0">
                  <a:ea typeface="宋体" panose="02010600030101010101" pitchFamily="2" charset="-122"/>
                  <a:sym typeface="Symbol" panose="05050102010706020507" pitchFamily="2" charset="2"/>
                </a:rPr>
                <a:t>3) Table T is BCNF ?</a:t>
              </a:r>
            </a:p>
          </p:txBody>
        </p:sp>
      </p:grpSp>
      <p:sp>
        <p:nvSpPr>
          <p:cNvPr id="5" name="文本框 4"/>
          <p:cNvSpPr txBox="1"/>
          <p:nvPr/>
        </p:nvSpPr>
        <p:spPr>
          <a:xfrm>
            <a:off x="742315" y="1191260"/>
            <a:ext cx="2893695" cy="518160"/>
          </a:xfrm>
          <a:prstGeom prst="rect">
            <a:avLst/>
          </a:prstGeom>
          <a:noFill/>
        </p:spPr>
        <p:txBody>
          <a:bodyPr wrap="square" rtlCol="0">
            <a:spAutoFit/>
          </a:bodyPr>
          <a:lstStyle/>
          <a:p>
            <a:r>
              <a:rPr lang="en-US" altLang="zh-CN" sz="2800" b="1" u="sng">
                <a:solidFill>
                  <a:srgbClr val="0000CC"/>
                </a:solidFill>
              </a:rPr>
              <a:t>key</a:t>
            </a:r>
            <a:r>
              <a:rPr lang="en-US" altLang="zh-CN" sz="2800" b="1">
                <a:solidFill>
                  <a:srgbClr val="0000CC"/>
                </a:solidFill>
              </a:rPr>
              <a:t>:  AB  </a:t>
            </a:r>
            <a:r>
              <a:rPr lang="zh-CN" altLang="zh-CN" sz="2800" b="1">
                <a:solidFill>
                  <a:srgbClr val="0000CC"/>
                </a:solidFill>
                <a:ea typeface="宋体" panose="02010600030101010101" pitchFamily="2" charset="-122"/>
              </a:rPr>
              <a:t>和  </a:t>
            </a:r>
            <a:r>
              <a:rPr lang="en-US" altLang="zh-CN" sz="2800" b="1">
                <a:solidFill>
                  <a:srgbClr val="0000CC"/>
                </a:solidFill>
                <a:ea typeface="宋体" panose="02010600030101010101" pitchFamily="2" charset="-122"/>
              </a:rPr>
              <a:t>AD</a:t>
            </a:r>
          </a:p>
        </p:txBody>
      </p:sp>
      <p:sp>
        <p:nvSpPr>
          <p:cNvPr id="8" name="文本框 7"/>
          <p:cNvSpPr txBox="1"/>
          <p:nvPr/>
        </p:nvSpPr>
        <p:spPr>
          <a:xfrm>
            <a:off x="598805" y="1734820"/>
            <a:ext cx="7921625" cy="1159510"/>
          </a:xfrm>
          <a:prstGeom prst="rect">
            <a:avLst/>
          </a:prstGeom>
          <a:noFill/>
          <a:ln>
            <a:solidFill>
              <a:schemeClr val="accent1"/>
            </a:solidFill>
          </a:ln>
        </p:spPr>
        <p:txBody>
          <a:bodyPr wrap="square" bIns="107950" rtlCol="0">
            <a:spAutoFit/>
          </a:bodyPr>
          <a:lstStyle/>
          <a:p>
            <a:pPr algn="l">
              <a:lnSpc>
                <a:spcPct val="100000"/>
              </a:lnSpc>
              <a:spcBef>
                <a:spcPts val="0"/>
              </a:spcBef>
              <a:spcAft>
                <a:spcPts val="0"/>
              </a:spcAft>
            </a:pPr>
            <a:r>
              <a:rPr lang="en-US" altLang="zh-CN" sz="2800" b="1">
                <a:solidFill>
                  <a:srgbClr val="0000CC"/>
                </a:solidFill>
              </a:rPr>
              <a:t>        </a:t>
            </a:r>
            <a:r>
              <a:rPr lang="en-US" altLang="zh-CN" sz="2800" b="1" u="sng">
                <a:solidFill>
                  <a:srgbClr val="0000CC"/>
                </a:solidFill>
              </a:rPr>
              <a:t>prime attributes set</a:t>
            </a:r>
            <a:r>
              <a:rPr lang="en-US" altLang="zh-CN" sz="2800" b="1">
                <a:solidFill>
                  <a:srgbClr val="0000CC"/>
                </a:solidFill>
              </a:rPr>
              <a:t>:</a:t>
            </a:r>
            <a:endParaRPr lang="en-US" altLang="zh-CN" sz="2800" b="1">
              <a:solidFill>
                <a:srgbClr val="0000CC"/>
              </a:solidFill>
              <a:ea typeface="宋体" panose="02010600030101010101" pitchFamily="2" charset="-122"/>
            </a:endParaRPr>
          </a:p>
          <a:p>
            <a:pPr algn="l">
              <a:lnSpc>
                <a:spcPct val="100000"/>
              </a:lnSpc>
              <a:spcBef>
                <a:spcPts val="1200"/>
              </a:spcBef>
              <a:spcAft>
                <a:spcPts val="0"/>
              </a:spcAft>
            </a:pPr>
            <a:r>
              <a:rPr lang="en-US" altLang="zh-CN" sz="2800" b="1" u="sng">
                <a:solidFill>
                  <a:srgbClr val="0000CC"/>
                </a:solidFill>
                <a:ea typeface="宋体" panose="02010600030101010101" pitchFamily="2" charset="-122"/>
              </a:rPr>
              <a:t>non-prime attributes set</a:t>
            </a:r>
            <a:r>
              <a:rPr lang="en-US" altLang="zh-CN" sz="2800" b="1">
                <a:solidFill>
                  <a:srgbClr val="0000CC"/>
                </a:solidFill>
                <a:ea typeface="宋体" panose="02010600030101010101" pitchFamily="2" charset="-122"/>
              </a:rPr>
              <a:t>:</a:t>
            </a:r>
          </a:p>
        </p:txBody>
      </p:sp>
      <p:sp>
        <p:nvSpPr>
          <p:cNvPr id="9" name="文本框 8"/>
          <p:cNvSpPr txBox="1"/>
          <p:nvPr/>
        </p:nvSpPr>
        <p:spPr>
          <a:xfrm>
            <a:off x="4622165" y="1764030"/>
            <a:ext cx="2893695" cy="518160"/>
          </a:xfrm>
          <a:prstGeom prst="rect">
            <a:avLst/>
          </a:prstGeom>
          <a:noFill/>
        </p:spPr>
        <p:txBody>
          <a:bodyPr wrap="square" rtlCol="0">
            <a:spAutoFit/>
          </a:bodyPr>
          <a:lstStyle/>
          <a:p>
            <a:r>
              <a:rPr lang="en-US" sz="2800" b="1">
                <a:solidFill>
                  <a:srgbClr val="0000CC"/>
                </a:solidFill>
              </a:rPr>
              <a:t>{ A, B, D }</a:t>
            </a:r>
            <a:endParaRPr lang="en-US" sz="2800" b="1">
              <a:solidFill>
                <a:srgbClr val="0000CC"/>
              </a:solidFill>
              <a:ea typeface="宋体" panose="02010600030101010101" pitchFamily="2" charset="-122"/>
            </a:endParaRPr>
          </a:p>
        </p:txBody>
      </p:sp>
      <p:sp>
        <p:nvSpPr>
          <p:cNvPr id="10" name="文本框 9"/>
          <p:cNvSpPr txBox="1"/>
          <p:nvPr/>
        </p:nvSpPr>
        <p:spPr>
          <a:xfrm>
            <a:off x="4622165" y="2332990"/>
            <a:ext cx="2893695" cy="518160"/>
          </a:xfrm>
          <a:prstGeom prst="rect">
            <a:avLst/>
          </a:prstGeom>
          <a:noFill/>
        </p:spPr>
        <p:txBody>
          <a:bodyPr wrap="square" rtlCol="0">
            <a:spAutoFit/>
          </a:bodyPr>
          <a:lstStyle/>
          <a:p>
            <a:r>
              <a:rPr lang="en-US" sz="2800" b="1">
                <a:solidFill>
                  <a:srgbClr val="0000CC"/>
                </a:solidFill>
              </a:rPr>
              <a:t>{ C }</a:t>
            </a:r>
            <a:endParaRPr lang="en-US" sz="2800" b="1">
              <a:solidFill>
                <a:srgbClr val="0000CC"/>
              </a:solidFill>
              <a:ea typeface="宋体" panose="02010600030101010101" pitchFamily="2" charset="-122"/>
            </a:endParaRPr>
          </a:p>
        </p:txBody>
      </p:sp>
      <p:sp>
        <p:nvSpPr>
          <p:cNvPr id="11" name="文本框 10"/>
          <p:cNvSpPr txBox="1"/>
          <p:nvPr/>
        </p:nvSpPr>
        <p:spPr>
          <a:xfrm>
            <a:off x="598805" y="3564255"/>
            <a:ext cx="7921625" cy="1342390"/>
          </a:xfrm>
          <a:prstGeom prst="rect">
            <a:avLst/>
          </a:prstGeom>
          <a:noFill/>
          <a:ln>
            <a:solidFill>
              <a:schemeClr val="accent1"/>
            </a:solidFill>
          </a:ln>
        </p:spPr>
        <p:txBody>
          <a:bodyPr wrap="square" bIns="107950" rtlCol="0">
            <a:spAutoFit/>
          </a:bodyPr>
          <a:lstStyle/>
          <a:p>
            <a:pPr marL="572770" indent="-572770" algn="l">
              <a:lnSpc>
                <a:spcPct val="100000"/>
              </a:lnSpc>
              <a:spcBef>
                <a:spcPts val="0"/>
              </a:spcBef>
              <a:spcAft>
                <a:spcPts val="0"/>
              </a:spcAft>
            </a:pPr>
            <a:r>
              <a:rPr lang="en-US" altLang="zh-CN" sz="2600" b="1">
                <a:solidFill>
                  <a:srgbClr val="0000CC"/>
                </a:solidFill>
                <a:latin typeface="+mn-ea"/>
                <a:ea typeface="+mn-ea"/>
              </a:rPr>
              <a:t>∵ </a:t>
            </a:r>
            <a:r>
              <a:rPr lang="zh-CN" altLang="en-US" sz="2600" b="1">
                <a:solidFill>
                  <a:srgbClr val="0000CC"/>
                </a:solidFill>
                <a:latin typeface="+mn-ea"/>
                <a:ea typeface="+mn-ea"/>
              </a:rPr>
              <a:t>该关系只有一个非主属性</a:t>
            </a:r>
            <a:r>
              <a:rPr lang="en-US" altLang="zh-CN" sz="2600" b="1">
                <a:solidFill>
                  <a:srgbClr val="0000CC"/>
                </a:solidFill>
                <a:latin typeface="+mn-ea"/>
                <a:ea typeface="+mn-ea"/>
              </a:rPr>
              <a:t>C</a:t>
            </a:r>
            <a:r>
              <a:rPr lang="zh-CN" altLang="en-US" sz="2600" b="1">
                <a:solidFill>
                  <a:srgbClr val="0000CC"/>
                </a:solidFill>
                <a:latin typeface="+mn-ea"/>
                <a:ea typeface="+mn-ea"/>
              </a:rPr>
              <a:t>，且</a:t>
            </a:r>
            <a:r>
              <a:rPr lang="en-US" altLang="zh-CN" sz="2600" b="1">
                <a:solidFill>
                  <a:srgbClr val="0000CC"/>
                </a:solidFill>
                <a:latin typeface="+mn-ea"/>
                <a:ea typeface="+mn-ea"/>
              </a:rPr>
              <a:t>AB</a:t>
            </a:r>
            <a:r>
              <a:rPr lang="en-US" altLang="zh-CN" sz="2600" b="1">
                <a:solidFill>
                  <a:srgbClr val="0000CC"/>
                </a:solidFill>
                <a:latin typeface="+mn-ea"/>
                <a:ea typeface="+mn-ea"/>
                <a:cs typeface="宋体" panose="02010600030101010101" pitchFamily="2" charset="-122"/>
              </a:rPr>
              <a:t>→C </a:t>
            </a:r>
            <a:r>
              <a:rPr lang="zh-CN" altLang="zh-CN" sz="2600" b="1">
                <a:solidFill>
                  <a:srgbClr val="0000CC"/>
                </a:solidFill>
                <a:latin typeface="+mn-ea"/>
                <a:ea typeface="+mn-ea"/>
                <a:cs typeface="宋体" panose="02010600030101010101" pitchFamily="2" charset="-122"/>
              </a:rPr>
              <a:t>满足</a:t>
            </a:r>
            <a:r>
              <a:rPr lang="en-US" altLang="zh-CN" sz="2600" b="1">
                <a:solidFill>
                  <a:srgbClr val="0000CC"/>
                </a:solidFill>
                <a:latin typeface="+mn-ea"/>
                <a:ea typeface="+mn-ea"/>
                <a:cs typeface="宋体" panose="02010600030101010101" pitchFamily="2" charset="-122"/>
              </a:rPr>
              <a:t>3NF</a:t>
            </a:r>
            <a:r>
              <a:rPr lang="zh-CN" altLang="en-US" sz="2600" b="1">
                <a:solidFill>
                  <a:srgbClr val="0000CC"/>
                </a:solidFill>
                <a:latin typeface="+mn-ea"/>
                <a:ea typeface="+mn-ea"/>
                <a:cs typeface="宋体" panose="02010600030101010101" pitchFamily="2" charset="-122"/>
              </a:rPr>
              <a:t>的定义（</a:t>
            </a:r>
            <a:r>
              <a:rPr lang="en-US" altLang="zh-CN" sz="2600" b="1">
                <a:solidFill>
                  <a:srgbClr val="0000CC"/>
                </a:solidFill>
                <a:latin typeface="+mn-ea"/>
                <a:ea typeface="+mn-ea"/>
                <a:cs typeface="宋体" panose="02010600030101010101" pitchFamily="2" charset="-122"/>
              </a:rPr>
              <a:t>AB</a:t>
            </a:r>
            <a:r>
              <a:rPr lang="zh-CN" altLang="en-US" sz="2600" b="1">
                <a:solidFill>
                  <a:srgbClr val="0000CC"/>
                </a:solidFill>
                <a:latin typeface="+mn-ea"/>
                <a:ea typeface="+mn-ea"/>
                <a:cs typeface="宋体" panose="02010600030101010101" pitchFamily="2" charset="-122"/>
              </a:rPr>
              <a:t>是关系</a:t>
            </a:r>
            <a:r>
              <a:rPr lang="en-US" altLang="zh-CN" sz="2600" b="1">
                <a:solidFill>
                  <a:srgbClr val="0000CC"/>
                </a:solidFill>
                <a:latin typeface="+mn-ea"/>
                <a:ea typeface="+mn-ea"/>
                <a:cs typeface="宋体" panose="02010600030101010101" pitchFamily="2" charset="-122"/>
              </a:rPr>
              <a:t>T</a:t>
            </a:r>
            <a:r>
              <a:rPr lang="zh-CN" altLang="en-US" sz="2600" b="1">
                <a:solidFill>
                  <a:srgbClr val="0000CC"/>
                </a:solidFill>
                <a:latin typeface="+mn-ea"/>
                <a:ea typeface="+mn-ea"/>
                <a:cs typeface="宋体" panose="02010600030101010101" pitchFamily="2" charset="-122"/>
              </a:rPr>
              <a:t>的</a:t>
            </a:r>
            <a:r>
              <a:rPr lang="en-US" altLang="zh-CN" sz="2600" b="1">
                <a:solidFill>
                  <a:srgbClr val="0000CC"/>
                </a:solidFill>
                <a:latin typeface="+mn-ea"/>
                <a:ea typeface="+mn-ea"/>
                <a:cs typeface="宋体" panose="02010600030101010101" pitchFamily="2" charset="-122"/>
              </a:rPr>
              <a:t>superkey</a:t>
            </a:r>
            <a:r>
              <a:rPr lang="zh-CN" altLang="en-US" sz="2600" b="1">
                <a:solidFill>
                  <a:srgbClr val="0000CC"/>
                </a:solidFill>
                <a:latin typeface="+mn-ea"/>
                <a:ea typeface="+mn-ea"/>
                <a:cs typeface="宋体" panose="02010600030101010101" pitchFamily="2" charset="-122"/>
              </a:rPr>
              <a:t>）</a:t>
            </a:r>
          </a:p>
          <a:p>
            <a:pPr marL="397510" indent="-397510" algn="l">
              <a:lnSpc>
                <a:spcPct val="100000"/>
              </a:lnSpc>
              <a:spcBef>
                <a:spcPts val="0"/>
              </a:spcBef>
              <a:spcAft>
                <a:spcPts val="0"/>
              </a:spcAft>
            </a:pPr>
            <a:r>
              <a:rPr lang="zh-CN" altLang="en-US" sz="2600" b="1">
                <a:solidFill>
                  <a:srgbClr val="0000CC"/>
                </a:solidFill>
                <a:latin typeface="+mn-ea"/>
                <a:ea typeface="+mn-ea"/>
                <a:cs typeface="宋体" panose="02010600030101010101" pitchFamily="2" charset="-122"/>
              </a:rPr>
              <a:t>∴ </a:t>
            </a:r>
            <a:r>
              <a:rPr lang="en-US" altLang="zh-CN" sz="2600" b="1">
                <a:solidFill>
                  <a:srgbClr val="0000CC"/>
                </a:solidFill>
                <a:latin typeface="+mn-ea"/>
                <a:ea typeface="+mn-ea"/>
                <a:cs typeface="宋体" panose="02010600030101010101" pitchFamily="2" charset="-122"/>
              </a:rPr>
              <a:t>Table T is 3NF</a:t>
            </a:r>
          </a:p>
        </p:txBody>
      </p:sp>
      <p:sp>
        <p:nvSpPr>
          <p:cNvPr id="12" name="文本框 11"/>
          <p:cNvSpPr txBox="1"/>
          <p:nvPr/>
        </p:nvSpPr>
        <p:spPr>
          <a:xfrm>
            <a:off x="598805" y="5424170"/>
            <a:ext cx="7921625" cy="946150"/>
          </a:xfrm>
          <a:prstGeom prst="rect">
            <a:avLst/>
          </a:prstGeom>
          <a:noFill/>
          <a:ln>
            <a:solidFill>
              <a:schemeClr val="accent1"/>
            </a:solidFill>
          </a:ln>
        </p:spPr>
        <p:txBody>
          <a:bodyPr wrap="square" bIns="107950" rtlCol="0">
            <a:spAutoFit/>
          </a:bodyPr>
          <a:lstStyle/>
          <a:p>
            <a:pPr marL="572770" indent="-572770" algn="l">
              <a:lnSpc>
                <a:spcPct val="100000"/>
              </a:lnSpc>
              <a:spcBef>
                <a:spcPts val="0"/>
              </a:spcBef>
              <a:spcAft>
                <a:spcPts val="0"/>
              </a:spcAft>
            </a:pPr>
            <a:r>
              <a:rPr lang="en-US" altLang="zh-CN" sz="2600" b="1">
                <a:solidFill>
                  <a:srgbClr val="0000CC"/>
                </a:solidFill>
                <a:latin typeface="+mn-ea"/>
                <a:ea typeface="+mn-ea"/>
              </a:rPr>
              <a:t>∵ D</a:t>
            </a:r>
            <a:r>
              <a:rPr lang="en-US" altLang="zh-CN" sz="2600" b="1">
                <a:solidFill>
                  <a:srgbClr val="0000CC"/>
                </a:solidFill>
                <a:latin typeface="+mn-ea"/>
                <a:ea typeface="+mn-ea"/>
                <a:cs typeface="宋体" panose="02010600030101010101" pitchFamily="2" charset="-122"/>
              </a:rPr>
              <a:t>→B </a:t>
            </a:r>
            <a:r>
              <a:rPr lang="zh-CN" altLang="en-US" sz="2600" b="1">
                <a:solidFill>
                  <a:srgbClr val="0000CC"/>
                </a:solidFill>
                <a:latin typeface="+mn-ea"/>
                <a:ea typeface="+mn-ea"/>
                <a:cs typeface="宋体" panose="02010600030101010101" pitchFamily="2" charset="-122"/>
              </a:rPr>
              <a:t>且 </a:t>
            </a:r>
            <a:r>
              <a:rPr lang="en-US" altLang="zh-CN" sz="2600" b="1">
                <a:solidFill>
                  <a:srgbClr val="0000CC"/>
                </a:solidFill>
                <a:latin typeface="+mn-ea"/>
                <a:ea typeface="+mn-ea"/>
                <a:cs typeface="宋体" panose="02010600030101010101" pitchFamily="2" charset="-122"/>
              </a:rPr>
              <a:t>D </a:t>
            </a:r>
            <a:r>
              <a:rPr lang="zh-CN" altLang="en-US" sz="2600" b="1">
                <a:solidFill>
                  <a:srgbClr val="0000CC"/>
                </a:solidFill>
                <a:latin typeface="+mn-ea"/>
                <a:ea typeface="+mn-ea"/>
                <a:cs typeface="宋体" panose="02010600030101010101" pitchFamily="2" charset="-122"/>
              </a:rPr>
              <a:t>不是关系</a:t>
            </a:r>
            <a:r>
              <a:rPr lang="en-US" altLang="zh-CN" sz="2600" b="1">
                <a:solidFill>
                  <a:srgbClr val="0000CC"/>
                </a:solidFill>
                <a:latin typeface="+mn-ea"/>
                <a:ea typeface="+mn-ea"/>
                <a:cs typeface="宋体" panose="02010600030101010101" pitchFamily="2" charset="-122"/>
              </a:rPr>
              <a:t>T</a:t>
            </a:r>
            <a:r>
              <a:rPr lang="zh-CN" altLang="en-US" sz="2600" b="1">
                <a:solidFill>
                  <a:srgbClr val="0000CC"/>
                </a:solidFill>
                <a:latin typeface="+mn-ea"/>
                <a:ea typeface="+mn-ea"/>
                <a:cs typeface="宋体" panose="02010600030101010101" pitchFamily="2" charset="-122"/>
              </a:rPr>
              <a:t>的</a:t>
            </a:r>
            <a:r>
              <a:rPr lang="en-US" altLang="zh-CN" sz="2600" b="1">
                <a:solidFill>
                  <a:srgbClr val="0000CC"/>
                </a:solidFill>
                <a:latin typeface="+mn-ea"/>
                <a:ea typeface="+mn-ea"/>
                <a:cs typeface="宋体" panose="02010600030101010101" pitchFamily="2" charset="-122"/>
              </a:rPr>
              <a:t>superkey</a:t>
            </a:r>
          </a:p>
          <a:p>
            <a:pPr marL="397510" indent="-397510" algn="l">
              <a:lnSpc>
                <a:spcPct val="100000"/>
              </a:lnSpc>
              <a:spcBef>
                <a:spcPts val="0"/>
              </a:spcBef>
              <a:spcAft>
                <a:spcPts val="0"/>
              </a:spcAft>
            </a:pPr>
            <a:r>
              <a:rPr lang="zh-CN" altLang="en-US" sz="2600" b="1">
                <a:solidFill>
                  <a:srgbClr val="0000CC"/>
                </a:solidFill>
                <a:latin typeface="+mn-ea"/>
                <a:ea typeface="+mn-ea"/>
                <a:cs typeface="宋体" panose="02010600030101010101" pitchFamily="2" charset="-122"/>
              </a:rPr>
              <a:t>∴ </a:t>
            </a:r>
            <a:r>
              <a:rPr lang="en-US" altLang="zh-CN" sz="2600" b="1">
                <a:solidFill>
                  <a:srgbClr val="0000CC"/>
                </a:solidFill>
                <a:latin typeface="+mn-ea"/>
                <a:ea typeface="+mn-ea"/>
                <a:cs typeface="宋体" panose="02010600030101010101" pitchFamily="2" charset="-122"/>
              </a:rPr>
              <a:t>Table T isn't BCNF.</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1493">
                                            <p:txEl>
                                              <p:pRg st="0" end="0"/>
                                            </p:txEl>
                                          </p:spTgt>
                                        </p:tgtEl>
                                        <p:attrNameLst>
                                          <p:attrName>style.visibility</p:attrName>
                                        </p:attrNameLst>
                                      </p:cBhvr>
                                      <p:to>
                                        <p:strVal val="visible"/>
                                      </p:to>
                                    </p:set>
                                    <p:animEffect transition="in" filter="blinds(horizontal)">
                                      <p:cBhvr>
                                        <p:cTn id="7" dur="500"/>
                                        <p:tgtEl>
                                          <p:spTgt spid="19149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1+#ppt_w/2"/>
                                          </p:val>
                                        </p:tav>
                                        <p:tav tm="100000">
                                          <p:val>
                                            <p:strVal val="#ppt_x"/>
                                          </p:val>
                                        </p:tav>
                                      </p:tavLst>
                                    </p:anim>
                                    <p:anim calcmode="lin" valueType="num">
                                      <p:cBhvr additive="base">
                                        <p:cTn id="2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500" fill="hold"/>
                                        <p:tgtEl>
                                          <p:spTgt spid="10"/>
                                        </p:tgtEl>
                                        <p:attrNameLst>
                                          <p:attrName>ppt_x</p:attrName>
                                        </p:attrNameLst>
                                      </p:cBhvr>
                                      <p:tavLst>
                                        <p:tav tm="0">
                                          <p:val>
                                            <p:strVal val="1+#ppt_w/2"/>
                                          </p:val>
                                        </p:tav>
                                        <p:tav tm="100000">
                                          <p:val>
                                            <p:strVal val="#ppt_x"/>
                                          </p:val>
                                        </p:tav>
                                      </p:tavLst>
                                    </p:anim>
                                    <p:anim calcmode="lin" valueType="num">
                                      <p:cBhvr additive="base">
                                        <p:cTn id="34"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blinds(horizontal)">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blinds(horizontal)">
                                      <p:cBhvr>
                                        <p:cTn id="4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3" grpId="0" build="p"/>
      <p:bldP spid="5" grpId="0"/>
      <p:bldP spid="8" grpId="0" bldLvl="0" animBg="1"/>
      <p:bldP spid="9" grpId="0"/>
      <p:bldP spid="10" grpId="0"/>
      <p:bldP spid="11" grpId="0" bldLvl="0" animBg="1"/>
      <p:bldP spid="12" grpId="0" bldLvl="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92514"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92515"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123</a:t>
            </a:fld>
            <a:endParaRPr lang="zh-CN" altLang="en-US" sz="1200" b="1" i="1" dirty="0">
              <a:latin typeface="Times New Roman" panose="02020603050405020304" pitchFamily="2" charset="0"/>
              <a:ea typeface="宋体" panose="02010600030101010101" pitchFamily="2" charset="-122"/>
            </a:endParaRPr>
          </a:p>
        </p:txBody>
      </p:sp>
      <p:sp>
        <p:nvSpPr>
          <p:cNvPr id="192516"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6.8  </a:t>
            </a:r>
            <a:r>
              <a:rPr lang="en-US" altLang="x-none" dirty="0">
                <a:ea typeface="宋体" panose="02010600030101010101" pitchFamily="2" charset="-122"/>
              </a:rPr>
              <a:t>Normal Forms</a:t>
            </a:r>
          </a:p>
        </p:txBody>
      </p:sp>
      <p:sp>
        <p:nvSpPr>
          <p:cNvPr id="192517" name="Rectangle 3"/>
          <p:cNvSpPr>
            <a:spLocks noGrp="1"/>
          </p:cNvSpPr>
          <p:nvPr>
            <p:ph type="body"/>
          </p:nvPr>
        </p:nvSpPr>
        <p:spPr>
          <a:xfrm>
            <a:off x="314325" y="695325"/>
            <a:ext cx="8650288" cy="681990"/>
          </a:xfrm>
        </p:spPr>
        <p:txBody>
          <a:bodyPr wrap="square" anchor="t">
            <a:spAutoFit/>
          </a:bodyPr>
          <a:lstStyle/>
          <a:p>
            <a:pPr lvl="0" eaLnBrk="1" hangingPunct="1">
              <a:lnSpc>
                <a:spcPct val="120000"/>
              </a:lnSpc>
            </a:pPr>
            <a:r>
              <a:rPr lang="en-US" altLang="x-none" sz="3200" dirty="0">
                <a:ea typeface="宋体" panose="02010600030101010101" pitchFamily="2" charset="-122"/>
              </a:rPr>
              <a:t>Def. 6.8.7. Second Normal Form (2NF)</a:t>
            </a:r>
            <a:endParaRPr lang="en-US" altLang="x-none" sz="3200" dirty="0">
              <a:solidFill>
                <a:srgbClr val="0000CC"/>
              </a:solidFill>
              <a:ea typeface="宋体" panose="02010600030101010101" pitchFamily="2" charset="-122"/>
            </a:endParaRPr>
          </a:p>
        </p:txBody>
      </p:sp>
      <p:sp>
        <p:nvSpPr>
          <p:cNvPr id="2" name="Rectangle 3"/>
          <p:cNvSpPr>
            <a:spLocks noGrp="1"/>
          </p:cNvSpPr>
          <p:nvPr/>
        </p:nvSpPr>
        <p:spPr>
          <a:xfrm>
            <a:off x="314325" y="1367155"/>
            <a:ext cx="8650288" cy="3830955"/>
          </a:xfrm>
          <a:prstGeom prst="rect">
            <a:avLst/>
          </a:prstGeom>
          <a:noFill/>
          <a:ln w="9525">
            <a:solidFill>
              <a:schemeClr val="accent1"/>
            </a:solidFill>
          </a:ln>
        </p:spPr>
        <p:txBody>
          <a:bodyPr wrap="square" anchor="t">
            <a:spAutoFit/>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800" b="1" u="none" kern="1200" baseline="0">
                <a:solidFill>
                  <a:srgbClr val="FF0000"/>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Ø"/>
              <a:defRPr sz="2800" b="1" u="none" kern="1200" baseline="0">
                <a:solidFill>
                  <a:schemeClr val="accent2"/>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accent2"/>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9pPr>
          </a:lstStyle>
          <a:p>
            <a:pPr marL="457200" lvl="1" indent="0" eaLnBrk="1" hangingPunct="1">
              <a:lnSpc>
                <a:spcPct val="120000"/>
              </a:lnSpc>
              <a:buNone/>
            </a:pPr>
            <a:r>
              <a:rPr lang="en-US" altLang="x-none" sz="3200" dirty="0">
                <a:ea typeface="宋体" panose="02010600030101010101" pitchFamily="2" charset="-122"/>
              </a:rPr>
              <a:t>A table T with FD set F is in 2NF </a:t>
            </a:r>
          </a:p>
          <a:p>
            <a:pPr marL="457200" lvl="1" indent="0" eaLnBrk="1" hangingPunct="1">
              <a:lnSpc>
                <a:spcPct val="120000"/>
              </a:lnSpc>
              <a:buNone/>
            </a:pPr>
            <a:r>
              <a:rPr lang="en-US" altLang="x-none" sz="3200" dirty="0">
                <a:solidFill>
                  <a:srgbClr val="FF0000"/>
                </a:solidFill>
                <a:ea typeface="宋体" panose="02010600030101010101" pitchFamily="2" charset="-122"/>
              </a:rPr>
              <a:t>iff</a:t>
            </a:r>
          </a:p>
          <a:p>
            <a:pPr marL="914400" lvl="2" indent="0" eaLnBrk="1" hangingPunct="1">
              <a:lnSpc>
                <a:spcPct val="120000"/>
              </a:lnSpc>
              <a:buNone/>
            </a:pPr>
            <a:r>
              <a:rPr lang="en-US" altLang="x-none" sz="3200" dirty="0">
                <a:ea typeface="宋体" panose="02010600030101010101" pitchFamily="2" charset="-122"/>
              </a:rPr>
              <a:t>for any X </a:t>
            </a:r>
            <a:r>
              <a:rPr lang="en-US" altLang="x-none" sz="3200" dirty="0">
                <a:solidFill>
                  <a:schemeClr val="accent2"/>
                </a:solidFill>
                <a:ea typeface="宋体" panose="02010600030101010101" pitchFamily="2" charset="-122"/>
                <a:sym typeface="Symbol" panose="05050102010706020507" pitchFamily="2" charset="2"/>
              </a:rPr>
              <a:t></a:t>
            </a:r>
            <a:r>
              <a:rPr lang="en-US" altLang="x-none" sz="3200" dirty="0">
                <a:ea typeface="宋体" panose="02010600030101010101" pitchFamily="2" charset="-122"/>
              </a:rPr>
              <a:t> A implied by F that lies in T, where </a:t>
            </a:r>
            <a:r>
              <a:rPr lang="en-US" altLang="x-none" sz="3200" u="sng" dirty="0">
                <a:solidFill>
                  <a:srgbClr val="FF0000"/>
                </a:solidFill>
                <a:ea typeface="宋体" panose="02010600030101010101" pitchFamily="2" charset="-122"/>
              </a:rPr>
              <a:t>A is a single non-prime attribute not in X</a:t>
            </a:r>
            <a:r>
              <a:rPr lang="en-US" altLang="x-none" sz="3200" dirty="0">
                <a:ea typeface="宋体" panose="02010600030101010101" pitchFamily="2" charset="-122"/>
              </a:rPr>
              <a:t>, then </a:t>
            </a:r>
            <a:r>
              <a:rPr lang="en-US" altLang="x-none" sz="3200" u="sng" dirty="0">
                <a:solidFill>
                  <a:srgbClr val="FF0000"/>
                </a:solidFill>
                <a:ea typeface="宋体" panose="02010600030101010101" pitchFamily="2" charset="-122"/>
              </a:rPr>
              <a:t>X is not properly contained in any key of T</a:t>
            </a:r>
            <a:r>
              <a:rPr lang="en-US" altLang="x-none" sz="3200" dirty="0">
                <a:ea typeface="宋体" panose="02010600030101010101" pitchFamily="2" charset="-122"/>
              </a:rPr>
              <a:t>.</a:t>
            </a:r>
            <a:endParaRPr lang="en-US" altLang="x-none" sz="3200" dirty="0">
              <a:solidFill>
                <a:srgbClr val="0000CC"/>
              </a:solidFill>
              <a:ea typeface="宋体" panose="02010600030101010101" pitchFamily="2" charset="-122"/>
            </a:endParaRPr>
          </a:p>
        </p:txBody>
      </p:sp>
      <p:sp>
        <p:nvSpPr>
          <p:cNvPr id="3" name="Rectangle 3"/>
          <p:cNvSpPr>
            <a:spLocks noGrp="1"/>
          </p:cNvSpPr>
          <p:nvPr/>
        </p:nvSpPr>
        <p:spPr>
          <a:xfrm>
            <a:off x="314325" y="5457190"/>
            <a:ext cx="8650288" cy="681990"/>
          </a:xfrm>
          <a:prstGeom prst="rect">
            <a:avLst/>
          </a:prstGeom>
          <a:noFill/>
          <a:ln w="9525">
            <a:noFill/>
          </a:ln>
        </p:spPr>
        <p:txBody>
          <a:bodyPr wrap="square" anchor="t">
            <a:spAutoFit/>
          </a:bodyPr>
          <a:lstStyle>
            <a:lvl1pPr marL="342900" lvl="0" indent="-3429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q"/>
              <a:defRPr sz="2800" b="1" u="none" kern="1200" baseline="0">
                <a:solidFill>
                  <a:srgbClr val="FF0000"/>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Ø"/>
              <a:defRPr sz="2800" b="1" u="none" kern="1200" baseline="0">
                <a:solidFill>
                  <a:schemeClr val="accent2"/>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accent2"/>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Clr>
                <a:srgbClr val="996633"/>
              </a:buClr>
              <a:buFont typeface="Wingdings" panose="05000000000000000000" pitchFamily="2" charset="2"/>
              <a:buChar char="»"/>
              <a:defRPr sz="2800" b="1" u="none" kern="1200" baseline="0">
                <a:solidFill>
                  <a:schemeClr val="tx1"/>
                </a:solidFill>
                <a:latin typeface="+mn-lt"/>
                <a:ea typeface="+mn-ea"/>
                <a:cs typeface="+mn-cs"/>
              </a:defRPr>
            </a:lvl9pPr>
          </a:lstStyle>
          <a:p>
            <a:pPr lvl="0" eaLnBrk="1" hangingPunct="1">
              <a:lnSpc>
                <a:spcPct val="120000"/>
              </a:lnSpc>
            </a:pPr>
            <a:r>
              <a:rPr lang="en-US" altLang="x-none" sz="3200" dirty="0">
                <a:ea typeface="宋体" panose="02010600030101010101" pitchFamily="2" charset="-122"/>
              </a:rPr>
              <a:t>Ex 6.8.9: </a:t>
            </a:r>
            <a:r>
              <a:rPr lang="en-US" altLang="x-none" sz="3200" dirty="0">
                <a:solidFill>
                  <a:srgbClr val="0000CC"/>
                </a:solidFill>
                <a:ea typeface="宋体" panose="02010600030101010101" pitchFamily="2" charset="-122"/>
              </a:rPr>
              <a:t>Figure 6.25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93538"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93539"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124</a:t>
            </a:fld>
            <a:endParaRPr lang="zh-CN" altLang="en-US" sz="1200" b="1" i="1" dirty="0">
              <a:latin typeface="Times New Roman" panose="02020603050405020304" pitchFamily="2" charset="0"/>
              <a:ea typeface="宋体" panose="02010600030101010101" pitchFamily="2" charset="-122"/>
            </a:endParaRPr>
          </a:p>
        </p:txBody>
      </p:sp>
      <p:sp>
        <p:nvSpPr>
          <p:cNvPr id="193540" name="Rectangle 3"/>
          <p:cNvSpPr>
            <a:spLocks noGrp="1"/>
          </p:cNvSpPr>
          <p:nvPr>
            <p:ph type="body"/>
          </p:nvPr>
        </p:nvSpPr>
        <p:spPr>
          <a:xfrm>
            <a:off x="34925" y="0"/>
            <a:ext cx="9074150" cy="6293485"/>
          </a:xfrm>
          <a:solidFill>
            <a:schemeClr val="bg1"/>
          </a:solidFill>
          <a:ln>
            <a:solidFill>
              <a:srgbClr val="FF0000"/>
            </a:solidFill>
            <a:miter/>
          </a:ln>
        </p:spPr>
        <p:txBody>
          <a:bodyPr wrap="square" lIns="90170" tIns="46990" rIns="90170" bIns="46990" anchor="t">
            <a:spAutoFit/>
          </a:bodyPr>
          <a:lstStyle/>
          <a:p>
            <a:pPr lvl="0" eaLnBrk="1" hangingPunct="1"/>
            <a:r>
              <a:rPr lang="en-US" altLang="x-none" sz="3200" dirty="0">
                <a:solidFill>
                  <a:schemeClr val="tx2"/>
                </a:solidFill>
                <a:ea typeface="宋体" panose="02010600030101010101" pitchFamily="2" charset="-122"/>
              </a:rPr>
              <a:t>3NF</a:t>
            </a:r>
            <a:r>
              <a:rPr lang="zh-CN" altLang="en-US" sz="3200" dirty="0">
                <a:solidFill>
                  <a:schemeClr val="tx2"/>
                </a:solidFill>
                <a:ea typeface="宋体" panose="02010600030101010101" pitchFamily="2" charset="-122"/>
              </a:rPr>
              <a:t>和</a:t>
            </a:r>
            <a:r>
              <a:rPr lang="en-US" altLang="x-none" sz="3200" dirty="0">
                <a:solidFill>
                  <a:schemeClr val="tx2"/>
                </a:solidFill>
                <a:ea typeface="宋体" panose="02010600030101010101" pitchFamily="2" charset="-122"/>
              </a:rPr>
              <a:t>2NF</a:t>
            </a:r>
            <a:r>
              <a:rPr lang="zh-CN" altLang="en-US" sz="3200" dirty="0">
                <a:solidFill>
                  <a:schemeClr val="tx2"/>
                </a:solidFill>
                <a:ea typeface="宋体" panose="02010600030101010101" pitchFamily="2" charset="-122"/>
              </a:rPr>
              <a:t>定义的对比</a:t>
            </a:r>
          </a:p>
          <a:p>
            <a:pPr lvl="0" eaLnBrk="1" hangingPunct="1">
              <a:lnSpc>
                <a:spcPct val="120000"/>
              </a:lnSpc>
            </a:pPr>
            <a:r>
              <a:rPr lang="en-US" altLang="x-none" sz="3200" u="sng" dirty="0">
                <a:ea typeface="宋体" panose="02010600030101010101" pitchFamily="2" charset="-122"/>
              </a:rPr>
              <a:t>3NF</a:t>
            </a:r>
          </a:p>
          <a:p>
            <a:pPr lvl="1" indent="-285750" eaLnBrk="1" hangingPunct="1">
              <a:lnSpc>
                <a:spcPct val="120000"/>
              </a:lnSpc>
            </a:pPr>
            <a:r>
              <a:rPr lang="en-US" altLang="x-none" sz="3200" dirty="0">
                <a:ea typeface="宋体" panose="02010600030101010101" pitchFamily="2" charset="-122"/>
              </a:rPr>
              <a:t>for any X</a:t>
            </a:r>
            <a:r>
              <a:rPr lang="en-US" altLang="x-none" sz="3200" dirty="0">
                <a:ea typeface="宋体" panose="02010600030101010101" pitchFamily="2" charset="-122"/>
                <a:sym typeface="Symbol" panose="05050102010706020507" pitchFamily="2" charset="2"/>
              </a:rPr>
              <a:t></a:t>
            </a:r>
            <a:r>
              <a:rPr lang="en-US" altLang="x-none" sz="3200" dirty="0">
                <a:ea typeface="宋体" panose="02010600030101010101" pitchFamily="2" charset="-122"/>
              </a:rPr>
              <a:t>A implied by F that lies in T, if A is a single non-prime attribute not in X, then </a:t>
            </a:r>
            <a:r>
              <a:rPr lang="en-US" altLang="x-none" sz="3200" u="sng" dirty="0">
                <a:solidFill>
                  <a:srgbClr val="FF0000"/>
                </a:solidFill>
                <a:ea typeface="宋体" panose="02010600030101010101" pitchFamily="2" charset="-122"/>
              </a:rPr>
              <a:t>X must be a superkey for T</a:t>
            </a:r>
            <a:r>
              <a:rPr lang="en-US" altLang="x-none" sz="3200" dirty="0">
                <a:ea typeface="宋体" panose="02010600030101010101" pitchFamily="2" charset="-122"/>
              </a:rPr>
              <a:t>.</a:t>
            </a:r>
          </a:p>
          <a:p>
            <a:pPr lvl="0" eaLnBrk="1" hangingPunct="1">
              <a:lnSpc>
                <a:spcPct val="120000"/>
              </a:lnSpc>
            </a:pPr>
            <a:r>
              <a:rPr lang="en-US" altLang="x-none" sz="3200" u="sng" dirty="0">
                <a:ea typeface="宋体" panose="02010600030101010101" pitchFamily="2" charset="-122"/>
              </a:rPr>
              <a:t>2NF</a:t>
            </a:r>
          </a:p>
          <a:p>
            <a:pPr lvl="1" indent="-285750" eaLnBrk="1" hangingPunct="1">
              <a:lnSpc>
                <a:spcPct val="120000"/>
              </a:lnSpc>
            </a:pPr>
            <a:r>
              <a:rPr lang="en-US" altLang="x-none" sz="3200" dirty="0">
                <a:ea typeface="宋体" panose="02010600030101010101" pitchFamily="2" charset="-122"/>
              </a:rPr>
              <a:t>for any X </a:t>
            </a:r>
            <a:r>
              <a:rPr lang="en-US" altLang="x-none" sz="3200" dirty="0">
                <a:ea typeface="宋体" panose="02010600030101010101" pitchFamily="2" charset="-122"/>
                <a:sym typeface="Symbol" panose="05050102010706020507" pitchFamily="2" charset="2"/>
              </a:rPr>
              <a:t></a:t>
            </a:r>
            <a:r>
              <a:rPr lang="en-US" altLang="x-none" sz="3200" dirty="0">
                <a:ea typeface="宋体" panose="02010600030101010101" pitchFamily="2" charset="-122"/>
              </a:rPr>
              <a:t> A implied by F that lies in T, if A is a single non-prime attribute not in X, then </a:t>
            </a:r>
            <a:r>
              <a:rPr lang="en-US" altLang="x-none" sz="3200" u="sng" dirty="0">
                <a:solidFill>
                  <a:srgbClr val="FF0000"/>
                </a:solidFill>
                <a:ea typeface="宋体" panose="02010600030101010101" pitchFamily="2" charset="-122"/>
              </a:rPr>
              <a:t>X is not properly contained in any key of T</a:t>
            </a:r>
            <a:r>
              <a:rPr lang="en-US" altLang="x-none" sz="3200" dirty="0">
                <a:ea typeface="宋体" panose="02010600030101010101" pitchFamily="2" charset="-122"/>
              </a:rPr>
              <a:t>.</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94562"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94563"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125</a:t>
            </a:fld>
            <a:endParaRPr lang="zh-CN" altLang="en-US" sz="1200" b="1" i="1" dirty="0">
              <a:latin typeface="Times New Roman" panose="02020603050405020304" pitchFamily="2" charset="0"/>
              <a:ea typeface="宋体" panose="02010600030101010101" pitchFamily="2" charset="-122"/>
            </a:endParaRPr>
          </a:p>
        </p:txBody>
      </p:sp>
      <p:sp>
        <p:nvSpPr>
          <p:cNvPr id="194564"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6.8  </a:t>
            </a:r>
            <a:r>
              <a:rPr lang="en-US" altLang="x-none" dirty="0">
                <a:ea typeface="宋体" panose="02010600030101010101" pitchFamily="2" charset="-122"/>
              </a:rPr>
              <a:t>Normal Forms</a:t>
            </a:r>
            <a:endParaRPr lang="zh-CN" altLang="en-US" dirty="0">
              <a:ea typeface="宋体" panose="02010600030101010101" pitchFamily="2" charset="-122"/>
            </a:endParaRPr>
          </a:p>
        </p:txBody>
      </p:sp>
      <p:sp>
        <p:nvSpPr>
          <p:cNvPr id="194565" name="Text Box 5"/>
          <p:cNvSpPr txBox="1"/>
          <p:nvPr/>
        </p:nvSpPr>
        <p:spPr>
          <a:xfrm>
            <a:off x="304800" y="6019800"/>
            <a:ext cx="8534400" cy="457200"/>
          </a:xfrm>
          <a:prstGeom prst="rect">
            <a:avLst/>
          </a:prstGeom>
          <a:noFill/>
          <a:ln w="9525">
            <a:noFill/>
          </a:ln>
        </p:spPr>
        <p:txBody>
          <a:bodyPr anchor="t">
            <a:spAutoFit/>
          </a:bodyPr>
          <a:lstStyle/>
          <a:p>
            <a:pPr lvl="0" algn="ctr">
              <a:spcBef>
                <a:spcPct val="50000"/>
              </a:spcBef>
            </a:pPr>
            <a:r>
              <a:rPr lang="en-US" altLang="x-none" b="1" dirty="0">
                <a:latin typeface="Arial" panose="020B0604020202020204" pitchFamily="34" charset="0"/>
                <a:ea typeface="宋体" panose="02010600030101010101" pitchFamily="2" charset="-122"/>
              </a:rPr>
              <a:t>Figure 6.25</a:t>
            </a:r>
          </a:p>
        </p:txBody>
      </p:sp>
      <p:sp>
        <p:nvSpPr>
          <p:cNvPr id="194566" name="Rectangle 4"/>
          <p:cNvSpPr/>
          <p:nvPr/>
        </p:nvSpPr>
        <p:spPr>
          <a:xfrm>
            <a:off x="0" y="687388"/>
            <a:ext cx="9128125" cy="5189537"/>
          </a:xfrm>
          <a:prstGeom prst="rect">
            <a:avLst/>
          </a:prstGeom>
          <a:solidFill>
            <a:schemeClr val="bg1"/>
          </a:solidFill>
          <a:ln w="25400" cap="flat" cmpd="sng">
            <a:solidFill>
              <a:schemeClr val="tx1"/>
            </a:solidFill>
            <a:prstDash val="solid"/>
            <a:miter/>
            <a:headEnd type="none" w="med" len="med"/>
            <a:tailEnd type="none" w="med" len="med"/>
          </a:ln>
        </p:spPr>
        <p:txBody>
          <a:bodyPr wrap="square" lIns="90170" tIns="46990" rIns="90170" bIns="46990" anchor="t"/>
          <a:lstStyle/>
          <a:p>
            <a:pPr marL="342900" lvl="0" indent="-342900">
              <a:lnSpc>
                <a:spcPct val="110000"/>
              </a:lnSpc>
              <a:spcBef>
                <a:spcPct val="20000"/>
              </a:spcBef>
              <a:buClr>
                <a:srgbClr val="996633"/>
              </a:buClr>
              <a:buFont typeface="Wingdings" panose="05000000000000000000" pitchFamily="2" charset="2"/>
              <a:buChar char="Ø"/>
            </a:pPr>
            <a:r>
              <a:rPr lang="en-US" altLang="x-none" sz="2800" b="1" dirty="0">
                <a:solidFill>
                  <a:srgbClr val="FF0000"/>
                </a:solidFill>
                <a:latin typeface="Arial" panose="020B0604020202020204" pitchFamily="34" charset="0"/>
                <a:ea typeface="宋体" panose="02010600030101010101" pitchFamily="2" charset="-122"/>
              </a:rPr>
              <a:t>emps</a:t>
            </a:r>
            <a:r>
              <a:rPr lang="en-US" altLang="x-none" sz="2800" b="1" dirty="0">
                <a:solidFill>
                  <a:schemeClr val="accent2"/>
                </a:solidFill>
                <a:latin typeface="Arial" panose="020B0604020202020204" pitchFamily="34" charset="0"/>
                <a:ea typeface="宋体" panose="02010600030101010101" pitchFamily="2" charset="-122"/>
              </a:rPr>
              <a:t>(emp_id,emp_name,emp_phone,dept_name, </a:t>
            </a:r>
          </a:p>
          <a:p>
            <a:pPr marL="1600200" lvl="3" indent="-228600">
              <a:lnSpc>
                <a:spcPct val="110000"/>
              </a:lnSpc>
              <a:spcBef>
                <a:spcPct val="20000"/>
              </a:spcBef>
              <a:buClr>
                <a:srgbClr val="996633"/>
              </a:buClr>
              <a:buFont typeface="Wingdings" panose="05000000000000000000" pitchFamily="2" charset="2"/>
              <a:buNone/>
            </a:pPr>
            <a:r>
              <a:rPr lang="en-US" altLang="x-none" sz="2800" b="1" dirty="0">
                <a:solidFill>
                  <a:schemeClr val="accent2"/>
                </a:solidFill>
                <a:latin typeface="Arial" panose="020B0604020202020204" pitchFamily="34" charset="0"/>
                <a:ea typeface="宋体" panose="02010600030101010101" pitchFamily="2" charset="-122"/>
              </a:rPr>
              <a:t>dept_phone, dept_mgrname)</a:t>
            </a:r>
          </a:p>
          <a:p>
            <a:pPr marL="742950" lvl="1" indent="-285750">
              <a:lnSpc>
                <a:spcPct val="110000"/>
              </a:lnSpc>
              <a:spcBef>
                <a:spcPct val="20000"/>
              </a:spcBef>
              <a:buClr>
                <a:srgbClr val="996633"/>
              </a:buClr>
              <a:buFont typeface="Wingdings" panose="05000000000000000000" pitchFamily="2" charset="2"/>
              <a:buNone/>
            </a:pPr>
            <a:r>
              <a:rPr lang="en-US" altLang="x-none" sz="2800" b="1" dirty="0">
                <a:latin typeface="Arial" panose="020B0604020202020204" pitchFamily="34" charset="0"/>
                <a:ea typeface="宋体" panose="02010600030101010101" pitchFamily="2" charset="-122"/>
              </a:rPr>
              <a:t>emp_id </a:t>
            </a:r>
            <a:r>
              <a:rPr lang="en-US" altLang="x-none" sz="2800" b="1" dirty="0">
                <a:solidFill>
                  <a:srgbClr val="FF0000"/>
                </a:solidFill>
                <a:latin typeface="Arial" panose="020B0604020202020204" pitchFamily="34" charset="0"/>
                <a:ea typeface="宋体" panose="02010600030101010101" pitchFamily="2" charset="-122"/>
                <a:sym typeface="Symbol" panose="05050102010706020507" pitchFamily="2" charset="2"/>
              </a:rPr>
              <a:t> </a:t>
            </a:r>
            <a:r>
              <a:rPr lang="en-US" altLang="x-none" sz="2800" b="1" dirty="0">
                <a:latin typeface="Arial" panose="020B0604020202020204" pitchFamily="34" charset="0"/>
                <a:ea typeface="宋体" panose="02010600030101010101" pitchFamily="2" charset="-122"/>
                <a:sym typeface="Symbol" panose="05050102010706020507" pitchFamily="2" charset="2"/>
              </a:rPr>
              <a:t>{emp_name, emp_phone, dept_name}</a:t>
            </a:r>
          </a:p>
          <a:p>
            <a:pPr marL="742950" lvl="1" indent="-285750">
              <a:lnSpc>
                <a:spcPct val="110000"/>
              </a:lnSpc>
              <a:spcBef>
                <a:spcPct val="20000"/>
              </a:spcBef>
              <a:buClr>
                <a:srgbClr val="996633"/>
              </a:buClr>
              <a:buFont typeface="Wingdings" panose="05000000000000000000" pitchFamily="2" charset="2"/>
              <a:buNone/>
            </a:pPr>
            <a:r>
              <a:rPr lang="en-US" altLang="x-none" sz="2800" b="1" dirty="0">
                <a:latin typeface="Arial" panose="020B0604020202020204" pitchFamily="34" charset="0"/>
                <a:ea typeface="宋体" panose="02010600030101010101" pitchFamily="2" charset="-122"/>
                <a:sym typeface="Symbol" panose="05050102010706020507" pitchFamily="2" charset="2"/>
              </a:rPr>
              <a:t>dept_name </a:t>
            </a:r>
            <a:r>
              <a:rPr lang="en-US" altLang="x-none" sz="2800" b="1" dirty="0">
                <a:solidFill>
                  <a:srgbClr val="FF0000"/>
                </a:solidFill>
                <a:latin typeface="Arial" panose="020B0604020202020204" pitchFamily="34" charset="0"/>
                <a:ea typeface="宋体" panose="02010600030101010101" pitchFamily="2" charset="-122"/>
                <a:sym typeface="Symbol" panose="05050102010706020507" pitchFamily="2" charset="2"/>
              </a:rPr>
              <a:t> </a:t>
            </a:r>
            <a:r>
              <a:rPr lang="en-US" altLang="x-none" sz="2800" b="1" dirty="0">
                <a:latin typeface="Arial" panose="020B0604020202020204" pitchFamily="34" charset="0"/>
                <a:ea typeface="宋体" panose="02010600030101010101" pitchFamily="2" charset="-122"/>
                <a:sym typeface="Symbol" panose="05050102010706020507" pitchFamily="2" charset="2"/>
              </a:rPr>
              <a:t>{dept_phone, dept_mgrname}</a:t>
            </a:r>
          </a:p>
          <a:p>
            <a:pPr marL="742950" lvl="1" indent="-285750">
              <a:lnSpc>
                <a:spcPct val="110000"/>
              </a:lnSpc>
              <a:spcBef>
                <a:spcPct val="20000"/>
              </a:spcBef>
              <a:buClr>
                <a:srgbClr val="996633"/>
              </a:buClr>
              <a:buFont typeface="Wingdings" panose="05000000000000000000" pitchFamily="2" charset="2"/>
              <a:buNone/>
            </a:pPr>
            <a:endParaRPr lang="en-US" altLang="x-none" sz="1400" b="1" dirty="0">
              <a:latin typeface="Arial" panose="020B0604020202020204" pitchFamily="34" charset="0"/>
              <a:ea typeface="宋体" panose="02010600030101010101" pitchFamily="2" charset="-122"/>
            </a:endParaRPr>
          </a:p>
          <a:p>
            <a:pPr marL="342900" lvl="0" indent="-342900">
              <a:lnSpc>
                <a:spcPct val="110000"/>
              </a:lnSpc>
              <a:spcBef>
                <a:spcPct val="20000"/>
              </a:spcBef>
              <a:buClr>
                <a:srgbClr val="996633"/>
              </a:buClr>
              <a:buFont typeface="Wingdings" panose="05000000000000000000" pitchFamily="2" charset="2"/>
              <a:buChar char="Ø"/>
            </a:pPr>
            <a:r>
              <a:rPr lang="en-US" altLang="x-none" sz="2800" b="1" dirty="0">
                <a:solidFill>
                  <a:srgbClr val="FF0000"/>
                </a:solidFill>
                <a:latin typeface="Arial" panose="020B0604020202020204" pitchFamily="34" charset="0"/>
                <a:ea typeface="宋体" panose="02010600030101010101" pitchFamily="2" charset="-122"/>
              </a:rPr>
              <a:t>emp_skills</a:t>
            </a:r>
            <a:r>
              <a:rPr lang="en-US" altLang="x-none" sz="2800" b="1" dirty="0">
                <a:solidFill>
                  <a:schemeClr val="accent2"/>
                </a:solidFill>
                <a:latin typeface="Arial" panose="020B0604020202020204" pitchFamily="34" charset="0"/>
                <a:ea typeface="宋体" panose="02010600030101010101" pitchFamily="2" charset="-122"/>
              </a:rPr>
              <a:t>(emp_id, skill_id, skill_date, skill_lvl)</a:t>
            </a:r>
          </a:p>
          <a:p>
            <a:pPr marL="742950" lvl="1" indent="-285750">
              <a:lnSpc>
                <a:spcPct val="110000"/>
              </a:lnSpc>
              <a:spcBef>
                <a:spcPct val="20000"/>
              </a:spcBef>
              <a:buClr>
                <a:srgbClr val="996633"/>
              </a:buClr>
              <a:buFont typeface="Wingdings" panose="05000000000000000000" pitchFamily="2" charset="2"/>
              <a:buNone/>
            </a:pPr>
            <a:r>
              <a:rPr lang="en-US" altLang="x-none" sz="2800" b="1" dirty="0">
                <a:latin typeface="Arial" panose="020B0604020202020204" pitchFamily="34" charset="0"/>
                <a:ea typeface="宋体" panose="02010600030101010101" pitchFamily="2" charset="-122"/>
                <a:sym typeface="Symbol" panose="05050102010706020507" pitchFamily="2" charset="2"/>
              </a:rPr>
              <a:t>{emp_id, skill_id} </a:t>
            </a:r>
            <a:r>
              <a:rPr lang="en-US" altLang="x-none" sz="2800" b="1" dirty="0">
                <a:solidFill>
                  <a:srgbClr val="FF0000"/>
                </a:solidFill>
                <a:latin typeface="Arial" panose="020B0604020202020204" pitchFamily="34" charset="0"/>
                <a:ea typeface="宋体" panose="02010600030101010101" pitchFamily="2" charset="-122"/>
                <a:sym typeface="Symbol" panose="05050102010706020507" pitchFamily="2" charset="2"/>
              </a:rPr>
              <a:t> </a:t>
            </a:r>
            <a:r>
              <a:rPr lang="en-US" altLang="x-none" sz="2800" b="1" dirty="0">
                <a:latin typeface="Arial" panose="020B0604020202020204" pitchFamily="34" charset="0"/>
                <a:ea typeface="宋体" panose="02010600030101010101" pitchFamily="2" charset="-122"/>
                <a:sym typeface="Symbol" panose="05050102010706020507" pitchFamily="2" charset="2"/>
              </a:rPr>
              <a:t>{skill_date, skill_lvl}</a:t>
            </a:r>
          </a:p>
          <a:p>
            <a:pPr marL="742950" lvl="1" indent="-285750">
              <a:lnSpc>
                <a:spcPct val="110000"/>
              </a:lnSpc>
              <a:spcBef>
                <a:spcPct val="20000"/>
              </a:spcBef>
              <a:buClr>
                <a:srgbClr val="996633"/>
              </a:buClr>
              <a:buFont typeface="Wingdings" panose="05000000000000000000" pitchFamily="2" charset="2"/>
              <a:buNone/>
            </a:pPr>
            <a:endParaRPr lang="en-US" altLang="x-none" sz="1400" b="1" dirty="0">
              <a:latin typeface="Arial" panose="020B0604020202020204" pitchFamily="34" charset="0"/>
              <a:ea typeface="宋体" panose="02010600030101010101" pitchFamily="2" charset="-122"/>
            </a:endParaRPr>
          </a:p>
          <a:p>
            <a:pPr marL="342900" lvl="0" indent="-342900">
              <a:lnSpc>
                <a:spcPct val="110000"/>
              </a:lnSpc>
              <a:spcBef>
                <a:spcPct val="20000"/>
              </a:spcBef>
              <a:buClr>
                <a:srgbClr val="996633"/>
              </a:buClr>
              <a:buFont typeface="Wingdings" panose="05000000000000000000" pitchFamily="2" charset="2"/>
              <a:buChar char="Ø"/>
            </a:pPr>
            <a:r>
              <a:rPr lang="en-US" altLang="x-none" sz="2800" b="1" dirty="0">
                <a:solidFill>
                  <a:srgbClr val="FF0000"/>
                </a:solidFill>
                <a:latin typeface="Arial" panose="020B0604020202020204" pitchFamily="34" charset="0"/>
                <a:ea typeface="宋体" panose="02010600030101010101" pitchFamily="2" charset="-122"/>
              </a:rPr>
              <a:t>skills</a:t>
            </a:r>
            <a:r>
              <a:rPr lang="en-US" altLang="x-none" sz="2800" b="1" dirty="0">
                <a:solidFill>
                  <a:schemeClr val="accent2"/>
                </a:solidFill>
                <a:latin typeface="Arial" panose="020B0604020202020204" pitchFamily="34" charset="0"/>
                <a:ea typeface="宋体" panose="02010600030101010101" pitchFamily="2" charset="-122"/>
              </a:rPr>
              <a:t>(skill_id, skill_name)</a:t>
            </a:r>
          </a:p>
          <a:p>
            <a:pPr marL="742950" lvl="1" indent="-285750">
              <a:lnSpc>
                <a:spcPct val="110000"/>
              </a:lnSpc>
              <a:spcBef>
                <a:spcPct val="20000"/>
              </a:spcBef>
              <a:buClr>
                <a:srgbClr val="996633"/>
              </a:buClr>
              <a:buFont typeface="Wingdings" panose="05000000000000000000" pitchFamily="2" charset="2"/>
              <a:buNone/>
            </a:pPr>
            <a:r>
              <a:rPr lang="en-US" altLang="x-none" sz="2800" b="1" dirty="0">
                <a:latin typeface="Arial" panose="020B0604020202020204" pitchFamily="34" charset="0"/>
                <a:ea typeface="宋体" panose="02010600030101010101" pitchFamily="2" charset="-122"/>
                <a:sym typeface="Symbol" panose="05050102010706020507" pitchFamily="2" charset="2"/>
              </a:rPr>
              <a:t>skill_id </a:t>
            </a:r>
            <a:r>
              <a:rPr lang="en-US" altLang="x-none" sz="2800" b="1" dirty="0">
                <a:solidFill>
                  <a:srgbClr val="FF0000"/>
                </a:solidFill>
                <a:latin typeface="Arial" panose="020B0604020202020204" pitchFamily="34" charset="0"/>
                <a:ea typeface="宋体" panose="02010600030101010101" pitchFamily="2" charset="-122"/>
                <a:sym typeface="Symbol" panose="05050102010706020507" pitchFamily="2" charset="2"/>
              </a:rPr>
              <a:t> </a:t>
            </a:r>
            <a:r>
              <a:rPr lang="en-US" altLang="x-none" sz="2800" b="1" dirty="0">
                <a:latin typeface="Arial" panose="020B0604020202020204" pitchFamily="34" charset="0"/>
                <a:ea typeface="宋体" panose="02010600030101010101" pitchFamily="2" charset="-122"/>
                <a:sym typeface="Symbol" panose="05050102010706020507" pitchFamily="2" charset="2"/>
              </a:rPr>
              <a:t>skill_name</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95586"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95587"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126</a:t>
            </a:fld>
            <a:endParaRPr lang="zh-CN" altLang="en-US" sz="1200" b="1" i="1" dirty="0">
              <a:latin typeface="Times New Roman" panose="02020603050405020304" pitchFamily="2" charset="0"/>
              <a:ea typeface="宋体" panose="02010600030101010101" pitchFamily="2" charset="-122"/>
            </a:endParaRPr>
          </a:p>
        </p:txBody>
      </p:sp>
      <p:sp>
        <p:nvSpPr>
          <p:cNvPr id="195588" name="Rectangle 2"/>
          <p:cNvSpPr>
            <a:spLocks noGrp="1"/>
          </p:cNvSpPr>
          <p:nvPr>
            <p:ph type="title"/>
          </p:nvPr>
        </p:nvSpPr>
        <p:spPr/>
        <p:txBody>
          <a:bodyPr wrap="square" anchor="ctr"/>
          <a:lstStyle/>
          <a:p>
            <a:pPr lvl="0" eaLnBrk="1" hangingPunct="1"/>
            <a:r>
              <a:rPr lang="en-US" altLang="x-none" dirty="0">
                <a:ea typeface="宋体" panose="02010600030101010101" pitchFamily="2" charset="-122"/>
              </a:rPr>
              <a:t>Example of Normal Forms</a:t>
            </a:r>
            <a:endParaRPr lang="zh-CN" altLang="en-US" dirty="0">
              <a:ea typeface="宋体" panose="02010600030101010101" pitchFamily="2" charset="-122"/>
            </a:endParaRPr>
          </a:p>
        </p:txBody>
      </p:sp>
      <p:sp>
        <p:nvSpPr>
          <p:cNvPr id="195589" name="Rectangle 3"/>
          <p:cNvSpPr>
            <a:spLocks noGrp="1"/>
          </p:cNvSpPr>
          <p:nvPr>
            <p:ph type="body"/>
          </p:nvPr>
        </p:nvSpPr>
        <p:spPr>
          <a:xfrm>
            <a:off x="26988" y="695325"/>
            <a:ext cx="8983662" cy="5638800"/>
          </a:xfrm>
        </p:spPr>
        <p:txBody>
          <a:bodyPr wrap="square" anchor="t"/>
          <a:lstStyle/>
          <a:p>
            <a:pPr lvl="0" eaLnBrk="1" hangingPunct="1">
              <a:lnSpc>
                <a:spcPct val="120000"/>
              </a:lnSpc>
            </a:pPr>
            <a:r>
              <a:rPr lang="en-US" altLang="x-none" dirty="0">
                <a:ea typeface="宋体" panose="02010600030101010101" pitchFamily="2" charset="-122"/>
              </a:rPr>
              <a:t>Relations</a:t>
            </a:r>
          </a:p>
          <a:p>
            <a:pPr lvl="1" indent="-285750" eaLnBrk="1" hangingPunct="1">
              <a:lnSpc>
                <a:spcPct val="120000"/>
              </a:lnSpc>
              <a:buNone/>
            </a:pPr>
            <a:r>
              <a:rPr lang="en-US" altLang="x-none" dirty="0">
                <a:ea typeface="宋体" panose="02010600030101010101" pitchFamily="2" charset="-122"/>
              </a:rPr>
              <a:t>emp_info(emp_id, emp_name, emp_phone, dept_name, dept_phone, dept_mgrname, skill_id, skill_name, skill_date, skill_lvl)</a:t>
            </a:r>
          </a:p>
          <a:p>
            <a:pPr lvl="1" indent="-285750" eaLnBrk="1" hangingPunct="1">
              <a:lnSpc>
                <a:spcPct val="120000"/>
              </a:lnSpc>
            </a:pPr>
            <a:endParaRPr lang="en-US" altLang="x-none" sz="1400" dirty="0">
              <a:ea typeface="宋体" panose="02010600030101010101" pitchFamily="2" charset="-122"/>
            </a:endParaRPr>
          </a:p>
          <a:p>
            <a:pPr lvl="0" eaLnBrk="1" hangingPunct="1">
              <a:lnSpc>
                <a:spcPct val="120000"/>
              </a:lnSpc>
            </a:pPr>
            <a:r>
              <a:rPr lang="en-US" altLang="x-none" dirty="0">
                <a:ea typeface="宋体" panose="02010600030101010101" pitchFamily="2" charset="-122"/>
              </a:rPr>
              <a:t>Functionally Dependents</a:t>
            </a:r>
          </a:p>
          <a:p>
            <a:pPr lvl="1" indent="-285750" eaLnBrk="1" hangingPunct="1">
              <a:lnSpc>
                <a:spcPct val="120000"/>
              </a:lnSpc>
              <a:buNone/>
            </a:pPr>
            <a:r>
              <a:rPr lang="en-US" altLang="x-none" dirty="0">
                <a:ea typeface="宋体" panose="02010600030101010101" pitchFamily="2" charset="-122"/>
              </a:rPr>
              <a:t>emp_id</a:t>
            </a:r>
            <a:r>
              <a:rPr lang="en-US" altLang="x-none" dirty="0">
                <a:ea typeface="宋体" panose="02010600030101010101" pitchFamily="2" charset="-122"/>
                <a:sym typeface="Symbol" panose="05050102010706020507" pitchFamily="2" charset="2"/>
              </a:rPr>
              <a:t>{emp_name, emp_phone, dept_name}</a:t>
            </a:r>
          </a:p>
          <a:p>
            <a:pPr lvl="1" indent="-285750" eaLnBrk="1" hangingPunct="1">
              <a:lnSpc>
                <a:spcPct val="120000"/>
              </a:lnSpc>
              <a:buNone/>
            </a:pPr>
            <a:r>
              <a:rPr lang="en-US" altLang="x-none" dirty="0">
                <a:ea typeface="宋体" panose="02010600030101010101" pitchFamily="2" charset="-122"/>
                <a:sym typeface="Symbol" panose="05050102010706020507" pitchFamily="2" charset="2"/>
              </a:rPr>
              <a:t>dept_name{dept_phone, dept_mgrname}</a:t>
            </a:r>
          </a:p>
          <a:p>
            <a:pPr lvl="1" indent="-285750" eaLnBrk="1" hangingPunct="1">
              <a:lnSpc>
                <a:spcPct val="120000"/>
              </a:lnSpc>
              <a:buNone/>
            </a:pPr>
            <a:r>
              <a:rPr lang="en-US" altLang="x-none" dirty="0">
                <a:ea typeface="宋体" panose="02010600030101010101" pitchFamily="2" charset="-122"/>
                <a:sym typeface="Symbol" panose="05050102010706020507" pitchFamily="2" charset="2"/>
              </a:rPr>
              <a:t>skill_idskill_name</a:t>
            </a:r>
          </a:p>
          <a:p>
            <a:pPr lvl="1" indent="-285750" eaLnBrk="1" hangingPunct="1">
              <a:lnSpc>
                <a:spcPct val="120000"/>
              </a:lnSpc>
              <a:buNone/>
            </a:pPr>
            <a:r>
              <a:rPr lang="en-US" altLang="x-none" dirty="0">
                <a:ea typeface="宋体" panose="02010600030101010101" pitchFamily="2" charset="-122"/>
                <a:sym typeface="Symbol" panose="05050102010706020507" pitchFamily="2" charset="2"/>
              </a:rPr>
              <a:t>{emp_id, skill_id}{skill_date, skill_lvl}</a:t>
            </a:r>
            <a:endParaRPr lang="zh-CN" altLang="en-US" dirty="0">
              <a:ea typeface="宋体" panose="02010600030101010101" pitchFamily="2" charset="-122"/>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9"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96610"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96611"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127</a:t>
            </a:fld>
            <a:endParaRPr lang="zh-CN" altLang="en-US" sz="1200" b="1" i="1" dirty="0">
              <a:latin typeface="Times New Roman" panose="02020603050405020304" pitchFamily="2" charset="0"/>
              <a:ea typeface="宋体" panose="02010600030101010101" pitchFamily="2" charset="-122"/>
            </a:endParaRPr>
          </a:p>
        </p:txBody>
      </p:sp>
      <p:sp>
        <p:nvSpPr>
          <p:cNvPr id="196612" name="Rectangle 2"/>
          <p:cNvSpPr>
            <a:spLocks noGrp="1"/>
          </p:cNvSpPr>
          <p:nvPr>
            <p:ph type="title"/>
          </p:nvPr>
        </p:nvSpPr>
        <p:spPr/>
        <p:txBody>
          <a:bodyPr wrap="square" anchor="ctr"/>
          <a:lstStyle/>
          <a:p>
            <a:pPr lvl="0" eaLnBrk="1" hangingPunct="1"/>
            <a:r>
              <a:rPr lang="en-US" altLang="x-none" dirty="0">
                <a:latin typeface="Arial" panose="020B0604020202020204" pitchFamily="34" charset="0"/>
                <a:ea typeface="宋体" panose="02010600030101010101" pitchFamily="2" charset="-122"/>
              </a:rPr>
              <a:t>Is 2NF ?</a:t>
            </a:r>
          </a:p>
        </p:txBody>
      </p:sp>
      <p:sp>
        <p:nvSpPr>
          <p:cNvPr id="196613" name="Rectangle 3"/>
          <p:cNvSpPr>
            <a:spLocks noGrp="1"/>
          </p:cNvSpPr>
          <p:nvPr>
            <p:ph type="body"/>
          </p:nvPr>
        </p:nvSpPr>
        <p:spPr>
          <a:xfrm>
            <a:off x="34925" y="838200"/>
            <a:ext cx="9074150" cy="5256213"/>
          </a:xfrm>
          <a:ln w="25400">
            <a:solidFill>
              <a:schemeClr val="tx1"/>
            </a:solidFill>
            <a:miter/>
          </a:ln>
        </p:spPr>
        <p:txBody>
          <a:bodyPr wrap="square" anchor="t"/>
          <a:lstStyle/>
          <a:p>
            <a:pPr lvl="0" eaLnBrk="1" hangingPunct="1">
              <a:lnSpc>
                <a:spcPct val="110000"/>
              </a:lnSpc>
            </a:pPr>
            <a:r>
              <a:rPr lang="en-US" altLang="x-none" dirty="0">
                <a:ea typeface="宋体" panose="02010600030101010101" pitchFamily="2" charset="-122"/>
              </a:rPr>
              <a:t>Relations</a:t>
            </a:r>
          </a:p>
          <a:p>
            <a:pPr lvl="1" indent="-285750" eaLnBrk="1" hangingPunct="1">
              <a:lnSpc>
                <a:spcPct val="110000"/>
              </a:lnSpc>
              <a:buNone/>
            </a:pPr>
            <a:r>
              <a:rPr lang="en-US" altLang="x-none" u="sng" dirty="0">
                <a:solidFill>
                  <a:schemeClr val="tx2"/>
                </a:solidFill>
                <a:ea typeface="宋体" panose="02010600030101010101" pitchFamily="2" charset="-122"/>
              </a:rPr>
              <a:t>emp_info</a:t>
            </a:r>
            <a:r>
              <a:rPr lang="en-US" altLang="x-none" dirty="0">
                <a:ea typeface="宋体" panose="02010600030101010101" pitchFamily="2" charset="-122"/>
              </a:rPr>
              <a:t> ( emp_id, emp_name, emp_phone,</a:t>
            </a:r>
          </a:p>
          <a:p>
            <a:pPr lvl="4" indent="-228600" eaLnBrk="1" hangingPunct="1">
              <a:lnSpc>
                <a:spcPct val="110000"/>
              </a:lnSpc>
              <a:buNone/>
            </a:pPr>
            <a:r>
              <a:rPr lang="en-US" altLang="x-none" dirty="0">
                <a:solidFill>
                  <a:schemeClr val="accent2"/>
                </a:solidFill>
                <a:ea typeface="宋体" panose="02010600030101010101" pitchFamily="2" charset="-122"/>
              </a:rPr>
              <a:t>dept_name, dept_phone, dept_mgrname,</a:t>
            </a:r>
          </a:p>
          <a:p>
            <a:pPr lvl="4" indent="-228600" eaLnBrk="1" hangingPunct="1">
              <a:lnSpc>
                <a:spcPct val="110000"/>
              </a:lnSpc>
              <a:buNone/>
            </a:pPr>
            <a:r>
              <a:rPr lang="en-US" altLang="x-none" dirty="0">
                <a:solidFill>
                  <a:schemeClr val="accent2"/>
                </a:solidFill>
                <a:ea typeface="宋体" panose="02010600030101010101" pitchFamily="2" charset="-122"/>
              </a:rPr>
              <a:t>skill_id, skill_name, skill_date, skill_lvl )</a:t>
            </a:r>
            <a:endParaRPr lang="en-US" altLang="x-none" dirty="0">
              <a:ea typeface="宋体" panose="02010600030101010101" pitchFamily="2" charset="-122"/>
            </a:endParaRPr>
          </a:p>
          <a:p>
            <a:pPr lvl="0" eaLnBrk="1" hangingPunct="1">
              <a:lnSpc>
                <a:spcPct val="110000"/>
              </a:lnSpc>
            </a:pPr>
            <a:r>
              <a:rPr lang="en-US" altLang="x-none" dirty="0">
                <a:ea typeface="宋体" panose="02010600030101010101" pitchFamily="2" charset="-122"/>
              </a:rPr>
              <a:t>Functionally Dependents</a:t>
            </a:r>
          </a:p>
          <a:p>
            <a:pPr lvl="1" indent="-285750" eaLnBrk="1" hangingPunct="1">
              <a:lnSpc>
                <a:spcPct val="110000"/>
              </a:lnSpc>
              <a:buNone/>
            </a:pPr>
            <a:r>
              <a:rPr lang="en-US" altLang="x-none" dirty="0">
                <a:ea typeface="宋体" panose="02010600030101010101" pitchFamily="2" charset="-122"/>
              </a:rPr>
              <a:t>emp_id </a:t>
            </a:r>
            <a:r>
              <a:rPr lang="en-US" altLang="x-none" dirty="0">
                <a:ea typeface="宋体" panose="02010600030101010101" pitchFamily="2" charset="-122"/>
                <a:sym typeface="Symbol" panose="05050102010706020507" pitchFamily="2" charset="2"/>
              </a:rPr>
              <a:t> {emp_name, emp_phone, dept_name}</a:t>
            </a:r>
          </a:p>
          <a:p>
            <a:pPr lvl="1" indent="-285750" eaLnBrk="1" hangingPunct="1">
              <a:lnSpc>
                <a:spcPct val="110000"/>
              </a:lnSpc>
              <a:buNone/>
            </a:pPr>
            <a:r>
              <a:rPr lang="en-US" altLang="x-none" dirty="0">
                <a:ea typeface="宋体" panose="02010600030101010101" pitchFamily="2" charset="-122"/>
                <a:sym typeface="Symbol" panose="05050102010706020507" pitchFamily="2" charset="2"/>
              </a:rPr>
              <a:t>dept_name  {dept_phone, dept_mgrname}</a:t>
            </a:r>
          </a:p>
          <a:p>
            <a:pPr lvl="1" indent="-285750" eaLnBrk="1" hangingPunct="1">
              <a:lnSpc>
                <a:spcPct val="110000"/>
              </a:lnSpc>
              <a:buNone/>
            </a:pPr>
            <a:r>
              <a:rPr lang="en-US" altLang="x-none" dirty="0">
                <a:ea typeface="宋体" panose="02010600030101010101" pitchFamily="2" charset="-122"/>
                <a:sym typeface="Symbol" panose="05050102010706020507" pitchFamily="2" charset="2"/>
              </a:rPr>
              <a:t>skill_id  skill_name</a:t>
            </a:r>
          </a:p>
          <a:p>
            <a:pPr lvl="1" indent="-285750" eaLnBrk="1" hangingPunct="1">
              <a:lnSpc>
                <a:spcPct val="110000"/>
              </a:lnSpc>
              <a:buNone/>
            </a:pPr>
            <a:r>
              <a:rPr lang="en-US" altLang="x-none" dirty="0">
                <a:ea typeface="宋体" panose="02010600030101010101" pitchFamily="2" charset="-122"/>
                <a:sym typeface="Symbol" panose="05050102010706020507" pitchFamily="2" charset="2"/>
              </a:rPr>
              <a:t>{emp_id, skill_id}  {skill_date, skill_lvl}</a:t>
            </a:r>
            <a:endParaRPr lang="zh-CN" altLang="en-US" dirty="0">
              <a:ea typeface="宋体" panose="02010600030101010101" pitchFamily="2" charset="-122"/>
              <a:sym typeface="Symbol" panose="05050102010706020507" pitchFamily="2" charset="2"/>
            </a:endParaRPr>
          </a:p>
        </p:txBody>
      </p:sp>
      <p:sp>
        <p:nvSpPr>
          <p:cNvPr id="196614" name="Text Box 4"/>
          <p:cNvSpPr txBox="1"/>
          <p:nvPr/>
        </p:nvSpPr>
        <p:spPr>
          <a:xfrm>
            <a:off x="0" y="6310313"/>
            <a:ext cx="9144000" cy="582612"/>
          </a:xfrm>
          <a:prstGeom prst="rect">
            <a:avLst/>
          </a:prstGeom>
          <a:solidFill>
            <a:schemeClr val="bg1"/>
          </a:solidFill>
          <a:ln w="9525">
            <a:noFill/>
          </a:ln>
        </p:spPr>
        <p:txBody>
          <a:bodyPr wrap="square" lIns="90170" tIns="46990" rIns="90170" bIns="46990" anchor="t">
            <a:spAutoFit/>
          </a:bodyPr>
          <a:lstStyle/>
          <a:p>
            <a:pPr lvl="0" algn="ctr">
              <a:spcBef>
                <a:spcPct val="50000"/>
              </a:spcBef>
            </a:pPr>
            <a:r>
              <a:rPr lang="en-US" altLang="x-none" sz="3200" b="1" u="sng" dirty="0">
                <a:latin typeface="Arial" panose="020B0604020202020204" pitchFamily="34" charset="0"/>
                <a:ea typeface="宋体" panose="02010600030101010101" pitchFamily="2" charset="-122"/>
              </a:rPr>
              <a:t>Figure  6.23</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3"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97634"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97635"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128</a:t>
            </a:fld>
            <a:endParaRPr lang="zh-CN" altLang="en-US" sz="1200" b="1" i="1" dirty="0">
              <a:latin typeface="Times New Roman" panose="02020603050405020304" pitchFamily="2" charset="0"/>
              <a:ea typeface="宋体" panose="02010600030101010101" pitchFamily="2" charset="-122"/>
            </a:endParaRPr>
          </a:p>
        </p:txBody>
      </p:sp>
      <p:sp>
        <p:nvSpPr>
          <p:cNvPr id="197636" name="Rectangle 2"/>
          <p:cNvSpPr>
            <a:spLocks noGrp="1"/>
          </p:cNvSpPr>
          <p:nvPr>
            <p:ph type="title"/>
          </p:nvPr>
        </p:nvSpPr>
        <p:spPr/>
        <p:txBody>
          <a:bodyPr wrap="square" anchor="ctr"/>
          <a:lstStyle/>
          <a:p>
            <a:pPr lvl="0" eaLnBrk="1" hangingPunct="1"/>
            <a:r>
              <a:rPr lang="zh-CN" altLang="en-US" dirty="0">
                <a:latin typeface="Arial" panose="020B0604020202020204" pitchFamily="34" charset="0"/>
                <a:ea typeface="宋体" panose="02010600030101010101" pitchFamily="2" charset="-122"/>
              </a:rPr>
              <a:t>Figure 6.24   </a:t>
            </a:r>
            <a:r>
              <a:rPr lang="en-US" altLang="x-none" dirty="0">
                <a:latin typeface="Arial" panose="020B0604020202020204" pitchFamily="34" charset="0"/>
                <a:ea typeface="宋体" panose="02010600030101010101" pitchFamily="2" charset="-122"/>
              </a:rPr>
              <a:t>Is 2NF ?</a:t>
            </a:r>
          </a:p>
        </p:txBody>
      </p:sp>
      <p:sp>
        <p:nvSpPr>
          <p:cNvPr id="197637" name="Rectangle 3"/>
          <p:cNvSpPr>
            <a:spLocks noGrp="1"/>
          </p:cNvSpPr>
          <p:nvPr>
            <p:ph type="body"/>
          </p:nvPr>
        </p:nvSpPr>
        <p:spPr>
          <a:xfrm>
            <a:off x="34925" y="693738"/>
            <a:ext cx="9074150" cy="6121400"/>
          </a:xfrm>
          <a:solidFill>
            <a:schemeClr val="bg1"/>
          </a:solidFill>
          <a:ln w="25400">
            <a:solidFill>
              <a:schemeClr val="tx1"/>
            </a:solidFill>
            <a:miter/>
          </a:ln>
        </p:spPr>
        <p:txBody>
          <a:bodyPr wrap="square" lIns="90170" tIns="46990" rIns="90170" bIns="46990" anchor="t"/>
          <a:lstStyle/>
          <a:p>
            <a:pPr lvl="0" eaLnBrk="1" hangingPunct="1">
              <a:lnSpc>
                <a:spcPct val="90000"/>
              </a:lnSpc>
            </a:pPr>
            <a:r>
              <a:rPr lang="en-US" altLang="x-none" dirty="0">
                <a:ea typeface="宋体" panose="02010600030101010101" pitchFamily="2" charset="-122"/>
              </a:rPr>
              <a:t>Relations 1</a:t>
            </a:r>
          </a:p>
          <a:p>
            <a:pPr lvl="1" indent="-285750" eaLnBrk="1" hangingPunct="1">
              <a:lnSpc>
                <a:spcPct val="90000"/>
              </a:lnSpc>
              <a:buNone/>
            </a:pPr>
            <a:r>
              <a:rPr lang="en-US" altLang="x-none" u="sng" dirty="0">
                <a:solidFill>
                  <a:schemeClr val="tx2"/>
                </a:solidFill>
                <a:ea typeface="宋体" panose="02010600030101010101" pitchFamily="2" charset="-122"/>
              </a:rPr>
              <a:t>Emps</a:t>
            </a:r>
            <a:r>
              <a:rPr lang="en-US" altLang="x-none" dirty="0">
                <a:ea typeface="宋体" panose="02010600030101010101" pitchFamily="2" charset="-122"/>
              </a:rPr>
              <a:t> ( emp_id, emp_name, emp_phone,</a:t>
            </a:r>
          </a:p>
          <a:p>
            <a:pPr lvl="3" indent="-228600" eaLnBrk="1" hangingPunct="1">
              <a:lnSpc>
                <a:spcPct val="90000"/>
              </a:lnSpc>
              <a:buNone/>
            </a:pPr>
            <a:r>
              <a:rPr lang="en-US" altLang="x-none" dirty="0">
                <a:ea typeface="宋体" panose="02010600030101010101" pitchFamily="2" charset="-122"/>
              </a:rPr>
              <a:t>dept_name, dept_phone, dept_mgrname )</a:t>
            </a:r>
          </a:p>
          <a:p>
            <a:pPr lvl="0" eaLnBrk="1" hangingPunct="1">
              <a:lnSpc>
                <a:spcPct val="90000"/>
              </a:lnSpc>
            </a:pPr>
            <a:r>
              <a:rPr lang="en-US" altLang="x-none" dirty="0">
                <a:ea typeface="宋体" panose="02010600030101010101" pitchFamily="2" charset="-122"/>
              </a:rPr>
              <a:t>Functionally Dependents in Relations 1</a:t>
            </a:r>
          </a:p>
          <a:p>
            <a:pPr lvl="1" indent="-285750" eaLnBrk="1" hangingPunct="1">
              <a:lnSpc>
                <a:spcPct val="90000"/>
              </a:lnSpc>
              <a:buNone/>
            </a:pPr>
            <a:r>
              <a:rPr lang="en-US" altLang="x-none" dirty="0">
                <a:ea typeface="宋体" panose="02010600030101010101" pitchFamily="2" charset="-122"/>
              </a:rPr>
              <a:t>emp_id </a:t>
            </a:r>
            <a:r>
              <a:rPr lang="en-US" altLang="x-none" dirty="0">
                <a:ea typeface="宋体" panose="02010600030101010101" pitchFamily="2" charset="-122"/>
                <a:sym typeface="Symbol" panose="05050102010706020507" pitchFamily="2" charset="2"/>
              </a:rPr>
              <a:t> {emp_name, emp_phone, dept_name}</a:t>
            </a:r>
          </a:p>
          <a:p>
            <a:pPr lvl="1" indent="-285750" eaLnBrk="1" hangingPunct="1">
              <a:lnSpc>
                <a:spcPct val="90000"/>
              </a:lnSpc>
              <a:buNone/>
            </a:pPr>
            <a:r>
              <a:rPr lang="en-US" altLang="x-none" dirty="0">
                <a:ea typeface="宋体" panose="02010600030101010101" pitchFamily="2" charset="-122"/>
                <a:sym typeface="Symbol" panose="05050102010706020507" pitchFamily="2" charset="2"/>
              </a:rPr>
              <a:t>dept_name  {dept_phone, dept_mgrname}</a:t>
            </a:r>
          </a:p>
          <a:p>
            <a:pPr lvl="1" indent="-285750" eaLnBrk="1" hangingPunct="1">
              <a:lnSpc>
                <a:spcPct val="90000"/>
              </a:lnSpc>
            </a:pPr>
            <a:endParaRPr lang="en-US" altLang="x-none" sz="1400" dirty="0">
              <a:ea typeface="宋体" panose="02010600030101010101" pitchFamily="2" charset="-122"/>
              <a:sym typeface="Symbol" panose="05050102010706020507" pitchFamily="2" charset="2"/>
            </a:endParaRPr>
          </a:p>
          <a:p>
            <a:pPr lvl="0" eaLnBrk="1" hangingPunct="1">
              <a:lnSpc>
                <a:spcPct val="90000"/>
              </a:lnSpc>
            </a:pPr>
            <a:r>
              <a:rPr lang="en-US" altLang="x-none" dirty="0">
                <a:ea typeface="宋体" panose="02010600030101010101" pitchFamily="2" charset="-122"/>
              </a:rPr>
              <a:t>Relations 2</a:t>
            </a:r>
          </a:p>
          <a:p>
            <a:pPr lvl="1" indent="-285750" eaLnBrk="1" hangingPunct="1">
              <a:lnSpc>
                <a:spcPct val="90000"/>
              </a:lnSpc>
              <a:buNone/>
            </a:pPr>
            <a:r>
              <a:rPr lang="en-US" altLang="x-none" u="sng" dirty="0">
                <a:solidFill>
                  <a:schemeClr val="tx2"/>
                </a:solidFill>
                <a:ea typeface="宋体" panose="02010600030101010101" pitchFamily="2" charset="-122"/>
              </a:rPr>
              <a:t>Skills</a:t>
            </a:r>
            <a:r>
              <a:rPr lang="en-US" altLang="x-none" dirty="0">
                <a:ea typeface="宋体" panose="02010600030101010101" pitchFamily="2" charset="-122"/>
              </a:rPr>
              <a:t> ( emp_id, skill_id, skill_name, skill_date,</a:t>
            </a:r>
          </a:p>
          <a:p>
            <a:pPr lvl="3" indent="-228600" eaLnBrk="1" hangingPunct="1">
              <a:lnSpc>
                <a:spcPct val="90000"/>
              </a:lnSpc>
              <a:buNone/>
            </a:pPr>
            <a:r>
              <a:rPr lang="en-US" altLang="x-none" dirty="0">
                <a:ea typeface="宋体" panose="02010600030101010101" pitchFamily="2" charset="-122"/>
              </a:rPr>
              <a:t>skill_lvl )</a:t>
            </a:r>
          </a:p>
          <a:p>
            <a:pPr lvl="0" eaLnBrk="1" hangingPunct="1">
              <a:lnSpc>
                <a:spcPct val="90000"/>
              </a:lnSpc>
            </a:pPr>
            <a:r>
              <a:rPr lang="en-US" altLang="x-none" dirty="0">
                <a:ea typeface="宋体" panose="02010600030101010101" pitchFamily="2" charset="-122"/>
              </a:rPr>
              <a:t>Functionally Dependents in Relations 2</a:t>
            </a:r>
            <a:endParaRPr lang="en-US" altLang="x-none" dirty="0">
              <a:ea typeface="宋体" panose="02010600030101010101" pitchFamily="2" charset="-122"/>
              <a:sym typeface="Symbol" panose="05050102010706020507" pitchFamily="2" charset="2"/>
            </a:endParaRPr>
          </a:p>
          <a:p>
            <a:pPr lvl="1" indent="-285750" eaLnBrk="1" hangingPunct="1">
              <a:lnSpc>
                <a:spcPct val="90000"/>
              </a:lnSpc>
              <a:buNone/>
            </a:pPr>
            <a:r>
              <a:rPr lang="en-US" altLang="x-none" dirty="0">
                <a:ea typeface="宋体" panose="02010600030101010101" pitchFamily="2" charset="-122"/>
                <a:sym typeface="Symbol" panose="05050102010706020507" pitchFamily="2" charset="2"/>
              </a:rPr>
              <a:t>skill_id  skill_name</a:t>
            </a:r>
          </a:p>
          <a:p>
            <a:pPr lvl="1" indent="-285750" eaLnBrk="1" hangingPunct="1">
              <a:lnSpc>
                <a:spcPct val="90000"/>
              </a:lnSpc>
              <a:buNone/>
            </a:pPr>
            <a:r>
              <a:rPr lang="en-US" altLang="x-none" dirty="0">
                <a:ea typeface="宋体" panose="02010600030101010101" pitchFamily="2" charset="-122"/>
                <a:sym typeface="Symbol" panose="05050102010706020507" pitchFamily="2" charset="2"/>
              </a:rPr>
              <a:t>{emp_id, skill_id}  {skill_date, skill_lvl}</a:t>
            </a:r>
            <a:endParaRPr lang="zh-CN" altLang="en-US" dirty="0">
              <a:ea typeface="宋体" panose="02010600030101010101" pitchFamily="2" charset="-122"/>
              <a:sym typeface="Symbol" panose="05050102010706020507" pitchFamily="2" charset="2"/>
            </a:endParaRPr>
          </a:p>
        </p:txBody>
      </p:sp>
      <p:sp>
        <p:nvSpPr>
          <p:cNvPr id="197638" name="Line 5"/>
          <p:cNvSpPr/>
          <p:nvPr/>
        </p:nvSpPr>
        <p:spPr>
          <a:xfrm>
            <a:off x="38100" y="3644900"/>
            <a:ext cx="9070975" cy="1588"/>
          </a:xfrm>
          <a:prstGeom prst="line">
            <a:avLst/>
          </a:prstGeom>
          <a:ln w="381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7"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98658"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98659"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129</a:t>
            </a:fld>
            <a:endParaRPr lang="zh-CN" altLang="en-US" sz="1200" b="1" i="1" dirty="0">
              <a:latin typeface="Times New Roman" panose="02020603050405020304" pitchFamily="2" charset="0"/>
              <a:ea typeface="宋体" panose="02010600030101010101" pitchFamily="2" charset="-122"/>
            </a:endParaRPr>
          </a:p>
        </p:txBody>
      </p:sp>
      <p:sp>
        <p:nvSpPr>
          <p:cNvPr id="198660" name="Rectangle 2"/>
          <p:cNvSpPr>
            <a:spLocks noGrp="1"/>
          </p:cNvSpPr>
          <p:nvPr>
            <p:ph type="title"/>
          </p:nvPr>
        </p:nvSpPr>
        <p:spPr/>
        <p:txBody>
          <a:bodyPr wrap="square" anchor="ctr"/>
          <a:lstStyle/>
          <a:p>
            <a:pPr lvl="0" eaLnBrk="1" hangingPunct="1"/>
            <a:r>
              <a:rPr lang="zh-CN" altLang="en-US" dirty="0">
                <a:latin typeface="Arial" panose="020B0604020202020204" pitchFamily="34" charset="0"/>
                <a:ea typeface="宋体" panose="02010600030101010101" pitchFamily="2" charset="-122"/>
              </a:rPr>
              <a:t>Figure 6.25   </a:t>
            </a:r>
            <a:r>
              <a:rPr lang="en-US" altLang="x-none" dirty="0">
                <a:latin typeface="Arial" panose="020B0604020202020204" pitchFamily="34" charset="0"/>
                <a:ea typeface="宋体" panose="02010600030101010101" pitchFamily="2" charset="-122"/>
              </a:rPr>
              <a:t>Is 2NF ?</a:t>
            </a:r>
          </a:p>
        </p:txBody>
      </p:sp>
      <p:sp>
        <p:nvSpPr>
          <p:cNvPr id="198661" name="Rectangle 3"/>
          <p:cNvSpPr>
            <a:spLocks noGrp="1"/>
          </p:cNvSpPr>
          <p:nvPr>
            <p:ph type="body"/>
          </p:nvPr>
        </p:nvSpPr>
        <p:spPr>
          <a:xfrm>
            <a:off x="26988" y="571500"/>
            <a:ext cx="9082087" cy="6288088"/>
          </a:xfrm>
          <a:solidFill>
            <a:schemeClr val="bg1"/>
          </a:solidFill>
          <a:ln w="25400">
            <a:solidFill>
              <a:schemeClr val="tx1"/>
            </a:solidFill>
            <a:miter/>
          </a:ln>
        </p:spPr>
        <p:txBody>
          <a:bodyPr wrap="square" lIns="90170" tIns="46990" rIns="90170" bIns="46990" anchor="t"/>
          <a:lstStyle/>
          <a:p>
            <a:pPr lvl="0" eaLnBrk="1" hangingPunct="1"/>
            <a:r>
              <a:rPr lang="en-US" altLang="x-none" dirty="0">
                <a:ea typeface="宋体" panose="02010600030101010101" pitchFamily="2" charset="-122"/>
              </a:rPr>
              <a:t>Relations 1</a:t>
            </a:r>
          </a:p>
          <a:p>
            <a:pPr lvl="1" indent="-285750" eaLnBrk="1" hangingPunct="1">
              <a:buNone/>
            </a:pPr>
            <a:r>
              <a:rPr lang="en-US" altLang="x-none" u="sng" dirty="0">
                <a:solidFill>
                  <a:schemeClr val="tx2"/>
                </a:solidFill>
                <a:ea typeface="宋体" panose="02010600030101010101" pitchFamily="2" charset="-122"/>
              </a:rPr>
              <a:t>Emps</a:t>
            </a:r>
            <a:r>
              <a:rPr lang="en-US" altLang="x-none" dirty="0">
                <a:ea typeface="宋体" panose="02010600030101010101" pitchFamily="2" charset="-122"/>
              </a:rPr>
              <a:t> ( emp_id, emp_name, emp_phone,</a:t>
            </a:r>
          </a:p>
          <a:p>
            <a:pPr lvl="3" indent="-228600" eaLnBrk="1" hangingPunct="1">
              <a:buNone/>
            </a:pPr>
            <a:r>
              <a:rPr lang="en-US" altLang="x-none" dirty="0">
                <a:ea typeface="宋体" panose="02010600030101010101" pitchFamily="2" charset="-122"/>
              </a:rPr>
              <a:t>dept_name, dept_phone, dept_mgrname )</a:t>
            </a:r>
          </a:p>
          <a:p>
            <a:pPr lvl="1" indent="-285750" eaLnBrk="1" hangingPunct="1">
              <a:buNone/>
            </a:pPr>
            <a:r>
              <a:rPr lang="en-US" altLang="x-none" dirty="0">
                <a:ea typeface="宋体" panose="02010600030101010101" pitchFamily="2" charset="-122"/>
              </a:rPr>
              <a:t>emp_id </a:t>
            </a:r>
            <a:r>
              <a:rPr lang="en-US" altLang="x-none" dirty="0">
                <a:ea typeface="宋体" panose="02010600030101010101" pitchFamily="2" charset="-122"/>
                <a:sym typeface="Symbol" panose="05050102010706020507" pitchFamily="2" charset="2"/>
              </a:rPr>
              <a:t> {emp_name, emp_phone, dept_name}</a:t>
            </a:r>
          </a:p>
          <a:p>
            <a:pPr lvl="1" indent="-285750" eaLnBrk="1" hangingPunct="1">
              <a:buNone/>
            </a:pPr>
            <a:r>
              <a:rPr lang="en-US" altLang="x-none" dirty="0">
                <a:ea typeface="宋体" panose="02010600030101010101" pitchFamily="2" charset="-122"/>
                <a:sym typeface="Symbol" panose="05050102010706020507" pitchFamily="2" charset="2"/>
              </a:rPr>
              <a:t>dept_name  {dept_phone, dept_mgrname}</a:t>
            </a:r>
          </a:p>
          <a:p>
            <a:pPr lvl="1" indent="-285750" eaLnBrk="1" hangingPunct="1">
              <a:buNone/>
            </a:pPr>
            <a:endParaRPr lang="en-US" altLang="x-none" sz="1400" dirty="0">
              <a:ea typeface="宋体" panose="02010600030101010101" pitchFamily="2" charset="-122"/>
            </a:endParaRPr>
          </a:p>
          <a:p>
            <a:pPr lvl="0" eaLnBrk="1" hangingPunct="1"/>
            <a:r>
              <a:rPr lang="en-US" altLang="x-none" dirty="0">
                <a:ea typeface="宋体" panose="02010600030101010101" pitchFamily="2" charset="-122"/>
              </a:rPr>
              <a:t>Relations 2</a:t>
            </a:r>
          </a:p>
          <a:p>
            <a:pPr lvl="1" indent="-285750" eaLnBrk="1" hangingPunct="1">
              <a:buNone/>
            </a:pPr>
            <a:r>
              <a:rPr lang="en-US" altLang="x-none" u="sng" dirty="0">
                <a:solidFill>
                  <a:schemeClr val="tx2"/>
                </a:solidFill>
                <a:ea typeface="宋体" panose="02010600030101010101" pitchFamily="2" charset="-122"/>
              </a:rPr>
              <a:t>Emp_Skills</a:t>
            </a:r>
            <a:r>
              <a:rPr lang="en-US" altLang="x-none" dirty="0">
                <a:ea typeface="宋体" panose="02010600030101010101" pitchFamily="2" charset="-122"/>
              </a:rPr>
              <a:t> ( emp_id, skill_id, skill_date, skill_lvl )</a:t>
            </a:r>
          </a:p>
          <a:p>
            <a:pPr lvl="1" indent="-285750" eaLnBrk="1" hangingPunct="1">
              <a:buNone/>
            </a:pPr>
            <a:r>
              <a:rPr lang="en-US" altLang="x-none" dirty="0">
                <a:ea typeface="宋体" panose="02010600030101010101" pitchFamily="2" charset="-122"/>
                <a:sym typeface="Symbol" panose="05050102010706020507" pitchFamily="2" charset="2"/>
              </a:rPr>
              <a:t>{emp_id, skill_id}  {skill_date, skill_lvl}</a:t>
            </a:r>
          </a:p>
          <a:p>
            <a:pPr lvl="1" indent="-285750" eaLnBrk="1" hangingPunct="1">
              <a:buNone/>
            </a:pPr>
            <a:endParaRPr lang="en-US" altLang="x-none" sz="1400" dirty="0">
              <a:ea typeface="宋体" panose="02010600030101010101" pitchFamily="2" charset="-122"/>
            </a:endParaRPr>
          </a:p>
          <a:p>
            <a:pPr lvl="0" eaLnBrk="1" hangingPunct="1"/>
            <a:r>
              <a:rPr lang="en-US" altLang="x-none" dirty="0">
                <a:ea typeface="宋体" panose="02010600030101010101" pitchFamily="2" charset="-122"/>
              </a:rPr>
              <a:t>Relations 3</a:t>
            </a:r>
          </a:p>
          <a:p>
            <a:pPr lvl="1" indent="-285750" eaLnBrk="1" hangingPunct="1">
              <a:buNone/>
            </a:pPr>
            <a:r>
              <a:rPr lang="en-US" altLang="x-none" u="sng" dirty="0">
                <a:solidFill>
                  <a:schemeClr val="tx2"/>
                </a:solidFill>
                <a:ea typeface="宋体" panose="02010600030101010101" pitchFamily="2" charset="-122"/>
              </a:rPr>
              <a:t>Skills</a:t>
            </a:r>
            <a:r>
              <a:rPr lang="en-US" altLang="x-none" dirty="0">
                <a:ea typeface="宋体" panose="02010600030101010101" pitchFamily="2" charset="-122"/>
              </a:rPr>
              <a:t> ( skill_id, skill_name)</a:t>
            </a:r>
            <a:endParaRPr lang="en-US" altLang="x-none" dirty="0">
              <a:ea typeface="宋体" panose="02010600030101010101" pitchFamily="2" charset="-122"/>
              <a:sym typeface="Symbol" panose="05050102010706020507" pitchFamily="2" charset="2"/>
            </a:endParaRPr>
          </a:p>
          <a:p>
            <a:pPr lvl="1" indent="-285750" eaLnBrk="1" hangingPunct="1">
              <a:buNone/>
            </a:pPr>
            <a:r>
              <a:rPr lang="en-US" altLang="x-none" dirty="0">
                <a:ea typeface="宋体" panose="02010600030101010101" pitchFamily="2" charset="-122"/>
                <a:sym typeface="Symbol" panose="05050102010706020507" pitchFamily="2" charset="2"/>
              </a:rPr>
              <a:t>skill_id  skill_name</a:t>
            </a:r>
            <a:endParaRPr lang="zh-CN" altLang="en-US" dirty="0">
              <a:ea typeface="宋体" panose="02010600030101010101" pitchFamily="2" charset="-122"/>
              <a:sym typeface="Symbol" panose="05050102010706020507" pitchFamily="2" charset="2"/>
            </a:endParaRPr>
          </a:p>
        </p:txBody>
      </p:sp>
      <p:sp>
        <p:nvSpPr>
          <p:cNvPr id="198662" name="Line 5"/>
          <p:cNvSpPr/>
          <p:nvPr/>
        </p:nvSpPr>
        <p:spPr>
          <a:xfrm>
            <a:off x="38100" y="3357563"/>
            <a:ext cx="9070975" cy="0"/>
          </a:xfrm>
          <a:prstGeom prst="line">
            <a:avLst/>
          </a:prstGeom>
          <a:ln w="381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98663" name="Line 6"/>
          <p:cNvSpPr/>
          <p:nvPr/>
        </p:nvSpPr>
        <p:spPr>
          <a:xfrm>
            <a:off x="38100" y="5156200"/>
            <a:ext cx="9070975" cy="1588"/>
          </a:xfrm>
          <a:prstGeom prst="line">
            <a:avLst/>
          </a:prstGeom>
          <a:ln w="381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1"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199682"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199683"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130</a:t>
            </a:fld>
            <a:endParaRPr lang="zh-CN" altLang="en-US" sz="1200" b="1" i="1" dirty="0">
              <a:latin typeface="Times New Roman" panose="02020603050405020304" pitchFamily="2" charset="0"/>
              <a:ea typeface="宋体" panose="02010600030101010101" pitchFamily="2" charset="-122"/>
            </a:endParaRPr>
          </a:p>
        </p:txBody>
      </p:sp>
      <p:sp>
        <p:nvSpPr>
          <p:cNvPr id="199684" name="Rectangle 2"/>
          <p:cNvSpPr>
            <a:spLocks noGrp="1"/>
          </p:cNvSpPr>
          <p:nvPr>
            <p:ph type="title"/>
          </p:nvPr>
        </p:nvSpPr>
        <p:spPr/>
        <p:txBody>
          <a:bodyPr wrap="square" anchor="ctr"/>
          <a:lstStyle/>
          <a:p>
            <a:pPr lvl="0" eaLnBrk="1" hangingPunct="1"/>
            <a:r>
              <a:rPr lang="zh-CN" altLang="en-US" dirty="0">
                <a:latin typeface="Arial" panose="020B0604020202020204" pitchFamily="34" charset="0"/>
                <a:ea typeface="宋体" panose="02010600030101010101" pitchFamily="2" charset="-122"/>
              </a:rPr>
              <a:t>Figure 6.25  </a:t>
            </a:r>
            <a:r>
              <a:rPr lang="zh-CN" altLang="en-US" dirty="0">
                <a:solidFill>
                  <a:srgbClr val="FF0000"/>
                </a:solidFill>
                <a:latin typeface="Arial" panose="020B0604020202020204" pitchFamily="34" charset="0"/>
                <a:ea typeface="宋体" panose="02010600030101010101" pitchFamily="2" charset="-122"/>
              </a:rPr>
              <a:t> </a:t>
            </a:r>
            <a:r>
              <a:rPr lang="en-US" altLang="x-none" dirty="0">
                <a:solidFill>
                  <a:srgbClr val="FF0000"/>
                </a:solidFill>
                <a:latin typeface="Arial" panose="020B0604020202020204" pitchFamily="34" charset="0"/>
                <a:ea typeface="宋体" panose="02010600030101010101" pitchFamily="2" charset="-122"/>
              </a:rPr>
              <a:t>Is </a:t>
            </a:r>
            <a:r>
              <a:rPr lang="zh-CN" altLang="en-US" dirty="0">
                <a:solidFill>
                  <a:srgbClr val="FF0000"/>
                </a:solidFill>
                <a:latin typeface="Arial" panose="020B0604020202020204" pitchFamily="34" charset="0"/>
                <a:ea typeface="宋体" panose="02010600030101010101" pitchFamily="2" charset="-122"/>
              </a:rPr>
              <a:t>3</a:t>
            </a:r>
            <a:r>
              <a:rPr lang="en-US" altLang="x-none" dirty="0">
                <a:solidFill>
                  <a:srgbClr val="FF0000"/>
                </a:solidFill>
                <a:latin typeface="Arial" panose="020B0604020202020204" pitchFamily="34" charset="0"/>
                <a:ea typeface="宋体" panose="02010600030101010101" pitchFamily="2" charset="-122"/>
              </a:rPr>
              <a:t>NF ?</a:t>
            </a:r>
          </a:p>
        </p:txBody>
      </p:sp>
      <p:sp>
        <p:nvSpPr>
          <p:cNvPr id="199685" name="Rectangle 3"/>
          <p:cNvSpPr>
            <a:spLocks noGrp="1"/>
          </p:cNvSpPr>
          <p:nvPr>
            <p:ph type="body"/>
          </p:nvPr>
        </p:nvSpPr>
        <p:spPr>
          <a:xfrm>
            <a:off x="26988" y="571500"/>
            <a:ext cx="9082087" cy="6288088"/>
          </a:xfrm>
          <a:solidFill>
            <a:schemeClr val="bg1"/>
          </a:solidFill>
          <a:ln w="25400">
            <a:solidFill>
              <a:schemeClr val="tx1"/>
            </a:solidFill>
            <a:miter/>
          </a:ln>
        </p:spPr>
        <p:txBody>
          <a:bodyPr wrap="square" lIns="90170" tIns="46990" rIns="90170" bIns="46990" anchor="t"/>
          <a:lstStyle/>
          <a:p>
            <a:pPr lvl="0" eaLnBrk="1" hangingPunct="1"/>
            <a:r>
              <a:rPr lang="en-US" altLang="x-none" dirty="0">
                <a:ea typeface="宋体" panose="02010600030101010101" pitchFamily="2" charset="-122"/>
              </a:rPr>
              <a:t>Relations 1</a:t>
            </a:r>
          </a:p>
          <a:p>
            <a:pPr lvl="1" indent="-285750" eaLnBrk="1" hangingPunct="1">
              <a:buNone/>
            </a:pPr>
            <a:r>
              <a:rPr lang="en-US" altLang="x-none" u="sng" dirty="0">
                <a:solidFill>
                  <a:schemeClr val="tx2"/>
                </a:solidFill>
                <a:ea typeface="宋体" panose="02010600030101010101" pitchFamily="2" charset="-122"/>
              </a:rPr>
              <a:t>Emps</a:t>
            </a:r>
            <a:r>
              <a:rPr lang="en-US" altLang="x-none" dirty="0">
                <a:ea typeface="宋体" panose="02010600030101010101" pitchFamily="2" charset="-122"/>
              </a:rPr>
              <a:t> ( emp_id, emp_name, emp_phone,</a:t>
            </a:r>
          </a:p>
          <a:p>
            <a:pPr lvl="3" indent="-228600" eaLnBrk="1" hangingPunct="1">
              <a:buNone/>
            </a:pPr>
            <a:r>
              <a:rPr lang="en-US" altLang="x-none" dirty="0">
                <a:ea typeface="宋体" panose="02010600030101010101" pitchFamily="2" charset="-122"/>
              </a:rPr>
              <a:t>dept_name, dept_phone, dept_mgrname )</a:t>
            </a:r>
          </a:p>
          <a:p>
            <a:pPr lvl="1" indent="-285750" eaLnBrk="1" hangingPunct="1">
              <a:buNone/>
            </a:pPr>
            <a:r>
              <a:rPr lang="en-US" altLang="x-none" dirty="0">
                <a:ea typeface="宋体" panose="02010600030101010101" pitchFamily="2" charset="-122"/>
              </a:rPr>
              <a:t>emp_id </a:t>
            </a:r>
            <a:r>
              <a:rPr lang="en-US" altLang="x-none" dirty="0">
                <a:ea typeface="宋体" panose="02010600030101010101" pitchFamily="2" charset="-122"/>
                <a:sym typeface="Symbol" panose="05050102010706020507" pitchFamily="2" charset="2"/>
              </a:rPr>
              <a:t> {emp_name, emp_phone, dept_name}</a:t>
            </a:r>
          </a:p>
          <a:p>
            <a:pPr lvl="1" indent="-285750" eaLnBrk="1" hangingPunct="1">
              <a:buNone/>
            </a:pPr>
            <a:r>
              <a:rPr lang="en-US" altLang="x-none" dirty="0">
                <a:ea typeface="宋体" panose="02010600030101010101" pitchFamily="2" charset="-122"/>
                <a:sym typeface="Symbol" panose="05050102010706020507" pitchFamily="2" charset="2"/>
              </a:rPr>
              <a:t>dept_name  {dept_phone, dept_mgrname}</a:t>
            </a:r>
          </a:p>
          <a:p>
            <a:pPr lvl="1" indent="-285750" eaLnBrk="1" hangingPunct="1">
              <a:buNone/>
            </a:pPr>
            <a:endParaRPr lang="en-US" altLang="x-none" sz="1400" dirty="0">
              <a:ea typeface="宋体" panose="02010600030101010101" pitchFamily="2" charset="-122"/>
            </a:endParaRPr>
          </a:p>
          <a:p>
            <a:pPr lvl="0" eaLnBrk="1" hangingPunct="1"/>
            <a:r>
              <a:rPr lang="en-US" altLang="x-none" dirty="0">
                <a:ea typeface="宋体" panose="02010600030101010101" pitchFamily="2" charset="-122"/>
              </a:rPr>
              <a:t>Relations 2</a:t>
            </a:r>
          </a:p>
          <a:p>
            <a:pPr lvl="1" indent="-285750" eaLnBrk="1" hangingPunct="1">
              <a:buNone/>
            </a:pPr>
            <a:r>
              <a:rPr lang="en-US" altLang="x-none" u="sng" dirty="0">
                <a:solidFill>
                  <a:schemeClr val="tx2"/>
                </a:solidFill>
                <a:ea typeface="宋体" panose="02010600030101010101" pitchFamily="2" charset="-122"/>
              </a:rPr>
              <a:t>Emp_Skills</a:t>
            </a:r>
            <a:r>
              <a:rPr lang="en-US" altLang="x-none" dirty="0">
                <a:ea typeface="宋体" panose="02010600030101010101" pitchFamily="2" charset="-122"/>
              </a:rPr>
              <a:t> ( emp_id, skill_id, skill_date, skill_lvl )</a:t>
            </a:r>
          </a:p>
          <a:p>
            <a:pPr lvl="1" indent="-285750" eaLnBrk="1" hangingPunct="1">
              <a:buNone/>
            </a:pPr>
            <a:r>
              <a:rPr lang="en-US" altLang="x-none" dirty="0">
                <a:ea typeface="宋体" panose="02010600030101010101" pitchFamily="2" charset="-122"/>
                <a:sym typeface="Symbol" panose="05050102010706020507" pitchFamily="2" charset="2"/>
              </a:rPr>
              <a:t>{emp_id, skill_id}  {skill_date, skill_lvl}</a:t>
            </a:r>
          </a:p>
          <a:p>
            <a:pPr lvl="1" indent="-285750" eaLnBrk="1" hangingPunct="1">
              <a:buNone/>
            </a:pPr>
            <a:endParaRPr lang="en-US" altLang="x-none" sz="1400" dirty="0">
              <a:ea typeface="宋体" panose="02010600030101010101" pitchFamily="2" charset="-122"/>
            </a:endParaRPr>
          </a:p>
          <a:p>
            <a:pPr lvl="0" eaLnBrk="1" hangingPunct="1"/>
            <a:r>
              <a:rPr lang="en-US" altLang="x-none" dirty="0">
                <a:ea typeface="宋体" panose="02010600030101010101" pitchFamily="2" charset="-122"/>
              </a:rPr>
              <a:t>Relations 3</a:t>
            </a:r>
          </a:p>
          <a:p>
            <a:pPr lvl="1" indent="-285750" eaLnBrk="1" hangingPunct="1">
              <a:buNone/>
            </a:pPr>
            <a:r>
              <a:rPr lang="en-US" altLang="x-none" u="sng" dirty="0">
                <a:solidFill>
                  <a:schemeClr val="tx2"/>
                </a:solidFill>
                <a:ea typeface="宋体" panose="02010600030101010101" pitchFamily="2" charset="-122"/>
              </a:rPr>
              <a:t>Skills</a:t>
            </a:r>
            <a:r>
              <a:rPr lang="en-US" altLang="x-none" dirty="0">
                <a:ea typeface="宋体" panose="02010600030101010101" pitchFamily="2" charset="-122"/>
              </a:rPr>
              <a:t> ( skill_id, skill_name)</a:t>
            </a:r>
            <a:endParaRPr lang="en-US" altLang="x-none" dirty="0">
              <a:ea typeface="宋体" panose="02010600030101010101" pitchFamily="2" charset="-122"/>
              <a:sym typeface="Symbol" panose="05050102010706020507" pitchFamily="2" charset="2"/>
            </a:endParaRPr>
          </a:p>
          <a:p>
            <a:pPr lvl="1" indent="-285750" eaLnBrk="1" hangingPunct="1">
              <a:buNone/>
            </a:pPr>
            <a:r>
              <a:rPr lang="en-US" altLang="x-none" dirty="0">
                <a:ea typeface="宋体" panose="02010600030101010101" pitchFamily="2" charset="-122"/>
                <a:sym typeface="Symbol" panose="05050102010706020507" pitchFamily="2" charset="2"/>
              </a:rPr>
              <a:t>skill_id  skill_name</a:t>
            </a:r>
            <a:endParaRPr lang="zh-CN" altLang="en-US" dirty="0">
              <a:ea typeface="宋体" panose="02010600030101010101" pitchFamily="2" charset="-122"/>
              <a:sym typeface="Symbol" panose="05050102010706020507" pitchFamily="2" charset="2"/>
            </a:endParaRPr>
          </a:p>
        </p:txBody>
      </p:sp>
      <p:sp>
        <p:nvSpPr>
          <p:cNvPr id="199686" name="Line 5"/>
          <p:cNvSpPr/>
          <p:nvPr/>
        </p:nvSpPr>
        <p:spPr>
          <a:xfrm>
            <a:off x="38100" y="3357563"/>
            <a:ext cx="9070975" cy="0"/>
          </a:xfrm>
          <a:prstGeom prst="line">
            <a:avLst/>
          </a:prstGeom>
          <a:ln w="381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199687" name="Line 6"/>
          <p:cNvSpPr/>
          <p:nvPr/>
        </p:nvSpPr>
        <p:spPr>
          <a:xfrm>
            <a:off x="38100" y="5156200"/>
            <a:ext cx="9070975" cy="1588"/>
          </a:xfrm>
          <a:prstGeom prst="line">
            <a:avLst/>
          </a:prstGeom>
          <a:ln w="381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5"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200706"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200707"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131</a:t>
            </a:fld>
            <a:endParaRPr lang="zh-CN" altLang="en-US" sz="1200" b="1" i="1" dirty="0">
              <a:latin typeface="Times New Roman" panose="02020603050405020304" pitchFamily="2" charset="0"/>
              <a:ea typeface="宋体" panose="02010600030101010101" pitchFamily="2" charset="-122"/>
            </a:endParaRPr>
          </a:p>
        </p:txBody>
      </p:sp>
      <p:sp>
        <p:nvSpPr>
          <p:cNvPr id="200708" name="Rectangle 2"/>
          <p:cNvSpPr>
            <a:spLocks noGrp="1"/>
          </p:cNvSpPr>
          <p:nvPr>
            <p:ph type="title"/>
          </p:nvPr>
        </p:nvSpPr>
        <p:spPr/>
        <p:txBody>
          <a:bodyPr wrap="square" anchor="ctr"/>
          <a:lstStyle/>
          <a:p>
            <a:pPr lvl="0" eaLnBrk="1" hangingPunct="1"/>
            <a:r>
              <a:rPr lang="zh-CN" altLang="en-US" dirty="0">
                <a:latin typeface="Arial" panose="020B0604020202020204" pitchFamily="34" charset="0"/>
                <a:ea typeface="宋体" panose="02010600030101010101" pitchFamily="2" charset="-122"/>
              </a:rPr>
              <a:t>Figure 6.26   </a:t>
            </a:r>
            <a:r>
              <a:rPr lang="en-US" altLang="x-none" dirty="0">
                <a:solidFill>
                  <a:srgbClr val="FF0000"/>
                </a:solidFill>
                <a:latin typeface="Arial" panose="020B0604020202020204" pitchFamily="34" charset="0"/>
                <a:ea typeface="宋体" panose="02010600030101010101" pitchFamily="2" charset="-122"/>
              </a:rPr>
              <a:t>Is 3NF ?</a:t>
            </a:r>
          </a:p>
        </p:txBody>
      </p:sp>
      <p:sp>
        <p:nvSpPr>
          <p:cNvPr id="200709" name="Rectangle 6"/>
          <p:cNvSpPr>
            <a:spLocks noGrp="1"/>
          </p:cNvSpPr>
          <p:nvPr>
            <p:ph type="body"/>
          </p:nvPr>
        </p:nvSpPr>
        <p:spPr>
          <a:xfrm>
            <a:off x="-557212" y="706438"/>
            <a:ext cx="9734550" cy="6181725"/>
          </a:xfrm>
          <a:solidFill>
            <a:schemeClr val="bg1"/>
          </a:solidFill>
          <a:ln w="25400">
            <a:solidFill>
              <a:schemeClr val="tx1"/>
            </a:solidFill>
            <a:miter/>
          </a:ln>
        </p:spPr>
        <p:txBody>
          <a:bodyPr wrap="square" lIns="90170" tIns="46990" rIns="90170" bIns="46990" anchor="t"/>
          <a:lstStyle/>
          <a:p>
            <a:pPr lvl="1" indent="-285750" eaLnBrk="1" hangingPunct="1">
              <a:lnSpc>
                <a:spcPct val="110000"/>
              </a:lnSpc>
            </a:pPr>
            <a:r>
              <a:rPr lang="en-US" altLang="x-none" dirty="0">
                <a:solidFill>
                  <a:srgbClr val="FF0000"/>
                </a:solidFill>
                <a:ea typeface="宋体" panose="02010600030101010101" pitchFamily="2" charset="-122"/>
              </a:rPr>
              <a:t>emps</a:t>
            </a:r>
            <a:r>
              <a:rPr lang="en-US" altLang="x-none" dirty="0">
                <a:ea typeface="宋体" panose="02010600030101010101" pitchFamily="2" charset="-122"/>
              </a:rPr>
              <a:t>(emp_id, emp_name, emp_phone, dept_name)</a:t>
            </a:r>
          </a:p>
          <a:p>
            <a:pPr lvl="2" indent="-228600" eaLnBrk="1" hangingPunct="1">
              <a:lnSpc>
                <a:spcPct val="110000"/>
              </a:lnSpc>
              <a:buNone/>
            </a:pPr>
            <a:r>
              <a:rPr lang="en-US" altLang="x-none" dirty="0">
                <a:ea typeface="宋体" panose="02010600030101010101" pitchFamily="2" charset="-122"/>
              </a:rPr>
              <a:t>emp_id </a:t>
            </a:r>
            <a:r>
              <a:rPr lang="en-US" altLang="x-none" dirty="0">
                <a:solidFill>
                  <a:srgbClr val="FF0000"/>
                </a:solidFill>
                <a:ea typeface="宋体" panose="02010600030101010101" pitchFamily="2" charset="-122"/>
                <a:sym typeface="Symbol" panose="05050102010706020507" pitchFamily="2" charset="2"/>
              </a:rPr>
              <a:t> </a:t>
            </a:r>
            <a:r>
              <a:rPr lang="en-US" altLang="x-none" dirty="0">
                <a:ea typeface="宋体" panose="02010600030101010101" pitchFamily="2" charset="-122"/>
                <a:sym typeface="Symbol" panose="05050102010706020507" pitchFamily="2" charset="2"/>
              </a:rPr>
              <a:t>{emp_name, emp_phone, dept_name}</a:t>
            </a:r>
          </a:p>
          <a:p>
            <a:pPr lvl="2" indent="-228600" eaLnBrk="1" hangingPunct="1">
              <a:lnSpc>
                <a:spcPct val="110000"/>
              </a:lnSpc>
              <a:buNone/>
            </a:pPr>
            <a:endParaRPr lang="en-US" altLang="x-none" sz="1600" dirty="0">
              <a:ea typeface="宋体" panose="02010600030101010101" pitchFamily="2" charset="-122"/>
            </a:endParaRPr>
          </a:p>
          <a:p>
            <a:pPr lvl="1" indent="-285750" eaLnBrk="1" hangingPunct="1">
              <a:lnSpc>
                <a:spcPct val="110000"/>
              </a:lnSpc>
            </a:pPr>
            <a:r>
              <a:rPr lang="en-US" altLang="x-none" dirty="0">
                <a:solidFill>
                  <a:srgbClr val="FF0000"/>
                </a:solidFill>
                <a:ea typeface="宋体" panose="02010600030101010101" pitchFamily="2" charset="-122"/>
              </a:rPr>
              <a:t>depts</a:t>
            </a:r>
            <a:r>
              <a:rPr lang="en-US" altLang="x-none" dirty="0">
                <a:ea typeface="宋体" panose="02010600030101010101" pitchFamily="2" charset="-122"/>
              </a:rPr>
              <a:t>(dept_name, dept_phone, dept_mgrname)</a:t>
            </a:r>
          </a:p>
          <a:p>
            <a:pPr lvl="2" indent="-228600" eaLnBrk="1" hangingPunct="1">
              <a:lnSpc>
                <a:spcPct val="110000"/>
              </a:lnSpc>
              <a:buNone/>
            </a:pPr>
            <a:r>
              <a:rPr lang="en-US" altLang="x-none" dirty="0">
                <a:ea typeface="宋体" panose="02010600030101010101" pitchFamily="2" charset="-122"/>
                <a:sym typeface="Symbol" panose="05050102010706020507" pitchFamily="2" charset="2"/>
              </a:rPr>
              <a:t>dept_name </a:t>
            </a:r>
            <a:r>
              <a:rPr lang="en-US" altLang="x-none" dirty="0">
                <a:solidFill>
                  <a:srgbClr val="FF0000"/>
                </a:solidFill>
                <a:ea typeface="宋体" panose="02010600030101010101" pitchFamily="2" charset="-122"/>
                <a:sym typeface="Symbol" panose="05050102010706020507" pitchFamily="2" charset="2"/>
              </a:rPr>
              <a:t> </a:t>
            </a:r>
            <a:r>
              <a:rPr lang="en-US" altLang="x-none" dirty="0">
                <a:ea typeface="宋体" panose="02010600030101010101" pitchFamily="2" charset="-122"/>
                <a:sym typeface="Symbol" panose="05050102010706020507" pitchFamily="2" charset="2"/>
              </a:rPr>
              <a:t>{dept_phone, dept_mgrname}</a:t>
            </a:r>
          </a:p>
          <a:p>
            <a:pPr lvl="2" indent="-228600" eaLnBrk="1" hangingPunct="1">
              <a:lnSpc>
                <a:spcPct val="110000"/>
              </a:lnSpc>
              <a:buNone/>
            </a:pPr>
            <a:endParaRPr lang="en-US" altLang="x-none" sz="1600" dirty="0">
              <a:ea typeface="宋体" panose="02010600030101010101" pitchFamily="2" charset="-122"/>
            </a:endParaRPr>
          </a:p>
          <a:p>
            <a:pPr lvl="1" indent="-285750" eaLnBrk="1" hangingPunct="1">
              <a:lnSpc>
                <a:spcPct val="110000"/>
              </a:lnSpc>
            </a:pPr>
            <a:r>
              <a:rPr lang="en-US" altLang="x-none" dirty="0">
                <a:solidFill>
                  <a:srgbClr val="FF0000"/>
                </a:solidFill>
                <a:ea typeface="宋体" panose="02010600030101010101" pitchFamily="2" charset="-122"/>
              </a:rPr>
              <a:t>emp_skills</a:t>
            </a:r>
            <a:r>
              <a:rPr lang="en-US" altLang="x-none" dirty="0">
                <a:ea typeface="宋体" panose="02010600030101010101" pitchFamily="2" charset="-122"/>
              </a:rPr>
              <a:t>(emp_id, skill_id, skill_date, skill_lvl)</a:t>
            </a:r>
          </a:p>
          <a:p>
            <a:pPr lvl="2" indent="-228600" eaLnBrk="1" hangingPunct="1">
              <a:lnSpc>
                <a:spcPct val="110000"/>
              </a:lnSpc>
              <a:buNone/>
            </a:pPr>
            <a:r>
              <a:rPr lang="en-US" altLang="x-none" dirty="0">
                <a:ea typeface="宋体" panose="02010600030101010101" pitchFamily="2" charset="-122"/>
                <a:sym typeface="Symbol" panose="05050102010706020507" pitchFamily="2" charset="2"/>
              </a:rPr>
              <a:t>{emp_id, skill_id} </a:t>
            </a:r>
            <a:r>
              <a:rPr lang="en-US" altLang="x-none" dirty="0">
                <a:solidFill>
                  <a:srgbClr val="FF0000"/>
                </a:solidFill>
                <a:ea typeface="宋体" panose="02010600030101010101" pitchFamily="2" charset="-122"/>
                <a:sym typeface="Symbol" panose="05050102010706020507" pitchFamily="2" charset="2"/>
              </a:rPr>
              <a:t> </a:t>
            </a:r>
            <a:r>
              <a:rPr lang="en-US" altLang="x-none" dirty="0">
                <a:ea typeface="宋体" panose="02010600030101010101" pitchFamily="2" charset="-122"/>
                <a:sym typeface="Symbol" panose="05050102010706020507" pitchFamily="2" charset="2"/>
              </a:rPr>
              <a:t>{skill_date, skill_lvl}</a:t>
            </a:r>
          </a:p>
          <a:p>
            <a:pPr lvl="2" indent="-228600" eaLnBrk="1" hangingPunct="1">
              <a:lnSpc>
                <a:spcPct val="110000"/>
              </a:lnSpc>
              <a:buNone/>
            </a:pPr>
            <a:endParaRPr lang="en-US" altLang="x-none" sz="1600" dirty="0">
              <a:ea typeface="宋体" panose="02010600030101010101" pitchFamily="2" charset="-122"/>
            </a:endParaRPr>
          </a:p>
          <a:p>
            <a:pPr lvl="1" indent="-285750" eaLnBrk="1" hangingPunct="1">
              <a:lnSpc>
                <a:spcPct val="110000"/>
              </a:lnSpc>
            </a:pPr>
            <a:r>
              <a:rPr lang="en-US" altLang="x-none" dirty="0">
                <a:solidFill>
                  <a:srgbClr val="FF0000"/>
                </a:solidFill>
                <a:ea typeface="宋体" panose="02010600030101010101" pitchFamily="2" charset="-122"/>
              </a:rPr>
              <a:t>skills</a:t>
            </a:r>
            <a:r>
              <a:rPr lang="en-US" altLang="x-none" dirty="0">
                <a:ea typeface="宋体" panose="02010600030101010101" pitchFamily="2" charset="-122"/>
              </a:rPr>
              <a:t>(skill_id, skill_name)</a:t>
            </a:r>
          </a:p>
          <a:p>
            <a:pPr lvl="2" indent="-228600" eaLnBrk="1" hangingPunct="1">
              <a:lnSpc>
                <a:spcPct val="110000"/>
              </a:lnSpc>
              <a:buNone/>
            </a:pPr>
            <a:r>
              <a:rPr lang="en-US" altLang="x-none" dirty="0">
                <a:ea typeface="宋体" panose="02010600030101010101" pitchFamily="2" charset="-122"/>
                <a:sym typeface="Symbol" panose="05050102010706020507" pitchFamily="2" charset="2"/>
              </a:rPr>
              <a:t>skill_id </a:t>
            </a:r>
            <a:r>
              <a:rPr lang="en-US" altLang="x-none" dirty="0">
                <a:solidFill>
                  <a:srgbClr val="FF0000"/>
                </a:solidFill>
                <a:ea typeface="宋体" panose="02010600030101010101" pitchFamily="2" charset="-122"/>
                <a:sym typeface="Symbol" panose="05050102010706020507" pitchFamily="2" charset="2"/>
              </a:rPr>
              <a:t> </a:t>
            </a:r>
            <a:r>
              <a:rPr lang="en-US" altLang="x-none" dirty="0">
                <a:ea typeface="宋体" panose="02010600030101010101" pitchFamily="2" charset="-122"/>
                <a:sym typeface="Symbol" panose="05050102010706020507" pitchFamily="2" charset="2"/>
              </a:rPr>
              <a:t>skill_name</a:t>
            </a:r>
          </a:p>
        </p:txBody>
      </p:sp>
      <p:sp>
        <p:nvSpPr>
          <p:cNvPr id="200710" name="Line 8"/>
          <p:cNvSpPr/>
          <p:nvPr/>
        </p:nvSpPr>
        <p:spPr>
          <a:xfrm>
            <a:off x="-538162" y="2060575"/>
            <a:ext cx="9718675" cy="1588"/>
          </a:xfrm>
          <a:prstGeom prst="line">
            <a:avLst/>
          </a:prstGeom>
          <a:ln w="381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200711" name="Line 9"/>
          <p:cNvSpPr/>
          <p:nvPr/>
        </p:nvSpPr>
        <p:spPr>
          <a:xfrm>
            <a:off x="-538162" y="3429000"/>
            <a:ext cx="9718675" cy="1588"/>
          </a:xfrm>
          <a:prstGeom prst="line">
            <a:avLst/>
          </a:prstGeom>
          <a:ln w="381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200712" name="Line 10"/>
          <p:cNvSpPr/>
          <p:nvPr/>
        </p:nvSpPr>
        <p:spPr>
          <a:xfrm flipV="1">
            <a:off x="-538162" y="4940300"/>
            <a:ext cx="9718675" cy="1588"/>
          </a:xfrm>
          <a:prstGeom prst="line">
            <a:avLst/>
          </a:prstGeom>
          <a:ln w="381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29"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201730"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201731"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132</a:t>
            </a:fld>
            <a:endParaRPr lang="zh-CN" altLang="en-US" sz="1200" b="1" i="1" dirty="0">
              <a:latin typeface="Times New Roman" panose="02020603050405020304" pitchFamily="2" charset="0"/>
              <a:ea typeface="宋体" panose="02010600030101010101" pitchFamily="2" charset="-122"/>
            </a:endParaRPr>
          </a:p>
        </p:txBody>
      </p:sp>
      <p:sp>
        <p:nvSpPr>
          <p:cNvPr id="201732" name="Rectangle 2"/>
          <p:cNvSpPr>
            <a:spLocks noGrp="1"/>
          </p:cNvSpPr>
          <p:nvPr>
            <p:ph type="title"/>
          </p:nvPr>
        </p:nvSpPr>
        <p:spPr/>
        <p:txBody>
          <a:bodyPr wrap="square" anchor="ctr"/>
          <a:lstStyle/>
          <a:p>
            <a:pPr lvl="0" eaLnBrk="1" hangingPunct="1"/>
            <a:r>
              <a:rPr lang="zh-CN" altLang="en-US" dirty="0">
                <a:latin typeface="Arial" panose="020B0604020202020204" pitchFamily="34" charset="0"/>
                <a:ea typeface="宋体" panose="02010600030101010101" pitchFamily="2" charset="-122"/>
              </a:rPr>
              <a:t>Figure 6.26   </a:t>
            </a:r>
            <a:r>
              <a:rPr lang="en-US" altLang="x-none" dirty="0">
                <a:solidFill>
                  <a:srgbClr val="FF0000"/>
                </a:solidFill>
                <a:latin typeface="Arial" panose="020B0604020202020204" pitchFamily="34" charset="0"/>
                <a:ea typeface="宋体" panose="02010600030101010101" pitchFamily="2" charset="-122"/>
              </a:rPr>
              <a:t>Is </a:t>
            </a:r>
            <a:r>
              <a:rPr lang="zh-CN" altLang="en-US" dirty="0">
                <a:solidFill>
                  <a:srgbClr val="FF0000"/>
                </a:solidFill>
                <a:latin typeface="Arial" panose="020B0604020202020204" pitchFamily="34" charset="0"/>
                <a:ea typeface="宋体" panose="02010600030101010101" pitchFamily="2" charset="-122"/>
              </a:rPr>
              <a:t>BC</a:t>
            </a:r>
            <a:r>
              <a:rPr lang="en-US" altLang="x-none" dirty="0">
                <a:solidFill>
                  <a:srgbClr val="FF0000"/>
                </a:solidFill>
                <a:latin typeface="Arial" panose="020B0604020202020204" pitchFamily="34" charset="0"/>
                <a:ea typeface="宋体" panose="02010600030101010101" pitchFamily="2" charset="-122"/>
              </a:rPr>
              <a:t>NF ?</a:t>
            </a:r>
          </a:p>
        </p:txBody>
      </p:sp>
      <p:sp>
        <p:nvSpPr>
          <p:cNvPr id="201733" name="Rectangle 6"/>
          <p:cNvSpPr>
            <a:spLocks noGrp="1"/>
          </p:cNvSpPr>
          <p:nvPr>
            <p:ph type="body"/>
          </p:nvPr>
        </p:nvSpPr>
        <p:spPr>
          <a:xfrm>
            <a:off x="-557212" y="706438"/>
            <a:ext cx="9734550" cy="6181725"/>
          </a:xfrm>
          <a:solidFill>
            <a:schemeClr val="bg1"/>
          </a:solidFill>
          <a:ln w="25400">
            <a:solidFill>
              <a:schemeClr val="tx1"/>
            </a:solidFill>
            <a:miter/>
          </a:ln>
        </p:spPr>
        <p:txBody>
          <a:bodyPr wrap="square" lIns="90170" tIns="46990" rIns="90170" bIns="46990" anchor="t"/>
          <a:lstStyle/>
          <a:p>
            <a:pPr lvl="1" indent="-285750" eaLnBrk="1" hangingPunct="1">
              <a:lnSpc>
                <a:spcPct val="110000"/>
              </a:lnSpc>
            </a:pPr>
            <a:r>
              <a:rPr lang="en-US" altLang="x-none" dirty="0">
                <a:solidFill>
                  <a:srgbClr val="FF0000"/>
                </a:solidFill>
                <a:ea typeface="宋体" panose="02010600030101010101" pitchFamily="2" charset="-122"/>
              </a:rPr>
              <a:t>emps</a:t>
            </a:r>
            <a:r>
              <a:rPr lang="en-US" altLang="x-none" dirty="0">
                <a:ea typeface="宋体" panose="02010600030101010101" pitchFamily="2" charset="-122"/>
              </a:rPr>
              <a:t>(emp_id, emp_name, emp_phone, dept_name)</a:t>
            </a:r>
          </a:p>
          <a:p>
            <a:pPr lvl="2" indent="-228600" eaLnBrk="1" hangingPunct="1">
              <a:lnSpc>
                <a:spcPct val="110000"/>
              </a:lnSpc>
              <a:buNone/>
            </a:pPr>
            <a:r>
              <a:rPr lang="en-US" altLang="x-none" dirty="0">
                <a:ea typeface="宋体" panose="02010600030101010101" pitchFamily="2" charset="-122"/>
              </a:rPr>
              <a:t>emp_id </a:t>
            </a:r>
            <a:r>
              <a:rPr lang="en-US" altLang="x-none" dirty="0">
                <a:solidFill>
                  <a:srgbClr val="FF0000"/>
                </a:solidFill>
                <a:ea typeface="宋体" panose="02010600030101010101" pitchFamily="2" charset="-122"/>
                <a:sym typeface="Symbol" panose="05050102010706020507" pitchFamily="2" charset="2"/>
              </a:rPr>
              <a:t> </a:t>
            </a:r>
            <a:r>
              <a:rPr lang="en-US" altLang="x-none" dirty="0">
                <a:ea typeface="宋体" panose="02010600030101010101" pitchFamily="2" charset="-122"/>
                <a:sym typeface="Symbol" panose="05050102010706020507" pitchFamily="2" charset="2"/>
              </a:rPr>
              <a:t>{emp_name, emp_phone, dept_name}</a:t>
            </a:r>
          </a:p>
          <a:p>
            <a:pPr lvl="2" indent="-228600" eaLnBrk="1" hangingPunct="1">
              <a:lnSpc>
                <a:spcPct val="110000"/>
              </a:lnSpc>
              <a:buNone/>
            </a:pPr>
            <a:endParaRPr lang="en-US" altLang="x-none" sz="1600" dirty="0">
              <a:ea typeface="宋体" panose="02010600030101010101" pitchFamily="2" charset="-122"/>
            </a:endParaRPr>
          </a:p>
          <a:p>
            <a:pPr lvl="1" indent="-285750" eaLnBrk="1" hangingPunct="1">
              <a:lnSpc>
                <a:spcPct val="110000"/>
              </a:lnSpc>
            </a:pPr>
            <a:r>
              <a:rPr lang="en-US" altLang="x-none" dirty="0">
                <a:solidFill>
                  <a:srgbClr val="FF0000"/>
                </a:solidFill>
                <a:ea typeface="宋体" panose="02010600030101010101" pitchFamily="2" charset="-122"/>
              </a:rPr>
              <a:t>depts</a:t>
            </a:r>
            <a:r>
              <a:rPr lang="en-US" altLang="x-none" dirty="0">
                <a:ea typeface="宋体" panose="02010600030101010101" pitchFamily="2" charset="-122"/>
              </a:rPr>
              <a:t>(dept_name, dept_phone, dept_mgrname)</a:t>
            </a:r>
          </a:p>
          <a:p>
            <a:pPr lvl="2" indent="-228600" eaLnBrk="1" hangingPunct="1">
              <a:lnSpc>
                <a:spcPct val="110000"/>
              </a:lnSpc>
              <a:buNone/>
            </a:pPr>
            <a:r>
              <a:rPr lang="en-US" altLang="x-none" dirty="0">
                <a:ea typeface="宋体" panose="02010600030101010101" pitchFamily="2" charset="-122"/>
                <a:sym typeface="Symbol" panose="05050102010706020507" pitchFamily="2" charset="2"/>
              </a:rPr>
              <a:t>dept_name </a:t>
            </a:r>
            <a:r>
              <a:rPr lang="en-US" altLang="x-none" dirty="0">
                <a:solidFill>
                  <a:srgbClr val="FF0000"/>
                </a:solidFill>
                <a:ea typeface="宋体" panose="02010600030101010101" pitchFamily="2" charset="-122"/>
                <a:sym typeface="Symbol" panose="05050102010706020507" pitchFamily="2" charset="2"/>
              </a:rPr>
              <a:t> </a:t>
            </a:r>
            <a:r>
              <a:rPr lang="en-US" altLang="x-none" dirty="0">
                <a:ea typeface="宋体" panose="02010600030101010101" pitchFamily="2" charset="-122"/>
                <a:sym typeface="Symbol" panose="05050102010706020507" pitchFamily="2" charset="2"/>
              </a:rPr>
              <a:t>{dept_phone, dept_mgrname}</a:t>
            </a:r>
          </a:p>
          <a:p>
            <a:pPr lvl="2" indent="-228600" eaLnBrk="1" hangingPunct="1">
              <a:lnSpc>
                <a:spcPct val="110000"/>
              </a:lnSpc>
              <a:buNone/>
            </a:pPr>
            <a:endParaRPr lang="en-US" altLang="x-none" sz="1600" dirty="0">
              <a:ea typeface="宋体" panose="02010600030101010101" pitchFamily="2" charset="-122"/>
            </a:endParaRPr>
          </a:p>
          <a:p>
            <a:pPr lvl="1" indent="-285750" eaLnBrk="1" hangingPunct="1">
              <a:lnSpc>
                <a:spcPct val="110000"/>
              </a:lnSpc>
            </a:pPr>
            <a:r>
              <a:rPr lang="en-US" altLang="x-none" dirty="0">
                <a:solidFill>
                  <a:srgbClr val="FF0000"/>
                </a:solidFill>
                <a:ea typeface="宋体" panose="02010600030101010101" pitchFamily="2" charset="-122"/>
              </a:rPr>
              <a:t>emp_skills</a:t>
            </a:r>
            <a:r>
              <a:rPr lang="en-US" altLang="x-none" dirty="0">
                <a:ea typeface="宋体" panose="02010600030101010101" pitchFamily="2" charset="-122"/>
              </a:rPr>
              <a:t>(emp_id, skill_id, skill_date, skill_lvl)</a:t>
            </a:r>
          </a:p>
          <a:p>
            <a:pPr lvl="2" indent="-228600" eaLnBrk="1" hangingPunct="1">
              <a:lnSpc>
                <a:spcPct val="110000"/>
              </a:lnSpc>
              <a:buNone/>
            </a:pPr>
            <a:r>
              <a:rPr lang="en-US" altLang="x-none" dirty="0">
                <a:ea typeface="宋体" panose="02010600030101010101" pitchFamily="2" charset="-122"/>
                <a:sym typeface="Symbol" panose="05050102010706020507" pitchFamily="2" charset="2"/>
              </a:rPr>
              <a:t>{emp_id, skill_id} </a:t>
            </a:r>
            <a:r>
              <a:rPr lang="en-US" altLang="x-none" dirty="0">
                <a:solidFill>
                  <a:srgbClr val="FF0000"/>
                </a:solidFill>
                <a:ea typeface="宋体" panose="02010600030101010101" pitchFamily="2" charset="-122"/>
                <a:sym typeface="Symbol" panose="05050102010706020507" pitchFamily="2" charset="2"/>
              </a:rPr>
              <a:t> </a:t>
            </a:r>
            <a:r>
              <a:rPr lang="en-US" altLang="x-none" dirty="0">
                <a:ea typeface="宋体" panose="02010600030101010101" pitchFamily="2" charset="-122"/>
                <a:sym typeface="Symbol" panose="05050102010706020507" pitchFamily="2" charset="2"/>
              </a:rPr>
              <a:t>{skill_date, skill_lvl}</a:t>
            </a:r>
          </a:p>
          <a:p>
            <a:pPr lvl="2" indent="-228600" eaLnBrk="1" hangingPunct="1">
              <a:lnSpc>
                <a:spcPct val="110000"/>
              </a:lnSpc>
              <a:buNone/>
            </a:pPr>
            <a:endParaRPr lang="en-US" altLang="x-none" sz="1600" dirty="0">
              <a:ea typeface="宋体" panose="02010600030101010101" pitchFamily="2" charset="-122"/>
            </a:endParaRPr>
          </a:p>
          <a:p>
            <a:pPr lvl="1" indent="-285750" eaLnBrk="1" hangingPunct="1">
              <a:lnSpc>
                <a:spcPct val="110000"/>
              </a:lnSpc>
            </a:pPr>
            <a:r>
              <a:rPr lang="en-US" altLang="x-none" dirty="0">
                <a:solidFill>
                  <a:srgbClr val="FF0000"/>
                </a:solidFill>
                <a:ea typeface="宋体" panose="02010600030101010101" pitchFamily="2" charset="-122"/>
              </a:rPr>
              <a:t>skills</a:t>
            </a:r>
            <a:r>
              <a:rPr lang="en-US" altLang="x-none" dirty="0">
                <a:ea typeface="宋体" panose="02010600030101010101" pitchFamily="2" charset="-122"/>
              </a:rPr>
              <a:t>(skill_id, skill_name)</a:t>
            </a:r>
          </a:p>
          <a:p>
            <a:pPr lvl="2" indent="-228600" eaLnBrk="1" hangingPunct="1">
              <a:lnSpc>
                <a:spcPct val="110000"/>
              </a:lnSpc>
              <a:buNone/>
            </a:pPr>
            <a:r>
              <a:rPr lang="en-US" altLang="x-none" dirty="0">
                <a:ea typeface="宋体" panose="02010600030101010101" pitchFamily="2" charset="-122"/>
                <a:sym typeface="Symbol" panose="05050102010706020507" pitchFamily="2" charset="2"/>
              </a:rPr>
              <a:t>skill_id </a:t>
            </a:r>
            <a:r>
              <a:rPr lang="en-US" altLang="x-none" dirty="0">
                <a:solidFill>
                  <a:srgbClr val="FF0000"/>
                </a:solidFill>
                <a:ea typeface="宋体" panose="02010600030101010101" pitchFamily="2" charset="-122"/>
                <a:sym typeface="Symbol" panose="05050102010706020507" pitchFamily="2" charset="2"/>
              </a:rPr>
              <a:t> </a:t>
            </a:r>
            <a:r>
              <a:rPr lang="en-US" altLang="x-none" dirty="0">
                <a:ea typeface="宋体" panose="02010600030101010101" pitchFamily="2" charset="-122"/>
                <a:sym typeface="Symbol" panose="05050102010706020507" pitchFamily="2" charset="2"/>
              </a:rPr>
              <a:t>skill_name</a:t>
            </a:r>
          </a:p>
        </p:txBody>
      </p:sp>
      <p:sp>
        <p:nvSpPr>
          <p:cNvPr id="201734" name="Line 8"/>
          <p:cNvSpPr/>
          <p:nvPr/>
        </p:nvSpPr>
        <p:spPr>
          <a:xfrm>
            <a:off x="-538162" y="2060575"/>
            <a:ext cx="9718675" cy="1588"/>
          </a:xfrm>
          <a:prstGeom prst="line">
            <a:avLst/>
          </a:prstGeom>
          <a:ln w="381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201735" name="Line 9"/>
          <p:cNvSpPr/>
          <p:nvPr/>
        </p:nvSpPr>
        <p:spPr>
          <a:xfrm>
            <a:off x="-538162" y="3429000"/>
            <a:ext cx="9718675" cy="1588"/>
          </a:xfrm>
          <a:prstGeom prst="line">
            <a:avLst/>
          </a:prstGeom>
          <a:ln w="381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
        <p:nvSpPr>
          <p:cNvPr id="201736" name="Line 10"/>
          <p:cNvSpPr/>
          <p:nvPr/>
        </p:nvSpPr>
        <p:spPr>
          <a:xfrm flipV="1">
            <a:off x="-538162" y="4940300"/>
            <a:ext cx="9718675" cy="1588"/>
          </a:xfrm>
          <a:prstGeom prst="line">
            <a:avLst/>
          </a:prstGeom>
          <a:ln w="38100" cap="flat" cmpd="sng">
            <a:solidFill>
              <a:schemeClr val="tx1"/>
            </a:solidFill>
            <a:prstDash val="solid"/>
            <a:round/>
            <a:headEnd type="none" w="med" len="med"/>
            <a:tailEnd type="none" w="med" len="med"/>
          </a:ln>
        </p:spPr>
        <p:txBody>
          <a:bodyPr anchor="t"/>
          <a:lstStyle/>
          <a:p>
            <a:pPr lvl="0" algn="ctr"/>
            <a:endParaRPr lang="zh-CN" altLang="en-US">
              <a:latin typeface="Times New Roman" panose="02020603050405020304" pitchFamily="2" charset="0"/>
              <a:ea typeface="Times New Roman" panose="02020603050405020304" pitchFamily="2" charset="0"/>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3"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202754"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202755"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133</a:t>
            </a:fld>
            <a:endParaRPr lang="zh-CN" altLang="en-US" sz="1200" b="1" i="1" dirty="0">
              <a:latin typeface="Times New Roman" panose="02020603050405020304" pitchFamily="2" charset="0"/>
              <a:ea typeface="宋体" panose="02010600030101010101" pitchFamily="2" charset="-122"/>
            </a:endParaRPr>
          </a:p>
        </p:txBody>
      </p:sp>
      <p:sp>
        <p:nvSpPr>
          <p:cNvPr id="202756"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6.8  </a:t>
            </a:r>
            <a:r>
              <a:rPr lang="en-US" altLang="x-none" dirty="0">
                <a:ea typeface="宋体" panose="02010600030101010101" pitchFamily="2" charset="-122"/>
              </a:rPr>
              <a:t>Normal Forms</a:t>
            </a:r>
          </a:p>
        </p:txBody>
      </p:sp>
      <p:sp>
        <p:nvSpPr>
          <p:cNvPr id="202757" name="Rectangle 3"/>
          <p:cNvSpPr>
            <a:spLocks noGrp="1"/>
          </p:cNvSpPr>
          <p:nvPr>
            <p:ph type="body"/>
          </p:nvPr>
        </p:nvSpPr>
        <p:spPr>
          <a:xfrm>
            <a:off x="171450" y="766763"/>
            <a:ext cx="8686800" cy="5638800"/>
          </a:xfrm>
        </p:spPr>
        <p:txBody>
          <a:bodyPr wrap="square" anchor="t"/>
          <a:lstStyle/>
          <a:p>
            <a:pPr lvl="0" eaLnBrk="1" hangingPunct="1">
              <a:lnSpc>
                <a:spcPct val="110000"/>
              </a:lnSpc>
              <a:spcBef>
                <a:spcPct val="40000"/>
              </a:spcBef>
            </a:pPr>
            <a:r>
              <a:rPr lang="en-US" altLang="x-none" sz="3200" dirty="0">
                <a:ea typeface="宋体" panose="02010600030101010101" pitchFamily="2" charset="-122"/>
              </a:rPr>
              <a:t>Algorithm 6.8.8: </a:t>
            </a:r>
            <a:r>
              <a:rPr lang="en-US" altLang="x-none" sz="3200" dirty="0">
                <a:solidFill>
                  <a:schemeClr val="tx1"/>
                </a:solidFill>
                <a:ea typeface="宋体" panose="02010600030101010101" pitchFamily="2" charset="-122"/>
              </a:rPr>
              <a:t>An Algorithm to Achieve Well-Behaved 3NF Decomposition</a:t>
            </a:r>
          </a:p>
          <a:p>
            <a:pPr lvl="1" indent="-285750" eaLnBrk="1" hangingPunct="1">
              <a:lnSpc>
                <a:spcPct val="110000"/>
              </a:lnSpc>
              <a:spcBef>
                <a:spcPct val="40000"/>
              </a:spcBef>
            </a:pPr>
            <a:r>
              <a:rPr lang="en-US" altLang="x-none" sz="3200" dirty="0">
                <a:ea typeface="宋体" panose="02010600030101010101" pitchFamily="2" charset="-122"/>
              </a:rPr>
              <a:t>This algorithm, given a universal table T and set F of FDs, generates a lossless join decomposition of T that is in 3NF and preserves all FDs of F.</a:t>
            </a:r>
          </a:p>
          <a:p>
            <a:pPr lvl="1" indent="-285750" eaLnBrk="1" hangingPunct="1">
              <a:lnSpc>
                <a:spcPct val="110000"/>
              </a:lnSpc>
              <a:spcBef>
                <a:spcPct val="40000"/>
              </a:spcBef>
            </a:pPr>
            <a:r>
              <a:rPr lang="en-US" altLang="x-none" sz="3200" dirty="0">
                <a:ea typeface="宋体" panose="02010600030101010101" pitchFamily="2" charset="-122"/>
              </a:rPr>
              <a:t>The output is a set S of headings (sets of attributes) for tables in the final database schema.</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7"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203778"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203779"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134</a:t>
            </a:fld>
            <a:endParaRPr lang="zh-CN" altLang="en-US" sz="1200" b="1" i="1" dirty="0">
              <a:latin typeface="Times New Roman" panose="02020603050405020304" pitchFamily="2" charset="0"/>
              <a:ea typeface="宋体" panose="02010600030101010101" pitchFamily="2" charset="-122"/>
            </a:endParaRPr>
          </a:p>
        </p:txBody>
      </p:sp>
      <p:sp>
        <p:nvSpPr>
          <p:cNvPr id="203780" name="Rectangle 2"/>
          <p:cNvSpPr>
            <a:spLocks noGrp="1"/>
          </p:cNvSpPr>
          <p:nvPr>
            <p:ph type="title"/>
          </p:nvPr>
        </p:nvSpPr>
        <p:spPr/>
        <p:txBody>
          <a:bodyPr wrap="square" anchor="ctr"/>
          <a:lstStyle/>
          <a:p>
            <a:pPr lvl="0" eaLnBrk="1" hangingPunct="1"/>
            <a:r>
              <a:rPr lang="zh-CN" altLang="en-US" dirty="0">
                <a:ea typeface="宋体" panose="02010600030101010101" pitchFamily="2" charset="-122"/>
              </a:rPr>
              <a:t>6.8  </a:t>
            </a:r>
            <a:r>
              <a:rPr lang="en-US" altLang="x-none" dirty="0">
                <a:ea typeface="宋体" panose="02010600030101010101" pitchFamily="2" charset="-122"/>
              </a:rPr>
              <a:t>Normal Forms</a:t>
            </a:r>
          </a:p>
        </p:txBody>
      </p:sp>
      <p:sp>
        <p:nvSpPr>
          <p:cNvPr id="203781" name="Rectangle 3"/>
          <p:cNvSpPr>
            <a:spLocks noGrp="1"/>
          </p:cNvSpPr>
          <p:nvPr>
            <p:ph type="body"/>
          </p:nvPr>
        </p:nvSpPr>
        <p:spPr>
          <a:xfrm>
            <a:off x="457200" y="766763"/>
            <a:ext cx="8229600" cy="5638800"/>
          </a:xfrm>
        </p:spPr>
        <p:txBody>
          <a:bodyPr wrap="square" anchor="t"/>
          <a:lstStyle/>
          <a:p>
            <a:pPr marL="533400" lvl="0" indent="-533400" eaLnBrk="1" hangingPunct="1">
              <a:lnSpc>
                <a:spcPct val="90000"/>
              </a:lnSpc>
            </a:pPr>
            <a:r>
              <a:rPr lang="en-US" altLang="x-none" sz="3000" dirty="0">
                <a:ea typeface="宋体" panose="02010600030101010101" pitchFamily="2" charset="-122"/>
              </a:rPr>
              <a:t>Algorithm 6.8.8</a:t>
            </a:r>
          </a:p>
          <a:p>
            <a:pPr marL="990600" lvl="1" indent="-533400" eaLnBrk="1" hangingPunct="1">
              <a:lnSpc>
                <a:spcPct val="90000"/>
              </a:lnSpc>
              <a:buAutoNum type="arabicPeriod"/>
            </a:pPr>
            <a:r>
              <a:rPr lang="en-US" altLang="x-none" sz="3000" dirty="0">
                <a:ea typeface="宋体" panose="02010600030101010101" pitchFamily="2" charset="-122"/>
              </a:rPr>
              <a:t>replace F with minimal cover of F;</a:t>
            </a:r>
          </a:p>
          <a:p>
            <a:pPr marL="990600" lvl="1" indent="-533400" eaLnBrk="1" hangingPunct="1">
              <a:lnSpc>
                <a:spcPct val="90000"/>
              </a:lnSpc>
              <a:buAutoNum type="arabicPeriod"/>
            </a:pPr>
            <a:r>
              <a:rPr lang="en-US" altLang="x-none" sz="3000" dirty="0">
                <a:ea typeface="宋体" panose="02010600030101010101" pitchFamily="2" charset="-122"/>
              </a:rPr>
              <a:t>S = </a:t>
            </a:r>
            <a:r>
              <a:rPr lang="en-US" altLang="x-none" sz="3000" dirty="0">
                <a:ea typeface="宋体" panose="02010600030101010101" pitchFamily="2" charset="-122"/>
                <a:sym typeface="Symbol" panose="05050102010706020507" pitchFamily="2" charset="2"/>
              </a:rPr>
              <a:t>;</a:t>
            </a:r>
          </a:p>
          <a:p>
            <a:pPr marL="990600" lvl="1" indent="-533400" eaLnBrk="1" hangingPunct="1">
              <a:lnSpc>
                <a:spcPct val="90000"/>
              </a:lnSpc>
              <a:buAutoNum type="arabicPeriod" startAt="3"/>
            </a:pPr>
            <a:r>
              <a:rPr lang="en-US" altLang="x-none" sz="3000" dirty="0">
                <a:ea typeface="宋体" panose="02010600030101010101" pitchFamily="2" charset="-122"/>
                <a:sym typeface="Symbol" panose="05050102010706020507" pitchFamily="2" charset="2"/>
              </a:rPr>
              <a:t>for all  XY</a:t>
            </a:r>
            <a:r>
              <a:rPr lang="en-US" altLang="x-none" sz="3000" baseline="-25000" dirty="0">
                <a:ea typeface="宋体" panose="02010600030101010101" pitchFamily="2" charset="-122"/>
                <a:sym typeface="Symbol" panose="05050102010706020507" pitchFamily="2" charset="2"/>
              </a:rPr>
              <a:t>  </a:t>
            </a:r>
            <a:r>
              <a:rPr lang="en-US" altLang="x-none" sz="3000" dirty="0">
                <a:ea typeface="宋体" panose="02010600030101010101" pitchFamily="2" charset="-122"/>
                <a:sym typeface="Symbol" panose="05050102010706020507" pitchFamily="2" charset="2"/>
              </a:rPr>
              <a:t>in F</a:t>
            </a:r>
          </a:p>
          <a:p>
            <a:pPr marL="1905000" lvl="3" indent="-533400" eaLnBrk="1" hangingPunct="1">
              <a:lnSpc>
                <a:spcPct val="90000"/>
              </a:lnSpc>
              <a:buNone/>
            </a:pPr>
            <a:r>
              <a:rPr lang="en-US" altLang="x-none" sz="3000" dirty="0">
                <a:solidFill>
                  <a:schemeClr val="tx2"/>
                </a:solidFill>
                <a:ea typeface="宋体" panose="02010600030101010101" pitchFamily="2" charset="-122"/>
                <a:sym typeface="Symbol" panose="05050102010706020507" pitchFamily="2" charset="2"/>
              </a:rPr>
              <a:t>if, for all  ZS, X  Y </a:t>
            </a:r>
            <a:r>
              <a:rPr lang="zh-CN" altLang="en-US" sz="3000" dirty="0">
                <a:solidFill>
                  <a:schemeClr val="tx2"/>
                </a:solidFill>
                <a:ea typeface="宋体" panose="02010600030101010101" pitchFamily="2" charset="-122"/>
                <a:sym typeface="Symbol" panose="05050102010706020507" pitchFamily="2" charset="2"/>
              </a:rPr>
              <a:t> </a:t>
            </a:r>
            <a:r>
              <a:rPr lang="en-US" altLang="x-none" sz="3000" dirty="0">
                <a:solidFill>
                  <a:schemeClr val="tx2"/>
                </a:solidFill>
                <a:ea typeface="宋体" panose="02010600030101010101" pitchFamily="2" charset="-122"/>
                <a:sym typeface="Symbol" panose="05050102010706020507" pitchFamily="2" charset="2"/>
              </a:rPr>
              <a:t>⊈ Z</a:t>
            </a:r>
          </a:p>
          <a:p>
            <a:pPr marL="1905000" lvl="3" indent="-533400" eaLnBrk="1" hangingPunct="1">
              <a:lnSpc>
                <a:spcPct val="90000"/>
              </a:lnSpc>
              <a:buNone/>
            </a:pPr>
            <a:r>
              <a:rPr lang="en-US" altLang="x-none" sz="3000" dirty="0">
                <a:solidFill>
                  <a:schemeClr val="tx2"/>
                </a:solidFill>
                <a:ea typeface="宋体" panose="02010600030101010101" pitchFamily="2" charset="-122"/>
                <a:sym typeface="Symbol" panose="05050102010706020507" pitchFamily="2" charset="2"/>
              </a:rPr>
              <a:t>then S = S  Heading(X  Y )</a:t>
            </a:r>
          </a:p>
          <a:p>
            <a:pPr marL="1447800" lvl="2" indent="-533400" eaLnBrk="1" hangingPunct="1">
              <a:lnSpc>
                <a:spcPct val="90000"/>
              </a:lnSpc>
              <a:buNone/>
            </a:pPr>
            <a:r>
              <a:rPr lang="en-US" altLang="x-none" sz="3000" dirty="0">
                <a:solidFill>
                  <a:schemeClr val="accent2"/>
                </a:solidFill>
                <a:ea typeface="宋体" panose="02010600030101010101" pitchFamily="2" charset="-122"/>
                <a:sym typeface="Symbol" panose="05050102010706020507" pitchFamily="2" charset="2"/>
              </a:rPr>
              <a:t>end for</a:t>
            </a:r>
            <a:endParaRPr lang="en-US" altLang="x-none" sz="3000" dirty="0">
              <a:ea typeface="宋体" panose="02010600030101010101" pitchFamily="2" charset="-122"/>
              <a:sym typeface="Symbol" panose="05050102010706020507" pitchFamily="2" charset="2"/>
            </a:endParaRPr>
          </a:p>
          <a:p>
            <a:pPr marL="990600" lvl="1" indent="-533400" eaLnBrk="1" hangingPunct="1">
              <a:lnSpc>
                <a:spcPct val="90000"/>
              </a:lnSpc>
              <a:buAutoNum type="arabicPeriod" startAt="4"/>
            </a:pPr>
            <a:r>
              <a:rPr lang="en-US" altLang="x-none" sz="3000" dirty="0">
                <a:ea typeface="宋体" panose="02010600030101010101" pitchFamily="2" charset="-122"/>
                <a:sym typeface="Symbol" panose="05050102010706020507" pitchFamily="2" charset="2"/>
              </a:rPr>
              <a:t>If, for all candidate keys K for T:</a:t>
            </a:r>
          </a:p>
          <a:p>
            <a:pPr marL="1905000" lvl="3" indent="-533400" eaLnBrk="1" hangingPunct="1">
              <a:lnSpc>
                <a:spcPct val="90000"/>
              </a:lnSpc>
              <a:buNone/>
            </a:pPr>
            <a:r>
              <a:rPr lang="en-US" altLang="x-none" sz="3000" dirty="0">
                <a:solidFill>
                  <a:schemeClr val="tx2"/>
                </a:solidFill>
                <a:ea typeface="宋体" panose="02010600030101010101" pitchFamily="2" charset="-122"/>
                <a:sym typeface="Symbol" panose="05050102010706020507" pitchFamily="2" charset="2"/>
              </a:rPr>
              <a:t>for all ZS, K ⊈ Z</a:t>
            </a:r>
          </a:p>
          <a:p>
            <a:pPr marL="990600" lvl="1" indent="-533400" eaLnBrk="1" hangingPunct="1">
              <a:lnSpc>
                <a:spcPct val="90000"/>
              </a:lnSpc>
              <a:buNone/>
            </a:pPr>
            <a:r>
              <a:rPr lang="en-US" altLang="x-none" sz="3000" dirty="0">
                <a:ea typeface="宋体" panose="02010600030101010101" pitchFamily="2" charset="-122"/>
                <a:sym typeface="Symbol" panose="05050102010706020507" pitchFamily="2" charset="2"/>
              </a:rPr>
              <a:t>	then choose a candidate key K and set S = S  Heading(K)</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1"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204802"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204803"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135</a:t>
            </a:fld>
            <a:endParaRPr lang="zh-CN" altLang="en-US" sz="1200" b="1" i="1" dirty="0">
              <a:latin typeface="Times New Roman" panose="02020603050405020304" pitchFamily="2" charset="0"/>
              <a:ea typeface="宋体" panose="02010600030101010101" pitchFamily="2" charset="-122"/>
            </a:endParaRPr>
          </a:p>
        </p:txBody>
      </p:sp>
      <p:sp>
        <p:nvSpPr>
          <p:cNvPr id="204804" name="Rectangle 2"/>
          <p:cNvSpPr>
            <a:spLocks noGrp="1"/>
          </p:cNvSpPr>
          <p:nvPr>
            <p:ph type="title"/>
          </p:nvPr>
        </p:nvSpPr>
        <p:spPr/>
        <p:txBody>
          <a:bodyPr wrap="square" anchor="ctr"/>
          <a:lstStyle/>
          <a:p>
            <a:pPr lvl="0" eaLnBrk="1" hangingPunct="1"/>
            <a:r>
              <a:rPr lang="en-US" altLang="x-none" dirty="0">
                <a:ea typeface="宋体" panose="02010600030101010101" pitchFamily="2" charset="-122"/>
              </a:rPr>
              <a:t>Example of Normal Forms</a:t>
            </a:r>
            <a:endParaRPr lang="zh-CN" altLang="en-US" dirty="0">
              <a:ea typeface="宋体" panose="02010600030101010101" pitchFamily="2" charset="-122"/>
            </a:endParaRPr>
          </a:p>
        </p:txBody>
      </p:sp>
      <p:sp>
        <p:nvSpPr>
          <p:cNvPr id="204805" name="Rectangle 3"/>
          <p:cNvSpPr>
            <a:spLocks noGrp="1"/>
          </p:cNvSpPr>
          <p:nvPr>
            <p:ph type="body"/>
          </p:nvPr>
        </p:nvSpPr>
        <p:spPr>
          <a:xfrm>
            <a:off x="179388" y="838200"/>
            <a:ext cx="8686800" cy="5638800"/>
          </a:xfrm>
        </p:spPr>
        <p:txBody>
          <a:bodyPr wrap="square" anchor="t"/>
          <a:lstStyle/>
          <a:p>
            <a:pPr lvl="0" eaLnBrk="1" hangingPunct="1"/>
            <a:r>
              <a:rPr lang="en-US" altLang="x-none" dirty="0">
                <a:ea typeface="宋体" panose="02010600030101010101" pitchFamily="2" charset="-122"/>
              </a:rPr>
              <a:t>Relations</a:t>
            </a:r>
            <a:r>
              <a:rPr lang="zh-CN" altLang="en-US" dirty="0">
                <a:ea typeface="宋体" panose="02010600030101010101" pitchFamily="2" charset="-122"/>
              </a:rPr>
              <a:t> &amp; </a:t>
            </a:r>
            <a:r>
              <a:rPr lang="en-US" altLang="x-none" dirty="0">
                <a:ea typeface="宋体" panose="02010600030101010101" pitchFamily="2" charset="-122"/>
              </a:rPr>
              <a:t>Functionally Dependents</a:t>
            </a:r>
          </a:p>
          <a:p>
            <a:pPr lvl="1" indent="-285750" eaLnBrk="1" hangingPunct="1">
              <a:buNone/>
            </a:pPr>
            <a:r>
              <a:rPr lang="en-US" altLang="x-none" dirty="0">
                <a:ea typeface="宋体" panose="02010600030101010101" pitchFamily="2" charset="-122"/>
              </a:rPr>
              <a:t>emp_info(emp_id, emp_name, emp_phone, dept_name, dept_phone, dept_mgrname, skill_id, skill_name, skill_date, skill_lvl)</a:t>
            </a:r>
          </a:p>
          <a:p>
            <a:pPr lvl="0" eaLnBrk="1" hangingPunct="1">
              <a:buNone/>
            </a:pPr>
            <a:r>
              <a:rPr lang="zh-CN" altLang="en-US" dirty="0">
                <a:solidFill>
                  <a:schemeClr val="accent2"/>
                </a:solidFill>
                <a:ea typeface="宋体" panose="02010600030101010101" pitchFamily="2" charset="-122"/>
              </a:rPr>
              <a:t>{</a:t>
            </a:r>
          </a:p>
          <a:p>
            <a:pPr lvl="1" indent="-285750" eaLnBrk="1" hangingPunct="1">
              <a:buNone/>
            </a:pPr>
            <a:r>
              <a:rPr lang="en-US" altLang="x-none" dirty="0">
                <a:ea typeface="宋体" panose="02010600030101010101" pitchFamily="2" charset="-122"/>
              </a:rPr>
              <a:t>emp_id</a:t>
            </a:r>
            <a:r>
              <a:rPr lang="en-US" altLang="x-none" dirty="0">
                <a:ea typeface="宋体" panose="02010600030101010101" pitchFamily="2" charset="-122"/>
                <a:sym typeface="Symbol" panose="05050102010706020507" pitchFamily="2" charset="2"/>
              </a:rPr>
              <a:t>{emp_name, emp_phone, dept_name}</a:t>
            </a:r>
          </a:p>
          <a:p>
            <a:pPr lvl="1" indent="-285750" eaLnBrk="1" hangingPunct="1">
              <a:buNone/>
            </a:pPr>
            <a:r>
              <a:rPr lang="en-US" altLang="x-none" dirty="0">
                <a:ea typeface="宋体" panose="02010600030101010101" pitchFamily="2" charset="-122"/>
                <a:sym typeface="Symbol" panose="05050102010706020507" pitchFamily="2" charset="2"/>
              </a:rPr>
              <a:t>dept_name{dept_phone, dept_mgrname}</a:t>
            </a:r>
          </a:p>
          <a:p>
            <a:pPr lvl="1" indent="-285750" eaLnBrk="1" hangingPunct="1">
              <a:buNone/>
            </a:pPr>
            <a:r>
              <a:rPr lang="en-US" altLang="x-none" dirty="0">
                <a:ea typeface="宋体" panose="02010600030101010101" pitchFamily="2" charset="-122"/>
                <a:sym typeface="Symbol" panose="05050102010706020507" pitchFamily="2" charset="2"/>
              </a:rPr>
              <a:t>skill_idskill_name</a:t>
            </a:r>
          </a:p>
          <a:p>
            <a:pPr lvl="1" indent="-285750" eaLnBrk="1" hangingPunct="1">
              <a:buNone/>
            </a:pPr>
            <a:r>
              <a:rPr lang="en-US" altLang="x-none" dirty="0">
                <a:ea typeface="宋体" panose="02010600030101010101" pitchFamily="2" charset="-122"/>
                <a:sym typeface="Symbol" panose="05050102010706020507" pitchFamily="2" charset="2"/>
              </a:rPr>
              <a:t>{emp_id, skill_id}{skill_date, skill_lvl}</a:t>
            </a:r>
          </a:p>
          <a:p>
            <a:pPr lvl="0" eaLnBrk="1" hangingPunct="1">
              <a:buNone/>
            </a:pPr>
            <a:r>
              <a:rPr lang="zh-CN" altLang="en-US" dirty="0">
                <a:solidFill>
                  <a:schemeClr val="accent2"/>
                </a:solidFill>
                <a:ea typeface="宋体" panose="02010600030101010101" pitchFamily="2" charset="-122"/>
              </a:rPr>
              <a:t>}</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5" name="日期占位符 3"/>
          <p:cNvSpPr txBox="1">
            <a:spLocks noGrp="1"/>
          </p:cNvSpPr>
          <p:nvPr/>
        </p:nvSpPr>
        <p:spPr>
          <a:xfrm>
            <a:off x="76200" y="6629400"/>
            <a:ext cx="1905000" cy="228600"/>
          </a:xfrm>
          <a:prstGeom prst="rect">
            <a:avLst/>
          </a:prstGeom>
          <a:noFill/>
          <a:ln w="9525">
            <a:noFill/>
          </a:ln>
        </p:spPr>
        <p:txBody>
          <a:bodyPr anchor="t"/>
          <a:lstStyle/>
          <a:p>
            <a:pPr lvl="0"/>
            <a:fld id="{BB962C8B-B14F-4D97-AF65-F5344CB8AC3E}" type="datetime1">
              <a:rPr lang="zh-CN" altLang="en-US" sz="1200" b="1" i="1" dirty="0">
                <a:latin typeface="Times New Roman" panose="02020603050405020304" pitchFamily="2" charset="0"/>
                <a:ea typeface="宋体" panose="02010600030101010101" pitchFamily="2" charset="-122"/>
              </a:rPr>
              <a:t>2020/1/1</a:t>
            </a:fld>
            <a:endParaRPr lang="zh-CN" altLang="en-US" sz="1200" b="1" i="1" dirty="0">
              <a:latin typeface="Times New Roman" panose="02020603050405020304" pitchFamily="2" charset="0"/>
              <a:ea typeface="宋体" panose="02010600030101010101" pitchFamily="2" charset="-122"/>
            </a:endParaRPr>
          </a:p>
        </p:txBody>
      </p:sp>
      <p:sp>
        <p:nvSpPr>
          <p:cNvPr id="205826" name="页脚占位符 4"/>
          <p:cNvSpPr txBox="1">
            <a:spLocks noGrp="1"/>
          </p:cNvSpPr>
          <p:nvPr/>
        </p:nvSpPr>
        <p:spPr>
          <a:xfrm>
            <a:off x="2590800" y="6629400"/>
            <a:ext cx="3962400" cy="228600"/>
          </a:xfrm>
          <a:prstGeom prst="rect">
            <a:avLst/>
          </a:prstGeom>
          <a:noFill/>
          <a:ln w="9525">
            <a:noFill/>
          </a:ln>
        </p:spPr>
        <p:txBody>
          <a:bodyPr anchor="t"/>
          <a:lstStyle/>
          <a:p>
            <a:pPr lvl="0" algn="ctr"/>
            <a:r>
              <a:rPr lang="zh-CN" altLang="en-US" sz="1200" b="1" i="1" dirty="0">
                <a:latin typeface="Times New Roman" panose="02020603050405020304" pitchFamily="2" charset="0"/>
                <a:ea typeface="宋体" panose="02010600030101010101" pitchFamily="2" charset="-122"/>
              </a:rPr>
              <a:t>Database Principles &amp; Programming</a:t>
            </a:r>
            <a:endParaRPr lang="en-US" altLang="x-none" sz="1200" b="1" i="1" dirty="0">
              <a:latin typeface="Times New Roman" panose="02020603050405020304" pitchFamily="2" charset="0"/>
              <a:ea typeface="宋体" panose="02010600030101010101" pitchFamily="2" charset="-122"/>
            </a:endParaRPr>
          </a:p>
        </p:txBody>
      </p:sp>
      <p:sp>
        <p:nvSpPr>
          <p:cNvPr id="205827" name="灯片编号占位符 5"/>
          <p:cNvSpPr txBox="1">
            <a:spLocks noGrp="1"/>
          </p:cNvSpPr>
          <p:nvPr/>
        </p:nvSpPr>
        <p:spPr>
          <a:xfrm>
            <a:off x="7162800" y="6629400"/>
            <a:ext cx="1905000" cy="228600"/>
          </a:xfrm>
          <a:prstGeom prst="rect">
            <a:avLst/>
          </a:prstGeom>
          <a:noFill/>
          <a:ln w="9525">
            <a:noFill/>
          </a:ln>
        </p:spPr>
        <p:txBody>
          <a:bodyPr anchor="t"/>
          <a:lstStyle/>
          <a:p>
            <a:pPr lvl="0" algn="r"/>
            <a:fld id="{9A0DB2DC-4C9A-4742-B13C-FB6460FD3503}" type="slidenum">
              <a:rPr lang="zh-CN" altLang="en-US" sz="1200" b="1" i="1" dirty="0">
                <a:latin typeface="Times New Roman" panose="02020603050405020304" pitchFamily="2" charset="0"/>
                <a:ea typeface="宋体" panose="02010600030101010101" pitchFamily="2" charset="-122"/>
              </a:rPr>
              <a:t>136</a:t>
            </a:fld>
            <a:endParaRPr lang="zh-CN" altLang="en-US" sz="1200" b="1" i="1" dirty="0">
              <a:latin typeface="Times New Roman" panose="02020603050405020304" pitchFamily="2" charset="0"/>
              <a:ea typeface="宋体" panose="02010600030101010101" pitchFamily="2" charset="-122"/>
            </a:endParaRPr>
          </a:p>
        </p:txBody>
      </p:sp>
      <p:sp>
        <p:nvSpPr>
          <p:cNvPr id="205828" name="Rectangle 3"/>
          <p:cNvSpPr>
            <a:spLocks noGrp="1"/>
          </p:cNvSpPr>
          <p:nvPr>
            <p:ph type="body"/>
          </p:nvPr>
        </p:nvSpPr>
        <p:spPr>
          <a:xfrm>
            <a:off x="38100" y="549275"/>
            <a:ext cx="9070975" cy="6264275"/>
          </a:xfrm>
          <a:solidFill>
            <a:schemeClr val="bg1"/>
          </a:solidFill>
          <a:ln w="25400">
            <a:solidFill>
              <a:schemeClr val="tx1"/>
            </a:solidFill>
            <a:miter/>
          </a:ln>
        </p:spPr>
        <p:txBody>
          <a:bodyPr wrap="square" lIns="90170" tIns="46990" rIns="90170" bIns="46990" anchor="t"/>
          <a:lstStyle/>
          <a:p>
            <a:pPr lvl="0" eaLnBrk="1" hangingPunct="1">
              <a:lnSpc>
                <a:spcPct val="90000"/>
              </a:lnSpc>
            </a:pPr>
            <a:r>
              <a:rPr lang="en-US" altLang="x-none" dirty="0">
                <a:ea typeface="宋体" panose="02010600030101010101" pitchFamily="2" charset="-122"/>
              </a:rPr>
              <a:t>Relations</a:t>
            </a:r>
            <a:r>
              <a:rPr lang="zh-CN" altLang="en-US" dirty="0">
                <a:ea typeface="宋体" panose="02010600030101010101" pitchFamily="2" charset="-122"/>
              </a:rPr>
              <a:t> &amp; </a:t>
            </a:r>
            <a:r>
              <a:rPr lang="en-US" altLang="x-none" dirty="0">
                <a:ea typeface="宋体" panose="02010600030101010101" pitchFamily="2" charset="-122"/>
              </a:rPr>
              <a:t>Functionally Dependents</a:t>
            </a:r>
          </a:p>
          <a:p>
            <a:pPr lvl="0" eaLnBrk="1" hangingPunct="1">
              <a:lnSpc>
                <a:spcPct val="90000"/>
              </a:lnSpc>
            </a:pPr>
            <a:endParaRPr lang="en-US" altLang="x-none" sz="1400" dirty="0">
              <a:ea typeface="宋体" panose="02010600030101010101" pitchFamily="2" charset="-122"/>
            </a:endParaRPr>
          </a:p>
          <a:p>
            <a:pPr lvl="0" eaLnBrk="1" hangingPunct="1">
              <a:lnSpc>
                <a:spcPct val="90000"/>
              </a:lnSpc>
              <a:buNone/>
            </a:pPr>
            <a:r>
              <a:rPr lang="en-US" altLang="x-none" u="sng" dirty="0">
                <a:ea typeface="宋体" panose="02010600030101010101" pitchFamily="2" charset="-122"/>
              </a:rPr>
              <a:t>Emps</a:t>
            </a:r>
            <a:r>
              <a:rPr lang="en-US" altLang="x-none" dirty="0">
                <a:solidFill>
                  <a:schemeClr val="accent2"/>
                </a:solidFill>
                <a:ea typeface="宋体" panose="02010600030101010101" pitchFamily="2" charset="-122"/>
              </a:rPr>
              <a:t>(emp_id,emp_name,emp_phone,dept_name)</a:t>
            </a:r>
          </a:p>
          <a:p>
            <a:pPr lvl="1" indent="-285750" eaLnBrk="1" hangingPunct="1">
              <a:lnSpc>
                <a:spcPct val="90000"/>
              </a:lnSpc>
              <a:buNone/>
            </a:pPr>
            <a:r>
              <a:rPr lang="en-US" altLang="x-none" dirty="0">
                <a:ea typeface="宋体" panose="02010600030101010101" pitchFamily="2" charset="-122"/>
              </a:rPr>
              <a:t>emp_id </a:t>
            </a:r>
            <a:r>
              <a:rPr lang="en-US" altLang="x-none" dirty="0">
                <a:ea typeface="宋体" panose="02010600030101010101" pitchFamily="2" charset="-122"/>
                <a:sym typeface="Symbol" panose="05050102010706020507" pitchFamily="2" charset="2"/>
              </a:rPr>
              <a:t> {emp_name, emp_phone, dept_name}</a:t>
            </a:r>
          </a:p>
          <a:p>
            <a:pPr lvl="1" indent="-285750" eaLnBrk="1" hangingPunct="1">
              <a:lnSpc>
                <a:spcPct val="90000"/>
              </a:lnSpc>
              <a:buNone/>
            </a:pPr>
            <a:endParaRPr lang="en-US" altLang="x-none" sz="2000" dirty="0">
              <a:ea typeface="宋体" panose="02010600030101010101" pitchFamily="2" charset="-122"/>
              <a:sym typeface="Symbol" panose="05050102010706020507" pitchFamily="2" charset="2"/>
            </a:endParaRPr>
          </a:p>
          <a:p>
            <a:pPr lvl="0" eaLnBrk="1" hangingPunct="1">
              <a:lnSpc>
                <a:spcPct val="90000"/>
              </a:lnSpc>
              <a:buNone/>
            </a:pPr>
            <a:r>
              <a:rPr lang="en-US" altLang="x-none" u="sng" dirty="0">
                <a:ea typeface="宋体" panose="02010600030101010101" pitchFamily="2" charset="-122"/>
              </a:rPr>
              <a:t>Depts</a:t>
            </a:r>
            <a:r>
              <a:rPr lang="en-US" altLang="x-none" dirty="0">
                <a:ea typeface="宋体" panose="02010600030101010101" pitchFamily="2" charset="-122"/>
              </a:rPr>
              <a:t> </a:t>
            </a:r>
            <a:r>
              <a:rPr lang="en-US" altLang="x-none" dirty="0">
                <a:solidFill>
                  <a:schemeClr val="accent2"/>
                </a:solidFill>
                <a:ea typeface="宋体" panose="02010600030101010101" pitchFamily="2" charset="-122"/>
              </a:rPr>
              <a:t>( dept_name, dept_phone, dept_mgrname)</a:t>
            </a:r>
          </a:p>
          <a:p>
            <a:pPr lvl="1" indent="-285750" eaLnBrk="1" hangingPunct="1">
              <a:lnSpc>
                <a:spcPct val="90000"/>
              </a:lnSpc>
              <a:buNone/>
            </a:pPr>
            <a:r>
              <a:rPr lang="en-US" altLang="x-none" dirty="0">
                <a:ea typeface="宋体" panose="02010600030101010101" pitchFamily="2" charset="-122"/>
                <a:sym typeface="Symbol" panose="05050102010706020507" pitchFamily="2" charset="2"/>
              </a:rPr>
              <a:t>dept_name  {dept_phone, dept_mgrname}</a:t>
            </a:r>
          </a:p>
          <a:p>
            <a:pPr lvl="1" indent="-285750" eaLnBrk="1" hangingPunct="1">
              <a:lnSpc>
                <a:spcPct val="90000"/>
              </a:lnSpc>
              <a:buNone/>
            </a:pPr>
            <a:endParaRPr lang="en-US" altLang="x-none" sz="2000" dirty="0">
              <a:ea typeface="宋体" panose="02010600030101010101" pitchFamily="2" charset="-122"/>
              <a:sym typeface="Symbol" panose="05050102010706020507" pitchFamily="2" charset="2"/>
            </a:endParaRPr>
          </a:p>
          <a:p>
            <a:pPr lvl="0" eaLnBrk="1" hangingPunct="1">
              <a:lnSpc>
                <a:spcPct val="90000"/>
              </a:lnSpc>
              <a:buNone/>
            </a:pPr>
            <a:r>
              <a:rPr lang="en-US" altLang="x-none" u="sng" dirty="0">
                <a:ea typeface="宋体" panose="02010600030101010101" pitchFamily="2" charset="-122"/>
              </a:rPr>
              <a:t>Emp_Skills</a:t>
            </a:r>
            <a:r>
              <a:rPr lang="en-US" altLang="x-none" dirty="0">
                <a:solidFill>
                  <a:schemeClr val="accent2"/>
                </a:solidFill>
                <a:ea typeface="宋体" panose="02010600030101010101" pitchFamily="2" charset="-122"/>
              </a:rPr>
              <a:t> ( emp_id, skill_id, skill_date, skill_lvl )</a:t>
            </a:r>
          </a:p>
          <a:p>
            <a:pPr lvl="1" indent="-285750" eaLnBrk="1" hangingPunct="1">
              <a:lnSpc>
                <a:spcPct val="90000"/>
              </a:lnSpc>
              <a:buNone/>
            </a:pPr>
            <a:r>
              <a:rPr lang="en-US" altLang="x-none" dirty="0">
                <a:ea typeface="宋体" panose="02010600030101010101" pitchFamily="2" charset="-122"/>
                <a:sym typeface="Symbol" panose="05050102010706020507" pitchFamily="2" charset="2"/>
              </a:rPr>
              <a:t>{emp_id, skill_id}  {skill_date, skill_lvl}</a:t>
            </a:r>
          </a:p>
          <a:p>
            <a:pPr lvl="1" indent="-285750" eaLnBrk="1" hangingPunct="1">
              <a:lnSpc>
                <a:spcPct val="90000"/>
              </a:lnSpc>
              <a:buNone/>
            </a:pPr>
            <a:endParaRPr lang="en-US" altLang="x-none" sz="2000" dirty="0">
              <a:ea typeface="宋体" panose="02010600030101010101" pitchFamily="2" charset="-122"/>
              <a:sym typeface="Symbol" panose="05050102010706020507" pitchFamily="2" charset="2"/>
            </a:endParaRPr>
          </a:p>
          <a:p>
            <a:pPr lvl="0" eaLnBrk="1" hangingPunct="1">
              <a:lnSpc>
                <a:spcPct val="90000"/>
              </a:lnSpc>
              <a:buNone/>
            </a:pPr>
            <a:r>
              <a:rPr lang="en-US" altLang="x-none" u="sng" dirty="0">
                <a:ea typeface="宋体" panose="02010600030101010101" pitchFamily="2" charset="-122"/>
              </a:rPr>
              <a:t>Skills</a:t>
            </a:r>
            <a:r>
              <a:rPr lang="en-US" altLang="x-none" dirty="0">
                <a:ea typeface="宋体" panose="02010600030101010101" pitchFamily="2" charset="-122"/>
              </a:rPr>
              <a:t> </a:t>
            </a:r>
            <a:r>
              <a:rPr lang="en-US" altLang="x-none" dirty="0">
                <a:solidFill>
                  <a:schemeClr val="accent2"/>
                </a:solidFill>
                <a:ea typeface="宋体" panose="02010600030101010101" pitchFamily="2" charset="-122"/>
              </a:rPr>
              <a:t>( skill_id, skill_name)</a:t>
            </a:r>
          </a:p>
          <a:p>
            <a:pPr lvl="1" indent="-285750" eaLnBrk="1" hangingPunct="1">
              <a:lnSpc>
                <a:spcPct val="90000"/>
              </a:lnSpc>
              <a:buNone/>
            </a:pPr>
            <a:r>
              <a:rPr lang="en-US" altLang="x-none" dirty="0">
                <a:ea typeface="宋体" panose="02010600030101010101" pitchFamily="2" charset="-122"/>
                <a:sym typeface="Symbol" panose="05050102010706020507" pitchFamily="2" charset="2"/>
              </a:rPr>
              <a:t>skill_id  skill_name</a:t>
            </a:r>
            <a:endParaRPr lang="zh-CN" altLang="en-US" dirty="0">
              <a:ea typeface="宋体" panose="02010600030101010101" pitchFamily="2" charset="-122"/>
              <a:sym typeface="Symbol" panose="05050102010706020507" pitchFamily="2" charset="2"/>
            </a:endParaRPr>
          </a:p>
        </p:txBody>
      </p:sp>
      <p:sp>
        <p:nvSpPr>
          <p:cNvPr id="205829" name="Text Box 4"/>
          <p:cNvSpPr txBox="1"/>
          <p:nvPr/>
        </p:nvSpPr>
        <p:spPr>
          <a:xfrm>
            <a:off x="0" y="47625"/>
            <a:ext cx="9144000" cy="458788"/>
          </a:xfrm>
          <a:prstGeom prst="rect">
            <a:avLst/>
          </a:prstGeom>
          <a:solidFill>
            <a:schemeClr val="bg1"/>
          </a:solidFill>
          <a:ln w="9525">
            <a:noFill/>
          </a:ln>
        </p:spPr>
        <p:txBody>
          <a:bodyPr lIns="90170" tIns="46990" rIns="90170" bIns="46990" anchor="t">
            <a:spAutoFit/>
          </a:bodyPr>
          <a:lstStyle/>
          <a:p>
            <a:pPr lvl="0" algn="ctr">
              <a:spcBef>
                <a:spcPct val="50000"/>
              </a:spcBef>
            </a:pPr>
            <a:r>
              <a:rPr lang="en-US" altLang="x-none" b="1" u="sng" dirty="0">
                <a:latin typeface="Arial" panose="020B0604020202020204" pitchFamily="34" charset="0"/>
                <a:ea typeface="宋体" panose="02010600030101010101" pitchFamily="2" charset="-122"/>
              </a:rPr>
              <a:t>Figure  6.26</a:t>
            </a:r>
            <a:r>
              <a:rPr lang="zh-CN" altLang="en-US" b="1" u="sng" dirty="0">
                <a:latin typeface="Arial" panose="020B0604020202020204" pitchFamily="34" charset="0"/>
                <a:ea typeface="宋体" panose="02010600030101010101" pitchFamily="2" charset="-122"/>
              </a:rPr>
              <a:t>    3NF</a:t>
            </a:r>
            <a:endParaRPr lang="en-US" altLang="x-none" b="1" u="sng" dirty="0">
              <a:latin typeface="Arial" panose="020B0604020202020204" pitchFamily="34" charset="0"/>
              <a:ea typeface="宋体" panose="02010600030101010101" pitchFamily="2" charset="-122"/>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TotalTime>
  <Words>12283</Words>
  <Application>Microsoft Office PowerPoint</Application>
  <PresentationFormat>全屏显示(4:3)</PresentationFormat>
  <Paragraphs>2719</Paragraphs>
  <Slides>137</Slides>
  <Notes>13</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137</vt:i4>
      </vt:variant>
    </vt:vector>
  </HeadingPairs>
  <TitlesOfParts>
    <vt:vector size="149" baseType="lpstr">
      <vt:lpstr>仿宋_GB2312</vt:lpstr>
      <vt:lpstr>黑体</vt:lpstr>
      <vt:lpstr>宋体</vt:lpstr>
      <vt:lpstr>微软雅黑</vt:lpstr>
      <vt:lpstr>Arial</vt:lpstr>
      <vt:lpstr>Calibri</vt:lpstr>
      <vt:lpstr>Symbol</vt:lpstr>
      <vt:lpstr>Times New Roman</vt:lpstr>
      <vt:lpstr>Wingdings</vt:lpstr>
      <vt:lpstr>默认设计模板</vt:lpstr>
      <vt:lpstr>Equation.3</vt:lpstr>
      <vt:lpstr>Equation.KSEE3</vt:lpstr>
      <vt:lpstr>Chapter 6  Database Design (Part Ⅱ)</vt:lpstr>
      <vt:lpstr>Contents</vt:lpstr>
      <vt:lpstr>6.5 Normalization(规范化): Preliminaries</vt:lpstr>
      <vt:lpstr>6.5 Normalization(规范化): Preliminaries</vt:lpstr>
      <vt:lpstr>6.5 Normalization(规范化): Preliminaries</vt:lpstr>
      <vt:lpstr>6.5 Normalization(规范化): Preliminaries</vt:lpstr>
      <vt:lpstr>6.5 Normalization(规范化): Preliminaries</vt:lpstr>
      <vt:lpstr>PowerPoint 演示文稿</vt:lpstr>
      <vt:lpstr>6.6 Functional Dependencies</vt:lpstr>
      <vt:lpstr>6.6 Functional Dependencies</vt:lpstr>
      <vt:lpstr>The SCG database</vt:lpstr>
      <vt:lpstr>The SCG database</vt:lpstr>
      <vt:lpstr>The SCG database</vt:lpstr>
      <vt:lpstr>The SCG database</vt:lpstr>
      <vt:lpstr>The SCG database</vt:lpstr>
      <vt:lpstr>The SCG database</vt:lpstr>
      <vt:lpstr>PowerPoint 演示文稿</vt:lpstr>
      <vt:lpstr>PowerPoint 演示文稿</vt:lpstr>
      <vt:lpstr>PowerPoint 演示文稿</vt:lpstr>
      <vt:lpstr>PowerPoint 演示文稿</vt:lpstr>
      <vt:lpstr>PowerPoint 演示文稿</vt:lpstr>
      <vt:lpstr>PowerPoint 演示文稿</vt:lpstr>
      <vt:lpstr>6.6 Functional Dependencies</vt:lpstr>
      <vt:lpstr>6.6 Functional Dependencies</vt:lpstr>
      <vt:lpstr>6.6 Functional Dependencies</vt:lpstr>
      <vt:lpstr>6.6 Functional Dependencies</vt:lpstr>
      <vt:lpstr>6.6 Functional Dependencies</vt:lpstr>
      <vt:lpstr>6.6 Functional Dependencies</vt:lpstr>
      <vt:lpstr>6.6 Functional Dependencies</vt:lpstr>
      <vt:lpstr>PowerPoint 演示文稿</vt:lpstr>
      <vt:lpstr>PowerPoint 演示文稿</vt:lpstr>
      <vt:lpstr>6.6 Functional Dependencies</vt:lpstr>
      <vt:lpstr>6.6 Functional Dependencies</vt:lpstr>
      <vt:lpstr>6.6 Functional Dependencies</vt:lpstr>
      <vt:lpstr>6.6 Functional Dependencies</vt:lpstr>
      <vt:lpstr>6.6 Functional Dependencies</vt:lpstr>
      <vt:lpstr>6.6 Functional Dependencies</vt:lpstr>
      <vt:lpstr>6.6 Functional Dependencies</vt:lpstr>
      <vt:lpstr>6.6 Functional Dependencies</vt:lpstr>
      <vt:lpstr>6.6 Functional Dependencies</vt:lpstr>
      <vt:lpstr>6.6 Functional Dependencies</vt:lpstr>
      <vt:lpstr>6.6 Functional Dependencies</vt:lpstr>
      <vt:lpstr>6.6 Functional Dependencies</vt:lpstr>
      <vt:lpstr>PowerPoint 演示文稿</vt:lpstr>
      <vt:lpstr>PowerPoint 演示文稿</vt:lpstr>
      <vt:lpstr>PowerPoint 演示文稿</vt:lpstr>
      <vt:lpstr>6.6 Functional Dependencies</vt:lpstr>
      <vt:lpstr>PowerPoint 演示文稿</vt:lpstr>
      <vt:lpstr>PowerPoint 演示文稿</vt:lpstr>
      <vt:lpstr>Content of next</vt:lpstr>
      <vt:lpstr>6.6 Functional Dependencies</vt:lpstr>
      <vt:lpstr>6.6 Functional Dependencies</vt:lpstr>
      <vt:lpstr>6.6 Functional Dependencies</vt:lpstr>
      <vt:lpstr>Another Example: Closure of a Set of FDs (F+)</vt:lpstr>
      <vt:lpstr>PowerPoint 演示文稿</vt:lpstr>
      <vt:lpstr>PowerPoint 演示文稿</vt:lpstr>
      <vt:lpstr>PowerPoint 演示文稿</vt:lpstr>
      <vt:lpstr>6.6 Functional Dependencies</vt:lpstr>
      <vt:lpstr>6.6 Functional Dependencies</vt:lpstr>
      <vt:lpstr>Example 6.6.6</vt:lpstr>
      <vt:lpstr>Example 6.6.6</vt:lpstr>
      <vt:lpstr>Example 6.6.6</vt:lpstr>
      <vt:lpstr>Example 6.6.6</vt:lpstr>
      <vt:lpstr>6.6 Functional Dependencies</vt:lpstr>
      <vt:lpstr>algorithm 6.6.12  Closure of a set of Attributes</vt:lpstr>
      <vt:lpstr>PowerPoint 演示文稿</vt:lpstr>
      <vt:lpstr>PowerPoint 演示文稿</vt:lpstr>
      <vt:lpstr>PowerPoint 演示文稿</vt:lpstr>
      <vt:lpstr>6.6 Functional Dependencies</vt:lpstr>
      <vt:lpstr>PowerPoint 演示文稿</vt:lpstr>
      <vt:lpstr>PowerPoint 演示文稿</vt:lpstr>
      <vt:lpstr>PowerPoint 演示文稿</vt:lpstr>
      <vt:lpstr>PowerPoint 演示文稿</vt:lpstr>
      <vt:lpstr>PowerPoint 演示文稿</vt:lpstr>
      <vt:lpstr>6.6 Functional Dependencies</vt:lpstr>
      <vt:lpstr>6.6 Functional Dependencies</vt:lpstr>
      <vt:lpstr>6.6 Functional Dependencies</vt:lpstr>
      <vt:lpstr>Content of next</vt:lpstr>
      <vt:lpstr>6.7  Lossless Decompositions</vt:lpstr>
      <vt:lpstr>6.7  Lossless Decompositions</vt:lpstr>
      <vt:lpstr>6.7  Lossless Decompositions</vt:lpstr>
      <vt:lpstr>6.7  Lossless Decompositions</vt:lpstr>
      <vt:lpstr>PowerPoint 演示文稿</vt:lpstr>
      <vt:lpstr>PowerPoint 演示文稿</vt:lpstr>
      <vt:lpstr>PowerPoint 演示文稿</vt:lpstr>
      <vt:lpstr>6.7  Lossless Decompositions</vt:lpstr>
      <vt:lpstr>6.7  Lossless Decompositions</vt:lpstr>
      <vt:lpstr>6.7  Lossless Decompositions</vt:lpstr>
      <vt:lpstr>PowerPoint 演示文稿</vt:lpstr>
      <vt:lpstr>6.7  Lossless Decompositions</vt:lpstr>
      <vt:lpstr>PowerPoint 演示文稿</vt:lpstr>
      <vt:lpstr>6.7  Lossless Decompositions</vt:lpstr>
      <vt:lpstr>6.7  Lossless Decompositions</vt:lpstr>
      <vt:lpstr>6.7  Lossless Decompositions</vt:lpstr>
      <vt:lpstr>6.8  Normal Forms</vt:lpstr>
      <vt:lpstr>6.8  Normal Forms</vt:lpstr>
      <vt:lpstr>6.8  Normal Forms</vt:lpstr>
      <vt:lpstr>6.8  Normal Forms</vt:lpstr>
      <vt:lpstr>6.8  Normal Forms</vt:lpstr>
      <vt:lpstr>6.8  Normal Forms</vt:lpstr>
      <vt:lpstr>6.8  Normal Forms</vt:lpstr>
      <vt:lpstr>Content of next</vt:lpstr>
      <vt:lpstr>6.8  Normal Forms</vt:lpstr>
      <vt:lpstr>6.8  Normal Forms</vt:lpstr>
      <vt:lpstr>6.8  Normal Forms</vt:lpstr>
      <vt:lpstr>6.8  Normal Forms</vt:lpstr>
      <vt:lpstr>6.8  Normal Forms</vt:lpstr>
      <vt:lpstr>6.8  Normal Forms</vt:lpstr>
      <vt:lpstr>6.8  Normal Forms</vt:lpstr>
      <vt:lpstr>6.8  Normal Forms</vt:lpstr>
      <vt:lpstr>6.8  Normal Forms</vt:lpstr>
      <vt:lpstr>关键字的计算优化</vt:lpstr>
      <vt:lpstr>6.8  Normal Forms</vt:lpstr>
      <vt:lpstr>6.8  Normal Forms</vt:lpstr>
      <vt:lpstr>BCNF的判定方法</vt:lpstr>
      <vt:lpstr>6.8  Normal Forms</vt:lpstr>
      <vt:lpstr>6.8  Normal Forms</vt:lpstr>
      <vt:lpstr>3NF的判定方法</vt:lpstr>
      <vt:lpstr>PowerPoint 演示文稿</vt:lpstr>
      <vt:lpstr>6.8  Normal Forms</vt:lpstr>
      <vt:lpstr>6.8  Normal Forms</vt:lpstr>
      <vt:lpstr>Exp 6.8.8: Head(T) = {A,B,C,D}, F = {ABCD, DB}</vt:lpstr>
      <vt:lpstr>6.8  Normal Forms</vt:lpstr>
      <vt:lpstr>PowerPoint 演示文稿</vt:lpstr>
      <vt:lpstr>6.8  Normal Forms</vt:lpstr>
      <vt:lpstr>Example of Normal Forms</vt:lpstr>
      <vt:lpstr>Is 2NF ?</vt:lpstr>
      <vt:lpstr>Figure 6.24   Is 2NF ?</vt:lpstr>
      <vt:lpstr>Figure 6.25   Is 2NF ?</vt:lpstr>
      <vt:lpstr>Figure 6.25   Is 3NF ?</vt:lpstr>
      <vt:lpstr>Figure 6.26   Is 3NF ?</vt:lpstr>
      <vt:lpstr>Figure 6.26   Is BCNF ?</vt:lpstr>
      <vt:lpstr>6.8  Normal Forms</vt:lpstr>
      <vt:lpstr>6.8  Normal Forms</vt:lpstr>
      <vt:lpstr>Example of Normal Forms</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贾 坤</cp:lastModifiedBy>
  <cp:revision>945</cp:revision>
  <dcterms:created xsi:type="dcterms:W3CDTF">2014-03-30T14:52:00Z</dcterms:created>
  <dcterms:modified xsi:type="dcterms:W3CDTF">2020-01-01T16:09:53Z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2052-11.1.0.9145</vt:lpwstr>
  </property>
</Properties>
</file>