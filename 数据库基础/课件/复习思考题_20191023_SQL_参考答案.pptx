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8" r:id="rId3"/>
    <p:sldId id="261" r:id="rId4"/>
    <p:sldId id="262" r:id="rId5"/>
    <p:sldId id="263" r:id="rId6"/>
    <p:sldId id="264" r:id="rId7"/>
    <p:sldId id="265" r:id="rId8"/>
    <p:sldId id="266" r:id="rId9"/>
    <p:sldId id="267" r:id="rId10"/>
    <p:sldId id="268" r:id="rId11"/>
    <p:sldId id="269" r:id="rId12"/>
    <p:sldId id="270" r:id="rId13"/>
    <p:sldId id="271" r:id="rId14"/>
    <p:sldId id="259" r:id="rId15"/>
    <p:sldId id="260" r:id="rId16"/>
    <p:sldId id="272" r:id="rId17"/>
    <p:sldId id="273" r:id="rId18"/>
    <p:sldId id="274" r:id="rId20"/>
    <p:sldId id="275" r:id="rId21"/>
    <p:sldId id="276" r:id="rId22"/>
    <p:sldId id="277" r:id="rId23"/>
    <p:sldId id="278" r:id="rId24"/>
    <p:sldId id="279" r:id="rId25"/>
    <p:sldId id="280" r:id="rId26"/>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也可以使用 </a:t>
            </a:r>
            <a:r>
              <a:rPr lang="en-US" altLang="zh-CN"/>
              <a:t>NOT EXISTS</a:t>
            </a:r>
            <a:r>
              <a:rPr lang="zh-CN" altLang="en-US"/>
              <a:t>，或者两个子查询之间的差运算来表示该查询。</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因为结果集含教师的关键字，也可用两个子查询之间的差运算来获得查询结果（</a:t>
            </a:r>
            <a:r>
              <a:rPr lang="en-US" altLang="zh-CN"/>
              <a:t>EXCEPT</a:t>
            </a:r>
            <a:r>
              <a:rPr lang="zh-CN" altLang="en-US"/>
              <a:t>操作）</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sym typeface="+mn-ea"/>
              </a:rPr>
              <a:t>因为在查询的结果集中含学生的关键字</a:t>
            </a:r>
            <a:r>
              <a:rPr lang="en-US" altLang="zh-CN">
                <a:sym typeface="+mn-ea"/>
              </a:rPr>
              <a:t>sno</a:t>
            </a:r>
            <a:r>
              <a:rPr lang="zh-CN" altLang="en-US">
                <a:sym typeface="+mn-ea"/>
              </a:rPr>
              <a:t>，所以也可使用以下的另外两种查询表示方法：</a:t>
            </a:r>
            <a:endParaRPr lang="zh-CN" altLang="en-US">
              <a:sym typeface="+mn-ea"/>
            </a:endParaRPr>
          </a:p>
          <a:p>
            <a:r>
              <a:rPr lang="en-US" altLang="zh-CN">
                <a:sym typeface="+mn-ea"/>
              </a:rPr>
              <a:t>1</a:t>
            </a:r>
            <a:r>
              <a:rPr lang="zh-CN" altLang="en-US">
                <a:sym typeface="+mn-ea"/>
              </a:rPr>
              <a:t>）写两个子查询“选修过计算机系开设的所有必修课”的同学和“所有课程都及格”的同学，然后再使用SQL中提供的子查询间的交运算INTERSECT；</a:t>
            </a:r>
            <a:endParaRPr lang="zh-CN" altLang="en-US">
              <a:sym typeface="+mn-ea"/>
            </a:endParaRPr>
          </a:p>
          <a:p>
            <a:r>
              <a:rPr lang="en-US" altLang="zh-CN">
                <a:sym typeface="+mn-ea"/>
              </a:rPr>
              <a:t>2</a:t>
            </a:r>
            <a:r>
              <a:rPr lang="zh-CN" altLang="en-US">
                <a:sym typeface="+mn-ea"/>
              </a:rPr>
              <a:t>）使用SQL中的减法运算EXCEPT，用“选修过计算机系开设的所有必修课的同学”减去“有不及格课程的同学”。</a:t>
            </a:r>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zh-CN"/>
              <a:t>也可以分别查询每一位老师第一次上课的年份和最后一次上课的年份，然后将两个子查询的结果 </a:t>
            </a:r>
            <a:r>
              <a:rPr lang="en-US" altLang="zh-CN"/>
              <a:t>UNION </a:t>
            </a:r>
            <a:r>
              <a:rPr lang="zh-CN" altLang="en-US"/>
              <a:t>起来</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zh-CN"/>
              <a:t>在这里，</a:t>
            </a:r>
            <a:r>
              <a:rPr lang="en-US" altLang="zh-CN"/>
              <a:t>“</a:t>
            </a:r>
            <a:r>
              <a:rPr lang="zh-CN" altLang="en-US"/>
              <a:t>所有必修课程都及格</a:t>
            </a:r>
            <a:r>
              <a:rPr lang="en-US" altLang="zh-CN"/>
              <a:t>”</a:t>
            </a:r>
            <a:r>
              <a:rPr lang="zh-CN" altLang="en-US"/>
              <a:t>被理解为</a:t>
            </a:r>
            <a:r>
              <a:rPr lang="en-US" altLang="zh-CN"/>
              <a:t>“</a:t>
            </a:r>
            <a:r>
              <a:rPr lang="zh-CN" altLang="en-US"/>
              <a:t>选修了的必修课程都及格</a:t>
            </a:r>
            <a:r>
              <a:rPr lang="en-US" altLang="zh-CN"/>
              <a:t>”</a:t>
            </a:r>
            <a:r>
              <a:rPr lang="zh-CN" altLang="en-US"/>
              <a:t>，如果要按照</a:t>
            </a:r>
            <a:r>
              <a:rPr lang="en-US" altLang="zh-CN"/>
              <a:t>“</a:t>
            </a:r>
            <a:r>
              <a:rPr lang="zh-CN" altLang="en-US"/>
              <a:t>选修了所有的必修课程且都及格</a:t>
            </a:r>
            <a:r>
              <a:rPr lang="en-US" altLang="zh-CN"/>
              <a:t>”</a:t>
            </a:r>
            <a:r>
              <a:rPr lang="zh-CN" altLang="en-US"/>
              <a:t>来理解的话，需要另外表示。</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因为三个统计函数所统计的范围不同，所以不能在同一个子查询中同时完成这三个统计操作，所以在</a:t>
            </a:r>
            <a:r>
              <a:rPr lang="en-US" altLang="zh-CN"/>
              <a:t>FROM</a:t>
            </a:r>
            <a:r>
              <a:rPr lang="zh-CN" altLang="en-US"/>
              <a:t>子句中嵌入了三个子查询</a:t>
            </a:r>
            <a:r>
              <a:rPr lang="zh-CN" altLang="en-US"/>
              <a:t>，分别对应三种不同的统计需求。</a:t>
            </a:r>
            <a:endParaRPr lang="zh-CN" altLang="en-US"/>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wmf"/><Relationship Id="rId3" Type="http://schemas.openxmlformats.org/officeDocument/2006/relationships/oleObject" Target="../embeddings/oleObject2.bin"/><Relationship Id="rId2" Type="http://schemas.openxmlformats.org/officeDocument/2006/relationships/image" Target="../media/image1.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4.wmf"/><Relationship Id="rId3" Type="http://schemas.openxmlformats.org/officeDocument/2006/relationships/oleObject" Target="../embeddings/oleObject4.bin"/><Relationship Id="rId2" Type="http://schemas.openxmlformats.org/officeDocument/2006/relationships/image" Target="../media/image3.wmf"/><Relationship Id="rId1"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6.bin"/><Relationship Id="rId2" Type="http://schemas.openxmlformats.org/officeDocument/2006/relationships/image" Target="../media/image5.wmf"/><Relationship Id="rId1"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7.bin"/></Relationships>
</file>

<file path=ppt/slides/_rels/slide7.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10.bin"/><Relationship Id="rId4" Type="http://schemas.openxmlformats.org/officeDocument/2006/relationships/image" Target="../media/image9.wmf"/><Relationship Id="rId3" Type="http://schemas.openxmlformats.org/officeDocument/2006/relationships/oleObject" Target="../embeddings/oleObject9.bin"/><Relationship Id="rId2" Type="http://schemas.openxmlformats.org/officeDocument/2006/relationships/image" Target="../media/image8.wmf"/><Relationship Id="rId1"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2.xml"/><Relationship Id="rId6" Type="http://schemas.openxmlformats.org/officeDocument/2006/relationships/image" Target="../media/image13.wmf"/><Relationship Id="rId5" Type="http://schemas.openxmlformats.org/officeDocument/2006/relationships/oleObject" Target="../embeddings/oleObject13.bin"/><Relationship Id="rId4" Type="http://schemas.openxmlformats.org/officeDocument/2006/relationships/image" Target="../media/image12.wmf"/><Relationship Id="rId3" Type="http://schemas.openxmlformats.org/officeDocument/2006/relationships/oleObject" Target="../embeddings/oleObject12.bin"/><Relationship Id="rId2" Type="http://schemas.openxmlformats.org/officeDocument/2006/relationships/image" Target="../media/image11.wmf"/><Relationship Id="rId1"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16.bin"/><Relationship Id="rId4" Type="http://schemas.openxmlformats.org/officeDocument/2006/relationships/image" Target="../media/image15.wmf"/><Relationship Id="rId3" Type="http://schemas.openxmlformats.org/officeDocument/2006/relationships/oleObject" Target="../embeddings/oleObject15.bin"/><Relationship Id="rId2" Type="http://schemas.openxmlformats.org/officeDocument/2006/relationships/image" Target="../media/image14.wmf"/><Relationship Id="rId1" Type="http://schemas.openxmlformats.org/officeDocument/2006/relationships/oleObject" Target="../embeddings/oleObject14.bin"/></Relationships>
</file>

<file path=ppt/slides/_rels/slide10.xml.rels><?xml version="1.0" encoding="UTF-8" standalone="yes"?>
<Relationships xmlns="http://schemas.openxmlformats.org/package/2006/relationships"><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18.wmf"/><Relationship Id="rId3" Type="http://schemas.openxmlformats.org/officeDocument/2006/relationships/oleObject" Target="../embeddings/oleObject18.bin"/><Relationship Id="rId2" Type="http://schemas.openxmlformats.org/officeDocument/2006/relationships/image" Target="../media/image17.wmf"/><Relationship Id="rId1" Type="http://schemas.openxmlformats.org/officeDocument/2006/relationships/oleObject" Target="../embeddings/oleObject17.bin"/></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19.wmf"/><Relationship Id="rId1" Type="http://schemas.openxmlformats.org/officeDocument/2006/relationships/oleObject" Target="../embeddings/oleObject19.bin"/></Relationships>
</file>

<file path=ppt/slides/_rels/slide12.xml.rels><?xml version="1.0" encoding="UTF-8" standalone="yes"?>
<Relationships xmlns="http://schemas.openxmlformats.org/package/2006/relationships"><Relationship Id="rId4" Type="http://schemas.openxmlformats.org/officeDocument/2006/relationships/vmlDrawing" Target="../drawings/vmlDrawing10.vml"/><Relationship Id="rId3" Type="http://schemas.openxmlformats.org/officeDocument/2006/relationships/slideLayout" Target="../slideLayouts/slideLayout2.xml"/><Relationship Id="rId2" Type="http://schemas.openxmlformats.org/officeDocument/2006/relationships/image" Target="../media/image20.wmf"/><Relationship Id="rId1" Type="http://schemas.openxmlformats.org/officeDocument/2006/relationships/oleObject" Target="../embeddings/oleObject20.bin"/></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1.wmf"/><Relationship Id="rId1" Type="http://schemas.openxmlformats.org/officeDocument/2006/relationships/oleObject" Target="../embeddings/oleObject2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718820"/>
            <a:ext cx="10515600" cy="5631180"/>
          </a:xfrm>
        </p:spPr>
        <p:txBody>
          <a:bodyPr>
            <a:spAutoFit/>
          </a:bodyPr>
          <a:p>
            <a:pPr marL="514350" indent="-514350" fontAlgn="auto">
              <a:lnSpc>
                <a:spcPts val="2880"/>
              </a:lnSpc>
              <a:spcBef>
                <a:spcPts val="0"/>
              </a:spcBef>
              <a:spcAft>
                <a:spcPts val="0"/>
              </a:spcAft>
              <a:buAutoNum type="arabicPeriod"/>
            </a:pPr>
            <a:r>
              <a:rPr lang="zh-CN" sz="2400">
                <a:solidFill>
                  <a:srgbClr val="0000CC"/>
                </a:solidFill>
                <a:latin typeface="Arial" panose="020B0604020202020204" pitchFamily="34" charset="0"/>
                <a:sym typeface="+mn-ea"/>
              </a:rPr>
              <a:t>请用</a:t>
            </a:r>
            <a:r>
              <a:rPr lang="en-US" altLang="zh-CN" sz="2400">
                <a:solidFill>
                  <a:srgbClr val="0000CC"/>
                </a:solidFill>
                <a:latin typeface="Arial" panose="020B0604020202020204" pitchFamily="34" charset="0"/>
                <a:sym typeface="+mn-ea"/>
              </a:rPr>
              <a:t>SQL</a:t>
            </a:r>
            <a:r>
              <a:rPr lang="zh-CN" altLang="en-US" sz="2400">
                <a:solidFill>
                  <a:srgbClr val="0000CC"/>
                </a:solidFill>
                <a:latin typeface="Arial" panose="020B0604020202020204" pitchFamily="34" charset="0"/>
                <a:sym typeface="+mn-ea"/>
              </a:rPr>
              <a:t>语言来查询满足下述条件的客户的</a:t>
            </a:r>
            <a:r>
              <a:rPr lang="en-US" altLang="zh-CN" sz="2400">
                <a:solidFill>
                  <a:srgbClr val="0000CC"/>
                </a:solidFill>
                <a:latin typeface="Arial" panose="020B0604020202020204" pitchFamily="34" charset="0"/>
                <a:sym typeface="+mn-ea"/>
              </a:rPr>
              <a:t>cid</a:t>
            </a:r>
            <a:r>
              <a:rPr lang="zh-CN" altLang="en-US" sz="2400">
                <a:solidFill>
                  <a:srgbClr val="0000CC"/>
                </a:solidFill>
                <a:latin typeface="Arial" panose="020B0604020202020204" pitchFamily="34" charset="0"/>
                <a:sym typeface="+mn-ea"/>
              </a:rPr>
              <a:t>和</a:t>
            </a:r>
            <a:r>
              <a:rPr lang="en-US" altLang="zh-CN" sz="2400">
                <a:solidFill>
                  <a:srgbClr val="0000CC"/>
                </a:solidFill>
                <a:latin typeface="Arial" panose="020B0604020202020204" pitchFamily="34" charset="0"/>
                <a:sym typeface="+mn-ea"/>
              </a:rPr>
              <a:t>cname</a:t>
            </a:r>
            <a:r>
              <a:rPr lang="zh-CN" sz="2400">
                <a:solidFill>
                  <a:srgbClr val="0000CC"/>
                </a:solidFill>
                <a:latin typeface="Arial" panose="020B0604020202020204" pitchFamily="34" charset="0"/>
                <a:sym typeface="+mn-ea"/>
              </a:rPr>
              <a:t>：</a:t>
            </a:r>
            <a:endParaRPr lang="zh-CN" sz="2400">
              <a:solidFill>
                <a:srgbClr val="0000CC"/>
              </a:solidFill>
              <a:latin typeface="Arial" panose="020B0604020202020204" pitchFamily="34" charset="0"/>
            </a:endParaRPr>
          </a:p>
          <a:p>
            <a:pPr lvl="1" fontAlgn="auto">
              <a:lnSpc>
                <a:spcPts val="2880"/>
              </a:lnSpc>
              <a:spcBef>
                <a:spcPts val="0"/>
              </a:spcBef>
              <a:spcAft>
                <a:spcPts val="0"/>
              </a:spcAft>
            </a:pPr>
            <a:r>
              <a:rPr lang="en-US" altLang="zh-CN" sz="2400">
                <a:latin typeface="Arial" panose="020B0604020202020204" pitchFamily="34" charset="0"/>
                <a:sym typeface="+mn-ea"/>
              </a:rPr>
              <a:t>Q1:  </a:t>
            </a:r>
            <a:r>
              <a:rPr lang="zh-CN" altLang="zh-CN" sz="2400">
                <a:latin typeface="Arial" panose="020B0604020202020204" pitchFamily="34" charset="0"/>
                <a:sym typeface="+mn-ea"/>
              </a:rPr>
              <a:t>没有通过纽约市的供应商去购买过商品</a:t>
            </a:r>
            <a:r>
              <a:rPr lang="en-US" altLang="zh-CN" sz="2400">
                <a:latin typeface="Arial" panose="020B0604020202020204" pitchFamily="34" charset="0"/>
                <a:sym typeface="+mn-ea"/>
              </a:rPr>
              <a:t>;</a:t>
            </a:r>
            <a:endParaRPr lang="en-US" altLang="zh-CN" sz="2400">
              <a:solidFill>
                <a:schemeClr val="tx1"/>
              </a:solidFill>
              <a:latin typeface="Arial" panose="020B0604020202020204" pitchFamily="34" charset="0"/>
            </a:endParaRPr>
          </a:p>
          <a:p>
            <a:pPr lvl="1" fontAlgn="auto">
              <a:lnSpc>
                <a:spcPts val="2880"/>
              </a:lnSpc>
              <a:spcBef>
                <a:spcPts val="0"/>
              </a:spcBef>
              <a:spcAft>
                <a:spcPts val="0"/>
              </a:spcAft>
            </a:pPr>
            <a:r>
              <a:rPr lang="en-US" altLang="zh-CN" sz="2400">
                <a:latin typeface="Arial" panose="020B0604020202020204" pitchFamily="34" charset="0"/>
                <a:sym typeface="+mn-ea"/>
              </a:rPr>
              <a:t>Q2:  </a:t>
            </a:r>
            <a:r>
              <a:rPr lang="zh-CN" altLang="zh-CN" sz="2400">
                <a:latin typeface="Arial" panose="020B0604020202020204" pitchFamily="34" charset="0"/>
                <a:sym typeface="+mn-ea"/>
              </a:rPr>
              <a:t>只购买过两种不同</a:t>
            </a:r>
            <a:r>
              <a:rPr lang="en-US" altLang="zh-CN" sz="2400">
                <a:latin typeface="Arial" panose="020B0604020202020204" pitchFamily="34" charset="0"/>
                <a:sym typeface="+mn-ea"/>
              </a:rPr>
              <a:t>(pid)</a:t>
            </a:r>
            <a:r>
              <a:rPr lang="zh-CN" altLang="zh-CN" sz="2400">
                <a:latin typeface="Arial" panose="020B0604020202020204" pitchFamily="34" charset="0"/>
                <a:sym typeface="+mn-ea"/>
              </a:rPr>
              <a:t>商品</a:t>
            </a:r>
            <a:r>
              <a:rPr lang="en-US" altLang="zh-CN" sz="2400">
                <a:latin typeface="Arial" panose="020B0604020202020204" pitchFamily="34" charset="0"/>
                <a:sym typeface="+mn-ea"/>
              </a:rPr>
              <a:t>;</a:t>
            </a:r>
            <a:endParaRPr lang="en-US" altLang="zh-CN" sz="2400">
              <a:solidFill>
                <a:schemeClr val="tx1"/>
              </a:solidFill>
              <a:latin typeface="Arial" panose="020B0604020202020204" pitchFamily="34" charset="0"/>
            </a:endParaRPr>
          </a:p>
          <a:p>
            <a:pPr lvl="1" fontAlgn="auto">
              <a:lnSpc>
                <a:spcPts val="2880"/>
              </a:lnSpc>
              <a:spcBef>
                <a:spcPts val="0"/>
              </a:spcBef>
              <a:spcAft>
                <a:spcPts val="0"/>
              </a:spcAft>
            </a:pPr>
            <a:r>
              <a:rPr lang="en-US" altLang="zh-CN" sz="2400">
                <a:latin typeface="Arial" panose="020B0604020202020204" pitchFamily="34" charset="0"/>
                <a:sym typeface="+mn-ea"/>
              </a:rPr>
              <a:t>Q3:  </a:t>
            </a:r>
            <a:r>
              <a:rPr lang="zh-CN" altLang="en-US" sz="2400">
                <a:latin typeface="Arial" panose="020B0604020202020204" pitchFamily="34" charset="0"/>
                <a:sym typeface="+mn-ea"/>
              </a:rPr>
              <a:t>所有订单的购买金额</a:t>
            </a:r>
            <a:r>
              <a:rPr lang="en-US" altLang="zh-CN" sz="2400">
                <a:latin typeface="Arial" panose="020B0604020202020204" pitchFamily="34" charset="0"/>
                <a:sym typeface="+mn-ea"/>
              </a:rPr>
              <a:t>(dols)</a:t>
            </a:r>
            <a:r>
              <a:rPr lang="zh-CN" altLang="en-US" sz="2400">
                <a:latin typeface="Arial" panose="020B0604020202020204" pitchFamily="34" charset="0"/>
                <a:sym typeface="+mn-ea"/>
              </a:rPr>
              <a:t>都超过</a:t>
            </a:r>
            <a:r>
              <a:rPr lang="en-US" altLang="zh-CN" sz="2400">
                <a:latin typeface="Arial" panose="020B0604020202020204" pitchFamily="34" charset="0"/>
                <a:sym typeface="+mn-ea"/>
              </a:rPr>
              <a:t>1000</a:t>
            </a:r>
            <a:r>
              <a:rPr lang="zh-CN" altLang="en-US" sz="2400">
                <a:latin typeface="Arial" panose="020B0604020202020204" pitchFamily="34" charset="0"/>
                <a:sym typeface="+mn-ea"/>
              </a:rPr>
              <a:t>美元</a:t>
            </a:r>
            <a:r>
              <a:rPr lang="en-US" altLang="zh-CN" sz="2400">
                <a:latin typeface="Arial" panose="020B0604020202020204" pitchFamily="34" charset="0"/>
                <a:sym typeface="+mn-ea"/>
              </a:rPr>
              <a:t>;</a:t>
            </a:r>
            <a:endParaRPr lang="en-US" altLang="zh-CN" sz="2400">
              <a:solidFill>
                <a:schemeClr val="tx1"/>
              </a:solidFill>
              <a:latin typeface="Arial" panose="020B0604020202020204" pitchFamily="34" charset="0"/>
              <a:sym typeface="+mn-ea"/>
            </a:endParaRPr>
          </a:p>
          <a:p>
            <a:pPr lvl="1" fontAlgn="auto">
              <a:lnSpc>
                <a:spcPts val="2880"/>
              </a:lnSpc>
              <a:spcBef>
                <a:spcPts val="0"/>
              </a:spcBef>
              <a:spcAft>
                <a:spcPts val="0"/>
              </a:spcAft>
            </a:pPr>
            <a:r>
              <a:rPr lang="en-US" altLang="zh-CN" sz="2400">
                <a:latin typeface="Arial" panose="020B0604020202020204" pitchFamily="34" charset="0"/>
                <a:sym typeface="+mn-ea"/>
              </a:rPr>
              <a:t>Q4:  </a:t>
            </a:r>
            <a:r>
              <a:rPr lang="zh-CN" altLang="en-US" sz="2400">
                <a:latin typeface="Arial" panose="020B0604020202020204" pitchFamily="34" charset="0"/>
                <a:sym typeface="+mn-ea"/>
              </a:rPr>
              <a:t>通过纽约市的供应商去购买过所有价格超过</a:t>
            </a:r>
            <a:r>
              <a:rPr lang="en-US" altLang="zh-CN" sz="2400">
                <a:latin typeface="Arial" panose="020B0604020202020204" pitchFamily="34" charset="0"/>
                <a:sym typeface="+mn-ea"/>
              </a:rPr>
              <a:t>1</a:t>
            </a:r>
            <a:r>
              <a:rPr lang="zh-CN" altLang="en-US" sz="2400">
                <a:latin typeface="Arial" panose="020B0604020202020204" pitchFamily="34" charset="0"/>
                <a:sym typeface="+mn-ea"/>
              </a:rPr>
              <a:t>美元的商品</a:t>
            </a:r>
            <a:r>
              <a:rPr lang="en-US" altLang="zh-CN" sz="2400">
                <a:latin typeface="Arial" panose="020B0604020202020204" pitchFamily="34" charset="0"/>
                <a:sym typeface="+mn-ea"/>
              </a:rPr>
              <a:t>;</a:t>
            </a:r>
            <a:endParaRPr lang="zh-CN" altLang="en-US" sz="2400">
              <a:solidFill>
                <a:schemeClr val="tx1"/>
              </a:solidFill>
              <a:latin typeface="Arial" panose="020B0604020202020204" pitchFamily="34" charset="0"/>
            </a:endParaRPr>
          </a:p>
          <a:p>
            <a:pPr marL="514350" indent="-514350" fontAlgn="auto">
              <a:lnSpc>
                <a:spcPts val="2880"/>
              </a:lnSpc>
              <a:spcBef>
                <a:spcPts val="0"/>
              </a:spcBef>
              <a:spcAft>
                <a:spcPts val="0"/>
              </a:spcAft>
              <a:buAutoNum type="arabicPeriod"/>
            </a:pPr>
            <a:r>
              <a:rPr lang="zh-CN" altLang="en-US" sz="2400">
                <a:solidFill>
                  <a:srgbClr val="0000CC"/>
                </a:solidFill>
                <a:latin typeface="Arial" panose="020B0604020202020204" pitchFamily="34" charset="0"/>
                <a:sym typeface="+mn-ea"/>
              </a:rPr>
              <a:t>请用</a:t>
            </a:r>
            <a:r>
              <a:rPr lang="en-US" altLang="zh-CN" sz="2400">
                <a:solidFill>
                  <a:srgbClr val="0000CC"/>
                </a:solidFill>
                <a:latin typeface="Arial" panose="020B0604020202020204" pitchFamily="34" charset="0"/>
                <a:sym typeface="+mn-ea"/>
              </a:rPr>
              <a:t>SQL</a:t>
            </a:r>
            <a:r>
              <a:rPr lang="zh-CN" altLang="en-US" sz="2400">
                <a:solidFill>
                  <a:srgbClr val="0000CC"/>
                </a:solidFill>
                <a:latin typeface="Arial" panose="020B0604020202020204" pitchFamily="34" charset="0"/>
                <a:sym typeface="+mn-ea"/>
              </a:rPr>
              <a:t>语言来表示下述查询</a:t>
            </a:r>
            <a:r>
              <a:rPr lang="en-US" altLang="zh-CN" sz="2400">
                <a:solidFill>
                  <a:srgbClr val="0000CC"/>
                </a:solidFill>
                <a:latin typeface="Arial" panose="020B0604020202020204" pitchFamily="34" charset="0"/>
                <a:sym typeface="+mn-ea"/>
              </a:rPr>
              <a:t> (</a:t>
            </a:r>
            <a:r>
              <a:rPr lang="zh-CN" altLang="en-US" sz="2400">
                <a:solidFill>
                  <a:srgbClr val="0000CC"/>
                </a:solidFill>
                <a:latin typeface="Arial" panose="020B0604020202020204" pitchFamily="34" charset="0"/>
                <a:sym typeface="+mn-ea"/>
              </a:rPr>
              <a:t>结果返回</a:t>
            </a:r>
            <a:r>
              <a:rPr lang="en-US" altLang="zh-CN" sz="2400">
                <a:solidFill>
                  <a:srgbClr val="0000CC"/>
                </a:solidFill>
                <a:latin typeface="Arial" panose="020B0604020202020204" pitchFamily="34" charset="0"/>
                <a:sym typeface="+mn-ea"/>
              </a:rPr>
              <a:t>cid</a:t>
            </a:r>
            <a:r>
              <a:rPr lang="zh-CN" altLang="en-US" sz="2400">
                <a:solidFill>
                  <a:srgbClr val="0000CC"/>
                </a:solidFill>
                <a:latin typeface="Arial" panose="020B0604020202020204" pitchFamily="34" charset="0"/>
                <a:sym typeface="+mn-ea"/>
              </a:rPr>
              <a:t>和</a:t>
            </a:r>
            <a:r>
              <a:rPr lang="en-US" altLang="zh-CN" sz="2400">
                <a:solidFill>
                  <a:srgbClr val="0000CC"/>
                </a:solidFill>
                <a:latin typeface="Arial" panose="020B0604020202020204" pitchFamily="34" charset="0"/>
                <a:sym typeface="+mn-ea"/>
              </a:rPr>
              <a:t>pid)</a:t>
            </a:r>
            <a:endParaRPr lang="zh-CN" altLang="en-US" sz="2400">
              <a:solidFill>
                <a:srgbClr val="0000CC"/>
              </a:solidFill>
              <a:latin typeface="Arial" panose="020B0604020202020204" pitchFamily="34" charset="0"/>
            </a:endParaRPr>
          </a:p>
          <a:p>
            <a:pPr lvl="1" fontAlgn="auto">
              <a:lnSpc>
                <a:spcPts val="2880"/>
              </a:lnSpc>
              <a:spcBef>
                <a:spcPts val="0"/>
              </a:spcBef>
              <a:spcAft>
                <a:spcPts val="0"/>
              </a:spcAft>
            </a:pPr>
            <a:r>
              <a:rPr lang="en-US" altLang="x-none" sz="2400" dirty="0">
                <a:latin typeface="Arial" panose="020B0604020202020204" pitchFamily="34" charset="0"/>
                <a:ea typeface="宋体" panose="02010600030101010101" pitchFamily="2" charset="-122"/>
                <a:cs typeface="+mn-ea"/>
                <a:sym typeface="+mn-ea"/>
              </a:rPr>
              <a:t>Q5:  </a:t>
            </a:r>
            <a:r>
              <a:rPr lang="zh-CN" altLang="en-US" dirty="0">
                <a:latin typeface="Arial" panose="020B0604020202020204" pitchFamily="34" charset="0"/>
                <a:ea typeface="宋体" panose="02010600030101010101" pitchFamily="2" charset="-122"/>
                <a:cs typeface="+mn-ea"/>
                <a:sym typeface="+mn-ea"/>
              </a:rPr>
              <a:t>客户</a:t>
            </a:r>
            <a:r>
              <a:rPr lang="en-US" altLang="zh-CN" dirty="0">
                <a:latin typeface="Arial" panose="020B0604020202020204" pitchFamily="34" charset="0"/>
                <a:ea typeface="宋体" panose="02010600030101010101" pitchFamily="2" charset="-122"/>
                <a:cs typeface="+mn-ea"/>
                <a:sym typeface="+mn-ea"/>
              </a:rPr>
              <a:t>C</a:t>
            </a:r>
            <a:r>
              <a:rPr lang="zh-CN" altLang="zh-CN" dirty="0">
                <a:latin typeface="Arial" panose="020B0604020202020204" pitchFamily="34" charset="0"/>
                <a:ea typeface="宋体" panose="02010600030101010101" pitchFamily="2" charset="-122"/>
                <a:cs typeface="+mn-ea"/>
                <a:sym typeface="+mn-ea"/>
              </a:rPr>
              <a:t>只</a:t>
            </a:r>
            <a:r>
              <a:rPr lang="zh-CN" altLang="x-none" dirty="0">
                <a:latin typeface="Arial" panose="020B0604020202020204" pitchFamily="34" charset="0"/>
                <a:ea typeface="宋体" panose="02010600030101010101" pitchFamily="2" charset="-122"/>
                <a:cs typeface="+mn-ea"/>
                <a:sym typeface="+mn-ea"/>
              </a:rPr>
              <a:t>购买过一次</a:t>
            </a:r>
            <a:endParaRPr lang="en-US" altLang="x-none" sz="2400" dirty="0">
              <a:latin typeface="Arial" panose="020B0604020202020204" pitchFamily="34" charset="0"/>
              <a:ea typeface="宋体" panose="02010600030101010101" pitchFamily="2" charset="-122"/>
              <a:cs typeface="+mn-ea"/>
              <a:sym typeface="+mn-ea"/>
            </a:endParaRPr>
          </a:p>
          <a:p>
            <a:pPr lvl="1" fontAlgn="auto">
              <a:lnSpc>
                <a:spcPts val="2880"/>
              </a:lnSpc>
              <a:spcBef>
                <a:spcPts val="0"/>
              </a:spcBef>
              <a:spcAft>
                <a:spcPts val="0"/>
              </a:spcAft>
            </a:pPr>
            <a:r>
              <a:rPr lang="en-US" altLang="x-none" sz="2400" dirty="0">
                <a:latin typeface="Arial" panose="020B0604020202020204" pitchFamily="34" charset="0"/>
                <a:ea typeface="宋体" panose="02010600030101010101" pitchFamily="2" charset="-122"/>
                <a:cs typeface="+mn-ea"/>
                <a:sym typeface="+mn-ea"/>
              </a:rPr>
              <a:t>Q6:  </a:t>
            </a:r>
            <a:r>
              <a:rPr lang="zh-CN" altLang="en-US" sz="2400" dirty="0">
                <a:latin typeface="Arial" panose="020B0604020202020204" pitchFamily="34" charset="0"/>
                <a:ea typeface="宋体" panose="02010600030101010101" pitchFamily="2" charset="-122"/>
                <a:cs typeface="+mn-ea"/>
                <a:sym typeface="+mn-ea"/>
              </a:rPr>
              <a:t>客户</a:t>
            </a:r>
            <a:r>
              <a:rPr lang="en-US" altLang="zh-CN" sz="2400" dirty="0">
                <a:latin typeface="Arial" panose="020B0604020202020204" pitchFamily="34" charset="0"/>
                <a:ea typeface="宋体" panose="02010600030101010101" pitchFamily="2" charset="-122"/>
                <a:cs typeface="+mn-ea"/>
                <a:sym typeface="+mn-ea"/>
              </a:rPr>
              <a:t>C</a:t>
            </a:r>
            <a:r>
              <a:rPr lang="zh-CN" altLang="en-US" sz="2400" dirty="0">
                <a:latin typeface="Arial" panose="020B0604020202020204" pitchFamily="34" charset="0"/>
                <a:ea typeface="宋体" panose="02010600030101010101" pitchFamily="2" charset="-122"/>
                <a:cs typeface="+mn-ea"/>
                <a:sym typeface="+mn-ea"/>
              </a:rPr>
              <a:t>只</a:t>
            </a:r>
            <a:r>
              <a:rPr lang="zh-CN" altLang="x-none" sz="2400" dirty="0">
                <a:latin typeface="Arial" panose="020B0604020202020204" pitchFamily="34" charset="0"/>
                <a:ea typeface="宋体" panose="02010600030101010101" pitchFamily="2" charset="-122"/>
                <a:cs typeface="+mn-ea"/>
                <a:sym typeface="+mn-ea"/>
              </a:rPr>
              <a:t>购买过商品</a:t>
            </a:r>
            <a:r>
              <a:rPr lang="en-US" altLang="zh-CN" sz="2400" dirty="0">
                <a:latin typeface="Arial" panose="020B0604020202020204" pitchFamily="34" charset="0"/>
                <a:ea typeface="宋体" panose="02010600030101010101" pitchFamily="2" charset="-122"/>
                <a:cs typeface="+mn-ea"/>
                <a:sym typeface="+mn-ea"/>
              </a:rPr>
              <a:t>P 1 </a:t>
            </a:r>
            <a:r>
              <a:rPr lang="zh-CN" altLang="en-US" sz="2400" dirty="0">
                <a:latin typeface="Arial" panose="020B0604020202020204" pitchFamily="34" charset="0"/>
                <a:ea typeface="宋体" panose="02010600030101010101" pitchFamily="2" charset="-122"/>
                <a:cs typeface="+mn-ea"/>
                <a:sym typeface="+mn-ea"/>
              </a:rPr>
              <a:t>次</a:t>
            </a:r>
            <a:endParaRPr lang="zh-CN" altLang="en-US" sz="2400" dirty="0">
              <a:latin typeface="Arial" panose="020B0604020202020204" pitchFamily="34" charset="0"/>
              <a:ea typeface="宋体" panose="02010600030101010101" pitchFamily="2" charset="-122"/>
              <a:cs typeface="+mn-ea"/>
              <a:sym typeface="+mn-ea"/>
            </a:endParaRPr>
          </a:p>
          <a:p>
            <a:pPr lvl="1" fontAlgn="auto">
              <a:lnSpc>
                <a:spcPts val="2880"/>
              </a:lnSpc>
              <a:spcBef>
                <a:spcPts val="0"/>
              </a:spcBef>
              <a:spcAft>
                <a:spcPts val="0"/>
              </a:spcAft>
            </a:pPr>
            <a:r>
              <a:rPr lang="en-US" altLang="zh-CN" sz="2400" dirty="0">
                <a:latin typeface="Arial" panose="020B0604020202020204" pitchFamily="34" charset="0"/>
                <a:ea typeface="宋体" panose="02010600030101010101" pitchFamily="2" charset="-122"/>
                <a:cs typeface="+mn-ea"/>
                <a:sym typeface="+mn-ea"/>
              </a:rPr>
              <a:t>Q7:  </a:t>
            </a:r>
            <a:r>
              <a:rPr lang="zh-CN" altLang="en-US" sz="2400" dirty="0">
                <a:latin typeface="Arial" panose="020B0604020202020204" pitchFamily="34" charset="0"/>
                <a:ea typeface="宋体" panose="02010600030101010101" pitchFamily="2" charset="-122"/>
                <a:cs typeface="+mn-ea"/>
                <a:sym typeface="+mn-ea"/>
              </a:rPr>
              <a:t>客户</a:t>
            </a:r>
            <a:r>
              <a:rPr lang="en-US" altLang="zh-CN" sz="2400" dirty="0">
                <a:latin typeface="Arial" panose="020B0604020202020204" pitchFamily="34" charset="0"/>
                <a:ea typeface="宋体" panose="02010600030101010101" pitchFamily="2" charset="-122"/>
                <a:cs typeface="+mn-ea"/>
                <a:sym typeface="+mn-ea"/>
              </a:rPr>
              <a:t>C</a:t>
            </a:r>
            <a:r>
              <a:rPr lang="zh-CN" altLang="en-US" sz="2400" dirty="0">
                <a:latin typeface="Arial" panose="020B0604020202020204" pitchFamily="34" charset="0"/>
                <a:ea typeface="宋体" panose="02010600030101010101" pitchFamily="2" charset="-122"/>
                <a:cs typeface="+mn-ea"/>
                <a:sym typeface="+mn-ea"/>
              </a:rPr>
              <a:t>只</a:t>
            </a:r>
            <a:r>
              <a:rPr lang="zh-CN" altLang="x-none" sz="2400" dirty="0">
                <a:latin typeface="Arial" panose="020B0604020202020204" pitchFamily="34" charset="0"/>
                <a:ea typeface="宋体" panose="02010600030101010101" pitchFamily="2" charset="-122"/>
                <a:cs typeface="+mn-ea"/>
                <a:sym typeface="+mn-ea"/>
              </a:rPr>
              <a:t>购买过商品</a:t>
            </a:r>
            <a:r>
              <a:rPr lang="en-US" altLang="zh-CN" sz="2400" dirty="0">
                <a:latin typeface="Arial" panose="020B0604020202020204" pitchFamily="34" charset="0"/>
                <a:ea typeface="宋体" panose="02010600030101010101" pitchFamily="2" charset="-122"/>
                <a:cs typeface="+mn-ea"/>
                <a:sym typeface="+mn-ea"/>
              </a:rPr>
              <a:t>P</a:t>
            </a:r>
            <a:r>
              <a:rPr lang="zh-CN" altLang="en-US" sz="2400" dirty="0">
                <a:latin typeface="Arial" panose="020B0604020202020204" pitchFamily="34" charset="0"/>
                <a:ea typeface="宋体" panose="02010600030101010101" pitchFamily="2" charset="-122"/>
                <a:cs typeface="+mn-ea"/>
                <a:sym typeface="+mn-ea"/>
              </a:rPr>
              <a:t>这一种商品</a:t>
            </a:r>
            <a:endParaRPr lang="zh-CN" altLang="en-US" sz="2400" dirty="0">
              <a:solidFill>
                <a:srgbClr val="0000CC"/>
              </a:solidFill>
              <a:latin typeface="Arial" panose="020B0604020202020204" pitchFamily="34" charset="0"/>
              <a:ea typeface="宋体" panose="02010600030101010101" pitchFamily="2" charset="-122"/>
              <a:cs typeface="+mn-ea"/>
              <a:sym typeface="+mn-ea"/>
            </a:endParaRPr>
          </a:p>
          <a:p>
            <a:pPr marL="514350" indent="-514350" fontAlgn="auto">
              <a:lnSpc>
                <a:spcPts val="2880"/>
              </a:lnSpc>
              <a:spcBef>
                <a:spcPts val="0"/>
              </a:spcBef>
              <a:spcAft>
                <a:spcPts val="0"/>
              </a:spcAft>
              <a:buAutoNum type="arabicPeriod"/>
            </a:pPr>
            <a:r>
              <a:rPr lang="zh-CN" altLang="en-US" sz="2400">
                <a:solidFill>
                  <a:srgbClr val="0000CC"/>
                </a:solidFill>
                <a:latin typeface="Arial" panose="020B0604020202020204" pitchFamily="34" charset="0"/>
              </a:rPr>
              <a:t>按照下述要求写出对应的</a:t>
            </a:r>
            <a:r>
              <a:rPr lang="en-US" altLang="zh-CN" sz="2400">
                <a:solidFill>
                  <a:srgbClr val="0000CC"/>
                </a:solidFill>
                <a:latin typeface="Arial" panose="020B0604020202020204" pitchFamily="34" charset="0"/>
              </a:rPr>
              <a:t>SQL</a:t>
            </a:r>
            <a:r>
              <a:rPr lang="zh-CN" altLang="en-US" sz="2400">
                <a:solidFill>
                  <a:srgbClr val="0000CC"/>
                </a:solidFill>
                <a:latin typeface="Arial" panose="020B0604020202020204" pitchFamily="34" charset="0"/>
              </a:rPr>
              <a:t>查询语句：</a:t>
            </a:r>
            <a:endParaRPr lang="zh-CN" altLang="en-US" sz="2400">
              <a:solidFill>
                <a:srgbClr val="0000CC"/>
              </a:solidFill>
              <a:latin typeface="Arial" panose="020B0604020202020204" pitchFamily="34" charset="0"/>
            </a:endParaRPr>
          </a:p>
          <a:p>
            <a:pPr lvl="1" fontAlgn="auto">
              <a:lnSpc>
                <a:spcPts val="2880"/>
              </a:lnSpc>
              <a:spcBef>
                <a:spcPts val="0"/>
              </a:spcBef>
              <a:spcAft>
                <a:spcPts val="0"/>
              </a:spcAft>
            </a:pPr>
            <a:r>
              <a:rPr lang="en-US" altLang="zh-CN" dirty="0">
                <a:latin typeface="Arial" panose="020B0604020202020204" pitchFamily="34" charset="0"/>
                <a:ea typeface="宋体" panose="02010600030101010101" pitchFamily="2" charset="-122"/>
                <a:cs typeface="+mn-ea"/>
                <a:sym typeface="+mn-ea"/>
              </a:rPr>
              <a:t>Q8:  </a:t>
            </a:r>
            <a:r>
              <a:rPr lang="zh-CN" altLang="en-US">
                <a:latin typeface="Arial" panose="020B0604020202020204" pitchFamily="34" charset="0"/>
                <a:sym typeface="+mn-ea"/>
              </a:rPr>
              <a:t>在所有有客户的城市中都被销售过的商品的编号</a:t>
            </a:r>
            <a:endParaRPr lang="zh-CN" altLang="en-US">
              <a:latin typeface="Arial" panose="020B0604020202020204" pitchFamily="34" charset="0"/>
              <a:sym typeface="+mn-ea"/>
            </a:endParaRPr>
          </a:p>
          <a:p>
            <a:pPr lvl="1" fontAlgn="auto">
              <a:lnSpc>
                <a:spcPts val="2880"/>
              </a:lnSpc>
              <a:spcBef>
                <a:spcPts val="0"/>
              </a:spcBef>
              <a:spcAft>
                <a:spcPts val="0"/>
              </a:spcAft>
            </a:pPr>
            <a:r>
              <a:rPr lang="en-US" altLang="zh-CN" sz="2400" dirty="0">
                <a:latin typeface="Arial" panose="020B0604020202020204" pitchFamily="34" charset="0"/>
                <a:ea typeface="宋体" panose="02010600030101010101" pitchFamily="2" charset="-122"/>
                <a:cs typeface="+mn-ea"/>
                <a:sym typeface="+mn-ea"/>
              </a:rPr>
              <a:t>Q9:  </a:t>
            </a:r>
            <a:r>
              <a:rPr lang="zh-CN" altLang="en-US" sz="2400" dirty="0">
                <a:solidFill>
                  <a:schemeClr val="tx1"/>
                </a:solidFill>
                <a:latin typeface="Arial" panose="020B0604020202020204" pitchFamily="34" charset="0"/>
                <a:ea typeface="宋体" panose="02010600030101010101" pitchFamily="2" charset="-122"/>
                <a:sym typeface="+mn-ea"/>
              </a:rPr>
              <a:t>返回每一个客户的编号及其最后两份订单的订购日期（订购日期</a:t>
            </a:r>
            <a:r>
              <a:rPr lang="en-US" altLang="zh-CN" sz="2400" dirty="0">
                <a:solidFill>
                  <a:schemeClr val="tx1"/>
                </a:solidFill>
                <a:latin typeface="Arial" panose="020B0604020202020204" pitchFamily="34" charset="0"/>
                <a:ea typeface="宋体" panose="02010600030101010101" pitchFamily="2" charset="-122"/>
                <a:sym typeface="+mn-ea"/>
              </a:rPr>
              <a:t>orddate</a:t>
            </a:r>
            <a:r>
              <a:rPr lang="zh-CN" altLang="zh-CN" sz="2400" dirty="0">
                <a:solidFill>
                  <a:schemeClr val="tx1"/>
                </a:solidFill>
                <a:latin typeface="Arial" panose="020B0604020202020204" pitchFamily="34" charset="0"/>
                <a:ea typeface="宋体" panose="02010600030101010101" pitchFamily="2" charset="-122"/>
                <a:sym typeface="+mn-ea"/>
              </a:rPr>
              <a:t>为</a:t>
            </a:r>
            <a:r>
              <a:rPr lang="en-US" altLang="zh-CN" sz="2400" dirty="0">
                <a:solidFill>
                  <a:schemeClr val="tx1"/>
                </a:solidFill>
                <a:latin typeface="Arial" panose="020B0604020202020204" pitchFamily="34" charset="0"/>
                <a:ea typeface="宋体" panose="02010600030101010101" pitchFamily="2" charset="-122"/>
                <a:sym typeface="+mn-ea"/>
              </a:rPr>
              <a:t>Date</a:t>
            </a:r>
            <a:r>
              <a:rPr lang="zh-CN" altLang="en-US" sz="2400" dirty="0">
                <a:solidFill>
                  <a:schemeClr val="tx1"/>
                </a:solidFill>
                <a:latin typeface="Arial" panose="020B0604020202020204" pitchFamily="34" charset="0"/>
                <a:ea typeface="宋体" panose="02010600030101010101" pitchFamily="2" charset="-122"/>
                <a:sym typeface="+mn-ea"/>
              </a:rPr>
              <a:t>类型的字段，以订单编号的大小来区分订单的先后）</a:t>
            </a:r>
            <a:endParaRPr lang="zh-CN" altLang="en-US" sz="2400" dirty="0">
              <a:solidFill>
                <a:schemeClr val="tx1"/>
              </a:solidFill>
              <a:latin typeface="Arial" panose="020B0604020202020204" pitchFamily="34" charset="0"/>
              <a:ea typeface="宋体" panose="02010600030101010101" pitchFamily="2" charset="-122"/>
              <a:sym typeface="+mn-ea"/>
            </a:endParaRPr>
          </a:p>
          <a:p>
            <a:pPr lvl="1" fontAlgn="auto">
              <a:lnSpc>
                <a:spcPts val="2880"/>
              </a:lnSpc>
              <a:spcBef>
                <a:spcPts val="0"/>
              </a:spcBef>
              <a:spcAft>
                <a:spcPts val="0"/>
              </a:spcAft>
            </a:pPr>
            <a:r>
              <a:rPr lang="en-US" altLang="zh-CN" sz="2400" dirty="0">
                <a:solidFill>
                  <a:schemeClr val="tx1"/>
                </a:solidFill>
                <a:latin typeface="Arial" panose="020B0604020202020204" pitchFamily="34" charset="0"/>
                <a:ea typeface="宋体" panose="02010600030101010101" pitchFamily="2" charset="-122"/>
                <a:cs typeface="+mn-ea"/>
                <a:sym typeface="+mn-ea"/>
              </a:rPr>
              <a:t>Q10:  </a:t>
            </a:r>
            <a:r>
              <a:rPr lang="zh-CN" altLang="en-US" sz="2400" dirty="0">
                <a:solidFill>
                  <a:schemeClr val="tx1"/>
                </a:solidFill>
                <a:latin typeface="Arial" panose="020B0604020202020204" pitchFamily="34" charset="0"/>
                <a:ea typeface="宋体" panose="02010600030101010101" pitchFamily="2" charset="-122"/>
                <a:cs typeface="+mn-ea"/>
                <a:sym typeface="+mn-ea"/>
              </a:rPr>
              <a:t>查询满足下述条件的供应商</a:t>
            </a:r>
            <a:r>
              <a:rPr lang="zh-CN" altLang="en-US" sz="2400">
                <a:solidFill>
                  <a:schemeClr val="tx1"/>
                </a:solidFill>
                <a:latin typeface="Arial" panose="020B0604020202020204" pitchFamily="34" charset="0"/>
              </a:rPr>
              <a:t>的编号和名称：向所有折扣</a:t>
            </a:r>
            <a:r>
              <a:rPr lang="en-US" altLang="zh-CN" sz="2400">
                <a:solidFill>
                  <a:schemeClr val="tx1"/>
                </a:solidFill>
                <a:latin typeface="Arial" panose="020B0604020202020204" pitchFamily="34" charset="0"/>
              </a:rPr>
              <a:t>discnt</a:t>
            </a:r>
            <a:r>
              <a:rPr lang="zh-CN" altLang="zh-CN" sz="2400">
                <a:solidFill>
                  <a:schemeClr val="tx1"/>
                </a:solidFill>
                <a:latin typeface="Arial" panose="020B0604020202020204" pitchFamily="34" charset="0"/>
              </a:rPr>
              <a:t>最高的客户都销售过商品。</a:t>
            </a:r>
            <a:endParaRPr lang="zh-CN" altLang="zh-CN" sz="2400">
              <a:solidFill>
                <a:schemeClr val="tx1"/>
              </a:solidFill>
              <a:latin typeface="Arial" panose="020B0604020202020204" pitchFamily="34" charset="0"/>
            </a:endParaRPr>
          </a:p>
        </p:txBody>
      </p:sp>
      <p:sp>
        <p:nvSpPr>
          <p:cNvPr id="2" name="文本框 1"/>
          <p:cNvSpPr txBox="1"/>
          <p:nvPr/>
        </p:nvSpPr>
        <p:spPr>
          <a:xfrm>
            <a:off x="440055" y="106045"/>
            <a:ext cx="10515600" cy="521970"/>
          </a:xfrm>
          <a:prstGeom prst="rect">
            <a:avLst/>
          </a:prstGeom>
          <a:noFill/>
        </p:spPr>
        <p:txBody>
          <a:bodyPr wrap="square" rtlCol="0">
            <a:spAutoFit/>
          </a:bodyPr>
          <a:p>
            <a:r>
              <a:rPr lang="zh-CN" altLang="en-US" sz="2800" b="1"/>
              <a:t>一、在</a:t>
            </a:r>
            <a:r>
              <a:rPr lang="en-US" altLang="zh-CN" sz="2800" b="1"/>
              <a:t>MyCAP</a:t>
            </a:r>
            <a:r>
              <a:rPr lang="zh-CN" altLang="en-US" sz="2800" b="1"/>
              <a:t>数据库上，使用</a:t>
            </a:r>
            <a:r>
              <a:rPr lang="en-US" altLang="zh-CN" sz="2800" b="1"/>
              <a:t>SQL</a:t>
            </a:r>
            <a:r>
              <a:rPr lang="zh-CN" altLang="en-US" sz="2800" b="1"/>
              <a:t>语言来表示下述查询</a:t>
            </a:r>
            <a:endParaRPr lang="zh-CN" altLang="en-US" sz="2800" b="1"/>
          </a:p>
        </p:txBody>
      </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关系模式如下</a:t>
            </a:r>
            <a:endParaRPr lang="zh-CN" altLang="en-US"/>
          </a:p>
        </p:txBody>
      </p:sp>
      <p:sp>
        <p:nvSpPr>
          <p:cNvPr id="3" name="内容占位符 2"/>
          <p:cNvSpPr>
            <a:spLocks noGrp="1"/>
          </p:cNvSpPr>
          <p:nvPr>
            <p:ph idx="1"/>
          </p:nvPr>
        </p:nvSpPr>
        <p:spPr/>
        <p:txBody>
          <a:bodyPr/>
          <a:p>
            <a:pPr marL="0" indent="0">
              <a:buNone/>
            </a:pPr>
            <a:r>
              <a:rPr lang="en-US" altLang="zh-CN"/>
              <a:t>customers(cid, cname, city, discnt)</a:t>
            </a:r>
            <a:endParaRPr lang="en-US" altLang="zh-CN"/>
          </a:p>
          <a:p>
            <a:pPr marL="0" indent="0">
              <a:buNone/>
            </a:pPr>
            <a:r>
              <a:rPr lang="en-US" altLang="zh-CN"/>
              <a:t>agents(aid, aname, city, percent)</a:t>
            </a:r>
            <a:endParaRPr lang="en-US" altLang="zh-CN"/>
          </a:p>
          <a:p>
            <a:pPr marL="0" indent="0">
              <a:buNone/>
            </a:pPr>
            <a:r>
              <a:rPr lang="en-US" altLang="zh-CN"/>
              <a:t>products(pid, pname, city, quantity, price)</a:t>
            </a:r>
            <a:endParaRPr lang="en-US" altLang="zh-CN"/>
          </a:p>
          <a:p>
            <a:pPr marL="0" indent="0">
              <a:buNone/>
            </a:pPr>
            <a:r>
              <a:rPr lang="en-US" altLang="zh-CN"/>
              <a:t>orders(ordno, orddate, cid, aid, pid, qty, dols)</a:t>
            </a:r>
            <a:endParaRPr lang="en-US" altLang="zh-CN"/>
          </a:p>
        </p:txBody>
      </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55930"/>
            <a:ext cx="10515600" cy="953135"/>
          </a:xfrm>
          <a:ln>
            <a:solidFill>
              <a:schemeClr val="accent1"/>
            </a:solidFill>
          </a:ln>
        </p:spPr>
        <p:txBody>
          <a:bodyPr>
            <a:spAutoFit/>
          </a:bodyPr>
          <a:p>
            <a:pPr marL="514350" indent="-514350" fontAlgn="auto">
              <a:lnSpc>
                <a:spcPct val="100000"/>
              </a:lnSpc>
              <a:spcBef>
                <a:spcPts val="0"/>
              </a:spcBef>
              <a:spcAft>
                <a:spcPts val="0"/>
              </a:spcAft>
              <a:buAutoNum type="arabicPeriod"/>
            </a:pPr>
            <a:r>
              <a:rPr lang="zh-CN" sz="2800">
                <a:solidFill>
                  <a:srgbClr val="0000CC"/>
                </a:solidFill>
                <a:latin typeface="Arial" panose="020B0604020202020204" pitchFamily="34" charset="0"/>
                <a:sym typeface="+mn-ea"/>
              </a:rPr>
              <a:t>请用</a:t>
            </a:r>
            <a:r>
              <a:rPr lang="en-US" altLang="zh-CN" sz="2800">
                <a:solidFill>
                  <a:srgbClr val="0000CC"/>
                </a:solidFill>
                <a:latin typeface="Arial" panose="020B0604020202020204" pitchFamily="34" charset="0"/>
                <a:sym typeface="+mn-ea"/>
              </a:rPr>
              <a:t>SQL</a:t>
            </a:r>
            <a:r>
              <a:rPr lang="zh-CN" altLang="en-US" sz="2800">
                <a:solidFill>
                  <a:srgbClr val="0000CC"/>
                </a:solidFill>
                <a:latin typeface="Arial" panose="020B0604020202020204" pitchFamily="34" charset="0"/>
                <a:sym typeface="+mn-ea"/>
              </a:rPr>
              <a:t>语言来查询满足下述条件的客户的</a:t>
            </a:r>
            <a:r>
              <a:rPr lang="en-US" altLang="zh-CN" sz="2800">
                <a:solidFill>
                  <a:srgbClr val="0000CC"/>
                </a:solidFill>
                <a:latin typeface="Arial" panose="020B0604020202020204" pitchFamily="34" charset="0"/>
                <a:sym typeface="+mn-ea"/>
              </a:rPr>
              <a:t>cid</a:t>
            </a:r>
            <a:r>
              <a:rPr lang="zh-CN" altLang="en-US" sz="2800">
                <a:solidFill>
                  <a:srgbClr val="0000CC"/>
                </a:solidFill>
                <a:latin typeface="Arial" panose="020B0604020202020204" pitchFamily="34" charset="0"/>
                <a:sym typeface="+mn-ea"/>
              </a:rPr>
              <a:t>和</a:t>
            </a:r>
            <a:r>
              <a:rPr lang="en-US" altLang="zh-CN" sz="2800">
                <a:solidFill>
                  <a:srgbClr val="0000CC"/>
                </a:solidFill>
                <a:latin typeface="Arial" panose="020B0604020202020204" pitchFamily="34" charset="0"/>
                <a:sym typeface="+mn-ea"/>
              </a:rPr>
              <a:t>cname</a:t>
            </a:r>
            <a:r>
              <a:rPr lang="zh-CN" sz="2800">
                <a:solidFill>
                  <a:srgbClr val="0000CC"/>
                </a:solidFill>
                <a:latin typeface="Arial" panose="020B0604020202020204" pitchFamily="34" charset="0"/>
                <a:sym typeface="+mn-ea"/>
              </a:rPr>
              <a:t>：</a:t>
            </a:r>
            <a:endParaRPr lang="zh-CN" sz="2800">
              <a:solidFill>
                <a:srgbClr val="0000CC"/>
              </a:solidFill>
              <a:latin typeface="Arial" panose="020B0604020202020204" pitchFamily="34" charset="0"/>
            </a:endParaRPr>
          </a:p>
          <a:p>
            <a:pPr lvl="1" fontAlgn="auto">
              <a:lnSpc>
                <a:spcPct val="100000"/>
              </a:lnSpc>
              <a:spcBef>
                <a:spcPts val="0"/>
              </a:spcBef>
              <a:spcAft>
                <a:spcPts val="0"/>
              </a:spcAft>
            </a:pPr>
            <a:r>
              <a:rPr lang="en-US" altLang="zh-CN" sz="2800">
                <a:latin typeface="Arial" panose="020B0604020202020204" pitchFamily="34" charset="0"/>
                <a:sym typeface="+mn-ea"/>
              </a:rPr>
              <a:t>Q1:  </a:t>
            </a:r>
            <a:r>
              <a:rPr lang="zh-CN" altLang="zh-CN" sz="2800">
                <a:latin typeface="Arial" panose="020B0604020202020204" pitchFamily="34" charset="0"/>
                <a:sym typeface="+mn-ea"/>
              </a:rPr>
              <a:t>没有通过纽约市的供应商去购买过商品</a:t>
            </a:r>
            <a:r>
              <a:rPr lang="en-US" altLang="zh-CN" sz="2800">
                <a:latin typeface="Arial" panose="020B0604020202020204" pitchFamily="34" charset="0"/>
                <a:sym typeface="+mn-ea"/>
              </a:rPr>
              <a:t>;</a:t>
            </a:r>
            <a:endParaRPr lang="zh-CN" altLang="zh-CN" sz="2800">
              <a:solidFill>
                <a:schemeClr val="tx1"/>
              </a:solidFill>
              <a:latin typeface="Arial" panose="020B0604020202020204" pitchFamily="34" charset="0"/>
            </a:endParaRPr>
          </a:p>
        </p:txBody>
      </p:sp>
      <p:graphicFrame>
        <p:nvGraphicFramePr>
          <p:cNvPr id="2" name="对象 1">
            <a:hlinkClick r:id="" action="ppaction://ole?verb="/>
          </p:cNvPr>
          <p:cNvGraphicFramePr>
            <a:graphicFrameLocks noChangeAspect="1"/>
          </p:cNvGraphicFramePr>
          <p:nvPr/>
        </p:nvGraphicFramePr>
        <p:xfrm>
          <a:off x="625475" y="2082800"/>
          <a:ext cx="5400040" cy="2733433"/>
        </p:xfrm>
        <a:graphic>
          <a:graphicData uri="http://schemas.openxmlformats.org/presentationml/2006/ole">
            <mc:AlternateContent xmlns:mc="http://schemas.openxmlformats.org/markup-compatibility/2006">
              <mc:Choice xmlns:v="urn:schemas-microsoft-com:vml" Requires="v">
                <p:oleObj spid="_x0000_s1025" name="" r:id="rId1" imgW="2234565" imgH="1130300" progId="Equation.KSEE3">
                  <p:embed/>
                </p:oleObj>
              </mc:Choice>
              <mc:Fallback>
                <p:oleObj name="" r:id="rId1" imgW="2234565" imgH="1130300" progId="Equation.KSEE3">
                  <p:embed/>
                  <p:pic>
                    <p:nvPicPr>
                      <p:cNvPr id="0" name="图片 1024"/>
                      <p:cNvPicPr/>
                      <p:nvPr/>
                    </p:nvPicPr>
                    <p:blipFill>
                      <a:blip r:embed="rId2"/>
                      <a:stretch>
                        <a:fillRect/>
                      </a:stretch>
                    </p:blipFill>
                    <p:spPr>
                      <a:xfrm>
                        <a:off x="625475" y="2082800"/>
                        <a:ext cx="5400040" cy="2733433"/>
                      </a:xfrm>
                      <a:prstGeom prst="rect">
                        <a:avLst/>
                      </a:prstGeom>
                      <a:ln>
                        <a:solidFill>
                          <a:srgbClr val="FF0000"/>
                        </a:solidFill>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6636385" y="2082679"/>
          <a:ext cx="4819650" cy="2733675"/>
        </p:xfrm>
        <a:graphic>
          <a:graphicData uri="http://schemas.openxmlformats.org/presentationml/2006/ole">
            <mc:AlternateContent xmlns:mc="http://schemas.openxmlformats.org/markup-compatibility/2006">
              <mc:Choice xmlns:v="urn:schemas-microsoft-com:vml" Requires="v">
                <p:oleObj spid="_x0000_s6" name="" r:id="rId3" imgW="1993900" imgH="1130300" progId="Equation.KSEE3">
                  <p:embed/>
                </p:oleObj>
              </mc:Choice>
              <mc:Fallback>
                <p:oleObj name="" r:id="rId3" imgW="1993900" imgH="1130300" progId="Equation.KSEE3">
                  <p:embed/>
                  <p:pic>
                    <p:nvPicPr>
                      <p:cNvPr id="0" name="图片 1024"/>
                      <p:cNvPicPr/>
                      <p:nvPr/>
                    </p:nvPicPr>
                    <p:blipFill>
                      <a:blip r:embed="rId4"/>
                      <a:stretch>
                        <a:fillRect/>
                      </a:stretch>
                    </p:blipFill>
                    <p:spPr>
                      <a:xfrm>
                        <a:off x="6636385" y="2082679"/>
                        <a:ext cx="4819650" cy="2733675"/>
                      </a:xfrm>
                      <a:prstGeom prst="rect">
                        <a:avLst/>
                      </a:prstGeom>
                      <a:ln>
                        <a:solidFill>
                          <a:srgbClr val="FF0000"/>
                        </a:solidFill>
                      </a:ln>
                    </p:spPr>
                  </p:pic>
                </p:oleObj>
              </mc:Fallback>
            </mc:AlternateContent>
          </a:graphicData>
        </a:graphic>
      </p:graphicFrame>
      <p:sp>
        <p:nvSpPr>
          <p:cNvPr id="7" name="文本框 6"/>
          <p:cNvSpPr txBox="1"/>
          <p:nvPr/>
        </p:nvSpPr>
        <p:spPr>
          <a:xfrm>
            <a:off x="663575" y="1597025"/>
            <a:ext cx="1723390" cy="460375"/>
          </a:xfrm>
          <a:prstGeom prst="rect">
            <a:avLst/>
          </a:prstGeom>
          <a:noFill/>
        </p:spPr>
        <p:txBody>
          <a:bodyPr wrap="square" rtlCol="0">
            <a:spAutoFit/>
          </a:bodyPr>
          <a:p>
            <a:r>
              <a:rPr lang="en-US" altLang="zh-CN" sz="2400" b="1">
                <a:solidFill>
                  <a:srgbClr val="0000CC"/>
                </a:solidFill>
                <a:latin typeface="Arial" panose="020B0604020202020204" pitchFamily="34" charset="0"/>
              </a:rPr>
              <a:t>Q1(1)</a:t>
            </a:r>
            <a:endParaRPr lang="en-US" altLang="zh-CN" sz="2400" b="1">
              <a:solidFill>
                <a:srgbClr val="0000CC"/>
              </a:solidFill>
              <a:latin typeface="Arial" panose="020B0604020202020204" pitchFamily="34" charset="0"/>
            </a:endParaRPr>
          </a:p>
        </p:txBody>
      </p:sp>
      <p:sp>
        <p:nvSpPr>
          <p:cNvPr id="8" name="文本框 7"/>
          <p:cNvSpPr txBox="1"/>
          <p:nvPr/>
        </p:nvSpPr>
        <p:spPr>
          <a:xfrm>
            <a:off x="6636385" y="1622425"/>
            <a:ext cx="1723390" cy="460375"/>
          </a:xfrm>
          <a:prstGeom prst="rect">
            <a:avLst/>
          </a:prstGeom>
          <a:noFill/>
        </p:spPr>
        <p:txBody>
          <a:bodyPr wrap="square" rtlCol="0">
            <a:spAutoFit/>
          </a:bodyPr>
          <a:p>
            <a:r>
              <a:rPr lang="en-US" altLang="zh-CN" sz="2400" b="1">
                <a:solidFill>
                  <a:srgbClr val="0000CC"/>
                </a:solidFill>
                <a:latin typeface="Arial" panose="020B0604020202020204" pitchFamily="34" charset="0"/>
              </a:rPr>
              <a:t>Q1(2)</a:t>
            </a:r>
            <a:endParaRPr lang="en-US" altLang="zh-CN" sz="2400" b="1">
              <a:solidFill>
                <a:srgbClr val="0000CC"/>
              </a:solidFill>
              <a:latin typeface="Arial" panose="020B0604020202020204" pitchFamily="34" charset="0"/>
            </a:endParaRPr>
          </a:p>
        </p:txBody>
      </p:sp>
      <p:sp>
        <p:nvSpPr>
          <p:cNvPr id="9" name="文本框 8"/>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55930"/>
            <a:ext cx="10515600" cy="953135"/>
          </a:xfrm>
          <a:ln>
            <a:solidFill>
              <a:schemeClr val="accent1"/>
            </a:solidFill>
          </a:ln>
        </p:spPr>
        <p:txBody>
          <a:bodyPr>
            <a:spAutoFit/>
          </a:bodyPr>
          <a:p>
            <a:pPr marL="514350" indent="-514350" fontAlgn="auto">
              <a:lnSpc>
                <a:spcPct val="100000"/>
              </a:lnSpc>
              <a:spcBef>
                <a:spcPts val="0"/>
              </a:spcBef>
              <a:spcAft>
                <a:spcPts val="0"/>
              </a:spcAft>
              <a:buAutoNum type="arabicPeriod"/>
            </a:pPr>
            <a:r>
              <a:rPr lang="zh-CN" sz="2800">
                <a:solidFill>
                  <a:srgbClr val="0000CC"/>
                </a:solidFill>
                <a:latin typeface="Arial" panose="020B0604020202020204" pitchFamily="34" charset="0"/>
                <a:sym typeface="+mn-ea"/>
              </a:rPr>
              <a:t>请用</a:t>
            </a:r>
            <a:r>
              <a:rPr lang="en-US" altLang="zh-CN" sz="2800">
                <a:solidFill>
                  <a:srgbClr val="0000CC"/>
                </a:solidFill>
                <a:latin typeface="Arial" panose="020B0604020202020204" pitchFamily="34" charset="0"/>
                <a:sym typeface="+mn-ea"/>
              </a:rPr>
              <a:t>SQL</a:t>
            </a:r>
            <a:r>
              <a:rPr lang="zh-CN" altLang="en-US" sz="2800">
                <a:solidFill>
                  <a:srgbClr val="0000CC"/>
                </a:solidFill>
                <a:latin typeface="Arial" panose="020B0604020202020204" pitchFamily="34" charset="0"/>
                <a:sym typeface="+mn-ea"/>
              </a:rPr>
              <a:t>语言来查询满足下述条件的客户的</a:t>
            </a:r>
            <a:r>
              <a:rPr lang="en-US" altLang="zh-CN" sz="2800">
                <a:solidFill>
                  <a:srgbClr val="0000CC"/>
                </a:solidFill>
                <a:latin typeface="Arial" panose="020B0604020202020204" pitchFamily="34" charset="0"/>
                <a:sym typeface="+mn-ea"/>
              </a:rPr>
              <a:t>cid</a:t>
            </a:r>
            <a:r>
              <a:rPr lang="zh-CN" altLang="en-US" sz="2800">
                <a:solidFill>
                  <a:srgbClr val="0000CC"/>
                </a:solidFill>
                <a:latin typeface="Arial" panose="020B0604020202020204" pitchFamily="34" charset="0"/>
                <a:sym typeface="+mn-ea"/>
              </a:rPr>
              <a:t>和</a:t>
            </a:r>
            <a:r>
              <a:rPr lang="en-US" altLang="zh-CN" sz="2800">
                <a:solidFill>
                  <a:srgbClr val="0000CC"/>
                </a:solidFill>
                <a:latin typeface="Arial" panose="020B0604020202020204" pitchFamily="34" charset="0"/>
                <a:sym typeface="+mn-ea"/>
              </a:rPr>
              <a:t>cname</a:t>
            </a:r>
            <a:r>
              <a:rPr lang="zh-CN" sz="2800">
                <a:solidFill>
                  <a:srgbClr val="0000CC"/>
                </a:solidFill>
                <a:latin typeface="Arial" panose="020B0604020202020204" pitchFamily="34" charset="0"/>
                <a:sym typeface="+mn-ea"/>
              </a:rPr>
              <a:t>：</a:t>
            </a:r>
            <a:endParaRPr lang="zh-CN" sz="2800">
              <a:solidFill>
                <a:srgbClr val="0000CC"/>
              </a:solidFill>
              <a:latin typeface="Arial" panose="020B0604020202020204" pitchFamily="34" charset="0"/>
            </a:endParaRPr>
          </a:p>
          <a:p>
            <a:pPr lvl="1" fontAlgn="auto">
              <a:lnSpc>
                <a:spcPct val="100000"/>
              </a:lnSpc>
              <a:spcBef>
                <a:spcPts val="0"/>
              </a:spcBef>
              <a:spcAft>
                <a:spcPts val="0"/>
              </a:spcAft>
            </a:pPr>
            <a:r>
              <a:rPr lang="en-US" altLang="zh-CN" sz="2800">
                <a:latin typeface="Arial" panose="020B0604020202020204" pitchFamily="34" charset="0"/>
                <a:sym typeface="+mn-ea"/>
              </a:rPr>
              <a:t>Q2:  </a:t>
            </a:r>
            <a:r>
              <a:rPr lang="zh-CN" altLang="zh-CN" sz="2800">
                <a:latin typeface="Arial" panose="020B0604020202020204" pitchFamily="34" charset="0"/>
                <a:sym typeface="+mn-ea"/>
              </a:rPr>
              <a:t>只购买过两种不同</a:t>
            </a:r>
            <a:r>
              <a:rPr lang="en-US" altLang="zh-CN" sz="2800">
                <a:latin typeface="Arial" panose="020B0604020202020204" pitchFamily="34" charset="0"/>
                <a:sym typeface="+mn-ea"/>
              </a:rPr>
              <a:t>(pid)</a:t>
            </a:r>
            <a:r>
              <a:rPr lang="zh-CN" altLang="zh-CN" sz="2800">
                <a:latin typeface="Arial" panose="020B0604020202020204" pitchFamily="34" charset="0"/>
                <a:sym typeface="+mn-ea"/>
              </a:rPr>
              <a:t>商品</a:t>
            </a:r>
            <a:r>
              <a:rPr lang="en-US" altLang="zh-CN" sz="2800">
                <a:latin typeface="Arial" panose="020B0604020202020204" pitchFamily="34" charset="0"/>
                <a:sym typeface="+mn-ea"/>
              </a:rPr>
              <a:t>;</a:t>
            </a:r>
            <a:endParaRPr lang="zh-CN" altLang="zh-CN" sz="2800">
              <a:solidFill>
                <a:schemeClr val="tx1"/>
              </a:solidFill>
              <a:latin typeface="Arial" panose="020B0604020202020204" pitchFamily="34" charset="0"/>
            </a:endParaRPr>
          </a:p>
        </p:txBody>
      </p:sp>
      <p:graphicFrame>
        <p:nvGraphicFramePr>
          <p:cNvPr id="2" name="对象 1">
            <a:hlinkClick r:id="" action="ppaction://ole?verb="/>
          </p:cNvPr>
          <p:cNvGraphicFramePr>
            <a:graphicFrameLocks noChangeAspect="1"/>
          </p:cNvGraphicFramePr>
          <p:nvPr/>
        </p:nvGraphicFramePr>
        <p:xfrm>
          <a:off x="663575" y="2245239"/>
          <a:ext cx="4941570" cy="3225165"/>
        </p:xfrm>
        <a:graphic>
          <a:graphicData uri="http://schemas.openxmlformats.org/presentationml/2006/ole">
            <mc:AlternateContent xmlns:mc="http://schemas.openxmlformats.org/markup-compatibility/2006">
              <mc:Choice xmlns:v="urn:schemas-microsoft-com:vml" Requires="v">
                <p:oleObj spid="_x0000_s1025" name="" r:id="rId1" imgW="2044700" imgH="1333500" progId="Equation.KSEE3">
                  <p:embed/>
                </p:oleObj>
              </mc:Choice>
              <mc:Fallback>
                <p:oleObj name="" r:id="rId1" imgW="2044700" imgH="1333500" progId="Equation.KSEE3">
                  <p:embed/>
                  <p:pic>
                    <p:nvPicPr>
                      <p:cNvPr id="0" name="图片 1024"/>
                      <p:cNvPicPr/>
                      <p:nvPr/>
                    </p:nvPicPr>
                    <p:blipFill>
                      <a:blip r:embed="rId2"/>
                      <a:stretch>
                        <a:fillRect/>
                      </a:stretch>
                    </p:blipFill>
                    <p:spPr>
                      <a:xfrm>
                        <a:off x="663575" y="2245239"/>
                        <a:ext cx="4941570" cy="3225165"/>
                      </a:xfrm>
                      <a:prstGeom prst="rect">
                        <a:avLst/>
                      </a:prstGeom>
                      <a:ln>
                        <a:solidFill>
                          <a:srgbClr val="FF0000"/>
                        </a:solidFill>
                      </a:ln>
                    </p:spPr>
                  </p:pic>
                </p:oleObj>
              </mc:Fallback>
            </mc:AlternateContent>
          </a:graphicData>
        </a:graphic>
      </p:graphicFrame>
      <p:sp>
        <p:nvSpPr>
          <p:cNvPr id="6" name="文本框 5"/>
          <p:cNvSpPr txBox="1"/>
          <p:nvPr/>
        </p:nvSpPr>
        <p:spPr>
          <a:xfrm>
            <a:off x="663575" y="1724025"/>
            <a:ext cx="3165475" cy="460375"/>
          </a:xfrm>
          <a:prstGeom prst="rect">
            <a:avLst/>
          </a:prstGeom>
          <a:noFill/>
        </p:spPr>
        <p:txBody>
          <a:bodyPr wrap="square" rtlCol="0">
            <a:spAutoFit/>
          </a:bodyPr>
          <a:p>
            <a:r>
              <a:rPr lang="en-US" altLang="zh-CN" sz="2400" b="1">
                <a:solidFill>
                  <a:srgbClr val="0000CC"/>
                </a:solidFill>
                <a:latin typeface="Arial" panose="020B0604020202020204" pitchFamily="34" charset="0"/>
              </a:rPr>
              <a:t>Q2(</a:t>
            </a:r>
            <a:r>
              <a:rPr lang="zh-CN" altLang="zh-CN" sz="2400" b="1">
                <a:solidFill>
                  <a:srgbClr val="0000CC"/>
                </a:solidFill>
                <a:latin typeface="Arial" panose="020B0604020202020204" pitchFamily="34" charset="0"/>
              </a:rPr>
              <a:t>不使用统计函数</a:t>
            </a:r>
            <a:r>
              <a:rPr lang="en-US" altLang="zh-CN" sz="2400" b="1">
                <a:solidFill>
                  <a:srgbClr val="0000CC"/>
                </a:solidFill>
                <a:latin typeface="Arial" panose="020B0604020202020204" pitchFamily="34" charset="0"/>
              </a:rPr>
              <a:t>)</a:t>
            </a:r>
            <a:endParaRPr lang="en-US" altLang="zh-CN" sz="2400" b="1">
              <a:solidFill>
                <a:srgbClr val="0000CC"/>
              </a:solidFill>
              <a:latin typeface="Arial" panose="020B0604020202020204" pitchFamily="34" charset="0"/>
            </a:endParaRPr>
          </a:p>
        </p:txBody>
      </p:sp>
      <p:graphicFrame>
        <p:nvGraphicFramePr>
          <p:cNvPr id="5" name="对象 4">
            <a:hlinkClick r:id="" action="ppaction://ole?verb="/>
          </p:cNvPr>
          <p:cNvGraphicFramePr>
            <a:graphicFrameLocks noChangeAspect="1"/>
          </p:cNvGraphicFramePr>
          <p:nvPr/>
        </p:nvGraphicFramePr>
        <p:xfrm>
          <a:off x="6912928" y="2245557"/>
          <a:ext cx="3898265" cy="3225800"/>
        </p:xfrm>
        <a:graphic>
          <a:graphicData uri="http://schemas.openxmlformats.org/presentationml/2006/ole">
            <mc:AlternateContent xmlns:mc="http://schemas.openxmlformats.org/markup-compatibility/2006">
              <mc:Choice xmlns:v="urn:schemas-microsoft-com:vml" Requires="v">
                <p:oleObj spid="_x0000_s7" name="" r:id="rId3" imgW="1612900" imgH="1333500" progId="Equation.KSEE3">
                  <p:embed/>
                </p:oleObj>
              </mc:Choice>
              <mc:Fallback>
                <p:oleObj name="" r:id="rId3" imgW="1612900" imgH="1333500" progId="Equation.KSEE3">
                  <p:embed/>
                  <p:pic>
                    <p:nvPicPr>
                      <p:cNvPr id="0" name="图片 1024"/>
                      <p:cNvPicPr/>
                      <p:nvPr/>
                    </p:nvPicPr>
                    <p:blipFill>
                      <a:blip r:embed="rId4"/>
                      <a:stretch>
                        <a:fillRect/>
                      </a:stretch>
                    </p:blipFill>
                    <p:spPr>
                      <a:xfrm>
                        <a:off x="6912928" y="2245557"/>
                        <a:ext cx="3898265" cy="3225800"/>
                      </a:xfrm>
                      <a:prstGeom prst="rect">
                        <a:avLst/>
                      </a:prstGeom>
                      <a:ln>
                        <a:solidFill>
                          <a:srgbClr val="FF0000"/>
                        </a:solidFill>
                      </a:ln>
                    </p:spPr>
                  </p:pic>
                </p:oleObj>
              </mc:Fallback>
            </mc:AlternateContent>
          </a:graphicData>
        </a:graphic>
      </p:graphicFrame>
      <p:sp>
        <p:nvSpPr>
          <p:cNvPr id="8" name="文本框 7"/>
          <p:cNvSpPr txBox="1"/>
          <p:nvPr/>
        </p:nvSpPr>
        <p:spPr>
          <a:xfrm>
            <a:off x="6913245" y="1724025"/>
            <a:ext cx="3165475" cy="460375"/>
          </a:xfrm>
          <a:prstGeom prst="rect">
            <a:avLst/>
          </a:prstGeom>
          <a:noFill/>
        </p:spPr>
        <p:txBody>
          <a:bodyPr wrap="square" rtlCol="0">
            <a:spAutoFit/>
          </a:bodyPr>
          <a:p>
            <a:r>
              <a:rPr lang="en-US" altLang="zh-CN" sz="2400" b="1">
                <a:solidFill>
                  <a:srgbClr val="0000CC"/>
                </a:solidFill>
                <a:latin typeface="Arial" panose="020B0604020202020204" pitchFamily="34" charset="0"/>
              </a:rPr>
              <a:t>Q2(</a:t>
            </a:r>
            <a:r>
              <a:rPr lang="zh-CN" altLang="zh-CN" sz="2400" b="1">
                <a:solidFill>
                  <a:srgbClr val="0000CC"/>
                </a:solidFill>
                <a:latin typeface="Arial" panose="020B0604020202020204" pitchFamily="34" charset="0"/>
              </a:rPr>
              <a:t>使用统计函数</a:t>
            </a:r>
            <a:r>
              <a:rPr lang="en-US" altLang="zh-CN" sz="2400" b="1">
                <a:solidFill>
                  <a:srgbClr val="0000CC"/>
                </a:solidFill>
                <a:latin typeface="Arial" panose="020B0604020202020204" pitchFamily="34" charset="0"/>
              </a:rPr>
              <a:t>)</a:t>
            </a:r>
            <a:endParaRPr lang="en-US" altLang="zh-CN" sz="2400" b="1">
              <a:solidFill>
                <a:srgbClr val="0000CC"/>
              </a:solidFill>
              <a:latin typeface="Arial" panose="020B0604020202020204" pitchFamily="34" charset="0"/>
            </a:endParaRPr>
          </a:p>
        </p:txBody>
      </p:sp>
      <p:sp>
        <p:nvSpPr>
          <p:cNvPr id="9" name="文本框 8"/>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55930"/>
            <a:ext cx="10515600" cy="953135"/>
          </a:xfrm>
          <a:ln>
            <a:solidFill>
              <a:schemeClr val="accent1"/>
            </a:solidFill>
          </a:ln>
        </p:spPr>
        <p:txBody>
          <a:bodyPr>
            <a:spAutoFit/>
          </a:bodyPr>
          <a:p>
            <a:pPr marL="514350" indent="-514350" fontAlgn="auto">
              <a:lnSpc>
                <a:spcPct val="100000"/>
              </a:lnSpc>
              <a:spcBef>
                <a:spcPts val="0"/>
              </a:spcBef>
              <a:spcAft>
                <a:spcPts val="0"/>
              </a:spcAft>
              <a:buAutoNum type="arabicPeriod"/>
            </a:pPr>
            <a:r>
              <a:rPr lang="zh-CN" sz="2800">
                <a:solidFill>
                  <a:srgbClr val="0000CC"/>
                </a:solidFill>
                <a:latin typeface="Arial" panose="020B0604020202020204" pitchFamily="34" charset="0"/>
                <a:sym typeface="+mn-ea"/>
              </a:rPr>
              <a:t>请用</a:t>
            </a:r>
            <a:r>
              <a:rPr lang="en-US" altLang="zh-CN" sz="2800">
                <a:solidFill>
                  <a:srgbClr val="0000CC"/>
                </a:solidFill>
                <a:latin typeface="Arial" panose="020B0604020202020204" pitchFamily="34" charset="0"/>
                <a:sym typeface="+mn-ea"/>
              </a:rPr>
              <a:t>SQL</a:t>
            </a:r>
            <a:r>
              <a:rPr lang="zh-CN" altLang="en-US" sz="2800">
                <a:solidFill>
                  <a:srgbClr val="0000CC"/>
                </a:solidFill>
                <a:latin typeface="Arial" panose="020B0604020202020204" pitchFamily="34" charset="0"/>
                <a:sym typeface="+mn-ea"/>
              </a:rPr>
              <a:t>语言来查询满足下述条件的客户的</a:t>
            </a:r>
            <a:r>
              <a:rPr lang="en-US" altLang="zh-CN" sz="2800">
                <a:solidFill>
                  <a:srgbClr val="0000CC"/>
                </a:solidFill>
                <a:latin typeface="Arial" panose="020B0604020202020204" pitchFamily="34" charset="0"/>
                <a:sym typeface="+mn-ea"/>
              </a:rPr>
              <a:t>cid</a:t>
            </a:r>
            <a:r>
              <a:rPr lang="zh-CN" altLang="en-US" sz="2800">
                <a:solidFill>
                  <a:srgbClr val="0000CC"/>
                </a:solidFill>
                <a:latin typeface="Arial" panose="020B0604020202020204" pitchFamily="34" charset="0"/>
                <a:sym typeface="+mn-ea"/>
              </a:rPr>
              <a:t>和</a:t>
            </a:r>
            <a:r>
              <a:rPr lang="en-US" altLang="zh-CN" sz="2800">
                <a:solidFill>
                  <a:srgbClr val="0000CC"/>
                </a:solidFill>
                <a:latin typeface="Arial" panose="020B0604020202020204" pitchFamily="34" charset="0"/>
                <a:sym typeface="+mn-ea"/>
              </a:rPr>
              <a:t>cname</a:t>
            </a:r>
            <a:r>
              <a:rPr lang="zh-CN" sz="2800">
                <a:solidFill>
                  <a:srgbClr val="0000CC"/>
                </a:solidFill>
                <a:latin typeface="Arial" panose="020B0604020202020204" pitchFamily="34" charset="0"/>
                <a:sym typeface="+mn-ea"/>
              </a:rPr>
              <a:t>：</a:t>
            </a:r>
            <a:endParaRPr lang="zh-CN" sz="2800">
              <a:solidFill>
                <a:srgbClr val="0000CC"/>
              </a:solidFill>
              <a:latin typeface="Arial" panose="020B0604020202020204" pitchFamily="34" charset="0"/>
            </a:endParaRPr>
          </a:p>
          <a:p>
            <a:pPr lvl="1" fontAlgn="auto">
              <a:lnSpc>
                <a:spcPct val="100000"/>
              </a:lnSpc>
              <a:spcBef>
                <a:spcPts val="0"/>
              </a:spcBef>
              <a:spcAft>
                <a:spcPts val="0"/>
              </a:spcAft>
            </a:pPr>
            <a:r>
              <a:rPr lang="en-US" altLang="zh-CN" sz="2800">
                <a:latin typeface="Arial" panose="020B0604020202020204" pitchFamily="34" charset="0"/>
                <a:sym typeface="+mn-ea"/>
              </a:rPr>
              <a:t>Q3:  </a:t>
            </a:r>
            <a:r>
              <a:rPr lang="zh-CN" altLang="en-US" sz="2800">
                <a:latin typeface="Arial" panose="020B0604020202020204" pitchFamily="34" charset="0"/>
                <a:sym typeface="+mn-ea"/>
              </a:rPr>
              <a:t>所有订单的购买金额</a:t>
            </a:r>
            <a:r>
              <a:rPr lang="en-US" altLang="zh-CN" sz="2800">
                <a:latin typeface="Arial" panose="020B0604020202020204" pitchFamily="34" charset="0"/>
                <a:sym typeface="+mn-ea"/>
              </a:rPr>
              <a:t>(dols)</a:t>
            </a:r>
            <a:r>
              <a:rPr lang="zh-CN" altLang="en-US" sz="2800">
                <a:latin typeface="Arial" panose="020B0604020202020204" pitchFamily="34" charset="0"/>
                <a:sym typeface="+mn-ea"/>
              </a:rPr>
              <a:t>都超过</a:t>
            </a:r>
            <a:r>
              <a:rPr lang="en-US" altLang="zh-CN" sz="2800">
                <a:latin typeface="Arial" panose="020B0604020202020204" pitchFamily="34" charset="0"/>
                <a:sym typeface="+mn-ea"/>
              </a:rPr>
              <a:t>1000</a:t>
            </a:r>
            <a:r>
              <a:rPr lang="zh-CN" altLang="en-US" sz="2800">
                <a:latin typeface="Arial" panose="020B0604020202020204" pitchFamily="34" charset="0"/>
                <a:sym typeface="+mn-ea"/>
              </a:rPr>
              <a:t>美元</a:t>
            </a:r>
            <a:r>
              <a:rPr lang="en-US" altLang="zh-CN" sz="2800">
                <a:latin typeface="Arial" panose="020B0604020202020204" pitchFamily="34" charset="0"/>
                <a:sym typeface="+mn-ea"/>
              </a:rPr>
              <a:t>;</a:t>
            </a:r>
            <a:endParaRPr lang="zh-CN" altLang="zh-CN" sz="2800">
              <a:solidFill>
                <a:schemeClr val="tx1"/>
              </a:solidFill>
              <a:latin typeface="Arial" panose="020B0604020202020204" pitchFamily="34" charset="0"/>
            </a:endParaRPr>
          </a:p>
        </p:txBody>
      </p:sp>
      <p:graphicFrame>
        <p:nvGraphicFramePr>
          <p:cNvPr id="2" name="对象 1">
            <a:hlinkClick r:id="" action="ppaction://ole?verb="/>
          </p:cNvPr>
          <p:cNvGraphicFramePr>
            <a:graphicFrameLocks noChangeAspect="1"/>
          </p:cNvGraphicFramePr>
          <p:nvPr/>
        </p:nvGraphicFramePr>
        <p:xfrm>
          <a:off x="1400175" y="2245239"/>
          <a:ext cx="3468370" cy="3225165"/>
        </p:xfrm>
        <a:graphic>
          <a:graphicData uri="http://schemas.openxmlformats.org/presentationml/2006/ole">
            <mc:AlternateContent xmlns:mc="http://schemas.openxmlformats.org/markup-compatibility/2006">
              <mc:Choice xmlns:v="urn:schemas-microsoft-com:vml" Requires="v">
                <p:oleObj spid="_x0000_s1025" name="" r:id="rId1" imgW="1435100" imgH="1333500" progId="Equation.KSEE3">
                  <p:embed/>
                </p:oleObj>
              </mc:Choice>
              <mc:Fallback>
                <p:oleObj name="" r:id="rId1" imgW="1435100" imgH="1333500" progId="Equation.KSEE3">
                  <p:embed/>
                  <p:pic>
                    <p:nvPicPr>
                      <p:cNvPr id="0" name="图片 1024"/>
                      <p:cNvPicPr/>
                      <p:nvPr/>
                    </p:nvPicPr>
                    <p:blipFill>
                      <a:blip r:embed="rId2"/>
                      <a:stretch>
                        <a:fillRect/>
                      </a:stretch>
                    </p:blipFill>
                    <p:spPr>
                      <a:xfrm>
                        <a:off x="1400175" y="2245239"/>
                        <a:ext cx="3468370" cy="3225165"/>
                      </a:xfrm>
                      <a:prstGeom prst="rect">
                        <a:avLst/>
                      </a:prstGeom>
                      <a:ln>
                        <a:solidFill>
                          <a:srgbClr val="FF0000"/>
                        </a:solidFill>
                      </a:ln>
                    </p:spPr>
                  </p:pic>
                </p:oleObj>
              </mc:Fallback>
            </mc:AlternateContent>
          </a:graphicData>
        </a:graphic>
      </p:graphicFrame>
      <p:sp>
        <p:nvSpPr>
          <p:cNvPr id="6" name="文本框 5"/>
          <p:cNvSpPr txBox="1"/>
          <p:nvPr/>
        </p:nvSpPr>
        <p:spPr>
          <a:xfrm>
            <a:off x="1400175" y="1724025"/>
            <a:ext cx="3165475" cy="460375"/>
          </a:xfrm>
          <a:prstGeom prst="rect">
            <a:avLst/>
          </a:prstGeom>
          <a:noFill/>
        </p:spPr>
        <p:txBody>
          <a:bodyPr wrap="square" rtlCol="0">
            <a:spAutoFit/>
          </a:bodyPr>
          <a:p>
            <a:r>
              <a:rPr lang="en-US" altLang="zh-CN" sz="2400" b="1">
                <a:solidFill>
                  <a:srgbClr val="0000CC"/>
                </a:solidFill>
                <a:latin typeface="Arial" panose="020B0604020202020204" pitchFamily="34" charset="0"/>
              </a:rPr>
              <a:t>Q3(</a:t>
            </a:r>
            <a:r>
              <a:rPr lang="zh-CN" altLang="zh-CN" sz="2400" b="1">
                <a:solidFill>
                  <a:srgbClr val="0000CC"/>
                </a:solidFill>
                <a:latin typeface="Arial" panose="020B0604020202020204" pitchFamily="34" charset="0"/>
              </a:rPr>
              <a:t>不使用统计函数</a:t>
            </a:r>
            <a:r>
              <a:rPr lang="en-US" altLang="zh-CN" sz="2400" b="1">
                <a:solidFill>
                  <a:srgbClr val="0000CC"/>
                </a:solidFill>
                <a:latin typeface="Arial" panose="020B0604020202020204" pitchFamily="34" charset="0"/>
              </a:rPr>
              <a:t>)</a:t>
            </a:r>
            <a:endParaRPr lang="en-US" altLang="zh-CN" sz="2400" b="1">
              <a:solidFill>
                <a:srgbClr val="0000CC"/>
              </a:solidFill>
              <a:latin typeface="Arial" panose="020B0604020202020204" pitchFamily="34" charset="0"/>
            </a:endParaRPr>
          </a:p>
        </p:txBody>
      </p:sp>
      <p:graphicFrame>
        <p:nvGraphicFramePr>
          <p:cNvPr id="5" name="对象 4">
            <a:hlinkClick r:id="" action="ppaction://ole?verb="/>
          </p:cNvPr>
          <p:cNvGraphicFramePr>
            <a:graphicFrameLocks noChangeAspect="1"/>
          </p:cNvGraphicFramePr>
          <p:nvPr/>
        </p:nvGraphicFramePr>
        <p:xfrm>
          <a:off x="7127558" y="2245557"/>
          <a:ext cx="3469005" cy="3225800"/>
        </p:xfrm>
        <a:graphic>
          <a:graphicData uri="http://schemas.openxmlformats.org/presentationml/2006/ole">
            <mc:AlternateContent xmlns:mc="http://schemas.openxmlformats.org/markup-compatibility/2006">
              <mc:Choice xmlns:v="urn:schemas-microsoft-com:vml" Requires="v">
                <p:oleObj spid="_x0000_s7" name="" r:id="rId3" imgW="1435100" imgH="1333500" progId="Equation.KSEE3">
                  <p:embed/>
                </p:oleObj>
              </mc:Choice>
              <mc:Fallback>
                <p:oleObj name="" r:id="rId3" imgW="1435100" imgH="1333500" progId="Equation.KSEE3">
                  <p:embed/>
                  <p:pic>
                    <p:nvPicPr>
                      <p:cNvPr id="0" name="图片 1024"/>
                      <p:cNvPicPr/>
                      <p:nvPr/>
                    </p:nvPicPr>
                    <p:blipFill>
                      <a:blip r:embed="rId4"/>
                      <a:stretch>
                        <a:fillRect/>
                      </a:stretch>
                    </p:blipFill>
                    <p:spPr>
                      <a:xfrm>
                        <a:off x="7127558" y="2245557"/>
                        <a:ext cx="3469005" cy="3225800"/>
                      </a:xfrm>
                      <a:prstGeom prst="rect">
                        <a:avLst/>
                      </a:prstGeom>
                      <a:ln>
                        <a:solidFill>
                          <a:srgbClr val="FF0000"/>
                        </a:solidFill>
                      </a:ln>
                    </p:spPr>
                  </p:pic>
                </p:oleObj>
              </mc:Fallback>
            </mc:AlternateContent>
          </a:graphicData>
        </a:graphic>
      </p:graphicFrame>
      <p:sp>
        <p:nvSpPr>
          <p:cNvPr id="8" name="文本框 7"/>
          <p:cNvSpPr txBox="1"/>
          <p:nvPr/>
        </p:nvSpPr>
        <p:spPr>
          <a:xfrm>
            <a:off x="6913245" y="1724025"/>
            <a:ext cx="3165475" cy="460375"/>
          </a:xfrm>
          <a:prstGeom prst="rect">
            <a:avLst/>
          </a:prstGeom>
          <a:noFill/>
        </p:spPr>
        <p:txBody>
          <a:bodyPr wrap="square" rtlCol="0">
            <a:spAutoFit/>
          </a:bodyPr>
          <a:p>
            <a:r>
              <a:rPr lang="en-US" altLang="zh-CN" sz="2400" b="1">
                <a:solidFill>
                  <a:srgbClr val="0000CC"/>
                </a:solidFill>
                <a:latin typeface="Arial" panose="020B0604020202020204" pitchFamily="34" charset="0"/>
              </a:rPr>
              <a:t>Q3(</a:t>
            </a:r>
            <a:r>
              <a:rPr lang="zh-CN" altLang="zh-CN" sz="2400" b="1">
                <a:solidFill>
                  <a:srgbClr val="0000CC"/>
                </a:solidFill>
                <a:latin typeface="Arial" panose="020B0604020202020204" pitchFamily="34" charset="0"/>
              </a:rPr>
              <a:t>使用统计函数</a:t>
            </a:r>
            <a:r>
              <a:rPr lang="en-US" altLang="zh-CN" sz="2400" b="1">
                <a:solidFill>
                  <a:srgbClr val="0000CC"/>
                </a:solidFill>
                <a:latin typeface="Arial" panose="020B0604020202020204" pitchFamily="34" charset="0"/>
              </a:rPr>
              <a:t>)</a:t>
            </a:r>
            <a:endParaRPr lang="en-US" altLang="zh-CN" sz="2400" b="1">
              <a:solidFill>
                <a:srgbClr val="0000CC"/>
              </a:solidFill>
              <a:latin typeface="Arial" panose="020B0604020202020204" pitchFamily="34" charset="0"/>
            </a:endParaRPr>
          </a:p>
        </p:txBody>
      </p:sp>
      <p:sp>
        <p:nvSpPr>
          <p:cNvPr id="9" name="文本框 8"/>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55930"/>
            <a:ext cx="10515600" cy="953135"/>
          </a:xfrm>
          <a:ln>
            <a:solidFill>
              <a:schemeClr val="accent1"/>
            </a:solidFill>
          </a:ln>
        </p:spPr>
        <p:txBody>
          <a:bodyPr>
            <a:spAutoFit/>
          </a:bodyPr>
          <a:p>
            <a:pPr marL="514350" indent="-514350" fontAlgn="auto">
              <a:lnSpc>
                <a:spcPct val="100000"/>
              </a:lnSpc>
              <a:spcBef>
                <a:spcPts val="0"/>
              </a:spcBef>
              <a:spcAft>
                <a:spcPts val="0"/>
              </a:spcAft>
              <a:buAutoNum type="arabicPeriod"/>
            </a:pPr>
            <a:r>
              <a:rPr lang="zh-CN" sz="2800">
                <a:solidFill>
                  <a:srgbClr val="0000CC"/>
                </a:solidFill>
                <a:latin typeface="Arial" panose="020B0604020202020204" pitchFamily="34" charset="0"/>
                <a:sym typeface="+mn-ea"/>
              </a:rPr>
              <a:t>请用</a:t>
            </a:r>
            <a:r>
              <a:rPr lang="en-US" altLang="zh-CN" sz="2800">
                <a:solidFill>
                  <a:srgbClr val="0000CC"/>
                </a:solidFill>
                <a:latin typeface="Arial" panose="020B0604020202020204" pitchFamily="34" charset="0"/>
                <a:sym typeface="+mn-ea"/>
              </a:rPr>
              <a:t>SQL</a:t>
            </a:r>
            <a:r>
              <a:rPr lang="zh-CN" altLang="en-US" sz="2800">
                <a:solidFill>
                  <a:srgbClr val="0000CC"/>
                </a:solidFill>
                <a:latin typeface="Arial" panose="020B0604020202020204" pitchFamily="34" charset="0"/>
                <a:sym typeface="+mn-ea"/>
              </a:rPr>
              <a:t>语言来查询满足下述条件的客户的</a:t>
            </a:r>
            <a:r>
              <a:rPr lang="en-US" altLang="zh-CN" sz="2800">
                <a:solidFill>
                  <a:srgbClr val="0000CC"/>
                </a:solidFill>
                <a:latin typeface="Arial" panose="020B0604020202020204" pitchFamily="34" charset="0"/>
                <a:sym typeface="+mn-ea"/>
              </a:rPr>
              <a:t>cid</a:t>
            </a:r>
            <a:r>
              <a:rPr lang="zh-CN" altLang="en-US" sz="2800">
                <a:solidFill>
                  <a:srgbClr val="0000CC"/>
                </a:solidFill>
                <a:latin typeface="Arial" panose="020B0604020202020204" pitchFamily="34" charset="0"/>
                <a:sym typeface="+mn-ea"/>
              </a:rPr>
              <a:t>和</a:t>
            </a:r>
            <a:r>
              <a:rPr lang="en-US" altLang="zh-CN" sz="2800">
                <a:solidFill>
                  <a:srgbClr val="0000CC"/>
                </a:solidFill>
                <a:latin typeface="Arial" panose="020B0604020202020204" pitchFamily="34" charset="0"/>
                <a:sym typeface="+mn-ea"/>
              </a:rPr>
              <a:t>cname</a:t>
            </a:r>
            <a:r>
              <a:rPr lang="zh-CN" sz="2800">
                <a:solidFill>
                  <a:srgbClr val="0000CC"/>
                </a:solidFill>
                <a:latin typeface="Arial" panose="020B0604020202020204" pitchFamily="34" charset="0"/>
                <a:sym typeface="+mn-ea"/>
              </a:rPr>
              <a:t>：</a:t>
            </a:r>
            <a:endParaRPr lang="zh-CN" sz="2800">
              <a:solidFill>
                <a:srgbClr val="0000CC"/>
              </a:solidFill>
              <a:latin typeface="Arial" panose="020B0604020202020204" pitchFamily="34" charset="0"/>
            </a:endParaRPr>
          </a:p>
          <a:p>
            <a:pPr lvl="1" fontAlgn="auto">
              <a:lnSpc>
                <a:spcPct val="100000"/>
              </a:lnSpc>
              <a:spcBef>
                <a:spcPts val="0"/>
              </a:spcBef>
              <a:spcAft>
                <a:spcPts val="0"/>
              </a:spcAft>
            </a:pPr>
            <a:r>
              <a:rPr lang="en-US" altLang="zh-CN" sz="2800">
                <a:latin typeface="Arial" panose="020B0604020202020204" pitchFamily="34" charset="0"/>
                <a:sym typeface="+mn-ea"/>
              </a:rPr>
              <a:t>Q4:  </a:t>
            </a:r>
            <a:r>
              <a:rPr lang="zh-CN" altLang="en-US" sz="2800">
                <a:latin typeface="Arial" panose="020B0604020202020204" pitchFamily="34" charset="0"/>
                <a:sym typeface="+mn-ea"/>
              </a:rPr>
              <a:t>通过纽约市的供应商去购买过所有价格超过</a:t>
            </a:r>
            <a:r>
              <a:rPr lang="en-US" altLang="zh-CN" sz="2800">
                <a:latin typeface="Arial" panose="020B0604020202020204" pitchFamily="34" charset="0"/>
                <a:sym typeface="+mn-ea"/>
              </a:rPr>
              <a:t>1</a:t>
            </a:r>
            <a:r>
              <a:rPr lang="zh-CN" altLang="en-US" sz="2800">
                <a:latin typeface="Arial" panose="020B0604020202020204" pitchFamily="34" charset="0"/>
                <a:sym typeface="+mn-ea"/>
              </a:rPr>
              <a:t>美元的商品</a:t>
            </a:r>
            <a:r>
              <a:rPr lang="en-US" altLang="zh-CN" sz="2800">
                <a:latin typeface="Arial" panose="020B0604020202020204" pitchFamily="34" charset="0"/>
                <a:sym typeface="+mn-ea"/>
              </a:rPr>
              <a:t>;</a:t>
            </a:r>
            <a:endParaRPr lang="zh-CN" altLang="zh-CN" sz="2800">
              <a:solidFill>
                <a:schemeClr val="tx1"/>
              </a:solidFill>
              <a:latin typeface="Arial" panose="020B0604020202020204" pitchFamily="34" charset="0"/>
            </a:endParaRPr>
          </a:p>
        </p:txBody>
      </p:sp>
      <p:graphicFrame>
        <p:nvGraphicFramePr>
          <p:cNvPr id="2" name="对象 1">
            <a:hlinkClick r:id="" action="ppaction://ole?verb="/>
          </p:cNvPr>
          <p:cNvGraphicFramePr>
            <a:graphicFrameLocks noChangeAspect="1"/>
          </p:cNvGraphicFramePr>
          <p:nvPr/>
        </p:nvGraphicFramePr>
        <p:xfrm>
          <a:off x="1358583" y="1660722"/>
          <a:ext cx="5678805" cy="4577080"/>
        </p:xfrm>
        <a:graphic>
          <a:graphicData uri="http://schemas.openxmlformats.org/presentationml/2006/ole">
            <mc:AlternateContent xmlns:mc="http://schemas.openxmlformats.org/markup-compatibility/2006">
              <mc:Choice xmlns:v="urn:schemas-microsoft-com:vml" Requires="v">
                <p:oleObj spid="_x0000_s1025" name="" r:id="rId1" imgW="2349500" imgH="1892300" progId="Equation.KSEE3">
                  <p:embed/>
                </p:oleObj>
              </mc:Choice>
              <mc:Fallback>
                <p:oleObj name="" r:id="rId1" imgW="2349500" imgH="1892300" progId="Equation.KSEE3">
                  <p:embed/>
                  <p:pic>
                    <p:nvPicPr>
                      <p:cNvPr id="0" name="图片 1024"/>
                      <p:cNvPicPr/>
                      <p:nvPr/>
                    </p:nvPicPr>
                    <p:blipFill>
                      <a:blip r:embed="rId2"/>
                      <a:stretch>
                        <a:fillRect/>
                      </a:stretch>
                    </p:blipFill>
                    <p:spPr>
                      <a:xfrm>
                        <a:off x="1358583" y="1660722"/>
                        <a:ext cx="5678805" cy="4577080"/>
                      </a:xfrm>
                      <a:prstGeom prst="rect">
                        <a:avLst/>
                      </a:prstGeom>
                      <a:ln>
                        <a:solidFill>
                          <a:srgbClr val="FF0000"/>
                        </a:solidFill>
                      </a:ln>
                    </p:spPr>
                  </p:pic>
                </p:oleObj>
              </mc:Fallback>
            </mc:AlternateContent>
          </a:graphicData>
        </a:graphic>
      </p:graphicFrame>
      <p:sp>
        <p:nvSpPr>
          <p:cNvPr id="6" name="文本框 5"/>
          <p:cNvSpPr txBox="1"/>
          <p:nvPr/>
        </p:nvSpPr>
        <p:spPr>
          <a:xfrm>
            <a:off x="457200" y="1660525"/>
            <a:ext cx="777875" cy="460375"/>
          </a:xfrm>
          <a:prstGeom prst="rect">
            <a:avLst/>
          </a:prstGeom>
          <a:noFill/>
        </p:spPr>
        <p:txBody>
          <a:bodyPr wrap="square" rtlCol="0">
            <a:spAutoFit/>
          </a:bodyPr>
          <a:p>
            <a:r>
              <a:rPr lang="en-US" altLang="zh-CN" sz="2400" b="1">
                <a:solidFill>
                  <a:srgbClr val="0000CC"/>
                </a:solidFill>
                <a:latin typeface="Arial" panose="020B0604020202020204" pitchFamily="34" charset="0"/>
              </a:rPr>
              <a:t>Q4</a:t>
            </a:r>
            <a:endParaRPr lang="en-US" altLang="zh-CN" sz="2400" b="1">
              <a:solidFill>
                <a:srgbClr val="0000CC"/>
              </a:solidFill>
              <a:latin typeface="Arial" panose="020B0604020202020204" pitchFamily="34" charset="0"/>
            </a:endParaRPr>
          </a:p>
        </p:txBody>
      </p:sp>
      <p:sp>
        <p:nvSpPr>
          <p:cNvPr id="5" name="文本框 4"/>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55930"/>
            <a:ext cx="10515600" cy="829945"/>
          </a:xfrm>
          <a:ln>
            <a:solidFill>
              <a:schemeClr val="accent1"/>
            </a:solidFill>
          </a:ln>
        </p:spPr>
        <p:txBody>
          <a:bodyPr>
            <a:spAutoFit/>
          </a:bodyPr>
          <a:p>
            <a:pPr marL="514350" indent="-514350" fontAlgn="auto">
              <a:lnSpc>
                <a:spcPts val="2880"/>
              </a:lnSpc>
              <a:spcBef>
                <a:spcPts val="0"/>
              </a:spcBef>
              <a:spcAft>
                <a:spcPts val="0"/>
              </a:spcAft>
              <a:buFont typeface="+mj-lt"/>
              <a:buAutoNum type="arabicPeriod" startAt="2"/>
            </a:pPr>
            <a:r>
              <a:rPr lang="zh-CN" altLang="en-US" sz="2400">
                <a:solidFill>
                  <a:srgbClr val="0000CC"/>
                </a:solidFill>
                <a:latin typeface="Arial" panose="020B0604020202020204" pitchFamily="34" charset="0"/>
                <a:sym typeface="+mn-ea"/>
              </a:rPr>
              <a:t>请用</a:t>
            </a:r>
            <a:r>
              <a:rPr lang="en-US" altLang="zh-CN" sz="2400">
                <a:solidFill>
                  <a:srgbClr val="0000CC"/>
                </a:solidFill>
                <a:latin typeface="Arial" panose="020B0604020202020204" pitchFamily="34" charset="0"/>
                <a:sym typeface="+mn-ea"/>
              </a:rPr>
              <a:t>SQL</a:t>
            </a:r>
            <a:r>
              <a:rPr lang="zh-CN" altLang="en-US" sz="2400">
                <a:solidFill>
                  <a:srgbClr val="0000CC"/>
                </a:solidFill>
                <a:latin typeface="Arial" panose="020B0604020202020204" pitchFamily="34" charset="0"/>
                <a:sym typeface="+mn-ea"/>
              </a:rPr>
              <a:t>语言来表示下述查询</a:t>
            </a:r>
            <a:r>
              <a:rPr lang="en-US" altLang="zh-CN" sz="2400">
                <a:solidFill>
                  <a:srgbClr val="0000CC"/>
                </a:solidFill>
                <a:latin typeface="Arial" panose="020B0604020202020204" pitchFamily="34" charset="0"/>
                <a:sym typeface="+mn-ea"/>
              </a:rPr>
              <a:t> (</a:t>
            </a:r>
            <a:r>
              <a:rPr lang="zh-CN" altLang="en-US" sz="2400">
                <a:solidFill>
                  <a:srgbClr val="0000CC"/>
                </a:solidFill>
                <a:latin typeface="Arial" panose="020B0604020202020204" pitchFamily="34" charset="0"/>
                <a:sym typeface="+mn-ea"/>
              </a:rPr>
              <a:t>结果返回</a:t>
            </a:r>
            <a:r>
              <a:rPr lang="en-US" altLang="zh-CN" sz="2400">
                <a:solidFill>
                  <a:srgbClr val="0000CC"/>
                </a:solidFill>
                <a:latin typeface="Arial" panose="020B0604020202020204" pitchFamily="34" charset="0"/>
                <a:sym typeface="+mn-ea"/>
              </a:rPr>
              <a:t>cid</a:t>
            </a:r>
            <a:r>
              <a:rPr lang="zh-CN" altLang="en-US" sz="2400">
                <a:solidFill>
                  <a:srgbClr val="0000CC"/>
                </a:solidFill>
                <a:latin typeface="Arial" panose="020B0604020202020204" pitchFamily="34" charset="0"/>
                <a:sym typeface="+mn-ea"/>
              </a:rPr>
              <a:t>和</a:t>
            </a:r>
            <a:r>
              <a:rPr lang="en-US" altLang="zh-CN" sz="2400">
                <a:solidFill>
                  <a:srgbClr val="0000CC"/>
                </a:solidFill>
                <a:latin typeface="Arial" panose="020B0604020202020204" pitchFamily="34" charset="0"/>
                <a:sym typeface="+mn-ea"/>
              </a:rPr>
              <a:t>pid)</a:t>
            </a:r>
            <a:endParaRPr lang="zh-CN" altLang="en-US" sz="2400">
              <a:solidFill>
                <a:srgbClr val="0000CC"/>
              </a:solidFill>
              <a:latin typeface="Arial" panose="020B0604020202020204" pitchFamily="34" charset="0"/>
            </a:endParaRPr>
          </a:p>
          <a:p>
            <a:pPr lvl="1" fontAlgn="auto">
              <a:lnSpc>
                <a:spcPts val="2880"/>
              </a:lnSpc>
              <a:spcBef>
                <a:spcPts val="0"/>
              </a:spcBef>
              <a:spcAft>
                <a:spcPts val="0"/>
              </a:spcAft>
            </a:pPr>
            <a:r>
              <a:rPr lang="en-US" altLang="x-none" dirty="0">
                <a:latin typeface="Arial" panose="020B0604020202020204" pitchFamily="34" charset="0"/>
                <a:ea typeface="宋体" panose="02010600030101010101" pitchFamily="2" charset="-122"/>
                <a:cs typeface="+mn-ea"/>
                <a:sym typeface="+mn-ea"/>
              </a:rPr>
              <a:t>Q5:  </a:t>
            </a:r>
            <a:r>
              <a:rPr lang="zh-CN" altLang="en-US" dirty="0">
                <a:latin typeface="Arial" panose="020B0604020202020204" pitchFamily="34" charset="0"/>
                <a:ea typeface="宋体" panose="02010600030101010101" pitchFamily="2" charset="-122"/>
                <a:cs typeface="+mn-ea"/>
                <a:sym typeface="+mn-ea"/>
              </a:rPr>
              <a:t>客户</a:t>
            </a:r>
            <a:r>
              <a:rPr lang="en-US" altLang="zh-CN" dirty="0">
                <a:latin typeface="Arial" panose="020B0604020202020204" pitchFamily="34" charset="0"/>
                <a:ea typeface="宋体" panose="02010600030101010101" pitchFamily="2" charset="-122"/>
                <a:cs typeface="+mn-ea"/>
                <a:sym typeface="+mn-ea"/>
              </a:rPr>
              <a:t>C</a:t>
            </a:r>
            <a:r>
              <a:rPr lang="zh-CN" altLang="zh-CN" dirty="0">
                <a:latin typeface="Arial" panose="020B0604020202020204" pitchFamily="34" charset="0"/>
                <a:ea typeface="宋体" panose="02010600030101010101" pitchFamily="2" charset="-122"/>
                <a:cs typeface="+mn-ea"/>
                <a:sym typeface="+mn-ea"/>
              </a:rPr>
              <a:t>只</a:t>
            </a:r>
            <a:r>
              <a:rPr lang="zh-CN" altLang="x-none" dirty="0">
                <a:latin typeface="Arial" panose="020B0604020202020204" pitchFamily="34" charset="0"/>
                <a:ea typeface="宋体" panose="02010600030101010101" pitchFamily="2" charset="-122"/>
                <a:cs typeface="+mn-ea"/>
                <a:sym typeface="+mn-ea"/>
              </a:rPr>
              <a:t>购买过一次</a:t>
            </a:r>
            <a:endParaRPr lang="zh-CN" altLang="en-US" sz="2400">
              <a:solidFill>
                <a:schemeClr val="tx1"/>
              </a:solidFill>
              <a:latin typeface="Arial" panose="020B0604020202020204" pitchFamily="34" charset="0"/>
            </a:endParaRPr>
          </a:p>
        </p:txBody>
      </p:sp>
      <p:grpSp>
        <p:nvGrpSpPr>
          <p:cNvPr id="6" name="组合 5"/>
          <p:cNvGrpSpPr/>
          <p:nvPr/>
        </p:nvGrpSpPr>
        <p:grpSpPr>
          <a:xfrm>
            <a:off x="309880" y="1413510"/>
            <a:ext cx="4016375" cy="3529965"/>
            <a:chOff x="834" y="4652"/>
            <a:chExt cx="6325" cy="5559"/>
          </a:xfrm>
        </p:grpSpPr>
        <p:sp>
          <p:nvSpPr>
            <p:cNvPr id="2" name="文本框 1"/>
            <p:cNvSpPr txBox="1"/>
            <p:nvPr/>
          </p:nvSpPr>
          <p:spPr>
            <a:xfrm>
              <a:off x="1339" y="4652"/>
              <a:ext cx="1777" cy="725"/>
            </a:xfrm>
            <a:prstGeom prst="rect">
              <a:avLst/>
            </a:prstGeom>
            <a:noFill/>
          </p:spPr>
          <p:txBody>
            <a:bodyPr wrap="square" rtlCol="0">
              <a:spAutoFit/>
            </a:bodyPr>
            <a:p>
              <a:r>
                <a:rPr lang="en-US" altLang="zh-CN" sz="2400" b="1"/>
                <a:t>Q5 (1)</a:t>
              </a:r>
              <a:endParaRPr lang="en-US" altLang="zh-CN" sz="2400" b="1"/>
            </a:p>
          </p:txBody>
        </p:sp>
        <p:graphicFrame>
          <p:nvGraphicFramePr>
            <p:cNvPr id="5" name="对象 4">
              <a:hlinkClick r:id="" action="ppaction://ole?verb="/>
            </p:cNvPr>
            <p:cNvGraphicFramePr>
              <a:graphicFrameLocks noChangeAspect="1"/>
            </p:cNvGraphicFramePr>
            <p:nvPr/>
          </p:nvGraphicFramePr>
          <p:xfrm>
            <a:off x="834" y="5393"/>
            <a:ext cx="6325" cy="4818"/>
          </p:xfrm>
          <a:graphic>
            <a:graphicData uri="http://schemas.openxmlformats.org/presentationml/2006/ole">
              <mc:AlternateContent xmlns:mc="http://schemas.openxmlformats.org/markup-compatibility/2006">
                <mc:Choice xmlns:v="urn:schemas-microsoft-com:vml" Requires="v">
                  <p:oleObj spid="_x0000_s2049" name="" r:id="rId1" imgW="1688465" imgH="1333500" progId="Equation.KSEE3">
                    <p:embed/>
                  </p:oleObj>
                </mc:Choice>
                <mc:Fallback>
                  <p:oleObj name="" r:id="rId1" imgW="1688465" imgH="1333500" progId="Equation.KSEE3">
                    <p:embed/>
                    <p:pic>
                      <p:nvPicPr>
                        <p:cNvPr id="0" name="图片 2048"/>
                        <p:cNvPicPr/>
                        <p:nvPr/>
                      </p:nvPicPr>
                      <p:blipFill>
                        <a:blip r:embed="rId2"/>
                        <a:stretch>
                          <a:fillRect/>
                        </a:stretch>
                      </p:blipFill>
                      <p:spPr>
                        <a:xfrm>
                          <a:off x="834" y="5393"/>
                          <a:ext cx="6325" cy="4818"/>
                        </a:xfrm>
                        <a:prstGeom prst="rect">
                          <a:avLst/>
                        </a:prstGeom>
                        <a:ln>
                          <a:solidFill>
                            <a:srgbClr val="FF0000"/>
                          </a:solidFill>
                        </a:ln>
                      </p:spPr>
                    </p:pic>
                  </p:oleObj>
                </mc:Fallback>
              </mc:AlternateContent>
            </a:graphicData>
          </a:graphic>
        </p:graphicFrame>
      </p:grpSp>
      <p:grpSp>
        <p:nvGrpSpPr>
          <p:cNvPr id="20" name="组合 19"/>
          <p:cNvGrpSpPr/>
          <p:nvPr/>
        </p:nvGrpSpPr>
        <p:grpSpPr>
          <a:xfrm>
            <a:off x="4760702" y="1400810"/>
            <a:ext cx="3122149" cy="3524091"/>
            <a:chOff x="2159" y="4670"/>
            <a:chExt cx="4508" cy="5399"/>
          </a:xfrm>
        </p:grpSpPr>
        <p:sp>
          <p:nvSpPr>
            <p:cNvPr id="21" name="文本框 20"/>
            <p:cNvSpPr txBox="1"/>
            <p:nvPr/>
          </p:nvSpPr>
          <p:spPr>
            <a:xfrm>
              <a:off x="2159" y="4670"/>
              <a:ext cx="3706" cy="705"/>
            </a:xfrm>
            <a:prstGeom prst="rect">
              <a:avLst/>
            </a:prstGeom>
            <a:noFill/>
          </p:spPr>
          <p:txBody>
            <a:bodyPr wrap="square" rtlCol="0">
              <a:spAutoFit/>
            </a:bodyPr>
            <a:p>
              <a:r>
                <a:rPr lang="en-US" altLang="zh-CN" sz="2400" b="1"/>
                <a:t>Q5 (2) </a:t>
              </a:r>
              <a:endParaRPr lang="zh-CN" altLang="en-US" sz="2400" b="1"/>
            </a:p>
          </p:txBody>
        </p:sp>
        <p:graphicFrame>
          <p:nvGraphicFramePr>
            <p:cNvPr id="22" name="对象 21">
              <a:hlinkClick r:id="" action="ppaction://ole?verb="/>
            </p:cNvPr>
            <p:cNvGraphicFramePr>
              <a:graphicFrameLocks noChangeAspect="1"/>
            </p:cNvGraphicFramePr>
            <p:nvPr/>
          </p:nvGraphicFramePr>
          <p:xfrm>
            <a:off x="2185" y="5395"/>
            <a:ext cx="4482" cy="4674"/>
          </p:xfrm>
          <a:graphic>
            <a:graphicData uri="http://schemas.openxmlformats.org/presentationml/2006/ole">
              <mc:AlternateContent xmlns:mc="http://schemas.openxmlformats.org/markup-compatibility/2006">
                <mc:Choice xmlns:v="urn:schemas-microsoft-com:vml" Requires="v">
                  <p:oleObj spid="_x0000_s23" name="" r:id="rId3" imgW="1282700" imgH="1295400" progId="Equation.KSEE3">
                    <p:embed/>
                  </p:oleObj>
                </mc:Choice>
                <mc:Fallback>
                  <p:oleObj name="" r:id="rId3" imgW="1282700" imgH="1295400" progId="Equation.KSEE3">
                    <p:embed/>
                    <p:pic>
                      <p:nvPicPr>
                        <p:cNvPr id="0" name="图片 2048"/>
                        <p:cNvPicPr/>
                        <p:nvPr/>
                      </p:nvPicPr>
                      <p:blipFill>
                        <a:blip r:embed="rId4"/>
                        <a:stretch>
                          <a:fillRect/>
                        </a:stretch>
                      </p:blipFill>
                      <p:spPr>
                        <a:xfrm>
                          <a:off x="2185" y="5395"/>
                          <a:ext cx="4482" cy="4674"/>
                        </a:xfrm>
                        <a:prstGeom prst="rect">
                          <a:avLst/>
                        </a:prstGeom>
                        <a:ln>
                          <a:solidFill>
                            <a:srgbClr val="FF0000"/>
                          </a:solidFill>
                        </a:ln>
                      </p:spPr>
                    </p:pic>
                  </p:oleObj>
                </mc:Fallback>
              </mc:AlternateContent>
            </a:graphicData>
          </a:graphic>
        </p:graphicFrame>
      </p:grpSp>
      <p:grpSp>
        <p:nvGrpSpPr>
          <p:cNvPr id="7" name="组合 6"/>
          <p:cNvGrpSpPr/>
          <p:nvPr/>
        </p:nvGrpSpPr>
        <p:grpSpPr>
          <a:xfrm>
            <a:off x="8214360" y="1413510"/>
            <a:ext cx="3251835" cy="3521075"/>
            <a:chOff x="2510" y="4756"/>
            <a:chExt cx="5121" cy="5545"/>
          </a:xfrm>
        </p:grpSpPr>
        <p:sp>
          <p:nvSpPr>
            <p:cNvPr id="8" name="文本框 7"/>
            <p:cNvSpPr txBox="1"/>
            <p:nvPr/>
          </p:nvSpPr>
          <p:spPr>
            <a:xfrm>
              <a:off x="2510" y="4756"/>
              <a:ext cx="3706" cy="725"/>
            </a:xfrm>
            <a:prstGeom prst="rect">
              <a:avLst/>
            </a:prstGeom>
            <a:noFill/>
          </p:spPr>
          <p:txBody>
            <a:bodyPr wrap="square" rtlCol="0">
              <a:spAutoFit/>
            </a:bodyPr>
            <a:p>
              <a:r>
                <a:rPr lang="en-US" altLang="zh-CN" sz="2400" b="1"/>
                <a:t>Q5 (3) </a:t>
              </a:r>
              <a:endParaRPr lang="zh-CN" altLang="en-US" sz="2400" b="1"/>
            </a:p>
          </p:txBody>
        </p:sp>
        <p:graphicFrame>
          <p:nvGraphicFramePr>
            <p:cNvPr id="9" name="对象 8">
              <a:hlinkClick r:id="" action="ppaction://ole?verb="/>
            </p:cNvPr>
            <p:cNvGraphicFramePr>
              <a:graphicFrameLocks noChangeAspect="1"/>
            </p:cNvGraphicFramePr>
            <p:nvPr/>
          </p:nvGraphicFramePr>
          <p:xfrm>
            <a:off x="2722" y="5481"/>
            <a:ext cx="4909" cy="4820"/>
          </p:xfrm>
          <a:graphic>
            <a:graphicData uri="http://schemas.openxmlformats.org/presentationml/2006/ole">
              <mc:AlternateContent xmlns:mc="http://schemas.openxmlformats.org/markup-compatibility/2006">
                <mc:Choice xmlns:v="urn:schemas-microsoft-com:vml" Requires="v">
                  <p:oleObj spid="_x0000_s10" name="" r:id="rId5" imgW="1358900" imgH="1333500" progId="Equation.KSEE3">
                    <p:embed/>
                  </p:oleObj>
                </mc:Choice>
                <mc:Fallback>
                  <p:oleObj name="" r:id="rId5" imgW="1358900" imgH="1333500" progId="Equation.KSEE3">
                    <p:embed/>
                    <p:pic>
                      <p:nvPicPr>
                        <p:cNvPr id="0" name="图片 2048"/>
                        <p:cNvPicPr/>
                        <p:nvPr/>
                      </p:nvPicPr>
                      <p:blipFill>
                        <a:blip r:embed="rId6"/>
                        <a:stretch>
                          <a:fillRect/>
                        </a:stretch>
                      </p:blipFill>
                      <p:spPr>
                        <a:xfrm>
                          <a:off x="2722" y="5481"/>
                          <a:ext cx="4909" cy="4820"/>
                        </a:xfrm>
                        <a:prstGeom prst="rect">
                          <a:avLst/>
                        </a:prstGeom>
                        <a:ln>
                          <a:solidFill>
                            <a:srgbClr val="FF0000"/>
                          </a:solidFill>
                        </a:ln>
                      </p:spPr>
                    </p:pic>
                  </p:oleObj>
                </mc:Fallback>
              </mc:AlternateContent>
            </a:graphicData>
          </a:graphic>
        </p:graphicFrame>
      </p:gr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326390"/>
            <a:ext cx="10515600" cy="829945"/>
          </a:xfrm>
          <a:ln>
            <a:solidFill>
              <a:schemeClr val="accent1"/>
            </a:solidFill>
          </a:ln>
        </p:spPr>
        <p:txBody>
          <a:bodyPr>
            <a:spAutoFit/>
          </a:bodyPr>
          <a:p>
            <a:pPr marL="514350" indent="-514350" fontAlgn="auto">
              <a:lnSpc>
                <a:spcPts val="2880"/>
              </a:lnSpc>
              <a:spcBef>
                <a:spcPts val="0"/>
              </a:spcBef>
              <a:spcAft>
                <a:spcPts val="0"/>
              </a:spcAft>
              <a:buFont typeface="+mj-lt"/>
              <a:buAutoNum type="arabicPeriod" startAt="2"/>
            </a:pPr>
            <a:r>
              <a:rPr lang="zh-CN" altLang="en-US" sz="2400">
                <a:solidFill>
                  <a:srgbClr val="0000CC"/>
                </a:solidFill>
                <a:latin typeface="Arial" panose="020B0604020202020204" pitchFamily="34" charset="0"/>
                <a:sym typeface="+mn-ea"/>
              </a:rPr>
              <a:t>请用</a:t>
            </a:r>
            <a:r>
              <a:rPr lang="en-US" altLang="zh-CN" sz="2400">
                <a:solidFill>
                  <a:srgbClr val="0000CC"/>
                </a:solidFill>
                <a:latin typeface="Arial" panose="020B0604020202020204" pitchFamily="34" charset="0"/>
                <a:sym typeface="+mn-ea"/>
              </a:rPr>
              <a:t>SQL</a:t>
            </a:r>
            <a:r>
              <a:rPr lang="zh-CN" altLang="en-US" sz="2400">
                <a:solidFill>
                  <a:srgbClr val="0000CC"/>
                </a:solidFill>
                <a:latin typeface="Arial" panose="020B0604020202020204" pitchFamily="34" charset="0"/>
                <a:sym typeface="+mn-ea"/>
              </a:rPr>
              <a:t>语言来表示下述查询</a:t>
            </a:r>
            <a:r>
              <a:rPr lang="en-US" altLang="zh-CN" sz="2400">
                <a:solidFill>
                  <a:srgbClr val="0000CC"/>
                </a:solidFill>
                <a:latin typeface="Arial" panose="020B0604020202020204" pitchFamily="34" charset="0"/>
                <a:sym typeface="+mn-ea"/>
              </a:rPr>
              <a:t> (</a:t>
            </a:r>
            <a:r>
              <a:rPr lang="zh-CN" altLang="en-US" sz="2400">
                <a:solidFill>
                  <a:srgbClr val="0000CC"/>
                </a:solidFill>
                <a:latin typeface="Arial" panose="020B0604020202020204" pitchFamily="34" charset="0"/>
                <a:sym typeface="+mn-ea"/>
              </a:rPr>
              <a:t>结果返回</a:t>
            </a:r>
            <a:r>
              <a:rPr lang="en-US" altLang="zh-CN" sz="2400">
                <a:solidFill>
                  <a:srgbClr val="0000CC"/>
                </a:solidFill>
                <a:latin typeface="Arial" panose="020B0604020202020204" pitchFamily="34" charset="0"/>
                <a:sym typeface="+mn-ea"/>
              </a:rPr>
              <a:t>cid</a:t>
            </a:r>
            <a:r>
              <a:rPr lang="zh-CN" altLang="en-US" sz="2400">
                <a:solidFill>
                  <a:srgbClr val="0000CC"/>
                </a:solidFill>
                <a:latin typeface="Arial" panose="020B0604020202020204" pitchFamily="34" charset="0"/>
                <a:sym typeface="+mn-ea"/>
              </a:rPr>
              <a:t>和</a:t>
            </a:r>
            <a:r>
              <a:rPr lang="en-US" altLang="zh-CN" sz="2400">
                <a:solidFill>
                  <a:srgbClr val="0000CC"/>
                </a:solidFill>
                <a:latin typeface="Arial" panose="020B0604020202020204" pitchFamily="34" charset="0"/>
                <a:sym typeface="+mn-ea"/>
              </a:rPr>
              <a:t>pid)</a:t>
            </a:r>
            <a:endParaRPr lang="zh-CN" altLang="en-US" sz="2400">
              <a:solidFill>
                <a:srgbClr val="0000CC"/>
              </a:solidFill>
              <a:latin typeface="Arial" panose="020B0604020202020204" pitchFamily="34" charset="0"/>
            </a:endParaRPr>
          </a:p>
          <a:p>
            <a:pPr lvl="1" fontAlgn="auto">
              <a:lnSpc>
                <a:spcPts val="2880"/>
              </a:lnSpc>
              <a:spcBef>
                <a:spcPts val="0"/>
              </a:spcBef>
              <a:spcAft>
                <a:spcPts val="0"/>
              </a:spcAft>
            </a:pPr>
            <a:r>
              <a:rPr lang="en-US" altLang="x-none" sz="2400" dirty="0">
                <a:latin typeface="Arial" panose="020B0604020202020204" pitchFamily="34" charset="0"/>
                <a:ea typeface="宋体" panose="02010600030101010101" pitchFamily="2" charset="-122"/>
                <a:cs typeface="+mn-ea"/>
                <a:sym typeface="+mn-ea"/>
              </a:rPr>
              <a:t>Q6:  </a:t>
            </a:r>
            <a:r>
              <a:rPr lang="zh-CN" altLang="en-US" sz="2400" dirty="0">
                <a:latin typeface="Arial" panose="020B0604020202020204" pitchFamily="34" charset="0"/>
                <a:ea typeface="宋体" panose="02010600030101010101" pitchFamily="2" charset="-122"/>
                <a:cs typeface="+mn-ea"/>
                <a:sym typeface="+mn-ea"/>
              </a:rPr>
              <a:t>客户</a:t>
            </a:r>
            <a:r>
              <a:rPr lang="en-US" altLang="zh-CN" sz="2400" dirty="0">
                <a:latin typeface="Arial" panose="020B0604020202020204" pitchFamily="34" charset="0"/>
                <a:ea typeface="宋体" panose="02010600030101010101" pitchFamily="2" charset="-122"/>
                <a:cs typeface="+mn-ea"/>
                <a:sym typeface="+mn-ea"/>
              </a:rPr>
              <a:t>C</a:t>
            </a:r>
            <a:r>
              <a:rPr lang="zh-CN" altLang="en-US" sz="2400" dirty="0">
                <a:latin typeface="Arial" panose="020B0604020202020204" pitchFamily="34" charset="0"/>
                <a:ea typeface="宋体" panose="02010600030101010101" pitchFamily="2" charset="-122"/>
                <a:cs typeface="+mn-ea"/>
                <a:sym typeface="+mn-ea"/>
              </a:rPr>
              <a:t>只</a:t>
            </a:r>
            <a:r>
              <a:rPr lang="zh-CN" altLang="x-none" sz="2400" dirty="0">
                <a:latin typeface="Arial" panose="020B0604020202020204" pitchFamily="34" charset="0"/>
                <a:ea typeface="宋体" panose="02010600030101010101" pitchFamily="2" charset="-122"/>
                <a:cs typeface="+mn-ea"/>
                <a:sym typeface="+mn-ea"/>
              </a:rPr>
              <a:t>购买过商品</a:t>
            </a:r>
            <a:r>
              <a:rPr lang="en-US" altLang="zh-CN" sz="2400" dirty="0">
                <a:latin typeface="Arial" panose="020B0604020202020204" pitchFamily="34" charset="0"/>
                <a:ea typeface="宋体" panose="02010600030101010101" pitchFamily="2" charset="-122"/>
                <a:cs typeface="+mn-ea"/>
                <a:sym typeface="+mn-ea"/>
              </a:rPr>
              <a:t>P 1 </a:t>
            </a:r>
            <a:r>
              <a:rPr lang="zh-CN" altLang="en-US" sz="2400" dirty="0">
                <a:latin typeface="Arial" panose="020B0604020202020204" pitchFamily="34" charset="0"/>
                <a:ea typeface="宋体" panose="02010600030101010101" pitchFamily="2" charset="-122"/>
                <a:cs typeface="+mn-ea"/>
                <a:sym typeface="+mn-ea"/>
              </a:rPr>
              <a:t>次</a:t>
            </a:r>
            <a:endParaRPr lang="zh-CN" altLang="en-US" sz="2400">
              <a:solidFill>
                <a:schemeClr val="tx1"/>
              </a:solidFill>
              <a:latin typeface="Arial" panose="020B0604020202020204" pitchFamily="34" charset="0"/>
            </a:endParaRPr>
          </a:p>
        </p:txBody>
      </p:sp>
      <p:grpSp>
        <p:nvGrpSpPr>
          <p:cNvPr id="6" name="组合 5"/>
          <p:cNvGrpSpPr/>
          <p:nvPr/>
        </p:nvGrpSpPr>
        <p:grpSpPr>
          <a:xfrm>
            <a:off x="174625" y="1259840"/>
            <a:ext cx="4927600" cy="3529965"/>
            <a:chOff x="1301" y="4652"/>
            <a:chExt cx="7760" cy="5559"/>
          </a:xfrm>
        </p:grpSpPr>
        <p:sp>
          <p:nvSpPr>
            <p:cNvPr id="2" name="文本框 1"/>
            <p:cNvSpPr txBox="1"/>
            <p:nvPr/>
          </p:nvSpPr>
          <p:spPr>
            <a:xfrm>
              <a:off x="1301" y="4652"/>
              <a:ext cx="1777" cy="725"/>
            </a:xfrm>
            <a:prstGeom prst="rect">
              <a:avLst/>
            </a:prstGeom>
            <a:noFill/>
          </p:spPr>
          <p:txBody>
            <a:bodyPr wrap="square" rtlCol="0">
              <a:spAutoFit/>
            </a:bodyPr>
            <a:p>
              <a:r>
                <a:rPr lang="en-US" altLang="zh-CN" sz="2400" b="1"/>
                <a:t>Q6 (1)</a:t>
              </a:r>
              <a:endParaRPr lang="en-US" altLang="zh-CN" sz="2400" b="1"/>
            </a:p>
          </p:txBody>
        </p:sp>
        <p:graphicFrame>
          <p:nvGraphicFramePr>
            <p:cNvPr id="5" name="对象 4">
              <a:hlinkClick r:id="" action="ppaction://ole?verb="/>
            </p:cNvPr>
            <p:cNvGraphicFramePr>
              <a:graphicFrameLocks noChangeAspect="1"/>
            </p:cNvGraphicFramePr>
            <p:nvPr/>
          </p:nvGraphicFramePr>
          <p:xfrm>
            <a:off x="1451" y="5393"/>
            <a:ext cx="7610" cy="4818"/>
          </p:xfrm>
          <a:graphic>
            <a:graphicData uri="http://schemas.openxmlformats.org/presentationml/2006/ole">
              <mc:AlternateContent xmlns:mc="http://schemas.openxmlformats.org/markup-compatibility/2006">
                <mc:Choice xmlns:v="urn:schemas-microsoft-com:vml" Requires="v">
                  <p:oleObj spid="_x0000_s2049" name="" r:id="rId1" imgW="2108200" imgH="1333500" progId="Equation.KSEE3">
                    <p:embed/>
                  </p:oleObj>
                </mc:Choice>
                <mc:Fallback>
                  <p:oleObj name="" r:id="rId1" imgW="2108200" imgH="1333500" progId="Equation.KSEE3">
                    <p:embed/>
                    <p:pic>
                      <p:nvPicPr>
                        <p:cNvPr id="0" name="图片 2048"/>
                        <p:cNvPicPr/>
                        <p:nvPr/>
                      </p:nvPicPr>
                      <p:blipFill>
                        <a:blip r:embed="rId2"/>
                        <a:stretch>
                          <a:fillRect/>
                        </a:stretch>
                      </p:blipFill>
                      <p:spPr>
                        <a:xfrm>
                          <a:off x="1451" y="5393"/>
                          <a:ext cx="7610" cy="4818"/>
                        </a:xfrm>
                        <a:prstGeom prst="rect">
                          <a:avLst/>
                        </a:prstGeom>
                        <a:ln>
                          <a:solidFill>
                            <a:srgbClr val="FF0000"/>
                          </a:solidFill>
                        </a:ln>
                      </p:spPr>
                    </p:pic>
                  </p:oleObj>
                </mc:Fallback>
              </mc:AlternateContent>
            </a:graphicData>
          </a:graphic>
        </p:graphicFrame>
      </p:grpSp>
      <p:grpSp>
        <p:nvGrpSpPr>
          <p:cNvPr id="7" name="组合 6"/>
          <p:cNvGrpSpPr/>
          <p:nvPr/>
        </p:nvGrpSpPr>
        <p:grpSpPr>
          <a:xfrm>
            <a:off x="9196070" y="1283335"/>
            <a:ext cx="2515235" cy="3506470"/>
            <a:chOff x="1319" y="4670"/>
            <a:chExt cx="3961" cy="5522"/>
          </a:xfrm>
        </p:grpSpPr>
        <p:sp>
          <p:nvSpPr>
            <p:cNvPr id="8" name="文本框 7"/>
            <p:cNvSpPr txBox="1"/>
            <p:nvPr/>
          </p:nvSpPr>
          <p:spPr>
            <a:xfrm>
              <a:off x="1319" y="4670"/>
              <a:ext cx="3706" cy="725"/>
            </a:xfrm>
            <a:prstGeom prst="rect">
              <a:avLst/>
            </a:prstGeom>
            <a:noFill/>
          </p:spPr>
          <p:txBody>
            <a:bodyPr wrap="square" rtlCol="0">
              <a:spAutoFit/>
            </a:bodyPr>
            <a:p>
              <a:r>
                <a:rPr lang="en-US" altLang="zh-CN" sz="2400" b="1"/>
                <a:t>Q6 (3) </a:t>
              </a:r>
              <a:endParaRPr lang="zh-CN" altLang="en-US" sz="2400" b="1"/>
            </a:p>
          </p:txBody>
        </p:sp>
        <p:graphicFrame>
          <p:nvGraphicFramePr>
            <p:cNvPr id="9" name="对象 8">
              <a:hlinkClick r:id="" action="ppaction://ole?verb="/>
            </p:cNvPr>
            <p:cNvGraphicFramePr>
              <a:graphicFrameLocks noChangeAspect="1"/>
            </p:cNvGraphicFramePr>
            <p:nvPr/>
          </p:nvGraphicFramePr>
          <p:xfrm>
            <a:off x="1473" y="5372"/>
            <a:ext cx="3807" cy="4820"/>
          </p:xfrm>
          <a:graphic>
            <a:graphicData uri="http://schemas.openxmlformats.org/presentationml/2006/ole">
              <mc:AlternateContent xmlns:mc="http://schemas.openxmlformats.org/markup-compatibility/2006">
                <mc:Choice xmlns:v="urn:schemas-microsoft-com:vml" Requires="v">
                  <p:oleObj spid="_x0000_s10" name="" r:id="rId3" imgW="1054100" imgH="1333500" progId="Equation.KSEE3">
                    <p:embed/>
                  </p:oleObj>
                </mc:Choice>
                <mc:Fallback>
                  <p:oleObj name="" r:id="rId3" imgW="1054100" imgH="1333500" progId="Equation.KSEE3">
                    <p:embed/>
                    <p:pic>
                      <p:nvPicPr>
                        <p:cNvPr id="0" name="图片 2048"/>
                        <p:cNvPicPr/>
                        <p:nvPr/>
                      </p:nvPicPr>
                      <p:blipFill>
                        <a:blip r:embed="rId4"/>
                        <a:stretch>
                          <a:fillRect/>
                        </a:stretch>
                      </p:blipFill>
                      <p:spPr>
                        <a:xfrm>
                          <a:off x="1473" y="5372"/>
                          <a:ext cx="3807" cy="4820"/>
                        </a:xfrm>
                        <a:prstGeom prst="rect">
                          <a:avLst/>
                        </a:prstGeom>
                        <a:ln>
                          <a:solidFill>
                            <a:srgbClr val="FF0000"/>
                          </a:solidFill>
                        </a:ln>
                      </p:spPr>
                    </p:pic>
                  </p:oleObj>
                </mc:Fallback>
              </mc:AlternateContent>
            </a:graphicData>
          </a:graphic>
        </p:graphicFrame>
      </p:grpSp>
      <p:sp>
        <p:nvSpPr>
          <p:cNvPr id="11" name="文本框 10"/>
          <p:cNvSpPr txBox="1"/>
          <p:nvPr/>
        </p:nvSpPr>
        <p:spPr>
          <a:xfrm>
            <a:off x="826135" y="5152390"/>
            <a:ext cx="10527030" cy="829945"/>
          </a:xfrm>
          <a:prstGeom prst="rect">
            <a:avLst/>
          </a:prstGeom>
          <a:solidFill>
            <a:schemeClr val="bg1"/>
          </a:solidFill>
          <a:ln>
            <a:noFill/>
            <a:prstDash val="sysDot"/>
          </a:ln>
        </p:spPr>
        <p:txBody>
          <a:bodyPr wrap="square" rtlCol="0">
            <a:spAutoFit/>
          </a:bodyPr>
          <a:p>
            <a:pPr marL="342900" indent="-342900">
              <a:buFont typeface="Arial" panose="020B0604020202020204" pitchFamily="34" charset="0"/>
              <a:buChar char="•"/>
            </a:pPr>
            <a:r>
              <a:rPr lang="zh-CN" altLang="zh-CN" sz="2400" b="1">
                <a:solidFill>
                  <a:srgbClr val="0000CC"/>
                </a:solidFill>
              </a:rPr>
              <a:t>在 </a:t>
            </a:r>
            <a:r>
              <a:rPr lang="en-US" altLang="zh-CN" sz="2400" b="1">
                <a:solidFill>
                  <a:srgbClr val="0000CC"/>
                </a:solidFill>
                <a:sym typeface="+mn-ea"/>
              </a:rPr>
              <a:t>Q6(2) </a:t>
            </a:r>
            <a:r>
              <a:rPr lang="zh-CN" altLang="en-US" sz="2400" b="1">
                <a:solidFill>
                  <a:srgbClr val="0000CC"/>
                </a:solidFill>
                <a:sym typeface="+mn-ea"/>
              </a:rPr>
              <a:t>及 </a:t>
            </a:r>
            <a:r>
              <a:rPr lang="en-US" altLang="zh-CN" sz="2400" b="1">
                <a:solidFill>
                  <a:srgbClr val="0000CC"/>
                </a:solidFill>
                <a:sym typeface="+mn-ea"/>
              </a:rPr>
              <a:t>Q6(3) </a:t>
            </a:r>
            <a:r>
              <a:rPr lang="zh-CN" altLang="en-US" sz="2400" b="1">
                <a:solidFill>
                  <a:srgbClr val="0000CC"/>
                </a:solidFill>
                <a:sym typeface="+mn-ea"/>
              </a:rPr>
              <a:t>中，数字 </a:t>
            </a:r>
            <a:r>
              <a:rPr lang="en-US" altLang="zh-CN" sz="2400" b="1">
                <a:solidFill>
                  <a:srgbClr val="0000CC"/>
                </a:solidFill>
                <a:sym typeface="+mn-ea"/>
              </a:rPr>
              <a:t>'1' </a:t>
            </a:r>
            <a:r>
              <a:rPr lang="zh-CN" altLang="en-US" sz="2400" b="1">
                <a:solidFill>
                  <a:srgbClr val="0000CC"/>
                </a:solidFill>
                <a:sym typeface="+mn-ea"/>
              </a:rPr>
              <a:t>可以是任意的数字</a:t>
            </a:r>
            <a:r>
              <a:rPr lang="en-US" altLang="zh-CN" sz="2400" b="1">
                <a:solidFill>
                  <a:srgbClr val="0000CC"/>
                </a:solidFill>
                <a:sym typeface="+mn-ea"/>
              </a:rPr>
              <a:t>n</a:t>
            </a:r>
            <a:r>
              <a:rPr lang="zh-CN" altLang="zh-CN" sz="2400" b="1">
                <a:solidFill>
                  <a:srgbClr val="0000CC"/>
                </a:solidFill>
                <a:sym typeface="+mn-ea"/>
              </a:rPr>
              <a:t>，</a:t>
            </a:r>
            <a:r>
              <a:rPr lang="zh-CN" altLang="en-US" sz="2400" b="1">
                <a:solidFill>
                  <a:srgbClr val="0000CC"/>
                </a:solidFill>
                <a:sym typeface="+mn-ea"/>
              </a:rPr>
              <a:t>也可以通过改变比较运算符</a:t>
            </a:r>
            <a:r>
              <a:rPr lang="en-US" altLang="zh-CN" sz="2400" b="1">
                <a:solidFill>
                  <a:srgbClr val="0000CC"/>
                </a:solidFill>
                <a:sym typeface="+mn-ea"/>
              </a:rPr>
              <a:t>'='</a:t>
            </a:r>
            <a:r>
              <a:rPr lang="zh-CN" altLang="en-US" sz="2400" b="1">
                <a:solidFill>
                  <a:srgbClr val="0000CC"/>
                </a:solidFill>
                <a:sym typeface="+mn-ea"/>
              </a:rPr>
              <a:t>来方便地表示 </a:t>
            </a:r>
            <a:r>
              <a:rPr lang="en-US" altLang="zh-CN" sz="2400" b="1">
                <a:solidFill>
                  <a:srgbClr val="0000CC"/>
                </a:solidFill>
                <a:sym typeface="+mn-ea"/>
              </a:rPr>
              <a:t>“</a:t>
            </a:r>
            <a:r>
              <a:rPr lang="zh-CN" altLang="en-US" sz="2400" b="1">
                <a:solidFill>
                  <a:srgbClr val="0000CC"/>
                </a:solidFill>
                <a:sym typeface="+mn-ea"/>
              </a:rPr>
              <a:t>不超过</a:t>
            </a:r>
            <a:r>
              <a:rPr lang="en-US" altLang="zh-CN" sz="2400" b="1">
                <a:solidFill>
                  <a:srgbClr val="0000CC"/>
                </a:solidFill>
                <a:sym typeface="+mn-ea"/>
              </a:rPr>
              <a:t>n</a:t>
            </a:r>
            <a:r>
              <a:rPr lang="zh-CN" altLang="en-US" sz="2400" b="1">
                <a:solidFill>
                  <a:srgbClr val="0000CC"/>
                </a:solidFill>
                <a:sym typeface="+mn-ea"/>
              </a:rPr>
              <a:t>次</a:t>
            </a:r>
            <a:r>
              <a:rPr lang="en-US" altLang="zh-CN" sz="2400" b="1">
                <a:solidFill>
                  <a:srgbClr val="0000CC"/>
                </a:solidFill>
                <a:sym typeface="+mn-ea"/>
              </a:rPr>
              <a:t>”</a:t>
            </a:r>
            <a:r>
              <a:rPr lang="zh-CN" altLang="en-US" sz="2400" b="1">
                <a:solidFill>
                  <a:srgbClr val="0000CC"/>
                </a:solidFill>
                <a:sym typeface="+mn-ea"/>
              </a:rPr>
              <a:t>、</a:t>
            </a:r>
            <a:r>
              <a:rPr lang="en-US" altLang="zh-CN" sz="2400" b="1">
                <a:solidFill>
                  <a:srgbClr val="0000CC"/>
                </a:solidFill>
                <a:sym typeface="+mn-ea"/>
              </a:rPr>
              <a:t>“</a:t>
            </a:r>
            <a:r>
              <a:rPr lang="zh-CN" altLang="en-US" sz="2400" b="1">
                <a:solidFill>
                  <a:srgbClr val="0000CC"/>
                </a:solidFill>
                <a:sym typeface="+mn-ea"/>
              </a:rPr>
              <a:t>至少</a:t>
            </a:r>
            <a:r>
              <a:rPr lang="en-US" altLang="zh-CN" sz="2400" b="1">
                <a:solidFill>
                  <a:srgbClr val="0000CC"/>
                </a:solidFill>
                <a:sym typeface="+mn-ea"/>
              </a:rPr>
              <a:t>n</a:t>
            </a:r>
            <a:r>
              <a:rPr lang="zh-CN" altLang="en-US" sz="2400" b="1">
                <a:solidFill>
                  <a:srgbClr val="0000CC"/>
                </a:solidFill>
                <a:sym typeface="+mn-ea"/>
              </a:rPr>
              <a:t>次</a:t>
            </a:r>
            <a:r>
              <a:rPr lang="en-US" altLang="zh-CN" sz="2400" b="1">
                <a:solidFill>
                  <a:srgbClr val="0000CC"/>
                </a:solidFill>
                <a:sym typeface="+mn-ea"/>
              </a:rPr>
              <a:t>”</a:t>
            </a:r>
            <a:r>
              <a:rPr lang="zh-CN" altLang="en-US" sz="2400" b="1">
                <a:solidFill>
                  <a:srgbClr val="0000CC"/>
                </a:solidFill>
                <a:sym typeface="+mn-ea"/>
              </a:rPr>
              <a:t>、</a:t>
            </a:r>
            <a:r>
              <a:rPr lang="en-US" altLang="zh-CN" sz="2400" b="1">
                <a:solidFill>
                  <a:srgbClr val="0000CC"/>
                </a:solidFill>
                <a:sym typeface="+mn-ea"/>
              </a:rPr>
              <a:t>......</a:t>
            </a:r>
            <a:r>
              <a:rPr lang="zh-CN" altLang="en-US" sz="2400" b="1">
                <a:solidFill>
                  <a:srgbClr val="0000CC"/>
                </a:solidFill>
                <a:sym typeface="+mn-ea"/>
              </a:rPr>
              <a:t>等查询语义</a:t>
            </a:r>
            <a:endParaRPr lang="zh-CN" altLang="en-US" sz="2400" b="1">
              <a:solidFill>
                <a:srgbClr val="0000CC"/>
              </a:solidFill>
              <a:sym typeface="+mn-ea"/>
            </a:endParaRPr>
          </a:p>
        </p:txBody>
      </p:sp>
      <p:grpSp>
        <p:nvGrpSpPr>
          <p:cNvPr id="12" name="组合 11"/>
          <p:cNvGrpSpPr/>
          <p:nvPr/>
        </p:nvGrpSpPr>
        <p:grpSpPr>
          <a:xfrm>
            <a:off x="5420995" y="1261110"/>
            <a:ext cx="3387090" cy="3519805"/>
            <a:chOff x="1319" y="4670"/>
            <a:chExt cx="5334" cy="5543"/>
          </a:xfrm>
        </p:grpSpPr>
        <p:sp>
          <p:nvSpPr>
            <p:cNvPr id="13" name="文本框 12"/>
            <p:cNvSpPr txBox="1"/>
            <p:nvPr/>
          </p:nvSpPr>
          <p:spPr>
            <a:xfrm>
              <a:off x="1319" y="4670"/>
              <a:ext cx="3706" cy="725"/>
            </a:xfrm>
            <a:prstGeom prst="rect">
              <a:avLst/>
            </a:prstGeom>
            <a:noFill/>
          </p:spPr>
          <p:txBody>
            <a:bodyPr wrap="square" rtlCol="0">
              <a:spAutoFit/>
            </a:bodyPr>
            <a:p>
              <a:r>
                <a:rPr lang="en-US" altLang="zh-CN" sz="2400" b="1"/>
                <a:t>Q6 (2) </a:t>
              </a:r>
              <a:endParaRPr lang="zh-CN" altLang="en-US" sz="2400" b="1"/>
            </a:p>
          </p:txBody>
        </p:sp>
        <p:graphicFrame>
          <p:nvGraphicFramePr>
            <p:cNvPr id="14" name="对象 13">
              <a:hlinkClick r:id="" action="ppaction://ole?verb="/>
            </p:cNvPr>
            <p:cNvGraphicFramePr>
              <a:graphicFrameLocks noChangeAspect="1"/>
            </p:cNvGraphicFramePr>
            <p:nvPr/>
          </p:nvGraphicFramePr>
          <p:xfrm>
            <a:off x="1515" y="5393"/>
            <a:ext cx="5138" cy="4820"/>
          </p:xfrm>
          <a:graphic>
            <a:graphicData uri="http://schemas.openxmlformats.org/presentationml/2006/ole">
              <mc:AlternateContent xmlns:mc="http://schemas.openxmlformats.org/markup-compatibility/2006">
                <mc:Choice xmlns:v="urn:schemas-microsoft-com:vml" Requires="v">
                  <p:oleObj spid="_x0000_s15" name="" r:id="rId5" imgW="1422400" imgH="1333500" progId="Equation.KSEE3">
                    <p:embed/>
                  </p:oleObj>
                </mc:Choice>
                <mc:Fallback>
                  <p:oleObj name="" r:id="rId5" imgW="1422400" imgH="1333500" progId="Equation.KSEE3">
                    <p:embed/>
                    <p:pic>
                      <p:nvPicPr>
                        <p:cNvPr id="0" name="图片 2048"/>
                        <p:cNvPicPr/>
                        <p:nvPr/>
                      </p:nvPicPr>
                      <p:blipFill>
                        <a:blip r:embed="rId6"/>
                        <a:stretch>
                          <a:fillRect/>
                        </a:stretch>
                      </p:blipFill>
                      <p:spPr>
                        <a:xfrm>
                          <a:off x="1515" y="5393"/>
                          <a:ext cx="5138" cy="4820"/>
                        </a:xfrm>
                        <a:prstGeom prst="rect">
                          <a:avLst/>
                        </a:prstGeom>
                        <a:ln>
                          <a:solidFill>
                            <a:srgbClr val="FF0000"/>
                          </a:solidFill>
                        </a:ln>
                      </p:spPr>
                    </p:pic>
                  </p:oleObj>
                </mc:Fallback>
              </mc:AlternateContent>
            </a:graphicData>
          </a:graphic>
        </p:graphicFrame>
      </p:gr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linds(horizontal)">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xEl>
                                              <p:pRg st="0" end="0"/>
                                            </p:txEl>
                                          </p:spTgt>
                                        </p:tgtEl>
                                        <p:attrNameLst>
                                          <p:attrName>style.visibility</p:attrName>
                                        </p:attrNameLst>
                                      </p:cBhvr>
                                      <p:to>
                                        <p:strVal val="visible"/>
                                      </p:to>
                                    </p:set>
                                    <p:animEffect transition="in" filter="blinds(horizontal)">
                                      <p:cBhvr>
                                        <p:cTn id="22"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455930"/>
            <a:ext cx="10515600" cy="829945"/>
          </a:xfrm>
          <a:ln>
            <a:solidFill>
              <a:schemeClr val="accent1"/>
            </a:solidFill>
          </a:ln>
        </p:spPr>
        <p:txBody>
          <a:bodyPr>
            <a:spAutoFit/>
          </a:bodyPr>
          <a:p>
            <a:pPr marL="514350" indent="-514350" fontAlgn="auto">
              <a:lnSpc>
                <a:spcPts val="2880"/>
              </a:lnSpc>
              <a:spcBef>
                <a:spcPts val="0"/>
              </a:spcBef>
              <a:spcAft>
                <a:spcPts val="0"/>
              </a:spcAft>
              <a:buFont typeface="+mj-lt"/>
              <a:buAutoNum type="arabicPeriod" startAt="2"/>
            </a:pPr>
            <a:r>
              <a:rPr lang="zh-CN" altLang="en-US" sz="2400">
                <a:solidFill>
                  <a:srgbClr val="0000CC"/>
                </a:solidFill>
                <a:latin typeface="Arial" panose="020B0604020202020204" pitchFamily="34" charset="0"/>
                <a:sym typeface="+mn-ea"/>
              </a:rPr>
              <a:t>请用</a:t>
            </a:r>
            <a:r>
              <a:rPr lang="en-US" altLang="zh-CN" sz="2400">
                <a:solidFill>
                  <a:srgbClr val="0000CC"/>
                </a:solidFill>
                <a:latin typeface="Arial" panose="020B0604020202020204" pitchFamily="34" charset="0"/>
                <a:sym typeface="+mn-ea"/>
              </a:rPr>
              <a:t>SQL</a:t>
            </a:r>
            <a:r>
              <a:rPr lang="zh-CN" altLang="en-US" sz="2400">
                <a:solidFill>
                  <a:srgbClr val="0000CC"/>
                </a:solidFill>
                <a:latin typeface="Arial" panose="020B0604020202020204" pitchFamily="34" charset="0"/>
                <a:sym typeface="+mn-ea"/>
              </a:rPr>
              <a:t>语言来表示下述查询</a:t>
            </a:r>
            <a:r>
              <a:rPr lang="en-US" altLang="zh-CN" sz="2400">
                <a:solidFill>
                  <a:srgbClr val="0000CC"/>
                </a:solidFill>
                <a:latin typeface="Arial" panose="020B0604020202020204" pitchFamily="34" charset="0"/>
                <a:sym typeface="+mn-ea"/>
              </a:rPr>
              <a:t> (</a:t>
            </a:r>
            <a:r>
              <a:rPr lang="zh-CN" altLang="en-US" sz="2400">
                <a:solidFill>
                  <a:srgbClr val="0000CC"/>
                </a:solidFill>
                <a:latin typeface="Arial" panose="020B0604020202020204" pitchFamily="34" charset="0"/>
                <a:sym typeface="+mn-ea"/>
              </a:rPr>
              <a:t>结果返回</a:t>
            </a:r>
            <a:r>
              <a:rPr lang="en-US" altLang="zh-CN" sz="2400">
                <a:solidFill>
                  <a:srgbClr val="0000CC"/>
                </a:solidFill>
                <a:latin typeface="Arial" panose="020B0604020202020204" pitchFamily="34" charset="0"/>
                <a:sym typeface="+mn-ea"/>
              </a:rPr>
              <a:t>cid</a:t>
            </a:r>
            <a:r>
              <a:rPr lang="zh-CN" altLang="en-US" sz="2400">
                <a:solidFill>
                  <a:srgbClr val="0000CC"/>
                </a:solidFill>
                <a:latin typeface="Arial" panose="020B0604020202020204" pitchFamily="34" charset="0"/>
                <a:sym typeface="+mn-ea"/>
              </a:rPr>
              <a:t>和</a:t>
            </a:r>
            <a:r>
              <a:rPr lang="en-US" altLang="zh-CN" sz="2400">
                <a:solidFill>
                  <a:srgbClr val="0000CC"/>
                </a:solidFill>
                <a:latin typeface="Arial" panose="020B0604020202020204" pitchFamily="34" charset="0"/>
                <a:sym typeface="+mn-ea"/>
              </a:rPr>
              <a:t>pid)</a:t>
            </a:r>
            <a:endParaRPr lang="zh-CN" altLang="en-US" sz="2400">
              <a:solidFill>
                <a:srgbClr val="0000CC"/>
              </a:solidFill>
              <a:latin typeface="Arial" panose="020B0604020202020204" pitchFamily="34" charset="0"/>
            </a:endParaRPr>
          </a:p>
          <a:p>
            <a:pPr lvl="1" fontAlgn="auto">
              <a:lnSpc>
                <a:spcPts val="2880"/>
              </a:lnSpc>
              <a:spcBef>
                <a:spcPts val="0"/>
              </a:spcBef>
              <a:spcAft>
                <a:spcPts val="0"/>
              </a:spcAft>
            </a:pPr>
            <a:r>
              <a:rPr lang="en-US" altLang="x-none" sz="2400" dirty="0">
                <a:latin typeface="Arial" panose="020B0604020202020204" pitchFamily="34" charset="0"/>
                <a:ea typeface="宋体" panose="02010600030101010101" pitchFamily="2" charset="-122"/>
                <a:cs typeface="+mn-ea"/>
                <a:sym typeface="+mn-ea"/>
              </a:rPr>
              <a:t>Q</a:t>
            </a:r>
            <a:r>
              <a:rPr lang="en-US" altLang="zh-CN" dirty="0">
                <a:latin typeface="Arial" panose="020B0604020202020204" pitchFamily="34" charset="0"/>
                <a:ea typeface="宋体" panose="02010600030101010101" pitchFamily="2" charset="-122"/>
                <a:cs typeface="+mn-ea"/>
                <a:sym typeface="+mn-ea"/>
              </a:rPr>
              <a:t>7:  </a:t>
            </a:r>
            <a:r>
              <a:rPr lang="zh-CN" altLang="en-US" dirty="0">
                <a:latin typeface="Arial" panose="020B0604020202020204" pitchFamily="34" charset="0"/>
                <a:ea typeface="宋体" panose="02010600030101010101" pitchFamily="2" charset="-122"/>
                <a:cs typeface="+mn-ea"/>
                <a:sym typeface="+mn-ea"/>
              </a:rPr>
              <a:t>客户</a:t>
            </a:r>
            <a:r>
              <a:rPr lang="en-US" altLang="zh-CN" dirty="0">
                <a:latin typeface="Arial" panose="020B0604020202020204" pitchFamily="34" charset="0"/>
                <a:ea typeface="宋体" panose="02010600030101010101" pitchFamily="2" charset="-122"/>
                <a:cs typeface="+mn-ea"/>
                <a:sym typeface="+mn-ea"/>
              </a:rPr>
              <a:t>C</a:t>
            </a:r>
            <a:r>
              <a:rPr lang="zh-CN" altLang="en-US" dirty="0">
                <a:latin typeface="Arial" panose="020B0604020202020204" pitchFamily="34" charset="0"/>
                <a:ea typeface="宋体" panose="02010600030101010101" pitchFamily="2" charset="-122"/>
                <a:cs typeface="+mn-ea"/>
                <a:sym typeface="+mn-ea"/>
              </a:rPr>
              <a:t>只</a:t>
            </a:r>
            <a:r>
              <a:rPr lang="zh-CN" altLang="x-none" dirty="0">
                <a:latin typeface="Arial" panose="020B0604020202020204" pitchFamily="34" charset="0"/>
                <a:ea typeface="宋体" panose="02010600030101010101" pitchFamily="2" charset="-122"/>
                <a:cs typeface="+mn-ea"/>
                <a:sym typeface="+mn-ea"/>
              </a:rPr>
              <a:t>购买过商品</a:t>
            </a:r>
            <a:r>
              <a:rPr lang="en-US" altLang="zh-CN" dirty="0">
                <a:latin typeface="Arial" panose="020B0604020202020204" pitchFamily="34" charset="0"/>
                <a:ea typeface="宋体" panose="02010600030101010101" pitchFamily="2" charset="-122"/>
                <a:cs typeface="+mn-ea"/>
                <a:sym typeface="+mn-ea"/>
              </a:rPr>
              <a:t>P</a:t>
            </a:r>
            <a:r>
              <a:rPr lang="zh-CN" altLang="en-US" dirty="0">
                <a:latin typeface="Arial" panose="020B0604020202020204" pitchFamily="34" charset="0"/>
                <a:ea typeface="宋体" panose="02010600030101010101" pitchFamily="2" charset="-122"/>
                <a:cs typeface="+mn-ea"/>
                <a:sym typeface="+mn-ea"/>
              </a:rPr>
              <a:t>这一种商品</a:t>
            </a:r>
            <a:endParaRPr lang="zh-CN" altLang="en-US" sz="2400">
              <a:solidFill>
                <a:schemeClr val="tx1"/>
              </a:solidFill>
              <a:latin typeface="Arial" panose="020B0604020202020204" pitchFamily="34" charset="0"/>
            </a:endParaRPr>
          </a:p>
        </p:txBody>
      </p:sp>
      <p:grpSp>
        <p:nvGrpSpPr>
          <p:cNvPr id="6" name="组合 5"/>
          <p:cNvGrpSpPr/>
          <p:nvPr/>
        </p:nvGrpSpPr>
        <p:grpSpPr>
          <a:xfrm>
            <a:off x="58420" y="1413510"/>
            <a:ext cx="3310890" cy="3529965"/>
            <a:chOff x="880" y="4652"/>
            <a:chExt cx="5214" cy="5559"/>
          </a:xfrm>
        </p:grpSpPr>
        <p:sp>
          <p:nvSpPr>
            <p:cNvPr id="2" name="文本框 1"/>
            <p:cNvSpPr txBox="1"/>
            <p:nvPr/>
          </p:nvSpPr>
          <p:spPr>
            <a:xfrm>
              <a:off x="1339" y="4652"/>
              <a:ext cx="1777" cy="725"/>
            </a:xfrm>
            <a:prstGeom prst="rect">
              <a:avLst/>
            </a:prstGeom>
            <a:noFill/>
          </p:spPr>
          <p:txBody>
            <a:bodyPr wrap="square" rtlCol="0">
              <a:spAutoFit/>
            </a:bodyPr>
            <a:p>
              <a:r>
                <a:rPr lang="en-US" altLang="zh-CN" sz="2400" b="1"/>
                <a:t>Q7 (1)</a:t>
              </a:r>
              <a:endParaRPr lang="en-US" altLang="zh-CN" sz="2400" b="1"/>
            </a:p>
          </p:txBody>
        </p:sp>
        <p:graphicFrame>
          <p:nvGraphicFramePr>
            <p:cNvPr id="5" name="对象 4">
              <a:hlinkClick r:id="" action="ppaction://ole?verb="/>
            </p:cNvPr>
            <p:cNvGraphicFramePr>
              <a:graphicFrameLocks noChangeAspect="1"/>
            </p:cNvGraphicFramePr>
            <p:nvPr/>
          </p:nvGraphicFramePr>
          <p:xfrm>
            <a:off x="880" y="5393"/>
            <a:ext cx="5214" cy="4818"/>
          </p:xfrm>
          <a:graphic>
            <a:graphicData uri="http://schemas.openxmlformats.org/presentationml/2006/ole">
              <mc:AlternateContent xmlns:mc="http://schemas.openxmlformats.org/markup-compatibility/2006">
                <mc:Choice xmlns:v="urn:schemas-microsoft-com:vml" Requires="v">
                  <p:oleObj spid="_x0000_s2049" name="" r:id="rId1" imgW="1435100" imgH="1333500" progId="Equation.KSEE3">
                    <p:embed/>
                  </p:oleObj>
                </mc:Choice>
                <mc:Fallback>
                  <p:oleObj name="" r:id="rId1" imgW="1435100" imgH="1333500" progId="Equation.KSEE3">
                    <p:embed/>
                    <p:pic>
                      <p:nvPicPr>
                        <p:cNvPr id="0" name="图片 2048"/>
                        <p:cNvPicPr/>
                        <p:nvPr/>
                      </p:nvPicPr>
                      <p:blipFill>
                        <a:blip r:embed="rId2"/>
                        <a:stretch>
                          <a:fillRect/>
                        </a:stretch>
                      </p:blipFill>
                      <p:spPr>
                        <a:xfrm>
                          <a:off x="880" y="5393"/>
                          <a:ext cx="5214" cy="4818"/>
                        </a:xfrm>
                        <a:prstGeom prst="rect">
                          <a:avLst/>
                        </a:prstGeom>
                        <a:ln>
                          <a:solidFill>
                            <a:srgbClr val="FF0000"/>
                          </a:solidFill>
                        </a:ln>
                      </p:spPr>
                    </p:pic>
                  </p:oleObj>
                </mc:Fallback>
              </mc:AlternateContent>
            </a:graphicData>
          </a:graphic>
        </p:graphicFrame>
      </p:grpSp>
      <p:grpSp>
        <p:nvGrpSpPr>
          <p:cNvPr id="20" name="组合 19"/>
          <p:cNvGrpSpPr/>
          <p:nvPr/>
        </p:nvGrpSpPr>
        <p:grpSpPr>
          <a:xfrm>
            <a:off x="3500851" y="1413510"/>
            <a:ext cx="4118078" cy="3526049"/>
            <a:chOff x="1453" y="4670"/>
            <a:chExt cx="5946" cy="5402"/>
          </a:xfrm>
        </p:grpSpPr>
        <p:sp>
          <p:nvSpPr>
            <p:cNvPr id="21" name="文本框 20"/>
            <p:cNvSpPr txBox="1"/>
            <p:nvPr/>
          </p:nvSpPr>
          <p:spPr>
            <a:xfrm>
              <a:off x="1455" y="4670"/>
              <a:ext cx="3706" cy="705"/>
            </a:xfrm>
            <a:prstGeom prst="rect">
              <a:avLst/>
            </a:prstGeom>
            <a:noFill/>
          </p:spPr>
          <p:txBody>
            <a:bodyPr wrap="square" rtlCol="0">
              <a:spAutoFit/>
            </a:bodyPr>
            <a:p>
              <a:r>
                <a:rPr lang="en-US" altLang="zh-CN" sz="2400" b="1"/>
                <a:t>Q7 (2) </a:t>
              </a:r>
              <a:endParaRPr lang="zh-CN" altLang="en-US" sz="2400" b="1"/>
            </a:p>
          </p:txBody>
        </p:sp>
        <p:graphicFrame>
          <p:nvGraphicFramePr>
            <p:cNvPr id="22" name="对象 21">
              <a:hlinkClick r:id="" action="ppaction://ole?verb="/>
            </p:cNvPr>
            <p:cNvGraphicFramePr>
              <a:graphicFrameLocks noChangeAspect="1"/>
            </p:cNvGraphicFramePr>
            <p:nvPr/>
          </p:nvGraphicFramePr>
          <p:xfrm>
            <a:off x="1453" y="5395"/>
            <a:ext cx="5946" cy="4677"/>
          </p:xfrm>
          <a:graphic>
            <a:graphicData uri="http://schemas.openxmlformats.org/presentationml/2006/ole">
              <mc:AlternateContent xmlns:mc="http://schemas.openxmlformats.org/markup-compatibility/2006">
                <mc:Choice xmlns:v="urn:schemas-microsoft-com:vml" Requires="v">
                  <p:oleObj spid="_x0000_s23" name="" r:id="rId3" imgW="1701800" imgH="1295400" progId="Equation.KSEE3">
                    <p:embed/>
                  </p:oleObj>
                </mc:Choice>
                <mc:Fallback>
                  <p:oleObj name="" r:id="rId3" imgW="1701800" imgH="1295400" progId="Equation.KSEE3">
                    <p:embed/>
                    <p:pic>
                      <p:nvPicPr>
                        <p:cNvPr id="0" name="图片 2048"/>
                        <p:cNvPicPr/>
                        <p:nvPr/>
                      </p:nvPicPr>
                      <p:blipFill>
                        <a:blip r:embed="rId4"/>
                        <a:stretch>
                          <a:fillRect/>
                        </a:stretch>
                      </p:blipFill>
                      <p:spPr>
                        <a:xfrm>
                          <a:off x="1453" y="5395"/>
                          <a:ext cx="5946" cy="4677"/>
                        </a:xfrm>
                        <a:prstGeom prst="rect">
                          <a:avLst/>
                        </a:prstGeom>
                        <a:ln>
                          <a:solidFill>
                            <a:srgbClr val="FF0000"/>
                          </a:solidFill>
                        </a:ln>
                      </p:spPr>
                    </p:pic>
                  </p:oleObj>
                </mc:Fallback>
              </mc:AlternateContent>
            </a:graphicData>
          </a:graphic>
        </p:graphicFrame>
      </p:grpSp>
      <p:grpSp>
        <p:nvGrpSpPr>
          <p:cNvPr id="7" name="组合 6"/>
          <p:cNvGrpSpPr/>
          <p:nvPr/>
        </p:nvGrpSpPr>
        <p:grpSpPr>
          <a:xfrm>
            <a:off x="7753350" y="1413510"/>
            <a:ext cx="4282440" cy="3521075"/>
            <a:chOff x="1804" y="4756"/>
            <a:chExt cx="6744" cy="5545"/>
          </a:xfrm>
        </p:grpSpPr>
        <p:sp>
          <p:nvSpPr>
            <p:cNvPr id="8" name="文本框 7"/>
            <p:cNvSpPr txBox="1"/>
            <p:nvPr/>
          </p:nvSpPr>
          <p:spPr>
            <a:xfrm>
              <a:off x="1813" y="4756"/>
              <a:ext cx="3706" cy="725"/>
            </a:xfrm>
            <a:prstGeom prst="rect">
              <a:avLst/>
            </a:prstGeom>
            <a:noFill/>
          </p:spPr>
          <p:txBody>
            <a:bodyPr wrap="square" rtlCol="0">
              <a:spAutoFit/>
            </a:bodyPr>
            <a:p>
              <a:r>
                <a:rPr lang="en-US" altLang="zh-CN" sz="2400" b="1"/>
                <a:t>Q7 (3) </a:t>
              </a:r>
              <a:endParaRPr lang="zh-CN" altLang="en-US" sz="2400" b="1"/>
            </a:p>
          </p:txBody>
        </p:sp>
        <p:graphicFrame>
          <p:nvGraphicFramePr>
            <p:cNvPr id="9" name="对象 8">
              <a:hlinkClick r:id="" action="ppaction://ole?verb="/>
            </p:cNvPr>
            <p:cNvGraphicFramePr>
              <a:graphicFrameLocks noChangeAspect="1"/>
            </p:cNvGraphicFramePr>
            <p:nvPr/>
          </p:nvGraphicFramePr>
          <p:xfrm>
            <a:off x="1804" y="5481"/>
            <a:ext cx="6744" cy="4820"/>
          </p:xfrm>
          <a:graphic>
            <a:graphicData uri="http://schemas.openxmlformats.org/presentationml/2006/ole">
              <mc:AlternateContent xmlns:mc="http://schemas.openxmlformats.org/markup-compatibility/2006">
                <mc:Choice xmlns:v="urn:schemas-microsoft-com:vml" Requires="v">
                  <p:oleObj spid="_x0000_s10" name="" r:id="rId5" imgW="1866900" imgH="1333500" progId="Equation.KSEE3">
                    <p:embed/>
                  </p:oleObj>
                </mc:Choice>
                <mc:Fallback>
                  <p:oleObj name="" r:id="rId5" imgW="1866900" imgH="1333500" progId="Equation.KSEE3">
                    <p:embed/>
                    <p:pic>
                      <p:nvPicPr>
                        <p:cNvPr id="0" name="图片 2048"/>
                        <p:cNvPicPr/>
                        <p:nvPr/>
                      </p:nvPicPr>
                      <p:blipFill>
                        <a:blip r:embed="rId6"/>
                        <a:stretch>
                          <a:fillRect/>
                        </a:stretch>
                      </p:blipFill>
                      <p:spPr>
                        <a:xfrm>
                          <a:off x="1804" y="5481"/>
                          <a:ext cx="6744" cy="4820"/>
                        </a:xfrm>
                        <a:prstGeom prst="rect">
                          <a:avLst/>
                        </a:prstGeom>
                        <a:ln>
                          <a:solidFill>
                            <a:srgbClr val="FF0000"/>
                          </a:solidFill>
                        </a:ln>
                      </p:spPr>
                    </p:pic>
                  </p:oleObj>
                </mc:Fallback>
              </mc:AlternateContent>
            </a:graphicData>
          </a:graphic>
        </p:graphicFrame>
      </p:gr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blinds(horizontal)">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83515"/>
            <a:ext cx="10515600" cy="829945"/>
          </a:xfrm>
          <a:ln>
            <a:solidFill>
              <a:schemeClr val="accent1"/>
            </a:solidFill>
          </a:ln>
        </p:spPr>
        <p:txBody>
          <a:bodyPr>
            <a:spAutoFit/>
          </a:bodyPr>
          <a:p>
            <a:pPr marL="514350" indent="-514350" fontAlgn="auto">
              <a:lnSpc>
                <a:spcPct val="100000"/>
              </a:lnSpc>
              <a:spcBef>
                <a:spcPts val="0"/>
              </a:spcBef>
              <a:spcAft>
                <a:spcPts val="0"/>
              </a:spcAft>
              <a:buFont typeface="+mj-lt"/>
              <a:buAutoNum type="arabicPeriod" startAt="3"/>
            </a:pPr>
            <a:r>
              <a:rPr lang="zh-CN" altLang="en-US" sz="2400">
                <a:solidFill>
                  <a:srgbClr val="0000CC"/>
                </a:solidFill>
                <a:latin typeface="Arial" panose="020B0604020202020204" pitchFamily="34" charset="0"/>
              </a:rPr>
              <a:t>按照下述要求写出对应的</a:t>
            </a:r>
            <a:r>
              <a:rPr lang="en-US" altLang="zh-CN" sz="2400">
                <a:solidFill>
                  <a:srgbClr val="0000CC"/>
                </a:solidFill>
                <a:latin typeface="Arial" panose="020B0604020202020204" pitchFamily="34" charset="0"/>
              </a:rPr>
              <a:t>SQL</a:t>
            </a:r>
            <a:r>
              <a:rPr lang="zh-CN" altLang="en-US" sz="2400">
                <a:solidFill>
                  <a:srgbClr val="0000CC"/>
                </a:solidFill>
                <a:latin typeface="Arial" panose="020B0604020202020204" pitchFamily="34" charset="0"/>
              </a:rPr>
              <a:t>查询语句：</a:t>
            </a:r>
            <a:endParaRPr lang="zh-CN" altLang="en-US" sz="2400">
              <a:solidFill>
                <a:srgbClr val="0000CC"/>
              </a:solidFill>
              <a:latin typeface="Arial" panose="020B0604020202020204" pitchFamily="34" charset="0"/>
            </a:endParaRPr>
          </a:p>
          <a:p>
            <a:pPr lvl="1" fontAlgn="auto">
              <a:lnSpc>
                <a:spcPct val="100000"/>
              </a:lnSpc>
              <a:spcBef>
                <a:spcPts val="0"/>
              </a:spcBef>
              <a:spcAft>
                <a:spcPts val="0"/>
              </a:spcAft>
            </a:pPr>
            <a:r>
              <a:rPr lang="en-US" altLang="zh-CN" sz="2400" dirty="0">
                <a:solidFill>
                  <a:schemeClr val="tx1"/>
                </a:solidFill>
                <a:latin typeface="Arial" panose="020B0604020202020204" pitchFamily="34" charset="0"/>
                <a:ea typeface="宋体" panose="02010600030101010101" pitchFamily="2" charset="-122"/>
                <a:cs typeface="+mn-ea"/>
                <a:sym typeface="+mn-ea"/>
              </a:rPr>
              <a:t>Q8:  </a:t>
            </a:r>
            <a:r>
              <a:rPr lang="zh-CN" altLang="en-US" sz="2400">
                <a:solidFill>
                  <a:schemeClr val="tx1"/>
                </a:solidFill>
                <a:latin typeface="Arial" panose="020B0604020202020204" pitchFamily="34" charset="0"/>
              </a:rPr>
              <a:t>在所有有客户的城市中都被销售过的商品的编号</a:t>
            </a:r>
            <a:endParaRPr lang="zh-CN" altLang="en-US" sz="2400">
              <a:solidFill>
                <a:schemeClr val="tx1"/>
              </a:solidFill>
              <a:latin typeface="Arial" panose="020B0604020202020204" pitchFamily="34" charset="0"/>
            </a:endParaRPr>
          </a:p>
        </p:txBody>
      </p:sp>
      <p:sp>
        <p:nvSpPr>
          <p:cNvPr id="11" name="文本框 10"/>
          <p:cNvSpPr txBox="1"/>
          <p:nvPr/>
        </p:nvSpPr>
        <p:spPr>
          <a:xfrm>
            <a:off x="826135" y="6295390"/>
            <a:ext cx="10527030" cy="460375"/>
          </a:xfrm>
          <a:prstGeom prst="rect">
            <a:avLst/>
          </a:prstGeom>
          <a:solidFill>
            <a:schemeClr val="bg1"/>
          </a:solidFill>
          <a:ln>
            <a:noFill/>
            <a:prstDash val="sysDot"/>
          </a:ln>
        </p:spPr>
        <p:txBody>
          <a:bodyPr wrap="square" rtlCol="0">
            <a:spAutoFit/>
          </a:bodyPr>
          <a:p>
            <a:pPr marL="342900" indent="-342900">
              <a:lnSpc>
                <a:spcPct val="100000"/>
              </a:lnSpc>
              <a:spcBef>
                <a:spcPts val="0"/>
              </a:spcBef>
              <a:spcAft>
                <a:spcPts val="1200"/>
              </a:spcAft>
              <a:buFont typeface="Arial" panose="020B0604020202020204" pitchFamily="34" charset="0"/>
              <a:buChar char="•"/>
            </a:pPr>
            <a:r>
              <a:rPr lang="zh-CN" sz="2400" b="1">
                <a:solidFill>
                  <a:srgbClr val="0000CC"/>
                </a:solidFill>
                <a:sym typeface="+mn-ea"/>
              </a:rPr>
              <a:t>可以把第二层的 </a:t>
            </a:r>
            <a:r>
              <a:rPr lang="en-US" altLang="zh-CN" sz="2400" b="1">
                <a:solidFill>
                  <a:srgbClr val="0000CC"/>
                </a:solidFill>
                <a:sym typeface="+mn-ea"/>
              </a:rPr>
              <a:t>not exists </a:t>
            </a:r>
            <a:r>
              <a:rPr lang="zh-CN" altLang="en-US" sz="2400" b="1">
                <a:solidFill>
                  <a:srgbClr val="0000CC"/>
                </a:solidFill>
                <a:sym typeface="+mn-ea"/>
              </a:rPr>
              <a:t>改写为用 </a:t>
            </a:r>
            <a:r>
              <a:rPr lang="en-US" altLang="zh-CN" sz="2400" b="1">
                <a:solidFill>
                  <a:srgbClr val="0000CC"/>
                </a:solidFill>
                <a:sym typeface="+mn-ea"/>
              </a:rPr>
              <a:t>not in </a:t>
            </a:r>
            <a:r>
              <a:rPr lang="zh-CN" altLang="en-US" sz="2400" b="1">
                <a:solidFill>
                  <a:srgbClr val="0000CC"/>
                </a:solidFill>
                <a:sym typeface="+mn-ea"/>
              </a:rPr>
              <a:t>的表示</a:t>
            </a:r>
            <a:endParaRPr lang="en-US" altLang="zh-CN" sz="2400" b="1">
              <a:solidFill>
                <a:srgbClr val="0000CC"/>
              </a:solidFill>
              <a:sym typeface="+mn-ea"/>
            </a:endParaRPr>
          </a:p>
        </p:txBody>
      </p:sp>
      <p:graphicFrame>
        <p:nvGraphicFramePr>
          <p:cNvPr id="2" name="对象 1">
            <a:hlinkClick r:id="" action="ppaction://ole?verb="/>
          </p:cNvPr>
          <p:cNvGraphicFramePr>
            <a:graphicFrameLocks noChangeAspect="1"/>
          </p:cNvGraphicFramePr>
          <p:nvPr/>
        </p:nvGraphicFramePr>
        <p:xfrm>
          <a:off x="297815" y="1211580"/>
          <a:ext cx="5673090" cy="4886325"/>
        </p:xfrm>
        <a:graphic>
          <a:graphicData uri="http://schemas.openxmlformats.org/presentationml/2006/ole">
            <mc:AlternateContent xmlns:mc="http://schemas.openxmlformats.org/markup-compatibility/2006">
              <mc:Choice xmlns:v="urn:schemas-microsoft-com:vml" Requires="v">
                <p:oleObj spid="_x0000_s2049" name="" r:id="rId1" imgW="2197100" imgH="1892300" progId="Equation.KSEE3">
                  <p:embed/>
                </p:oleObj>
              </mc:Choice>
              <mc:Fallback>
                <p:oleObj name="" r:id="rId1" imgW="2197100" imgH="1892300" progId="Equation.KSEE3">
                  <p:embed/>
                  <p:pic>
                    <p:nvPicPr>
                      <p:cNvPr id="0" name="图片 2048"/>
                      <p:cNvPicPr/>
                      <p:nvPr/>
                    </p:nvPicPr>
                    <p:blipFill>
                      <a:blip r:embed="rId2"/>
                      <a:stretch>
                        <a:fillRect/>
                      </a:stretch>
                    </p:blipFill>
                    <p:spPr>
                      <a:xfrm>
                        <a:off x="297815" y="1211580"/>
                        <a:ext cx="5673090" cy="4886325"/>
                      </a:xfrm>
                      <a:prstGeom prst="rect">
                        <a:avLst/>
                      </a:prstGeom>
                      <a:solidFill>
                        <a:schemeClr val="bg1"/>
                      </a:solidFill>
                      <a:ln>
                        <a:solidFill>
                          <a:srgbClr val="FF0000"/>
                        </a:solidFill>
                      </a:ln>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6839903" y="1211580"/>
          <a:ext cx="4297045" cy="4886325"/>
        </p:xfrm>
        <a:graphic>
          <a:graphicData uri="http://schemas.openxmlformats.org/presentationml/2006/ole">
            <mc:AlternateContent xmlns:mc="http://schemas.openxmlformats.org/markup-compatibility/2006">
              <mc:Choice xmlns:v="urn:schemas-microsoft-com:vml" Requires="v">
                <p:oleObj spid="_x0000_s4" name="" r:id="rId3" imgW="1663700" imgH="1892300" progId="Equation.KSEE3">
                  <p:embed/>
                </p:oleObj>
              </mc:Choice>
              <mc:Fallback>
                <p:oleObj name="" r:id="rId3" imgW="1663700" imgH="1892300" progId="Equation.KSEE3">
                  <p:embed/>
                  <p:pic>
                    <p:nvPicPr>
                      <p:cNvPr id="0" name="图片 2048"/>
                      <p:cNvPicPr/>
                      <p:nvPr/>
                    </p:nvPicPr>
                    <p:blipFill>
                      <a:blip r:embed="rId4"/>
                      <a:stretch>
                        <a:fillRect/>
                      </a:stretch>
                    </p:blipFill>
                    <p:spPr>
                      <a:xfrm>
                        <a:off x="6839903" y="1211580"/>
                        <a:ext cx="4297045" cy="4886325"/>
                      </a:xfrm>
                      <a:prstGeom prst="rect">
                        <a:avLst/>
                      </a:prstGeom>
                      <a:solidFill>
                        <a:schemeClr val="bg1"/>
                      </a:solidFill>
                      <a:ln>
                        <a:solidFill>
                          <a:srgbClr val="FF0000"/>
                        </a:solidFill>
                      </a:ln>
                    </p:spPr>
                  </p:pic>
                </p:oleObj>
              </mc:Fallback>
            </mc:AlternateContent>
          </a:graphicData>
        </a:graphic>
      </p:graphicFrame>
      <p:sp>
        <p:nvSpPr>
          <p:cNvPr id="6" name="文本框 5"/>
          <p:cNvSpPr txBox="1"/>
          <p:nvPr/>
        </p:nvSpPr>
        <p:spPr>
          <a:xfrm>
            <a:off x="9507855" y="12065"/>
            <a:ext cx="2655570" cy="337185"/>
          </a:xfrm>
          <a:prstGeom prst="rect">
            <a:avLst/>
          </a:prstGeom>
          <a:solidFill>
            <a:schemeClr val="bg1"/>
          </a:solid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83515"/>
            <a:ext cx="10515600" cy="1198880"/>
          </a:xfrm>
          <a:ln>
            <a:solidFill>
              <a:schemeClr val="accent1"/>
            </a:solidFill>
          </a:ln>
        </p:spPr>
        <p:txBody>
          <a:bodyPr>
            <a:spAutoFit/>
          </a:bodyPr>
          <a:p>
            <a:pPr marL="514350" indent="-514350" fontAlgn="auto">
              <a:lnSpc>
                <a:spcPct val="100000"/>
              </a:lnSpc>
              <a:spcBef>
                <a:spcPts val="0"/>
              </a:spcBef>
              <a:spcAft>
                <a:spcPts val="0"/>
              </a:spcAft>
              <a:buFont typeface="+mj-lt"/>
              <a:buAutoNum type="arabicPeriod" startAt="3"/>
            </a:pPr>
            <a:r>
              <a:rPr lang="zh-CN" altLang="en-US" sz="2400">
                <a:solidFill>
                  <a:srgbClr val="0000CC"/>
                </a:solidFill>
                <a:latin typeface="Arial" panose="020B0604020202020204" pitchFamily="34" charset="0"/>
              </a:rPr>
              <a:t>按照下述要求写出对应的</a:t>
            </a:r>
            <a:r>
              <a:rPr lang="en-US" altLang="zh-CN" sz="2400">
                <a:solidFill>
                  <a:srgbClr val="0000CC"/>
                </a:solidFill>
                <a:latin typeface="Arial" panose="020B0604020202020204" pitchFamily="34" charset="0"/>
              </a:rPr>
              <a:t>SQL</a:t>
            </a:r>
            <a:r>
              <a:rPr lang="zh-CN" altLang="en-US" sz="2400">
                <a:solidFill>
                  <a:srgbClr val="0000CC"/>
                </a:solidFill>
                <a:latin typeface="Arial" panose="020B0604020202020204" pitchFamily="34" charset="0"/>
              </a:rPr>
              <a:t>查询语句：</a:t>
            </a:r>
            <a:endParaRPr lang="zh-CN" altLang="en-US" sz="2400">
              <a:solidFill>
                <a:srgbClr val="0000CC"/>
              </a:solidFill>
              <a:latin typeface="Arial" panose="020B0604020202020204" pitchFamily="34" charset="0"/>
            </a:endParaRPr>
          </a:p>
          <a:p>
            <a:pPr lvl="1" fontAlgn="auto">
              <a:lnSpc>
                <a:spcPct val="100000"/>
              </a:lnSpc>
              <a:spcBef>
                <a:spcPts val="0"/>
              </a:spcBef>
              <a:spcAft>
                <a:spcPts val="0"/>
              </a:spcAft>
            </a:pPr>
            <a:r>
              <a:rPr lang="en-US" altLang="zh-CN" dirty="0">
                <a:latin typeface="Arial" panose="020B0604020202020204" pitchFamily="34" charset="0"/>
                <a:ea typeface="宋体" panose="02010600030101010101" pitchFamily="2" charset="-122"/>
                <a:cs typeface="+mn-ea"/>
                <a:sym typeface="+mn-ea"/>
              </a:rPr>
              <a:t>Q9:  </a:t>
            </a:r>
            <a:r>
              <a:rPr lang="zh-CN" altLang="en-US" dirty="0">
                <a:latin typeface="Arial" panose="020B0604020202020204" pitchFamily="34" charset="0"/>
                <a:ea typeface="宋体" panose="02010600030101010101" pitchFamily="2" charset="-122"/>
                <a:sym typeface="+mn-ea"/>
              </a:rPr>
              <a:t>返回每一个客户的编号及其最后两份订单的订购日期（订购日期</a:t>
            </a:r>
            <a:r>
              <a:rPr lang="en-US" altLang="zh-CN" dirty="0">
                <a:latin typeface="Arial" panose="020B0604020202020204" pitchFamily="34" charset="0"/>
                <a:ea typeface="宋体" panose="02010600030101010101" pitchFamily="2" charset="-122"/>
                <a:sym typeface="+mn-ea"/>
              </a:rPr>
              <a:t>orddate</a:t>
            </a:r>
            <a:r>
              <a:rPr lang="zh-CN" altLang="zh-CN" dirty="0">
                <a:latin typeface="Arial" panose="020B0604020202020204" pitchFamily="34" charset="0"/>
                <a:ea typeface="宋体" panose="02010600030101010101" pitchFamily="2" charset="-122"/>
                <a:sym typeface="+mn-ea"/>
              </a:rPr>
              <a:t>为</a:t>
            </a:r>
            <a:r>
              <a:rPr lang="en-US" altLang="zh-CN" dirty="0">
                <a:latin typeface="Arial" panose="020B0604020202020204" pitchFamily="34" charset="0"/>
                <a:ea typeface="宋体" panose="02010600030101010101" pitchFamily="2" charset="-122"/>
                <a:sym typeface="+mn-ea"/>
              </a:rPr>
              <a:t>Date</a:t>
            </a:r>
            <a:r>
              <a:rPr lang="zh-CN" altLang="en-US" dirty="0">
                <a:latin typeface="Arial" panose="020B0604020202020204" pitchFamily="34" charset="0"/>
                <a:ea typeface="宋体" panose="02010600030101010101" pitchFamily="2" charset="-122"/>
                <a:sym typeface="+mn-ea"/>
              </a:rPr>
              <a:t>类型的字段，以订单编号的大小来区分订单的先后）</a:t>
            </a:r>
            <a:endParaRPr lang="zh-CN" altLang="en-US" sz="2400">
              <a:solidFill>
                <a:schemeClr val="tx1"/>
              </a:solidFill>
              <a:latin typeface="Arial" panose="020B0604020202020204" pitchFamily="34" charset="0"/>
            </a:endParaRPr>
          </a:p>
        </p:txBody>
      </p:sp>
      <p:sp>
        <p:nvSpPr>
          <p:cNvPr id="11" name="文本框 10"/>
          <p:cNvSpPr txBox="1"/>
          <p:nvPr/>
        </p:nvSpPr>
        <p:spPr>
          <a:xfrm>
            <a:off x="826135" y="5474970"/>
            <a:ext cx="10527030" cy="1198880"/>
          </a:xfrm>
          <a:prstGeom prst="rect">
            <a:avLst/>
          </a:prstGeom>
          <a:solidFill>
            <a:schemeClr val="bg1"/>
          </a:solidFill>
          <a:ln>
            <a:noFill/>
            <a:prstDash val="sysDot"/>
          </a:ln>
        </p:spPr>
        <p:txBody>
          <a:bodyPr wrap="square" rtlCol="0">
            <a:spAutoFit/>
          </a:bodyPr>
          <a:p>
            <a:pPr indent="0">
              <a:lnSpc>
                <a:spcPct val="100000"/>
              </a:lnSpc>
              <a:spcBef>
                <a:spcPts val="0"/>
              </a:spcBef>
              <a:spcAft>
                <a:spcPts val="1200"/>
              </a:spcAft>
              <a:buFont typeface="Arial" panose="020B0604020202020204" pitchFamily="34" charset="0"/>
              <a:buNone/>
            </a:pPr>
            <a:r>
              <a:rPr lang="zh-CN" sz="2400" b="1">
                <a:solidFill>
                  <a:srgbClr val="0000CC"/>
                </a:solidFill>
                <a:sym typeface="+mn-ea"/>
              </a:rPr>
              <a:t>【思考】查询每一个客户的最后两份订单，结果属性包括客户编号和订购日期，并按照客户编号的升序和订购日期的降序输出查询结果。（结果包括客户表中的所有的客户）</a:t>
            </a:r>
            <a:endParaRPr lang="en-US" altLang="zh-CN" sz="2400" b="1">
              <a:solidFill>
                <a:srgbClr val="0000CC"/>
              </a:solidFill>
              <a:sym typeface="+mn-ea"/>
            </a:endParaRPr>
          </a:p>
        </p:txBody>
      </p:sp>
      <p:graphicFrame>
        <p:nvGraphicFramePr>
          <p:cNvPr id="2" name="对象 1">
            <a:hlinkClick r:id="" action="ppaction://ole?verb="/>
          </p:cNvPr>
          <p:cNvGraphicFramePr>
            <a:graphicFrameLocks noChangeAspect="1"/>
          </p:cNvGraphicFramePr>
          <p:nvPr/>
        </p:nvGraphicFramePr>
        <p:xfrm>
          <a:off x="751523" y="1647190"/>
          <a:ext cx="10649585" cy="3666490"/>
        </p:xfrm>
        <a:graphic>
          <a:graphicData uri="http://schemas.openxmlformats.org/presentationml/2006/ole">
            <mc:AlternateContent xmlns:mc="http://schemas.openxmlformats.org/markup-compatibility/2006">
              <mc:Choice xmlns:v="urn:schemas-microsoft-com:vml" Requires="v">
                <p:oleObj spid="_x0000_s2049" name="" r:id="rId1" imgW="3873500" imgH="1333500" progId="Equation.KSEE3">
                  <p:embed/>
                </p:oleObj>
              </mc:Choice>
              <mc:Fallback>
                <p:oleObj name="" r:id="rId1" imgW="3873500" imgH="1333500" progId="Equation.KSEE3">
                  <p:embed/>
                  <p:pic>
                    <p:nvPicPr>
                      <p:cNvPr id="0" name="图片 2048"/>
                      <p:cNvPicPr/>
                      <p:nvPr/>
                    </p:nvPicPr>
                    <p:blipFill>
                      <a:blip r:embed="rId2"/>
                      <a:stretch>
                        <a:fillRect/>
                      </a:stretch>
                    </p:blipFill>
                    <p:spPr>
                      <a:xfrm>
                        <a:off x="751523" y="1647190"/>
                        <a:ext cx="10649585" cy="3666490"/>
                      </a:xfrm>
                      <a:prstGeom prst="rect">
                        <a:avLst/>
                      </a:prstGeom>
                      <a:solidFill>
                        <a:schemeClr val="bg1"/>
                      </a:solidFill>
                      <a:ln>
                        <a:solidFill>
                          <a:srgbClr val="FF0000"/>
                        </a:solidFill>
                      </a:ln>
                    </p:spPr>
                  </p:pic>
                </p:oleObj>
              </mc:Fallback>
            </mc:AlternateContent>
          </a:graphicData>
        </a:graphic>
      </p:graphicFrame>
      <p:sp>
        <p:nvSpPr>
          <p:cNvPr id="6" name="文本框 5"/>
          <p:cNvSpPr txBox="1"/>
          <p:nvPr/>
        </p:nvSpPr>
        <p:spPr>
          <a:xfrm>
            <a:off x="9507855" y="12065"/>
            <a:ext cx="2655570" cy="337185"/>
          </a:xfrm>
          <a:prstGeom prst="rect">
            <a:avLst/>
          </a:prstGeom>
          <a:solidFill>
            <a:schemeClr val="bg1"/>
          </a:solid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blinds(horizontal)">
                                      <p:cBhvr>
                                        <p:cTn id="12"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838200" y="183515"/>
            <a:ext cx="10515600" cy="1198880"/>
          </a:xfrm>
          <a:ln>
            <a:solidFill>
              <a:schemeClr val="accent1"/>
            </a:solidFill>
          </a:ln>
        </p:spPr>
        <p:txBody>
          <a:bodyPr>
            <a:spAutoFit/>
          </a:bodyPr>
          <a:p>
            <a:pPr marL="514350" indent="-514350" fontAlgn="auto">
              <a:lnSpc>
                <a:spcPct val="100000"/>
              </a:lnSpc>
              <a:spcBef>
                <a:spcPts val="0"/>
              </a:spcBef>
              <a:spcAft>
                <a:spcPts val="0"/>
              </a:spcAft>
              <a:buFont typeface="+mj-lt"/>
              <a:buAutoNum type="arabicPeriod" startAt="3"/>
            </a:pPr>
            <a:r>
              <a:rPr lang="zh-CN" altLang="en-US" sz="2400">
                <a:solidFill>
                  <a:srgbClr val="0000CC"/>
                </a:solidFill>
                <a:latin typeface="Arial" panose="020B0604020202020204" pitchFamily="34" charset="0"/>
              </a:rPr>
              <a:t>按照下述要求写出对应的</a:t>
            </a:r>
            <a:r>
              <a:rPr lang="en-US" altLang="zh-CN" sz="2400">
                <a:solidFill>
                  <a:srgbClr val="0000CC"/>
                </a:solidFill>
                <a:latin typeface="Arial" panose="020B0604020202020204" pitchFamily="34" charset="0"/>
              </a:rPr>
              <a:t>SQL</a:t>
            </a:r>
            <a:r>
              <a:rPr lang="zh-CN" altLang="en-US" sz="2400">
                <a:solidFill>
                  <a:srgbClr val="0000CC"/>
                </a:solidFill>
                <a:latin typeface="Arial" panose="020B0604020202020204" pitchFamily="34" charset="0"/>
              </a:rPr>
              <a:t>查询语句：</a:t>
            </a:r>
            <a:endParaRPr lang="zh-CN" altLang="en-US" sz="2400">
              <a:solidFill>
                <a:srgbClr val="0000CC"/>
              </a:solidFill>
              <a:latin typeface="Arial" panose="020B0604020202020204" pitchFamily="34" charset="0"/>
            </a:endParaRPr>
          </a:p>
          <a:p>
            <a:pPr lvl="1" fontAlgn="auto">
              <a:lnSpc>
                <a:spcPct val="100000"/>
              </a:lnSpc>
              <a:spcBef>
                <a:spcPts val="0"/>
              </a:spcBef>
              <a:spcAft>
                <a:spcPts val="0"/>
              </a:spcAft>
            </a:pPr>
            <a:r>
              <a:rPr lang="en-US" altLang="zh-CN" dirty="0">
                <a:latin typeface="Arial" panose="020B0604020202020204" pitchFamily="34" charset="0"/>
                <a:ea typeface="宋体" panose="02010600030101010101" pitchFamily="2" charset="-122"/>
                <a:cs typeface="+mn-ea"/>
                <a:sym typeface="+mn-ea"/>
              </a:rPr>
              <a:t>Q10:  </a:t>
            </a:r>
            <a:r>
              <a:rPr lang="zh-CN" altLang="en-US" dirty="0">
                <a:latin typeface="Arial" panose="020B0604020202020204" pitchFamily="34" charset="0"/>
                <a:ea typeface="宋体" panose="02010600030101010101" pitchFamily="2" charset="-122"/>
                <a:cs typeface="+mn-ea"/>
                <a:sym typeface="+mn-ea"/>
              </a:rPr>
              <a:t>查询满足下述条件的供应商</a:t>
            </a:r>
            <a:r>
              <a:rPr lang="zh-CN" altLang="en-US">
                <a:latin typeface="Arial" panose="020B0604020202020204" pitchFamily="34" charset="0"/>
                <a:sym typeface="+mn-ea"/>
              </a:rPr>
              <a:t>的编号和名称：向所有折扣</a:t>
            </a:r>
            <a:r>
              <a:rPr lang="en-US" altLang="zh-CN">
                <a:latin typeface="Arial" panose="020B0604020202020204" pitchFamily="34" charset="0"/>
                <a:sym typeface="+mn-ea"/>
              </a:rPr>
              <a:t>discnt</a:t>
            </a:r>
            <a:r>
              <a:rPr lang="zh-CN" altLang="zh-CN">
                <a:latin typeface="Arial" panose="020B0604020202020204" pitchFamily="34" charset="0"/>
                <a:sym typeface="+mn-ea"/>
              </a:rPr>
              <a:t>最高的客户都销售过商品。</a:t>
            </a:r>
            <a:endParaRPr lang="zh-CN" altLang="en-US" sz="2400">
              <a:solidFill>
                <a:schemeClr val="tx1"/>
              </a:solidFill>
              <a:latin typeface="Arial" panose="020B0604020202020204" pitchFamily="34" charset="0"/>
            </a:endParaRPr>
          </a:p>
        </p:txBody>
      </p:sp>
      <p:graphicFrame>
        <p:nvGraphicFramePr>
          <p:cNvPr id="4" name="对象 3">
            <a:hlinkClick r:id="" action="ppaction://ole?verb="/>
          </p:cNvPr>
          <p:cNvGraphicFramePr>
            <a:graphicFrameLocks noChangeAspect="1"/>
          </p:cNvGraphicFramePr>
          <p:nvPr/>
        </p:nvGraphicFramePr>
        <p:xfrm>
          <a:off x="838200" y="1590040"/>
          <a:ext cx="8806815" cy="3684270"/>
        </p:xfrm>
        <a:graphic>
          <a:graphicData uri="http://schemas.openxmlformats.org/presentationml/2006/ole">
            <mc:AlternateContent xmlns:mc="http://schemas.openxmlformats.org/markup-compatibility/2006">
              <mc:Choice xmlns:v="urn:schemas-microsoft-com:vml" Requires="v">
                <p:oleObj spid="_x0000_s5" name="" r:id="rId1" imgW="3187700" imgH="1333500" progId="Equation.KSEE3">
                  <p:embed/>
                </p:oleObj>
              </mc:Choice>
              <mc:Fallback>
                <p:oleObj name="" r:id="rId1" imgW="3187700" imgH="1333500" progId="Equation.KSEE3">
                  <p:embed/>
                  <p:pic>
                    <p:nvPicPr>
                      <p:cNvPr id="0" name="图片 2048"/>
                      <p:cNvPicPr/>
                      <p:nvPr/>
                    </p:nvPicPr>
                    <p:blipFill>
                      <a:blip r:embed="rId2"/>
                      <a:stretch>
                        <a:fillRect/>
                      </a:stretch>
                    </p:blipFill>
                    <p:spPr>
                      <a:xfrm>
                        <a:off x="838200" y="1590040"/>
                        <a:ext cx="8806815" cy="3684270"/>
                      </a:xfrm>
                      <a:prstGeom prst="rect">
                        <a:avLst/>
                      </a:prstGeom>
                      <a:solidFill>
                        <a:schemeClr val="bg1"/>
                      </a:solidFill>
                      <a:ln>
                        <a:solidFill>
                          <a:srgbClr val="FF0000"/>
                        </a:solidFill>
                      </a:ln>
                    </p:spPr>
                  </p:pic>
                </p:oleObj>
              </mc:Fallback>
            </mc:AlternateContent>
          </a:graphicData>
        </a:graphic>
      </p:graphicFrame>
      <p:sp>
        <p:nvSpPr>
          <p:cNvPr id="6" name="文本框 5"/>
          <p:cNvSpPr txBox="1"/>
          <p:nvPr/>
        </p:nvSpPr>
        <p:spPr>
          <a:xfrm>
            <a:off x="9507855" y="12065"/>
            <a:ext cx="2655570" cy="337185"/>
          </a:xfrm>
          <a:prstGeom prst="rect">
            <a:avLst/>
          </a:prstGeom>
          <a:solidFill>
            <a:schemeClr val="bg1"/>
          </a:solid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467360"/>
            <a:ext cx="11511915" cy="460375"/>
          </a:xfrm>
        </p:spPr>
        <p:txBody>
          <a:bodyPr wrap="square">
            <a:spAutoFit/>
          </a:bodyPr>
          <a:p>
            <a:pPr marL="0" indent="0" fontAlgn="auto">
              <a:lnSpc>
                <a:spcPct val="100000"/>
              </a:lnSpc>
              <a:spcBef>
                <a:spcPts val="0"/>
              </a:spcBef>
              <a:spcAft>
                <a:spcPts val="0"/>
              </a:spcAft>
              <a:buNone/>
            </a:pPr>
            <a:r>
              <a:rPr lang="zh-CN" sz="2400" b="1">
                <a:solidFill>
                  <a:srgbClr val="0000CC"/>
                </a:solidFill>
                <a:latin typeface="Arial" panose="020B0604020202020204" pitchFamily="34" charset="0"/>
              </a:rPr>
              <a:t>二、</a:t>
            </a:r>
            <a:r>
              <a:rPr sz="2400" b="1">
                <a:solidFill>
                  <a:srgbClr val="0000CC"/>
                </a:solidFill>
                <a:latin typeface="Arial" panose="020B0604020202020204" pitchFamily="34" charset="0"/>
              </a:rPr>
              <a:t>设有一个教务管理数据库，其中的关系模式如下：</a:t>
            </a:r>
            <a:endParaRPr sz="2400" b="1">
              <a:solidFill>
                <a:srgbClr val="0000CC"/>
              </a:solidFill>
              <a:latin typeface="Arial" panose="020B0604020202020204" pitchFamily="34" charset="0"/>
            </a:endParaRPr>
          </a:p>
        </p:txBody>
      </p:sp>
      <p:graphicFrame>
        <p:nvGraphicFramePr>
          <p:cNvPr id="2" name="表格 1"/>
          <p:cNvGraphicFramePr/>
          <p:nvPr/>
        </p:nvGraphicFramePr>
        <p:xfrm>
          <a:off x="281305" y="965835"/>
          <a:ext cx="11682095" cy="3063240"/>
        </p:xfrm>
        <a:graphic>
          <a:graphicData uri="http://schemas.openxmlformats.org/drawingml/2006/table">
            <a:tbl>
              <a:tblPr firstRow="1" bandRow="1">
                <a:tableStyleId>{5C22544A-7EE6-4342-B048-85BDC9FD1C3A}</a:tableStyleId>
              </a:tblPr>
              <a:tblGrid>
                <a:gridCol w="955675"/>
                <a:gridCol w="4886325"/>
                <a:gridCol w="5840095"/>
              </a:tblGrid>
              <a:tr h="381000">
                <a:tc>
                  <a:txBody>
                    <a:bodyPr/>
                    <a:p>
                      <a:pPr algn="ctr">
                        <a:buNone/>
                      </a:pPr>
                      <a:r>
                        <a:rPr lang="zh-CN" altLang="zh-CN" sz="2000">
                          <a:solidFill>
                            <a:schemeClr val="tx1"/>
                          </a:solidFill>
                        </a:rPr>
                        <a:t>关系</a:t>
                      </a:r>
                      <a:endParaRPr lang="zh-CN" altLang="zh-CN" sz="2000">
                        <a:solidFill>
                          <a:schemeClr val="tx1"/>
                        </a:solidFill>
                      </a:endParaRPr>
                    </a:p>
                  </a:txBody>
                  <a:tcPr>
                    <a:lnL w="12700">
                      <a:solidFill>
                        <a:schemeClr val="tx1"/>
                      </a:solidFill>
                      <a:prstDash val="solid"/>
                    </a:lnL>
                    <a:lnR w="6350">
                      <a:solidFill>
                        <a:schemeClr val="tx1"/>
                      </a:solidFill>
                      <a:prstDash val="sysDash"/>
                    </a:lnR>
                    <a:lnT w="12700">
                      <a:solidFill>
                        <a:schemeClr val="tx1"/>
                      </a:solidFill>
                      <a:prstDash val="solid"/>
                    </a:lnT>
                    <a:lnB w="6350">
                      <a:solidFill>
                        <a:schemeClr val="tx1"/>
                      </a:solidFill>
                      <a:prstDash val="sysDash"/>
                    </a:lnB>
                    <a:noFill/>
                  </a:tcPr>
                </a:tc>
                <a:tc>
                  <a:txBody>
                    <a:bodyPr/>
                    <a:p>
                      <a:pPr algn="ctr">
                        <a:buNone/>
                      </a:pPr>
                      <a:r>
                        <a:rPr lang="zh-CN" altLang="en-US" sz="2000">
                          <a:solidFill>
                            <a:schemeClr val="tx1"/>
                          </a:solidFill>
                        </a:rPr>
                        <a:t>属性</a:t>
                      </a:r>
                      <a:endParaRPr lang="zh-CN" altLang="en-US" sz="2000">
                        <a:solidFill>
                          <a:schemeClr val="tx1"/>
                        </a:solidFill>
                      </a:endParaRPr>
                    </a:p>
                  </a:txBody>
                  <a:tcPr>
                    <a:lnL w="6350">
                      <a:solidFill>
                        <a:schemeClr val="tx1"/>
                      </a:solidFill>
                      <a:prstDash val="sysDash"/>
                    </a:lnL>
                    <a:lnR w="6350">
                      <a:solidFill>
                        <a:schemeClr val="tx1"/>
                      </a:solidFill>
                      <a:prstDash val="sysDash"/>
                    </a:lnR>
                    <a:lnT w="12700">
                      <a:solidFill>
                        <a:schemeClr val="tx1"/>
                      </a:solidFill>
                      <a:prstDash val="solid"/>
                    </a:lnT>
                    <a:lnB w="6350">
                      <a:solidFill>
                        <a:schemeClr val="tx1"/>
                      </a:solidFill>
                      <a:prstDash val="sysDash"/>
                    </a:lnB>
                    <a:noFill/>
                  </a:tcPr>
                </a:tc>
                <a:tc>
                  <a:txBody>
                    <a:bodyPr/>
                    <a:p>
                      <a:pPr algn="ctr">
                        <a:buNone/>
                      </a:pPr>
                      <a:r>
                        <a:rPr lang="zh-CN" altLang="zh-CN" sz="2000">
                          <a:solidFill>
                            <a:schemeClr val="tx1"/>
                          </a:solidFill>
                        </a:rPr>
                        <a:t>关系模式</a:t>
                      </a:r>
                      <a:endParaRPr lang="zh-CN" altLang="zh-CN" sz="2000">
                        <a:solidFill>
                          <a:schemeClr val="tx1"/>
                        </a:solidFill>
                      </a:endParaRPr>
                    </a:p>
                  </a:txBody>
                  <a:tcPr>
                    <a:lnL w="6350">
                      <a:solidFill>
                        <a:schemeClr val="tx1"/>
                      </a:solidFill>
                      <a:prstDash val="sysDash"/>
                    </a:lnL>
                    <a:lnR w="12700">
                      <a:solidFill>
                        <a:schemeClr val="tx1"/>
                      </a:solidFill>
                      <a:prstDash val="solid"/>
                    </a:lnR>
                    <a:lnT w="12700">
                      <a:solidFill>
                        <a:schemeClr val="tx1"/>
                      </a:solidFill>
                      <a:prstDash val="solid"/>
                    </a:lnT>
                    <a:lnB w="6350">
                      <a:solidFill>
                        <a:schemeClr val="tx1"/>
                      </a:solidFill>
                      <a:prstDash val="sysDash"/>
                    </a:lnB>
                    <a:noFill/>
                  </a:tcPr>
                </a:tc>
              </a:tr>
              <a:tr h="381000">
                <a:tc>
                  <a:txBody>
                    <a:bodyPr/>
                    <a:p>
                      <a:pPr algn="ctr">
                        <a:buNone/>
                      </a:pPr>
                      <a:r>
                        <a:rPr lang="zh-CN" altLang="en-US" sz="2000" b="1">
                          <a:solidFill>
                            <a:srgbClr val="0000CC"/>
                          </a:solidFill>
                        </a:rPr>
                        <a:t>学生</a:t>
                      </a:r>
                      <a:endParaRPr lang="zh-CN" altLang="en-US" sz="2000" b="1">
                        <a:solidFill>
                          <a:srgbClr val="0000CC"/>
                        </a:solidFill>
                      </a:endParaRPr>
                    </a:p>
                  </a:txBody>
                  <a:tcPr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学号，姓名，就读院系</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Student(sno, sname, dept)</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000" b="1">
                          <a:solidFill>
                            <a:srgbClr val="0000CC"/>
                          </a:solidFill>
                        </a:rPr>
                        <a:t>教师</a:t>
                      </a:r>
                      <a:endParaRPr lang="zh-CN" altLang="en-US" sz="2000" b="1">
                        <a:solidFill>
                          <a:srgbClr val="0000CC"/>
                        </a:solidFill>
                      </a:endParaRPr>
                    </a:p>
                  </a:txBody>
                  <a:tcPr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工号，姓名，工作院系</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Instructor(ino, iname, dept)</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000" b="1">
                          <a:solidFill>
                            <a:srgbClr val="0000CC"/>
                          </a:solidFill>
                        </a:rPr>
                        <a:t>课程</a:t>
                      </a:r>
                      <a:endParaRPr lang="zh-CN" altLang="en-US" sz="2000" b="1">
                        <a:solidFill>
                          <a:srgbClr val="0000CC"/>
                        </a:solidFill>
                      </a:endParaRPr>
                    </a:p>
                  </a:txBody>
                  <a:tcPr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课程号，课程名，开课院系，学分，课程类型</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Course(cno, cname, dept, credit, optional)</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000" b="1">
                          <a:solidFill>
                            <a:srgbClr val="0000CC"/>
                          </a:solidFill>
                        </a:rPr>
                        <a:t>选课</a:t>
                      </a:r>
                      <a:endParaRPr lang="zh-CN" altLang="en-US" sz="2000" b="1">
                        <a:solidFill>
                          <a:srgbClr val="0000CC"/>
                        </a:solidFill>
                      </a:endParaRPr>
                    </a:p>
                  </a:txBody>
                  <a:tcPr anchor="ctr" anchorCtr="0">
                    <a:lnL w="12700">
                      <a:solidFill>
                        <a:schemeClr val="tx1"/>
                      </a:solidFill>
                      <a:prstDash val="solid"/>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学号，课程号，</a:t>
                      </a:r>
                      <a:r>
                        <a:rPr lang="zh-CN" sz="2000" b="1">
                          <a:solidFill>
                            <a:srgbClr val="0000CC"/>
                          </a:solidFill>
                          <a:latin typeface="Arial" panose="020B0604020202020204" pitchFamily="34" charset="0"/>
                          <a:sym typeface="+mn-ea"/>
                        </a:rPr>
                        <a:t>授课教师工号，选修年份，选修学期，</a:t>
                      </a:r>
                      <a:r>
                        <a:rPr sz="2000" b="1">
                          <a:solidFill>
                            <a:srgbClr val="0000CC"/>
                          </a:solidFill>
                          <a:latin typeface="Arial" panose="020B0604020202020204" pitchFamily="34" charset="0"/>
                          <a:sym typeface="+mn-ea"/>
                        </a:rPr>
                        <a:t>成绩</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6350">
                      <a:solidFill>
                        <a:schemeClr val="tx1"/>
                      </a:solidFill>
                      <a:prstDash val="sysDash"/>
                    </a:lnR>
                    <a:lnT w="6350">
                      <a:solidFill>
                        <a:schemeClr val="tx1"/>
                      </a:solidFill>
                      <a:prstDash val="sysDash"/>
                    </a:lnT>
                    <a:lnB w="6350">
                      <a:solidFill>
                        <a:schemeClr val="tx1"/>
                      </a:solidFill>
                      <a:prstDash val="sysDash"/>
                    </a:lnB>
                    <a:noFill/>
                  </a:tcPr>
                </a:tc>
                <a:tc>
                  <a:txBody>
                    <a:bodyPr/>
                    <a:p>
                      <a:pPr algn="l">
                        <a:buNone/>
                      </a:pPr>
                      <a:r>
                        <a:rPr sz="2000" b="1">
                          <a:solidFill>
                            <a:srgbClr val="0000CC"/>
                          </a:solidFill>
                          <a:latin typeface="Arial" panose="020B0604020202020204" pitchFamily="34" charset="0"/>
                          <a:sym typeface="+mn-ea"/>
                        </a:rPr>
                        <a:t>Study(sno, cno, </a:t>
                      </a:r>
                      <a:r>
                        <a:rPr lang="en-US" altLang="zh-CN" sz="2000" b="1">
                          <a:solidFill>
                            <a:srgbClr val="0000CC"/>
                          </a:solidFill>
                          <a:latin typeface="Arial" panose="020B0604020202020204" pitchFamily="34" charset="0"/>
                          <a:sym typeface="+mn-ea"/>
                        </a:rPr>
                        <a:t>ino, syear, semester, </a:t>
                      </a:r>
                      <a:r>
                        <a:rPr sz="2000" b="1">
                          <a:solidFill>
                            <a:srgbClr val="0000CC"/>
                          </a:solidFill>
                          <a:latin typeface="Arial" panose="020B0604020202020204" pitchFamily="34" charset="0"/>
                          <a:sym typeface="+mn-ea"/>
                        </a:rPr>
                        <a:t>grade)</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000" b="1">
                          <a:solidFill>
                            <a:srgbClr val="0000CC"/>
                          </a:solidFill>
                        </a:rPr>
                        <a:t>授课</a:t>
                      </a:r>
                      <a:endParaRPr lang="zh-CN" altLang="en-US" sz="2000" b="1">
                        <a:solidFill>
                          <a:srgbClr val="0000CC"/>
                        </a:solidFill>
                      </a:endParaRPr>
                    </a:p>
                  </a:txBody>
                  <a:tcPr anchor="ctr" anchorCtr="0">
                    <a:lnL w="12700">
                      <a:solidFill>
                        <a:schemeClr val="tx1"/>
                      </a:solidFill>
                      <a:prstDash val="solid"/>
                    </a:lnL>
                    <a:lnR w="6350">
                      <a:solidFill>
                        <a:schemeClr val="tx1"/>
                      </a:solidFill>
                      <a:prstDash val="sysDash"/>
                    </a:lnR>
                    <a:lnT w="6350">
                      <a:solidFill>
                        <a:schemeClr val="tx1"/>
                      </a:solidFill>
                      <a:prstDash val="sysDash"/>
                    </a:lnT>
                    <a:lnB w="12700">
                      <a:solidFill>
                        <a:schemeClr val="tx1"/>
                      </a:solidFill>
                      <a:prstDash val="solid"/>
                    </a:lnB>
                    <a:noFill/>
                  </a:tcPr>
                </a:tc>
                <a:tc>
                  <a:txBody>
                    <a:bodyPr/>
                    <a:p>
                      <a:pPr algn="l">
                        <a:buNone/>
                      </a:pPr>
                      <a:r>
                        <a:rPr sz="2000" b="1">
                          <a:solidFill>
                            <a:srgbClr val="0000CC"/>
                          </a:solidFill>
                          <a:latin typeface="Arial" panose="020B0604020202020204" pitchFamily="34" charset="0"/>
                          <a:sym typeface="+mn-ea"/>
                        </a:rPr>
                        <a:t>主讲教师工号，课程号，授课年份，授课学期，课时数</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6350">
                      <a:solidFill>
                        <a:schemeClr val="tx1"/>
                      </a:solidFill>
                      <a:prstDash val="sysDash"/>
                    </a:lnR>
                    <a:lnT w="6350">
                      <a:solidFill>
                        <a:schemeClr val="tx1"/>
                      </a:solidFill>
                      <a:prstDash val="sysDash"/>
                    </a:lnT>
                    <a:lnB w="12700">
                      <a:solidFill>
                        <a:schemeClr val="tx1"/>
                      </a:solidFill>
                      <a:prstDash val="solid"/>
                    </a:lnB>
                    <a:noFill/>
                  </a:tcPr>
                </a:tc>
                <a:tc>
                  <a:txBody>
                    <a:bodyPr/>
                    <a:p>
                      <a:pPr algn="l">
                        <a:buNone/>
                      </a:pPr>
                      <a:r>
                        <a:rPr sz="2000" b="1">
                          <a:solidFill>
                            <a:srgbClr val="0000CC"/>
                          </a:solidFill>
                          <a:latin typeface="Arial" panose="020B0604020202020204" pitchFamily="34" charset="0"/>
                          <a:sym typeface="+mn-ea"/>
                        </a:rPr>
                        <a:t>Teach(ino, cno, tyear, semester, </a:t>
                      </a:r>
                      <a:r>
                        <a:rPr lang="en-US" sz="2000" b="1">
                          <a:solidFill>
                            <a:srgbClr val="0000CC"/>
                          </a:solidFill>
                          <a:latin typeface="Arial" panose="020B0604020202020204" pitchFamily="34" charset="0"/>
                          <a:sym typeface="+mn-ea"/>
                        </a:rPr>
                        <a:t>hour</a:t>
                      </a:r>
                      <a:r>
                        <a:rPr sz="2000" b="1">
                          <a:solidFill>
                            <a:srgbClr val="0000CC"/>
                          </a:solidFill>
                          <a:latin typeface="Arial" panose="020B0604020202020204" pitchFamily="34" charset="0"/>
                          <a:sym typeface="+mn-ea"/>
                        </a:rPr>
                        <a:t>s)</a:t>
                      </a:r>
                      <a:endParaRPr lang="zh-CN" altLang="en-US" sz="20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5" name="内容占位符 2"/>
          <p:cNvSpPr>
            <a:spLocks noGrp="1"/>
          </p:cNvSpPr>
          <p:nvPr/>
        </p:nvSpPr>
        <p:spPr>
          <a:xfrm>
            <a:off x="220980" y="4354195"/>
            <a:ext cx="11742420" cy="193802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spcAft>
                <a:spcPts val="0"/>
              </a:spcAft>
              <a:buNone/>
            </a:pPr>
            <a:r>
              <a:rPr sz="2400" b="1">
                <a:solidFill>
                  <a:srgbClr val="0000CC"/>
                </a:solidFill>
                <a:latin typeface="Arial" panose="020B0604020202020204" pitchFamily="34" charset="0"/>
              </a:rPr>
              <a:t>其中：</a:t>
            </a:r>
            <a:endParaRPr sz="2400" b="1">
              <a:solidFill>
                <a:srgbClr val="0000CC"/>
              </a:solidFill>
              <a:latin typeface="Arial" panose="020B0604020202020204" pitchFamily="34" charset="0"/>
            </a:endParaRPr>
          </a:p>
          <a:p>
            <a:pPr lvl="1" fontAlgn="auto">
              <a:lnSpc>
                <a:spcPct val="100000"/>
              </a:lnSpc>
              <a:spcBef>
                <a:spcPts val="0"/>
              </a:spcBef>
              <a:spcAft>
                <a:spcPts val="0"/>
              </a:spcAft>
            </a:pPr>
            <a:r>
              <a:rPr sz="2400" b="1">
                <a:solidFill>
                  <a:srgbClr val="0000CC"/>
                </a:solidFill>
                <a:latin typeface="Arial" panose="020B0604020202020204" pitchFamily="34" charset="0"/>
              </a:rPr>
              <a:t>同一门课同一个学生只能有一条选课记录；</a:t>
            </a:r>
            <a:endParaRPr sz="2400" b="1">
              <a:solidFill>
                <a:srgbClr val="0000CC"/>
              </a:solidFill>
              <a:latin typeface="Arial" panose="020B0604020202020204" pitchFamily="34" charset="0"/>
            </a:endParaRPr>
          </a:p>
          <a:p>
            <a:pPr lvl="1" fontAlgn="auto">
              <a:lnSpc>
                <a:spcPct val="100000"/>
              </a:lnSpc>
              <a:spcBef>
                <a:spcPts val="0"/>
              </a:spcBef>
              <a:spcAft>
                <a:spcPts val="0"/>
              </a:spcAft>
            </a:pPr>
            <a:r>
              <a:rPr sz="2400" b="1">
                <a:solidFill>
                  <a:srgbClr val="0000CC"/>
                </a:solidFill>
                <a:latin typeface="Arial" panose="020B0604020202020204" pitchFamily="34" charset="0"/>
              </a:rPr>
              <a:t>成绩全部采用百分制</a:t>
            </a:r>
            <a:r>
              <a:rPr lang="zh-CN" sz="2400" b="1">
                <a:solidFill>
                  <a:srgbClr val="0000CC"/>
                </a:solidFill>
                <a:latin typeface="Arial" panose="020B0604020202020204" pitchFamily="34" charset="0"/>
              </a:rPr>
              <a:t>，</a:t>
            </a:r>
            <a:r>
              <a:rPr sz="2400" b="1">
                <a:solidFill>
                  <a:srgbClr val="0000CC"/>
                </a:solidFill>
                <a:latin typeface="Arial" panose="020B0604020202020204" pitchFamily="34" charset="0"/>
              </a:rPr>
              <a:t>成绩大于或等于60分才能获得该门课程的学分；</a:t>
            </a:r>
            <a:endParaRPr sz="2400" b="1">
              <a:solidFill>
                <a:srgbClr val="0000CC"/>
              </a:solidFill>
              <a:latin typeface="Arial" panose="020B0604020202020204" pitchFamily="34" charset="0"/>
            </a:endParaRPr>
          </a:p>
          <a:p>
            <a:pPr lvl="1" fontAlgn="auto">
              <a:lnSpc>
                <a:spcPct val="100000"/>
              </a:lnSpc>
              <a:spcBef>
                <a:spcPts val="0"/>
              </a:spcBef>
              <a:spcAft>
                <a:spcPts val="0"/>
              </a:spcAft>
            </a:pPr>
            <a:r>
              <a:rPr sz="2400" b="1">
                <a:solidFill>
                  <a:srgbClr val="0000CC"/>
                </a:solidFill>
                <a:latin typeface="Arial" panose="020B0604020202020204" pitchFamily="34" charset="0"/>
              </a:rPr>
              <a:t>单门课程的学分绩计算公式是                          ；</a:t>
            </a:r>
            <a:endParaRPr sz="2400" b="1">
              <a:solidFill>
                <a:srgbClr val="0000CC"/>
              </a:solidFill>
              <a:latin typeface="Arial" panose="020B0604020202020204" pitchFamily="34" charset="0"/>
            </a:endParaRPr>
          </a:p>
          <a:p>
            <a:pPr lvl="1" fontAlgn="auto">
              <a:lnSpc>
                <a:spcPct val="100000"/>
              </a:lnSpc>
              <a:spcBef>
                <a:spcPts val="0"/>
              </a:spcBef>
              <a:spcAft>
                <a:spcPts val="0"/>
              </a:spcAft>
            </a:pPr>
            <a:r>
              <a:rPr sz="2400" b="1">
                <a:solidFill>
                  <a:srgbClr val="0000CC"/>
                </a:solidFill>
                <a:latin typeface="Arial" panose="020B0604020202020204" pitchFamily="34" charset="0"/>
              </a:rPr>
              <a:t>课程类型分‘必修’和‘选修’两种；</a:t>
            </a:r>
            <a:endParaRPr sz="2400" b="1">
              <a:solidFill>
                <a:srgbClr val="0000CC"/>
              </a:solidFill>
              <a:latin typeface="Arial" panose="020B0604020202020204" pitchFamily="34" charset="0"/>
            </a:endParaRPr>
          </a:p>
        </p:txBody>
      </p:sp>
      <p:graphicFrame>
        <p:nvGraphicFramePr>
          <p:cNvPr id="6" name="对象 -2147482624"/>
          <p:cNvGraphicFramePr>
            <a:graphicFrameLocks noChangeAspect="1"/>
          </p:cNvGraphicFramePr>
          <p:nvPr/>
        </p:nvGraphicFramePr>
        <p:xfrm>
          <a:off x="5048250" y="5490845"/>
          <a:ext cx="2038350" cy="393065"/>
        </p:xfrm>
        <a:graphic>
          <a:graphicData uri="http://schemas.openxmlformats.org/presentationml/2006/ole">
            <mc:AlternateContent xmlns:mc="http://schemas.openxmlformats.org/markup-compatibility/2006">
              <mc:Choice xmlns:v="urn:schemas-microsoft-com:vml" Requires="v">
                <p:oleObj spid="_x0000_s3076" name="" r:id="rId1" imgW="1054100" imgH="203200" progId="Equation.KSEE3">
                  <p:embed/>
                </p:oleObj>
              </mc:Choice>
              <mc:Fallback>
                <p:oleObj name="" r:id="rId1" imgW="1054100" imgH="203200" progId="Equation.KSEE3">
                  <p:embed/>
                  <p:pic>
                    <p:nvPicPr>
                      <p:cNvPr id="0" name="图片 3075"/>
                      <p:cNvPicPr/>
                      <p:nvPr/>
                    </p:nvPicPr>
                    <p:blipFill>
                      <a:blip r:embed="rId2"/>
                      <a:stretch>
                        <a:fillRect/>
                      </a:stretch>
                    </p:blipFill>
                    <p:spPr>
                      <a:xfrm>
                        <a:off x="5048250" y="5490845"/>
                        <a:ext cx="2038350" cy="393065"/>
                      </a:xfrm>
                      <a:prstGeom prst="rect">
                        <a:avLst/>
                      </a:prstGeom>
                      <a:noFill/>
                      <a:ln w="38100">
                        <a:noFill/>
                        <a:miter/>
                      </a:ln>
                    </p:spPr>
                  </p:pic>
                </p:oleObj>
              </mc:Fallback>
            </mc:AlternateContent>
          </a:graphicData>
        </a:graphic>
      </p:graphicFrame>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64135" y="33020"/>
            <a:ext cx="12054205" cy="6770370"/>
          </a:xfrm>
        </p:spPr>
        <p:txBody>
          <a:bodyPr wrap="square">
            <a:spAutoFit/>
          </a:bodyPr>
          <a:p>
            <a:pPr marL="0" indent="0" fontAlgn="auto">
              <a:lnSpc>
                <a:spcPct val="100000"/>
              </a:lnSpc>
              <a:spcBef>
                <a:spcPts val="0"/>
              </a:spcBef>
              <a:spcAft>
                <a:spcPts val="600"/>
              </a:spcAft>
              <a:buNone/>
            </a:pPr>
            <a:r>
              <a:rPr sz="2400" b="1">
                <a:solidFill>
                  <a:srgbClr val="0000CC"/>
                </a:solidFill>
                <a:latin typeface="Arial" panose="020B0604020202020204" pitchFamily="34" charset="0"/>
              </a:rPr>
              <a:t>请用SQL来表示下述数据访问请求。</a:t>
            </a:r>
            <a:endParaRPr sz="12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a:pPr>
            <a:r>
              <a:rPr sz="2400" b="1">
                <a:solidFill>
                  <a:srgbClr val="0000CC"/>
                </a:solidFill>
                <a:latin typeface="Arial" panose="020B0604020202020204" pitchFamily="34" charset="0"/>
              </a:rPr>
              <a:t>查询满足下述条件的课程的课程名及开课院系：课程名中含‘数据库’的课程；</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a:pPr>
            <a:r>
              <a:rPr sz="2400" b="1">
                <a:solidFill>
                  <a:srgbClr val="0000CC"/>
                </a:solidFill>
                <a:latin typeface="Arial" panose="020B0604020202020204" pitchFamily="34" charset="0"/>
              </a:rPr>
              <a:t>查询满足下述条件的课程的课程号和课程名：‘开课院系’为空；</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a:pPr>
            <a:r>
              <a:rPr sz="2400" b="1">
                <a:solidFill>
                  <a:srgbClr val="0000CC"/>
                </a:solidFill>
                <a:latin typeface="Arial" panose="020B0604020202020204" pitchFamily="34" charset="0"/>
              </a:rPr>
              <a:t>查询满足下述条件的教师的工号和姓名：在2014至2016年之间没有承担过授课任务；</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a:pPr>
            <a:r>
              <a:rPr sz="2400" b="1">
                <a:solidFill>
                  <a:srgbClr val="0000CC"/>
                </a:solidFill>
                <a:latin typeface="Arial" panose="020B0604020202020204" pitchFamily="34" charset="0"/>
              </a:rPr>
              <a:t>查询满足下述条件的教师的工号和姓名：只主讲过自己所在院系开设的课程；</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a:pPr>
            <a:r>
              <a:rPr sz="2400" b="1">
                <a:solidFill>
                  <a:srgbClr val="0000CC"/>
                </a:solidFill>
                <a:latin typeface="Arial" panose="020B0604020202020204" pitchFamily="34" charset="0"/>
              </a:rPr>
              <a:t>查询满足下述条件的学生的学号和姓名：所有课程都及格，且修读了‘计算机’系开设的所有‘必修’课；</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a:pPr>
            <a:r>
              <a:rPr sz="2400" b="1">
                <a:solidFill>
                  <a:srgbClr val="0000CC"/>
                </a:solidFill>
                <a:latin typeface="Arial" panose="020B0604020202020204" pitchFamily="34" charset="0"/>
              </a:rPr>
              <a:t>查询只有一位老师担任过授课任务的课程，结果返回满足条件课程的课程号，开课院系及累计开课次数；</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startAt="7"/>
            </a:pPr>
            <a:r>
              <a:rPr sz="2400" b="1">
                <a:solidFill>
                  <a:srgbClr val="0000CC"/>
                </a:solidFill>
                <a:latin typeface="Arial" panose="020B0604020202020204" pitchFamily="34" charset="0"/>
                <a:sym typeface="+mn-ea"/>
              </a:rPr>
              <a:t>查询每一位老师</a:t>
            </a:r>
            <a:r>
              <a:rPr lang="zh-CN" sz="2400" b="1">
                <a:solidFill>
                  <a:srgbClr val="0000CC"/>
                </a:solidFill>
                <a:latin typeface="Arial" panose="020B0604020202020204" pitchFamily="34" charset="0"/>
                <a:sym typeface="+mn-ea"/>
              </a:rPr>
              <a:t>第一次上课和</a:t>
            </a:r>
            <a:r>
              <a:rPr sz="2400" b="1">
                <a:solidFill>
                  <a:srgbClr val="0000CC"/>
                </a:solidFill>
                <a:latin typeface="Arial" panose="020B0604020202020204" pitchFamily="34" charset="0"/>
                <a:sym typeface="+mn-ea"/>
              </a:rPr>
              <a:t>最</a:t>
            </a:r>
            <a:r>
              <a:rPr lang="zh-CN" sz="2400" b="1">
                <a:solidFill>
                  <a:srgbClr val="0000CC"/>
                </a:solidFill>
                <a:latin typeface="Arial" panose="020B0604020202020204" pitchFamily="34" charset="0"/>
                <a:sym typeface="+mn-ea"/>
              </a:rPr>
              <a:t>后一次</a:t>
            </a:r>
            <a:r>
              <a:rPr sz="2400" b="1">
                <a:solidFill>
                  <a:srgbClr val="0000CC"/>
                </a:solidFill>
                <a:latin typeface="Arial" panose="020B0604020202020204" pitchFamily="34" charset="0"/>
                <a:sym typeface="+mn-ea"/>
              </a:rPr>
              <a:t>上课的</a:t>
            </a:r>
            <a:r>
              <a:rPr lang="zh-CN" sz="2400" b="1">
                <a:solidFill>
                  <a:srgbClr val="0000CC"/>
                </a:solidFill>
                <a:latin typeface="Arial" panose="020B0604020202020204" pitchFamily="34" charset="0"/>
                <a:sym typeface="+mn-ea"/>
              </a:rPr>
              <a:t>年份</a:t>
            </a:r>
            <a:r>
              <a:rPr sz="2400" b="1">
                <a:solidFill>
                  <a:srgbClr val="0000CC"/>
                </a:solidFill>
                <a:latin typeface="Arial" panose="020B0604020202020204" pitchFamily="34" charset="0"/>
                <a:sym typeface="+mn-ea"/>
              </a:rPr>
              <a:t>；</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startAt="7"/>
            </a:pPr>
            <a:r>
              <a:rPr sz="2400" b="1">
                <a:solidFill>
                  <a:srgbClr val="0000CC"/>
                </a:solidFill>
                <a:latin typeface="Arial" panose="020B0604020202020204" pitchFamily="34" charset="0"/>
                <a:sym typeface="+mn-ea"/>
              </a:rPr>
              <a:t>查询每一位教师的授课次数及累计课时数，结果只返回累计课时数超过1000小时的教师的工号，授课次数及累计课时数；</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startAt="7"/>
            </a:pPr>
            <a:r>
              <a:rPr sz="2400" b="1">
                <a:solidFill>
                  <a:srgbClr val="0000CC"/>
                </a:solidFill>
                <a:latin typeface="Arial" panose="020B0604020202020204" pitchFamily="34" charset="0"/>
                <a:sym typeface="+mn-ea"/>
              </a:rPr>
              <a:t>针对所有‘必修’课程都及格的同学，统计每一个人的平均学分绩，结果返回学号，就读院系，平均学分绩，并按照‘就读院系的升序’和‘平均学分绩的降序’输出结果；</a:t>
            </a:r>
            <a:endParaRPr sz="2400" b="1">
              <a:solidFill>
                <a:srgbClr val="0000CC"/>
              </a:solidFill>
              <a:latin typeface="Arial" panose="020B0604020202020204" pitchFamily="34" charset="0"/>
            </a:endParaRPr>
          </a:p>
          <a:p>
            <a:pPr marL="457200" indent="-457200" fontAlgn="auto">
              <a:lnSpc>
                <a:spcPct val="100000"/>
              </a:lnSpc>
              <a:spcBef>
                <a:spcPts val="0"/>
              </a:spcBef>
              <a:spcAft>
                <a:spcPts val="600"/>
              </a:spcAft>
              <a:buFont typeface="+mj-lt"/>
              <a:buAutoNum type="arabicPeriod" startAt="7"/>
            </a:pPr>
            <a:r>
              <a:rPr sz="2400" b="1">
                <a:solidFill>
                  <a:srgbClr val="0000CC"/>
                </a:solidFill>
                <a:latin typeface="Arial" panose="020B0604020202020204" pitchFamily="34" charset="0"/>
                <a:sym typeface="+mn-ea"/>
              </a:rPr>
              <a:t>查询每一位同学的学号，姓名，就读院系，修读课程门数，取得的学分总数，以及‘必修’课程的平均学分绩。</a:t>
            </a:r>
            <a:endParaRPr sz="2400" b="1">
              <a:solidFill>
                <a:srgbClr val="0000CC"/>
              </a:solidFill>
              <a:latin typeface="Arial" panose="020B0604020202020204" pitchFamily="34" charset="0"/>
            </a:endParaRPr>
          </a:p>
        </p:txBody>
      </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581910"/>
            <a:ext cx="11511915" cy="2831465"/>
          </a:xfrm>
        </p:spPr>
        <p:txBody>
          <a:bodyPr wrap="square">
            <a:spAutoFit/>
          </a:bodyPr>
          <a:p>
            <a:pPr marL="457200" indent="-457200" fontAlgn="auto">
              <a:lnSpc>
                <a:spcPct val="100000"/>
              </a:lnSpc>
              <a:spcAft>
                <a:spcPts val="0"/>
              </a:spcAft>
              <a:buFont typeface="+mj-lt"/>
              <a:buAutoNum type="arabicPeriod"/>
            </a:pPr>
            <a:r>
              <a:rPr sz="2400" b="1">
                <a:solidFill>
                  <a:srgbClr val="0000CC"/>
                </a:solidFill>
                <a:latin typeface="Arial" panose="020B0604020202020204" pitchFamily="34" charset="0"/>
              </a:rPr>
              <a:t>查询满足下述条件的课程的课程名及开课院系：课程名中含‘数据库’的课程；</a:t>
            </a:r>
            <a:endParaRPr sz="2400" b="1">
              <a:solidFill>
                <a:srgbClr val="0000CC"/>
              </a:solidFill>
              <a:latin typeface="Arial" panose="020B0604020202020204" pitchFamily="34" charset="0"/>
            </a:endParaRPr>
          </a:p>
          <a:p>
            <a:pPr marL="457200" lvl="1" indent="0" fontAlgn="auto">
              <a:lnSpc>
                <a:spcPct val="100000"/>
              </a:lnSpc>
              <a:spcAft>
                <a:spcPts val="0"/>
              </a:spcAft>
              <a:buFont typeface="+mj-lt"/>
              <a:buNone/>
            </a:pPr>
            <a:endParaRPr sz="2055" b="1">
              <a:solidFill>
                <a:srgbClr val="0000CC"/>
              </a:solidFill>
              <a:latin typeface="Arial" panose="020B0604020202020204" pitchFamily="34" charset="0"/>
            </a:endParaRPr>
          </a:p>
          <a:p>
            <a:pPr marL="457200" indent="-457200" fontAlgn="auto">
              <a:lnSpc>
                <a:spcPct val="100000"/>
              </a:lnSpc>
              <a:spcAft>
                <a:spcPts val="0"/>
              </a:spcAft>
              <a:buFont typeface="+mj-lt"/>
              <a:buAutoNum type="arabicPeriod"/>
            </a:pPr>
            <a:endParaRPr sz="2400" b="1">
              <a:solidFill>
                <a:srgbClr val="0000CC"/>
              </a:solidFill>
              <a:latin typeface="Arial" panose="020B0604020202020204" pitchFamily="34" charset="0"/>
            </a:endParaRPr>
          </a:p>
          <a:p>
            <a:pPr marL="457200" indent="-457200" fontAlgn="auto">
              <a:lnSpc>
                <a:spcPct val="100000"/>
              </a:lnSpc>
              <a:spcAft>
                <a:spcPts val="0"/>
              </a:spcAft>
              <a:buFont typeface="+mj-lt"/>
              <a:buAutoNum type="arabicPeriod"/>
            </a:pPr>
            <a:endParaRPr sz="2400" b="1">
              <a:solidFill>
                <a:srgbClr val="0000CC"/>
              </a:solidFill>
              <a:latin typeface="Arial" panose="020B0604020202020204" pitchFamily="34" charset="0"/>
            </a:endParaRPr>
          </a:p>
          <a:p>
            <a:pPr marL="457200" indent="-457200" fontAlgn="auto">
              <a:lnSpc>
                <a:spcPct val="100000"/>
              </a:lnSpc>
              <a:spcAft>
                <a:spcPts val="0"/>
              </a:spcAft>
              <a:buFont typeface="+mj-lt"/>
              <a:buAutoNum type="arabicPeriod"/>
            </a:pPr>
            <a:endParaRPr sz="2400" b="1">
              <a:solidFill>
                <a:srgbClr val="0000CC"/>
              </a:solidFill>
              <a:latin typeface="Arial" panose="020B0604020202020204" pitchFamily="34" charset="0"/>
            </a:endParaRPr>
          </a:p>
          <a:p>
            <a:pPr marL="457200" indent="-457200" fontAlgn="auto">
              <a:lnSpc>
                <a:spcPct val="100000"/>
              </a:lnSpc>
              <a:spcAft>
                <a:spcPts val="0"/>
              </a:spcAft>
              <a:buFont typeface="+mj-lt"/>
              <a:buAutoNum type="arabicPeriod"/>
            </a:pPr>
            <a:r>
              <a:rPr sz="2400" b="1">
                <a:solidFill>
                  <a:srgbClr val="0000CC"/>
                </a:solidFill>
                <a:latin typeface="Arial" panose="020B0604020202020204" pitchFamily="34" charset="0"/>
              </a:rPr>
              <a:t>查询满足下述条件的课程的课程号和课程名：‘开课院系’为空；</a:t>
            </a:r>
            <a:endParaRPr sz="2055" b="1">
              <a:solidFill>
                <a:srgbClr val="0000CC"/>
              </a:solidFill>
              <a:latin typeface="Arial" panose="020B0604020202020204" pitchFamily="34" charset="0"/>
            </a:endParaRPr>
          </a:p>
        </p:txBody>
      </p:sp>
      <p:sp>
        <p:nvSpPr>
          <p:cNvPr id="4" name="文本框 3"/>
          <p:cNvSpPr txBox="1"/>
          <p:nvPr/>
        </p:nvSpPr>
        <p:spPr>
          <a:xfrm>
            <a:off x="755650" y="3252470"/>
            <a:ext cx="10275570" cy="460375"/>
          </a:xfrm>
          <a:prstGeom prst="rect">
            <a:avLst/>
          </a:prstGeom>
          <a:noFill/>
          <a:ln>
            <a:solidFill>
              <a:schemeClr val="accent2">
                <a:lumMod val="75000"/>
              </a:schemeClr>
            </a:solidFill>
          </a:ln>
        </p:spPr>
        <p:txBody>
          <a:bodyPr wrap="square" rtlCol="0">
            <a:spAutoFit/>
          </a:bodyPr>
          <a:p>
            <a:pPr indent="205105"/>
            <a:r>
              <a:rPr sz="2400" b="1">
                <a:solidFill>
                  <a:srgbClr val="0000CC"/>
                </a:solidFill>
                <a:latin typeface="Arial" panose="020B0604020202020204" pitchFamily="34" charset="0"/>
                <a:sym typeface="+mn-ea"/>
              </a:rPr>
              <a:t>select  cname, dept  from  Course  where  cname like ‘%数据库%’</a:t>
            </a:r>
            <a:endParaRPr lang="en-US" altLang="zh-CN" sz="2400"/>
          </a:p>
        </p:txBody>
      </p:sp>
      <p:sp>
        <p:nvSpPr>
          <p:cNvPr id="5" name="文本框 4"/>
          <p:cNvSpPr txBox="1"/>
          <p:nvPr/>
        </p:nvSpPr>
        <p:spPr>
          <a:xfrm>
            <a:off x="755650" y="5501640"/>
            <a:ext cx="10275570" cy="460375"/>
          </a:xfrm>
          <a:prstGeom prst="rect">
            <a:avLst/>
          </a:prstGeom>
          <a:noFill/>
          <a:ln>
            <a:solidFill>
              <a:schemeClr val="accent2">
                <a:lumMod val="75000"/>
              </a:schemeClr>
            </a:solidFill>
          </a:ln>
        </p:spPr>
        <p:txBody>
          <a:bodyPr wrap="square" rtlCol="0">
            <a:spAutoFit/>
          </a:bodyPr>
          <a:p>
            <a:pPr indent="205105"/>
            <a:r>
              <a:rPr sz="2400" b="1">
                <a:solidFill>
                  <a:srgbClr val="0000CC"/>
                </a:solidFill>
                <a:latin typeface="Arial" panose="020B0604020202020204" pitchFamily="34" charset="0"/>
                <a:sym typeface="+mn-ea"/>
              </a:rPr>
              <a:t>Select  cno, cname  From  Course  Where  dept  IS NULL</a:t>
            </a:r>
            <a:endParaRPr lang="en-US" altLang="zh-CN" sz="2400"/>
          </a:p>
        </p:txBody>
      </p:sp>
      <p:graphicFrame>
        <p:nvGraphicFramePr>
          <p:cNvPr id="9" name="表格 8"/>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6" name="文本框 5"/>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1+#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570480"/>
            <a:ext cx="11511915" cy="460375"/>
          </a:xfrm>
        </p:spPr>
        <p:txBody>
          <a:bodyPr wrap="square">
            <a:spAutoFit/>
          </a:bodyPr>
          <a:p>
            <a:pPr marL="457200" indent="-457200" fontAlgn="auto">
              <a:lnSpc>
                <a:spcPct val="100000"/>
              </a:lnSpc>
              <a:spcAft>
                <a:spcPts val="0"/>
              </a:spcAft>
              <a:buFont typeface="+mj-lt"/>
              <a:buAutoNum type="arabicPeriod" startAt="3"/>
            </a:pPr>
            <a:r>
              <a:rPr sz="2400" b="1">
                <a:solidFill>
                  <a:srgbClr val="0000CC"/>
                </a:solidFill>
                <a:latin typeface="Arial" panose="020B0604020202020204" pitchFamily="34" charset="0"/>
              </a:rPr>
              <a:t>查询满足下述条件的教师工号和姓名：在2014至2016年之间没有承担过授课任务；</a:t>
            </a:r>
            <a:endParaRPr sz="2055" b="1">
              <a:solidFill>
                <a:srgbClr val="0000CC"/>
              </a:solidFill>
              <a:latin typeface="Arial" panose="020B0604020202020204" pitchFamily="34" charset="0"/>
            </a:endParaRPr>
          </a:p>
        </p:txBody>
      </p:sp>
      <p:sp>
        <p:nvSpPr>
          <p:cNvPr id="6" name="文本框 5"/>
          <p:cNvSpPr txBox="1"/>
          <p:nvPr/>
        </p:nvSpPr>
        <p:spPr>
          <a:xfrm>
            <a:off x="755650" y="3171190"/>
            <a:ext cx="10275570" cy="2306955"/>
          </a:xfrm>
          <a:prstGeom prst="rect">
            <a:avLst/>
          </a:prstGeom>
          <a:noFill/>
          <a:ln>
            <a:solidFill>
              <a:schemeClr val="accent2">
                <a:lumMod val="75000"/>
              </a:schemeClr>
            </a:solidFill>
          </a:ln>
        </p:spPr>
        <p:txBody>
          <a:bodyPr wrap="square" rtlCol="0">
            <a:spAutoFit/>
          </a:bodyPr>
          <a:p>
            <a:pPr marL="457200" lvl="1" indent="0" fontAlgn="auto">
              <a:lnSpc>
                <a:spcPct val="100000"/>
              </a:lnSpc>
              <a:spcAft>
                <a:spcPts val="0"/>
              </a:spcAft>
              <a:buFont typeface="+mj-lt"/>
              <a:buNone/>
            </a:pPr>
            <a:r>
              <a:rPr sz="2400" b="1">
                <a:solidFill>
                  <a:srgbClr val="0000CC"/>
                </a:solidFill>
                <a:latin typeface="Arial" panose="020B0604020202020204" pitchFamily="34" charset="0"/>
                <a:sym typeface="+mn-ea"/>
              </a:rPr>
              <a:t>Select  ino, iname</a:t>
            </a:r>
            <a:endParaRPr sz="2400" b="1">
              <a:solidFill>
                <a:srgbClr val="0000CC"/>
              </a:solidFill>
              <a:latin typeface="Arial" panose="020B0604020202020204" pitchFamily="34" charset="0"/>
            </a:endParaRPr>
          </a:p>
          <a:p>
            <a:pPr marL="457200" lvl="1" indent="0" fontAlgn="auto">
              <a:lnSpc>
                <a:spcPct val="100000"/>
              </a:lnSpc>
              <a:spcAft>
                <a:spcPts val="0"/>
              </a:spcAft>
              <a:buFont typeface="+mj-lt"/>
              <a:buNone/>
            </a:pPr>
            <a:r>
              <a:rPr sz="2400" b="1">
                <a:solidFill>
                  <a:srgbClr val="0000CC"/>
                </a:solidFill>
                <a:latin typeface="Arial" panose="020B0604020202020204" pitchFamily="34" charset="0"/>
                <a:sym typeface="+mn-ea"/>
              </a:rPr>
              <a:t>From  Instructor </a:t>
            </a:r>
            <a:endParaRPr sz="2400" b="1">
              <a:solidFill>
                <a:srgbClr val="0000CC"/>
              </a:solidFill>
              <a:latin typeface="Arial" panose="020B0604020202020204" pitchFamily="34" charset="0"/>
            </a:endParaRPr>
          </a:p>
          <a:p>
            <a:pPr marL="457200" lvl="1" indent="0" fontAlgn="auto">
              <a:lnSpc>
                <a:spcPct val="100000"/>
              </a:lnSpc>
              <a:spcAft>
                <a:spcPts val="0"/>
              </a:spcAft>
              <a:buFont typeface="+mj-lt"/>
              <a:buNone/>
            </a:pPr>
            <a:r>
              <a:rPr sz="2400" b="1">
                <a:solidFill>
                  <a:srgbClr val="0000CC"/>
                </a:solidFill>
                <a:latin typeface="Arial" panose="020B0604020202020204" pitchFamily="34" charset="0"/>
                <a:sym typeface="+mn-ea"/>
              </a:rPr>
              <a:t>Where  ino  NOT IN (</a:t>
            </a:r>
            <a:endParaRPr sz="2400" b="1">
              <a:solidFill>
                <a:srgbClr val="0000CC"/>
              </a:solidFill>
              <a:latin typeface="Arial" panose="020B0604020202020204" pitchFamily="34" charset="0"/>
              <a:sym typeface="+mn-ea"/>
            </a:endParaRPr>
          </a:p>
          <a:p>
            <a:pPr marL="2286000" lvl="5" indent="0" fontAlgn="auto">
              <a:lnSpc>
                <a:spcPct val="100000"/>
              </a:lnSpc>
              <a:spcAft>
                <a:spcPts val="0"/>
              </a:spcAft>
              <a:buFont typeface="+mj-lt"/>
              <a:buNone/>
            </a:pPr>
            <a:r>
              <a:rPr sz="2400" b="1">
                <a:solidFill>
                  <a:srgbClr val="0000CC"/>
                </a:solidFill>
                <a:latin typeface="Arial" panose="020B0604020202020204" pitchFamily="34" charset="0"/>
                <a:sym typeface="+mn-ea"/>
              </a:rPr>
              <a:t>Select  ino  </a:t>
            </a:r>
            <a:endParaRPr sz="2400" b="1">
              <a:solidFill>
                <a:srgbClr val="0000CC"/>
              </a:solidFill>
              <a:latin typeface="Arial" panose="020B0604020202020204" pitchFamily="34" charset="0"/>
              <a:sym typeface="+mn-ea"/>
            </a:endParaRPr>
          </a:p>
          <a:p>
            <a:pPr marL="2286000" lvl="5" indent="0" fontAlgn="auto">
              <a:lnSpc>
                <a:spcPct val="100000"/>
              </a:lnSpc>
              <a:spcAft>
                <a:spcPts val="0"/>
              </a:spcAft>
              <a:buFont typeface="+mj-lt"/>
              <a:buNone/>
            </a:pPr>
            <a:r>
              <a:rPr sz="2400" b="1">
                <a:solidFill>
                  <a:srgbClr val="0000CC"/>
                </a:solidFill>
                <a:latin typeface="Arial" panose="020B0604020202020204" pitchFamily="34" charset="0"/>
                <a:sym typeface="+mn-ea"/>
              </a:rPr>
              <a:t>From  Teach  </a:t>
            </a:r>
            <a:endParaRPr sz="2400" b="1">
              <a:solidFill>
                <a:srgbClr val="0000CC"/>
              </a:solidFill>
              <a:latin typeface="Arial" panose="020B0604020202020204" pitchFamily="34" charset="0"/>
              <a:sym typeface="+mn-ea"/>
            </a:endParaRPr>
          </a:p>
          <a:p>
            <a:pPr marL="2286000" lvl="5" indent="0" fontAlgn="auto">
              <a:lnSpc>
                <a:spcPct val="100000"/>
              </a:lnSpc>
              <a:spcAft>
                <a:spcPts val="0"/>
              </a:spcAft>
              <a:buFont typeface="+mj-lt"/>
              <a:buNone/>
            </a:pPr>
            <a:r>
              <a:rPr sz="2400" b="1">
                <a:solidFill>
                  <a:srgbClr val="0000CC"/>
                </a:solidFill>
                <a:latin typeface="Arial" panose="020B0604020202020204" pitchFamily="34" charset="0"/>
                <a:sym typeface="+mn-ea"/>
              </a:rPr>
              <a:t>Where  tyear between 2014 and 2016 )</a:t>
            </a:r>
            <a:endParaRPr lang="en-US" altLang="zh-CN" sz="2400"/>
          </a:p>
        </p:txBody>
      </p:sp>
      <p:sp>
        <p:nvSpPr>
          <p:cNvPr id="7" name="文本框 6"/>
          <p:cNvSpPr txBox="1"/>
          <p:nvPr/>
        </p:nvSpPr>
        <p:spPr>
          <a:xfrm>
            <a:off x="764540" y="5809615"/>
            <a:ext cx="10258425" cy="460375"/>
          </a:xfrm>
          <a:prstGeom prst="rect">
            <a:avLst/>
          </a:prstGeom>
          <a:noFill/>
        </p:spPr>
        <p:txBody>
          <a:bodyPr wrap="square" rtlCol="0">
            <a:spAutoFit/>
          </a:bodyPr>
          <a:p>
            <a:r>
              <a:rPr lang="zh-CN" altLang="zh-CN" sz="2400">
                <a:solidFill>
                  <a:srgbClr val="0000CC"/>
                </a:solidFill>
              </a:rPr>
              <a:t>也可以在关系</a:t>
            </a:r>
            <a:r>
              <a:rPr lang="en-US" altLang="zh-CN" sz="2400">
                <a:solidFill>
                  <a:srgbClr val="0000CC"/>
                </a:solidFill>
              </a:rPr>
              <a:t>Study</a:t>
            </a:r>
            <a:r>
              <a:rPr lang="zh-CN" altLang="en-US" sz="2400">
                <a:solidFill>
                  <a:srgbClr val="0000CC"/>
                </a:solidFill>
              </a:rPr>
              <a:t>上查询</a:t>
            </a:r>
            <a:r>
              <a:rPr lang="en-US" altLang="zh-CN" sz="2400">
                <a:solidFill>
                  <a:srgbClr val="0000CC"/>
                </a:solidFill>
              </a:rPr>
              <a:t>2014</a:t>
            </a:r>
            <a:r>
              <a:rPr lang="zh-CN" altLang="en-US" sz="2400">
                <a:solidFill>
                  <a:srgbClr val="0000CC"/>
                </a:solidFill>
              </a:rPr>
              <a:t>至</a:t>
            </a:r>
            <a:r>
              <a:rPr lang="en-US" altLang="zh-CN" sz="2400">
                <a:solidFill>
                  <a:srgbClr val="0000CC"/>
                </a:solidFill>
              </a:rPr>
              <a:t>2016</a:t>
            </a:r>
            <a:r>
              <a:rPr lang="zh-CN" altLang="en-US" sz="2400">
                <a:solidFill>
                  <a:srgbClr val="0000CC"/>
                </a:solidFill>
              </a:rPr>
              <a:t>年间担任过授课任务的教师工号。</a:t>
            </a:r>
            <a:endParaRPr lang="zh-CN" altLang="en-US" sz="2400">
              <a:solidFill>
                <a:srgbClr val="0000CC"/>
              </a:solidFill>
            </a:endParaRPr>
          </a:p>
        </p:txBody>
      </p:sp>
      <p:graphicFrame>
        <p:nvGraphicFramePr>
          <p:cNvPr id="9" name="表格 8"/>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593340"/>
            <a:ext cx="11511915" cy="460375"/>
          </a:xfrm>
        </p:spPr>
        <p:txBody>
          <a:bodyPr wrap="square">
            <a:spAutoFit/>
          </a:bodyPr>
          <a:p>
            <a:pPr marL="457200" indent="-457200" fontAlgn="auto">
              <a:lnSpc>
                <a:spcPct val="100000"/>
              </a:lnSpc>
              <a:spcAft>
                <a:spcPts val="0"/>
              </a:spcAft>
              <a:buFont typeface="+mj-lt"/>
              <a:buAutoNum type="arabicPeriod" startAt="4"/>
            </a:pPr>
            <a:r>
              <a:rPr sz="2400" b="1">
                <a:solidFill>
                  <a:srgbClr val="0000CC"/>
                </a:solidFill>
                <a:latin typeface="Arial" panose="020B0604020202020204" pitchFamily="34" charset="0"/>
              </a:rPr>
              <a:t>查询满足下述条件的教师的工号和姓名：只主讲过自己所在院系开设的课程；</a:t>
            </a:r>
            <a:endParaRPr sz="2400" b="1">
              <a:solidFill>
                <a:srgbClr val="0000CC"/>
              </a:solidFill>
              <a:latin typeface="Arial" panose="020B0604020202020204" pitchFamily="34" charset="0"/>
            </a:endParaRPr>
          </a:p>
        </p:txBody>
      </p:sp>
      <p:sp>
        <p:nvSpPr>
          <p:cNvPr id="6" name="文本框 5"/>
          <p:cNvSpPr txBox="1"/>
          <p:nvPr/>
        </p:nvSpPr>
        <p:spPr>
          <a:xfrm>
            <a:off x="743585" y="3136265"/>
            <a:ext cx="10275570" cy="2968625"/>
          </a:xfrm>
          <a:prstGeom prst="rect">
            <a:avLst/>
          </a:prstGeom>
          <a:solidFill>
            <a:schemeClr val="bg1"/>
          </a:solidFill>
          <a:ln>
            <a:solidFill>
              <a:schemeClr val="accent2">
                <a:lumMod val="75000"/>
              </a:schemeClr>
            </a:solidFill>
          </a:ln>
        </p:spPr>
        <p:txBody>
          <a:bodyPr wrap="square" rtlCol="0">
            <a:spAutoFit/>
          </a:bodyPr>
          <a:p>
            <a:pPr marL="457200" lvl="1" indent="0" fontAlgn="auto">
              <a:lnSpc>
                <a:spcPct val="130000"/>
              </a:lnSpc>
              <a:spcBef>
                <a:spcPts val="0"/>
              </a:spcBef>
              <a:spcAft>
                <a:spcPts val="0"/>
              </a:spcAft>
              <a:buFont typeface="+mj-lt"/>
              <a:buNone/>
            </a:pPr>
            <a:r>
              <a:rPr sz="2400" b="1">
                <a:solidFill>
                  <a:srgbClr val="0000CC"/>
                </a:solidFill>
                <a:latin typeface="Arial" panose="020B0604020202020204" pitchFamily="34" charset="0"/>
                <a:sym typeface="+mn-ea"/>
              </a:rPr>
              <a:t>Select  </a:t>
            </a:r>
            <a:r>
              <a:rPr lang="en-US" sz="2400" b="1">
                <a:solidFill>
                  <a:srgbClr val="0000CC"/>
                </a:solidFill>
                <a:latin typeface="Arial" panose="020B0604020202020204" pitchFamily="34" charset="0"/>
                <a:sym typeface="+mn-ea"/>
              </a:rPr>
              <a:t>X</a:t>
            </a:r>
            <a:r>
              <a:rPr sz="2400" b="1">
                <a:solidFill>
                  <a:srgbClr val="0000CC"/>
                </a:solidFill>
                <a:latin typeface="Arial" panose="020B0604020202020204" pitchFamily="34" charset="0"/>
                <a:sym typeface="+mn-ea"/>
              </a:rPr>
              <a:t>.ino, </a:t>
            </a:r>
            <a:r>
              <a:rPr lang="en-US" sz="2400" b="1">
                <a:solidFill>
                  <a:srgbClr val="0000CC"/>
                </a:solidFill>
                <a:latin typeface="Arial" panose="020B0604020202020204" pitchFamily="34" charset="0"/>
                <a:sym typeface="+mn-ea"/>
              </a:rPr>
              <a:t>X</a:t>
            </a:r>
            <a:r>
              <a:rPr sz="2400" b="1">
                <a:solidFill>
                  <a:srgbClr val="0000CC"/>
                </a:solidFill>
                <a:latin typeface="Arial" panose="020B0604020202020204" pitchFamily="34" charset="0"/>
                <a:sym typeface="+mn-ea"/>
              </a:rPr>
              <a:t>.iname</a:t>
            </a:r>
            <a:endParaRPr sz="2400" b="1">
              <a:solidFill>
                <a:srgbClr val="0000CC"/>
              </a:solidFill>
              <a:latin typeface="Arial" panose="020B0604020202020204" pitchFamily="34" charset="0"/>
            </a:endParaRPr>
          </a:p>
          <a:p>
            <a:pPr marL="457200" lvl="1" indent="0" fontAlgn="auto">
              <a:lnSpc>
                <a:spcPct val="130000"/>
              </a:lnSpc>
              <a:spcBef>
                <a:spcPts val="0"/>
              </a:spcBef>
              <a:spcAft>
                <a:spcPts val="0"/>
              </a:spcAft>
              <a:buFont typeface="+mj-lt"/>
              <a:buNone/>
            </a:pPr>
            <a:r>
              <a:rPr sz="2400" b="1">
                <a:solidFill>
                  <a:srgbClr val="0000CC"/>
                </a:solidFill>
                <a:latin typeface="Arial" panose="020B0604020202020204" pitchFamily="34" charset="0"/>
                <a:sym typeface="+mn-ea"/>
              </a:rPr>
              <a:t>From  Instructor </a:t>
            </a:r>
            <a:r>
              <a:rPr lang="en-US" sz="2400" b="1">
                <a:solidFill>
                  <a:srgbClr val="0000CC"/>
                </a:solidFill>
                <a:latin typeface="Arial" panose="020B0604020202020204" pitchFamily="34" charset="0"/>
                <a:sym typeface="+mn-ea"/>
              </a:rPr>
              <a:t>X</a:t>
            </a:r>
            <a:endParaRPr lang="en-US" sz="2400" b="1">
              <a:solidFill>
                <a:srgbClr val="0000CC"/>
              </a:solidFill>
              <a:latin typeface="Arial" panose="020B0604020202020204" pitchFamily="34" charset="0"/>
              <a:sym typeface="+mn-ea"/>
            </a:endParaRPr>
          </a:p>
          <a:p>
            <a:pPr marL="457200" lvl="1" indent="0" fontAlgn="auto">
              <a:lnSpc>
                <a:spcPct val="130000"/>
              </a:lnSpc>
              <a:spcBef>
                <a:spcPts val="0"/>
              </a:spcBef>
              <a:spcAft>
                <a:spcPts val="0"/>
              </a:spcAft>
              <a:buFont typeface="+mj-lt"/>
              <a:buNone/>
            </a:pPr>
            <a:r>
              <a:rPr sz="2400" b="1">
                <a:solidFill>
                  <a:srgbClr val="0000CC"/>
                </a:solidFill>
                <a:latin typeface="Arial" panose="020B0604020202020204" pitchFamily="34" charset="0"/>
                <a:sym typeface="+mn-ea"/>
              </a:rPr>
              <a:t>Where  </a:t>
            </a:r>
            <a:r>
              <a:rPr lang="en-US" sz="2400" b="1">
                <a:solidFill>
                  <a:srgbClr val="0000CC"/>
                </a:solidFill>
                <a:latin typeface="Arial" panose="020B0604020202020204" pitchFamily="34" charset="0"/>
                <a:sym typeface="+mn-ea"/>
              </a:rPr>
              <a:t>X</a:t>
            </a:r>
            <a:r>
              <a:rPr sz="2400" b="1">
                <a:solidFill>
                  <a:srgbClr val="0000CC"/>
                </a:solidFill>
                <a:latin typeface="Arial" panose="020B0604020202020204" pitchFamily="34" charset="0"/>
                <a:sym typeface="+mn-ea"/>
              </a:rPr>
              <a:t>.ino IN ( select ino from Teach )  and</a:t>
            </a:r>
            <a:endParaRPr sz="2400" b="1">
              <a:solidFill>
                <a:srgbClr val="0000CC"/>
              </a:solidFill>
              <a:latin typeface="Arial" panose="020B0604020202020204" pitchFamily="34" charset="0"/>
            </a:endParaRPr>
          </a:p>
          <a:p>
            <a:pPr marL="914400" lvl="2" indent="0" fontAlgn="auto">
              <a:lnSpc>
                <a:spcPct val="130000"/>
              </a:lnSpc>
              <a:spcBef>
                <a:spcPts val="0"/>
              </a:spcBef>
              <a:spcAft>
                <a:spcPts val="0"/>
              </a:spcAft>
              <a:buFont typeface="+mj-lt"/>
              <a:buNone/>
            </a:pPr>
            <a:r>
              <a:rPr sz="2400" b="1">
                <a:solidFill>
                  <a:srgbClr val="0000CC"/>
                </a:solidFill>
                <a:latin typeface="Arial" panose="020B0604020202020204" pitchFamily="34" charset="0"/>
                <a:sym typeface="+mn-ea"/>
              </a:rPr>
              <a:t>NOT EXISTS (   Select  *  From  Teach T, Course C </a:t>
            </a:r>
            <a:endParaRPr sz="2400" b="1">
              <a:solidFill>
                <a:srgbClr val="0000CC"/>
              </a:solidFill>
              <a:latin typeface="Arial" panose="020B0604020202020204" pitchFamily="34" charset="0"/>
              <a:sym typeface="+mn-ea"/>
            </a:endParaRPr>
          </a:p>
          <a:p>
            <a:pPr marL="3200400" lvl="7" indent="0" fontAlgn="auto">
              <a:lnSpc>
                <a:spcPct val="130000"/>
              </a:lnSpc>
              <a:spcBef>
                <a:spcPts val="0"/>
              </a:spcBef>
              <a:spcAft>
                <a:spcPts val="0"/>
              </a:spcAft>
              <a:buFont typeface="+mj-lt"/>
              <a:buNone/>
            </a:pPr>
            <a:r>
              <a:rPr sz="2400" b="1">
                <a:solidFill>
                  <a:srgbClr val="0000CC"/>
                </a:solidFill>
                <a:latin typeface="Arial" panose="020B0604020202020204" pitchFamily="34" charset="0"/>
                <a:sym typeface="+mn-ea"/>
              </a:rPr>
              <a:t>Where  T.ino=</a:t>
            </a:r>
            <a:r>
              <a:rPr lang="en-US" sz="2400" b="1">
                <a:solidFill>
                  <a:srgbClr val="0000CC"/>
                </a:solidFill>
                <a:latin typeface="Arial" panose="020B0604020202020204" pitchFamily="34" charset="0"/>
                <a:sym typeface="+mn-ea"/>
              </a:rPr>
              <a:t>X</a:t>
            </a:r>
            <a:r>
              <a:rPr sz="2400" b="1">
                <a:solidFill>
                  <a:srgbClr val="0000CC"/>
                </a:solidFill>
                <a:latin typeface="Arial" panose="020B0604020202020204" pitchFamily="34" charset="0"/>
                <a:sym typeface="+mn-ea"/>
              </a:rPr>
              <a:t>.ino  and  T.cno=C.cno  </a:t>
            </a:r>
            <a:endParaRPr sz="2400" b="1">
              <a:solidFill>
                <a:srgbClr val="0000CC"/>
              </a:solidFill>
              <a:latin typeface="Arial" panose="020B0604020202020204" pitchFamily="34" charset="0"/>
              <a:sym typeface="+mn-ea"/>
            </a:endParaRPr>
          </a:p>
          <a:p>
            <a:pPr marL="3657600" lvl="8" indent="0" fontAlgn="auto">
              <a:lnSpc>
                <a:spcPct val="130000"/>
              </a:lnSpc>
              <a:spcBef>
                <a:spcPts val="0"/>
              </a:spcBef>
              <a:spcAft>
                <a:spcPts val="0"/>
              </a:spcAft>
              <a:buFont typeface="+mj-lt"/>
              <a:buNone/>
            </a:pPr>
            <a:r>
              <a:rPr sz="2400" b="1">
                <a:solidFill>
                  <a:srgbClr val="0000CC"/>
                </a:solidFill>
                <a:latin typeface="Arial" panose="020B0604020202020204" pitchFamily="34" charset="0"/>
                <a:sym typeface="+mn-ea"/>
              </a:rPr>
              <a:t>        and  </a:t>
            </a:r>
            <a:r>
              <a:rPr lang="en-US" sz="2400" b="1">
                <a:solidFill>
                  <a:srgbClr val="0000CC"/>
                </a:solidFill>
                <a:latin typeface="Arial" panose="020B0604020202020204" pitchFamily="34" charset="0"/>
                <a:sym typeface="+mn-ea"/>
              </a:rPr>
              <a:t>X</a:t>
            </a:r>
            <a:r>
              <a:rPr sz="2400" b="1">
                <a:solidFill>
                  <a:srgbClr val="0000CC"/>
                </a:solidFill>
                <a:latin typeface="Arial" panose="020B0604020202020204" pitchFamily="34" charset="0"/>
                <a:sym typeface="+mn-ea"/>
              </a:rPr>
              <a:t>.dept&lt;&gt;C.dept )</a:t>
            </a:r>
            <a:endParaRPr lang="en-US" altLang="zh-CN" sz="2400"/>
          </a:p>
        </p:txBody>
      </p:sp>
      <p:graphicFrame>
        <p:nvGraphicFramePr>
          <p:cNvPr id="8" name="表格 7"/>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593340"/>
            <a:ext cx="11511915" cy="829945"/>
          </a:xfrm>
        </p:spPr>
        <p:txBody>
          <a:bodyPr wrap="square">
            <a:spAutoFit/>
          </a:bodyPr>
          <a:p>
            <a:pPr marL="457200" indent="-457200" fontAlgn="auto">
              <a:lnSpc>
                <a:spcPct val="100000"/>
              </a:lnSpc>
              <a:spcAft>
                <a:spcPts val="0"/>
              </a:spcAft>
              <a:buFont typeface="+mj-lt"/>
              <a:buAutoNum type="arabicPeriod" startAt="5"/>
            </a:pPr>
            <a:r>
              <a:rPr sz="2400" b="1">
                <a:solidFill>
                  <a:srgbClr val="0000CC"/>
                </a:solidFill>
                <a:latin typeface="Arial" panose="020B0604020202020204" pitchFamily="34" charset="0"/>
              </a:rPr>
              <a:t>查询满足下述条件的学生的学号和姓名：所有课程都及格，且修读了‘计算机’系开设的所有‘必修’课；</a:t>
            </a:r>
            <a:endParaRPr sz="2400" b="1">
              <a:solidFill>
                <a:srgbClr val="0000CC"/>
              </a:solidFill>
              <a:latin typeface="Arial" panose="020B0604020202020204" pitchFamily="34" charset="0"/>
            </a:endParaRPr>
          </a:p>
        </p:txBody>
      </p:sp>
      <p:sp>
        <p:nvSpPr>
          <p:cNvPr id="6" name="文本框 5"/>
          <p:cNvSpPr txBox="1"/>
          <p:nvPr/>
        </p:nvSpPr>
        <p:spPr>
          <a:xfrm>
            <a:off x="743585" y="3486150"/>
            <a:ext cx="10654030" cy="3046095"/>
          </a:xfrm>
          <a:prstGeom prst="rect">
            <a:avLst/>
          </a:prstGeom>
          <a:solidFill>
            <a:schemeClr val="bg1"/>
          </a:solidFill>
          <a:ln>
            <a:solidFill>
              <a:schemeClr val="accent2">
                <a:lumMod val="75000"/>
              </a:schemeClr>
            </a:solidFill>
          </a:ln>
        </p:spPr>
        <p:txBody>
          <a:bodyPr wrap="square" rtlCol="0">
            <a:spAutoFit/>
          </a:bodyPr>
          <a:p>
            <a:pPr marL="457200" lvl="1" indent="0" fontAlgn="auto">
              <a:lnSpc>
                <a:spcPct val="100000"/>
              </a:lnSpc>
              <a:spcAft>
                <a:spcPts val="0"/>
              </a:spcAft>
              <a:buFont typeface="+mj-lt"/>
              <a:buNone/>
            </a:pPr>
            <a:r>
              <a:rPr sz="2400" b="1">
                <a:solidFill>
                  <a:srgbClr val="0000CC"/>
                </a:solidFill>
                <a:latin typeface="Arial" panose="020B0604020202020204" pitchFamily="34" charset="0"/>
                <a:sym typeface="+mn-ea"/>
              </a:rPr>
              <a:t>Select  S.sno, S.sname  From  Student S</a:t>
            </a:r>
            <a:endParaRPr sz="2400" b="1">
              <a:solidFill>
                <a:srgbClr val="0000CC"/>
              </a:solidFill>
              <a:latin typeface="Arial" panose="020B0604020202020204" pitchFamily="34" charset="0"/>
              <a:sym typeface="+mn-ea"/>
            </a:endParaRPr>
          </a:p>
          <a:p>
            <a:pPr marL="457200" lvl="1" indent="0" fontAlgn="auto">
              <a:lnSpc>
                <a:spcPct val="100000"/>
              </a:lnSpc>
              <a:spcAft>
                <a:spcPts val="0"/>
              </a:spcAft>
              <a:buFont typeface="+mj-lt"/>
              <a:buNone/>
            </a:pPr>
            <a:r>
              <a:rPr sz="2400" b="1">
                <a:solidFill>
                  <a:srgbClr val="0000CC"/>
                </a:solidFill>
                <a:latin typeface="Arial" panose="020B0604020202020204" pitchFamily="34" charset="0"/>
                <a:sym typeface="+mn-ea"/>
              </a:rPr>
              <a:t>Where  S.sno  NOT IN  (select sno  from Study  where grade&lt;60) </a:t>
            </a:r>
            <a:endParaRPr sz="2400" b="1">
              <a:solidFill>
                <a:srgbClr val="0000CC"/>
              </a:solidFill>
              <a:latin typeface="Arial" panose="020B0604020202020204" pitchFamily="34" charset="0"/>
              <a:sym typeface="+mn-ea"/>
            </a:endParaRPr>
          </a:p>
          <a:p>
            <a:pPr marL="914400" lvl="2" indent="0" fontAlgn="auto">
              <a:lnSpc>
                <a:spcPct val="100000"/>
              </a:lnSpc>
              <a:spcAft>
                <a:spcPts val="0"/>
              </a:spcAft>
              <a:buFont typeface="+mj-lt"/>
              <a:buNone/>
            </a:pPr>
            <a:r>
              <a:rPr sz="2400" b="1">
                <a:solidFill>
                  <a:srgbClr val="0000CC"/>
                </a:solidFill>
                <a:latin typeface="Arial" panose="020B0604020202020204" pitchFamily="34" charset="0"/>
                <a:sym typeface="+mn-ea"/>
              </a:rPr>
              <a:t>and  NOT EXISTS (</a:t>
            </a:r>
            <a:endParaRPr sz="2400" b="1">
              <a:solidFill>
                <a:srgbClr val="0000CC"/>
              </a:solidFill>
              <a:latin typeface="Arial" panose="020B0604020202020204" pitchFamily="34" charset="0"/>
              <a:sym typeface="+mn-ea"/>
            </a:endParaRPr>
          </a:p>
          <a:p>
            <a:pPr marL="1371600" lvl="3" indent="0" fontAlgn="auto">
              <a:lnSpc>
                <a:spcPct val="100000"/>
              </a:lnSpc>
              <a:spcAft>
                <a:spcPts val="0"/>
              </a:spcAft>
              <a:buFont typeface="+mj-lt"/>
              <a:buNone/>
            </a:pPr>
            <a:r>
              <a:rPr sz="2400" b="1">
                <a:solidFill>
                  <a:srgbClr val="0000CC"/>
                </a:solidFill>
                <a:latin typeface="Arial" panose="020B0604020202020204" pitchFamily="34" charset="0"/>
                <a:sym typeface="+mn-ea"/>
              </a:rPr>
              <a:t>Select  *  From  Course C </a:t>
            </a:r>
            <a:endParaRPr sz="2400" b="1">
              <a:solidFill>
                <a:srgbClr val="0000CC"/>
              </a:solidFill>
              <a:latin typeface="Arial" panose="020B0604020202020204" pitchFamily="34" charset="0"/>
              <a:sym typeface="+mn-ea"/>
            </a:endParaRPr>
          </a:p>
          <a:p>
            <a:pPr marL="1371600" lvl="3" indent="0" fontAlgn="auto">
              <a:lnSpc>
                <a:spcPct val="100000"/>
              </a:lnSpc>
              <a:spcAft>
                <a:spcPts val="0"/>
              </a:spcAft>
              <a:buFont typeface="+mj-lt"/>
              <a:buNone/>
            </a:pPr>
            <a:r>
              <a:rPr sz="2400" b="1">
                <a:solidFill>
                  <a:srgbClr val="0000CC"/>
                </a:solidFill>
                <a:latin typeface="Arial" panose="020B0604020202020204" pitchFamily="34" charset="0"/>
                <a:sym typeface="+mn-ea"/>
              </a:rPr>
              <a:t>Where  C.dept=’计算机’ and C.optional=’必修’ and </a:t>
            </a:r>
            <a:endParaRPr sz="2400" b="1">
              <a:solidFill>
                <a:srgbClr val="0000CC"/>
              </a:solidFill>
              <a:latin typeface="Arial" panose="020B0604020202020204" pitchFamily="34" charset="0"/>
              <a:sym typeface="+mn-ea"/>
            </a:endParaRPr>
          </a:p>
          <a:p>
            <a:pPr marL="1828800" lvl="4" indent="0" fontAlgn="auto">
              <a:lnSpc>
                <a:spcPct val="100000"/>
              </a:lnSpc>
              <a:spcAft>
                <a:spcPts val="0"/>
              </a:spcAft>
              <a:buFont typeface="+mj-lt"/>
              <a:buNone/>
            </a:pPr>
            <a:r>
              <a:rPr sz="2400" b="1">
                <a:solidFill>
                  <a:srgbClr val="0000CC"/>
                </a:solidFill>
                <a:latin typeface="Arial" panose="020B0604020202020204" pitchFamily="34" charset="0"/>
                <a:sym typeface="+mn-ea"/>
              </a:rPr>
              <a:t>NOT EXISTS (</a:t>
            </a:r>
            <a:endParaRPr sz="2400" b="1">
              <a:solidFill>
                <a:srgbClr val="0000CC"/>
              </a:solidFill>
              <a:latin typeface="Arial" panose="020B0604020202020204" pitchFamily="34" charset="0"/>
              <a:sym typeface="+mn-ea"/>
            </a:endParaRPr>
          </a:p>
          <a:p>
            <a:pPr marL="2286000" lvl="5" indent="0" fontAlgn="auto">
              <a:lnSpc>
                <a:spcPct val="100000"/>
              </a:lnSpc>
              <a:spcAft>
                <a:spcPts val="0"/>
              </a:spcAft>
              <a:buFont typeface="+mj-lt"/>
              <a:buNone/>
            </a:pPr>
            <a:r>
              <a:rPr sz="2400" b="1">
                <a:solidFill>
                  <a:srgbClr val="0000CC"/>
                </a:solidFill>
                <a:latin typeface="Arial" panose="020B0604020202020204" pitchFamily="34" charset="0"/>
                <a:sym typeface="+mn-ea"/>
              </a:rPr>
              <a:t>Select  *  From  Study R</a:t>
            </a:r>
            <a:endParaRPr sz="2400" b="1">
              <a:solidFill>
                <a:srgbClr val="0000CC"/>
              </a:solidFill>
              <a:latin typeface="Arial" panose="020B0604020202020204" pitchFamily="34" charset="0"/>
              <a:sym typeface="+mn-ea"/>
            </a:endParaRPr>
          </a:p>
          <a:p>
            <a:pPr marL="2286000" lvl="5" indent="0" fontAlgn="auto">
              <a:lnSpc>
                <a:spcPct val="100000"/>
              </a:lnSpc>
              <a:spcAft>
                <a:spcPts val="0"/>
              </a:spcAft>
              <a:buFont typeface="+mj-lt"/>
              <a:buNone/>
            </a:pPr>
            <a:r>
              <a:rPr sz="2400" b="1">
                <a:solidFill>
                  <a:srgbClr val="0000CC"/>
                </a:solidFill>
                <a:latin typeface="Arial" panose="020B0604020202020204" pitchFamily="34" charset="0"/>
                <a:sym typeface="+mn-ea"/>
              </a:rPr>
              <a:t>Where  R.sno=S.sno and R.cno=C.cno ) )</a:t>
            </a:r>
            <a:endParaRPr sz="2400" b="1">
              <a:solidFill>
                <a:srgbClr val="0000CC"/>
              </a:solidFill>
              <a:latin typeface="Arial" panose="020B0604020202020204" pitchFamily="34" charset="0"/>
              <a:sym typeface="+mn-ea"/>
            </a:endParaRPr>
          </a:p>
        </p:txBody>
      </p:sp>
      <p:graphicFrame>
        <p:nvGraphicFramePr>
          <p:cNvPr id="8" name="表格 7"/>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593340"/>
            <a:ext cx="11511915" cy="829945"/>
          </a:xfrm>
        </p:spPr>
        <p:txBody>
          <a:bodyPr wrap="square">
            <a:spAutoFit/>
          </a:bodyPr>
          <a:p>
            <a:pPr marL="457200" indent="-457200" fontAlgn="auto">
              <a:lnSpc>
                <a:spcPct val="100000"/>
              </a:lnSpc>
              <a:spcAft>
                <a:spcPts val="0"/>
              </a:spcAft>
              <a:buFont typeface="+mj-lt"/>
              <a:buAutoNum type="arabicPeriod" startAt="6"/>
            </a:pPr>
            <a:r>
              <a:rPr sz="2400" b="1">
                <a:solidFill>
                  <a:srgbClr val="0000CC"/>
                </a:solidFill>
                <a:latin typeface="Arial" panose="020B0604020202020204" pitchFamily="34" charset="0"/>
              </a:rPr>
              <a:t>查询只有一位老师担任过授课任务的课程，结果返回满足条件课程的课程号，开课院系及累计开课次数；</a:t>
            </a:r>
            <a:endParaRPr sz="2400" b="1">
              <a:solidFill>
                <a:srgbClr val="0000CC"/>
              </a:solidFill>
              <a:latin typeface="Arial" panose="020B0604020202020204" pitchFamily="34" charset="0"/>
            </a:endParaRPr>
          </a:p>
        </p:txBody>
      </p:sp>
      <p:graphicFrame>
        <p:nvGraphicFramePr>
          <p:cNvPr id="8" name="表格 7"/>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grpSp>
        <p:nvGrpSpPr>
          <p:cNvPr id="10" name="组合 9"/>
          <p:cNvGrpSpPr/>
          <p:nvPr/>
        </p:nvGrpSpPr>
        <p:grpSpPr>
          <a:xfrm>
            <a:off x="279400" y="3522980"/>
            <a:ext cx="5398770" cy="2705735"/>
            <a:chOff x="980" y="5548"/>
            <a:chExt cx="8502" cy="4261"/>
          </a:xfrm>
        </p:grpSpPr>
        <p:sp>
          <p:nvSpPr>
            <p:cNvPr id="5" name="文本框 4"/>
            <p:cNvSpPr txBox="1"/>
            <p:nvPr/>
          </p:nvSpPr>
          <p:spPr>
            <a:xfrm>
              <a:off x="980" y="5548"/>
              <a:ext cx="3986" cy="725"/>
            </a:xfrm>
            <a:prstGeom prst="rect">
              <a:avLst/>
            </a:prstGeom>
            <a:noFill/>
          </p:spPr>
          <p:txBody>
            <a:bodyPr wrap="square" rtlCol="0">
              <a:spAutoFit/>
            </a:bodyPr>
            <a:p>
              <a:r>
                <a:rPr lang="zh-CN" altLang="zh-CN" sz="2400" b="1">
                  <a:solidFill>
                    <a:srgbClr val="0000CC"/>
                  </a:solidFill>
                </a:rPr>
                <a:t>【参考答案 </a:t>
              </a:r>
              <a:r>
                <a:rPr lang="en-US" altLang="zh-CN" sz="2400" b="1">
                  <a:solidFill>
                    <a:srgbClr val="0000CC"/>
                  </a:solidFill>
                </a:rPr>
                <a:t>1</a:t>
              </a:r>
              <a:r>
                <a:rPr lang="zh-CN" altLang="en-US" sz="2400" b="1">
                  <a:solidFill>
                    <a:srgbClr val="0000CC"/>
                  </a:solidFill>
                </a:rPr>
                <a:t>】</a:t>
              </a:r>
              <a:endParaRPr lang="zh-CN" altLang="en-US" sz="2400" b="1">
                <a:solidFill>
                  <a:srgbClr val="0000CC"/>
                </a:solidFill>
              </a:endParaRPr>
            </a:p>
          </p:txBody>
        </p:sp>
        <p:sp>
          <p:nvSpPr>
            <p:cNvPr id="9" name="文本框 8"/>
            <p:cNvSpPr txBox="1"/>
            <p:nvPr/>
          </p:nvSpPr>
          <p:spPr>
            <a:xfrm>
              <a:off x="984" y="6323"/>
              <a:ext cx="8499" cy="3486"/>
            </a:xfrm>
            <a:prstGeom prst="rect">
              <a:avLst/>
            </a:prstGeom>
            <a:noFill/>
            <a:ln>
              <a:solidFill>
                <a:schemeClr val="accent1"/>
              </a:solidFill>
            </a:ln>
          </p:spPr>
          <p:txBody>
            <a:bodyPr wrap="square" rtlCol="0">
              <a:spAutoFit/>
            </a:bodyPr>
            <a:p>
              <a:pPr lvl="1">
                <a:lnSpc>
                  <a:spcPct val="115000"/>
                </a:lnSpc>
                <a:spcBef>
                  <a:spcPts val="0"/>
                </a:spcBef>
                <a:spcAft>
                  <a:spcPts val="0"/>
                </a:spcAft>
              </a:pPr>
              <a:r>
                <a:rPr lang="zh-CN" altLang="en-US" sz="2400" b="1">
                  <a:solidFill>
                    <a:srgbClr val="0000CC"/>
                  </a:solidFill>
                  <a:latin typeface="Arial" panose="020B0604020202020204" pitchFamily="34" charset="0"/>
                </a:rPr>
                <a:t>Select  C.cno, C.dept, count(*)</a:t>
              </a:r>
              <a:endParaRPr lang="zh-CN" altLang="en-US"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rPr>
                <a:t>From  Course C, Teach T</a:t>
              </a:r>
              <a:endParaRPr lang="zh-CN" altLang="en-US"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rPr>
                <a:t>Where  C.cno=T.cno</a:t>
              </a:r>
              <a:endParaRPr lang="zh-CN" altLang="en-US"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rPr>
                <a:t>Group by  C.cno, C.dept</a:t>
              </a:r>
              <a:endParaRPr lang="zh-CN" altLang="en-US"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rPr>
                <a:t>Having  count(distinct T.ino)=1</a:t>
              </a:r>
              <a:endParaRPr lang="zh-CN" altLang="en-US" sz="2400" b="1">
                <a:solidFill>
                  <a:srgbClr val="0000CC"/>
                </a:solidFill>
                <a:latin typeface="Arial" panose="020B0604020202020204" pitchFamily="34" charset="0"/>
              </a:endParaRPr>
            </a:p>
          </p:txBody>
        </p:sp>
      </p:grpSp>
      <p:grpSp>
        <p:nvGrpSpPr>
          <p:cNvPr id="11" name="组合 10"/>
          <p:cNvGrpSpPr/>
          <p:nvPr/>
        </p:nvGrpSpPr>
        <p:grpSpPr>
          <a:xfrm>
            <a:off x="5903595" y="3522980"/>
            <a:ext cx="6168390" cy="3129915"/>
            <a:chOff x="303" y="5548"/>
            <a:chExt cx="9714" cy="4929"/>
          </a:xfrm>
        </p:grpSpPr>
        <p:sp>
          <p:nvSpPr>
            <p:cNvPr id="12" name="文本框 11"/>
            <p:cNvSpPr txBox="1"/>
            <p:nvPr/>
          </p:nvSpPr>
          <p:spPr>
            <a:xfrm>
              <a:off x="980" y="5548"/>
              <a:ext cx="3986" cy="725"/>
            </a:xfrm>
            <a:prstGeom prst="rect">
              <a:avLst/>
            </a:prstGeom>
            <a:noFill/>
          </p:spPr>
          <p:txBody>
            <a:bodyPr wrap="square" rtlCol="0">
              <a:spAutoFit/>
            </a:bodyPr>
            <a:p>
              <a:r>
                <a:rPr lang="zh-CN" altLang="zh-CN" sz="2400" b="1">
                  <a:solidFill>
                    <a:srgbClr val="0000CC"/>
                  </a:solidFill>
                </a:rPr>
                <a:t>【参考答案 </a:t>
              </a:r>
              <a:r>
                <a:rPr lang="en-US" altLang="zh-CN" sz="2400" b="1">
                  <a:solidFill>
                    <a:srgbClr val="0000CC"/>
                  </a:solidFill>
                </a:rPr>
                <a:t>2</a:t>
              </a:r>
              <a:r>
                <a:rPr lang="zh-CN" altLang="en-US" sz="2400" b="1">
                  <a:solidFill>
                    <a:srgbClr val="0000CC"/>
                  </a:solidFill>
                </a:rPr>
                <a:t>】</a:t>
              </a:r>
              <a:endParaRPr lang="zh-CN" altLang="en-US" sz="2400" b="1">
                <a:solidFill>
                  <a:srgbClr val="0000CC"/>
                </a:solidFill>
              </a:endParaRPr>
            </a:p>
          </p:txBody>
        </p:sp>
        <p:sp>
          <p:nvSpPr>
            <p:cNvPr id="13" name="文本框 12"/>
            <p:cNvSpPr txBox="1"/>
            <p:nvPr/>
          </p:nvSpPr>
          <p:spPr>
            <a:xfrm>
              <a:off x="303" y="6323"/>
              <a:ext cx="9714" cy="4154"/>
            </a:xfrm>
            <a:prstGeom prst="rect">
              <a:avLst/>
            </a:prstGeom>
            <a:noFill/>
            <a:ln>
              <a:solidFill>
                <a:schemeClr val="accent1"/>
              </a:solidFill>
            </a:ln>
          </p:spPr>
          <p:txBody>
            <a:bodyPr wrap="square" rtlCol="0">
              <a:spAutoFit/>
            </a:bodyPr>
            <a:p>
              <a:pPr lvl="0">
                <a:lnSpc>
                  <a:spcPct val="115000"/>
                </a:lnSpc>
                <a:spcBef>
                  <a:spcPts val="0"/>
                </a:spcBef>
                <a:spcAft>
                  <a:spcPts val="0"/>
                </a:spcAft>
              </a:pPr>
              <a:r>
                <a:rPr lang="zh-CN" altLang="en-US" sz="2400" b="1">
                  <a:solidFill>
                    <a:srgbClr val="0000CC"/>
                  </a:solidFill>
                  <a:latin typeface="Arial" panose="020B0604020202020204" pitchFamily="34" charset="0"/>
                </a:rPr>
                <a:t>Select  C.cno, C.dept, count(*)</a:t>
              </a:r>
              <a:endParaRPr lang="zh-CN" altLang="en-US" sz="2400" b="1">
                <a:solidFill>
                  <a:srgbClr val="0000CC"/>
                </a:solidFill>
                <a:latin typeface="Arial" panose="020B0604020202020204" pitchFamily="34" charset="0"/>
              </a:endParaRPr>
            </a:p>
            <a:p>
              <a:pPr lvl="0">
                <a:lnSpc>
                  <a:spcPct val="115000"/>
                </a:lnSpc>
                <a:spcBef>
                  <a:spcPts val="0"/>
                </a:spcBef>
                <a:spcAft>
                  <a:spcPts val="0"/>
                </a:spcAft>
              </a:pPr>
              <a:r>
                <a:rPr lang="zh-CN" altLang="en-US" sz="2400" b="1">
                  <a:solidFill>
                    <a:srgbClr val="0000CC"/>
                  </a:solidFill>
                  <a:latin typeface="Arial" panose="020B0604020202020204" pitchFamily="34" charset="0"/>
                </a:rPr>
                <a:t>From  Course C, Teach T</a:t>
              </a:r>
              <a:endParaRPr lang="zh-CN" altLang="en-US" sz="2400" b="1">
                <a:solidFill>
                  <a:srgbClr val="0000CC"/>
                </a:solidFill>
                <a:latin typeface="Arial" panose="020B0604020202020204" pitchFamily="34" charset="0"/>
              </a:endParaRPr>
            </a:p>
            <a:p>
              <a:pPr lvl="0">
                <a:lnSpc>
                  <a:spcPct val="115000"/>
                </a:lnSpc>
                <a:spcBef>
                  <a:spcPts val="0"/>
                </a:spcBef>
                <a:spcAft>
                  <a:spcPts val="0"/>
                </a:spcAft>
              </a:pPr>
              <a:r>
                <a:rPr lang="zh-CN" altLang="en-US" sz="2400" b="1">
                  <a:solidFill>
                    <a:srgbClr val="0000CC"/>
                  </a:solidFill>
                  <a:latin typeface="Arial" panose="020B0604020202020204" pitchFamily="34" charset="0"/>
                </a:rPr>
                <a:t>Where  C.cno=T.cno  and  NOT EXISTS (</a:t>
              </a:r>
              <a:endParaRPr lang="zh-CN" altLang="en-US"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rPr>
                <a:t>Select  *  From  Teach R  </a:t>
              </a:r>
              <a:endParaRPr lang="zh-CN" altLang="en-US"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rPr>
                <a:t>Where  R.cno=C.cno and </a:t>
              </a:r>
              <a:r>
                <a:rPr lang="en-US" altLang="zh-CN" sz="2400" b="1">
                  <a:solidFill>
                    <a:srgbClr val="0000CC"/>
                  </a:solidFill>
                  <a:latin typeface="Arial" panose="020B0604020202020204" pitchFamily="34" charset="0"/>
                </a:rPr>
                <a:t>R</a:t>
              </a:r>
              <a:r>
                <a:rPr lang="zh-CN" altLang="en-US" sz="2400" b="1">
                  <a:solidFill>
                    <a:srgbClr val="0000CC"/>
                  </a:solidFill>
                  <a:latin typeface="Arial" panose="020B0604020202020204" pitchFamily="34" charset="0"/>
                </a:rPr>
                <a:t>.ino&lt;&gt;T.ino)</a:t>
              </a:r>
              <a:endParaRPr lang="zh-CN" altLang="en-US" sz="2400" b="1">
                <a:solidFill>
                  <a:srgbClr val="0000CC"/>
                </a:solidFill>
                <a:latin typeface="Arial" panose="020B0604020202020204" pitchFamily="34" charset="0"/>
              </a:endParaRPr>
            </a:p>
            <a:p>
              <a:pPr lvl="0">
                <a:lnSpc>
                  <a:spcPct val="115000"/>
                </a:lnSpc>
                <a:spcBef>
                  <a:spcPts val="0"/>
                </a:spcBef>
                <a:spcAft>
                  <a:spcPts val="0"/>
                </a:spcAft>
              </a:pPr>
              <a:r>
                <a:rPr lang="zh-CN" altLang="en-US" sz="2400" b="1">
                  <a:solidFill>
                    <a:srgbClr val="0000CC"/>
                  </a:solidFill>
                  <a:latin typeface="Arial" panose="020B0604020202020204" pitchFamily="34" charset="0"/>
                </a:rPr>
                <a:t>Group by  C.cno, C.dept</a:t>
              </a:r>
              <a:endParaRPr lang="zh-CN" altLang="en-US" sz="2400" b="1">
                <a:solidFill>
                  <a:srgbClr val="0000CC"/>
                </a:solidFill>
                <a:latin typeface="Arial" panose="020B0604020202020204" pitchFamily="34" charset="0"/>
              </a:endParaRPr>
            </a:p>
          </p:txBody>
        </p:sp>
      </p:gr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593340"/>
            <a:ext cx="11511915" cy="460375"/>
          </a:xfrm>
        </p:spPr>
        <p:txBody>
          <a:bodyPr wrap="square">
            <a:spAutoFit/>
          </a:bodyPr>
          <a:p>
            <a:pPr marL="457200" indent="-457200" fontAlgn="auto">
              <a:lnSpc>
                <a:spcPct val="100000"/>
              </a:lnSpc>
              <a:spcAft>
                <a:spcPts val="0"/>
              </a:spcAft>
              <a:buFont typeface="+mj-lt"/>
              <a:buAutoNum type="arabicPeriod" startAt="7"/>
            </a:pPr>
            <a:r>
              <a:rPr sz="2400" b="1">
                <a:solidFill>
                  <a:srgbClr val="0000CC"/>
                </a:solidFill>
                <a:latin typeface="Arial" panose="020B0604020202020204" pitchFamily="34" charset="0"/>
                <a:sym typeface="+mn-ea"/>
              </a:rPr>
              <a:t>查询每一位老师</a:t>
            </a:r>
            <a:r>
              <a:rPr lang="zh-CN" sz="2400" b="1">
                <a:solidFill>
                  <a:srgbClr val="0000CC"/>
                </a:solidFill>
                <a:latin typeface="Arial" panose="020B0604020202020204" pitchFamily="34" charset="0"/>
                <a:sym typeface="+mn-ea"/>
              </a:rPr>
              <a:t>第一次上课和</a:t>
            </a:r>
            <a:r>
              <a:rPr sz="2400" b="1">
                <a:solidFill>
                  <a:srgbClr val="0000CC"/>
                </a:solidFill>
                <a:latin typeface="Arial" panose="020B0604020202020204" pitchFamily="34" charset="0"/>
                <a:sym typeface="+mn-ea"/>
              </a:rPr>
              <a:t>最</a:t>
            </a:r>
            <a:r>
              <a:rPr lang="zh-CN" sz="2400" b="1">
                <a:solidFill>
                  <a:srgbClr val="0000CC"/>
                </a:solidFill>
                <a:latin typeface="Arial" panose="020B0604020202020204" pitchFamily="34" charset="0"/>
                <a:sym typeface="+mn-ea"/>
              </a:rPr>
              <a:t>后一次</a:t>
            </a:r>
            <a:r>
              <a:rPr sz="2400" b="1">
                <a:solidFill>
                  <a:srgbClr val="0000CC"/>
                </a:solidFill>
                <a:latin typeface="Arial" panose="020B0604020202020204" pitchFamily="34" charset="0"/>
                <a:sym typeface="+mn-ea"/>
              </a:rPr>
              <a:t>上课的</a:t>
            </a:r>
            <a:r>
              <a:rPr lang="zh-CN" sz="2400" b="1">
                <a:solidFill>
                  <a:srgbClr val="0000CC"/>
                </a:solidFill>
                <a:latin typeface="Arial" panose="020B0604020202020204" pitchFamily="34" charset="0"/>
                <a:sym typeface="+mn-ea"/>
              </a:rPr>
              <a:t>年份</a:t>
            </a:r>
            <a:r>
              <a:rPr sz="2400" b="1">
                <a:solidFill>
                  <a:srgbClr val="0000CC"/>
                </a:solidFill>
                <a:latin typeface="Arial" panose="020B0604020202020204" pitchFamily="34" charset="0"/>
              </a:rPr>
              <a:t>；</a:t>
            </a:r>
            <a:endParaRPr sz="2400" b="1">
              <a:solidFill>
                <a:srgbClr val="0000CC"/>
              </a:solidFill>
              <a:latin typeface="Arial" panose="020B0604020202020204" pitchFamily="34" charset="0"/>
            </a:endParaRPr>
          </a:p>
        </p:txBody>
      </p:sp>
      <p:graphicFrame>
        <p:nvGraphicFramePr>
          <p:cNvPr id="8" name="表格 7"/>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13" name="文本框 12"/>
          <p:cNvSpPr txBox="1"/>
          <p:nvPr/>
        </p:nvSpPr>
        <p:spPr>
          <a:xfrm>
            <a:off x="624840" y="3135630"/>
            <a:ext cx="10692765" cy="3062605"/>
          </a:xfrm>
          <a:prstGeom prst="rect">
            <a:avLst/>
          </a:prstGeom>
          <a:noFill/>
          <a:ln>
            <a:solidFill>
              <a:schemeClr val="accent1"/>
            </a:solidFill>
          </a:ln>
        </p:spPr>
        <p:txBody>
          <a:bodyPr wrap="square" rtlCol="0">
            <a:spAutoFit/>
          </a:bodyPr>
          <a:p>
            <a:pPr lvl="0">
              <a:lnSpc>
                <a:spcPct val="115000"/>
              </a:lnSpc>
              <a:spcBef>
                <a:spcPts val="0"/>
              </a:spcBef>
              <a:spcAft>
                <a:spcPts val="0"/>
              </a:spcAft>
            </a:pPr>
            <a:r>
              <a:rPr lang="zh-CN" altLang="en-US" sz="2400" b="1">
                <a:solidFill>
                  <a:srgbClr val="0000CC"/>
                </a:solidFill>
                <a:latin typeface="Arial" panose="020B0604020202020204" pitchFamily="34" charset="0"/>
              </a:rPr>
              <a:t>Select  </a:t>
            </a:r>
            <a:r>
              <a:rPr lang="en-US" altLang="zh-CN" sz="2400" b="1">
                <a:solidFill>
                  <a:srgbClr val="0000CC"/>
                </a:solidFill>
                <a:latin typeface="Arial" panose="020B0604020202020204" pitchFamily="34" charset="0"/>
              </a:rPr>
              <a:t>X.ino,  X.tyear,  Y.tyear</a:t>
            </a:r>
            <a:endParaRPr lang="en-US" altLang="zh-CN" sz="2400" b="1">
              <a:solidFill>
                <a:srgbClr val="0000CC"/>
              </a:solidFill>
              <a:latin typeface="Arial" panose="020B0604020202020204" pitchFamily="34" charset="0"/>
            </a:endParaRPr>
          </a:p>
          <a:p>
            <a:pPr lvl="0">
              <a:lnSpc>
                <a:spcPct val="115000"/>
              </a:lnSpc>
              <a:spcBef>
                <a:spcPts val="0"/>
              </a:spcBef>
              <a:spcAft>
                <a:spcPts val="0"/>
              </a:spcAft>
            </a:pPr>
            <a:r>
              <a:rPr lang="zh-CN" altLang="en-US" sz="2400" b="1">
                <a:solidFill>
                  <a:srgbClr val="0000CC"/>
                </a:solidFill>
                <a:latin typeface="Arial" panose="020B0604020202020204" pitchFamily="34" charset="0"/>
              </a:rPr>
              <a:t>From  Teach </a:t>
            </a:r>
            <a:r>
              <a:rPr lang="en-US" altLang="zh-CN" sz="2400" b="1">
                <a:solidFill>
                  <a:srgbClr val="0000CC"/>
                </a:solidFill>
                <a:latin typeface="Arial" panose="020B0604020202020204" pitchFamily="34" charset="0"/>
              </a:rPr>
              <a:t>X, Teach Y</a:t>
            </a:r>
            <a:endParaRPr lang="en-US" altLang="zh-CN" sz="2400" b="1">
              <a:solidFill>
                <a:srgbClr val="0000CC"/>
              </a:solidFill>
              <a:latin typeface="Arial" panose="020B0604020202020204" pitchFamily="34" charset="0"/>
            </a:endParaRPr>
          </a:p>
          <a:p>
            <a:pPr lvl="0">
              <a:lnSpc>
                <a:spcPct val="115000"/>
              </a:lnSpc>
              <a:spcBef>
                <a:spcPts val="0"/>
              </a:spcBef>
              <a:spcAft>
                <a:spcPts val="0"/>
              </a:spcAft>
            </a:pPr>
            <a:r>
              <a:rPr lang="zh-CN" altLang="en-US" sz="2400" b="1">
                <a:solidFill>
                  <a:srgbClr val="0000CC"/>
                </a:solidFill>
                <a:latin typeface="Arial" panose="020B0604020202020204" pitchFamily="34" charset="0"/>
              </a:rPr>
              <a:t>Where  </a:t>
            </a:r>
            <a:r>
              <a:rPr lang="en-US" altLang="zh-CN" sz="2400" b="1">
                <a:solidFill>
                  <a:srgbClr val="0000CC"/>
                </a:solidFill>
                <a:latin typeface="Arial" panose="020B0604020202020204" pitchFamily="34" charset="0"/>
              </a:rPr>
              <a:t>X.ino=Y.ino</a:t>
            </a:r>
            <a:r>
              <a:rPr lang="zh-CN" altLang="en-US" sz="2400" b="1">
                <a:solidFill>
                  <a:srgbClr val="0000CC"/>
                </a:solidFill>
                <a:latin typeface="Arial" panose="020B0604020202020204" pitchFamily="34" charset="0"/>
              </a:rPr>
              <a:t>  and  </a:t>
            </a:r>
            <a:endParaRPr lang="zh-CN" altLang="en-US"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rPr>
              <a:t>NOT EXISTS ( Select  *  From  Teach R  </a:t>
            </a:r>
            <a:endParaRPr lang="zh-CN" altLang="en-US" sz="2400" b="1">
              <a:solidFill>
                <a:srgbClr val="0000CC"/>
              </a:solidFill>
              <a:latin typeface="Arial" panose="020B0604020202020204" pitchFamily="34" charset="0"/>
            </a:endParaRPr>
          </a:p>
          <a:p>
            <a:pPr lvl="5">
              <a:lnSpc>
                <a:spcPct val="115000"/>
              </a:lnSpc>
              <a:spcBef>
                <a:spcPts val="0"/>
              </a:spcBef>
              <a:spcAft>
                <a:spcPts val="0"/>
              </a:spcAft>
            </a:pPr>
            <a:r>
              <a:rPr lang="zh-CN" altLang="en-US" sz="2400" b="1">
                <a:solidFill>
                  <a:srgbClr val="0000CC"/>
                </a:solidFill>
                <a:latin typeface="Arial" panose="020B0604020202020204" pitchFamily="34" charset="0"/>
              </a:rPr>
              <a:t>   Where  R.</a:t>
            </a:r>
            <a:r>
              <a:rPr lang="en-US" altLang="zh-CN" sz="2400" b="1">
                <a:solidFill>
                  <a:srgbClr val="0000CC"/>
                </a:solidFill>
                <a:latin typeface="Arial" panose="020B0604020202020204" pitchFamily="34" charset="0"/>
              </a:rPr>
              <a:t>i</a:t>
            </a:r>
            <a:r>
              <a:rPr lang="zh-CN" altLang="en-US" sz="2400" b="1">
                <a:solidFill>
                  <a:srgbClr val="0000CC"/>
                </a:solidFill>
                <a:latin typeface="Arial" panose="020B0604020202020204" pitchFamily="34" charset="0"/>
              </a:rPr>
              <a:t>no=</a:t>
            </a:r>
            <a:r>
              <a:rPr lang="en-US" altLang="zh-CN" sz="2400" b="1">
                <a:solidFill>
                  <a:srgbClr val="0000CC"/>
                </a:solidFill>
                <a:latin typeface="Arial" panose="020B0604020202020204" pitchFamily="34" charset="0"/>
              </a:rPr>
              <a:t>X</a:t>
            </a:r>
            <a:r>
              <a:rPr lang="zh-CN" altLang="en-US" sz="2400" b="1">
                <a:solidFill>
                  <a:srgbClr val="0000CC"/>
                </a:solidFill>
                <a:latin typeface="Arial" panose="020B0604020202020204" pitchFamily="34" charset="0"/>
              </a:rPr>
              <a:t>.</a:t>
            </a:r>
            <a:r>
              <a:rPr lang="en-US" altLang="zh-CN" sz="2400" b="1">
                <a:solidFill>
                  <a:srgbClr val="0000CC"/>
                </a:solidFill>
                <a:latin typeface="Arial" panose="020B0604020202020204" pitchFamily="34" charset="0"/>
              </a:rPr>
              <a:t>i</a:t>
            </a:r>
            <a:r>
              <a:rPr lang="zh-CN" altLang="en-US" sz="2400" b="1">
                <a:solidFill>
                  <a:srgbClr val="0000CC"/>
                </a:solidFill>
                <a:latin typeface="Arial" panose="020B0604020202020204" pitchFamily="34" charset="0"/>
              </a:rPr>
              <a:t>no  and  </a:t>
            </a:r>
            <a:r>
              <a:rPr lang="en-US" altLang="zh-CN" sz="2400" b="1">
                <a:solidFill>
                  <a:srgbClr val="0000CC"/>
                </a:solidFill>
                <a:latin typeface="Arial" panose="020B0604020202020204" pitchFamily="34" charset="0"/>
              </a:rPr>
              <a:t>R</a:t>
            </a:r>
            <a:r>
              <a:rPr lang="zh-CN" altLang="en-US" sz="2400" b="1">
                <a:solidFill>
                  <a:srgbClr val="0000CC"/>
                </a:solidFill>
                <a:latin typeface="Arial" panose="020B0604020202020204" pitchFamily="34" charset="0"/>
              </a:rPr>
              <a:t>.</a:t>
            </a:r>
            <a:r>
              <a:rPr lang="en-US" altLang="zh-CN" sz="2400" b="1">
                <a:solidFill>
                  <a:srgbClr val="0000CC"/>
                </a:solidFill>
                <a:latin typeface="Arial" panose="020B0604020202020204" pitchFamily="34" charset="0"/>
              </a:rPr>
              <a:t>tyear </a:t>
            </a:r>
            <a:r>
              <a:rPr lang="zh-CN" altLang="en-US" sz="2400" b="1">
                <a:solidFill>
                  <a:srgbClr val="0000CC"/>
                </a:solidFill>
                <a:latin typeface="Arial" panose="020B0604020202020204" pitchFamily="34" charset="0"/>
              </a:rPr>
              <a:t>&lt; </a:t>
            </a:r>
            <a:r>
              <a:rPr lang="en-US" altLang="zh-CN" sz="2400" b="1">
                <a:solidFill>
                  <a:srgbClr val="0000CC"/>
                </a:solidFill>
                <a:latin typeface="Arial" panose="020B0604020202020204" pitchFamily="34" charset="0"/>
              </a:rPr>
              <a:t>X.tyear </a:t>
            </a:r>
            <a:r>
              <a:rPr lang="zh-CN" altLang="en-US" sz="2400" b="1">
                <a:solidFill>
                  <a:srgbClr val="0000CC"/>
                </a:solidFill>
                <a:latin typeface="Arial" panose="020B0604020202020204" pitchFamily="34" charset="0"/>
              </a:rPr>
              <a:t>)  </a:t>
            </a:r>
            <a:r>
              <a:rPr lang="en-US" altLang="zh-CN" sz="2400" b="1">
                <a:solidFill>
                  <a:srgbClr val="0000CC"/>
                </a:solidFill>
                <a:latin typeface="Arial" panose="020B0604020202020204" pitchFamily="34" charset="0"/>
              </a:rPr>
              <a:t>and  </a:t>
            </a:r>
            <a:endParaRPr lang="en-US" altLang="zh-CN" sz="2400" b="1">
              <a:solidFill>
                <a:srgbClr val="0000CC"/>
              </a:solidFill>
              <a:latin typeface="Arial" panose="020B0604020202020204" pitchFamily="34" charset="0"/>
            </a:endParaRPr>
          </a:p>
          <a:p>
            <a:pPr lvl="1">
              <a:lnSpc>
                <a:spcPct val="115000"/>
              </a:lnSpc>
              <a:spcBef>
                <a:spcPts val="0"/>
              </a:spcBef>
              <a:spcAft>
                <a:spcPts val="0"/>
              </a:spcAft>
            </a:pPr>
            <a:r>
              <a:rPr lang="zh-CN" altLang="en-US" sz="2400" b="1">
                <a:solidFill>
                  <a:srgbClr val="0000CC"/>
                </a:solidFill>
                <a:latin typeface="Arial" panose="020B0604020202020204" pitchFamily="34" charset="0"/>
                <a:sym typeface="+mn-ea"/>
              </a:rPr>
              <a:t>NOT EXISTS ( Select  *  From  Teach R  </a:t>
            </a:r>
            <a:endParaRPr lang="zh-CN" altLang="en-US" sz="2400" b="1">
              <a:solidFill>
                <a:srgbClr val="0000CC"/>
              </a:solidFill>
              <a:latin typeface="Arial" panose="020B0604020202020204" pitchFamily="34" charset="0"/>
            </a:endParaRPr>
          </a:p>
          <a:p>
            <a:pPr lvl="5">
              <a:lnSpc>
                <a:spcPct val="115000"/>
              </a:lnSpc>
              <a:spcBef>
                <a:spcPts val="0"/>
              </a:spcBef>
              <a:spcAft>
                <a:spcPts val="0"/>
              </a:spcAft>
            </a:pPr>
            <a:r>
              <a:rPr lang="zh-CN" altLang="en-US" sz="2400" b="1">
                <a:solidFill>
                  <a:srgbClr val="0000CC"/>
                </a:solidFill>
                <a:latin typeface="Arial" panose="020B0604020202020204" pitchFamily="34" charset="0"/>
                <a:sym typeface="+mn-ea"/>
              </a:rPr>
              <a:t>   Where  R.</a:t>
            </a:r>
            <a:r>
              <a:rPr lang="en-US" altLang="zh-CN" sz="2400" b="1">
                <a:solidFill>
                  <a:srgbClr val="0000CC"/>
                </a:solidFill>
                <a:latin typeface="Arial" panose="020B0604020202020204" pitchFamily="34" charset="0"/>
                <a:sym typeface="+mn-ea"/>
              </a:rPr>
              <a:t>i</a:t>
            </a:r>
            <a:r>
              <a:rPr lang="zh-CN" altLang="en-US" sz="2400" b="1">
                <a:solidFill>
                  <a:srgbClr val="0000CC"/>
                </a:solidFill>
                <a:latin typeface="Arial" panose="020B0604020202020204" pitchFamily="34" charset="0"/>
                <a:sym typeface="+mn-ea"/>
              </a:rPr>
              <a:t>no=</a:t>
            </a:r>
            <a:r>
              <a:rPr lang="en-US" altLang="zh-CN" sz="2400" b="1">
                <a:solidFill>
                  <a:srgbClr val="0000CC"/>
                </a:solidFill>
                <a:latin typeface="Arial" panose="020B0604020202020204" pitchFamily="34" charset="0"/>
                <a:sym typeface="+mn-ea"/>
              </a:rPr>
              <a:t>Y</a:t>
            </a:r>
            <a:r>
              <a:rPr lang="zh-CN" altLang="en-US" sz="2400" b="1">
                <a:solidFill>
                  <a:srgbClr val="0000CC"/>
                </a:solidFill>
                <a:latin typeface="Arial" panose="020B0604020202020204" pitchFamily="34" charset="0"/>
                <a:sym typeface="+mn-ea"/>
              </a:rPr>
              <a:t>.</a:t>
            </a:r>
            <a:r>
              <a:rPr lang="en-US" altLang="zh-CN" sz="2400" b="1">
                <a:solidFill>
                  <a:srgbClr val="0000CC"/>
                </a:solidFill>
                <a:latin typeface="Arial" panose="020B0604020202020204" pitchFamily="34" charset="0"/>
                <a:sym typeface="+mn-ea"/>
              </a:rPr>
              <a:t>i</a:t>
            </a:r>
            <a:r>
              <a:rPr lang="zh-CN" altLang="en-US" sz="2400" b="1">
                <a:solidFill>
                  <a:srgbClr val="0000CC"/>
                </a:solidFill>
                <a:latin typeface="Arial" panose="020B0604020202020204" pitchFamily="34" charset="0"/>
                <a:sym typeface="+mn-ea"/>
              </a:rPr>
              <a:t>no  and  </a:t>
            </a:r>
            <a:r>
              <a:rPr lang="en-US" altLang="zh-CN" sz="2400" b="1">
                <a:solidFill>
                  <a:srgbClr val="0000CC"/>
                </a:solidFill>
                <a:latin typeface="Arial" panose="020B0604020202020204" pitchFamily="34" charset="0"/>
                <a:sym typeface="+mn-ea"/>
              </a:rPr>
              <a:t>R</a:t>
            </a:r>
            <a:r>
              <a:rPr lang="zh-CN" altLang="en-US" sz="2400" b="1">
                <a:solidFill>
                  <a:srgbClr val="0000CC"/>
                </a:solidFill>
                <a:latin typeface="Arial" panose="020B0604020202020204" pitchFamily="34" charset="0"/>
                <a:sym typeface="+mn-ea"/>
              </a:rPr>
              <a:t>.</a:t>
            </a:r>
            <a:r>
              <a:rPr lang="en-US" altLang="zh-CN" sz="2400" b="1">
                <a:solidFill>
                  <a:srgbClr val="0000CC"/>
                </a:solidFill>
                <a:latin typeface="Arial" panose="020B0604020202020204" pitchFamily="34" charset="0"/>
                <a:sym typeface="+mn-ea"/>
              </a:rPr>
              <a:t>tyear </a:t>
            </a:r>
            <a:r>
              <a:rPr lang="en-US" sz="2400" b="1">
                <a:solidFill>
                  <a:srgbClr val="0000CC"/>
                </a:solidFill>
                <a:latin typeface="Arial" panose="020B0604020202020204" pitchFamily="34" charset="0"/>
                <a:sym typeface="+mn-ea"/>
              </a:rPr>
              <a:t>&gt; Y</a:t>
            </a:r>
            <a:r>
              <a:rPr lang="en-US" altLang="zh-CN" sz="2400" b="1">
                <a:solidFill>
                  <a:srgbClr val="0000CC"/>
                </a:solidFill>
                <a:latin typeface="Arial" panose="020B0604020202020204" pitchFamily="34" charset="0"/>
                <a:sym typeface="+mn-ea"/>
              </a:rPr>
              <a:t>.tyear </a:t>
            </a:r>
            <a:r>
              <a:rPr lang="zh-CN" altLang="en-US" sz="2400" b="1">
                <a:solidFill>
                  <a:srgbClr val="0000CC"/>
                </a:solidFill>
                <a:latin typeface="Arial" panose="020B0604020202020204" pitchFamily="34" charset="0"/>
                <a:sym typeface="+mn-ea"/>
              </a:rPr>
              <a:t>)</a:t>
            </a:r>
            <a:endParaRPr lang="zh-CN" altLang="en-US" sz="2400" b="1">
              <a:solidFill>
                <a:srgbClr val="0000CC"/>
              </a:solidFill>
              <a:latin typeface="Arial" panose="020B0604020202020204" pitchFamily="34" charset="0"/>
            </a:endParaRPr>
          </a:p>
        </p:txBody>
      </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593340"/>
            <a:ext cx="11511915" cy="829945"/>
          </a:xfrm>
        </p:spPr>
        <p:txBody>
          <a:bodyPr wrap="square">
            <a:spAutoFit/>
          </a:bodyPr>
          <a:p>
            <a:pPr marL="457200" indent="-457200" fontAlgn="auto">
              <a:lnSpc>
                <a:spcPct val="100000"/>
              </a:lnSpc>
              <a:spcAft>
                <a:spcPts val="0"/>
              </a:spcAft>
              <a:buFont typeface="+mj-lt"/>
              <a:buAutoNum type="arabicPeriod" startAt="8"/>
            </a:pPr>
            <a:r>
              <a:rPr sz="2400" b="1">
                <a:solidFill>
                  <a:srgbClr val="0000CC"/>
                </a:solidFill>
                <a:latin typeface="Arial" panose="020B0604020202020204" pitchFamily="34" charset="0"/>
                <a:sym typeface="+mn-ea"/>
              </a:rPr>
              <a:t>查询每一位教师的授课次数及累计课时数，结果只返回累计课时数超过1000小时的教师的工号，授课次数及累计课时数</a:t>
            </a:r>
            <a:r>
              <a:rPr sz="2400" b="1">
                <a:solidFill>
                  <a:srgbClr val="0000CC"/>
                </a:solidFill>
                <a:latin typeface="Arial" panose="020B0604020202020204" pitchFamily="34" charset="0"/>
              </a:rPr>
              <a:t>；</a:t>
            </a:r>
            <a:endParaRPr sz="2400" b="1">
              <a:solidFill>
                <a:srgbClr val="0000CC"/>
              </a:solidFill>
              <a:latin typeface="Arial" panose="020B0604020202020204" pitchFamily="34" charset="0"/>
            </a:endParaRPr>
          </a:p>
        </p:txBody>
      </p:sp>
      <p:graphicFrame>
        <p:nvGraphicFramePr>
          <p:cNvPr id="8" name="表格 7"/>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13" name="文本框 12"/>
          <p:cNvSpPr txBox="1"/>
          <p:nvPr/>
        </p:nvSpPr>
        <p:spPr>
          <a:xfrm>
            <a:off x="624840" y="3449320"/>
            <a:ext cx="10692765" cy="1788795"/>
          </a:xfrm>
          <a:prstGeom prst="rect">
            <a:avLst/>
          </a:prstGeom>
          <a:noFill/>
          <a:ln>
            <a:solidFill>
              <a:schemeClr val="accent1"/>
            </a:solidFill>
          </a:ln>
        </p:spPr>
        <p:txBody>
          <a:bodyPr wrap="square" rtlCol="0">
            <a:spAutoFit/>
          </a:bodyPr>
          <a:p>
            <a:pPr lvl="1">
              <a:lnSpc>
                <a:spcPct val="115000"/>
              </a:lnSpc>
              <a:spcBef>
                <a:spcPts val="0"/>
              </a:spcBef>
              <a:spcAft>
                <a:spcPts val="0"/>
              </a:spcAft>
            </a:pPr>
            <a:r>
              <a:rPr sz="2400" b="1">
                <a:solidFill>
                  <a:srgbClr val="0000CC"/>
                </a:solidFill>
                <a:latin typeface="Arial" panose="020B0604020202020204" pitchFamily="34" charset="0"/>
              </a:rPr>
              <a:t>Select  ino, count(*), sum(</a:t>
            </a:r>
            <a:r>
              <a:rPr lang="en-US" sz="2400" b="1">
                <a:solidFill>
                  <a:srgbClr val="0000CC"/>
                </a:solidFill>
                <a:latin typeface="Arial" panose="020B0604020202020204" pitchFamily="34" charset="0"/>
              </a:rPr>
              <a:t>hours</a:t>
            </a:r>
            <a:r>
              <a:rPr sz="2400" b="1">
                <a:solidFill>
                  <a:srgbClr val="0000CC"/>
                </a:solidFill>
                <a:latin typeface="Arial" panose="020B0604020202020204" pitchFamily="34" charset="0"/>
              </a:rPr>
              <a:t>)</a:t>
            </a:r>
            <a:endParaRPr sz="2400" b="1">
              <a:solidFill>
                <a:srgbClr val="0000CC"/>
              </a:solidFill>
              <a:latin typeface="Arial" panose="020B0604020202020204" pitchFamily="34" charset="0"/>
            </a:endParaRPr>
          </a:p>
          <a:p>
            <a:pPr lvl="1">
              <a:lnSpc>
                <a:spcPct val="115000"/>
              </a:lnSpc>
              <a:spcBef>
                <a:spcPts val="0"/>
              </a:spcBef>
              <a:spcAft>
                <a:spcPts val="0"/>
              </a:spcAft>
            </a:pPr>
            <a:r>
              <a:rPr sz="2400" b="1">
                <a:solidFill>
                  <a:srgbClr val="0000CC"/>
                </a:solidFill>
                <a:latin typeface="Arial" panose="020B0604020202020204" pitchFamily="34" charset="0"/>
              </a:rPr>
              <a:t>From  Teach</a:t>
            </a:r>
            <a:endParaRPr sz="2400" b="1">
              <a:solidFill>
                <a:srgbClr val="0000CC"/>
              </a:solidFill>
              <a:latin typeface="Arial" panose="020B0604020202020204" pitchFamily="34" charset="0"/>
            </a:endParaRPr>
          </a:p>
          <a:p>
            <a:pPr lvl="1">
              <a:lnSpc>
                <a:spcPct val="115000"/>
              </a:lnSpc>
              <a:spcBef>
                <a:spcPts val="0"/>
              </a:spcBef>
              <a:spcAft>
                <a:spcPts val="0"/>
              </a:spcAft>
            </a:pPr>
            <a:r>
              <a:rPr sz="2400" b="1">
                <a:solidFill>
                  <a:srgbClr val="0000CC"/>
                </a:solidFill>
                <a:latin typeface="Arial" panose="020B0604020202020204" pitchFamily="34" charset="0"/>
              </a:rPr>
              <a:t>Group by  ino</a:t>
            </a:r>
            <a:endParaRPr sz="2400" b="1">
              <a:solidFill>
                <a:srgbClr val="0000CC"/>
              </a:solidFill>
              <a:latin typeface="Arial" panose="020B0604020202020204" pitchFamily="34" charset="0"/>
            </a:endParaRPr>
          </a:p>
          <a:p>
            <a:pPr lvl="1">
              <a:lnSpc>
                <a:spcPct val="115000"/>
              </a:lnSpc>
              <a:spcBef>
                <a:spcPts val="0"/>
              </a:spcBef>
              <a:spcAft>
                <a:spcPts val="0"/>
              </a:spcAft>
            </a:pPr>
            <a:r>
              <a:rPr sz="2400" b="1">
                <a:solidFill>
                  <a:srgbClr val="0000CC"/>
                </a:solidFill>
                <a:latin typeface="Arial" panose="020B0604020202020204" pitchFamily="34" charset="0"/>
              </a:rPr>
              <a:t>Having  sum(</a:t>
            </a:r>
            <a:r>
              <a:rPr lang="en-US" sz="2400" b="1">
                <a:solidFill>
                  <a:srgbClr val="0000CC"/>
                </a:solidFill>
                <a:latin typeface="Arial" panose="020B0604020202020204" pitchFamily="34" charset="0"/>
              </a:rPr>
              <a:t>hours</a:t>
            </a:r>
            <a:r>
              <a:rPr sz="2400" b="1">
                <a:solidFill>
                  <a:srgbClr val="0000CC"/>
                </a:solidFill>
                <a:latin typeface="Arial" panose="020B0604020202020204" pitchFamily="34" charset="0"/>
              </a:rPr>
              <a:t>) &gt; 1000</a:t>
            </a:r>
            <a:endParaRPr sz="2400" b="1">
              <a:solidFill>
                <a:srgbClr val="0000CC"/>
              </a:solidFill>
              <a:latin typeface="Arial" panose="020B0604020202020204" pitchFamily="34" charset="0"/>
            </a:endParaRPr>
          </a:p>
        </p:txBody>
      </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2460625"/>
            <a:ext cx="11511915" cy="829945"/>
          </a:xfrm>
        </p:spPr>
        <p:txBody>
          <a:bodyPr wrap="square">
            <a:spAutoFit/>
          </a:bodyPr>
          <a:p>
            <a:pPr marL="457200" indent="-457200" fontAlgn="auto">
              <a:lnSpc>
                <a:spcPct val="100000"/>
              </a:lnSpc>
              <a:spcAft>
                <a:spcPts val="0"/>
              </a:spcAft>
              <a:buFont typeface="+mj-lt"/>
              <a:buAutoNum type="arabicPeriod" startAt="9"/>
            </a:pPr>
            <a:r>
              <a:rPr sz="2400" b="1">
                <a:solidFill>
                  <a:srgbClr val="0000CC"/>
                </a:solidFill>
                <a:latin typeface="Arial" panose="020B0604020202020204" pitchFamily="34" charset="0"/>
                <a:sym typeface="+mn-ea"/>
              </a:rPr>
              <a:t>针对所有‘必修’课程都及格的同学，统计每一个人的平均学分绩，结果返回学号，就读院系，平均学分绩，并按照‘就读院系的升序’和‘平均学分绩的降序’输出结果</a:t>
            </a:r>
            <a:r>
              <a:rPr sz="2400" b="1">
                <a:solidFill>
                  <a:srgbClr val="0000CC"/>
                </a:solidFill>
                <a:latin typeface="Arial" panose="020B0604020202020204" pitchFamily="34" charset="0"/>
              </a:rPr>
              <a:t>；</a:t>
            </a:r>
            <a:endParaRPr sz="2400" b="1">
              <a:solidFill>
                <a:srgbClr val="0000CC"/>
              </a:solidFill>
              <a:latin typeface="Arial" panose="020B0604020202020204" pitchFamily="34" charset="0"/>
            </a:endParaRPr>
          </a:p>
        </p:txBody>
      </p:sp>
      <p:graphicFrame>
        <p:nvGraphicFramePr>
          <p:cNvPr id="8" name="表格 7"/>
          <p:cNvGraphicFramePr/>
          <p:nvPr/>
        </p:nvGraphicFramePr>
        <p:xfrm>
          <a:off x="624840" y="76835"/>
          <a:ext cx="8061325" cy="2286000"/>
        </p:xfrm>
        <a:graphic>
          <a:graphicData uri="http://schemas.openxmlformats.org/drawingml/2006/table">
            <a:tbl>
              <a:tblPr firstRow="1" bandRow="1">
                <a:tableStyleId>{5C22544A-7EE6-4342-B048-85BDC9FD1C3A}</a:tableStyleId>
              </a:tblPr>
              <a:tblGrid>
                <a:gridCol w="938530"/>
                <a:gridCol w="7122795"/>
              </a:tblGrid>
              <a:tr h="381000">
                <a:tc>
                  <a:txBody>
                    <a:bodyPr/>
                    <a:p>
                      <a:pPr algn="ctr">
                        <a:buNone/>
                      </a:pPr>
                      <a:r>
                        <a:rPr lang="zh-CN" altLang="en-US" sz="2400" b="1">
                          <a:solidFill>
                            <a:srgbClr val="0000CC"/>
                          </a:solidFill>
                          <a:latin typeface="Arial" panose="020B0604020202020204" pitchFamily="34" charset="0"/>
                          <a:sym typeface="+mn-ea"/>
                        </a:rPr>
                        <a:t>学生</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Student(sno, sname,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教师</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Instructor(ino, iname, dept)</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课程</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Course(cno, cname, dept, credit, optional)</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选课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c>
                  <a:txBody>
                    <a:bodyPr/>
                    <a:p>
                      <a:pPr algn="l">
                        <a:buNone/>
                      </a:pPr>
                      <a:r>
                        <a:rPr sz="2400" b="1">
                          <a:solidFill>
                            <a:srgbClr val="0000CC"/>
                          </a:solidFill>
                          <a:latin typeface="Arial" panose="020B0604020202020204" pitchFamily="34" charset="0"/>
                          <a:sym typeface="+mn-ea"/>
                        </a:rPr>
                        <a:t>Study(sno, cno, </a:t>
                      </a:r>
                      <a:r>
                        <a:rPr lang="en-US" altLang="zh-CN" sz="2400" b="1">
                          <a:solidFill>
                            <a:srgbClr val="0000CC"/>
                          </a:solidFill>
                          <a:latin typeface="Arial" panose="020B0604020202020204" pitchFamily="34" charset="0"/>
                          <a:sym typeface="+mn-ea"/>
                        </a:rPr>
                        <a:t>ino, syear, semester, </a:t>
                      </a:r>
                      <a:r>
                        <a:rPr sz="2400" b="1">
                          <a:solidFill>
                            <a:srgbClr val="0000CC"/>
                          </a:solidFill>
                          <a:latin typeface="Arial" panose="020B0604020202020204" pitchFamily="34" charset="0"/>
                          <a:sym typeface="+mn-ea"/>
                        </a:rPr>
                        <a:t>grade)</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6350">
                      <a:solidFill>
                        <a:schemeClr val="tx1"/>
                      </a:solidFill>
                      <a:prstDash val="sysDash"/>
                    </a:lnB>
                    <a:noFill/>
                  </a:tcPr>
                </a:tc>
              </a:tr>
              <a:tr h="381000">
                <a:tc>
                  <a:txBody>
                    <a:bodyPr/>
                    <a:p>
                      <a:pPr algn="ctr">
                        <a:buNone/>
                      </a:pPr>
                      <a:r>
                        <a:rPr lang="zh-CN" altLang="en-US" sz="2400" b="1">
                          <a:solidFill>
                            <a:srgbClr val="0000CC"/>
                          </a:solidFill>
                          <a:latin typeface="Arial" panose="020B0604020202020204" pitchFamily="34" charset="0"/>
                          <a:sym typeface="+mn-ea"/>
                        </a:rPr>
                        <a:t>授课</a:t>
                      </a:r>
                      <a:endParaRPr lang="zh-CN" altLang="en-US" sz="2400" b="1">
                        <a:solidFill>
                          <a:srgbClr val="0000CC"/>
                        </a:solidFill>
                        <a:latin typeface="Arial" panose="020B0604020202020204" pitchFamily="34" charset="0"/>
                        <a:sym typeface="+mn-ea"/>
                      </a:endParaRPr>
                    </a:p>
                  </a:txBody>
                  <a:tcPr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c>
                  <a:txBody>
                    <a:bodyPr/>
                    <a:p>
                      <a:pPr algn="l">
                        <a:buNone/>
                      </a:pPr>
                      <a:r>
                        <a:rPr sz="2400" b="1">
                          <a:solidFill>
                            <a:srgbClr val="0000CC"/>
                          </a:solidFill>
                          <a:latin typeface="Arial" panose="020B0604020202020204" pitchFamily="34" charset="0"/>
                          <a:sym typeface="+mn-ea"/>
                        </a:rPr>
                        <a:t>Teach(ino, cno, tyear, semester, </a:t>
                      </a:r>
                      <a:r>
                        <a:rPr lang="en-US" sz="2400" b="1">
                          <a:solidFill>
                            <a:srgbClr val="0000CC"/>
                          </a:solidFill>
                          <a:latin typeface="Arial" panose="020B0604020202020204" pitchFamily="34" charset="0"/>
                          <a:sym typeface="+mn-ea"/>
                        </a:rPr>
                        <a:t>hour</a:t>
                      </a:r>
                      <a:r>
                        <a:rPr sz="2400" b="1">
                          <a:solidFill>
                            <a:srgbClr val="0000CC"/>
                          </a:solidFill>
                          <a:latin typeface="Arial" panose="020B0604020202020204" pitchFamily="34" charset="0"/>
                          <a:sym typeface="+mn-ea"/>
                        </a:rPr>
                        <a:t>s)</a:t>
                      </a:r>
                      <a:endParaRPr lang="zh-CN" altLang="en-US" sz="2400" b="1">
                        <a:solidFill>
                          <a:srgbClr val="0000CC"/>
                        </a:solidFill>
                        <a:latin typeface="Arial" panose="020B0604020202020204" pitchFamily="34" charset="0"/>
                        <a:sym typeface="+mn-ea"/>
                      </a:endParaRPr>
                    </a:p>
                  </a:txBody>
                  <a:tcPr marL="288290" anchor="ctr" anchorCtr="0">
                    <a:lnL w="6350">
                      <a:solidFill>
                        <a:schemeClr val="tx1"/>
                      </a:solidFill>
                      <a:prstDash val="sysDash"/>
                    </a:lnL>
                    <a:lnR w="12700">
                      <a:solidFill>
                        <a:schemeClr val="tx1"/>
                      </a:solidFill>
                      <a:prstDash val="solid"/>
                    </a:lnR>
                    <a:lnT w="6350">
                      <a:solidFill>
                        <a:schemeClr val="tx1"/>
                      </a:solidFill>
                      <a:prstDash val="sysDash"/>
                    </a:lnT>
                    <a:lnB w="12700">
                      <a:solidFill>
                        <a:schemeClr val="tx1"/>
                      </a:solidFill>
                      <a:prstDash val="solid"/>
                    </a:lnB>
                    <a:noFill/>
                  </a:tcPr>
                </a:tc>
              </a:tr>
            </a:tbl>
          </a:graphicData>
        </a:graphic>
      </p:graphicFrame>
      <p:sp>
        <p:nvSpPr>
          <p:cNvPr id="13" name="文本框 12"/>
          <p:cNvSpPr txBox="1"/>
          <p:nvPr/>
        </p:nvSpPr>
        <p:spPr>
          <a:xfrm>
            <a:off x="624840" y="3316605"/>
            <a:ext cx="10692765" cy="3486785"/>
          </a:xfrm>
          <a:prstGeom prst="rect">
            <a:avLst/>
          </a:prstGeom>
          <a:noFill/>
          <a:ln>
            <a:solidFill>
              <a:schemeClr val="accent1"/>
            </a:solidFill>
          </a:ln>
        </p:spPr>
        <p:txBody>
          <a:bodyPr wrap="square" rtlCol="0">
            <a:spAutoFit/>
          </a:bodyPr>
          <a:p>
            <a:pPr lvl="1">
              <a:lnSpc>
                <a:spcPct val="115000"/>
              </a:lnSpc>
              <a:spcBef>
                <a:spcPts val="0"/>
              </a:spcBef>
              <a:spcAft>
                <a:spcPts val="0"/>
              </a:spcAft>
            </a:pPr>
            <a:r>
              <a:rPr sz="2400" b="1">
                <a:solidFill>
                  <a:srgbClr val="0000CC"/>
                </a:solidFill>
                <a:latin typeface="Arial" panose="020B0604020202020204" pitchFamily="34" charset="0"/>
              </a:rPr>
              <a:t>Select S.sno, S.dept, AVG(R.grade*0.05*C.credit) </a:t>
            </a:r>
            <a:endParaRPr lang="en-US" sz="2400" b="1">
              <a:solidFill>
                <a:srgbClr val="0000CC"/>
              </a:solidFill>
              <a:latin typeface="Arial" panose="020B0604020202020204" pitchFamily="34" charset="0"/>
            </a:endParaRPr>
          </a:p>
          <a:p>
            <a:pPr lvl="1">
              <a:lnSpc>
                <a:spcPct val="115000"/>
              </a:lnSpc>
              <a:spcBef>
                <a:spcPts val="0"/>
              </a:spcBef>
              <a:spcAft>
                <a:spcPts val="0"/>
              </a:spcAft>
            </a:pPr>
            <a:r>
              <a:rPr sz="2400" b="1">
                <a:solidFill>
                  <a:srgbClr val="0000CC"/>
                </a:solidFill>
                <a:latin typeface="Arial" panose="020B0604020202020204" pitchFamily="34" charset="0"/>
              </a:rPr>
              <a:t>From  Student S, Study R, Course C</a:t>
            </a:r>
            <a:endParaRPr sz="2400" b="1">
              <a:solidFill>
                <a:srgbClr val="0000CC"/>
              </a:solidFill>
              <a:latin typeface="Arial" panose="020B0604020202020204" pitchFamily="34" charset="0"/>
            </a:endParaRPr>
          </a:p>
          <a:p>
            <a:pPr lvl="1">
              <a:lnSpc>
                <a:spcPct val="115000"/>
              </a:lnSpc>
              <a:spcBef>
                <a:spcPts val="0"/>
              </a:spcBef>
              <a:spcAft>
                <a:spcPts val="0"/>
              </a:spcAft>
            </a:pPr>
            <a:r>
              <a:rPr sz="2400" b="1">
                <a:solidFill>
                  <a:srgbClr val="0000CC"/>
                </a:solidFill>
                <a:latin typeface="Arial" panose="020B0604020202020204" pitchFamily="34" charset="0"/>
              </a:rPr>
              <a:t>Where  S.sno=R.sno  and  R.cno=C.cno  and</a:t>
            </a:r>
            <a:endParaRPr sz="2400" b="1">
              <a:solidFill>
                <a:srgbClr val="0000CC"/>
              </a:solidFill>
              <a:latin typeface="Arial" panose="020B0604020202020204" pitchFamily="34" charset="0"/>
            </a:endParaRPr>
          </a:p>
          <a:p>
            <a:pPr lvl="2">
              <a:lnSpc>
                <a:spcPct val="115000"/>
              </a:lnSpc>
              <a:spcBef>
                <a:spcPts val="0"/>
              </a:spcBef>
              <a:spcAft>
                <a:spcPts val="0"/>
              </a:spcAft>
            </a:pPr>
            <a:r>
              <a:rPr sz="2400" b="1">
                <a:solidFill>
                  <a:srgbClr val="0000CC"/>
                </a:solidFill>
                <a:latin typeface="Arial" panose="020B0604020202020204" pitchFamily="34" charset="0"/>
              </a:rPr>
              <a:t>S.sno  NOT IN  (select R1.sno  from Study R1, Course C1 </a:t>
            </a:r>
            <a:endParaRPr sz="2400" b="1">
              <a:solidFill>
                <a:srgbClr val="0000CC"/>
              </a:solidFill>
              <a:latin typeface="Arial" panose="020B0604020202020204" pitchFamily="34" charset="0"/>
            </a:endParaRPr>
          </a:p>
          <a:p>
            <a:pPr lvl="7">
              <a:lnSpc>
                <a:spcPct val="115000"/>
              </a:lnSpc>
              <a:spcBef>
                <a:spcPts val="0"/>
              </a:spcBef>
              <a:spcAft>
                <a:spcPts val="0"/>
              </a:spcAft>
            </a:pPr>
            <a:r>
              <a:rPr sz="2400" b="1">
                <a:solidFill>
                  <a:srgbClr val="0000CC"/>
                </a:solidFill>
                <a:latin typeface="Arial" panose="020B0604020202020204" pitchFamily="34" charset="0"/>
              </a:rPr>
              <a:t>where R1.cno=C1.cno and </a:t>
            </a:r>
            <a:endParaRPr sz="2400" b="1">
              <a:solidFill>
                <a:srgbClr val="0000CC"/>
              </a:solidFill>
              <a:latin typeface="Arial" panose="020B0604020202020204" pitchFamily="34" charset="0"/>
            </a:endParaRPr>
          </a:p>
          <a:p>
            <a:pPr lvl="8">
              <a:lnSpc>
                <a:spcPct val="115000"/>
              </a:lnSpc>
              <a:spcBef>
                <a:spcPts val="0"/>
              </a:spcBef>
              <a:spcAft>
                <a:spcPts val="0"/>
              </a:spcAft>
            </a:pPr>
            <a:r>
              <a:rPr sz="2400" b="1">
                <a:solidFill>
                  <a:srgbClr val="0000CC"/>
                </a:solidFill>
                <a:latin typeface="Arial" panose="020B0604020202020204" pitchFamily="34" charset="0"/>
              </a:rPr>
              <a:t>      C1.optional=’必修’  and  R1.grade &lt; 60 )</a:t>
            </a:r>
            <a:endParaRPr sz="2400" b="1">
              <a:solidFill>
                <a:srgbClr val="0000CC"/>
              </a:solidFill>
              <a:latin typeface="Arial" panose="020B0604020202020204" pitchFamily="34" charset="0"/>
            </a:endParaRPr>
          </a:p>
          <a:p>
            <a:pPr lvl="1">
              <a:lnSpc>
                <a:spcPct val="115000"/>
              </a:lnSpc>
              <a:spcBef>
                <a:spcPts val="0"/>
              </a:spcBef>
              <a:spcAft>
                <a:spcPts val="0"/>
              </a:spcAft>
            </a:pPr>
            <a:r>
              <a:rPr sz="2400" b="1">
                <a:solidFill>
                  <a:srgbClr val="0000CC"/>
                </a:solidFill>
                <a:latin typeface="Arial" panose="020B0604020202020204" pitchFamily="34" charset="0"/>
              </a:rPr>
              <a:t>Group by  S.sno, S.dept</a:t>
            </a:r>
            <a:endParaRPr sz="2400" b="1">
              <a:solidFill>
                <a:srgbClr val="0000CC"/>
              </a:solidFill>
              <a:latin typeface="Arial" panose="020B0604020202020204" pitchFamily="34" charset="0"/>
            </a:endParaRPr>
          </a:p>
          <a:p>
            <a:pPr lvl="1">
              <a:lnSpc>
                <a:spcPct val="115000"/>
              </a:lnSpc>
              <a:spcBef>
                <a:spcPts val="0"/>
              </a:spcBef>
              <a:spcAft>
                <a:spcPts val="0"/>
              </a:spcAft>
            </a:pPr>
            <a:r>
              <a:rPr sz="2400" b="1">
                <a:solidFill>
                  <a:srgbClr val="0000CC"/>
                </a:solidFill>
                <a:latin typeface="Arial" panose="020B0604020202020204" pitchFamily="34" charset="0"/>
              </a:rPr>
              <a:t>Order by  S.dept ASC,  AVG(R.grade*0.05*C.credit) DESC</a:t>
            </a:r>
            <a:endParaRPr sz="2400" b="1">
              <a:solidFill>
                <a:srgbClr val="0000CC"/>
              </a:solidFill>
              <a:latin typeface="Arial" panose="020B0604020202020204" pitchFamily="34" charset="0"/>
            </a:endParaRPr>
          </a:p>
        </p:txBody>
      </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220980" y="142875"/>
            <a:ext cx="9286875" cy="829945"/>
          </a:xfrm>
        </p:spPr>
        <p:txBody>
          <a:bodyPr wrap="square">
            <a:spAutoFit/>
          </a:bodyPr>
          <a:p>
            <a:pPr marL="457200" indent="-457200" fontAlgn="auto">
              <a:lnSpc>
                <a:spcPct val="100000"/>
              </a:lnSpc>
              <a:spcAft>
                <a:spcPts val="0"/>
              </a:spcAft>
              <a:buFont typeface="+mj-lt"/>
              <a:buAutoNum type="arabicPeriod" startAt="10"/>
            </a:pPr>
            <a:r>
              <a:rPr sz="2400" b="1">
                <a:solidFill>
                  <a:srgbClr val="0000CC"/>
                </a:solidFill>
                <a:latin typeface="Arial" panose="020B0604020202020204" pitchFamily="34" charset="0"/>
                <a:sym typeface="+mn-ea"/>
              </a:rPr>
              <a:t>查询每一位同学的学号，姓名，就读院系，修读课程门数，取得的学分总数，以及‘必修’课程的平均学分绩</a:t>
            </a:r>
            <a:r>
              <a:rPr lang="zh-CN" sz="2400" b="1">
                <a:solidFill>
                  <a:srgbClr val="0000CC"/>
                </a:solidFill>
                <a:latin typeface="Arial" panose="020B0604020202020204" pitchFamily="34" charset="0"/>
                <a:sym typeface="+mn-ea"/>
              </a:rPr>
              <a:t>。</a:t>
            </a:r>
            <a:endParaRPr sz="2400" b="1">
              <a:solidFill>
                <a:srgbClr val="0000CC"/>
              </a:solidFill>
              <a:latin typeface="Arial" panose="020B0604020202020204" pitchFamily="34" charset="0"/>
            </a:endParaRPr>
          </a:p>
        </p:txBody>
      </p:sp>
      <p:sp>
        <p:nvSpPr>
          <p:cNvPr id="13" name="文本框 12"/>
          <p:cNvSpPr txBox="1"/>
          <p:nvPr/>
        </p:nvSpPr>
        <p:spPr>
          <a:xfrm>
            <a:off x="624840" y="1022985"/>
            <a:ext cx="11108055" cy="5092700"/>
          </a:xfrm>
          <a:prstGeom prst="rect">
            <a:avLst/>
          </a:prstGeom>
          <a:noFill/>
          <a:ln>
            <a:solidFill>
              <a:schemeClr val="accent1"/>
            </a:solidFill>
          </a:ln>
        </p:spPr>
        <p:txBody>
          <a:bodyPr wrap="square" rtlCol="0">
            <a:spAutoFit/>
          </a:bodyPr>
          <a:p>
            <a:pPr lvl="0">
              <a:lnSpc>
                <a:spcPct val="125000"/>
              </a:lnSpc>
              <a:spcBef>
                <a:spcPts val="0"/>
              </a:spcBef>
              <a:spcAft>
                <a:spcPts val="0"/>
              </a:spcAft>
            </a:pPr>
            <a:r>
              <a:rPr sz="2400" b="1">
                <a:solidFill>
                  <a:srgbClr val="0000CC"/>
                </a:solidFill>
                <a:latin typeface="Arial" panose="020B0604020202020204" pitchFamily="34" charset="0"/>
              </a:rPr>
              <a:t>Select S.sno, </a:t>
            </a:r>
            <a:r>
              <a:rPr lang="en-US" altLang="zh-CN" sz="2400" b="1">
                <a:solidFill>
                  <a:srgbClr val="0000CC"/>
                </a:solidFill>
                <a:latin typeface="Arial" panose="020B0604020202020204" pitchFamily="34" charset="0"/>
              </a:rPr>
              <a:t>S.sname, </a:t>
            </a:r>
            <a:r>
              <a:rPr sz="2400" b="1">
                <a:solidFill>
                  <a:srgbClr val="0000CC"/>
                </a:solidFill>
                <a:latin typeface="Arial" panose="020B0604020202020204" pitchFamily="34" charset="0"/>
              </a:rPr>
              <a:t>S.dept, </a:t>
            </a:r>
            <a:r>
              <a:rPr lang="en-US" altLang="zh-CN" sz="2400" b="1">
                <a:solidFill>
                  <a:srgbClr val="0000CC"/>
                </a:solidFill>
                <a:latin typeface="Arial" panose="020B0604020202020204" pitchFamily="34" charset="0"/>
              </a:rPr>
              <a:t>X.numofcour, Y.sumofcred, Z.avgofcred</a:t>
            </a:r>
            <a:endParaRPr lang="en-US" altLang="zh-CN" sz="2400" b="1">
              <a:solidFill>
                <a:srgbClr val="0000CC"/>
              </a:solidFill>
              <a:latin typeface="Arial" panose="020B0604020202020204" pitchFamily="34" charset="0"/>
            </a:endParaRPr>
          </a:p>
          <a:p>
            <a:pPr lvl="0">
              <a:lnSpc>
                <a:spcPct val="125000"/>
              </a:lnSpc>
              <a:spcBef>
                <a:spcPts val="0"/>
              </a:spcBef>
              <a:spcAft>
                <a:spcPts val="0"/>
              </a:spcAft>
            </a:pPr>
            <a:r>
              <a:rPr sz="2400" b="1">
                <a:solidFill>
                  <a:srgbClr val="0000CC"/>
                </a:solidFill>
                <a:latin typeface="Arial" panose="020B0604020202020204" pitchFamily="34" charset="0"/>
              </a:rPr>
              <a:t>From  Student S,  </a:t>
            </a:r>
            <a:endParaRPr sz="2400" b="1">
              <a:solidFill>
                <a:srgbClr val="0000CC"/>
              </a:solidFill>
              <a:latin typeface="Arial" panose="020B0604020202020204" pitchFamily="34" charset="0"/>
            </a:endParaRPr>
          </a:p>
          <a:p>
            <a:pPr lvl="1">
              <a:lnSpc>
                <a:spcPct val="125000"/>
              </a:lnSpc>
              <a:spcBef>
                <a:spcPts val="0"/>
              </a:spcBef>
              <a:spcAft>
                <a:spcPts val="0"/>
              </a:spcAft>
            </a:pPr>
            <a:r>
              <a:rPr lang="en-US" sz="2400" b="1">
                <a:solidFill>
                  <a:srgbClr val="0000CC"/>
                </a:solidFill>
                <a:latin typeface="Arial" panose="020B0604020202020204" pitchFamily="34" charset="0"/>
              </a:rPr>
              <a:t>(Select sno, count(*) from Study group by sno) AS </a:t>
            </a:r>
            <a:r>
              <a:rPr lang="en-US" sz="2400" b="1">
                <a:solidFill>
                  <a:srgbClr val="FF0000"/>
                </a:solidFill>
                <a:latin typeface="Arial" panose="020B0604020202020204" pitchFamily="34" charset="0"/>
              </a:rPr>
              <a:t>X(sno, numofcour)</a:t>
            </a:r>
            <a:r>
              <a:rPr lang="en-US" sz="2400" b="1">
                <a:solidFill>
                  <a:srgbClr val="0000CC"/>
                </a:solidFill>
                <a:latin typeface="Arial" panose="020B0604020202020204" pitchFamily="34" charset="0"/>
              </a:rPr>
              <a:t>,</a:t>
            </a:r>
            <a:endParaRPr lang="en-US" sz="2400" b="1">
              <a:solidFill>
                <a:srgbClr val="0000CC"/>
              </a:solidFill>
              <a:latin typeface="Arial" panose="020B0604020202020204" pitchFamily="34" charset="0"/>
            </a:endParaRPr>
          </a:p>
          <a:p>
            <a:pPr lvl="1">
              <a:lnSpc>
                <a:spcPct val="125000"/>
              </a:lnSpc>
              <a:spcBef>
                <a:spcPts val="1000"/>
              </a:spcBef>
              <a:spcAft>
                <a:spcPts val="0"/>
              </a:spcAft>
            </a:pPr>
            <a:r>
              <a:rPr lang="en-US" sz="2400" b="1">
                <a:solidFill>
                  <a:srgbClr val="0000CC"/>
                </a:solidFill>
                <a:latin typeface="Arial" panose="020B0604020202020204" pitchFamily="34" charset="0"/>
              </a:rPr>
              <a:t>(Select  R.sno, sum(C.credit)  from Study R, Course C  </a:t>
            </a:r>
            <a:endParaRPr lang="en-US" sz="2400" b="1">
              <a:solidFill>
                <a:srgbClr val="0000CC"/>
              </a:solidFill>
              <a:latin typeface="Arial" panose="020B0604020202020204" pitchFamily="34" charset="0"/>
            </a:endParaRPr>
          </a:p>
          <a:p>
            <a:pPr lvl="1">
              <a:lnSpc>
                <a:spcPct val="125000"/>
              </a:lnSpc>
              <a:spcBef>
                <a:spcPts val="0"/>
              </a:spcBef>
              <a:spcAft>
                <a:spcPts val="0"/>
              </a:spcAft>
            </a:pPr>
            <a:r>
              <a:rPr lang="en-US" sz="2400" b="1">
                <a:solidFill>
                  <a:srgbClr val="0000CC"/>
                </a:solidFill>
                <a:latin typeface="Arial" panose="020B0604020202020204" pitchFamily="34" charset="0"/>
              </a:rPr>
              <a:t>where R.cno=C.cno and R.grade&gt;=60 </a:t>
            </a:r>
            <a:endParaRPr lang="en-US" sz="2400" b="1">
              <a:solidFill>
                <a:srgbClr val="0000CC"/>
              </a:solidFill>
              <a:latin typeface="Arial" panose="020B0604020202020204" pitchFamily="34" charset="0"/>
            </a:endParaRPr>
          </a:p>
          <a:p>
            <a:pPr lvl="1">
              <a:lnSpc>
                <a:spcPct val="125000"/>
              </a:lnSpc>
              <a:spcBef>
                <a:spcPts val="0"/>
              </a:spcBef>
              <a:spcAft>
                <a:spcPts val="0"/>
              </a:spcAft>
            </a:pPr>
            <a:r>
              <a:rPr lang="en-US" sz="2400" b="1">
                <a:solidFill>
                  <a:srgbClr val="0000CC"/>
                </a:solidFill>
                <a:latin typeface="Arial" panose="020B0604020202020204" pitchFamily="34" charset="0"/>
              </a:rPr>
              <a:t>group by R.sno)  AS  </a:t>
            </a:r>
            <a:r>
              <a:rPr lang="en-US" sz="2400" b="1">
                <a:solidFill>
                  <a:srgbClr val="FF0000"/>
                </a:solidFill>
                <a:latin typeface="Arial" panose="020B0604020202020204" pitchFamily="34" charset="0"/>
              </a:rPr>
              <a:t>Y(sno, sumofcred)</a:t>
            </a:r>
            <a:r>
              <a:rPr lang="en-US" sz="2400" b="1">
                <a:solidFill>
                  <a:srgbClr val="0000CC"/>
                </a:solidFill>
                <a:latin typeface="Arial" panose="020B0604020202020204" pitchFamily="34" charset="0"/>
              </a:rPr>
              <a:t>,</a:t>
            </a:r>
            <a:endParaRPr lang="en-US" sz="2400" b="1">
              <a:solidFill>
                <a:srgbClr val="0000CC"/>
              </a:solidFill>
              <a:latin typeface="Arial" panose="020B0604020202020204" pitchFamily="34" charset="0"/>
            </a:endParaRPr>
          </a:p>
          <a:p>
            <a:pPr lvl="1">
              <a:lnSpc>
                <a:spcPct val="125000"/>
              </a:lnSpc>
              <a:spcBef>
                <a:spcPts val="1000"/>
              </a:spcBef>
              <a:spcAft>
                <a:spcPts val="0"/>
              </a:spcAft>
            </a:pPr>
            <a:r>
              <a:rPr lang="en-US" sz="2400" b="1">
                <a:solidFill>
                  <a:srgbClr val="0000CC"/>
                </a:solidFill>
                <a:latin typeface="Arial" panose="020B0604020202020204" pitchFamily="34" charset="0"/>
              </a:rPr>
              <a:t>(Select R.sno, AVG(R.grade*0.05*C.credit)  from Study R, Course C  </a:t>
            </a:r>
            <a:endParaRPr lang="en-US" sz="2400" b="1">
              <a:solidFill>
                <a:srgbClr val="0000CC"/>
              </a:solidFill>
              <a:latin typeface="Arial" panose="020B0604020202020204" pitchFamily="34" charset="0"/>
            </a:endParaRPr>
          </a:p>
          <a:p>
            <a:pPr lvl="1">
              <a:lnSpc>
                <a:spcPct val="125000"/>
              </a:lnSpc>
              <a:spcBef>
                <a:spcPts val="0"/>
              </a:spcBef>
              <a:spcAft>
                <a:spcPts val="0"/>
              </a:spcAft>
            </a:pPr>
            <a:r>
              <a:rPr lang="en-US" sz="2400" b="1">
                <a:solidFill>
                  <a:srgbClr val="0000CC"/>
                </a:solidFill>
                <a:latin typeface="Arial" panose="020B0604020202020204" pitchFamily="34" charset="0"/>
              </a:rPr>
              <a:t>where R.cno=C.cno and C.optional=’必修’  </a:t>
            </a:r>
            <a:endParaRPr lang="en-US" sz="2400" b="1">
              <a:solidFill>
                <a:srgbClr val="0000CC"/>
              </a:solidFill>
              <a:latin typeface="Arial" panose="020B0604020202020204" pitchFamily="34" charset="0"/>
            </a:endParaRPr>
          </a:p>
          <a:p>
            <a:pPr lvl="1">
              <a:lnSpc>
                <a:spcPct val="125000"/>
              </a:lnSpc>
              <a:spcBef>
                <a:spcPts val="0"/>
              </a:spcBef>
              <a:spcAft>
                <a:spcPts val="0"/>
              </a:spcAft>
            </a:pPr>
            <a:r>
              <a:rPr lang="en-US" sz="2400" b="1">
                <a:solidFill>
                  <a:srgbClr val="0000CC"/>
                </a:solidFill>
                <a:latin typeface="Arial" panose="020B0604020202020204" pitchFamily="34" charset="0"/>
              </a:rPr>
              <a:t>group by R.sno )  AS  </a:t>
            </a:r>
            <a:r>
              <a:rPr lang="en-US" sz="2400" b="1">
                <a:solidFill>
                  <a:srgbClr val="FF0000"/>
                </a:solidFill>
                <a:latin typeface="Arial" panose="020B0604020202020204" pitchFamily="34" charset="0"/>
              </a:rPr>
              <a:t>Z(sno,  avgofcred)</a:t>
            </a:r>
            <a:endParaRPr lang="en-US" sz="2400" b="1">
              <a:solidFill>
                <a:srgbClr val="FF0000"/>
              </a:solidFill>
              <a:latin typeface="Arial" panose="020B0604020202020204" pitchFamily="34" charset="0"/>
            </a:endParaRPr>
          </a:p>
          <a:p>
            <a:pPr lvl="0">
              <a:lnSpc>
                <a:spcPct val="125000"/>
              </a:lnSpc>
              <a:spcBef>
                <a:spcPts val="1000"/>
              </a:spcBef>
              <a:spcAft>
                <a:spcPts val="0"/>
              </a:spcAft>
            </a:pPr>
            <a:r>
              <a:rPr lang="en-US" sz="2400" b="1">
                <a:solidFill>
                  <a:srgbClr val="0000CC"/>
                </a:solidFill>
                <a:latin typeface="Arial" panose="020B0604020202020204" pitchFamily="34" charset="0"/>
              </a:rPr>
              <a:t>Where  S.sno=X.sno  and  </a:t>
            </a:r>
            <a:r>
              <a:rPr lang="en-US" sz="2400" b="1">
                <a:solidFill>
                  <a:srgbClr val="0000CC"/>
                </a:solidFill>
                <a:latin typeface="Arial" panose="020B0604020202020204" pitchFamily="34" charset="0"/>
                <a:sym typeface="+mn-ea"/>
              </a:rPr>
              <a:t>S.sno=Y.sno  and  S.sno=Z.sno</a:t>
            </a:r>
            <a:r>
              <a:rPr lang="en-US" sz="2400" b="1">
                <a:solidFill>
                  <a:srgbClr val="FF0000"/>
                </a:solidFill>
                <a:latin typeface="Arial" panose="020B0604020202020204" pitchFamily="34" charset="0"/>
                <a:sym typeface="+mn-ea"/>
              </a:rPr>
              <a:t>  </a:t>
            </a:r>
            <a:endParaRPr lang="en-US" sz="2400" b="1">
              <a:solidFill>
                <a:srgbClr val="FF0000"/>
              </a:solidFill>
              <a:latin typeface="Arial" panose="020B0604020202020204" pitchFamily="34" charset="0"/>
            </a:endParaRPr>
          </a:p>
        </p:txBody>
      </p:sp>
      <p:sp>
        <p:nvSpPr>
          <p:cNvPr id="4" name="文本框 3"/>
          <p:cNvSpPr txBox="1"/>
          <p:nvPr/>
        </p:nvSpPr>
        <p:spPr>
          <a:xfrm>
            <a:off x="9507855" y="12065"/>
            <a:ext cx="2655570" cy="337185"/>
          </a:xfrm>
          <a:prstGeom prst="rect">
            <a:avLst/>
          </a:prstGeom>
          <a:noFill/>
        </p:spPr>
        <p:txBody>
          <a:bodyPr wrap="square" rtlCol="0">
            <a:spAutoFit/>
          </a:bodyPr>
          <a:p>
            <a:pPr algn="ctr"/>
            <a:r>
              <a:rPr lang="zh-CN" altLang="en-US" sz="1600" b="1">
                <a:latin typeface="+mn-ea"/>
                <a:cs typeface="+mn-ea"/>
              </a:rPr>
              <a:t>（</a:t>
            </a:r>
            <a:r>
              <a:rPr lang="zh-CN" altLang="en-US" sz="1600" b="1" u="sng">
                <a:latin typeface="+mn-ea"/>
                <a:cs typeface="+mn-ea"/>
              </a:rPr>
              <a:t>复习思考题 </a:t>
            </a:r>
            <a:r>
              <a:rPr lang="en-US" altLang="zh-CN" sz="1600" b="1" u="sng">
                <a:latin typeface="+mn-ea"/>
                <a:cs typeface="+mn-ea"/>
              </a:rPr>
              <a:t>AI 20191023</a:t>
            </a:r>
            <a:r>
              <a:rPr lang="zh-CN" altLang="en-US" sz="1600" b="1">
                <a:latin typeface="+mn-ea"/>
                <a:cs typeface="+mn-ea"/>
              </a:rPr>
              <a:t>）</a:t>
            </a:r>
            <a:endParaRPr lang="zh-CN" altLang="en-US" sz="1600" b="1">
              <a:latin typeface="+mn-ea"/>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ldLvl="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6888</Words>
  <Application>WPS 演示</Application>
  <PresentationFormat>宽屏</PresentationFormat>
  <Paragraphs>455</Paragraphs>
  <Slides>23</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21</vt:i4>
      </vt:variant>
      <vt:variant>
        <vt:lpstr>幻灯片标题</vt:lpstr>
      </vt:variant>
      <vt:variant>
        <vt:i4>23</vt:i4>
      </vt:variant>
    </vt:vector>
  </HeadingPairs>
  <TitlesOfParts>
    <vt:vector size="53" baseType="lpstr">
      <vt:lpstr>Arial</vt:lpstr>
      <vt:lpstr>宋体</vt:lpstr>
      <vt:lpstr>Wingdings</vt:lpstr>
      <vt:lpstr>Calibri</vt:lpstr>
      <vt:lpstr>微软雅黑</vt:lpstr>
      <vt:lpstr>Arial Unicode MS</vt:lpstr>
      <vt:lpstr>Calibri Light</vt:lpstr>
      <vt:lpstr>Symbol</vt:lpstr>
      <vt:lpstr>Office 主题</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PowerPoint 演示文稿</vt:lpstr>
      <vt:lpstr>关系模式如下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njujack</dc:creator>
  <cp:lastModifiedBy>百老汇</cp:lastModifiedBy>
  <cp:revision>15</cp:revision>
  <dcterms:created xsi:type="dcterms:W3CDTF">2017-03-24T01:21:00Z</dcterms:created>
  <dcterms:modified xsi:type="dcterms:W3CDTF">2019-11-07T14:16:56Z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2052-11.1.0.9145</vt:lpwstr>
  </property>
</Properties>
</file>